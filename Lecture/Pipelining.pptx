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53.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6" r:id="rId1"/>
  </p:sldMasterIdLst>
  <p:notesMasterIdLst>
    <p:notesMasterId r:id="rId61"/>
  </p:notesMasterIdLst>
  <p:handoutMasterIdLst>
    <p:handoutMasterId r:id="rId62"/>
  </p:handoutMasterIdLst>
  <p:sldIdLst>
    <p:sldId id="368" r:id="rId2"/>
    <p:sldId id="277" r:id="rId3"/>
    <p:sldId id="317" r:id="rId4"/>
    <p:sldId id="278" r:id="rId5"/>
    <p:sldId id="279" r:id="rId6"/>
    <p:sldId id="285" r:id="rId7"/>
    <p:sldId id="286" r:id="rId8"/>
    <p:sldId id="305" r:id="rId9"/>
    <p:sldId id="290" r:id="rId10"/>
    <p:sldId id="307" r:id="rId11"/>
    <p:sldId id="308" r:id="rId12"/>
    <p:sldId id="309" r:id="rId13"/>
    <p:sldId id="312" r:id="rId14"/>
    <p:sldId id="313" r:id="rId15"/>
    <p:sldId id="293" r:id="rId16"/>
    <p:sldId id="319" r:id="rId17"/>
    <p:sldId id="362" r:id="rId18"/>
    <p:sldId id="358" r:id="rId19"/>
    <p:sldId id="294" r:id="rId20"/>
    <p:sldId id="363" r:id="rId21"/>
    <p:sldId id="320" r:id="rId22"/>
    <p:sldId id="321" r:id="rId23"/>
    <p:sldId id="370" r:id="rId24"/>
    <p:sldId id="371" r:id="rId25"/>
    <p:sldId id="373" r:id="rId26"/>
    <p:sldId id="322" r:id="rId27"/>
    <p:sldId id="348" r:id="rId28"/>
    <p:sldId id="349" r:id="rId29"/>
    <p:sldId id="351" r:id="rId30"/>
    <p:sldId id="353" r:id="rId31"/>
    <p:sldId id="354" r:id="rId32"/>
    <p:sldId id="297" r:id="rId33"/>
    <p:sldId id="298" r:id="rId34"/>
    <p:sldId id="299" r:id="rId35"/>
    <p:sldId id="323" r:id="rId36"/>
    <p:sldId id="300" r:id="rId37"/>
    <p:sldId id="324" r:id="rId38"/>
    <p:sldId id="316" r:id="rId39"/>
    <p:sldId id="325" r:id="rId40"/>
    <p:sldId id="357" r:id="rId41"/>
    <p:sldId id="326" r:id="rId42"/>
    <p:sldId id="327" r:id="rId43"/>
    <p:sldId id="365" r:id="rId44"/>
    <p:sldId id="366" r:id="rId45"/>
    <p:sldId id="367" r:id="rId46"/>
    <p:sldId id="328" r:id="rId47"/>
    <p:sldId id="329" r:id="rId48"/>
    <p:sldId id="330" r:id="rId49"/>
    <p:sldId id="336" r:id="rId50"/>
    <p:sldId id="333" r:id="rId51"/>
    <p:sldId id="360" r:id="rId52"/>
    <p:sldId id="337" r:id="rId53"/>
    <p:sldId id="338" r:id="rId54"/>
    <p:sldId id="341" r:id="rId55"/>
    <p:sldId id="361" r:id="rId56"/>
    <p:sldId id="343" r:id="rId57"/>
    <p:sldId id="344" r:id="rId58"/>
    <p:sldId id="346" r:id="rId59"/>
    <p:sldId id="369" r:id="rId60"/>
  </p:sldIdLst>
  <p:sldSz cx="9144000" cy="6858000" type="screen4x3"/>
  <p:notesSz cx="6858000" cy="91440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2400" kern="1200">
        <a:solidFill>
          <a:schemeClr val="tx1"/>
        </a:solidFill>
        <a:latin typeface="Times New Roman" pitchFamily="-1"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 charset="0"/>
        <a:ea typeface="+mn-ea"/>
        <a:cs typeface="+mn-cs"/>
      </a:defRPr>
    </a:lvl5pPr>
    <a:lvl6pPr marL="2286000" algn="l" defTabSz="457200" rtl="0" eaLnBrk="1" latinLnBrk="0" hangingPunct="1">
      <a:defRPr sz="2400" kern="1200">
        <a:solidFill>
          <a:schemeClr val="tx1"/>
        </a:solidFill>
        <a:latin typeface="Times New Roman" pitchFamily="-1" charset="0"/>
        <a:ea typeface="+mn-ea"/>
        <a:cs typeface="+mn-cs"/>
      </a:defRPr>
    </a:lvl6pPr>
    <a:lvl7pPr marL="2743200" algn="l" defTabSz="457200" rtl="0" eaLnBrk="1" latinLnBrk="0" hangingPunct="1">
      <a:defRPr sz="2400" kern="1200">
        <a:solidFill>
          <a:schemeClr val="tx1"/>
        </a:solidFill>
        <a:latin typeface="Times New Roman" pitchFamily="-1" charset="0"/>
        <a:ea typeface="+mn-ea"/>
        <a:cs typeface="+mn-cs"/>
      </a:defRPr>
    </a:lvl7pPr>
    <a:lvl8pPr marL="3200400" algn="l" defTabSz="457200" rtl="0" eaLnBrk="1" latinLnBrk="0" hangingPunct="1">
      <a:defRPr sz="2400" kern="1200">
        <a:solidFill>
          <a:schemeClr val="tx1"/>
        </a:solidFill>
        <a:latin typeface="Times New Roman" pitchFamily="-1" charset="0"/>
        <a:ea typeface="+mn-ea"/>
        <a:cs typeface="+mn-cs"/>
      </a:defRPr>
    </a:lvl8pPr>
    <a:lvl9pPr marL="3657600" algn="l" defTabSz="457200" rtl="0" eaLnBrk="1" latinLnBrk="0" hangingPunct="1">
      <a:defRPr sz="2400" kern="1200">
        <a:solidFill>
          <a:schemeClr val="tx1"/>
        </a:solidFill>
        <a:latin typeface="Times New Roman" pitchFamily="-1"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pos="340" userDrawn="1">
          <p15:clr>
            <a:srgbClr val="A4A3A4"/>
          </p15:clr>
        </p15:guide>
        <p15:guide id="4" pos="567" userDrawn="1">
          <p15:clr>
            <a:srgbClr val="A4A3A4"/>
          </p15:clr>
        </p15:guide>
        <p15:guide id="5" pos="793" userDrawn="1">
          <p15:clr>
            <a:srgbClr val="A4A3A4"/>
          </p15:clr>
        </p15:guide>
        <p15:guide id="6" pos="1013" userDrawn="1">
          <p15:clr>
            <a:srgbClr val="A4A3A4"/>
          </p15:clr>
        </p15:guide>
        <p15:guide id="7" orient="horz" pos="1117" userDrawn="1">
          <p15:clr>
            <a:srgbClr val="A4A3A4"/>
          </p15:clr>
        </p15:guide>
        <p15:guide id="8" orient="horz" pos="709"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0D75D2-D5A0-4C11-8DC9-85ECACEDF485}" v="1" dt="2020-06-15T02:50:51.1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82" autoAdjust="0"/>
    <p:restoredTop sz="46384" autoAdjust="0"/>
  </p:normalViewPr>
  <p:slideViewPr>
    <p:cSldViewPr>
      <p:cViewPr varScale="1">
        <p:scale>
          <a:sx n="53" d="100"/>
          <a:sy n="53" d="100"/>
        </p:scale>
        <p:origin x="3048" y="60"/>
      </p:cViewPr>
      <p:guideLst>
        <p:guide orient="horz" pos="2160"/>
        <p:guide pos="2880"/>
        <p:guide pos="340"/>
        <p:guide pos="567"/>
        <p:guide pos="793"/>
        <p:guide pos="1013"/>
        <p:guide orient="horz" pos="1117"/>
        <p:guide orient="horz" pos="709"/>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Lst>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1" d="100"/>
          <a:sy n="61" d="100"/>
        </p:scale>
        <p:origin x="-1710"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s>
</file>

<file path=ppt/_rels/viewProps.xml.rels><?xml version="1.0" encoding="UTF-8" standalone="yes"?>
<Relationships xmlns="http://schemas.openxmlformats.org/package/2006/relationships"><Relationship Id="rId8" Type="http://schemas.openxmlformats.org/officeDocument/2006/relationships/slide" Target="slides/slide15.xml"/><Relationship Id="rId13" Type="http://schemas.openxmlformats.org/officeDocument/2006/relationships/slide" Target="slides/slide40.xml"/><Relationship Id="rId3" Type="http://schemas.openxmlformats.org/officeDocument/2006/relationships/slide" Target="slides/slide5.xml"/><Relationship Id="rId7" Type="http://schemas.openxmlformats.org/officeDocument/2006/relationships/slide" Target="slides/slide12.xml"/><Relationship Id="rId12" Type="http://schemas.openxmlformats.org/officeDocument/2006/relationships/slide" Target="slides/slide36.xml"/><Relationship Id="rId2" Type="http://schemas.openxmlformats.org/officeDocument/2006/relationships/slide" Target="slides/slide4.xml"/><Relationship Id="rId1" Type="http://schemas.openxmlformats.org/officeDocument/2006/relationships/slide" Target="slides/slide2.xml"/><Relationship Id="rId6" Type="http://schemas.openxmlformats.org/officeDocument/2006/relationships/slide" Target="slides/slide9.xml"/><Relationship Id="rId11" Type="http://schemas.openxmlformats.org/officeDocument/2006/relationships/slide" Target="slides/slide34.xml"/><Relationship Id="rId5" Type="http://schemas.openxmlformats.org/officeDocument/2006/relationships/slide" Target="slides/slide7.xml"/><Relationship Id="rId15" Type="http://schemas.openxmlformats.org/officeDocument/2006/relationships/slide" Target="slides/slide50.xml"/><Relationship Id="rId10" Type="http://schemas.openxmlformats.org/officeDocument/2006/relationships/slide" Target="slides/slide33.xml"/><Relationship Id="rId4" Type="http://schemas.openxmlformats.org/officeDocument/2006/relationships/slide" Target="slides/slide6.xml"/><Relationship Id="rId9" Type="http://schemas.openxmlformats.org/officeDocument/2006/relationships/slide" Target="slides/slide32.xml"/><Relationship Id="rId14" Type="http://schemas.openxmlformats.org/officeDocument/2006/relationships/slide" Target="slides/slide4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Y KOK SOON" userId="b38fed35-100c-4369-8b34-69adb96b726a" providerId="ADAL" clId="{0E0D75D2-D5A0-4C11-8DC9-85ECACEDF485}"/>
    <pc:docChg chg="modSld">
      <pc:chgData name="TEY KOK SOON" userId="b38fed35-100c-4369-8b34-69adb96b726a" providerId="ADAL" clId="{0E0D75D2-D5A0-4C11-8DC9-85ECACEDF485}" dt="2020-06-15T02:50:51.166" v="0"/>
      <pc:docMkLst>
        <pc:docMk/>
      </pc:docMkLst>
      <pc:sldChg chg="delSp modTransition modAnim">
        <pc:chgData name="TEY KOK SOON" userId="b38fed35-100c-4369-8b34-69adb96b726a" providerId="ADAL" clId="{0E0D75D2-D5A0-4C11-8DC9-85ECACEDF485}" dt="2020-06-15T02:50:51.166" v="0"/>
        <pc:sldMkLst>
          <pc:docMk/>
          <pc:sldMk cId="0" sldId="277"/>
        </pc:sldMkLst>
        <pc:picChg chg="del">
          <ac:chgData name="TEY KOK SOON" userId="b38fed35-100c-4369-8b34-69adb96b726a" providerId="ADAL" clId="{0E0D75D2-D5A0-4C11-8DC9-85ECACEDF485}" dt="2020-06-15T02:50:51.166" v="0"/>
          <ac:picMkLst>
            <pc:docMk/>
            <pc:sldMk cId="0" sldId="277"/>
            <ac:picMk id="3" creationId="{84420D75-EB68-4F7B-A869-8138C2037C9A}"/>
          </ac:picMkLst>
        </pc:picChg>
        <pc:inkChg chg="del">
          <ac:chgData name="TEY KOK SOON" userId="b38fed35-100c-4369-8b34-69adb96b726a" providerId="ADAL" clId="{0E0D75D2-D5A0-4C11-8DC9-85ECACEDF485}" dt="2020-06-15T02:50:51.166" v="0"/>
          <ac:inkMkLst>
            <pc:docMk/>
            <pc:sldMk cId="0" sldId="277"/>
            <ac:inkMk id="2" creationId="{68AB3B79-9D4C-486F-B4CA-20BA108E1FA9}"/>
          </ac:inkMkLst>
        </pc:inkChg>
      </pc:sldChg>
      <pc:sldChg chg="delSp modTransition modAnim">
        <pc:chgData name="TEY KOK SOON" userId="b38fed35-100c-4369-8b34-69adb96b726a" providerId="ADAL" clId="{0E0D75D2-D5A0-4C11-8DC9-85ECACEDF485}" dt="2020-06-15T02:50:51.166" v="0"/>
        <pc:sldMkLst>
          <pc:docMk/>
          <pc:sldMk cId="0" sldId="278"/>
        </pc:sldMkLst>
        <pc:picChg chg="del">
          <ac:chgData name="TEY KOK SOON" userId="b38fed35-100c-4369-8b34-69adb96b726a" providerId="ADAL" clId="{0E0D75D2-D5A0-4C11-8DC9-85ECACEDF485}" dt="2020-06-15T02:50:51.166" v="0"/>
          <ac:picMkLst>
            <pc:docMk/>
            <pc:sldMk cId="0" sldId="278"/>
            <ac:picMk id="4" creationId="{CCC6F2E7-0F7E-47CF-903B-0F718A55390D}"/>
          </ac:picMkLst>
        </pc:picChg>
        <pc:inkChg chg="del">
          <ac:chgData name="TEY KOK SOON" userId="b38fed35-100c-4369-8b34-69adb96b726a" providerId="ADAL" clId="{0E0D75D2-D5A0-4C11-8DC9-85ECACEDF485}" dt="2020-06-15T02:50:51.166" v="0"/>
          <ac:inkMkLst>
            <pc:docMk/>
            <pc:sldMk cId="0" sldId="278"/>
            <ac:inkMk id="3" creationId="{63867F3A-1FAB-421D-BEBE-4CC5FB3B1E13}"/>
          </ac:inkMkLst>
        </pc:inkChg>
      </pc:sldChg>
      <pc:sldChg chg="delSp modTransition modAnim">
        <pc:chgData name="TEY KOK SOON" userId="b38fed35-100c-4369-8b34-69adb96b726a" providerId="ADAL" clId="{0E0D75D2-D5A0-4C11-8DC9-85ECACEDF485}" dt="2020-06-15T02:50:51.166" v="0"/>
        <pc:sldMkLst>
          <pc:docMk/>
          <pc:sldMk cId="0" sldId="279"/>
        </pc:sldMkLst>
        <pc:picChg chg="del">
          <ac:chgData name="TEY KOK SOON" userId="b38fed35-100c-4369-8b34-69adb96b726a" providerId="ADAL" clId="{0E0D75D2-D5A0-4C11-8DC9-85ECACEDF485}" dt="2020-06-15T02:50:51.166" v="0"/>
          <ac:picMkLst>
            <pc:docMk/>
            <pc:sldMk cId="0" sldId="279"/>
            <ac:picMk id="5" creationId="{40244A82-CB50-407E-9553-B2DC94529D45}"/>
          </ac:picMkLst>
        </pc:picChg>
        <pc:inkChg chg="del">
          <ac:chgData name="TEY KOK SOON" userId="b38fed35-100c-4369-8b34-69adb96b726a" providerId="ADAL" clId="{0E0D75D2-D5A0-4C11-8DC9-85ECACEDF485}" dt="2020-06-15T02:50:51.166" v="0"/>
          <ac:inkMkLst>
            <pc:docMk/>
            <pc:sldMk cId="0" sldId="279"/>
            <ac:inkMk id="4" creationId="{2D4E61B0-D26A-4681-977C-6C0D74797A94}"/>
          </ac:inkMkLst>
        </pc:inkChg>
      </pc:sldChg>
      <pc:sldChg chg="delSp modTransition modAnim">
        <pc:chgData name="TEY KOK SOON" userId="b38fed35-100c-4369-8b34-69adb96b726a" providerId="ADAL" clId="{0E0D75D2-D5A0-4C11-8DC9-85ECACEDF485}" dt="2020-06-15T02:50:51.166" v="0"/>
        <pc:sldMkLst>
          <pc:docMk/>
          <pc:sldMk cId="0" sldId="285"/>
        </pc:sldMkLst>
        <pc:picChg chg="del">
          <ac:chgData name="TEY KOK SOON" userId="b38fed35-100c-4369-8b34-69adb96b726a" providerId="ADAL" clId="{0E0D75D2-D5A0-4C11-8DC9-85ECACEDF485}" dt="2020-06-15T02:50:51.166" v="0"/>
          <ac:picMkLst>
            <pc:docMk/>
            <pc:sldMk cId="0" sldId="285"/>
            <ac:picMk id="3" creationId="{F977623D-2D4A-4882-965B-E198CB457475}"/>
          </ac:picMkLst>
        </pc:picChg>
        <pc:inkChg chg="del">
          <ac:chgData name="TEY KOK SOON" userId="b38fed35-100c-4369-8b34-69adb96b726a" providerId="ADAL" clId="{0E0D75D2-D5A0-4C11-8DC9-85ECACEDF485}" dt="2020-06-15T02:50:51.166" v="0"/>
          <ac:inkMkLst>
            <pc:docMk/>
            <pc:sldMk cId="0" sldId="285"/>
            <ac:inkMk id="2" creationId="{8C441BD1-445E-494B-BD0D-E91B251E7FCF}"/>
          </ac:inkMkLst>
        </pc:inkChg>
      </pc:sldChg>
      <pc:sldChg chg="delSp modTransition modAnim">
        <pc:chgData name="TEY KOK SOON" userId="b38fed35-100c-4369-8b34-69adb96b726a" providerId="ADAL" clId="{0E0D75D2-D5A0-4C11-8DC9-85ECACEDF485}" dt="2020-06-15T02:50:51.166" v="0"/>
        <pc:sldMkLst>
          <pc:docMk/>
          <pc:sldMk cId="0" sldId="286"/>
        </pc:sldMkLst>
        <pc:picChg chg="del">
          <ac:chgData name="TEY KOK SOON" userId="b38fed35-100c-4369-8b34-69adb96b726a" providerId="ADAL" clId="{0E0D75D2-D5A0-4C11-8DC9-85ECACEDF485}" dt="2020-06-15T02:50:51.166" v="0"/>
          <ac:picMkLst>
            <pc:docMk/>
            <pc:sldMk cId="0" sldId="286"/>
            <ac:picMk id="3" creationId="{53467CC6-96D4-4D15-A575-0F184BA1C4EB}"/>
          </ac:picMkLst>
        </pc:picChg>
        <pc:inkChg chg="del">
          <ac:chgData name="TEY KOK SOON" userId="b38fed35-100c-4369-8b34-69adb96b726a" providerId="ADAL" clId="{0E0D75D2-D5A0-4C11-8DC9-85ECACEDF485}" dt="2020-06-15T02:50:51.166" v="0"/>
          <ac:inkMkLst>
            <pc:docMk/>
            <pc:sldMk cId="0" sldId="286"/>
            <ac:inkMk id="2" creationId="{C30FA913-68C5-43A2-A6F2-D0B5C76D5EED}"/>
          </ac:inkMkLst>
        </pc:inkChg>
      </pc:sldChg>
      <pc:sldChg chg="delSp modTransition modAnim">
        <pc:chgData name="TEY KOK SOON" userId="b38fed35-100c-4369-8b34-69adb96b726a" providerId="ADAL" clId="{0E0D75D2-D5A0-4C11-8DC9-85ECACEDF485}" dt="2020-06-15T02:50:51.166" v="0"/>
        <pc:sldMkLst>
          <pc:docMk/>
          <pc:sldMk cId="0" sldId="290"/>
        </pc:sldMkLst>
        <pc:picChg chg="del">
          <ac:chgData name="TEY KOK SOON" userId="b38fed35-100c-4369-8b34-69adb96b726a" providerId="ADAL" clId="{0E0D75D2-D5A0-4C11-8DC9-85ECACEDF485}" dt="2020-06-15T02:50:51.166" v="0"/>
          <ac:picMkLst>
            <pc:docMk/>
            <pc:sldMk cId="0" sldId="290"/>
            <ac:picMk id="5" creationId="{D39A0AA1-63E3-4E6B-80E6-712D6CE08121}"/>
          </ac:picMkLst>
        </pc:picChg>
        <pc:inkChg chg="del">
          <ac:chgData name="TEY KOK SOON" userId="b38fed35-100c-4369-8b34-69adb96b726a" providerId="ADAL" clId="{0E0D75D2-D5A0-4C11-8DC9-85ECACEDF485}" dt="2020-06-15T02:50:51.166" v="0"/>
          <ac:inkMkLst>
            <pc:docMk/>
            <pc:sldMk cId="0" sldId="290"/>
            <ac:inkMk id="4" creationId="{012E4A1E-1DEC-479A-85A9-034E2596E753}"/>
          </ac:inkMkLst>
        </pc:inkChg>
      </pc:sldChg>
      <pc:sldChg chg="delSp modTransition modAnim">
        <pc:chgData name="TEY KOK SOON" userId="b38fed35-100c-4369-8b34-69adb96b726a" providerId="ADAL" clId="{0E0D75D2-D5A0-4C11-8DC9-85ECACEDF485}" dt="2020-06-15T02:50:51.166" v="0"/>
        <pc:sldMkLst>
          <pc:docMk/>
          <pc:sldMk cId="0" sldId="293"/>
        </pc:sldMkLst>
        <pc:picChg chg="del">
          <ac:chgData name="TEY KOK SOON" userId="b38fed35-100c-4369-8b34-69adb96b726a" providerId="ADAL" clId="{0E0D75D2-D5A0-4C11-8DC9-85ECACEDF485}" dt="2020-06-15T02:50:51.166" v="0"/>
          <ac:picMkLst>
            <pc:docMk/>
            <pc:sldMk cId="0" sldId="293"/>
            <ac:picMk id="3" creationId="{B8A6D29E-7292-4FF9-AB16-68EE7F417A5A}"/>
          </ac:picMkLst>
        </pc:picChg>
        <pc:inkChg chg="del">
          <ac:chgData name="TEY KOK SOON" userId="b38fed35-100c-4369-8b34-69adb96b726a" providerId="ADAL" clId="{0E0D75D2-D5A0-4C11-8DC9-85ECACEDF485}" dt="2020-06-15T02:50:51.166" v="0"/>
          <ac:inkMkLst>
            <pc:docMk/>
            <pc:sldMk cId="0" sldId="293"/>
            <ac:inkMk id="2" creationId="{3E04AD15-F508-4C2A-8456-FD3D68FA78A6}"/>
          </ac:inkMkLst>
        </pc:inkChg>
      </pc:sldChg>
      <pc:sldChg chg="delSp modTransition modAnim">
        <pc:chgData name="TEY KOK SOON" userId="b38fed35-100c-4369-8b34-69adb96b726a" providerId="ADAL" clId="{0E0D75D2-D5A0-4C11-8DC9-85ECACEDF485}" dt="2020-06-15T02:50:51.166" v="0"/>
        <pc:sldMkLst>
          <pc:docMk/>
          <pc:sldMk cId="0" sldId="294"/>
        </pc:sldMkLst>
        <pc:picChg chg="del">
          <ac:chgData name="TEY KOK SOON" userId="b38fed35-100c-4369-8b34-69adb96b726a" providerId="ADAL" clId="{0E0D75D2-D5A0-4C11-8DC9-85ECACEDF485}" dt="2020-06-15T02:50:51.166" v="0"/>
          <ac:picMkLst>
            <pc:docMk/>
            <pc:sldMk cId="0" sldId="294"/>
            <ac:picMk id="7" creationId="{E113DC2E-1049-4A20-814B-729F7A262014}"/>
          </ac:picMkLst>
        </pc:picChg>
        <pc:inkChg chg="del">
          <ac:chgData name="TEY KOK SOON" userId="b38fed35-100c-4369-8b34-69adb96b726a" providerId="ADAL" clId="{0E0D75D2-D5A0-4C11-8DC9-85ECACEDF485}" dt="2020-06-15T02:50:51.166" v="0"/>
          <ac:inkMkLst>
            <pc:docMk/>
            <pc:sldMk cId="0" sldId="294"/>
            <ac:inkMk id="6" creationId="{4522E1E1-C978-4916-9BBB-5354B58B61EB}"/>
          </ac:inkMkLst>
        </pc:inkChg>
      </pc:sldChg>
      <pc:sldChg chg="delSp modTransition modAnim">
        <pc:chgData name="TEY KOK SOON" userId="b38fed35-100c-4369-8b34-69adb96b726a" providerId="ADAL" clId="{0E0D75D2-D5A0-4C11-8DC9-85ECACEDF485}" dt="2020-06-15T02:50:51.166" v="0"/>
        <pc:sldMkLst>
          <pc:docMk/>
          <pc:sldMk cId="0" sldId="297"/>
        </pc:sldMkLst>
        <pc:picChg chg="del">
          <ac:chgData name="TEY KOK SOON" userId="b38fed35-100c-4369-8b34-69adb96b726a" providerId="ADAL" clId="{0E0D75D2-D5A0-4C11-8DC9-85ECACEDF485}" dt="2020-06-15T02:50:51.166" v="0"/>
          <ac:picMkLst>
            <pc:docMk/>
            <pc:sldMk cId="0" sldId="297"/>
            <ac:picMk id="3" creationId="{59B31949-EA90-42D2-9D57-C425473A567D}"/>
          </ac:picMkLst>
        </pc:picChg>
        <pc:inkChg chg="del">
          <ac:chgData name="TEY KOK SOON" userId="b38fed35-100c-4369-8b34-69adb96b726a" providerId="ADAL" clId="{0E0D75D2-D5A0-4C11-8DC9-85ECACEDF485}" dt="2020-06-15T02:50:51.166" v="0"/>
          <ac:inkMkLst>
            <pc:docMk/>
            <pc:sldMk cId="0" sldId="297"/>
            <ac:inkMk id="2" creationId="{04063014-2C72-4F82-AEB6-A366C2CF6E62}"/>
          </ac:inkMkLst>
        </pc:inkChg>
      </pc:sldChg>
      <pc:sldChg chg="delSp modTransition modAnim">
        <pc:chgData name="TEY KOK SOON" userId="b38fed35-100c-4369-8b34-69adb96b726a" providerId="ADAL" clId="{0E0D75D2-D5A0-4C11-8DC9-85ECACEDF485}" dt="2020-06-15T02:50:51.166" v="0"/>
        <pc:sldMkLst>
          <pc:docMk/>
          <pc:sldMk cId="0" sldId="298"/>
        </pc:sldMkLst>
        <pc:picChg chg="del">
          <ac:chgData name="TEY KOK SOON" userId="b38fed35-100c-4369-8b34-69adb96b726a" providerId="ADAL" clId="{0E0D75D2-D5A0-4C11-8DC9-85ECACEDF485}" dt="2020-06-15T02:50:51.166" v="0"/>
          <ac:picMkLst>
            <pc:docMk/>
            <pc:sldMk cId="0" sldId="298"/>
            <ac:picMk id="3" creationId="{A12B2AB0-5555-4D31-B11A-42413ADE9406}"/>
          </ac:picMkLst>
        </pc:picChg>
        <pc:inkChg chg="del">
          <ac:chgData name="TEY KOK SOON" userId="b38fed35-100c-4369-8b34-69adb96b726a" providerId="ADAL" clId="{0E0D75D2-D5A0-4C11-8DC9-85ECACEDF485}" dt="2020-06-15T02:50:51.166" v="0"/>
          <ac:inkMkLst>
            <pc:docMk/>
            <pc:sldMk cId="0" sldId="298"/>
            <ac:inkMk id="2" creationId="{80B415EF-99EA-42A9-85D1-0EEE255B4EE7}"/>
          </ac:inkMkLst>
        </pc:inkChg>
      </pc:sldChg>
      <pc:sldChg chg="delSp modTransition modAnim">
        <pc:chgData name="TEY KOK SOON" userId="b38fed35-100c-4369-8b34-69adb96b726a" providerId="ADAL" clId="{0E0D75D2-D5A0-4C11-8DC9-85ECACEDF485}" dt="2020-06-15T02:50:51.166" v="0"/>
        <pc:sldMkLst>
          <pc:docMk/>
          <pc:sldMk cId="0" sldId="299"/>
        </pc:sldMkLst>
        <pc:picChg chg="del">
          <ac:chgData name="TEY KOK SOON" userId="b38fed35-100c-4369-8b34-69adb96b726a" providerId="ADAL" clId="{0E0D75D2-D5A0-4C11-8DC9-85ECACEDF485}" dt="2020-06-15T02:50:51.166" v="0"/>
          <ac:picMkLst>
            <pc:docMk/>
            <pc:sldMk cId="0" sldId="299"/>
            <ac:picMk id="3" creationId="{4527305D-DD2D-42BC-82A9-BEF92AD72AF1}"/>
          </ac:picMkLst>
        </pc:picChg>
        <pc:inkChg chg="del">
          <ac:chgData name="TEY KOK SOON" userId="b38fed35-100c-4369-8b34-69adb96b726a" providerId="ADAL" clId="{0E0D75D2-D5A0-4C11-8DC9-85ECACEDF485}" dt="2020-06-15T02:50:51.166" v="0"/>
          <ac:inkMkLst>
            <pc:docMk/>
            <pc:sldMk cId="0" sldId="299"/>
            <ac:inkMk id="2" creationId="{B13FB09D-B745-4AE7-A8F3-A59140E0AFF9}"/>
          </ac:inkMkLst>
        </pc:inkChg>
      </pc:sldChg>
      <pc:sldChg chg="delSp modTransition modAnim">
        <pc:chgData name="TEY KOK SOON" userId="b38fed35-100c-4369-8b34-69adb96b726a" providerId="ADAL" clId="{0E0D75D2-D5A0-4C11-8DC9-85ECACEDF485}" dt="2020-06-15T02:50:51.166" v="0"/>
        <pc:sldMkLst>
          <pc:docMk/>
          <pc:sldMk cId="0" sldId="300"/>
        </pc:sldMkLst>
        <pc:picChg chg="del">
          <ac:chgData name="TEY KOK SOON" userId="b38fed35-100c-4369-8b34-69adb96b726a" providerId="ADAL" clId="{0E0D75D2-D5A0-4C11-8DC9-85ECACEDF485}" dt="2020-06-15T02:50:51.166" v="0"/>
          <ac:picMkLst>
            <pc:docMk/>
            <pc:sldMk cId="0" sldId="300"/>
            <ac:picMk id="3" creationId="{BA91EA15-BEFA-4DCD-9AA5-B3BF35F48C54}"/>
          </ac:picMkLst>
        </pc:picChg>
        <pc:inkChg chg="del">
          <ac:chgData name="TEY KOK SOON" userId="b38fed35-100c-4369-8b34-69adb96b726a" providerId="ADAL" clId="{0E0D75D2-D5A0-4C11-8DC9-85ECACEDF485}" dt="2020-06-15T02:50:51.166" v="0"/>
          <ac:inkMkLst>
            <pc:docMk/>
            <pc:sldMk cId="0" sldId="300"/>
            <ac:inkMk id="2" creationId="{A25C438D-A702-4639-B31D-62531EE3A172}"/>
          </ac:inkMkLst>
        </pc:inkChg>
      </pc:sldChg>
      <pc:sldChg chg="delSp modTransition modAnim">
        <pc:chgData name="TEY KOK SOON" userId="b38fed35-100c-4369-8b34-69adb96b726a" providerId="ADAL" clId="{0E0D75D2-D5A0-4C11-8DC9-85ECACEDF485}" dt="2020-06-15T02:50:51.166" v="0"/>
        <pc:sldMkLst>
          <pc:docMk/>
          <pc:sldMk cId="0" sldId="305"/>
        </pc:sldMkLst>
        <pc:picChg chg="del">
          <ac:chgData name="TEY KOK SOON" userId="b38fed35-100c-4369-8b34-69adb96b726a" providerId="ADAL" clId="{0E0D75D2-D5A0-4C11-8DC9-85ECACEDF485}" dt="2020-06-15T02:50:51.166" v="0"/>
          <ac:picMkLst>
            <pc:docMk/>
            <pc:sldMk cId="0" sldId="305"/>
            <ac:picMk id="5" creationId="{0B5D6C33-4626-4D3C-9268-0E8EC4667304}"/>
          </ac:picMkLst>
        </pc:picChg>
        <pc:inkChg chg="del">
          <ac:chgData name="TEY KOK SOON" userId="b38fed35-100c-4369-8b34-69adb96b726a" providerId="ADAL" clId="{0E0D75D2-D5A0-4C11-8DC9-85ECACEDF485}" dt="2020-06-15T02:50:51.166" v="0"/>
          <ac:inkMkLst>
            <pc:docMk/>
            <pc:sldMk cId="0" sldId="305"/>
            <ac:inkMk id="2" creationId="{44647E72-3E6A-4BFF-9BA3-DF581332534F}"/>
          </ac:inkMkLst>
        </pc:inkChg>
      </pc:sldChg>
      <pc:sldChg chg="delSp modTransition modAnim">
        <pc:chgData name="TEY KOK SOON" userId="b38fed35-100c-4369-8b34-69adb96b726a" providerId="ADAL" clId="{0E0D75D2-D5A0-4C11-8DC9-85ECACEDF485}" dt="2020-06-15T02:50:51.166" v="0"/>
        <pc:sldMkLst>
          <pc:docMk/>
          <pc:sldMk cId="0" sldId="307"/>
        </pc:sldMkLst>
        <pc:picChg chg="del">
          <ac:chgData name="TEY KOK SOON" userId="b38fed35-100c-4369-8b34-69adb96b726a" providerId="ADAL" clId="{0E0D75D2-D5A0-4C11-8DC9-85ECACEDF485}" dt="2020-06-15T02:50:51.166" v="0"/>
          <ac:picMkLst>
            <pc:docMk/>
            <pc:sldMk cId="0" sldId="307"/>
            <ac:picMk id="6" creationId="{171E2C63-4601-49D2-AA00-8C971FB78F66}"/>
          </ac:picMkLst>
        </pc:picChg>
        <pc:inkChg chg="del">
          <ac:chgData name="TEY KOK SOON" userId="b38fed35-100c-4369-8b34-69adb96b726a" providerId="ADAL" clId="{0E0D75D2-D5A0-4C11-8DC9-85ECACEDF485}" dt="2020-06-15T02:50:51.166" v="0"/>
          <ac:inkMkLst>
            <pc:docMk/>
            <pc:sldMk cId="0" sldId="307"/>
            <ac:inkMk id="5" creationId="{235046D8-00C8-4E32-81AC-56534C7E401E}"/>
          </ac:inkMkLst>
        </pc:inkChg>
      </pc:sldChg>
      <pc:sldChg chg="delSp modTransition modAnim">
        <pc:chgData name="TEY KOK SOON" userId="b38fed35-100c-4369-8b34-69adb96b726a" providerId="ADAL" clId="{0E0D75D2-D5A0-4C11-8DC9-85ECACEDF485}" dt="2020-06-15T02:50:51.166" v="0"/>
        <pc:sldMkLst>
          <pc:docMk/>
          <pc:sldMk cId="0" sldId="308"/>
        </pc:sldMkLst>
        <pc:picChg chg="del">
          <ac:chgData name="TEY KOK SOON" userId="b38fed35-100c-4369-8b34-69adb96b726a" providerId="ADAL" clId="{0E0D75D2-D5A0-4C11-8DC9-85ECACEDF485}" dt="2020-06-15T02:50:51.166" v="0"/>
          <ac:picMkLst>
            <pc:docMk/>
            <pc:sldMk cId="0" sldId="308"/>
            <ac:picMk id="5" creationId="{4AFD42BC-8713-4633-8F15-E961055D92D6}"/>
          </ac:picMkLst>
        </pc:picChg>
        <pc:inkChg chg="del">
          <ac:chgData name="TEY KOK SOON" userId="b38fed35-100c-4369-8b34-69adb96b726a" providerId="ADAL" clId="{0E0D75D2-D5A0-4C11-8DC9-85ECACEDF485}" dt="2020-06-15T02:50:51.166" v="0"/>
          <ac:inkMkLst>
            <pc:docMk/>
            <pc:sldMk cId="0" sldId="308"/>
            <ac:inkMk id="2" creationId="{0EB7F8ED-40B9-44FD-867B-898A611CFA80}"/>
          </ac:inkMkLst>
        </pc:inkChg>
      </pc:sldChg>
      <pc:sldChg chg="delSp modTransition modAnim">
        <pc:chgData name="TEY KOK SOON" userId="b38fed35-100c-4369-8b34-69adb96b726a" providerId="ADAL" clId="{0E0D75D2-D5A0-4C11-8DC9-85ECACEDF485}" dt="2020-06-15T02:50:51.166" v="0"/>
        <pc:sldMkLst>
          <pc:docMk/>
          <pc:sldMk cId="0" sldId="309"/>
        </pc:sldMkLst>
        <pc:picChg chg="del">
          <ac:chgData name="TEY KOK SOON" userId="b38fed35-100c-4369-8b34-69adb96b726a" providerId="ADAL" clId="{0E0D75D2-D5A0-4C11-8DC9-85ECACEDF485}" dt="2020-06-15T02:50:51.166" v="0"/>
          <ac:picMkLst>
            <pc:docMk/>
            <pc:sldMk cId="0" sldId="309"/>
            <ac:picMk id="5" creationId="{4EF8A1DE-6290-4940-9100-29D0074B9887}"/>
          </ac:picMkLst>
        </pc:picChg>
        <pc:inkChg chg="del">
          <ac:chgData name="TEY KOK SOON" userId="b38fed35-100c-4369-8b34-69adb96b726a" providerId="ADAL" clId="{0E0D75D2-D5A0-4C11-8DC9-85ECACEDF485}" dt="2020-06-15T02:50:51.166" v="0"/>
          <ac:inkMkLst>
            <pc:docMk/>
            <pc:sldMk cId="0" sldId="309"/>
            <ac:inkMk id="2" creationId="{7428C4EB-3C33-4DCF-8F05-C831F4595B9B}"/>
          </ac:inkMkLst>
        </pc:inkChg>
      </pc:sldChg>
      <pc:sldChg chg="delSp modTransition modAnim">
        <pc:chgData name="TEY KOK SOON" userId="b38fed35-100c-4369-8b34-69adb96b726a" providerId="ADAL" clId="{0E0D75D2-D5A0-4C11-8DC9-85ECACEDF485}" dt="2020-06-15T02:50:51.166" v="0"/>
        <pc:sldMkLst>
          <pc:docMk/>
          <pc:sldMk cId="0" sldId="312"/>
        </pc:sldMkLst>
        <pc:picChg chg="del">
          <ac:chgData name="TEY KOK SOON" userId="b38fed35-100c-4369-8b34-69adb96b726a" providerId="ADAL" clId="{0E0D75D2-D5A0-4C11-8DC9-85ECACEDF485}" dt="2020-06-15T02:50:51.166" v="0"/>
          <ac:picMkLst>
            <pc:docMk/>
            <pc:sldMk cId="0" sldId="312"/>
            <ac:picMk id="5" creationId="{11CCA77B-2D2A-46FD-816A-D9A9C80D5F7A}"/>
          </ac:picMkLst>
        </pc:picChg>
        <pc:inkChg chg="del">
          <ac:chgData name="TEY KOK SOON" userId="b38fed35-100c-4369-8b34-69adb96b726a" providerId="ADAL" clId="{0E0D75D2-D5A0-4C11-8DC9-85ECACEDF485}" dt="2020-06-15T02:50:51.166" v="0"/>
          <ac:inkMkLst>
            <pc:docMk/>
            <pc:sldMk cId="0" sldId="312"/>
            <ac:inkMk id="2" creationId="{67931AED-E766-4792-8917-A5809E270E27}"/>
          </ac:inkMkLst>
        </pc:inkChg>
      </pc:sldChg>
      <pc:sldChg chg="delSp modTransition modAnim">
        <pc:chgData name="TEY KOK SOON" userId="b38fed35-100c-4369-8b34-69adb96b726a" providerId="ADAL" clId="{0E0D75D2-D5A0-4C11-8DC9-85ECACEDF485}" dt="2020-06-15T02:50:51.166" v="0"/>
        <pc:sldMkLst>
          <pc:docMk/>
          <pc:sldMk cId="0" sldId="313"/>
        </pc:sldMkLst>
        <pc:picChg chg="del">
          <ac:chgData name="TEY KOK SOON" userId="b38fed35-100c-4369-8b34-69adb96b726a" providerId="ADAL" clId="{0E0D75D2-D5A0-4C11-8DC9-85ECACEDF485}" dt="2020-06-15T02:50:51.166" v="0"/>
          <ac:picMkLst>
            <pc:docMk/>
            <pc:sldMk cId="0" sldId="313"/>
            <ac:picMk id="5" creationId="{DD7A754B-1A17-485B-BA85-C144D0BD041E}"/>
          </ac:picMkLst>
        </pc:picChg>
        <pc:inkChg chg="del">
          <ac:chgData name="TEY KOK SOON" userId="b38fed35-100c-4369-8b34-69adb96b726a" providerId="ADAL" clId="{0E0D75D2-D5A0-4C11-8DC9-85ECACEDF485}" dt="2020-06-15T02:50:51.166" v="0"/>
          <ac:inkMkLst>
            <pc:docMk/>
            <pc:sldMk cId="0" sldId="313"/>
            <ac:inkMk id="2" creationId="{FD309DBD-8768-466A-8CF4-4DF401000AC9}"/>
          </ac:inkMkLst>
        </pc:inkChg>
      </pc:sldChg>
      <pc:sldChg chg="delSp modTransition modAnim">
        <pc:chgData name="TEY KOK SOON" userId="b38fed35-100c-4369-8b34-69adb96b726a" providerId="ADAL" clId="{0E0D75D2-D5A0-4C11-8DC9-85ECACEDF485}" dt="2020-06-15T02:50:51.166" v="0"/>
        <pc:sldMkLst>
          <pc:docMk/>
          <pc:sldMk cId="0" sldId="316"/>
        </pc:sldMkLst>
        <pc:picChg chg="del">
          <ac:chgData name="TEY KOK SOON" userId="b38fed35-100c-4369-8b34-69adb96b726a" providerId="ADAL" clId="{0E0D75D2-D5A0-4C11-8DC9-85ECACEDF485}" dt="2020-06-15T02:50:51.166" v="0"/>
          <ac:picMkLst>
            <pc:docMk/>
            <pc:sldMk cId="0" sldId="316"/>
            <ac:picMk id="8" creationId="{7D743855-AE4C-46B7-9149-531A68E9CE1A}"/>
          </ac:picMkLst>
        </pc:picChg>
        <pc:inkChg chg="del">
          <ac:chgData name="TEY KOK SOON" userId="b38fed35-100c-4369-8b34-69adb96b726a" providerId="ADAL" clId="{0E0D75D2-D5A0-4C11-8DC9-85ECACEDF485}" dt="2020-06-15T02:50:51.166" v="0"/>
          <ac:inkMkLst>
            <pc:docMk/>
            <pc:sldMk cId="0" sldId="316"/>
            <ac:inkMk id="7" creationId="{E5B841B1-32E4-4D78-80F5-4F76BB2FB8FB}"/>
          </ac:inkMkLst>
        </pc:inkChg>
      </pc:sldChg>
      <pc:sldChg chg="delSp modTransition modAnim">
        <pc:chgData name="TEY KOK SOON" userId="b38fed35-100c-4369-8b34-69adb96b726a" providerId="ADAL" clId="{0E0D75D2-D5A0-4C11-8DC9-85ECACEDF485}" dt="2020-06-15T02:50:51.166" v="0"/>
        <pc:sldMkLst>
          <pc:docMk/>
          <pc:sldMk cId="0" sldId="317"/>
        </pc:sldMkLst>
        <pc:picChg chg="del">
          <ac:chgData name="TEY KOK SOON" userId="b38fed35-100c-4369-8b34-69adb96b726a" providerId="ADAL" clId="{0E0D75D2-D5A0-4C11-8DC9-85ECACEDF485}" dt="2020-06-15T02:50:51.166" v="0"/>
          <ac:picMkLst>
            <pc:docMk/>
            <pc:sldMk cId="0" sldId="317"/>
            <ac:picMk id="6" creationId="{826715C7-F928-4533-A52C-8424252D4459}"/>
          </ac:picMkLst>
        </pc:picChg>
        <pc:inkChg chg="del">
          <ac:chgData name="TEY KOK SOON" userId="b38fed35-100c-4369-8b34-69adb96b726a" providerId="ADAL" clId="{0E0D75D2-D5A0-4C11-8DC9-85ECACEDF485}" dt="2020-06-15T02:50:51.166" v="0"/>
          <ac:inkMkLst>
            <pc:docMk/>
            <pc:sldMk cId="0" sldId="317"/>
            <ac:inkMk id="5" creationId="{E178173C-7508-4FE5-B214-938A585ED65F}"/>
          </ac:inkMkLst>
        </pc:inkChg>
      </pc:sldChg>
      <pc:sldChg chg="delSp modTransition modAnim">
        <pc:chgData name="TEY KOK SOON" userId="b38fed35-100c-4369-8b34-69adb96b726a" providerId="ADAL" clId="{0E0D75D2-D5A0-4C11-8DC9-85ECACEDF485}" dt="2020-06-15T02:50:51.166" v="0"/>
        <pc:sldMkLst>
          <pc:docMk/>
          <pc:sldMk cId="0" sldId="319"/>
        </pc:sldMkLst>
        <pc:picChg chg="del">
          <ac:chgData name="TEY KOK SOON" userId="b38fed35-100c-4369-8b34-69adb96b726a" providerId="ADAL" clId="{0E0D75D2-D5A0-4C11-8DC9-85ECACEDF485}" dt="2020-06-15T02:50:51.166" v="0"/>
          <ac:picMkLst>
            <pc:docMk/>
            <pc:sldMk cId="0" sldId="319"/>
            <ac:picMk id="2" creationId="{BC2D7362-0268-4D36-BFF5-0FCA621A1C1F}"/>
          </ac:picMkLst>
        </pc:picChg>
      </pc:sldChg>
      <pc:sldChg chg="delSp modTransition modAnim">
        <pc:chgData name="TEY KOK SOON" userId="b38fed35-100c-4369-8b34-69adb96b726a" providerId="ADAL" clId="{0E0D75D2-D5A0-4C11-8DC9-85ECACEDF485}" dt="2020-06-15T02:50:51.166" v="0"/>
        <pc:sldMkLst>
          <pc:docMk/>
          <pc:sldMk cId="0" sldId="320"/>
        </pc:sldMkLst>
        <pc:picChg chg="del">
          <ac:chgData name="TEY KOK SOON" userId="b38fed35-100c-4369-8b34-69adb96b726a" providerId="ADAL" clId="{0E0D75D2-D5A0-4C11-8DC9-85ECACEDF485}" dt="2020-06-15T02:50:51.166" v="0"/>
          <ac:picMkLst>
            <pc:docMk/>
            <pc:sldMk cId="0" sldId="320"/>
            <ac:picMk id="7" creationId="{0E7CCCBE-FA11-4A92-AFCC-721209B572CB}"/>
          </ac:picMkLst>
        </pc:picChg>
        <pc:inkChg chg="del">
          <ac:chgData name="TEY KOK SOON" userId="b38fed35-100c-4369-8b34-69adb96b726a" providerId="ADAL" clId="{0E0D75D2-D5A0-4C11-8DC9-85ECACEDF485}" dt="2020-06-15T02:50:51.166" v="0"/>
          <ac:inkMkLst>
            <pc:docMk/>
            <pc:sldMk cId="0" sldId="320"/>
            <ac:inkMk id="6" creationId="{BE5E3556-3182-45F6-BE1F-CAE117295900}"/>
          </ac:inkMkLst>
        </pc:inkChg>
      </pc:sldChg>
      <pc:sldChg chg="delSp modTransition modAnim">
        <pc:chgData name="TEY KOK SOON" userId="b38fed35-100c-4369-8b34-69adb96b726a" providerId="ADAL" clId="{0E0D75D2-D5A0-4C11-8DC9-85ECACEDF485}" dt="2020-06-15T02:50:51.166" v="0"/>
        <pc:sldMkLst>
          <pc:docMk/>
          <pc:sldMk cId="0" sldId="321"/>
        </pc:sldMkLst>
        <pc:picChg chg="del">
          <ac:chgData name="TEY KOK SOON" userId="b38fed35-100c-4369-8b34-69adb96b726a" providerId="ADAL" clId="{0E0D75D2-D5A0-4C11-8DC9-85ECACEDF485}" dt="2020-06-15T02:50:51.166" v="0"/>
          <ac:picMkLst>
            <pc:docMk/>
            <pc:sldMk cId="0" sldId="321"/>
            <ac:picMk id="9" creationId="{3F9B143A-2DB7-45AF-A80D-D1F33F8E5469}"/>
          </ac:picMkLst>
        </pc:picChg>
        <pc:inkChg chg="del">
          <ac:chgData name="TEY KOK SOON" userId="b38fed35-100c-4369-8b34-69adb96b726a" providerId="ADAL" clId="{0E0D75D2-D5A0-4C11-8DC9-85ECACEDF485}" dt="2020-06-15T02:50:51.166" v="0"/>
          <ac:inkMkLst>
            <pc:docMk/>
            <pc:sldMk cId="0" sldId="321"/>
            <ac:inkMk id="8" creationId="{B3820E62-AFB2-4513-8600-9B970AB04D86}"/>
          </ac:inkMkLst>
        </pc:inkChg>
      </pc:sldChg>
      <pc:sldChg chg="delSp modTransition modAnim">
        <pc:chgData name="TEY KOK SOON" userId="b38fed35-100c-4369-8b34-69adb96b726a" providerId="ADAL" clId="{0E0D75D2-D5A0-4C11-8DC9-85ECACEDF485}" dt="2020-06-15T02:50:51.166" v="0"/>
        <pc:sldMkLst>
          <pc:docMk/>
          <pc:sldMk cId="0" sldId="322"/>
        </pc:sldMkLst>
        <pc:picChg chg="del">
          <ac:chgData name="TEY KOK SOON" userId="b38fed35-100c-4369-8b34-69adb96b726a" providerId="ADAL" clId="{0E0D75D2-D5A0-4C11-8DC9-85ECACEDF485}" dt="2020-06-15T02:50:51.166" v="0"/>
          <ac:picMkLst>
            <pc:docMk/>
            <pc:sldMk cId="0" sldId="322"/>
            <ac:picMk id="5" creationId="{160516DF-B28F-494C-BF10-543BAFC07D2B}"/>
          </ac:picMkLst>
        </pc:picChg>
        <pc:inkChg chg="del">
          <ac:chgData name="TEY KOK SOON" userId="b38fed35-100c-4369-8b34-69adb96b726a" providerId="ADAL" clId="{0E0D75D2-D5A0-4C11-8DC9-85ECACEDF485}" dt="2020-06-15T02:50:51.166" v="0"/>
          <ac:inkMkLst>
            <pc:docMk/>
            <pc:sldMk cId="0" sldId="322"/>
            <ac:inkMk id="2" creationId="{4DFD22F1-D346-4DB7-A541-371497204E81}"/>
          </ac:inkMkLst>
        </pc:inkChg>
      </pc:sldChg>
      <pc:sldChg chg="delSp modTransition modAnim">
        <pc:chgData name="TEY KOK SOON" userId="b38fed35-100c-4369-8b34-69adb96b726a" providerId="ADAL" clId="{0E0D75D2-D5A0-4C11-8DC9-85ECACEDF485}" dt="2020-06-15T02:50:51.166" v="0"/>
        <pc:sldMkLst>
          <pc:docMk/>
          <pc:sldMk cId="0" sldId="323"/>
        </pc:sldMkLst>
        <pc:picChg chg="del">
          <ac:chgData name="TEY KOK SOON" userId="b38fed35-100c-4369-8b34-69adb96b726a" providerId="ADAL" clId="{0E0D75D2-D5A0-4C11-8DC9-85ECACEDF485}" dt="2020-06-15T02:50:51.166" v="0"/>
          <ac:picMkLst>
            <pc:docMk/>
            <pc:sldMk cId="0" sldId="323"/>
            <ac:picMk id="7" creationId="{FD32E9DA-427A-49AD-8023-381679892276}"/>
          </ac:picMkLst>
        </pc:picChg>
        <pc:inkChg chg="del">
          <ac:chgData name="TEY KOK SOON" userId="b38fed35-100c-4369-8b34-69adb96b726a" providerId="ADAL" clId="{0E0D75D2-D5A0-4C11-8DC9-85ECACEDF485}" dt="2020-06-15T02:50:51.166" v="0"/>
          <ac:inkMkLst>
            <pc:docMk/>
            <pc:sldMk cId="0" sldId="323"/>
            <ac:inkMk id="6" creationId="{731E5628-B87D-4E54-8430-8ED747219339}"/>
          </ac:inkMkLst>
        </pc:inkChg>
      </pc:sldChg>
      <pc:sldChg chg="delSp modTransition modAnim">
        <pc:chgData name="TEY KOK SOON" userId="b38fed35-100c-4369-8b34-69adb96b726a" providerId="ADAL" clId="{0E0D75D2-D5A0-4C11-8DC9-85ECACEDF485}" dt="2020-06-15T02:50:51.166" v="0"/>
        <pc:sldMkLst>
          <pc:docMk/>
          <pc:sldMk cId="0" sldId="324"/>
        </pc:sldMkLst>
        <pc:picChg chg="del">
          <ac:chgData name="TEY KOK SOON" userId="b38fed35-100c-4369-8b34-69adb96b726a" providerId="ADAL" clId="{0E0D75D2-D5A0-4C11-8DC9-85ECACEDF485}" dt="2020-06-15T02:50:51.166" v="0"/>
          <ac:picMkLst>
            <pc:docMk/>
            <pc:sldMk cId="0" sldId="324"/>
            <ac:picMk id="7" creationId="{163D2426-AC81-4932-9CA9-860A750F0569}"/>
          </ac:picMkLst>
        </pc:picChg>
        <pc:inkChg chg="del">
          <ac:chgData name="TEY KOK SOON" userId="b38fed35-100c-4369-8b34-69adb96b726a" providerId="ADAL" clId="{0E0D75D2-D5A0-4C11-8DC9-85ECACEDF485}" dt="2020-06-15T02:50:51.166" v="0"/>
          <ac:inkMkLst>
            <pc:docMk/>
            <pc:sldMk cId="0" sldId="324"/>
            <ac:inkMk id="6" creationId="{8537937F-27A6-4520-9DB5-9BB290691677}"/>
          </ac:inkMkLst>
        </pc:inkChg>
      </pc:sldChg>
      <pc:sldChg chg="delSp modTransition modAnim">
        <pc:chgData name="TEY KOK SOON" userId="b38fed35-100c-4369-8b34-69adb96b726a" providerId="ADAL" clId="{0E0D75D2-D5A0-4C11-8DC9-85ECACEDF485}" dt="2020-06-15T02:50:51.166" v="0"/>
        <pc:sldMkLst>
          <pc:docMk/>
          <pc:sldMk cId="0" sldId="325"/>
        </pc:sldMkLst>
        <pc:picChg chg="del">
          <ac:chgData name="TEY KOK SOON" userId="b38fed35-100c-4369-8b34-69adb96b726a" providerId="ADAL" clId="{0E0D75D2-D5A0-4C11-8DC9-85ECACEDF485}" dt="2020-06-15T02:50:51.166" v="0"/>
          <ac:picMkLst>
            <pc:docMk/>
            <pc:sldMk cId="0" sldId="325"/>
            <ac:picMk id="5" creationId="{0AC8A661-53F7-4449-A144-4A1AFE38B7B6}"/>
          </ac:picMkLst>
        </pc:picChg>
        <pc:inkChg chg="del">
          <ac:chgData name="TEY KOK SOON" userId="b38fed35-100c-4369-8b34-69adb96b726a" providerId="ADAL" clId="{0E0D75D2-D5A0-4C11-8DC9-85ECACEDF485}" dt="2020-06-15T02:50:51.166" v="0"/>
          <ac:inkMkLst>
            <pc:docMk/>
            <pc:sldMk cId="0" sldId="325"/>
            <ac:inkMk id="2" creationId="{D88FC6C4-01DA-4FC6-8C30-E11CDCD83F90}"/>
          </ac:inkMkLst>
        </pc:inkChg>
      </pc:sldChg>
      <pc:sldChg chg="modTransition">
        <pc:chgData name="TEY KOK SOON" userId="b38fed35-100c-4369-8b34-69adb96b726a" providerId="ADAL" clId="{0E0D75D2-D5A0-4C11-8DC9-85ECACEDF485}" dt="2020-06-15T02:50:51.166" v="0"/>
        <pc:sldMkLst>
          <pc:docMk/>
          <pc:sldMk cId="3204172044" sldId="326"/>
        </pc:sldMkLst>
      </pc:sldChg>
      <pc:sldChg chg="modTransition">
        <pc:chgData name="TEY KOK SOON" userId="b38fed35-100c-4369-8b34-69adb96b726a" providerId="ADAL" clId="{0E0D75D2-D5A0-4C11-8DC9-85ECACEDF485}" dt="2020-06-15T02:50:51.166" v="0"/>
        <pc:sldMkLst>
          <pc:docMk/>
          <pc:sldMk cId="2727425206" sldId="327"/>
        </pc:sldMkLst>
      </pc:sldChg>
      <pc:sldChg chg="modTransition">
        <pc:chgData name="TEY KOK SOON" userId="b38fed35-100c-4369-8b34-69adb96b726a" providerId="ADAL" clId="{0E0D75D2-D5A0-4C11-8DC9-85ECACEDF485}" dt="2020-06-15T02:50:51.166" v="0"/>
        <pc:sldMkLst>
          <pc:docMk/>
          <pc:sldMk cId="277846231" sldId="328"/>
        </pc:sldMkLst>
      </pc:sldChg>
      <pc:sldChg chg="modTransition">
        <pc:chgData name="TEY KOK SOON" userId="b38fed35-100c-4369-8b34-69adb96b726a" providerId="ADAL" clId="{0E0D75D2-D5A0-4C11-8DC9-85ECACEDF485}" dt="2020-06-15T02:50:51.166" v="0"/>
        <pc:sldMkLst>
          <pc:docMk/>
          <pc:sldMk cId="3134571359" sldId="329"/>
        </pc:sldMkLst>
      </pc:sldChg>
      <pc:sldChg chg="modTransition">
        <pc:chgData name="TEY KOK SOON" userId="b38fed35-100c-4369-8b34-69adb96b726a" providerId="ADAL" clId="{0E0D75D2-D5A0-4C11-8DC9-85ECACEDF485}" dt="2020-06-15T02:50:51.166" v="0"/>
        <pc:sldMkLst>
          <pc:docMk/>
          <pc:sldMk cId="476126984" sldId="330"/>
        </pc:sldMkLst>
      </pc:sldChg>
      <pc:sldChg chg="modTransition">
        <pc:chgData name="TEY KOK SOON" userId="b38fed35-100c-4369-8b34-69adb96b726a" providerId="ADAL" clId="{0E0D75D2-D5A0-4C11-8DC9-85ECACEDF485}" dt="2020-06-15T02:50:51.166" v="0"/>
        <pc:sldMkLst>
          <pc:docMk/>
          <pc:sldMk cId="3513492581" sldId="333"/>
        </pc:sldMkLst>
      </pc:sldChg>
      <pc:sldChg chg="modTransition">
        <pc:chgData name="TEY KOK SOON" userId="b38fed35-100c-4369-8b34-69adb96b726a" providerId="ADAL" clId="{0E0D75D2-D5A0-4C11-8DC9-85ECACEDF485}" dt="2020-06-15T02:50:51.166" v="0"/>
        <pc:sldMkLst>
          <pc:docMk/>
          <pc:sldMk cId="1516618035" sldId="336"/>
        </pc:sldMkLst>
      </pc:sldChg>
      <pc:sldChg chg="modTransition">
        <pc:chgData name="TEY KOK SOON" userId="b38fed35-100c-4369-8b34-69adb96b726a" providerId="ADAL" clId="{0E0D75D2-D5A0-4C11-8DC9-85ECACEDF485}" dt="2020-06-15T02:50:51.166" v="0"/>
        <pc:sldMkLst>
          <pc:docMk/>
          <pc:sldMk cId="647381207" sldId="337"/>
        </pc:sldMkLst>
      </pc:sldChg>
      <pc:sldChg chg="modTransition">
        <pc:chgData name="TEY KOK SOON" userId="b38fed35-100c-4369-8b34-69adb96b726a" providerId="ADAL" clId="{0E0D75D2-D5A0-4C11-8DC9-85ECACEDF485}" dt="2020-06-15T02:50:51.166" v="0"/>
        <pc:sldMkLst>
          <pc:docMk/>
          <pc:sldMk cId="1286212892" sldId="338"/>
        </pc:sldMkLst>
      </pc:sldChg>
      <pc:sldChg chg="modTransition">
        <pc:chgData name="TEY KOK SOON" userId="b38fed35-100c-4369-8b34-69adb96b726a" providerId="ADAL" clId="{0E0D75D2-D5A0-4C11-8DC9-85ECACEDF485}" dt="2020-06-15T02:50:51.166" v="0"/>
        <pc:sldMkLst>
          <pc:docMk/>
          <pc:sldMk cId="161836802" sldId="341"/>
        </pc:sldMkLst>
      </pc:sldChg>
      <pc:sldChg chg="modTransition">
        <pc:chgData name="TEY KOK SOON" userId="b38fed35-100c-4369-8b34-69adb96b726a" providerId="ADAL" clId="{0E0D75D2-D5A0-4C11-8DC9-85ECACEDF485}" dt="2020-06-15T02:50:51.166" v="0"/>
        <pc:sldMkLst>
          <pc:docMk/>
          <pc:sldMk cId="3447996144" sldId="343"/>
        </pc:sldMkLst>
      </pc:sldChg>
      <pc:sldChg chg="modTransition">
        <pc:chgData name="TEY KOK SOON" userId="b38fed35-100c-4369-8b34-69adb96b726a" providerId="ADAL" clId="{0E0D75D2-D5A0-4C11-8DC9-85ECACEDF485}" dt="2020-06-15T02:50:51.166" v="0"/>
        <pc:sldMkLst>
          <pc:docMk/>
          <pc:sldMk cId="3517594382" sldId="344"/>
        </pc:sldMkLst>
      </pc:sldChg>
      <pc:sldChg chg="modTransition">
        <pc:chgData name="TEY KOK SOON" userId="b38fed35-100c-4369-8b34-69adb96b726a" providerId="ADAL" clId="{0E0D75D2-D5A0-4C11-8DC9-85ECACEDF485}" dt="2020-06-15T02:50:51.166" v="0"/>
        <pc:sldMkLst>
          <pc:docMk/>
          <pc:sldMk cId="159746737" sldId="346"/>
        </pc:sldMkLst>
      </pc:sldChg>
      <pc:sldChg chg="delSp modTransition modAnim">
        <pc:chgData name="TEY KOK SOON" userId="b38fed35-100c-4369-8b34-69adb96b726a" providerId="ADAL" clId="{0E0D75D2-D5A0-4C11-8DC9-85ECACEDF485}" dt="2020-06-15T02:50:51.166" v="0"/>
        <pc:sldMkLst>
          <pc:docMk/>
          <pc:sldMk cId="0" sldId="348"/>
        </pc:sldMkLst>
        <pc:picChg chg="del">
          <ac:chgData name="TEY KOK SOON" userId="b38fed35-100c-4369-8b34-69adb96b726a" providerId="ADAL" clId="{0E0D75D2-D5A0-4C11-8DC9-85ECACEDF485}" dt="2020-06-15T02:50:51.166" v="0"/>
          <ac:picMkLst>
            <pc:docMk/>
            <pc:sldMk cId="0" sldId="348"/>
            <ac:picMk id="6" creationId="{EF1AB52D-38B2-4524-B019-A0595BCF6251}"/>
          </ac:picMkLst>
        </pc:picChg>
        <pc:inkChg chg="del">
          <ac:chgData name="TEY KOK SOON" userId="b38fed35-100c-4369-8b34-69adb96b726a" providerId="ADAL" clId="{0E0D75D2-D5A0-4C11-8DC9-85ECACEDF485}" dt="2020-06-15T02:50:51.166" v="0"/>
          <ac:inkMkLst>
            <pc:docMk/>
            <pc:sldMk cId="0" sldId="348"/>
            <ac:inkMk id="5" creationId="{CE0DCA46-429A-4404-B745-80C932A1943B}"/>
          </ac:inkMkLst>
        </pc:inkChg>
      </pc:sldChg>
      <pc:sldChg chg="delSp modTransition modAnim">
        <pc:chgData name="TEY KOK SOON" userId="b38fed35-100c-4369-8b34-69adb96b726a" providerId="ADAL" clId="{0E0D75D2-D5A0-4C11-8DC9-85ECACEDF485}" dt="2020-06-15T02:50:51.166" v="0"/>
        <pc:sldMkLst>
          <pc:docMk/>
          <pc:sldMk cId="0" sldId="349"/>
        </pc:sldMkLst>
        <pc:picChg chg="del">
          <ac:chgData name="TEY KOK SOON" userId="b38fed35-100c-4369-8b34-69adb96b726a" providerId="ADAL" clId="{0E0D75D2-D5A0-4C11-8DC9-85ECACEDF485}" dt="2020-06-15T02:50:51.166" v="0"/>
          <ac:picMkLst>
            <pc:docMk/>
            <pc:sldMk cId="0" sldId="349"/>
            <ac:picMk id="6" creationId="{F7D7C9A8-E468-43AA-B00F-8A8994475582}"/>
          </ac:picMkLst>
        </pc:picChg>
        <pc:inkChg chg="del">
          <ac:chgData name="TEY KOK SOON" userId="b38fed35-100c-4369-8b34-69adb96b726a" providerId="ADAL" clId="{0E0D75D2-D5A0-4C11-8DC9-85ECACEDF485}" dt="2020-06-15T02:50:51.166" v="0"/>
          <ac:inkMkLst>
            <pc:docMk/>
            <pc:sldMk cId="0" sldId="349"/>
            <ac:inkMk id="5" creationId="{2B13EE7E-1C66-461C-ABFD-5153546BE500}"/>
          </ac:inkMkLst>
        </pc:inkChg>
      </pc:sldChg>
      <pc:sldChg chg="delSp modTransition modAnim">
        <pc:chgData name="TEY KOK SOON" userId="b38fed35-100c-4369-8b34-69adb96b726a" providerId="ADAL" clId="{0E0D75D2-D5A0-4C11-8DC9-85ECACEDF485}" dt="2020-06-15T02:50:51.166" v="0"/>
        <pc:sldMkLst>
          <pc:docMk/>
          <pc:sldMk cId="0" sldId="351"/>
        </pc:sldMkLst>
        <pc:picChg chg="del">
          <ac:chgData name="TEY KOK SOON" userId="b38fed35-100c-4369-8b34-69adb96b726a" providerId="ADAL" clId="{0E0D75D2-D5A0-4C11-8DC9-85ECACEDF485}" dt="2020-06-15T02:50:51.166" v="0"/>
          <ac:picMkLst>
            <pc:docMk/>
            <pc:sldMk cId="0" sldId="351"/>
            <ac:picMk id="12" creationId="{444A470D-CBA8-4C1F-9271-AF22E7E449A7}"/>
          </ac:picMkLst>
        </pc:picChg>
        <pc:inkChg chg="del">
          <ac:chgData name="TEY KOK SOON" userId="b38fed35-100c-4369-8b34-69adb96b726a" providerId="ADAL" clId="{0E0D75D2-D5A0-4C11-8DC9-85ECACEDF485}" dt="2020-06-15T02:50:51.166" v="0"/>
          <ac:inkMkLst>
            <pc:docMk/>
            <pc:sldMk cId="0" sldId="351"/>
            <ac:inkMk id="11" creationId="{7B6C5188-A240-4663-8D4A-EEE3AFD31AFF}"/>
          </ac:inkMkLst>
        </pc:inkChg>
      </pc:sldChg>
      <pc:sldChg chg="delSp modTransition modAnim">
        <pc:chgData name="TEY KOK SOON" userId="b38fed35-100c-4369-8b34-69adb96b726a" providerId="ADAL" clId="{0E0D75D2-D5A0-4C11-8DC9-85ECACEDF485}" dt="2020-06-15T02:50:51.166" v="0"/>
        <pc:sldMkLst>
          <pc:docMk/>
          <pc:sldMk cId="0" sldId="353"/>
        </pc:sldMkLst>
        <pc:picChg chg="del">
          <ac:chgData name="TEY KOK SOON" userId="b38fed35-100c-4369-8b34-69adb96b726a" providerId="ADAL" clId="{0E0D75D2-D5A0-4C11-8DC9-85ECACEDF485}" dt="2020-06-15T02:50:51.166" v="0"/>
          <ac:picMkLst>
            <pc:docMk/>
            <pc:sldMk cId="0" sldId="353"/>
            <ac:picMk id="3" creationId="{B8778352-359A-4EAF-B865-F2E3C0BB8B1B}"/>
          </ac:picMkLst>
        </pc:picChg>
        <pc:inkChg chg="del">
          <ac:chgData name="TEY KOK SOON" userId="b38fed35-100c-4369-8b34-69adb96b726a" providerId="ADAL" clId="{0E0D75D2-D5A0-4C11-8DC9-85ECACEDF485}" dt="2020-06-15T02:50:51.166" v="0"/>
          <ac:inkMkLst>
            <pc:docMk/>
            <pc:sldMk cId="0" sldId="353"/>
            <ac:inkMk id="2" creationId="{B8CAEA61-553D-4156-81DA-DFFD5E512F3F}"/>
          </ac:inkMkLst>
        </pc:inkChg>
      </pc:sldChg>
      <pc:sldChg chg="delSp modTransition modAnim">
        <pc:chgData name="TEY KOK SOON" userId="b38fed35-100c-4369-8b34-69adb96b726a" providerId="ADAL" clId="{0E0D75D2-D5A0-4C11-8DC9-85ECACEDF485}" dt="2020-06-15T02:50:51.166" v="0"/>
        <pc:sldMkLst>
          <pc:docMk/>
          <pc:sldMk cId="0" sldId="354"/>
        </pc:sldMkLst>
        <pc:picChg chg="del">
          <ac:chgData name="TEY KOK SOON" userId="b38fed35-100c-4369-8b34-69adb96b726a" providerId="ADAL" clId="{0E0D75D2-D5A0-4C11-8DC9-85ECACEDF485}" dt="2020-06-15T02:50:51.166" v="0"/>
          <ac:picMkLst>
            <pc:docMk/>
            <pc:sldMk cId="0" sldId="354"/>
            <ac:picMk id="3" creationId="{B8942652-90F9-47A8-9551-BF7B20F4F725}"/>
          </ac:picMkLst>
        </pc:picChg>
        <pc:inkChg chg="del">
          <ac:chgData name="TEY KOK SOON" userId="b38fed35-100c-4369-8b34-69adb96b726a" providerId="ADAL" clId="{0E0D75D2-D5A0-4C11-8DC9-85ECACEDF485}" dt="2020-06-15T02:50:51.166" v="0"/>
          <ac:inkMkLst>
            <pc:docMk/>
            <pc:sldMk cId="0" sldId="354"/>
            <ac:inkMk id="2" creationId="{E6335025-7CD4-482C-A0D6-92D5388F1012}"/>
          </ac:inkMkLst>
        </pc:inkChg>
      </pc:sldChg>
      <pc:sldChg chg="delSp modTransition modAnim">
        <pc:chgData name="TEY KOK SOON" userId="b38fed35-100c-4369-8b34-69adb96b726a" providerId="ADAL" clId="{0E0D75D2-D5A0-4C11-8DC9-85ECACEDF485}" dt="2020-06-15T02:50:51.166" v="0"/>
        <pc:sldMkLst>
          <pc:docMk/>
          <pc:sldMk cId="0" sldId="357"/>
        </pc:sldMkLst>
        <pc:picChg chg="del">
          <ac:chgData name="TEY KOK SOON" userId="b38fed35-100c-4369-8b34-69adb96b726a" providerId="ADAL" clId="{0E0D75D2-D5A0-4C11-8DC9-85ECACEDF485}" dt="2020-06-15T02:50:51.166" v="0"/>
          <ac:picMkLst>
            <pc:docMk/>
            <pc:sldMk cId="0" sldId="357"/>
            <ac:picMk id="3" creationId="{219D867A-8C89-4B58-8E7F-D4962960E1D0}"/>
          </ac:picMkLst>
        </pc:picChg>
        <pc:inkChg chg="del">
          <ac:chgData name="TEY KOK SOON" userId="b38fed35-100c-4369-8b34-69adb96b726a" providerId="ADAL" clId="{0E0D75D2-D5A0-4C11-8DC9-85ECACEDF485}" dt="2020-06-15T02:50:51.166" v="0"/>
          <ac:inkMkLst>
            <pc:docMk/>
            <pc:sldMk cId="0" sldId="357"/>
            <ac:inkMk id="2" creationId="{AE8D7498-8DD0-4D87-AD7A-E657DCBC33E1}"/>
          </ac:inkMkLst>
        </pc:inkChg>
      </pc:sldChg>
      <pc:sldChg chg="delSp modTransition modAnim">
        <pc:chgData name="TEY KOK SOON" userId="b38fed35-100c-4369-8b34-69adb96b726a" providerId="ADAL" clId="{0E0D75D2-D5A0-4C11-8DC9-85ECACEDF485}" dt="2020-06-15T02:50:51.166" v="0"/>
        <pc:sldMkLst>
          <pc:docMk/>
          <pc:sldMk cId="0" sldId="358"/>
        </pc:sldMkLst>
        <pc:picChg chg="del">
          <ac:chgData name="TEY KOK SOON" userId="b38fed35-100c-4369-8b34-69adb96b726a" providerId="ADAL" clId="{0E0D75D2-D5A0-4C11-8DC9-85ECACEDF485}" dt="2020-06-15T02:50:51.166" v="0"/>
          <ac:picMkLst>
            <pc:docMk/>
            <pc:sldMk cId="0" sldId="358"/>
            <ac:picMk id="8" creationId="{5B885278-A3C6-4716-B87B-50A0A763A3BB}"/>
          </ac:picMkLst>
        </pc:picChg>
        <pc:inkChg chg="del">
          <ac:chgData name="TEY KOK SOON" userId="b38fed35-100c-4369-8b34-69adb96b726a" providerId="ADAL" clId="{0E0D75D2-D5A0-4C11-8DC9-85ECACEDF485}" dt="2020-06-15T02:50:51.166" v="0"/>
          <ac:inkMkLst>
            <pc:docMk/>
            <pc:sldMk cId="0" sldId="358"/>
            <ac:inkMk id="7" creationId="{3472846A-5194-4B49-AC40-AEC2CACF4BA8}"/>
          </ac:inkMkLst>
        </pc:inkChg>
      </pc:sldChg>
      <pc:sldChg chg="modTransition">
        <pc:chgData name="TEY KOK SOON" userId="b38fed35-100c-4369-8b34-69adb96b726a" providerId="ADAL" clId="{0E0D75D2-D5A0-4C11-8DC9-85ECACEDF485}" dt="2020-06-15T02:50:51.166" v="0"/>
        <pc:sldMkLst>
          <pc:docMk/>
          <pc:sldMk cId="2092880618" sldId="360"/>
        </pc:sldMkLst>
      </pc:sldChg>
      <pc:sldChg chg="modTransition">
        <pc:chgData name="TEY KOK SOON" userId="b38fed35-100c-4369-8b34-69adb96b726a" providerId="ADAL" clId="{0E0D75D2-D5A0-4C11-8DC9-85ECACEDF485}" dt="2020-06-15T02:50:51.166" v="0"/>
        <pc:sldMkLst>
          <pc:docMk/>
          <pc:sldMk cId="2676466956" sldId="361"/>
        </pc:sldMkLst>
      </pc:sldChg>
      <pc:sldChg chg="delSp modTransition modAnim">
        <pc:chgData name="TEY KOK SOON" userId="b38fed35-100c-4369-8b34-69adb96b726a" providerId="ADAL" clId="{0E0D75D2-D5A0-4C11-8DC9-85ECACEDF485}" dt="2020-06-15T02:50:51.166" v="0"/>
        <pc:sldMkLst>
          <pc:docMk/>
          <pc:sldMk cId="323453669" sldId="362"/>
        </pc:sldMkLst>
        <pc:picChg chg="del">
          <ac:chgData name="TEY KOK SOON" userId="b38fed35-100c-4369-8b34-69adb96b726a" providerId="ADAL" clId="{0E0D75D2-D5A0-4C11-8DC9-85ECACEDF485}" dt="2020-06-15T02:50:51.166" v="0"/>
          <ac:picMkLst>
            <pc:docMk/>
            <pc:sldMk cId="323453669" sldId="362"/>
            <ac:picMk id="7" creationId="{C034C851-B4C8-4A0D-A27A-C19B8389ADF1}"/>
          </ac:picMkLst>
        </pc:picChg>
        <pc:inkChg chg="del">
          <ac:chgData name="TEY KOK SOON" userId="b38fed35-100c-4369-8b34-69adb96b726a" providerId="ADAL" clId="{0E0D75D2-D5A0-4C11-8DC9-85ECACEDF485}" dt="2020-06-15T02:50:51.166" v="0"/>
          <ac:inkMkLst>
            <pc:docMk/>
            <pc:sldMk cId="323453669" sldId="362"/>
            <ac:inkMk id="6" creationId="{AD26D703-D473-49BE-8F7F-391AB06EF559}"/>
          </ac:inkMkLst>
        </pc:inkChg>
      </pc:sldChg>
      <pc:sldChg chg="delSp modTransition modAnim">
        <pc:chgData name="TEY KOK SOON" userId="b38fed35-100c-4369-8b34-69adb96b726a" providerId="ADAL" clId="{0E0D75D2-D5A0-4C11-8DC9-85ECACEDF485}" dt="2020-06-15T02:50:51.166" v="0"/>
        <pc:sldMkLst>
          <pc:docMk/>
          <pc:sldMk cId="1789569612" sldId="363"/>
        </pc:sldMkLst>
        <pc:picChg chg="del">
          <ac:chgData name="TEY KOK SOON" userId="b38fed35-100c-4369-8b34-69adb96b726a" providerId="ADAL" clId="{0E0D75D2-D5A0-4C11-8DC9-85ECACEDF485}" dt="2020-06-15T02:50:51.166" v="0"/>
          <ac:picMkLst>
            <pc:docMk/>
            <pc:sldMk cId="1789569612" sldId="363"/>
            <ac:picMk id="5" creationId="{00350B5C-050D-4528-8B00-AE376B993D21}"/>
          </ac:picMkLst>
        </pc:picChg>
        <pc:inkChg chg="del">
          <ac:chgData name="TEY KOK SOON" userId="b38fed35-100c-4369-8b34-69adb96b726a" providerId="ADAL" clId="{0E0D75D2-D5A0-4C11-8DC9-85ECACEDF485}" dt="2020-06-15T02:50:51.166" v="0"/>
          <ac:inkMkLst>
            <pc:docMk/>
            <pc:sldMk cId="1789569612" sldId="363"/>
            <ac:inkMk id="2" creationId="{9EADA6C5-BD5E-4783-BDAC-7F53033C1314}"/>
          </ac:inkMkLst>
        </pc:inkChg>
      </pc:sldChg>
      <pc:sldChg chg="modTransition">
        <pc:chgData name="TEY KOK SOON" userId="b38fed35-100c-4369-8b34-69adb96b726a" providerId="ADAL" clId="{0E0D75D2-D5A0-4C11-8DC9-85ECACEDF485}" dt="2020-06-15T02:50:51.166" v="0"/>
        <pc:sldMkLst>
          <pc:docMk/>
          <pc:sldMk cId="382298383" sldId="365"/>
        </pc:sldMkLst>
      </pc:sldChg>
      <pc:sldChg chg="modTransition">
        <pc:chgData name="TEY KOK SOON" userId="b38fed35-100c-4369-8b34-69adb96b726a" providerId="ADAL" clId="{0E0D75D2-D5A0-4C11-8DC9-85ECACEDF485}" dt="2020-06-15T02:50:51.166" v="0"/>
        <pc:sldMkLst>
          <pc:docMk/>
          <pc:sldMk cId="4136094747" sldId="366"/>
        </pc:sldMkLst>
      </pc:sldChg>
      <pc:sldChg chg="modTransition">
        <pc:chgData name="TEY KOK SOON" userId="b38fed35-100c-4369-8b34-69adb96b726a" providerId="ADAL" clId="{0E0D75D2-D5A0-4C11-8DC9-85ECACEDF485}" dt="2020-06-15T02:50:51.166" v="0"/>
        <pc:sldMkLst>
          <pc:docMk/>
          <pc:sldMk cId="4045738027" sldId="367"/>
        </pc:sldMkLst>
      </pc:sldChg>
      <pc:sldChg chg="delSp modTransition modAnim">
        <pc:chgData name="TEY KOK SOON" userId="b38fed35-100c-4369-8b34-69adb96b726a" providerId="ADAL" clId="{0E0D75D2-D5A0-4C11-8DC9-85ECACEDF485}" dt="2020-06-15T02:50:51.166" v="0"/>
        <pc:sldMkLst>
          <pc:docMk/>
          <pc:sldMk cId="3417378828" sldId="368"/>
        </pc:sldMkLst>
        <pc:picChg chg="del">
          <ac:chgData name="TEY KOK SOON" userId="b38fed35-100c-4369-8b34-69adb96b726a" providerId="ADAL" clId="{0E0D75D2-D5A0-4C11-8DC9-85ECACEDF485}" dt="2020-06-15T02:50:51.166" v="0"/>
          <ac:picMkLst>
            <pc:docMk/>
            <pc:sldMk cId="3417378828" sldId="368"/>
            <ac:picMk id="2" creationId="{559CCFAF-9154-4BFC-91CA-65D39D14BC4D}"/>
          </ac:picMkLst>
        </pc:picChg>
      </pc:sldChg>
      <pc:sldChg chg="modTransition">
        <pc:chgData name="TEY KOK SOON" userId="b38fed35-100c-4369-8b34-69adb96b726a" providerId="ADAL" clId="{0E0D75D2-D5A0-4C11-8DC9-85ECACEDF485}" dt="2020-06-15T02:50:51.166" v="0"/>
        <pc:sldMkLst>
          <pc:docMk/>
          <pc:sldMk cId="2209714806" sldId="369"/>
        </pc:sldMkLst>
      </pc:sldChg>
      <pc:sldChg chg="delSp modTransition modAnim">
        <pc:chgData name="TEY KOK SOON" userId="b38fed35-100c-4369-8b34-69adb96b726a" providerId="ADAL" clId="{0E0D75D2-D5A0-4C11-8DC9-85ECACEDF485}" dt="2020-06-15T02:50:51.166" v="0"/>
        <pc:sldMkLst>
          <pc:docMk/>
          <pc:sldMk cId="707945522" sldId="370"/>
        </pc:sldMkLst>
        <pc:picChg chg="del">
          <ac:chgData name="TEY KOK SOON" userId="b38fed35-100c-4369-8b34-69adb96b726a" providerId="ADAL" clId="{0E0D75D2-D5A0-4C11-8DC9-85ECACEDF485}" dt="2020-06-15T02:50:51.166" v="0"/>
          <ac:picMkLst>
            <pc:docMk/>
            <pc:sldMk cId="707945522" sldId="370"/>
            <ac:picMk id="5" creationId="{761DAD6F-3B48-41BA-B03B-5ACEDBBBAF5B}"/>
          </ac:picMkLst>
        </pc:picChg>
        <pc:inkChg chg="del">
          <ac:chgData name="TEY KOK SOON" userId="b38fed35-100c-4369-8b34-69adb96b726a" providerId="ADAL" clId="{0E0D75D2-D5A0-4C11-8DC9-85ECACEDF485}" dt="2020-06-15T02:50:51.166" v="0"/>
          <ac:inkMkLst>
            <pc:docMk/>
            <pc:sldMk cId="707945522" sldId="370"/>
            <ac:inkMk id="4" creationId="{07729F19-0B5B-4622-8396-977C9A58DF17}"/>
          </ac:inkMkLst>
        </pc:inkChg>
      </pc:sldChg>
      <pc:sldChg chg="delSp modTransition modAnim">
        <pc:chgData name="TEY KOK SOON" userId="b38fed35-100c-4369-8b34-69adb96b726a" providerId="ADAL" clId="{0E0D75D2-D5A0-4C11-8DC9-85ECACEDF485}" dt="2020-06-15T02:50:51.166" v="0"/>
        <pc:sldMkLst>
          <pc:docMk/>
          <pc:sldMk cId="3572688194" sldId="371"/>
        </pc:sldMkLst>
        <pc:picChg chg="del">
          <ac:chgData name="TEY KOK SOON" userId="b38fed35-100c-4369-8b34-69adb96b726a" providerId="ADAL" clId="{0E0D75D2-D5A0-4C11-8DC9-85ECACEDF485}" dt="2020-06-15T02:50:51.166" v="0"/>
          <ac:picMkLst>
            <pc:docMk/>
            <pc:sldMk cId="3572688194" sldId="371"/>
            <ac:picMk id="4" creationId="{B255A542-C67F-4A01-8428-9673FA108C4B}"/>
          </ac:picMkLst>
        </pc:picChg>
        <pc:inkChg chg="del">
          <ac:chgData name="TEY KOK SOON" userId="b38fed35-100c-4369-8b34-69adb96b726a" providerId="ADAL" clId="{0E0D75D2-D5A0-4C11-8DC9-85ECACEDF485}" dt="2020-06-15T02:50:51.166" v="0"/>
          <ac:inkMkLst>
            <pc:docMk/>
            <pc:sldMk cId="3572688194" sldId="371"/>
            <ac:inkMk id="3" creationId="{4EE43ADC-C76C-4407-B104-F1F9FCA0D2E1}"/>
          </ac:inkMkLst>
        </pc:inkChg>
      </pc:sldChg>
      <pc:sldChg chg="delSp modTransition modAnim">
        <pc:chgData name="TEY KOK SOON" userId="b38fed35-100c-4369-8b34-69adb96b726a" providerId="ADAL" clId="{0E0D75D2-D5A0-4C11-8DC9-85ECACEDF485}" dt="2020-06-15T02:50:51.166" v="0"/>
        <pc:sldMkLst>
          <pc:docMk/>
          <pc:sldMk cId="832768441" sldId="373"/>
        </pc:sldMkLst>
        <pc:picChg chg="del">
          <ac:chgData name="TEY KOK SOON" userId="b38fed35-100c-4369-8b34-69adb96b726a" providerId="ADAL" clId="{0E0D75D2-D5A0-4C11-8DC9-85ECACEDF485}" dt="2020-06-15T02:50:51.166" v="0"/>
          <ac:picMkLst>
            <pc:docMk/>
            <pc:sldMk cId="832768441" sldId="373"/>
            <ac:picMk id="6" creationId="{F69682BC-4C4F-492D-8746-06A642AF9F1C}"/>
          </ac:picMkLst>
        </pc:picChg>
        <pc:inkChg chg="del">
          <ac:chgData name="TEY KOK SOON" userId="b38fed35-100c-4369-8b34-69adb96b726a" providerId="ADAL" clId="{0E0D75D2-D5A0-4C11-8DC9-85ECACEDF485}" dt="2020-06-15T02:50:51.166" v="0"/>
          <ac:inkMkLst>
            <pc:docMk/>
            <pc:sldMk cId="832768441" sldId="373"/>
            <ac:inkMk id="3" creationId="{EC84EC94-494F-42EB-ADCA-9A32C4A25374}"/>
          </ac:inkMkLst>
        </pc:ink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9E9820-F66C-E04D-9FC9-DFBCA3ECB710}" type="doc">
      <dgm:prSet loTypeId="urn:microsoft.com/office/officeart/2005/8/layout/hProcess4" loCatId="process" qsTypeId="urn:microsoft.com/office/officeart/2005/8/quickstyle/simple4" qsCatId="simple" csTypeId="urn:microsoft.com/office/officeart/2005/8/colors/accent1_2" csCatId="accent1" phldr="1"/>
      <dgm:spPr/>
      <dgm:t>
        <a:bodyPr/>
        <a:lstStyle/>
        <a:p>
          <a:endParaRPr lang="en-US"/>
        </a:p>
      </dgm:t>
    </dgm:pt>
    <dgm:pt modelId="{2D59797C-7B77-5C45-9F45-B471200144CC}">
      <dgm:prSet/>
      <dgm:spPr>
        <a:xfrm>
          <a:off x="533399" y="2438394"/>
          <a:ext cx="3370231" cy="1340230"/>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latin typeface="Rockwell"/>
              <a:ea typeface="+mn-ea"/>
              <a:cs typeface="+mn-cs"/>
            </a:rPr>
            <a:t>Referenced by means of the machine language that the processor executes</a:t>
          </a:r>
        </a:p>
      </dgm:t>
    </dgm:pt>
    <dgm:pt modelId="{0803F194-D4E3-B245-93EE-3CD971BA5A09}" type="parTrans" cxnId="{CD42B28C-03CA-304E-94C9-1D24E256F04E}">
      <dgm:prSet/>
      <dgm:spPr/>
      <dgm:t>
        <a:bodyPr/>
        <a:lstStyle/>
        <a:p>
          <a:endParaRPr lang="en-US"/>
        </a:p>
      </dgm:t>
    </dgm:pt>
    <dgm:pt modelId="{171B27C5-D6EC-1943-A537-E909B0C5AFEA}" type="sibTrans" cxnId="{CD42B28C-03CA-304E-94C9-1D24E256F04E}">
      <dgm:prSet/>
      <dgm:spPr>
        <a:xfrm>
          <a:off x="1828804" y="1219192"/>
          <a:ext cx="3287503" cy="5287245"/>
        </a:xfrm>
        <a:prstGeom prst="leftCircularArrow">
          <a:avLst>
            <a:gd name="adj1" fmla="val 1811"/>
            <a:gd name="adj2" fmla="val 215986"/>
            <a:gd name="adj3" fmla="val 3871744"/>
            <a:gd name="adj4" fmla="val 10904737"/>
            <a:gd name="adj5" fmla="val 2112"/>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endParaRPr lang="en-US"/>
        </a:p>
      </dgm:t>
    </dgm:pt>
    <dgm:pt modelId="{BCB9639E-16A4-AC44-9331-45AF99368057}">
      <dgm:prSet custT="1"/>
      <dgm:spPr>
        <a:xfrm>
          <a:off x="5333994" y="990606"/>
          <a:ext cx="3558526" cy="1459992"/>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sz="3600" dirty="0">
              <a:solidFill>
                <a:sysClr val="window" lastClr="FFFFFF"/>
              </a:solidFill>
              <a:latin typeface="Rockwell"/>
              <a:ea typeface="+mn-ea"/>
              <a:cs typeface="+mn-cs"/>
            </a:rPr>
            <a:t>Categories:</a:t>
          </a:r>
        </a:p>
      </dgm:t>
    </dgm:pt>
    <dgm:pt modelId="{B1E5DC08-4940-3743-999E-EBB5458DFBC7}" type="parTrans" cxnId="{71D36931-2C65-3444-88DB-5EB26C3409AD}">
      <dgm:prSet/>
      <dgm:spPr/>
      <dgm:t>
        <a:bodyPr/>
        <a:lstStyle/>
        <a:p>
          <a:endParaRPr lang="en-US"/>
        </a:p>
      </dgm:t>
    </dgm:pt>
    <dgm:pt modelId="{CA32CB20-AAA6-724E-B6C4-B6D44AD43CD2}" type="sibTrans" cxnId="{71D36931-2C65-3444-88DB-5EB26C3409AD}">
      <dgm:prSet/>
      <dgm:spPr/>
      <dgm:t>
        <a:bodyPr/>
        <a:lstStyle/>
        <a:p>
          <a:endParaRPr lang="en-US"/>
        </a:p>
      </dgm:t>
    </dgm:pt>
    <dgm:pt modelId="{511BB6DD-96D4-4D4B-9E9B-6ABB3B02BC83}">
      <dgm:prSet/>
      <dgm:spPr>
        <a:xfrm>
          <a:off x="4752856" y="1528909"/>
          <a:ext cx="4120007" cy="4605494"/>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b="1" dirty="0">
              <a:solidFill>
                <a:srgbClr val="666699"/>
              </a:solidFill>
              <a:latin typeface="Rockwell"/>
              <a:ea typeface="+mn-ea"/>
              <a:cs typeface="+mn-cs"/>
            </a:rPr>
            <a:t>General purpose</a:t>
          </a:r>
        </a:p>
      </dgm:t>
    </dgm:pt>
    <dgm:pt modelId="{2D97D296-BCAD-FD4C-8097-747204B2259C}" type="parTrans" cxnId="{E73BA739-2E38-504B-9EFF-CE02609484A0}">
      <dgm:prSet/>
      <dgm:spPr/>
      <dgm:t>
        <a:bodyPr/>
        <a:lstStyle/>
        <a:p>
          <a:endParaRPr lang="en-US"/>
        </a:p>
      </dgm:t>
    </dgm:pt>
    <dgm:pt modelId="{0B22A020-8323-8C46-B9AC-D995B925E7F0}" type="sibTrans" cxnId="{E73BA739-2E38-504B-9EFF-CE02609484A0}">
      <dgm:prSet/>
      <dgm:spPr/>
      <dgm:t>
        <a:bodyPr/>
        <a:lstStyle/>
        <a:p>
          <a:endParaRPr lang="en-US"/>
        </a:p>
      </dgm:t>
    </dgm:pt>
    <dgm:pt modelId="{1DAAC1CB-4715-F347-80BA-24406AEB247B}">
      <dgm:prSet/>
      <dgm:spPr>
        <a:xfrm>
          <a:off x="4752856" y="1528909"/>
          <a:ext cx="4120007" cy="4605494"/>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Can be assigned to a variety of functions by the programmer</a:t>
          </a:r>
        </a:p>
      </dgm:t>
    </dgm:pt>
    <dgm:pt modelId="{F7EAF623-8562-9144-8838-EA31845B22F1}" type="parTrans" cxnId="{221C15B1-D64A-6447-A18A-C9F351F30E97}">
      <dgm:prSet/>
      <dgm:spPr/>
      <dgm:t>
        <a:bodyPr/>
        <a:lstStyle/>
        <a:p>
          <a:endParaRPr lang="en-US"/>
        </a:p>
      </dgm:t>
    </dgm:pt>
    <dgm:pt modelId="{D4AB538A-897E-1346-BAD9-1B81A4B2200E}" type="sibTrans" cxnId="{221C15B1-D64A-6447-A18A-C9F351F30E97}">
      <dgm:prSet/>
      <dgm:spPr/>
      <dgm:t>
        <a:bodyPr/>
        <a:lstStyle/>
        <a:p>
          <a:endParaRPr lang="en-US"/>
        </a:p>
      </dgm:t>
    </dgm:pt>
    <dgm:pt modelId="{EBF7DEDA-BC08-484A-B706-959A5B1FC235}">
      <dgm:prSet/>
      <dgm:spPr>
        <a:xfrm>
          <a:off x="4752856" y="1528909"/>
          <a:ext cx="4120007" cy="4605494"/>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b="1" dirty="0">
              <a:solidFill>
                <a:srgbClr val="666699"/>
              </a:solidFill>
              <a:latin typeface="Rockwell"/>
              <a:ea typeface="+mn-ea"/>
              <a:cs typeface="+mn-cs"/>
            </a:rPr>
            <a:t>Data</a:t>
          </a:r>
        </a:p>
      </dgm:t>
    </dgm:pt>
    <dgm:pt modelId="{B6991402-628E-E44C-9EAA-D750C1DD2115}" type="parTrans" cxnId="{D12F8C23-765B-3048-9E49-DF7ED22E69F6}">
      <dgm:prSet/>
      <dgm:spPr/>
      <dgm:t>
        <a:bodyPr/>
        <a:lstStyle/>
        <a:p>
          <a:endParaRPr lang="en-US"/>
        </a:p>
      </dgm:t>
    </dgm:pt>
    <dgm:pt modelId="{BF4369AD-2341-324F-908E-5745F8111EF8}" type="sibTrans" cxnId="{D12F8C23-765B-3048-9E49-DF7ED22E69F6}">
      <dgm:prSet/>
      <dgm:spPr/>
      <dgm:t>
        <a:bodyPr/>
        <a:lstStyle/>
        <a:p>
          <a:endParaRPr lang="en-US"/>
        </a:p>
      </dgm:t>
    </dgm:pt>
    <dgm:pt modelId="{98FF5C87-34E8-A74C-9290-1DF6EEAC886D}">
      <dgm:prSet/>
      <dgm:spPr>
        <a:xfrm>
          <a:off x="4752856" y="1528909"/>
          <a:ext cx="4120007" cy="4605494"/>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May be used only to hold data and cannot be employed in the calculation of an operand address</a:t>
          </a:r>
        </a:p>
      </dgm:t>
    </dgm:pt>
    <dgm:pt modelId="{EF08AAF5-1B3E-624F-8083-56125B17096B}" type="parTrans" cxnId="{62F4ADE6-7A37-8240-A3C2-9ACF991FE783}">
      <dgm:prSet/>
      <dgm:spPr/>
      <dgm:t>
        <a:bodyPr/>
        <a:lstStyle/>
        <a:p>
          <a:endParaRPr lang="en-US"/>
        </a:p>
      </dgm:t>
    </dgm:pt>
    <dgm:pt modelId="{5AF01204-147C-4E4C-AD92-620F237C0BB1}" type="sibTrans" cxnId="{62F4ADE6-7A37-8240-A3C2-9ACF991FE783}">
      <dgm:prSet/>
      <dgm:spPr/>
      <dgm:t>
        <a:bodyPr/>
        <a:lstStyle/>
        <a:p>
          <a:endParaRPr lang="en-US"/>
        </a:p>
      </dgm:t>
    </dgm:pt>
    <dgm:pt modelId="{A0FE24AE-09FF-9A4A-9657-51866483B5CE}">
      <dgm:prSet/>
      <dgm:spPr>
        <a:xfrm>
          <a:off x="4752856" y="1528909"/>
          <a:ext cx="4120007" cy="4605494"/>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b="1" dirty="0">
              <a:solidFill>
                <a:srgbClr val="666699"/>
              </a:solidFill>
              <a:latin typeface="Rockwell"/>
              <a:ea typeface="+mn-ea"/>
              <a:cs typeface="+mn-cs"/>
            </a:rPr>
            <a:t>Address</a:t>
          </a:r>
        </a:p>
      </dgm:t>
    </dgm:pt>
    <dgm:pt modelId="{59A5C328-4A21-8D43-990E-6EB3354E2FCB}" type="parTrans" cxnId="{521D8C47-F512-7B42-A03B-F7012501D7F4}">
      <dgm:prSet/>
      <dgm:spPr/>
      <dgm:t>
        <a:bodyPr/>
        <a:lstStyle/>
        <a:p>
          <a:endParaRPr lang="en-US"/>
        </a:p>
      </dgm:t>
    </dgm:pt>
    <dgm:pt modelId="{BA40B69B-B5E7-8847-A6DF-F55EAB929C7A}" type="sibTrans" cxnId="{521D8C47-F512-7B42-A03B-F7012501D7F4}">
      <dgm:prSet/>
      <dgm:spPr/>
      <dgm:t>
        <a:bodyPr/>
        <a:lstStyle/>
        <a:p>
          <a:endParaRPr lang="en-US"/>
        </a:p>
      </dgm:t>
    </dgm:pt>
    <dgm:pt modelId="{06F087F8-B506-1B41-8B40-C1691648366C}">
      <dgm:prSet/>
      <dgm:spPr>
        <a:xfrm>
          <a:off x="4752856" y="1528909"/>
          <a:ext cx="4120007" cy="4605494"/>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May be somewhat general purpose or may be devoted to a particular addressing mode</a:t>
          </a:r>
        </a:p>
      </dgm:t>
    </dgm:pt>
    <dgm:pt modelId="{2D813256-DF2E-5F4F-9B3C-22D4294F52E6}" type="parTrans" cxnId="{365DF8A7-BDEA-5042-8DA8-372F7F1344A8}">
      <dgm:prSet/>
      <dgm:spPr/>
      <dgm:t>
        <a:bodyPr/>
        <a:lstStyle/>
        <a:p>
          <a:endParaRPr lang="en-US"/>
        </a:p>
      </dgm:t>
    </dgm:pt>
    <dgm:pt modelId="{161BCF23-3684-C947-909D-73A925D3779B}" type="sibTrans" cxnId="{365DF8A7-BDEA-5042-8DA8-372F7F1344A8}">
      <dgm:prSet/>
      <dgm:spPr/>
      <dgm:t>
        <a:bodyPr/>
        <a:lstStyle/>
        <a:p>
          <a:endParaRPr lang="en-US"/>
        </a:p>
      </dgm:t>
    </dgm:pt>
    <dgm:pt modelId="{CD61BE16-52DD-5449-B110-7E5591E905CA}">
      <dgm:prSet/>
      <dgm:spPr>
        <a:xfrm>
          <a:off x="4752856" y="1528909"/>
          <a:ext cx="4120007" cy="4605494"/>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Examples:  segment pointers, index registers, stack pointer</a:t>
          </a:r>
        </a:p>
      </dgm:t>
    </dgm:pt>
    <dgm:pt modelId="{81CFD568-4C7F-C74E-B94C-F891041E31BC}" type="parTrans" cxnId="{6796C31D-D50E-9941-9219-732C0A97C6E6}">
      <dgm:prSet/>
      <dgm:spPr/>
      <dgm:t>
        <a:bodyPr/>
        <a:lstStyle/>
        <a:p>
          <a:endParaRPr lang="en-US"/>
        </a:p>
      </dgm:t>
    </dgm:pt>
    <dgm:pt modelId="{19F540C6-2791-274E-96DC-D3634DEEAA4E}" type="sibTrans" cxnId="{6796C31D-D50E-9941-9219-732C0A97C6E6}">
      <dgm:prSet/>
      <dgm:spPr/>
      <dgm:t>
        <a:bodyPr/>
        <a:lstStyle/>
        <a:p>
          <a:endParaRPr lang="en-US"/>
        </a:p>
      </dgm:t>
    </dgm:pt>
    <dgm:pt modelId="{598CD63E-A291-2B4B-9A76-A6B25AF2BE1F}">
      <dgm:prSet/>
      <dgm:spPr>
        <a:xfrm>
          <a:off x="4752856" y="1528909"/>
          <a:ext cx="4120007" cy="4605494"/>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b="1" dirty="0">
              <a:solidFill>
                <a:srgbClr val="666699"/>
              </a:solidFill>
              <a:latin typeface="Rockwell"/>
              <a:ea typeface="+mn-ea"/>
              <a:cs typeface="+mn-cs"/>
            </a:rPr>
            <a:t>Condition codes</a:t>
          </a:r>
        </a:p>
      </dgm:t>
    </dgm:pt>
    <dgm:pt modelId="{5A10E322-7F18-BB41-BA8A-83BA2E34E548}" type="parTrans" cxnId="{3225679F-0B25-974A-B833-8B02F4FEBC95}">
      <dgm:prSet/>
      <dgm:spPr/>
      <dgm:t>
        <a:bodyPr/>
        <a:lstStyle/>
        <a:p>
          <a:endParaRPr lang="en-US"/>
        </a:p>
      </dgm:t>
    </dgm:pt>
    <dgm:pt modelId="{7E81E51A-13F5-C040-8651-241555A127D0}" type="sibTrans" cxnId="{3225679F-0B25-974A-B833-8B02F4FEBC95}">
      <dgm:prSet/>
      <dgm:spPr/>
      <dgm:t>
        <a:bodyPr/>
        <a:lstStyle/>
        <a:p>
          <a:endParaRPr lang="en-US"/>
        </a:p>
      </dgm:t>
    </dgm:pt>
    <dgm:pt modelId="{0CF9FC02-B2F8-CE43-8074-2C4E645D2233}">
      <dgm:prSet/>
      <dgm:spPr>
        <a:xfrm>
          <a:off x="4752856" y="1528909"/>
          <a:ext cx="4120007" cy="4605494"/>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Also referred to as </a:t>
          </a:r>
          <a:r>
            <a:rPr lang="en-US" i="1" dirty="0">
              <a:solidFill>
                <a:sysClr val="windowText" lastClr="000000">
                  <a:hueOff val="0"/>
                  <a:satOff val="0"/>
                  <a:lumOff val="0"/>
                  <a:alphaOff val="0"/>
                </a:sysClr>
              </a:solidFill>
              <a:latin typeface="Rockwell"/>
              <a:ea typeface="+mn-ea"/>
              <a:cs typeface="+mn-cs"/>
            </a:rPr>
            <a:t>flags</a:t>
          </a:r>
          <a:endParaRPr lang="en-US" dirty="0">
            <a:solidFill>
              <a:sysClr val="windowText" lastClr="000000">
                <a:hueOff val="0"/>
                <a:satOff val="0"/>
                <a:lumOff val="0"/>
                <a:alphaOff val="0"/>
              </a:sysClr>
            </a:solidFill>
            <a:latin typeface="Rockwell"/>
            <a:ea typeface="+mn-ea"/>
            <a:cs typeface="+mn-cs"/>
          </a:endParaRPr>
        </a:p>
      </dgm:t>
    </dgm:pt>
    <dgm:pt modelId="{F9307962-D8D8-6443-954F-1573A930905F}" type="parTrans" cxnId="{4479C9AF-CC05-4248-8EED-980380337186}">
      <dgm:prSet/>
      <dgm:spPr/>
      <dgm:t>
        <a:bodyPr/>
        <a:lstStyle/>
        <a:p>
          <a:endParaRPr lang="en-US"/>
        </a:p>
      </dgm:t>
    </dgm:pt>
    <dgm:pt modelId="{499BE514-14A2-654C-BDA0-E936ECB13BED}" type="sibTrans" cxnId="{4479C9AF-CC05-4248-8EED-980380337186}">
      <dgm:prSet/>
      <dgm:spPr/>
      <dgm:t>
        <a:bodyPr/>
        <a:lstStyle/>
        <a:p>
          <a:endParaRPr lang="en-US"/>
        </a:p>
      </dgm:t>
    </dgm:pt>
    <dgm:pt modelId="{ACF38634-81AD-0D48-B651-7D0D6C553136}">
      <dgm:prSet/>
      <dgm:spPr>
        <a:xfrm>
          <a:off x="4752856" y="1528909"/>
          <a:ext cx="4120007" cy="4605494"/>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Bits set by the processor hardware as the result of operations</a:t>
          </a:r>
        </a:p>
      </dgm:t>
    </dgm:pt>
    <dgm:pt modelId="{532D61AB-3B28-0641-9F97-BA795ED2DC20}" type="parTrans" cxnId="{D8D54744-D7A4-EE49-86A5-65B495BB3A05}">
      <dgm:prSet/>
      <dgm:spPr/>
      <dgm:t>
        <a:bodyPr/>
        <a:lstStyle/>
        <a:p>
          <a:endParaRPr lang="en-US"/>
        </a:p>
      </dgm:t>
    </dgm:pt>
    <dgm:pt modelId="{9C877795-57FE-2342-80EC-8CED6CC23819}" type="sibTrans" cxnId="{D8D54744-D7A4-EE49-86A5-65B495BB3A05}">
      <dgm:prSet/>
      <dgm:spPr/>
      <dgm:t>
        <a:bodyPr/>
        <a:lstStyle/>
        <a:p>
          <a:endParaRPr lang="en-US"/>
        </a:p>
      </dgm:t>
    </dgm:pt>
    <dgm:pt modelId="{26A4BAEB-B72C-1943-AEEC-9A40E0FDD806}" type="pres">
      <dgm:prSet presAssocID="{449E9820-F66C-E04D-9FC9-DFBCA3ECB710}" presName="Name0" presStyleCnt="0">
        <dgm:presLayoutVars>
          <dgm:dir/>
          <dgm:animLvl val="lvl"/>
          <dgm:resizeHandles val="exact"/>
        </dgm:presLayoutVars>
      </dgm:prSet>
      <dgm:spPr/>
    </dgm:pt>
    <dgm:pt modelId="{99A703B5-C9E6-884D-8014-F7364321B605}" type="pres">
      <dgm:prSet presAssocID="{449E9820-F66C-E04D-9FC9-DFBCA3ECB710}" presName="tSp" presStyleCnt="0"/>
      <dgm:spPr/>
    </dgm:pt>
    <dgm:pt modelId="{2D632835-A53D-3A43-A1D5-2C2D581A4DB2}" type="pres">
      <dgm:prSet presAssocID="{449E9820-F66C-E04D-9FC9-DFBCA3ECB710}" presName="bSp" presStyleCnt="0"/>
      <dgm:spPr/>
    </dgm:pt>
    <dgm:pt modelId="{195771B2-E83C-8D47-AC5A-E0907F1AB596}" type="pres">
      <dgm:prSet presAssocID="{449E9820-F66C-E04D-9FC9-DFBCA3ECB710}" presName="process" presStyleCnt="0"/>
      <dgm:spPr/>
    </dgm:pt>
    <dgm:pt modelId="{472E555F-5D76-F646-A9B1-4FB9028CA3C5}" type="pres">
      <dgm:prSet presAssocID="{2D59797C-7B77-5C45-9F45-B471200144CC}" presName="composite1" presStyleCnt="0"/>
      <dgm:spPr/>
    </dgm:pt>
    <dgm:pt modelId="{B8A9D309-9071-E14D-BB12-D0AEB42CD846}" type="pres">
      <dgm:prSet presAssocID="{2D59797C-7B77-5C45-9F45-B471200144CC}" presName="dummyNode1" presStyleLbl="node1" presStyleIdx="0" presStyleCnt="2"/>
      <dgm:spPr/>
    </dgm:pt>
    <dgm:pt modelId="{09038744-C04D-3E4E-AA73-587B41E192F1}" type="pres">
      <dgm:prSet presAssocID="{2D59797C-7B77-5C45-9F45-B471200144CC}" presName="childNode1" presStyleLbl="bgAcc1" presStyleIdx="0" presStyleCnt="2" custLinFactNeighborX="5974" custLinFactNeighborY="1266">
        <dgm:presLayoutVars>
          <dgm:bulletEnabled val="1"/>
        </dgm:presLayoutVars>
      </dgm:prSet>
      <dgm:spPr>
        <a:xfrm>
          <a:off x="228587" y="1676388"/>
          <a:ext cx="3791510" cy="3127203"/>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pt>
    <dgm:pt modelId="{88034084-8706-6345-8CE3-DF48E4AD27BC}" type="pres">
      <dgm:prSet presAssocID="{2D59797C-7B77-5C45-9F45-B471200144CC}" presName="childNode1tx" presStyleLbl="bgAcc1" presStyleIdx="0" presStyleCnt="2">
        <dgm:presLayoutVars>
          <dgm:bulletEnabled val="1"/>
        </dgm:presLayoutVars>
      </dgm:prSet>
      <dgm:spPr/>
    </dgm:pt>
    <dgm:pt modelId="{4921A1A8-6658-C946-81EC-1BBCEEEDE982}" type="pres">
      <dgm:prSet presAssocID="{2D59797C-7B77-5C45-9F45-B471200144CC}" presName="parentNode1" presStyleLbl="node1" presStyleIdx="0" presStyleCnt="2" custLinFactY="-23523" custLinFactNeighborX="-9235" custLinFactNeighborY="-100000">
        <dgm:presLayoutVars>
          <dgm:chMax val="1"/>
          <dgm:bulletEnabled val="1"/>
        </dgm:presLayoutVars>
      </dgm:prSet>
      <dgm:spPr/>
    </dgm:pt>
    <dgm:pt modelId="{3314B292-EC9A-424A-9941-393AA94D0860}" type="pres">
      <dgm:prSet presAssocID="{2D59797C-7B77-5C45-9F45-B471200144CC}" presName="connSite1" presStyleCnt="0"/>
      <dgm:spPr/>
    </dgm:pt>
    <dgm:pt modelId="{035FEA2A-0066-1642-A472-449A8E0D404E}" type="pres">
      <dgm:prSet presAssocID="{171B27C5-D6EC-1943-A537-E909B0C5AFEA}" presName="Name9" presStyleLbl="sibTrans2D1" presStyleIdx="0" presStyleCnt="1" custScaleX="62178" custLinFactNeighborX="-24298" custLinFactNeighborY="129"/>
      <dgm:spPr/>
    </dgm:pt>
    <dgm:pt modelId="{E9B317C0-603D-8847-96CD-2BC1C21CD16E}" type="pres">
      <dgm:prSet presAssocID="{BCB9639E-16A4-AC44-9331-45AF99368057}" presName="composite2" presStyleCnt="0"/>
      <dgm:spPr/>
    </dgm:pt>
    <dgm:pt modelId="{369B91B5-8C91-294B-A353-A5CAB840FB07}" type="pres">
      <dgm:prSet presAssocID="{BCB9639E-16A4-AC44-9331-45AF99368057}" presName="dummyNode2" presStyleLbl="node1" presStyleIdx="0" presStyleCnt="2"/>
      <dgm:spPr/>
    </dgm:pt>
    <dgm:pt modelId="{C1F890E0-24C4-D642-8884-C9B159244FFE}" type="pres">
      <dgm:prSet presAssocID="{BCB9639E-16A4-AC44-9331-45AF99368057}" presName="childNode2" presStyleLbl="bgAcc1" presStyleIdx="1" presStyleCnt="2" custScaleX="108664" custScaleY="147272" custLinFactNeighborX="2166" custLinFactNeighborY="20186">
        <dgm:presLayoutVars>
          <dgm:bulletEnabled val="1"/>
        </dgm:presLayoutVars>
      </dgm:prSet>
      <dgm:spPr/>
    </dgm:pt>
    <dgm:pt modelId="{887124B2-DCF2-7348-9A24-03BDFAC773C6}" type="pres">
      <dgm:prSet presAssocID="{BCB9639E-16A4-AC44-9331-45AF99368057}" presName="childNode2tx" presStyleLbl="bgAcc1" presStyleIdx="1" presStyleCnt="2">
        <dgm:presLayoutVars>
          <dgm:bulletEnabled val="1"/>
        </dgm:presLayoutVars>
      </dgm:prSet>
      <dgm:spPr/>
    </dgm:pt>
    <dgm:pt modelId="{1F6A97C5-F3A9-E94F-905E-0E5EEFB98187}" type="pres">
      <dgm:prSet presAssocID="{BCB9639E-16A4-AC44-9331-45AF99368057}" presName="parentNode2" presStyleLbl="node1" presStyleIdx="1" presStyleCnt="2" custScaleX="105587" custScaleY="108936" custLinFactNeighborX="-7400" custLinFactNeighborY="6253">
        <dgm:presLayoutVars>
          <dgm:chMax val="0"/>
          <dgm:bulletEnabled val="1"/>
        </dgm:presLayoutVars>
      </dgm:prSet>
      <dgm:spPr/>
    </dgm:pt>
    <dgm:pt modelId="{F41D957D-C15B-7F4C-9089-B004335F615C}" type="pres">
      <dgm:prSet presAssocID="{BCB9639E-16A4-AC44-9331-45AF99368057}" presName="connSite2" presStyleCnt="0"/>
      <dgm:spPr/>
    </dgm:pt>
  </dgm:ptLst>
  <dgm:cxnLst>
    <dgm:cxn modelId="{6796C31D-D50E-9941-9219-732C0A97C6E6}" srcId="{A0FE24AE-09FF-9A4A-9657-51866483B5CE}" destId="{CD61BE16-52DD-5449-B110-7E5591E905CA}" srcOrd="1" destOrd="0" parTransId="{81CFD568-4C7F-C74E-B94C-F891041E31BC}" sibTransId="{19F540C6-2791-274E-96DC-D3634DEEAA4E}"/>
    <dgm:cxn modelId="{E3C53A1E-54A4-F44D-A335-018EA5061449}" type="presOf" srcId="{BCB9639E-16A4-AC44-9331-45AF99368057}" destId="{1F6A97C5-F3A9-E94F-905E-0E5EEFB98187}" srcOrd="0" destOrd="0" presId="urn:microsoft.com/office/officeart/2005/8/layout/hProcess4"/>
    <dgm:cxn modelId="{CB8F0222-C790-0C4E-BB39-C4F1C44EC565}" type="presOf" srcId="{98FF5C87-34E8-A74C-9290-1DF6EEAC886D}" destId="{C1F890E0-24C4-D642-8884-C9B159244FFE}" srcOrd="0" destOrd="3" presId="urn:microsoft.com/office/officeart/2005/8/layout/hProcess4"/>
    <dgm:cxn modelId="{D12F8C23-765B-3048-9E49-DF7ED22E69F6}" srcId="{BCB9639E-16A4-AC44-9331-45AF99368057}" destId="{EBF7DEDA-BC08-484A-B706-959A5B1FC235}" srcOrd="1" destOrd="0" parTransId="{B6991402-628E-E44C-9EAA-D750C1DD2115}" sibTransId="{BF4369AD-2341-324F-908E-5745F8111EF8}"/>
    <dgm:cxn modelId="{52087324-CD50-864E-B232-F202CBB40BD2}" type="presOf" srcId="{1DAAC1CB-4715-F347-80BA-24406AEB247B}" destId="{887124B2-DCF2-7348-9A24-03BDFAC773C6}" srcOrd="1" destOrd="1" presId="urn:microsoft.com/office/officeart/2005/8/layout/hProcess4"/>
    <dgm:cxn modelId="{112CEC28-D8EA-CC4C-8685-DB824C5810A5}" type="presOf" srcId="{EBF7DEDA-BC08-484A-B706-959A5B1FC235}" destId="{C1F890E0-24C4-D642-8884-C9B159244FFE}" srcOrd="0" destOrd="2" presId="urn:microsoft.com/office/officeart/2005/8/layout/hProcess4"/>
    <dgm:cxn modelId="{2828E02D-F186-3E40-A5BF-98D8106296B1}" type="presOf" srcId="{A0FE24AE-09FF-9A4A-9657-51866483B5CE}" destId="{887124B2-DCF2-7348-9A24-03BDFAC773C6}" srcOrd="1" destOrd="4" presId="urn:microsoft.com/office/officeart/2005/8/layout/hProcess4"/>
    <dgm:cxn modelId="{71D36931-2C65-3444-88DB-5EB26C3409AD}" srcId="{449E9820-F66C-E04D-9FC9-DFBCA3ECB710}" destId="{BCB9639E-16A4-AC44-9331-45AF99368057}" srcOrd="1" destOrd="0" parTransId="{B1E5DC08-4940-3743-999E-EBB5458DFBC7}" sibTransId="{CA32CB20-AAA6-724E-B6C4-B6D44AD43CD2}"/>
    <dgm:cxn modelId="{14228737-9488-2144-BE32-477ABC682697}" type="presOf" srcId="{ACF38634-81AD-0D48-B651-7D0D6C553136}" destId="{887124B2-DCF2-7348-9A24-03BDFAC773C6}" srcOrd="1" destOrd="9" presId="urn:microsoft.com/office/officeart/2005/8/layout/hProcess4"/>
    <dgm:cxn modelId="{E73BA739-2E38-504B-9EFF-CE02609484A0}" srcId="{BCB9639E-16A4-AC44-9331-45AF99368057}" destId="{511BB6DD-96D4-4D4B-9E9B-6ABB3B02BC83}" srcOrd="0" destOrd="0" parTransId="{2D97D296-BCAD-FD4C-8097-747204B2259C}" sibTransId="{0B22A020-8323-8C46-B9AC-D995B925E7F0}"/>
    <dgm:cxn modelId="{D8D54744-D7A4-EE49-86A5-65B495BB3A05}" srcId="{598CD63E-A291-2B4B-9A76-A6B25AF2BE1F}" destId="{ACF38634-81AD-0D48-B651-7D0D6C553136}" srcOrd="1" destOrd="0" parTransId="{532D61AB-3B28-0641-9F97-BA795ED2DC20}" sibTransId="{9C877795-57FE-2342-80EC-8CED6CC23819}"/>
    <dgm:cxn modelId="{B4CF7D64-80F0-C844-BB0C-25FF58DF6BB3}" type="presOf" srcId="{98FF5C87-34E8-A74C-9290-1DF6EEAC886D}" destId="{887124B2-DCF2-7348-9A24-03BDFAC773C6}" srcOrd="1" destOrd="3" presId="urn:microsoft.com/office/officeart/2005/8/layout/hProcess4"/>
    <dgm:cxn modelId="{521D8C47-F512-7B42-A03B-F7012501D7F4}" srcId="{BCB9639E-16A4-AC44-9331-45AF99368057}" destId="{A0FE24AE-09FF-9A4A-9657-51866483B5CE}" srcOrd="2" destOrd="0" parTransId="{59A5C328-4A21-8D43-990E-6EB3354E2FCB}" sibTransId="{BA40B69B-B5E7-8847-A6DF-F55EAB929C7A}"/>
    <dgm:cxn modelId="{4536A677-0CD6-FF40-BA31-7DB0F319AF62}" type="presOf" srcId="{06F087F8-B506-1B41-8B40-C1691648366C}" destId="{887124B2-DCF2-7348-9A24-03BDFAC773C6}" srcOrd="1" destOrd="5" presId="urn:microsoft.com/office/officeart/2005/8/layout/hProcess4"/>
    <dgm:cxn modelId="{FEDDBC59-3CBC-694F-8B0B-742C66029C84}" type="presOf" srcId="{1DAAC1CB-4715-F347-80BA-24406AEB247B}" destId="{C1F890E0-24C4-D642-8884-C9B159244FFE}" srcOrd="0" destOrd="1" presId="urn:microsoft.com/office/officeart/2005/8/layout/hProcess4"/>
    <dgm:cxn modelId="{9A240B86-CCD0-004F-BF9F-B27EF75F9F6F}" type="presOf" srcId="{0CF9FC02-B2F8-CE43-8074-2C4E645D2233}" destId="{C1F890E0-24C4-D642-8884-C9B159244FFE}" srcOrd="0" destOrd="8" presId="urn:microsoft.com/office/officeart/2005/8/layout/hProcess4"/>
    <dgm:cxn modelId="{15D1258A-FB24-AF4C-8DF5-554E484DCD90}" type="presOf" srcId="{A0FE24AE-09FF-9A4A-9657-51866483B5CE}" destId="{C1F890E0-24C4-D642-8884-C9B159244FFE}" srcOrd="0" destOrd="4" presId="urn:microsoft.com/office/officeart/2005/8/layout/hProcess4"/>
    <dgm:cxn modelId="{CD42B28C-03CA-304E-94C9-1D24E256F04E}" srcId="{449E9820-F66C-E04D-9FC9-DFBCA3ECB710}" destId="{2D59797C-7B77-5C45-9F45-B471200144CC}" srcOrd="0" destOrd="0" parTransId="{0803F194-D4E3-B245-93EE-3CD971BA5A09}" sibTransId="{171B27C5-D6EC-1943-A537-E909B0C5AFEA}"/>
    <dgm:cxn modelId="{9B6DB19B-F11A-5C4B-8761-3CF8C034CCE2}" type="presOf" srcId="{598CD63E-A291-2B4B-9A76-A6B25AF2BE1F}" destId="{C1F890E0-24C4-D642-8884-C9B159244FFE}" srcOrd="0" destOrd="7" presId="urn:microsoft.com/office/officeart/2005/8/layout/hProcess4"/>
    <dgm:cxn modelId="{3225679F-0B25-974A-B833-8B02F4FEBC95}" srcId="{BCB9639E-16A4-AC44-9331-45AF99368057}" destId="{598CD63E-A291-2B4B-9A76-A6B25AF2BE1F}" srcOrd="3" destOrd="0" parTransId="{5A10E322-7F18-BB41-BA8A-83BA2E34E548}" sibTransId="{7E81E51A-13F5-C040-8651-241555A127D0}"/>
    <dgm:cxn modelId="{08967C9F-9402-E349-BDCA-2F40D77F3F51}" type="presOf" srcId="{CD61BE16-52DD-5449-B110-7E5591E905CA}" destId="{887124B2-DCF2-7348-9A24-03BDFAC773C6}" srcOrd="1" destOrd="6" presId="urn:microsoft.com/office/officeart/2005/8/layout/hProcess4"/>
    <dgm:cxn modelId="{950264A4-D3FD-744D-BBC7-9F8A63AE57E7}" type="presOf" srcId="{EBF7DEDA-BC08-484A-B706-959A5B1FC235}" destId="{887124B2-DCF2-7348-9A24-03BDFAC773C6}" srcOrd="1" destOrd="2" presId="urn:microsoft.com/office/officeart/2005/8/layout/hProcess4"/>
    <dgm:cxn modelId="{BE7700A5-86F5-0B4D-BD37-9EF1C5957816}" type="presOf" srcId="{ACF38634-81AD-0D48-B651-7D0D6C553136}" destId="{C1F890E0-24C4-D642-8884-C9B159244FFE}" srcOrd="0" destOrd="9" presId="urn:microsoft.com/office/officeart/2005/8/layout/hProcess4"/>
    <dgm:cxn modelId="{A550EBA5-84C3-B44E-9DCA-BF60F74B93BB}" type="presOf" srcId="{449E9820-F66C-E04D-9FC9-DFBCA3ECB710}" destId="{26A4BAEB-B72C-1943-AEEC-9A40E0FDD806}" srcOrd="0" destOrd="0" presId="urn:microsoft.com/office/officeart/2005/8/layout/hProcess4"/>
    <dgm:cxn modelId="{365DF8A7-BDEA-5042-8DA8-372F7F1344A8}" srcId="{A0FE24AE-09FF-9A4A-9657-51866483B5CE}" destId="{06F087F8-B506-1B41-8B40-C1691648366C}" srcOrd="0" destOrd="0" parTransId="{2D813256-DF2E-5F4F-9B3C-22D4294F52E6}" sibTransId="{161BCF23-3684-C947-909D-73A925D3779B}"/>
    <dgm:cxn modelId="{CDA79AAE-8CBC-534E-90AF-37EE393DA5B8}" type="presOf" srcId="{511BB6DD-96D4-4D4B-9E9B-6ABB3B02BC83}" destId="{887124B2-DCF2-7348-9A24-03BDFAC773C6}" srcOrd="1" destOrd="0" presId="urn:microsoft.com/office/officeart/2005/8/layout/hProcess4"/>
    <dgm:cxn modelId="{4479C9AF-CC05-4248-8EED-980380337186}" srcId="{598CD63E-A291-2B4B-9A76-A6B25AF2BE1F}" destId="{0CF9FC02-B2F8-CE43-8074-2C4E645D2233}" srcOrd="0" destOrd="0" parTransId="{F9307962-D8D8-6443-954F-1573A930905F}" sibTransId="{499BE514-14A2-654C-BDA0-E936ECB13BED}"/>
    <dgm:cxn modelId="{221C15B1-D64A-6447-A18A-C9F351F30E97}" srcId="{511BB6DD-96D4-4D4B-9E9B-6ABB3B02BC83}" destId="{1DAAC1CB-4715-F347-80BA-24406AEB247B}" srcOrd="0" destOrd="0" parTransId="{F7EAF623-8562-9144-8838-EA31845B22F1}" sibTransId="{D4AB538A-897E-1346-BAD9-1B81A4B2200E}"/>
    <dgm:cxn modelId="{E2E159B2-1791-A240-9E6A-97D00125ECEA}" type="presOf" srcId="{2D59797C-7B77-5C45-9F45-B471200144CC}" destId="{4921A1A8-6658-C946-81EC-1BBCEEEDE982}" srcOrd="0" destOrd="0" presId="urn:microsoft.com/office/officeart/2005/8/layout/hProcess4"/>
    <dgm:cxn modelId="{79BF52BD-7FBA-FB4E-A6B5-ADA5719388A0}" type="presOf" srcId="{0CF9FC02-B2F8-CE43-8074-2C4E645D2233}" destId="{887124B2-DCF2-7348-9A24-03BDFAC773C6}" srcOrd="1" destOrd="8" presId="urn:microsoft.com/office/officeart/2005/8/layout/hProcess4"/>
    <dgm:cxn modelId="{77ABB4C0-B42B-204D-8FA8-1701DE64A97C}" type="presOf" srcId="{CD61BE16-52DD-5449-B110-7E5591E905CA}" destId="{C1F890E0-24C4-D642-8884-C9B159244FFE}" srcOrd="0" destOrd="6" presId="urn:microsoft.com/office/officeart/2005/8/layout/hProcess4"/>
    <dgm:cxn modelId="{213919C4-246B-774C-ABE5-6CEA86FD2D49}" type="presOf" srcId="{171B27C5-D6EC-1943-A537-E909B0C5AFEA}" destId="{035FEA2A-0066-1642-A472-449A8E0D404E}" srcOrd="0" destOrd="0" presId="urn:microsoft.com/office/officeart/2005/8/layout/hProcess4"/>
    <dgm:cxn modelId="{851DCCCF-52B3-4545-9AAA-AC737A45B60C}" type="presOf" srcId="{06F087F8-B506-1B41-8B40-C1691648366C}" destId="{C1F890E0-24C4-D642-8884-C9B159244FFE}" srcOrd="0" destOrd="5" presId="urn:microsoft.com/office/officeart/2005/8/layout/hProcess4"/>
    <dgm:cxn modelId="{286B6CD7-CC03-2F46-B8F7-CD4281349CF1}" type="presOf" srcId="{598CD63E-A291-2B4B-9A76-A6B25AF2BE1F}" destId="{887124B2-DCF2-7348-9A24-03BDFAC773C6}" srcOrd="1" destOrd="7" presId="urn:microsoft.com/office/officeart/2005/8/layout/hProcess4"/>
    <dgm:cxn modelId="{020224E4-AF45-8F45-ADB1-BD390EA2D8D2}" type="presOf" srcId="{511BB6DD-96D4-4D4B-9E9B-6ABB3B02BC83}" destId="{C1F890E0-24C4-D642-8884-C9B159244FFE}" srcOrd="0" destOrd="0" presId="urn:microsoft.com/office/officeart/2005/8/layout/hProcess4"/>
    <dgm:cxn modelId="{62F4ADE6-7A37-8240-A3C2-9ACF991FE783}" srcId="{EBF7DEDA-BC08-484A-B706-959A5B1FC235}" destId="{98FF5C87-34E8-A74C-9290-1DF6EEAC886D}" srcOrd="0" destOrd="0" parTransId="{EF08AAF5-1B3E-624F-8083-56125B17096B}" sibTransId="{5AF01204-147C-4E4C-AD92-620F237C0BB1}"/>
    <dgm:cxn modelId="{710D463B-430B-CA44-A895-58976ED9584D}" type="presParOf" srcId="{26A4BAEB-B72C-1943-AEEC-9A40E0FDD806}" destId="{99A703B5-C9E6-884D-8014-F7364321B605}" srcOrd="0" destOrd="0" presId="urn:microsoft.com/office/officeart/2005/8/layout/hProcess4"/>
    <dgm:cxn modelId="{CBF036C3-938F-2841-9273-D642B8E2E494}" type="presParOf" srcId="{26A4BAEB-B72C-1943-AEEC-9A40E0FDD806}" destId="{2D632835-A53D-3A43-A1D5-2C2D581A4DB2}" srcOrd="1" destOrd="0" presId="urn:microsoft.com/office/officeart/2005/8/layout/hProcess4"/>
    <dgm:cxn modelId="{32E7ED61-1CC3-CA45-A8B4-34C13F6E8D9B}" type="presParOf" srcId="{26A4BAEB-B72C-1943-AEEC-9A40E0FDD806}" destId="{195771B2-E83C-8D47-AC5A-E0907F1AB596}" srcOrd="2" destOrd="0" presId="urn:microsoft.com/office/officeart/2005/8/layout/hProcess4"/>
    <dgm:cxn modelId="{E5F3A696-2D6C-5445-AE47-C41AA71665C7}" type="presParOf" srcId="{195771B2-E83C-8D47-AC5A-E0907F1AB596}" destId="{472E555F-5D76-F646-A9B1-4FB9028CA3C5}" srcOrd="0" destOrd="0" presId="urn:microsoft.com/office/officeart/2005/8/layout/hProcess4"/>
    <dgm:cxn modelId="{D5FE58AC-1D16-314F-996D-61E0A34E287A}" type="presParOf" srcId="{472E555F-5D76-F646-A9B1-4FB9028CA3C5}" destId="{B8A9D309-9071-E14D-BB12-D0AEB42CD846}" srcOrd="0" destOrd="0" presId="urn:microsoft.com/office/officeart/2005/8/layout/hProcess4"/>
    <dgm:cxn modelId="{3CD35ED0-6EA5-A14F-9D59-D4F7C435A9E2}" type="presParOf" srcId="{472E555F-5D76-F646-A9B1-4FB9028CA3C5}" destId="{09038744-C04D-3E4E-AA73-587B41E192F1}" srcOrd="1" destOrd="0" presId="urn:microsoft.com/office/officeart/2005/8/layout/hProcess4"/>
    <dgm:cxn modelId="{4AAF2173-00E4-D94A-888B-A8727F22019F}" type="presParOf" srcId="{472E555F-5D76-F646-A9B1-4FB9028CA3C5}" destId="{88034084-8706-6345-8CE3-DF48E4AD27BC}" srcOrd="2" destOrd="0" presId="urn:microsoft.com/office/officeart/2005/8/layout/hProcess4"/>
    <dgm:cxn modelId="{CE3E8BB5-5324-AD49-AB5D-A68CB154BACF}" type="presParOf" srcId="{472E555F-5D76-F646-A9B1-4FB9028CA3C5}" destId="{4921A1A8-6658-C946-81EC-1BBCEEEDE982}" srcOrd="3" destOrd="0" presId="urn:microsoft.com/office/officeart/2005/8/layout/hProcess4"/>
    <dgm:cxn modelId="{8A9CB17D-1BC1-3543-A55A-AA3378116DED}" type="presParOf" srcId="{472E555F-5D76-F646-A9B1-4FB9028CA3C5}" destId="{3314B292-EC9A-424A-9941-393AA94D0860}" srcOrd="4" destOrd="0" presId="urn:microsoft.com/office/officeart/2005/8/layout/hProcess4"/>
    <dgm:cxn modelId="{24200AC4-CB20-A24D-9F79-652D4669A8B2}" type="presParOf" srcId="{195771B2-E83C-8D47-AC5A-E0907F1AB596}" destId="{035FEA2A-0066-1642-A472-449A8E0D404E}" srcOrd="1" destOrd="0" presId="urn:microsoft.com/office/officeart/2005/8/layout/hProcess4"/>
    <dgm:cxn modelId="{89E0CBB5-0415-7C41-B960-9DBB26E7258B}" type="presParOf" srcId="{195771B2-E83C-8D47-AC5A-E0907F1AB596}" destId="{E9B317C0-603D-8847-96CD-2BC1C21CD16E}" srcOrd="2" destOrd="0" presId="urn:microsoft.com/office/officeart/2005/8/layout/hProcess4"/>
    <dgm:cxn modelId="{90F7BDDA-F1ED-934B-9783-0465D4C99730}" type="presParOf" srcId="{E9B317C0-603D-8847-96CD-2BC1C21CD16E}" destId="{369B91B5-8C91-294B-A353-A5CAB840FB07}" srcOrd="0" destOrd="0" presId="urn:microsoft.com/office/officeart/2005/8/layout/hProcess4"/>
    <dgm:cxn modelId="{6DA0DC50-D392-BD4F-85AC-931A0DB379A0}" type="presParOf" srcId="{E9B317C0-603D-8847-96CD-2BC1C21CD16E}" destId="{C1F890E0-24C4-D642-8884-C9B159244FFE}" srcOrd="1" destOrd="0" presId="urn:microsoft.com/office/officeart/2005/8/layout/hProcess4"/>
    <dgm:cxn modelId="{D78CCF25-CD3F-CE49-8B19-BE1C2F978170}" type="presParOf" srcId="{E9B317C0-603D-8847-96CD-2BC1C21CD16E}" destId="{887124B2-DCF2-7348-9A24-03BDFAC773C6}" srcOrd="2" destOrd="0" presId="urn:microsoft.com/office/officeart/2005/8/layout/hProcess4"/>
    <dgm:cxn modelId="{FCD35A8F-EEFD-974F-8B53-B70D6EAE894D}" type="presParOf" srcId="{E9B317C0-603D-8847-96CD-2BC1C21CD16E}" destId="{1F6A97C5-F3A9-E94F-905E-0E5EEFB98187}" srcOrd="3" destOrd="0" presId="urn:microsoft.com/office/officeart/2005/8/layout/hProcess4"/>
    <dgm:cxn modelId="{183C9372-C06B-774A-A474-92868D2A47C7}" type="presParOf" srcId="{E9B317C0-603D-8847-96CD-2BC1C21CD16E}" destId="{F41D957D-C15B-7F4C-9089-B004335F615C}" srcOrd="4" destOrd="0" presId="urn:microsoft.com/office/officeart/2005/8/layout/h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0966F55-D052-E14D-848F-7196F1653D62}" type="doc">
      <dgm:prSet loTypeId="urn:microsoft.com/office/officeart/2005/8/layout/arrow4" loCatId="relationship" qsTypeId="urn:microsoft.com/office/officeart/2005/8/quickstyle/simple4" qsCatId="simple" csTypeId="urn:microsoft.com/office/officeart/2005/8/colors/accent1_2" csCatId="accent1"/>
      <dgm:spPr/>
      <dgm:t>
        <a:bodyPr/>
        <a:lstStyle/>
        <a:p>
          <a:endParaRPr lang="en-US"/>
        </a:p>
      </dgm:t>
    </dgm:pt>
    <dgm:pt modelId="{7CD53D11-14A8-BB47-93CB-4BC9BBFDA16C}">
      <dgm:prSet/>
      <dgm:spPr>
        <a:xfrm>
          <a:off x="2861260" y="0"/>
          <a:ext cx="4706436" cy="2384904"/>
        </a:xfrm>
        <a:prstGeom prst="rect">
          <a:avLst/>
        </a:prstGeom>
        <a:noFill/>
        <a:ln>
          <a:noFill/>
        </a:ln>
        <a:effectLst/>
      </dgm:spPr>
      <dgm:t>
        <a:bodyPr/>
        <a:lstStyle/>
        <a:p>
          <a:pPr rtl="0"/>
          <a:r>
            <a:rPr lang="en-US" dirty="0">
              <a:solidFill>
                <a:sysClr val="windowText" lastClr="000000">
                  <a:hueOff val="0"/>
                  <a:satOff val="0"/>
                  <a:lumOff val="0"/>
                  <a:alphaOff val="0"/>
                </a:sysClr>
              </a:solidFill>
              <a:latin typeface="Rockwell"/>
              <a:ea typeface="+mn-ea"/>
              <a:cs typeface="+mn-cs"/>
            </a:rPr>
            <a:t>Register or set of registers that contain status information</a:t>
          </a:r>
        </a:p>
      </dgm:t>
    </dgm:pt>
    <dgm:pt modelId="{8D1367BB-84E1-5D4E-AEFC-5100700A0E70}" type="parTrans" cxnId="{171FDFEC-3D39-0045-A026-4928B870FF4F}">
      <dgm:prSet/>
      <dgm:spPr/>
      <dgm:t>
        <a:bodyPr/>
        <a:lstStyle/>
        <a:p>
          <a:endParaRPr lang="en-US"/>
        </a:p>
      </dgm:t>
    </dgm:pt>
    <dgm:pt modelId="{02269C7D-0197-2D4E-8CA6-418CA636BF74}" type="sibTrans" cxnId="{171FDFEC-3D39-0045-A026-4928B870FF4F}">
      <dgm:prSet/>
      <dgm:spPr/>
      <dgm:t>
        <a:bodyPr/>
        <a:lstStyle/>
        <a:p>
          <a:endParaRPr lang="en-US"/>
        </a:p>
      </dgm:t>
    </dgm:pt>
    <dgm:pt modelId="{BD6D24BD-E548-9A4A-855D-6C225FD31DCB}">
      <dgm:prSet/>
      <dgm:spPr>
        <a:xfrm>
          <a:off x="3693291" y="2583647"/>
          <a:ext cx="4706436" cy="2384904"/>
        </a:xfrm>
        <a:prstGeom prst="rect">
          <a:avLst/>
        </a:prstGeom>
        <a:noFill/>
        <a:ln>
          <a:noFill/>
        </a:ln>
        <a:effectLst/>
      </dgm:spPr>
      <dgm:t>
        <a:bodyPr/>
        <a:lstStyle/>
        <a:p>
          <a:pPr rtl="0"/>
          <a:r>
            <a:rPr lang="en-US" dirty="0">
              <a:solidFill>
                <a:sysClr val="windowText" lastClr="000000">
                  <a:hueOff val="0"/>
                  <a:satOff val="0"/>
                  <a:lumOff val="0"/>
                  <a:alphaOff val="0"/>
                </a:sysClr>
              </a:solidFill>
              <a:latin typeface="Rockwell"/>
              <a:ea typeface="+mn-ea"/>
              <a:cs typeface="+mn-cs"/>
            </a:rPr>
            <a:t>Common fields or flags include:</a:t>
          </a:r>
        </a:p>
      </dgm:t>
    </dgm:pt>
    <dgm:pt modelId="{3B2DB9EB-8A9D-6E48-9CAD-6EE944E183CF}" type="parTrans" cxnId="{02CEC83C-DB20-C542-B1C1-903452A57AD4}">
      <dgm:prSet/>
      <dgm:spPr/>
      <dgm:t>
        <a:bodyPr/>
        <a:lstStyle/>
        <a:p>
          <a:endParaRPr lang="en-US"/>
        </a:p>
      </dgm:t>
    </dgm:pt>
    <dgm:pt modelId="{46296E97-6DD7-5B42-A2D7-2B317B9916ED}" type="sibTrans" cxnId="{02CEC83C-DB20-C542-B1C1-903452A57AD4}">
      <dgm:prSet/>
      <dgm:spPr/>
      <dgm:t>
        <a:bodyPr/>
        <a:lstStyle/>
        <a:p>
          <a:endParaRPr lang="en-US"/>
        </a:p>
      </dgm:t>
    </dgm:pt>
    <dgm:pt modelId="{AE179C10-8D0E-FC4E-B58C-24E89F87024F}">
      <dgm:prSet/>
      <dgm:spPr>
        <a:xfrm>
          <a:off x="3693291" y="2583647"/>
          <a:ext cx="4706436" cy="2384904"/>
        </a:xfrm>
        <a:prstGeom prst="rect">
          <a:avLst/>
        </a:prstGeom>
        <a:noFill/>
        <a:ln>
          <a:noFill/>
        </a:ln>
        <a:effectLst/>
      </dgm:spPr>
      <dgm:t>
        <a:bodyPr/>
        <a:lstStyle/>
        <a:p>
          <a:pPr rtl="0"/>
          <a:r>
            <a:rPr lang="en-US" dirty="0">
              <a:solidFill>
                <a:sysClr val="windowText" lastClr="000000">
                  <a:hueOff val="0"/>
                  <a:satOff val="0"/>
                  <a:lumOff val="0"/>
                  <a:alphaOff val="0"/>
                </a:sysClr>
              </a:solidFill>
              <a:latin typeface="Rockwell"/>
              <a:ea typeface="+mn-ea"/>
              <a:cs typeface="+mn-cs"/>
            </a:rPr>
            <a:t>Sign</a:t>
          </a:r>
        </a:p>
      </dgm:t>
    </dgm:pt>
    <dgm:pt modelId="{D7FD6E6C-6BC1-5747-BA0E-5AE759ADB980}" type="parTrans" cxnId="{C9EBAF4B-F1ED-E943-BF4C-6A8588BC6EC0}">
      <dgm:prSet/>
      <dgm:spPr/>
      <dgm:t>
        <a:bodyPr/>
        <a:lstStyle/>
        <a:p>
          <a:endParaRPr lang="en-US"/>
        </a:p>
      </dgm:t>
    </dgm:pt>
    <dgm:pt modelId="{47E37169-8B77-BA4B-87CB-B339DABDB0D7}" type="sibTrans" cxnId="{C9EBAF4B-F1ED-E943-BF4C-6A8588BC6EC0}">
      <dgm:prSet/>
      <dgm:spPr/>
      <dgm:t>
        <a:bodyPr/>
        <a:lstStyle/>
        <a:p>
          <a:endParaRPr lang="en-US"/>
        </a:p>
      </dgm:t>
    </dgm:pt>
    <dgm:pt modelId="{4C25EF1F-2B52-1A49-996A-69288106C6D8}">
      <dgm:prSet/>
      <dgm:spPr>
        <a:xfrm>
          <a:off x="3693291" y="2583647"/>
          <a:ext cx="4706436" cy="2384904"/>
        </a:xfrm>
        <a:prstGeom prst="rect">
          <a:avLst/>
        </a:prstGeom>
        <a:noFill/>
        <a:ln>
          <a:noFill/>
        </a:ln>
        <a:effectLst/>
      </dgm:spPr>
      <dgm:t>
        <a:bodyPr/>
        <a:lstStyle/>
        <a:p>
          <a:pPr rtl="0"/>
          <a:r>
            <a:rPr lang="en-US" dirty="0">
              <a:solidFill>
                <a:sysClr val="windowText" lastClr="000000">
                  <a:hueOff val="0"/>
                  <a:satOff val="0"/>
                  <a:lumOff val="0"/>
                  <a:alphaOff val="0"/>
                </a:sysClr>
              </a:solidFill>
              <a:latin typeface="Rockwell"/>
              <a:ea typeface="+mn-ea"/>
              <a:cs typeface="+mn-cs"/>
            </a:rPr>
            <a:t>Zero</a:t>
          </a:r>
        </a:p>
      </dgm:t>
    </dgm:pt>
    <dgm:pt modelId="{045E6BBE-1863-9545-BB4A-83592E351C7B}" type="parTrans" cxnId="{32F583A6-15F0-5B45-8EEB-796A35CB3268}">
      <dgm:prSet/>
      <dgm:spPr/>
      <dgm:t>
        <a:bodyPr/>
        <a:lstStyle/>
        <a:p>
          <a:endParaRPr lang="en-US"/>
        </a:p>
      </dgm:t>
    </dgm:pt>
    <dgm:pt modelId="{2C632AA3-C700-214A-8407-8E131F5275B9}" type="sibTrans" cxnId="{32F583A6-15F0-5B45-8EEB-796A35CB3268}">
      <dgm:prSet/>
      <dgm:spPr/>
      <dgm:t>
        <a:bodyPr/>
        <a:lstStyle/>
        <a:p>
          <a:endParaRPr lang="en-US"/>
        </a:p>
      </dgm:t>
    </dgm:pt>
    <dgm:pt modelId="{07EFF1AF-5A02-EA4E-B19A-96E78F350787}">
      <dgm:prSet/>
      <dgm:spPr>
        <a:xfrm>
          <a:off x="3693291" y="2583647"/>
          <a:ext cx="4706436" cy="2384904"/>
        </a:xfrm>
        <a:prstGeom prst="rect">
          <a:avLst/>
        </a:prstGeom>
        <a:noFill/>
        <a:ln>
          <a:noFill/>
        </a:ln>
        <a:effectLst/>
      </dgm:spPr>
      <dgm:t>
        <a:bodyPr/>
        <a:lstStyle/>
        <a:p>
          <a:pPr rtl="0"/>
          <a:r>
            <a:rPr lang="en-US" dirty="0">
              <a:solidFill>
                <a:sysClr val="windowText" lastClr="000000">
                  <a:hueOff val="0"/>
                  <a:satOff val="0"/>
                  <a:lumOff val="0"/>
                  <a:alphaOff val="0"/>
                </a:sysClr>
              </a:solidFill>
              <a:latin typeface="Rockwell"/>
              <a:ea typeface="+mn-ea"/>
              <a:cs typeface="+mn-cs"/>
            </a:rPr>
            <a:t>Carry</a:t>
          </a:r>
        </a:p>
      </dgm:t>
    </dgm:pt>
    <dgm:pt modelId="{C707A371-12AF-8E49-87EC-418B31F6101C}" type="parTrans" cxnId="{9875B65D-6A11-E44C-B06A-5DE5F30308DA}">
      <dgm:prSet/>
      <dgm:spPr/>
      <dgm:t>
        <a:bodyPr/>
        <a:lstStyle/>
        <a:p>
          <a:endParaRPr lang="en-US"/>
        </a:p>
      </dgm:t>
    </dgm:pt>
    <dgm:pt modelId="{A412703B-B498-8542-A863-1BA5F2403F1B}" type="sibTrans" cxnId="{9875B65D-6A11-E44C-B06A-5DE5F30308DA}">
      <dgm:prSet/>
      <dgm:spPr/>
      <dgm:t>
        <a:bodyPr/>
        <a:lstStyle/>
        <a:p>
          <a:endParaRPr lang="en-US"/>
        </a:p>
      </dgm:t>
    </dgm:pt>
    <dgm:pt modelId="{C38BB5B9-C9C6-784E-86C7-565A576E006C}">
      <dgm:prSet/>
      <dgm:spPr>
        <a:xfrm>
          <a:off x="3693291" y="2583647"/>
          <a:ext cx="4706436" cy="2384904"/>
        </a:xfrm>
        <a:prstGeom prst="rect">
          <a:avLst/>
        </a:prstGeom>
        <a:noFill/>
        <a:ln>
          <a:noFill/>
        </a:ln>
        <a:effectLst/>
      </dgm:spPr>
      <dgm:t>
        <a:bodyPr/>
        <a:lstStyle/>
        <a:p>
          <a:pPr rtl="0"/>
          <a:r>
            <a:rPr lang="en-US" dirty="0">
              <a:solidFill>
                <a:sysClr val="windowText" lastClr="000000">
                  <a:hueOff val="0"/>
                  <a:satOff val="0"/>
                  <a:lumOff val="0"/>
                  <a:alphaOff val="0"/>
                </a:sysClr>
              </a:solidFill>
              <a:latin typeface="Rockwell"/>
              <a:ea typeface="+mn-ea"/>
              <a:cs typeface="+mn-cs"/>
            </a:rPr>
            <a:t>Equal</a:t>
          </a:r>
        </a:p>
      </dgm:t>
    </dgm:pt>
    <dgm:pt modelId="{350000F1-E51D-2D4A-98F9-9A8FA001818E}" type="parTrans" cxnId="{B70FE954-9617-8441-B007-95D9514E94EB}">
      <dgm:prSet/>
      <dgm:spPr/>
      <dgm:t>
        <a:bodyPr/>
        <a:lstStyle/>
        <a:p>
          <a:endParaRPr lang="en-US"/>
        </a:p>
      </dgm:t>
    </dgm:pt>
    <dgm:pt modelId="{D6539CDB-D55A-8E44-8B60-F9382D57AE08}" type="sibTrans" cxnId="{B70FE954-9617-8441-B007-95D9514E94EB}">
      <dgm:prSet/>
      <dgm:spPr/>
      <dgm:t>
        <a:bodyPr/>
        <a:lstStyle/>
        <a:p>
          <a:endParaRPr lang="en-US"/>
        </a:p>
      </dgm:t>
    </dgm:pt>
    <dgm:pt modelId="{7FFDA7A2-87A6-CE4A-88DA-CA55B94BFE18}">
      <dgm:prSet/>
      <dgm:spPr>
        <a:xfrm>
          <a:off x="3693291" y="2583647"/>
          <a:ext cx="4706436" cy="2384904"/>
        </a:xfrm>
        <a:prstGeom prst="rect">
          <a:avLst/>
        </a:prstGeom>
        <a:noFill/>
        <a:ln>
          <a:noFill/>
        </a:ln>
        <a:effectLst/>
      </dgm:spPr>
      <dgm:t>
        <a:bodyPr/>
        <a:lstStyle/>
        <a:p>
          <a:pPr rtl="0"/>
          <a:r>
            <a:rPr lang="en-US" dirty="0">
              <a:solidFill>
                <a:sysClr val="windowText" lastClr="000000">
                  <a:hueOff val="0"/>
                  <a:satOff val="0"/>
                  <a:lumOff val="0"/>
                  <a:alphaOff val="0"/>
                </a:sysClr>
              </a:solidFill>
              <a:latin typeface="Rockwell"/>
              <a:ea typeface="+mn-ea"/>
              <a:cs typeface="+mn-cs"/>
            </a:rPr>
            <a:t>Overflow</a:t>
          </a:r>
        </a:p>
      </dgm:t>
    </dgm:pt>
    <dgm:pt modelId="{6E34A588-C12B-C448-987E-324F184314F8}" type="parTrans" cxnId="{D15C54FD-F364-B448-931F-E0417ED2500E}">
      <dgm:prSet/>
      <dgm:spPr/>
      <dgm:t>
        <a:bodyPr/>
        <a:lstStyle/>
        <a:p>
          <a:endParaRPr lang="en-US"/>
        </a:p>
      </dgm:t>
    </dgm:pt>
    <dgm:pt modelId="{59466A86-9BFC-B344-8376-2AB916A42DA3}" type="sibTrans" cxnId="{D15C54FD-F364-B448-931F-E0417ED2500E}">
      <dgm:prSet/>
      <dgm:spPr/>
      <dgm:t>
        <a:bodyPr/>
        <a:lstStyle/>
        <a:p>
          <a:endParaRPr lang="en-US"/>
        </a:p>
      </dgm:t>
    </dgm:pt>
    <dgm:pt modelId="{D88FECE5-5FC3-0B4A-B7D9-66A3BD92AB68}">
      <dgm:prSet/>
      <dgm:spPr>
        <a:xfrm>
          <a:off x="3693291" y="2583647"/>
          <a:ext cx="4706436" cy="2384904"/>
        </a:xfrm>
        <a:prstGeom prst="rect">
          <a:avLst/>
        </a:prstGeom>
        <a:noFill/>
        <a:ln>
          <a:noFill/>
        </a:ln>
        <a:effectLst/>
      </dgm:spPr>
      <dgm:t>
        <a:bodyPr/>
        <a:lstStyle/>
        <a:p>
          <a:pPr rtl="0"/>
          <a:r>
            <a:rPr lang="en-US" dirty="0">
              <a:solidFill>
                <a:sysClr val="windowText" lastClr="000000">
                  <a:hueOff val="0"/>
                  <a:satOff val="0"/>
                  <a:lumOff val="0"/>
                  <a:alphaOff val="0"/>
                </a:sysClr>
              </a:solidFill>
              <a:latin typeface="Rockwell"/>
              <a:ea typeface="+mn-ea"/>
              <a:cs typeface="+mn-cs"/>
            </a:rPr>
            <a:t>Interrupt Enable/Disable</a:t>
          </a:r>
        </a:p>
      </dgm:t>
    </dgm:pt>
    <dgm:pt modelId="{B39B5C1E-9D79-FE4D-87C2-8B6346D79A57}" type="parTrans" cxnId="{23FBF6F8-ED99-2042-B962-152426A3E129}">
      <dgm:prSet/>
      <dgm:spPr/>
      <dgm:t>
        <a:bodyPr/>
        <a:lstStyle/>
        <a:p>
          <a:endParaRPr lang="en-US"/>
        </a:p>
      </dgm:t>
    </dgm:pt>
    <dgm:pt modelId="{F548B796-6E6E-CA48-859B-E62D2D3E16BC}" type="sibTrans" cxnId="{23FBF6F8-ED99-2042-B962-152426A3E129}">
      <dgm:prSet/>
      <dgm:spPr/>
      <dgm:t>
        <a:bodyPr/>
        <a:lstStyle/>
        <a:p>
          <a:endParaRPr lang="en-US"/>
        </a:p>
      </dgm:t>
    </dgm:pt>
    <dgm:pt modelId="{3624604C-F1E1-724B-A085-66D556D96BC3}">
      <dgm:prSet/>
      <dgm:spPr>
        <a:xfrm>
          <a:off x="3693291" y="2583647"/>
          <a:ext cx="4706436" cy="2384904"/>
        </a:xfrm>
        <a:prstGeom prst="rect">
          <a:avLst/>
        </a:prstGeom>
        <a:noFill/>
        <a:ln>
          <a:noFill/>
        </a:ln>
        <a:effectLst/>
      </dgm:spPr>
      <dgm:t>
        <a:bodyPr/>
        <a:lstStyle/>
        <a:p>
          <a:pPr rtl="0"/>
          <a:r>
            <a:rPr lang="en-US" dirty="0">
              <a:solidFill>
                <a:sysClr val="windowText" lastClr="000000">
                  <a:hueOff val="0"/>
                  <a:satOff val="0"/>
                  <a:lumOff val="0"/>
                  <a:alphaOff val="0"/>
                </a:sysClr>
              </a:solidFill>
              <a:latin typeface="Rockwell"/>
              <a:ea typeface="+mn-ea"/>
              <a:cs typeface="+mn-cs"/>
            </a:rPr>
            <a:t>Supervisor</a:t>
          </a:r>
        </a:p>
      </dgm:t>
    </dgm:pt>
    <dgm:pt modelId="{9B905FF9-13EB-5D41-85AB-FC2423B0548A}" type="parTrans" cxnId="{50E77A2B-DEFF-604D-9B91-3A3228253E01}">
      <dgm:prSet/>
      <dgm:spPr/>
      <dgm:t>
        <a:bodyPr/>
        <a:lstStyle/>
        <a:p>
          <a:endParaRPr lang="en-US"/>
        </a:p>
      </dgm:t>
    </dgm:pt>
    <dgm:pt modelId="{1C0FB960-31CE-8C44-BED9-92839C72EFA0}" type="sibTrans" cxnId="{50E77A2B-DEFF-604D-9B91-3A3228253E01}">
      <dgm:prSet/>
      <dgm:spPr/>
      <dgm:t>
        <a:bodyPr/>
        <a:lstStyle/>
        <a:p>
          <a:endParaRPr lang="en-US"/>
        </a:p>
      </dgm:t>
    </dgm:pt>
    <dgm:pt modelId="{327D01AD-C940-E849-A75E-691ADFDC39EC}" type="pres">
      <dgm:prSet presAssocID="{C0966F55-D052-E14D-848F-7196F1653D62}" presName="compositeShape" presStyleCnt="0">
        <dgm:presLayoutVars>
          <dgm:chMax val="2"/>
          <dgm:dir/>
          <dgm:resizeHandles val="exact"/>
        </dgm:presLayoutVars>
      </dgm:prSet>
      <dgm:spPr/>
    </dgm:pt>
    <dgm:pt modelId="{B73E271E-CE66-1941-BDE4-DC011A56D099}" type="pres">
      <dgm:prSet presAssocID="{7CD53D11-14A8-BB47-93CB-4BC9BBFDA16C}" presName="upArrow" presStyleLbl="node1" presStyleIdx="0" presStyleCnt="2"/>
      <dgm:spPr>
        <a:xfrm>
          <a:off x="4622" y="0"/>
          <a:ext cx="2773435" cy="2384904"/>
        </a:xfrm>
        <a:prstGeom prst="upArrow">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pt>
    <dgm:pt modelId="{CFF95017-E622-CB47-81A6-7B8D3D03A33B}" type="pres">
      <dgm:prSet presAssocID="{7CD53D11-14A8-BB47-93CB-4BC9BBFDA16C}" presName="upArrowText" presStyleLbl="revTx" presStyleIdx="0" presStyleCnt="2">
        <dgm:presLayoutVars>
          <dgm:chMax val="0"/>
          <dgm:bulletEnabled val="1"/>
        </dgm:presLayoutVars>
      </dgm:prSet>
      <dgm:spPr/>
    </dgm:pt>
    <dgm:pt modelId="{FAFFC7AD-0AC6-7C42-BAAA-78490EEA3097}" type="pres">
      <dgm:prSet presAssocID="{BD6D24BD-E548-9A4A-855D-6C225FD31DCB}" presName="downArrow" presStyleLbl="node1" presStyleIdx="1" presStyleCnt="2"/>
      <dgm:spPr>
        <a:xfrm>
          <a:off x="836653" y="2583647"/>
          <a:ext cx="2773435" cy="2384904"/>
        </a:xfrm>
        <a:prstGeom prst="downArrow">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pt>
    <dgm:pt modelId="{20F573A9-C3CE-6E4D-8FF9-E946479E33E0}" type="pres">
      <dgm:prSet presAssocID="{BD6D24BD-E548-9A4A-855D-6C225FD31DCB}" presName="downArrowText" presStyleLbl="revTx" presStyleIdx="1" presStyleCnt="2">
        <dgm:presLayoutVars>
          <dgm:chMax val="0"/>
          <dgm:bulletEnabled val="1"/>
        </dgm:presLayoutVars>
      </dgm:prSet>
      <dgm:spPr/>
    </dgm:pt>
  </dgm:ptLst>
  <dgm:cxnLst>
    <dgm:cxn modelId="{621F0006-92D2-C148-88A0-283DBB2C8F3B}" type="presOf" srcId="{D88FECE5-5FC3-0B4A-B7D9-66A3BD92AB68}" destId="{20F573A9-C3CE-6E4D-8FF9-E946479E33E0}" srcOrd="0" destOrd="6" presId="urn:microsoft.com/office/officeart/2005/8/layout/arrow4"/>
    <dgm:cxn modelId="{1252901D-A7F0-BA43-BD4D-DC84F8B2E66F}" type="presOf" srcId="{4C25EF1F-2B52-1A49-996A-69288106C6D8}" destId="{20F573A9-C3CE-6E4D-8FF9-E946479E33E0}" srcOrd="0" destOrd="2" presId="urn:microsoft.com/office/officeart/2005/8/layout/arrow4"/>
    <dgm:cxn modelId="{095ED521-D2CC-7E47-8499-0975E01F78B2}" type="presOf" srcId="{C38BB5B9-C9C6-784E-86C7-565A576E006C}" destId="{20F573A9-C3CE-6E4D-8FF9-E946479E33E0}" srcOrd="0" destOrd="4" presId="urn:microsoft.com/office/officeart/2005/8/layout/arrow4"/>
    <dgm:cxn modelId="{50E77A2B-DEFF-604D-9B91-3A3228253E01}" srcId="{BD6D24BD-E548-9A4A-855D-6C225FD31DCB}" destId="{3624604C-F1E1-724B-A085-66D556D96BC3}" srcOrd="6" destOrd="0" parTransId="{9B905FF9-13EB-5D41-85AB-FC2423B0548A}" sibTransId="{1C0FB960-31CE-8C44-BED9-92839C72EFA0}"/>
    <dgm:cxn modelId="{6AA83238-6387-B940-822D-36C005D0C486}" type="presOf" srcId="{7FFDA7A2-87A6-CE4A-88DA-CA55B94BFE18}" destId="{20F573A9-C3CE-6E4D-8FF9-E946479E33E0}" srcOrd="0" destOrd="5" presId="urn:microsoft.com/office/officeart/2005/8/layout/arrow4"/>
    <dgm:cxn modelId="{02CEC83C-DB20-C542-B1C1-903452A57AD4}" srcId="{C0966F55-D052-E14D-848F-7196F1653D62}" destId="{BD6D24BD-E548-9A4A-855D-6C225FD31DCB}" srcOrd="1" destOrd="0" parTransId="{3B2DB9EB-8A9D-6E48-9CAD-6EE944E183CF}" sibTransId="{46296E97-6DD7-5B42-A2D7-2B317B9916ED}"/>
    <dgm:cxn modelId="{9875B65D-6A11-E44C-B06A-5DE5F30308DA}" srcId="{BD6D24BD-E548-9A4A-855D-6C225FD31DCB}" destId="{07EFF1AF-5A02-EA4E-B19A-96E78F350787}" srcOrd="2" destOrd="0" parTransId="{C707A371-12AF-8E49-87EC-418B31F6101C}" sibTransId="{A412703B-B498-8542-A863-1BA5F2403F1B}"/>
    <dgm:cxn modelId="{7A248969-10F8-F748-8560-D187512113EA}" type="presOf" srcId="{3624604C-F1E1-724B-A085-66D556D96BC3}" destId="{20F573A9-C3CE-6E4D-8FF9-E946479E33E0}" srcOrd="0" destOrd="7" presId="urn:microsoft.com/office/officeart/2005/8/layout/arrow4"/>
    <dgm:cxn modelId="{C9EBAF4B-F1ED-E943-BF4C-6A8588BC6EC0}" srcId="{BD6D24BD-E548-9A4A-855D-6C225FD31DCB}" destId="{AE179C10-8D0E-FC4E-B58C-24E89F87024F}" srcOrd="0" destOrd="0" parTransId="{D7FD6E6C-6BC1-5747-BA0E-5AE759ADB980}" sibTransId="{47E37169-8B77-BA4B-87CB-B339DABDB0D7}"/>
    <dgm:cxn modelId="{B70FE954-9617-8441-B007-95D9514E94EB}" srcId="{BD6D24BD-E548-9A4A-855D-6C225FD31DCB}" destId="{C38BB5B9-C9C6-784E-86C7-565A576E006C}" srcOrd="3" destOrd="0" parTransId="{350000F1-E51D-2D4A-98F9-9A8FA001818E}" sibTransId="{D6539CDB-D55A-8E44-8B60-F9382D57AE08}"/>
    <dgm:cxn modelId="{2B413D94-028C-0248-8811-2527F21973F3}" type="presOf" srcId="{AE179C10-8D0E-FC4E-B58C-24E89F87024F}" destId="{20F573A9-C3CE-6E4D-8FF9-E946479E33E0}" srcOrd="0" destOrd="1" presId="urn:microsoft.com/office/officeart/2005/8/layout/arrow4"/>
    <dgm:cxn modelId="{CCB9949D-12C8-7240-BD12-A3C7F099828E}" type="presOf" srcId="{BD6D24BD-E548-9A4A-855D-6C225FD31DCB}" destId="{20F573A9-C3CE-6E4D-8FF9-E946479E33E0}" srcOrd="0" destOrd="0" presId="urn:microsoft.com/office/officeart/2005/8/layout/arrow4"/>
    <dgm:cxn modelId="{32F583A6-15F0-5B45-8EEB-796A35CB3268}" srcId="{BD6D24BD-E548-9A4A-855D-6C225FD31DCB}" destId="{4C25EF1F-2B52-1A49-996A-69288106C6D8}" srcOrd="1" destOrd="0" parTransId="{045E6BBE-1863-9545-BB4A-83592E351C7B}" sibTransId="{2C632AA3-C700-214A-8407-8E131F5275B9}"/>
    <dgm:cxn modelId="{A53ADBAA-E375-8D49-A2C2-53382B42842E}" type="presOf" srcId="{7CD53D11-14A8-BB47-93CB-4BC9BBFDA16C}" destId="{CFF95017-E622-CB47-81A6-7B8D3D03A33B}" srcOrd="0" destOrd="0" presId="urn:microsoft.com/office/officeart/2005/8/layout/arrow4"/>
    <dgm:cxn modelId="{3A0AE0B4-FB87-134C-B0AC-4CCB32380A4D}" type="presOf" srcId="{07EFF1AF-5A02-EA4E-B19A-96E78F350787}" destId="{20F573A9-C3CE-6E4D-8FF9-E946479E33E0}" srcOrd="0" destOrd="3" presId="urn:microsoft.com/office/officeart/2005/8/layout/arrow4"/>
    <dgm:cxn modelId="{770B8EE4-4489-4044-A899-BF8F463E22AC}" type="presOf" srcId="{C0966F55-D052-E14D-848F-7196F1653D62}" destId="{327D01AD-C940-E849-A75E-691ADFDC39EC}" srcOrd="0" destOrd="0" presId="urn:microsoft.com/office/officeart/2005/8/layout/arrow4"/>
    <dgm:cxn modelId="{171FDFEC-3D39-0045-A026-4928B870FF4F}" srcId="{C0966F55-D052-E14D-848F-7196F1653D62}" destId="{7CD53D11-14A8-BB47-93CB-4BC9BBFDA16C}" srcOrd="0" destOrd="0" parTransId="{8D1367BB-84E1-5D4E-AEFC-5100700A0E70}" sibTransId="{02269C7D-0197-2D4E-8CA6-418CA636BF74}"/>
    <dgm:cxn modelId="{23FBF6F8-ED99-2042-B962-152426A3E129}" srcId="{BD6D24BD-E548-9A4A-855D-6C225FD31DCB}" destId="{D88FECE5-5FC3-0B4A-B7D9-66A3BD92AB68}" srcOrd="5" destOrd="0" parTransId="{B39B5C1E-9D79-FE4D-87C2-8B6346D79A57}" sibTransId="{F548B796-6E6E-CA48-859B-E62D2D3E16BC}"/>
    <dgm:cxn modelId="{D15C54FD-F364-B448-931F-E0417ED2500E}" srcId="{BD6D24BD-E548-9A4A-855D-6C225FD31DCB}" destId="{7FFDA7A2-87A6-CE4A-88DA-CA55B94BFE18}" srcOrd="4" destOrd="0" parTransId="{6E34A588-C12B-C448-987E-324F184314F8}" sibTransId="{59466A86-9BFC-B344-8376-2AB916A42DA3}"/>
    <dgm:cxn modelId="{FB2325C1-E278-FA4F-94BA-C1AF01FD2AEA}" type="presParOf" srcId="{327D01AD-C940-E849-A75E-691ADFDC39EC}" destId="{B73E271E-CE66-1941-BDE4-DC011A56D099}" srcOrd="0" destOrd="0" presId="urn:microsoft.com/office/officeart/2005/8/layout/arrow4"/>
    <dgm:cxn modelId="{66F20C0E-9AB6-1D4F-B021-6D86E67EBB94}" type="presParOf" srcId="{327D01AD-C940-E849-A75E-691ADFDC39EC}" destId="{CFF95017-E622-CB47-81A6-7B8D3D03A33B}" srcOrd="1" destOrd="0" presId="urn:microsoft.com/office/officeart/2005/8/layout/arrow4"/>
    <dgm:cxn modelId="{1B2ABDE6-1429-B74B-AB5C-83B6D98F824E}" type="presParOf" srcId="{327D01AD-C940-E849-A75E-691ADFDC39EC}" destId="{FAFFC7AD-0AC6-7C42-BAAA-78490EEA3097}" srcOrd="2" destOrd="0" presId="urn:microsoft.com/office/officeart/2005/8/layout/arrow4"/>
    <dgm:cxn modelId="{239D558F-3FF7-9B4F-AAEC-4055F99030A2}" type="presParOf" srcId="{327D01AD-C940-E849-A75E-691ADFDC39EC}" destId="{20F573A9-C3CE-6E4D-8FF9-E946479E33E0}" srcOrd="3" destOrd="0" presId="urn:microsoft.com/office/officeart/2005/8/layout/arrow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1C00FE2-E675-F241-B8B5-CB3484196D43}" type="doc">
      <dgm:prSet loTypeId="urn:microsoft.com/office/officeart/2005/8/layout/hierarchy1" loCatId="hierarchy" qsTypeId="urn:microsoft.com/office/officeart/2005/8/quickstyle/simple4" qsCatId="simple" csTypeId="urn:microsoft.com/office/officeart/2005/8/colors/accent1_2" csCatId="accent1"/>
      <dgm:spPr/>
      <dgm:t>
        <a:bodyPr/>
        <a:lstStyle/>
        <a:p>
          <a:endParaRPr lang="en-US"/>
        </a:p>
      </dgm:t>
    </dgm:pt>
    <dgm:pt modelId="{17B91373-4AA7-984A-800B-F0F814C964AA}">
      <dgm:prSet/>
      <dgm:spPr>
        <a:xfrm>
          <a:off x="3469873" y="252006"/>
          <a:ext cx="2358843" cy="1497865"/>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Includes the following stages:</a:t>
          </a:r>
        </a:p>
      </dgm:t>
    </dgm:pt>
    <dgm:pt modelId="{08C813BA-9A73-3149-AA1A-D20F8F27A2F2}" type="parTrans" cxnId="{5E9ED15C-E641-1847-808B-9B6FDDE3F30C}">
      <dgm:prSet/>
      <dgm:spPr/>
      <dgm:t>
        <a:bodyPr/>
        <a:lstStyle/>
        <a:p>
          <a:endParaRPr lang="en-US"/>
        </a:p>
      </dgm:t>
    </dgm:pt>
    <dgm:pt modelId="{6D1D04D7-5AEF-6149-A956-8B77A56DC5B1}" type="sibTrans" cxnId="{5E9ED15C-E641-1847-808B-9B6FDDE3F30C}">
      <dgm:prSet/>
      <dgm:spPr/>
      <dgm:t>
        <a:bodyPr/>
        <a:lstStyle/>
        <a:p>
          <a:endParaRPr lang="en-US"/>
        </a:p>
      </dgm:t>
    </dgm:pt>
    <dgm:pt modelId="{E9DC148B-85D3-3B4E-B8EB-6B25518CC616}">
      <dgm:prSet/>
      <dgm:spPr>
        <a:xfrm>
          <a:off x="586842" y="2435901"/>
          <a:ext cx="2358843" cy="1497865"/>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Fetch</a:t>
          </a:r>
        </a:p>
      </dgm:t>
    </dgm:pt>
    <dgm:pt modelId="{FAA0F2C6-C41B-964C-92B1-8515E277C50C}" type="parTrans" cxnId="{0C6625CD-8564-B74E-88BD-FC7FB995490C}">
      <dgm:prSet/>
      <dgm:spPr>
        <a:xfrm>
          <a:off x="1504170" y="1500882"/>
          <a:ext cx="2883030" cy="686030"/>
        </a:xfrm>
        <a:custGeom>
          <a:avLst/>
          <a:gdLst/>
          <a:ahLst/>
          <a:cxnLst/>
          <a:rect l="0" t="0" r="0" b="0"/>
          <a:pathLst>
            <a:path>
              <a:moveTo>
                <a:pt x="2883030" y="0"/>
              </a:moveTo>
              <a:lnTo>
                <a:pt x="2883030" y="467509"/>
              </a:lnTo>
              <a:lnTo>
                <a:pt x="0" y="467509"/>
              </a:lnTo>
              <a:lnTo>
                <a:pt x="0" y="686030"/>
              </a:lnTo>
            </a:path>
          </a:pathLst>
        </a:custGeom>
        <a:noFill/>
        <a:ln w="12700" cap="flat" cmpd="sng" algn="ctr">
          <a:solidFill>
            <a:srgbClr val="663366">
              <a:shade val="60000"/>
              <a:hueOff val="0"/>
              <a:satOff val="0"/>
              <a:lumOff val="0"/>
              <a:alphaOff val="0"/>
            </a:srgbClr>
          </a:solidFill>
          <a:prstDash val="solid"/>
        </a:ln>
        <a:effectLst/>
      </dgm:spPr>
      <dgm:t>
        <a:bodyPr/>
        <a:lstStyle/>
        <a:p>
          <a:endParaRPr lang="en-US"/>
        </a:p>
      </dgm:t>
    </dgm:pt>
    <dgm:pt modelId="{079AAD60-39C3-C147-A324-08FC7E336F58}" type="sibTrans" cxnId="{0C6625CD-8564-B74E-88BD-FC7FB995490C}">
      <dgm:prSet/>
      <dgm:spPr/>
      <dgm:t>
        <a:bodyPr/>
        <a:lstStyle/>
        <a:p>
          <a:endParaRPr lang="en-US"/>
        </a:p>
      </dgm:t>
    </dgm:pt>
    <dgm:pt modelId="{B67C3CE5-CF88-2546-A775-40C9C279EB36}">
      <dgm:prSet/>
      <dgm:spPr>
        <a:xfrm>
          <a:off x="586842" y="4619797"/>
          <a:ext cx="2358843" cy="1497865"/>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Read the next instruction from memory into the processor</a:t>
          </a:r>
        </a:p>
      </dgm:t>
    </dgm:pt>
    <dgm:pt modelId="{918D2150-EAA7-B84E-B1F6-92CA50A8FB72}" type="parTrans" cxnId="{37D630B1-7B74-8A47-A556-A16DCF1F82BE}">
      <dgm:prSet/>
      <dgm:spPr>
        <a:xfrm>
          <a:off x="1458450" y="3684778"/>
          <a:ext cx="91440" cy="686030"/>
        </a:xfrm>
        <a:custGeom>
          <a:avLst/>
          <a:gdLst/>
          <a:ahLst/>
          <a:cxnLst/>
          <a:rect l="0" t="0" r="0" b="0"/>
          <a:pathLst>
            <a:path>
              <a:moveTo>
                <a:pt x="45720" y="0"/>
              </a:moveTo>
              <a:lnTo>
                <a:pt x="45720" y="686030"/>
              </a:lnTo>
            </a:path>
          </a:pathLst>
        </a:custGeom>
        <a:noFill/>
        <a:ln w="12700" cap="flat" cmpd="sng" algn="ctr">
          <a:solidFill>
            <a:srgbClr val="663366">
              <a:shade val="80000"/>
              <a:hueOff val="0"/>
              <a:satOff val="0"/>
              <a:lumOff val="0"/>
              <a:alphaOff val="0"/>
            </a:srgbClr>
          </a:solidFill>
          <a:prstDash val="solid"/>
        </a:ln>
        <a:effectLst/>
      </dgm:spPr>
      <dgm:t>
        <a:bodyPr/>
        <a:lstStyle/>
        <a:p>
          <a:endParaRPr lang="en-US"/>
        </a:p>
      </dgm:t>
    </dgm:pt>
    <dgm:pt modelId="{B01F8F4A-4143-E24E-805F-3642DC6FEA50}" type="sibTrans" cxnId="{37D630B1-7B74-8A47-A556-A16DCF1F82BE}">
      <dgm:prSet/>
      <dgm:spPr/>
      <dgm:t>
        <a:bodyPr/>
        <a:lstStyle/>
        <a:p>
          <a:endParaRPr lang="en-US"/>
        </a:p>
      </dgm:t>
    </dgm:pt>
    <dgm:pt modelId="{385A3E21-C52E-0B48-9C02-87C94DE86B5C}">
      <dgm:prSet/>
      <dgm:spPr>
        <a:xfrm>
          <a:off x="3469873" y="2435901"/>
          <a:ext cx="2358843" cy="1497865"/>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Execute</a:t>
          </a:r>
        </a:p>
      </dgm:t>
    </dgm:pt>
    <dgm:pt modelId="{BF7E736F-6546-584D-9156-3CD23AEBB46D}" type="parTrans" cxnId="{2B6CEEC9-7455-ED42-BCBB-4DBDD8C8C765}">
      <dgm:prSet/>
      <dgm:spPr>
        <a:xfrm>
          <a:off x="4341481" y="1500882"/>
          <a:ext cx="91440" cy="686030"/>
        </a:xfrm>
        <a:custGeom>
          <a:avLst/>
          <a:gdLst/>
          <a:ahLst/>
          <a:cxnLst/>
          <a:rect l="0" t="0" r="0" b="0"/>
          <a:pathLst>
            <a:path>
              <a:moveTo>
                <a:pt x="45720" y="0"/>
              </a:moveTo>
              <a:lnTo>
                <a:pt x="45720" y="686030"/>
              </a:lnTo>
            </a:path>
          </a:pathLst>
        </a:custGeom>
        <a:noFill/>
        <a:ln w="12700" cap="flat" cmpd="sng" algn="ctr">
          <a:solidFill>
            <a:srgbClr val="663366">
              <a:shade val="60000"/>
              <a:hueOff val="0"/>
              <a:satOff val="0"/>
              <a:lumOff val="0"/>
              <a:alphaOff val="0"/>
            </a:srgbClr>
          </a:solidFill>
          <a:prstDash val="solid"/>
        </a:ln>
        <a:effectLst/>
      </dgm:spPr>
      <dgm:t>
        <a:bodyPr/>
        <a:lstStyle/>
        <a:p>
          <a:endParaRPr lang="en-US"/>
        </a:p>
      </dgm:t>
    </dgm:pt>
    <dgm:pt modelId="{A6BC3F7C-119A-7648-A1A8-9C7F69A3B80A}" type="sibTrans" cxnId="{2B6CEEC9-7455-ED42-BCBB-4DBDD8C8C765}">
      <dgm:prSet/>
      <dgm:spPr/>
      <dgm:t>
        <a:bodyPr/>
        <a:lstStyle/>
        <a:p>
          <a:endParaRPr lang="en-US"/>
        </a:p>
      </dgm:t>
    </dgm:pt>
    <dgm:pt modelId="{B5C9E825-14F4-724A-B515-C09AA5EFB617}">
      <dgm:prSet/>
      <dgm:spPr>
        <a:xfrm>
          <a:off x="3469873" y="4619797"/>
          <a:ext cx="2358843" cy="1497865"/>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Interpret the opcode and perform the indicated operation</a:t>
          </a:r>
        </a:p>
      </dgm:t>
    </dgm:pt>
    <dgm:pt modelId="{E74EECEE-65F0-E241-83CC-FB01D52015C7}" type="parTrans" cxnId="{3DC2F1F0-5877-0A47-89F6-9C8BDECCA003}">
      <dgm:prSet/>
      <dgm:spPr>
        <a:xfrm>
          <a:off x="4341481" y="3684778"/>
          <a:ext cx="91440" cy="686030"/>
        </a:xfrm>
        <a:custGeom>
          <a:avLst/>
          <a:gdLst/>
          <a:ahLst/>
          <a:cxnLst/>
          <a:rect l="0" t="0" r="0" b="0"/>
          <a:pathLst>
            <a:path>
              <a:moveTo>
                <a:pt x="45720" y="0"/>
              </a:moveTo>
              <a:lnTo>
                <a:pt x="45720" y="686030"/>
              </a:lnTo>
            </a:path>
          </a:pathLst>
        </a:custGeom>
        <a:noFill/>
        <a:ln w="12700" cap="flat" cmpd="sng" algn="ctr">
          <a:solidFill>
            <a:srgbClr val="663366">
              <a:shade val="80000"/>
              <a:hueOff val="0"/>
              <a:satOff val="0"/>
              <a:lumOff val="0"/>
              <a:alphaOff val="0"/>
            </a:srgbClr>
          </a:solidFill>
          <a:prstDash val="solid"/>
        </a:ln>
        <a:effectLst/>
      </dgm:spPr>
      <dgm:t>
        <a:bodyPr/>
        <a:lstStyle/>
        <a:p>
          <a:endParaRPr lang="en-US"/>
        </a:p>
      </dgm:t>
    </dgm:pt>
    <dgm:pt modelId="{F4077039-4200-3342-88FC-0DC8F7E3DC38}" type="sibTrans" cxnId="{3DC2F1F0-5877-0A47-89F6-9C8BDECCA003}">
      <dgm:prSet/>
      <dgm:spPr/>
      <dgm:t>
        <a:bodyPr/>
        <a:lstStyle/>
        <a:p>
          <a:endParaRPr lang="en-US"/>
        </a:p>
      </dgm:t>
    </dgm:pt>
    <dgm:pt modelId="{E51C8DE6-BE3D-CA47-832C-A3DBDB57C472}">
      <dgm:prSet/>
      <dgm:spPr>
        <a:xfrm>
          <a:off x="6352903" y="2435901"/>
          <a:ext cx="2358843" cy="1497865"/>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Interrupt </a:t>
          </a:r>
        </a:p>
      </dgm:t>
    </dgm:pt>
    <dgm:pt modelId="{7C2196FF-39C8-E140-B37A-13AC3B7711A2}" type="parTrans" cxnId="{244E2247-C434-3B47-9512-8ED9EE3707B2}">
      <dgm:prSet/>
      <dgm:spPr>
        <a:xfrm>
          <a:off x="4387201" y="1500882"/>
          <a:ext cx="2883030" cy="686030"/>
        </a:xfrm>
        <a:custGeom>
          <a:avLst/>
          <a:gdLst/>
          <a:ahLst/>
          <a:cxnLst/>
          <a:rect l="0" t="0" r="0" b="0"/>
          <a:pathLst>
            <a:path>
              <a:moveTo>
                <a:pt x="0" y="0"/>
              </a:moveTo>
              <a:lnTo>
                <a:pt x="0" y="467509"/>
              </a:lnTo>
              <a:lnTo>
                <a:pt x="2883030" y="467509"/>
              </a:lnTo>
              <a:lnTo>
                <a:pt x="2883030" y="686030"/>
              </a:lnTo>
            </a:path>
          </a:pathLst>
        </a:custGeom>
        <a:noFill/>
        <a:ln w="12700" cap="flat" cmpd="sng" algn="ctr">
          <a:solidFill>
            <a:srgbClr val="663366">
              <a:shade val="60000"/>
              <a:hueOff val="0"/>
              <a:satOff val="0"/>
              <a:lumOff val="0"/>
              <a:alphaOff val="0"/>
            </a:srgbClr>
          </a:solidFill>
          <a:prstDash val="solid"/>
        </a:ln>
        <a:effectLst/>
      </dgm:spPr>
      <dgm:t>
        <a:bodyPr/>
        <a:lstStyle/>
        <a:p>
          <a:endParaRPr lang="en-US"/>
        </a:p>
      </dgm:t>
    </dgm:pt>
    <dgm:pt modelId="{806047C7-4457-7745-9FDE-8F83DCEC165D}" type="sibTrans" cxnId="{244E2247-C434-3B47-9512-8ED9EE3707B2}">
      <dgm:prSet/>
      <dgm:spPr/>
      <dgm:t>
        <a:bodyPr/>
        <a:lstStyle/>
        <a:p>
          <a:endParaRPr lang="en-US"/>
        </a:p>
      </dgm:t>
    </dgm:pt>
    <dgm:pt modelId="{ED28E4C6-50E3-B742-9E76-FF0C9B1AFE75}">
      <dgm:prSet/>
      <dgm:spPr>
        <a:xfrm>
          <a:off x="6352903" y="4619797"/>
          <a:ext cx="2358843" cy="1497865"/>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If interrupts are enabled and an interrupt has occurred, save the current process state and service the interrupt</a:t>
          </a:r>
        </a:p>
      </dgm:t>
    </dgm:pt>
    <dgm:pt modelId="{790CC5E7-EBE8-EE47-814E-DDFB6563CF62}" type="parTrans" cxnId="{62D24259-E22D-E442-9207-5D6C14CF2780}">
      <dgm:prSet/>
      <dgm:spPr>
        <a:xfrm>
          <a:off x="7224511" y="3684778"/>
          <a:ext cx="91440" cy="686030"/>
        </a:xfrm>
        <a:custGeom>
          <a:avLst/>
          <a:gdLst/>
          <a:ahLst/>
          <a:cxnLst/>
          <a:rect l="0" t="0" r="0" b="0"/>
          <a:pathLst>
            <a:path>
              <a:moveTo>
                <a:pt x="45720" y="0"/>
              </a:moveTo>
              <a:lnTo>
                <a:pt x="45720" y="686030"/>
              </a:lnTo>
            </a:path>
          </a:pathLst>
        </a:custGeom>
        <a:noFill/>
        <a:ln w="12700" cap="flat" cmpd="sng" algn="ctr">
          <a:solidFill>
            <a:srgbClr val="663366">
              <a:shade val="80000"/>
              <a:hueOff val="0"/>
              <a:satOff val="0"/>
              <a:lumOff val="0"/>
              <a:alphaOff val="0"/>
            </a:srgbClr>
          </a:solidFill>
          <a:prstDash val="solid"/>
        </a:ln>
        <a:effectLst/>
      </dgm:spPr>
      <dgm:t>
        <a:bodyPr/>
        <a:lstStyle/>
        <a:p>
          <a:endParaRPr lang="en-US"/>
        </a:p>
      </dgm:t>
    </dgm:pt>
    <dgm:pt modelId="{1D705BA5-7361-E84E-8662-96FBA0A59419}" type="sibTrans" cxnId="{62D24259-E22D-E442-9207-5D6C14CF2780}">
      <dgm:prSet/>
      <dgm:spPr/>
      <dgm:t>
        <a:bodyPr/>
        <a:lstStyle/>
        <a:p>
          <a:endParaRPr lang="en-US"/>
        </a:p>
      </dgm:t>
    </dgm:pt>
    <dgm:pt modelId="{3EC35534-BB77-244C-87D7-7C099BE391E0}" type="pres">
      <dgm:prSet presAssocID="{B1C00FE2-E675-F241-B8B5-CB3484196D43}" presName="hierChild1" presStyleCnt="0">
        <dgm:presLayoutVars>
          <dgm:chPref val="1"/>
          <dgm:dir/>
          <dgm:animOne val="branch"/>
          <dgm:animLvl val="lvl"/>
          <dgm:resizeHandles/>
        </dgm:presLayoutVars>
      </dgm:prSet>
      <dgm:spPr/>
    </dgm:pt>
    <dgm:pt modelId="{A22DFF86-D3CE-B040-99F1-D29E47636276}" type="pres">
      <dgm:prSet presAssocID="{17B91373-4AA7-984A-800B-F0F814C964AA}" presName="hierRoot1" presStyleCnt="0"/>
      <dgm:spPr/>
    </dgm:pt>
    <dgm:pt modelId="{8803A015-5E37-3F4A-A098-C6B33A4B0F59}" type="pres">
      <dgm:prSet presAssocID="{17B91373-4AA7-984A-800B-F0F814C964AA}" presName="composite" presStyleCnt="0"/>
      <dgm:spPr/>
    </dgm:pt>
    <dgm:pt modelId="{AD085B36-DA72-2244-BE46-2D2FD9A8231A}" type="pres">
      <dgm:prSet presAssocID="{17B91373-4AA7-984A-800B-F0F814C964AA}" presName="background" presStyleLbl="node0" presStyleIdx="0" presStyleCnt="1"/>
      <dgm:spPr>
        <a:xfrm>
          <a:off x="3207779" y="3017"/>
          <a:ext cx="2358843" cy="1497865"/>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pt>
    <dgm:pt modelId="{4EA4FB93-F3AC-BD4A-A777-9351FC75EDE1}" type="pres">
      <dgm:prSet presAssocID="{17B91373-4AA7-984A-800B-F0F814C964AA}" presName="text" presStyleLbl="fgAcc0" presStyleIdx="0" presStyleCnt="1">
        <dgm:presLayoutVars>
          <dgm:chPref val="3"/>
        </dgm:presLayoutVars>
      </dgm:prSet>
      <dgm:spPr/>
    </dgm:pt>
    <dgm:pt modelId="{26E1531E-0D91-CE4C-9A06-D9407F309F38}" type="pres">
      <dgm:prSet presAssocID="{17B91373-4AA7-984A-800B-F0F814C964AA}" presName="hierChild2" presStyleCnt="0"/>
      <dgm:spPr/>
    </dgm:pt>
    <dgm:pt modelId="{44366298-FD9B-5A4A-9783-59C231A2AEE2}" type="pres">
      <dgm:prSet presAssocID="{FAA0F2C6-C41B-964C-92B1-8515E277C50C}" presName="Name10" presStyleLbl="parChTrans1D2" presStyleIdx="0" presStyleCnt="3"/>
      <dgm:spPr/>
    </dgm:pt>
    <dgm:pt modelId="{A3D27CFD-EB6F-CC47-9E33-D9CE045507EB}" type="pres">
      <dgm:prSet presAssocID="{E9DC148B-85D3-3B4E-B8EB-6B25518CC616}" presName="hierRoot2" presStyleCnt="0"/>
      <dgm:spPr/>
    </dgm:pt>
    <dgm:pt modelId="{E1073C21-9E88-E342-BDBC-43E3C9E897F8}" type="pres">
      <dgm:prSet presAssocID="{E9DC148B-85D3-3B4E-B8EB-6B25518CC616}" presName="composite2" presStyleCnt="0"/>
      <dgm:spPr/>
    </dgm:pt>
    <dgm:pt modelId="{9FB4FFB5-C11F-484E-B2AC-3F8A7722AECD}" type="pres">
      <dgm:prSet presAssocID="{E9DC148B-85D3-3B4E-B8EB-6B25518CC616}" presName="background2" presStyleLbl="node2" presStyleIdx="0" presStyleCnt="3"/>
      <dgm:spPr>
        <a:xfrm>
          <a:off x="324749" y="2186912"/>
          <a:ext cx="2358843" cy="1497865"/>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pt>
    <dgm:pt modelId="{4C89960E-E5D9-D046-8D4B-DD02582B7D3A}" type="pres">
      <dgm:prSet presAssocID="{E9DC148B-85D3-3B4E-B8EB-6B25518CC616}" presName="text2" presStyleLbl="fgAcc2" presStyleIdx="0" presStyleCnt="3">
        <dgm:presLayoutVars>
          <dgm:chPref val="3"/>
        </dgm:presLayoutVars>
      </dgm:prSet>
      <dgm:spPr/>
    </dgm:pt>
    <dgm:pt modelId="{0CB30970-28B4-D347-B2F4-F2E101ACBBB0}" type="pres">
      <dgm:prSet presAssocID="{E9DC148B-85D3-3B4E-B8EB-6B25518CC616}" presName="hierChild3" presStyleCnt="0"/>
      <dgm:spPr/>
    </dgm:pt>
    <dgm:pt modelId="{7336A106-E8E5-7842-B744-5DA305419486}" type="pres">
      <dgm:prSet presAssocID="{918D2150-EAA7-B84E-B1F6-92CA50A8FB72}" presName="Name17" presStyleLbl="parChTrans1D3" presStyleIdx="0" presStyleCnt="3"/>
      <dgm:spPr/>
    </dgm:pt>
    <dgm:pt modelId="{9E55D632-7927-6248-9FA5-084F2DAEEF53}" type="pres">
      <dgm:prSet presAssocID="{B67C3CE5-CF88-2546-A775-40C9C279EB36}" presName="hierRoot3" presStyleCnt="0"/>
      <dgm:spPr/>
    </dgm:pt>
    <dgm:pt modelId="{A80B8D5C-4FF0-D84D-A8F5-EE2C067D3000}" type="pres">
      <dgm:prSet presAssocID="{B67C3CE5-CF88-2546-A775-40C9C279EB36}" presName="composite3" presStyleCnt="0"/>
      <dgm:spPr/>
    </dgm:pt>
    <dgm:pt modelId="{553E2E5B-A13E-FF49-8C45-FB7E75BAA80F}" type="pres">
      <dgm:prSet presAssocID="{B67C3CE5-CF88-2546-A775-40C9C279EB36}" presName="background3" presStyleLbl="node3" presStyleIdx="0" presStyleCnt="3"/>
      <dgm:spPr>
        <a:xfrm>
          <a:off x="324749" y="4370808"/>
          <a:ext cx="2358843" cy="1497865"/>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pt>
    <dgm:pt modelId="{BB51A060-E74F-BA43-988A-F74B2DB43A08}" type="pres">
      <dgm:prSet presAssocID="{B67C3CE5-CF88-2546-A775-40C9C279EB36}" presName="text3" presStyleLbl="fgAcc3" presStyleIdx="0" presStyleCnt="3">
        <dgm:presLayoutVars>
          <dgm:chPref val="3"/>
        </dgm:presLayoutVars>
      </dgm:prSet>
      <dgm:spPr/>
    </dgm:pt>
    <dgm:pt modelId="{C1BBFBC6-0335-5F47-A8F8-78874A72787B}" type="pres">
      <dgm:prSet presAssocID="{B67C3CE5-CF88-2546-A775-40C9C279EB36}" presName="hierChild4" presStyleCnt="0"/>
      <dgm:spPr/>
    </dgm:pt>
    <dgm:pt modelId="{7134F9FD-5E66-6844-A538-8F42E8B33A32}" type="pres">
      <dgm:prSet presAssocID="{BF7E736F-6546-584D-9156-3CD23AEBB46D}" presName="Name10" presStyleLbl="parChTrans1D2" presStyleIdx="1" presStyleCnt="3"/>
      <dgm:spPr/>
    </dgm:pt>
    <dgm:pt modelId="{C3350344-6DB9-644C-9F71-A4FF4B875519}" type="pres">
      <dgm:prSet presAssocID="{385A3E21-C52E-0B48-9C02-87C94DE86B5C}" presName="hierRoot2" presStyleCnt="0"/>
      <dgm:spPr/>
    </dgm:pt>
    <dgm:pt modelId="{C242A02E-A430-B64B-8E34-4E99BEE4BD9B}" type="pres">
      <dgm:prSet presAssocID="{385A3E21-C52E-0B48-9C02-87C94DE86B5C}" presName="composite2" presStyleCnt="0"/>
      <dgm:spPr/>
    </dgm:pt>
    <dgm:pt modelId="{25DF7365-5D74-DF46-96B5-16D5E6DC1CCA}" type="pres">
      <dgm:prSet presAssocID="{385A3E21-C52E-0B48-9C02-87C94DE86B5C}" presName="background2" presStyleLbl="node2" presStyleIdx="1" presStyleCnt="3"/>
      <dgm:spPr>
        <a:xfrm>
          <a:off x="3207779" y="2186912"/>
          <a:ext cx="2358843" cy="1497865"/>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pt>
    <dgm:pt modelId="{08A2C79F-E9DA-7747-88FE-4BE1B57D3E7B}" type="pres">
      <dgm:prSet presAssocID="{385A3E21-C52E-0B48-9C02-87C94DE86B5C}" presName="text2" presStyleLbl="fgAcc2" presStyleIdx="1" presStyleCnt="3">
        <dgm:presLayoutVars>
          <dgm:chPref val="3"/>
        </dgm:presLayoutVars>
      </dgm:prSet>
      <dgm:spPr/>
    </dgm:pt>
    <dgm:pt modelId="{34986FB8-09F5-CA44-80F4-104ED1CA306E}" type="pres">
      <dgm:prSet presAssocID="{385A3E21-C52E-0B48-9C02-87C94DE86B5C}" presName="hierChild3" presStyleCnt="0"/>
      <dgm:spPr/>
    </dgm:pt>
    <dgm:pt modelId="{2643EC93-7D48-5144-87AF-EB858A6B6431}" type="pres">
      <dgm:prSet presAssocID="{E74EECEE-65F0-E241-83CC-FB01D52015C7}" presName="Name17" presStyleLbl="parChTrans1D3" presStyleIdx="1" presStyleCnt="3"/>
      <dgm:spPr/>
    </dgm:pt>
    <dgm:pt modelId="{1CC495CC-F5B1-C748-9C0D-9D5BEA2E475D}" type="pres">
      <dgm:prSet presAssocID="{B5C9E825-14F4-724A-B515-C09AA5EFB617}" presName="hierRoot3" presStyleCnt="0"/>
      <dgm:spPr/>
    </dgm:pt>
    <dgm:pt modelId="{2BAB3673-0E32-9847-B217-86B2D16B93C5}" type="pres">
      <dgm:prSet presAssocID="{B5C9E825-14F4-724A-B515-C09AA5EFB617}" presName="composite3" presStyleCnt="0"/>
      <dgm:spPr/>
    </dgm:pt>
    <dgm:pt modelId="{2BAF6A3E-78B0-7949-A2B0-6895C6917D8B}" type="pres">
      <dgm:prSet presAssocID="{B5C9E825-14F4-724A-B515-C09AA5EFB617}" presName="background3" presStyleLbl="node3" presStyleIdx="1" presStyleCnt="3"/>
      <dgm:spPr>
        <a:xfrm>
          <a:off x="3207779" y="4370808"/>
          <a:ext cx="2358843" cy="1497865"/>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pt>
    <dgm:pt modelId="{BAF7092A-AE27-DE44-9782-177693E2CA5C}" type="pres">
      <dgm:prSet presAssocID="{B5C9E825-14F4-724A-B515-C09AA5EFB617}" presName="text3" presStyleLbl="fgAcc3" presStyleIdx="1" presStyleCnt="3">
        <dgm:presLayoutVars>
          <dgm:chPref val="3"/>
        </dgm:presLayoutVars>
      </dgm:prSet>
      <dgm:spPr/>
    </dgm:pt>
    <dgm:pt modelId="{1348903F-6FC3-1B49-A6FD-208E39CFC159}" type="pres">
      <dgm:prSet presAssocID="{B5C9E825-14F4-724A-B515-C09AA5EFB617}" presName="hierChild4" presStyleCnt="0"/>
      <dgm:spPr/>
    </dgm:pt>
    <dgm:pt modelId="{DC38F41A-7026-F74C-AC4B-78ED7376BF67}" type="pres">
      <dgm:prSet presAssocID="{7C2196FF-39C8-E140-B37A-13AC3B7711A2}" presName="Name10" presStyleLbl="parChTrans1D2" presStyleIdx="2" presStyleCnt="3"/>
      <dgm:spPr/>
    </dgm:pt>
    <dgm:pt modelId="{17640A64-76D8-C94B-8C99-6C00AA7D1185}" type="pres">
      <dgm:prSet presAssocID="{E51C8DE6-BE3D-CA47-832C-A3DBDB57C472}" presName="hierRoot2" presStyleCnt="0"/>
      <dgm:spPr/>
    </dgm:pt>
    <dgm:pt modelId="{68EAF65C-CC2C-404F-9539-8D10727E37D3}" type="pres">
      <dgm:prSet presAssocID="{E51C8DE6-BE3D-CA47-832C-A3DBDB57C472}" presName="composite2" presStyleCnt="0"/>
      <dgm:spPr/>
    </dgm:pt>
    <dgm:pt modelId="{C91E6CA4-2AF4-C547-9551-BEB59BE9CDA3}" type="pres">
      <dgm:prSet presAssocID="{E51C8DE6-BE3D-CA47-832C-A3DBDB57C472}" presName="background2" presStyleLbl="node2" presStyleIdx="2" presStyleCnt="3"/>
      <dgm:spPr>
        <a:xfrm>
          <a:off x="6090810" y="2186912"/>
          <a:ext cx="2358843" cy="1497865"/>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pt>
    <dgm:pt modelId="{350E5B82-958A-1F4B-AE37-5BE92D52A0F0}" type="pres">
      <dgm:prSet presAssocID="{E51C8DE6-BE3D-CA47-832C-A3DBDB57C472}" presName="text2" presStyleLbl="fgAcc2" presStyleIdx="2" presStyleCnt="3">
        <dgm:presLayoutVars>
          <dgm:chPref val="3"/>
        </dgm:presLayoutVars>
      </dgm:prSet>
      <dgm:spPr/>
    </dgm:pt>
    <dgm:pt modelId="{D1E3DEBF-A74F-9840-947B-72619A82F83E}" type="pres">
      <dgm:prSet presAssocID="{E51C8DE6-BE3D-CA47-832C-A3DBDB57C472}" presName="hierChild3" presStyleCnt="0"/>
      <dgm:spPr/>
    </dgm:pt>
    <dgm:pt modelId="{0AEDDD63-D148-C04E-AE73-900A9CB76940}" type="pres">
      <dgm:prSet presAssocID="{790CC5E7-EBE8-EE47-814E-DDFB6563CF62}" presName="Name17" presStyleLbl="parChTrans1D3" presStyleIdx="2" presStyleCnt="3"/>
      <dgm:spPr/>
    </dgm:pt>
    <dgm:pt modelId="{4979D8B5-91B3-1A41-9ABE-1C89BD183149}" type="pres">
      <dgm:prSet presAssocID="{ED28E4C6-50E3-B742-9E76-FF0C9B1AFE75}" presName="hierRoot3" presStyleCnt="0"/>
      <dgm:spPr/>
    </dgm:pt>
    <dgm:pt modelId="{E6D220D2-293C-514B-8AEC-BB2C6CDA8398}" type="pres">
      <dgm:prSet presAssocID="{ED28E4C6-50E3-B742-9E76-FF0C9B1AFE75}" presName="composite3" presStyleCnt="0"/>
      <dgm:spPr/>
    </dgm:pt>
    <dgm:pt modelId="{421C3655-0911-9049-B8DE-E6E2B6DA48D6}" type="pres">
      <dgm:prSet presAssocID="{ED28E4C6-50E3-B742-9E76-FF0C9B1AFE75}" presName="background3" presStyleLbl="node3" presStyleIdx="2" presStyleCnt="3"/>
      <dgm:spPr>
        <a:xfrm>
          <a:off x="6090810" y="4370808"/>
          <a:ext cx="2358843" cy="1497865"/>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pt>
    <dgm:pt modelId="{8B4CAA32-B118-204E-8081-E3E47AD463CF}" type="pres">
      <dgm:prSet presAssocID="{ED28E4C6-50E3-B742-9E76-FF0C9B1AFE75}" presName="text3" presStyleLbl="fgAcc3" presStyleIdx="2" presStyleCnt="3">
        <dgm:presLayoutVars>
          <dgm:chPref val="3"/>
        </dgm:presLayoutVars>
      </dgm:prSet>
      <dgm:spPr/>
    </dgm:pt>
    <dgm:pt modelId="{A6DA207E-A18B-574B-A1C4-080E0F7C65B5}" type="pres">
      <dgm:prSet presAssocID="{ED28E4C6-50E3-B742-9E76-FF0C9B1AFE75}" presName="hierChild4" presStyleCnt="0"/>
      <dgm:spPr/>
    </dgm:pt>
  </dgm:ptLst>
  <dgm:cxnLst>
    <dgm:cxn modelId="{7822B30F-A355-B843-A212-F82A111CE883}" type="presOf" srcId="{17B91373-4AA7-984A-800B-F0F814C964AA}" destId="{4EA4FB93-F3AC-BD4A-A777-9351FC75EDE1}" srcOrd="0" destOrd="0" presId="urn:microsoft.com/office/officeart/2005/8/layout/hierarchy1"/>
    <dgm:cxn modelId="{AD12182E-ACA4-4849-A713-7BF8593E2B1A}" type="presOf" srcId="{BF7E736F-6546-584D-9156-3CD23AEBB46D}" destId="{7134F9FD-5E66-6844-A538-8F42E8B33A32}" srcOrd="0" destOrd="0" presId="urn:microsoft.com/office/officeart/2005/8/layout/hierarchy1"/>
    <dgm:cxn modelId="{C0158737-F4D5-AE43-90EF-1AEE6817D51C}" type="presOf" srcId="{E74EECEE-65F0-E241-83CC-FB01D52015C7}" destId="{2643EC93-7D48-5144-87AF-EB858A6B6431}" srcOrd="0" destOrd="0" presId="urn:microsoft.com/office/officeart/2005/8/layout/hierarchy1"/>
    <dgm:cxn modelId="{ACA89640-D2BE-4E46-88FC-CA479DB00F8F}" type="presOf" srcId="{385A3E21-C52E-0B48-9C02-87C94DE86B5C}" destId="{08A2C79F-E9DA-7747-88FE-4BE1B57D3E7B}" srcOrd="0" destOrd="0" presId="urn:microsoft.com/office/officeart/2005/8/layout/hierarchy1"/>
    <dgm:cxn modelId="{5E9ED15C-E641-1847-808B-9B6FDDE3F30C}" srcId="{B1C00FE2-E675-F241-B8B5-CB3484196D43}" destId="{17B91373-4AA7-984A-800B-F0F814C964AA}" srcOrd="0" destOrd="0" parTransId="{08C813BA-9A73-3149-AA1A-D20F8F27A2F2}" sibTransId="{6D1D04D7-5AEF-6149-A956-8B77A56DC5B1}"/>
    <dgm:cxn modelId="{AC9D0144-47C9-FA4D-BE87-F427F24653B0}" type="presOf" srcId="{7C2196FF-39C8-E140-B37A-13AC3B7711A2}" destId="{DC38F41A-7026-F74C-AC4B-78ED7376BF67}" srcOrd="0" destOrd="0" presId="urn:microsoft.com/office/officeart/2005/8/layout/hierarchy1"/>
    <dgm:cxn modelId="{244E2247-C434-3B47-9512-8ED9EE3707B2}" srcId="{17B91373-4AA7-984A-800B-F0F814C964AA}" destId="{E51C8DE6-BE3D-CA47-832C-A3DBDB57C472}" srcOrd="2" destOrd="0" parTransId="{7C2196FF-39C8-E140-B37A-13AC3B7711A2}" sibTransId="{806047C7-4457-7745-9FDE-8F83DCEC165D}"/>
    <dgm:cxn modelId="{110A2771-442D-A04E-8420-1199E1A09BBD}" type="presOf" srcId="{B67C3CE5-CF88-2546-A775-40C9C279EB36}" destId="{BB51A060-E74F-BA43-988A-F74B2DB43A08}" srcOrd="0" destOrd="0" presId="urn:microsoft.com/office/officeart/2005/8/layout/hierarchy1"/>
    <dgm:cxn modelId="{62D24259-E22D-E442-9207-5D6C14CF2780}" srcId="{E51C8DE6-BE3D-CA47-832C-A3DBDB57C472}" destId="{ED28E4C6-50E3-B742-9E76-FF0C9B1AFE75}" srcOrd="0" destOrd="0" parTransId="{790CC5E7-EBE8-EE47-814E-DDFB6563CF62}" sibTransId="{1D705BA5-7361-E84E-8662-96FBA0A59419}"/>
    <dgm:cxn modelId="{EE81858A-6223-3A4B-8511-24124C684A42}" type="presOf" srcId="{790CC5E7-EBE8-EE47-814E-DDFB6563CF62}" destId="{0AEDDD63-D148-C04E-AE73-900A9CB76940}" srcOrd="0" destOrd="0" presId="urn:microsoft.com/office/officeart/2005/8/layout/hierarchy1"/>
    <dgm:cxn modelId="{AC7C4C8F-4843-4140-9FF9-1B3C272B79F2}" type="presOf" srcId="{B1C00FE2-E675-F241-B8B5-CB3484196D43}" destId="{3EC35534-BB77-244C-87D7-7C099BE391E0}" srcOrd="0" destOrd="0" presId="urn:microsoft.com/office/officeart/2005/8/layout/hierarchy1"/>
    <dgm:cxn modelId="{37D630B1-7B74-8A47-A556-A16DCF1F82BE}" srcId="{E9DC148B-85D3-3B4E-B8EB-6B25518CC616}" destId="{B67C3CE5-CF88-2546-A775-40C9C279EB36}" srcOrd="0" destOrd="0" parTransId="{918D2150-EAA7-B84E-B1F6-92CA50A8FB72}" sibTransId="{B01F8F4A-4143-E24E-805F-3642DC6FEA50}"/>
    <dgm:cxn modelId="{38EAF8C5-4776-0E42-9AEA-06AA1E44DC83}" type="presOf" srcId="{ED28E4C6-50E3-B742-9E76-FF0C9B1AFE75}" destId="{8B4CAA32-B118-204E-8081-E3E47AD463CF}" srcOrd="0" destOrd="0" presId="urn:microsoft.com/office/officeart/2005/8/layout/hierarchy1"/>
    <dgm:cxn modelId="{2B6CEEC9-7455-ED42-BCBB-4DBDD8C8C765}" srcId="{17B91373-4AA7-984A-800B-F0F814C964AA}" destId="{385A3E21-C52E-0B48-9C02-87C94DE86B5C}" srcOrd="1" destOrd="0" parTransId="{BF7E736F-6546-584D-9156-3CD23AEBB46D}" sibTransId="{A6BC3F7C-119A-7648-A1A8-9C7F69A3B80A}"/>
    <dgm:cxn modelId="{3F188ECC-B2B7-6F43-94FD-8178C2D5860B}" type="presOf" srcId="{FAA0F2C6-C41B-964C-92B1-8515E277C50C}" destId="{44366298-FD9B-5A4A-9783-59C231A2AEE2}" srcOrd="0" destOrd="0" presId="urn:microsoft.com/office/officeart/2005/8/layout/hierarchy1"/>
    <dgm:cxn modelId="{0C6625CD-8564-B74E-88BD-FC7FB995490C}" srcId="{17B91373-4AA7-984A-800B-F0F814C964AA}" destId="{E9DC148B-85D3-3B4E-B8EB-6B25518CC616}" srcOrd="0" destOrd="0" parTransId="{FAA0F2C6-C41B-964C-92B1-8515E277C50C}" sibTransId="{079AAD60-39C3-C147-A324-08FC7E336F58}"/>
    <dgm:cxn modelId="{F07D23E3-1927-E742-A6DF-14035AD5F2A7}" type="presOf" srcId="{918D2150-EAA7-B84E-B1F6-92CA50A8FB72}" destId="{7336A106-E8E5-7842-B744-5DA305419486}" srcOrd="0" destOrd="0" presId="urn:microsoft.com/office/officeart/2005/8/layout/hierarchy1"/>
    <dgm:cxn modelId="{F20883EE-6FC6-B643-8B18-8A120FE0337B}" type="presOf" srcId="{B5C9E825-14F4-724A-B515-C09AA5EFB617}" destId="{BAF7092A-AE27-DE44-9782-177693E2CA5C}" srcOrd="0" destOrd="0" presId="urn:microsoft.com/office/officeart/2005/8/layout/hierarchy1"/>
    <dgm:cxn modelId="{3DC2F1F0-5877-0A47-89F6-9C8BDECCA003}" srcId="{385A3E21-C52E-0B48-9C02-87C94DE86B5C}" destId="{B5C9E825-14F4-724A-B515-C09AA5EFB617}" srcOrd="0" destOrd="0" parTransId="{E74EECEE-65F0-E241-83CC-FB01D52015C7}" sibTransId="{F4077039-4200-3342-88FC-0DC8F7E3DC38}"/>
    <dgm:cxn modelId="{13B091F8-E181-A14A-B8AF-751C554817D0}" type="presOf" srcId="{E9DC148B-85D3-3B4E-B8EB-6B25518CC616}" destId="{4C89960E-E5D9-D046-8D4B-DD02582B7D3A}" srcOrd="0" destOrd="0" presId="urn:microsoft.com/office/officeart/2005/8/layout/hierarchy1"/>
    <dgm:cxn modelId="{016329F9-F4E4-B744-89EF-7117FD1FB5FB}" type="presOf" srcId="{E51C8DE6-BE3D-CA47-832C-A3DBDB57C472}" destId="{350E5B82-958A-1F4B-AE37-5BE92D52A0F0}" srcOrd="0" destOrd="0" presId="urn:microsoft.com/office/officeart/2005/8/layout/hierarchy1"/>
    <dgm:cxn modelId="{4FBC4FD1-5876-8F42-86A2-51D0C7125B88}" type="presParOf" srcId="{3EC35534-BB77-244C-87D7-7C099BE391E0}" destId="{A22DFF86-D3CE-B040-99F1-D29E47636276}" srcOrd="0" destOrd="0" presId="urn:microsoft.com/office/officeart/2005/8/layout/hierarchy1"/>
    <dgm:cxn modelId="{BD8881F4-5030-9744-BA70-2979B92C2AB7}" type="presParOf" srcId="{A22DFF86-D3CE-B040-99F1-D29E47636276}" destId="{8803A015-5E37-3F4A-A098-C6B33A4B0F59}" srcOrd="0" destOrd="0" presId="urn:microsoft.com/office/officeart/2005/8/layout/hierarchy1"/>
    <dgm:cxn modelId="{14FB7736-2BDA-564B-9B40-B24F7F7B100B}" type="presParOf" srcId="{8803A015-5E37-3F4A-A098-C6B33A4B0F59}" destId="{AD085B36-DA72-2244-BE46-2D2FD9A8231A}" srcOrd="0" destOrd="0" presId="urn:microsoft.com/office/officeart/2005/8/layout/hierarchy1"/>
    <dgm:cxn modelId="{F2F21E5D-7B97-5347-838F-70EBE700CD67}" type="presParOf" srcId="{8803A015-5E37-3F4A-A098-C6B33A4B0F59}" destId="{4EA4FB93-F3AC-BD4A-A777-9351FC75EDE1}" srcOrd="1" destOrd="0" presId="urn:microsoft.com/office/officeart/2005/8/layout/hierarchy1"/>
    <dgm:cxn modelId="{CCC867C4-4416-D444-9AA6-D317D9116185}" type="presParOf" srcId="{A22DFF86-D3CE-B040-99F1-D29E47636276}" destId="{26E1531E-0D91-CE4C-9A06-D9407F309F38}" srcOrd="1" destOrd="0" presId="urn:microsoft.com/office/officeart/2005/8/layout/hierarchy1"/>
    <dgm:cxn modelId="{D233214B-ABFD-9342-9B37-79D6B00A84E2}" type="presParOf" srcId="{26E1531E-0D91-CE4C-9A06-D9407F309F38}" destId="{44366298-FD9B-5A4A-9783-59C231A2AEE2}" srcOrd="0" destOrd="0" presId="urn:microsoft.com/office/officeart/2005/8/layout/hierarchy1"/>
    <dgm:cxn modelId="{D56AD9E3-50BC-9343-B658-379BF149C969}" type="presParOf" srcId="{26E1531E-0D91-CE4C-9A06-D9407F309F38}" destId="{A3D27CFD-EB6F-CC47-9E33-D9CE045507EB}" srcOrd="1" destOrd="0" presId="urn:microsoft.com/office/officeart/2005/8/layout/hierarchy1"/>
    <dgm:cxn modelId="{11E475D7-E90C-A044-808A-A8B9B5277497}" type="presParOf" srcId="{A3D27CFD-EB6F-CC47-9E33-D9CE045507EB}" destId="{E1073C21-9E88-E342-BDBC-43E3C9E897F8}" srcOrd="0" destOrd="0" presId="urn:microsoft.com/office/officeart/2005/8/layout/hierarchy1"/>
    <dgm:cxn modelId="{A44A683B-629D-D547-B6F4-4FFE0852269D}" type="presParOf" srcId="{E1073C21-9E88-E342-BDBC-43E3C9E897F8}" destId="{9FB4FFB5-C11F-484E-B2AC-3F8A7722AECD}" srcOrd="0" destOrd="0" presId="urn:microsoft.com/office/officeart/2005/8/layout/hierarchy1"/>
    <dgm:cxn modelId="{C773010E-4C22-4A4F-814B-FE914AC5F837}" type="presParOf" srcId="{E1073C21-9E88-E342-BDBC-43E3C9E897F8}" destId="{4C89960E-E5D9-D046-8D4B-DD02582B7D3A}" srcOrd="1" destOrd="0" presId="urn:microsoft.com/office/officeart/2005/8/layout/hierarchy1"/>
    <dgm:cxn modelId="{2CADD080-362F-3949-A0FE-955922BB5BBC}" type="presParOf" srcId="{A3D27CFD-EB6F-CC47-9E33-D9CE045507EB}" destId="{0CB30970-28B4-D347-B2F4-F2E101ACBBB0}" srcOrd="1" destOrd="0" presId="urn:microsoft.com/office/officeart/2005/8/layout/hierarchy1"/>
    <dgm:cxn modelId="{6B87EE36-0E17-E846-8439-9045C5DA6DBC}" type="presParOf" srcId="{0CB30970-28B4-D347-B2F4-F2E101ACBBB0}" destId="{7336A106-E8E5-7842-B744-5DA305419486}" srcOrd="0" destOrd="0" presId="urn:microsoft.com/office/officeart/2005/8/layout/hierarchy1"/>
    <dgm:cxn modelId="{F9C2288B-026D-E24B-AD5C-BEEC8C524F7D}" type="presParOf" srcId="{0CB30970-28B4-D347-B2F4-F2E101ACBBB0}" destId="{9E55D632-7927-6248-9FA5-084F2DAEEF53}" srcOrd="1" destOrd="0" presId="urn:microsoft.com/office/officeart/2005/8/layout/hierarchy1"/>
    <dgm:cxn modelId="{C08EC2C3-5326-4B4D-85BB-3E1416E4EB0A}" type="presParOf" srcId="{9E55D632-7927-6248-9FA5-084F2DAEEF53}" destId="{A80B8D5C-4FF0-D84D-A8F5-EE2C067D3000}" srcOrd="0" destOrd="0" presId="urn:microsoft.com/office/officeart/2005/8/layout/hierarchy1"/>
    <dgm:cxn modelId="{53759B97-4F26-D549-99CB-5C1DD95A6B13}" type="presParOf" srcId="{A80B8D5C-4FF0-D84D-A8F5-EE2C067D3000}" destId="{553E2E5B-A13E-FF49-8C45-FB7E75BAA80F}" srcOrd="0" destOrd="0" presId="urn:microsoft.com/office/officeart/2005/8/layout/hierarchy1"/>
    <dgm:cxn modelId="{4DAA351D-0DE4-C84C-ACB2-C468B257F605}" type="presParOf" srcId="{A80B8D5C-4FF0-D84D-A8F5-EE2C067D3000}" destId="{BB51A060-E74F-BA43-988A-F74B2DB43A08}" srcOrd="1" destOrd="0" presId="urn:microsoft.com/office/officeart/2005/8/layout/hierarchy1"/>
    <dgm:cxn modelId="{C2A50609-05AE-4248-8EAB-B4885F6F709C}" type="presParOf" srcId="{9E55D632-7927-6248-9FA5-084F2DAEEF53}" destId="{C1BBFBC6-0335-5F47-A8F8-78874A72787B}" srcOrd="1" destOrd="0" presId="urn:microsoft.com/office/officeart/2005/8/layout/hierarchy1"/>
    <dgm:cxn modelId="{94A060D8-FBDC-3D43-B309-1E8DC4482420}" type="presParOf" srcId="{26E1531E-0D91-CE4C-9A06-D9407F309F38}" destId="{7134F9FD-5E66-6844-A538-8F42E8B33A32}" srcOrd="2" destOrd="0" presId="urn:microsoft.com/office/officeart/2005/8/layout/hierarchy1"/>
    <dgm:cxn modelId="{4CA5F5BB-843D-114D-80A6-FB3538C65A41}" type="presParOf" srcId="{26E1531E-0D91-CE4C-9A06-D9407F309F38}" destId="{C3350344-6DB9-644C-9F71-A4FF4B875519}" srcOrd="3" destOrd="0" presId="urn:microsoft.com/office/officeart/2005/8/layout/hierarchy1"/>
    <dgm:cxn modelId="{65B9C261-F1FD-A54C-9529-A313CCB23B3A}" type="presParOf" srcId="{C3350344-6DB9-644C-9F71-A4FF4B875519}" destId="{C242A02E-A430-B64B-8E34-4E99BEE4BD9B}" srcOrd="0" destOrd="0" presId="urn:microsoft.com/office/officeart/2005/8/layout/hierarchy1"/>
    <dgm:cxn modelId="{F6B9F434-6D3A-5243-8B6E-D05522751F76}" type="presParOf" srcId="{C242A02E-A430-B64B-8E34-4E99BEE4BD9B}" destId="{25DF7365-5D74-DF46-96B5-16D5E6DC1CCA}" srcOrd="0" destOrd="0" presId="urn:microsoft.com/office/officeart/2005/8/layout/hierarchy1"/>
    <dgm:cxn modelId="{F46CEE2F-F623-0C4D-9F27-D4853070F834}" type="presParOf" srcId="{C242A02E-A430-B64B-8E34-4E99BEE4BD9B}" destId="{08A2C79F-E9DA-7747-88FE-4BE1B57D3E7B}" srcOrd="1" destOrd="0" presId="urn:microsoft.com/office/officeart/2005/8/layout/hierarchy1"/>
    <dgm:cxn modelId="{958D5F24-069A-8C44-BDC0-615629F14A12}" type="presParOf" srcId="{C3350344-6DB9-644C-9F71-A4FF4B875519}" destId="{34986FB8-09F5-CA44-80F4-104ED1CA306E}" srcOrd="1" destOrd="0" presId="urn:microsoft.com/office/officeart/2005/8/layout/hierarchy1"/>
    <dgm:cxn modelId="{6C3B81BC-D8E8-914C-A1CF-A4E2F550AA5B}" type="presParOf" srcId="{34986FB8-09F5-CA44-80F4-104ED1CA306E}" destId="{2643EC93-7D48-5144-87AF-EB858A6B6431}" srcOrd="0" destOrd="0" presId="urn:microsoft.com/office/officeart/2005/8/layout/hierarchy1"/>
    <dgm:cxn modelId="{C2BB5115-671E-1346-9E06-5EAA3CF83A93}" type="presParOf" srcId="{34986FB8-09F5-CA44-80F4-104ED1CA306E}" destId="{1CC495CC-F5B1-C748-9C0D-9D5BEA2E475D}" srcOrd="1" destOrd="0" presId="urn:microsoft.com/office/officeart/2005/8/layout/hierarchy1"/>
    <dgm:cxn modelId="{4864B615-59E5-614C-9B13-D1151B3F4E79}" type="presParOf" srcId="{1CC495CC-F5B1-C748-9C0D-9D5BEA2E475D}" destId="{2BAB3673-0E32-9847-B217-86B2D16B93C5}" srcOrd="0" destOrd="0" presId="urn:microsoft.com/office/officeart/2005/8/layout/hierarchy1"/>
    <dgm:cxn modelId="{D9761A25-A62E-1B4E-9F53-A2320A025318}" type="presParOf" srcId="{2BAB3673-0E32-9847-B217-86B2D16B93C5}" destId="{2BAF6A3E-78B0-7949-A2B0-6895C6917D8B}" srcOrd="0" destOrd="0" presId="urn:microsoft.com/office/officeart/2005/8/layout/hierarchy1"/>
    <dgm:cxn modelId="{9D7EA5A1-049F-1944-A412-0429F7C13B6C}" type="presParOf" srcId="{2BAB3673-0E32-9847-B217-86B2D16B93C5}" destId="{BAF7092A-AE27-DE44-9782-177693E2CA5C}" srcOrd="1" destOrd="0" presId="urn:microsoft.com/office/officeart/2005/8/layout/hierarchy1"/>
    <dgm:cxn modelId="{D5A76713-DBB4-2E4E-A483-8CDCB0DFA9FB}" type="presParOf" srcId="{1CC495CC-F5B1-C748-9C0D-9D5BEA2E475D}" destId="{1348903F-6FC3-1B49-A6FD-208E39CFC159}" srcOrd="1" destOrd="0" presId="urn:microsoft.com/office/officeart/2005/8/layout/hierarchy1"/>
    <dgm:cxn modelId="{A9BF7EF0-7DDB-9846-8AE7-EBAD59E45408}" type="presParOf" srcId="{26E1531E-0D91-CE4C-9A06-D9407F309F38}" destId="{DC38F41A-7026-F74C-AC4B-78ED7376BF67}" srcOrd="4" destOrd="0" presId="urn:microsoft.com/office/officeart/2005/8/layout/hierarchy1"/>
    <dgm:cxn modelId="{94CD5F43-83EC-0A4B-B461-0609EE78EB92}" type="presParOf" srcId="{26E1531E-0D91-CE4C-9A06-D9407F309F38}" destId="{17640A64-76D8-C94B-8C99-6C00AA7D1185}" srcOrd="5" destOrd="0" presId="urn:microsoft.com/office/officeart/2005/8/layout/hierarchy1"/>
    <dgm:cxn modelId="{A25BB689-7B76-0441-966B-A0C3665D62E2}" type="presParOf" srcId="{17640A64-76D8-C94B-8C99-6C00AA7D1185}" destId="{68EAF65C-CC2C-404F-9539-8D10727E37D3}" srcOrd="0" destOrd="0" presId="urn:microsoft.com/office/officeart/2005/8/layout/hierarchy1"/>
    <dgm:cxn modelId="{61DE74B2-3FE8-C94A-AFCC-AFE6EDBC84D2}" type="presParOf" srcId="{68EAF65C-CC2C-404F-9539-8D10727E37D3}" destId="{C91E6CA4-2AF4-C547-9551-BEB59BE9CDA3}" srcOrd="0" destOrd="0" presId="urn:microsoft.com/office/officeart/2005/8/layout/hierarchy1"/>
    <dgm:cxn modelId="{16713B66-7DBA-FD47-BC75-F32060EBF61F}" type="presParOf" srcId="{68EAF65C-CC2C-404F-9539-8D10727E37D3}" destId="{350E5B82-958A-1F4B-AE37-5BE92D52A0F0}" srcOrd="1" destOrd="0" presId="urn:microsoft.com/office/officeart/2005/8/layout/hierarchy1"/>
    <dgm:cxn modelId="{C5733E24-6F7D-EE4A-84F0-2897A32D8D45}" type="presParOf" srcId="{17640A64-76D8-C94B-8C99-6C00AA7D1185}" destId="{D1E3DEBF-A74F-9840-947B-72619A82F83E}" srcOrd="1" destOrd="0" presId="urn:microsoft.com/office/officeart/2005/8/layout/hierarchy1"/>
    <dgm:cxn modelId="{2380BA2B-CD5C-AC4F-A035-144F36074D03}" type="presParOf" srcId="{D1E3DEBF-A74F-9840-947B-72619A82F83E}" destId="{0AEDDD63-D148-C04E-AE73-900A9CB76940}" srcOrd="0" destOrd="0" presId="urn:microsoft.com/office/officeart/2005/8/layout/hierarchy1"/>
    <dgm:cxn modelId="{6CEFA821-B983-7D48-AF2A-CA0B38EE4C99}" type="presParOf" srcId="{D1E3DEBF-A74F-9840-947B-72619A82F83E}" destId="{4979D8B5-91B3-1A41-9ABE-1C89BD183149}" srcOrd="1" destOrd="0" presId="urn:microsoft.com/office/officeart/2005/8/layout/hierarchy1"/>
    <dgm:cxn modelId="{1F12F153-6183-9743-8ED9-CCF0730E731A}" type="presParOf" srcId="{4979D8B5-91B3-1A41-9ABE-1C89BD183149}" destId="{E6D220D2-293C-514B-8AEC-BB2C6CDA8398}" srcOrd="0" destOrd="0" presId="urn:microsoft.com/office/officeart/2005/8/layout/hierarchy1"/>
    <dgm:cxn modelId="{435FA6EA-2D46-2448-AC61-B8BA28286F64}" type="presParOf" srcId="{E6D220D2-293C-514B-8AEC-BB2C6CDA8398}" destId="{421C3655-0911-9049-B8DE-E6E2B6DA48D6}" srcOrd="0" destOrd="0" presId="urn:microsoft.com/office/officeart/2005/8/layout/hierarchy1"/>
    <dgm:cxn modelId="{1F9F09DE-284F-1947-954C-78875132A4A0}" type="presParOf" srcId="{E6D220D2-293C-514B-8AEC-BB2C6CDA8398}" destId="{8B4CAA32-B118-204E-8081-E3E47AD463CF}" srcOrd="1" destOrd="0" presId="urn:microsoft.com/office/officeart/2005/8/layout/hierarchy1"/>
    <dgm:cxn modelId="{4AB1783A-CABB-AE49-B025-B6F1271D67C0}" type="presParOf" srcId="{4979D8B5-91B3-1A41-9ABE-1C89BD183149}" destId="{A6DA207E-A18B-574B-A1C4-080E0F7C65B5}"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FD61676-2F7A-6E43-8AD0-DD73FCC8C303}" type="doc">
      <dgm:prSet loTypeId="urn:microsoft.com/office/officeart/2005/8/layout/hProcess11" loCatId="process" qsTypeId="urn:microsoft.com/office/officeart/2005/8/quickstyle/simple4" qsCatId="simple" csTypeId="urn:microsoft.com/office/officeart/2005/8/colors/accent1_2" csCatId="accent1"/>
      <dgm:spPr/>
      <dgm:t>
        <a:bodyPr/>
        <a:lstStyle/>
        <a:p>
          <a:endParaRPr lang="en-US"/>
        </a:p>
      </dgm:t>
    </dgm:pt>
    <dgm:pt modelId="{B3686828-8DD5-134B-8439-580CA571A2FC}">
      <dgm:prSet/>
      <dgm:spPr>
        <a:xfrm>
          <a:off x="3860" y="0"/>
          <a:ext cx="2547986" cy="1958617"/>
        </a:xfrm>
        <a:prstGeom prst="rect">
          <a:avLst/>
        </a:prstGeom>
        <a:noFill/>
        <a:ln>
          <a:noFill/>
        </a:ln>
        <a:effectLst/>
      </dgm:spPr>
      <dgm:t>
        <a:bodyPr/>
        <a:lstStyle/>
        <a:p>
          <a:pPr rtl="0"/>
          <a:r>
            <a:rPr lang="en-US" dirty="0">
              <a:solidFill>
                <a:sysClr val="windowText" lastClr="000000">
                  <a:hueOff val="0"/>
                  <a:satOff val="0"/>
                  <a:lumOff val="0"/>
                  <a:alphaOff val="0"/>
                </a:sysClr>
              </a:solidFill>
              <a:latin typeface="Rockwell"/>
              <a:ea typeface="+mn-ea"/>
              <a:cs typeface="+mn-cs"/>
            </a:rPr>
            <a:t>Similar to the use of an assembly line in a manufacturing plant</a:t>
          </a:r>
        </a:p>
      </dgm:t>
    </dgm:pt>
    <dgm:pt modelId="{8D069C29-107E-3A4C-A3C0-E62754B6580F}" type="parTrans" cxnId="{3C0E712C-F3D4-924A-8526-2887DE60EE91}">
      <dgm:prSet/>
      <dgm:spPr/>
      <dgm:t>
        <a:bodyPr/>
        <a:lstStyle/>
        <a:p>
          <a:endParaRPr lang="en-US"/>
        </a:p>
      </dgm:t>
    </dgm:pt>
    <dgm:pt modelId="{6D4A2CCF-4277-B04E-B0C5-7E0845B8A0D5}" type="sibTrans" cxnId="{3C0E712C-F3D4-924A-8526-2887DE60EE91}">
      <dgm:prSet/>
      <dgm:spPr/>
      <dgm:t>
        <a:bodyPr/>
        <a:lstStyle/>
        <a:p>
          <a:endParaRPr lang="en-US"/>
        </a:p>
      </dgm:t>
    </dgm:pt>
    <dgm:pt modelId="{83CF20B9-8DD2-F842-9793-B559974FE8AA}">
      <dgm:prSet/>
      <dgm:spPr>
        <a:xfrm>
          <a:off x="2679246" y="2937926"/>
          <a:ext cx="2547986" cy="1958617"/>
        </a:xfrm>
        <a:prstGeom prst="rect">
          <a:avLst/>
        </a:prstGeom>
        <a:noFill/>
        <a:ln>
          <a:noFill/>
        </a:ln>
        <a:effectLst/>
      </dgm:spPr>
      <dgm:t>
        <a:bodyPr/>
        <a:lstStyle/>
        <a:p>
          <a:pPr rtl="0"/>
          <a:r>
            <a:rPr lang="en-US" dirty="0">
              <a:solidFill>
                <a:sysClr val="windowText" lastClr="000000">
                  <a:hueOff val="0"/>
                  <a:satOff val="0"/>
                  <a:lumOff val="0"/>
                  <a:alphaOff val="0"/>
                </a:sysClr>
              </a:solidFill>
              <a:latin typeface="Rockwell"/>
              <a:ea typeface="+mn-ea"/>
              <a:cs typeface="+mn-cs"/>
            </a:rPr>
            <a:t>New inputs are accepted at one end before previously accepted inputs appear as outputs at the other end</a:t>
          </a:r>
        </a:p>
      </dgm:t>
    </dgm:pt>
    <dgm:pt modelId="{7B855F3E-3CA0-A044-A824-DD9BB7A53D53}" type="parTrans" cxnId="{A270A045-9D4B-1746-B284-EE66FFD4E04C}">
      <dgm:prSet/>
      <dgm:spPr/>
      <dgm:t>
        <a:bodyPr/>
        <a:lstStyle/>
        <a:p>
          <a:endParaRPr lang="en-US"/>
        </a:p>
      </dgm:t>
    </dgm:pt>
    <dgm:pt modelId="{5B189DCE-8686-E74B-BB16-628925F5AF40}" type="sibTrans" cxnId="{A270A045-9D4B-1746-B284-EE66FFD4E04C}">
      <dgm:prSet/>
      <dgm:spPr/>
      <dgm:t>
        <a:bodyPr/>
        <a:lstStyle/>
        <a:p>
          <a:endParaRPr lang="en-US"/>
        </a:p>
      </dgm:t>
    </dgm:pt>
    <dgm:pt modelId="{4DF92740-96F8-3247-813B-0AD6A280699A}">
      <dgm:prSet/>
      <dgm:spPr>
        <a:xfrm>
          <a:off x="5354631" y="0"/>
          <a:ext cx="2547986" cy="1958617"/>
        </a:xfrm>
        <a:prstGeom prst="rect">
          <a:avLst/>
        </a:prstGeom>
        <a:noFill/>
        <a:ln>
          <a:noFill/>
        </a:ln>
        <a:effectLst/>
      </dgm:spPr>
      <dgm:t>
        <a:bodyPr/>
        <a:lstStyle/>
        <a:p>
          <a:pPr rtl="0"/>
          <a:r>
            <a:rPr lang="en-US" dirty="0">
              <a:solidFill>
                <a:sysClr val="windowText" lastClr="000000">
                  <a:hueOff val="0"/>
                  <a:satOff val="0"/>
                  <a:lumOff val="0"/>
                  <a:alphaOff val="0"/>
                </a:sysClr>
              </a:solidFill>
              <a:latin typeface="Rockwell"/>
              <a:ea typeface="+mn-ea"/>
              <a:cs typeface="+mn-cs"/>
            </a:rPr>
            <a:t>To apply this concept to instruction execution we must recognize that an instruction has a number of stages</a:t>
          </a:r>
        </a:p>
      </dgm:t>
    </dgm:pt>
    <dgm:pt modelId="{B4A3AEAF-0DA4-104E-8F71-C9A87C34AC8E}" type="parTrans" cxnId="{9A31F0B8-CEF4-784A-A79A-477828F644D4}">
      <dgm:prSet/>
      <dgm:spPr/>
      <dgm:t>
        <a:bodyPr/>
        <a:lstStyle/>
        <a:p>
          <a:endParaRPr lang="en-US"/>
        </a:p>
      </dgm:t>
    </dgm:pt>
    <dgm:pt modelId="{A639F8D0-045A-7E49-85C0-FD6B8A65F828}" type="sibTrans" cxnId="{9A31F0B8-CEF4-784A-A79A-477828F644D4}">
      <dgm:prSet/>
      <dgm:spPr/>
      <dgm:t>
        <a:bodyPr/>
        <a:lstStyle/>
        <a:p>
          <a:endParaRPr lang="en-US"/>
        </a:p>
      </dgm:t>
    </dgm:pt>
    <dgm:pt modelId="{6D1F4806-34FC-614B-91B7-25C9893F14A7}" type="pres">
      <dgm:prSet presAssocID="{BFD61676-2F7A-6E43-8AD0-DD73FCC8C303}" presName="Name0" presStyleCnt="0">
        <dgm:presLayoutVars>
          <dgm:dir/>
          <dgm:resizeHandles val="exact"/>
        </dgm:presLayoutVars>
      </dgm:prSet>
      <dgm:spPr/>
    </dgm:pt>
    <dgm:pt modelId="{E19B2F7D-2FE7-D940-A78C-16267BBAB00A}" type="pres">
      <dgm:prSet presAssocID="{BFD61676-2F7A-6E43-8AD0-DD73FCC8C303}" presName="arrow" presStyleLbl="bgShp" presStyleIdx="0" presStyleCnt="1"/>
      <dgm:spPr>
        <a:xfrm>
          <a:off x="0" y="1468963"/>
          <a:ext cx="8784976" cy="1958617"/>
        </a:xfrm>
        <a:prstGeom prst="notchedRightArrow">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gm:spPr>
    </dgm:pt>
    <dgm:pt modelId="{912244B1-D9C3-0644-A4A0-57422566183F}" type="pres">
      <dgm:prSet presAssocID="{BFD61676-2F7A-6E43-8AD0-DD73FCC8C303}" presName="points" presStyleCnt="0"/>
      <dgm:spPr/>
    </dgm:pt>
    <dgm:pt modelId="{292EE2AD-F7EE-364E-9ECF-595CE8A4CB6A}" type="pres">
      <dgm:prSet presAssocID="{B3686828-8DD5-134B-8439-580CA571A2FC}" presName="compositeA" presStyleCnt="0"/>
      <dgm:spPr/>
    </dgm:pt>
    <dgm:pt modelId="{3D797B7D-59B9-E544-A302-0B69B45F05BD}" type="pres">
      <dgm:prSet presAssocID="{B3686828-8DD5-134B-8439-580CA571A2FC}" presName="textA" presStyleLbl="revTx" presStyleIdx="0" presStyleCnt="3">
        <dgm:presLayoutVars>
          <dgm:bulletEnabled val="1"/>
        </dgm:presLayoutVars>
      </dgm:prSet>
      <dgm:spPr/>
    </dgm:pt>
    <dgm:pt modelId="{807546D9-8E8B-6A4F-AC7F-C4B7428D197A}" type="pres">
      <dgm:prSet presAssocID="{B3686828-8DD5-134B-8439-580CA571A2FC}" presName="circleA" presStyleLbl="node1" presStyleIdx="0" presStyleCnt="3"/>
      <dgm:spPr>
        <a:xfrm>
          <a:off x="1033026" y="2203444"/>
          <a:ext cx="489654" cy="489654"/>
        </a:xfrm>
        <a:prstGeom prst="ellipse">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pt>
    <dgm:pt modelId="{459829BB-99CE-294F-857C-2EC9C6C28936}" type="pres">
      <dgm:prSet presAssocID="{B3686828-8DD5-134B-8439-580CA571A2FC}" presName="spaceA" presStyleCnt="0"/>
      <dgm:spPr/>
    </dgm:pt>
    <dgm:pt modelId="{6771F2D8-7136-3342-8A76-726226ED88B5}" type="pres">
      <dgm:prSet presAssocID="{6D4A2CCF-4277-B04E-B0C5-7E0845B8A0D5}" presName="space" presStyleCnt="0"/>
      <dgm:spPr/>
    </dgm:pt>
    <dgm:pt modelId="{2E235EE9-F24B-C747-9D91-30AC13ECF2E7}" type="pres">
      <dgm:prSet presAssocID="{83CF20B9-8DD2-F842-9793-B559974FE8AA}" presName="compositeB" presStyleCnt="0"/>
      <dgm:spPr/>
    </dgm:pt>
    <dgm:pt modelId="{DD86D1A7-993C-7244-8C6E-441273AA7777}" type="pres">
      <dgm:prSet presAssocID="{83CF20B9-8DD2-F842-9793-B559974FE8AA}" presName="textB" presStyleLbl="revTx" presStyleIdx="1" presStyleCnt="3">
        <dgm:presLayoutVars>
          <dgm:bulletEnabled val="1"/>
        </dgm:presLayoutVars>
      </dgm:prSet>
      <dgm:spPr/>
    </dgm:pt>
    <dgm:pt modelId="{54394626-9124-C54E-AFB1-DB948AB78EEC}" type="pres">
      <dgm:prSet presAssocID="{83CF20B9-8DD2-F842-9793-B559974FE8AA}" presName="circleB" presStyleLbl="node1" presStyleIdx="1" presStyleCnt="3"/>
      <dgm:spPr>
        <a:xfrm>
          <a:off x="3708412" y="2203444"/>
          <a:ext cx="489654" cy="489654"/>
        </a:xfrm>
        <a:prstGeom prst="ellipse">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pt>
    <dgm:pt modelId="{2C21D46C-9DE1-BA4F-957C-EBA6267E2DE1}" type="pres">
      <dgm:prSet presAssocID="{83CF20B9-8DD2-F842-9793-B559974FE8AA}" presName="spaceB" presStyleCnt="0"/>
      <dgm:spPr/>
    </dgm:pt>
    <dgm:pt modelId="{F126C619-B978-7449-B593-4CEEA93CD44F}" type="pres">
      <dgm:prSet presAssocID="{5B189DCE-8686-E74B-BB16-628925F5AF40}" presName="space" presStyleCnt="0"/>
      <dgm:spPr/>
    </dgm:pt>
    <dgm:pt modelId="{68458F19-44FD-D44C-8708-26E657E69876}" type="pres">
      <dgm:prSet presAssocID="{4DF92740-96F8-3247-813B-0AD6A280699A}" presName="compositeA" presStyleCnt="0"/>
      <dgm:spPr/>
    </dgm:pt>
    <dgm:pt modelId="{4D83B5BC-A42D-7444-BB11-D8D1B80CD3A9}" type="pres">
      <dgm:prSet presAssocID="{4DF92740-96F8-3247-813B-0AD6A280699A}" presName="textA" presStyleLbl="revTx" presStyleIdx="2" presStyleCnt="3">
        <dgm:presLayoutVars>
          <dgm:bulletEnabled val="1"/>
        </dgm:presLayoutVars>
      </dgm:prSet>
      <dgm:spPr/>
    </dgm:pt>
    <dgm:pt modelId="{58494C77-8E8C-AB4D-92EC-9E2074C07624}" type="pres">
      <dgm:prSet presAssocID="{4DF92740-96F8-3247-813B-0AD6A280699A}" presName="circleA" presStyleLbl="node1" presStyleIdx="2" presStyleCnt="3"/>
      <dgm:spPr>
        <a:xfrm>
          <a:off x="6383797" y="2203444"/>
          <a:ext cx="489654" cy="489654"/>
        </a:xfrm>
        <a:prstGeom prst="ellipse">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pt>
    <dgm:pt modelId="{3A5543CB-C572-504E-9DD9-8EA1B2FE2285}" type="pres">
      <dgm:prSet presAssocID="{4DF92740-96F8-3247-813B-0AD6A280699A}" presName="spaceA" presStyleCnt="0"/>
      <dgm:spPr/>
    </dgm:pt>
  </dgm:ptLst>
  <dgm:cxnLst>
    <dgm:cxn modelId="{3C0E712C-F3D4-924A-8526-2887DE60EE91}" srcId="{BFD61676-2F7A-6E43-8AD0-DD73FCC8C303}" destId="{B3686828-8DD5-134B-8439-580CA571A2FC}" srcOrd="0" destOrd="0" parTransId="{8D069C29-107E-3A4C-A3C0-E62754B6580F}" sibTransId="{6D4A2CCF-4277-B04E-B0C5-7E0845B8A0D5}"/>
    <dgm:cxn modelId="{A270A045-9D4B-1746-B284-EE66FFD4E04C}" srcId="{BFD61676-2F7A-6E43-8AD0-DD73FCC8C303}" destId="{83CF20B9-8DD2-F842-9793-B559974FE8AA}" srcOrd="1" destOrd="0" parTransId="{7B855F3E-3CA0-A044-A824-DD9BB7A53D53}" sibTransId="{5B189DCE-8686-E74B-BB16-628925F5AF40}"/>
    <dgm:cxn modelId="{5741C07B-5445-974A-9653-50947ABF0A56}" type="presOf" srcId="{4DF92740-96F8-3247-813B-0AD6A280699A}" destId="{4D83B5BC-A42D-7444-BB11-D8D1B80CD3A9}" srcOrd="0" destOrd="0" presId="urn:microsoft.com/office/officeart/2005/8/layout/hProcess11"/>
    <dgm:cxn modelId="{6FAB3283-0E21-244F-BF9C-D42BCB7F3DC0}" type="presOf" srcId="{B3686828-8DD5-134B-8439-580CA571A2FC}" destId="{3D797B7D-59B9-E544-A302-0B69B45F05BD}" srcOrd="0" destOrd="0" presId="urn:microsoft.com/office/officeart/2005/8/layout/hProcess11"/>
    <dgm:cxn modelId="{206E8B93-287C-4140-8E86-F1A7B9AE1A85}" type="presOf" srcId="{83CF20B9-8DD2-F842-9793-B559974FE8AA}" destId="{DD86D1A7-993C-7244-8C6E-441273AA7777}" srcOrd="0" destOrd="0" presId="urn:microsoft.com/office/officeart/2005/8/layout/hProcess11"/>
    <dgm:cxn modelId="{9A31F0B8-CEF4-784A-A79A-477828F644D4}" srcId="{BFD61676-2F7A-6E43-8AD0-DD73FCC8C303}" destId="{4DF92740-96F8-3247-813B-0AD6A280699A}" srcOrd="2" destOrd="0" parTransId="{B4A3AEAF-0DA4-104E-8F71-C9A87C34AC8E}" sibTransId="{A639F8D0-045A-7E49-85C0-FD6B8A65F828}"/>
    <dgm:cxn modelId="{41B254BF-644D-904F-B6D6-A31D184E6B66}" type="presOf" srcId="{BFD61676-2F7A-6E43-8AD0-DD73FCC8C303}" destId="{6D1F4806-34FC-614B-91B7-25C9893F14A7}" srcOrd="0" destOrd="0" presId="urn:microsoft.com/office/officeart/2005/8/layout/hProcess11"/>
    <dgm:cxn modelId="{BE508FF9-DC3A-2441-8A98-403242D864DB}" type="presParOf" srcId="{6D1F4806-34FC-614B-91B7-25C9893F14A7}" destId="{E19B2F7D-2FE7-D940-A78C-16267BBAB00A}" srcOrd="0" destOrd="0" presId="urn:microsoft.com/office/officeart/2005/8/layout/hProcess11"/>
    <dgm:cxn modelId="{080647E7-DA41-7F4F-9964-91BBB521D745}" type="presParOf" srcId="{6D1F4806-34FC-614B-91B7-25C9893F14A7}" destId="{912244B1-D9C3-0644-A4A0-57422566183F}" srcOrd="1" destOrd="0" presId="urn:microsoft.com/office/officeart/2005/8/layout/hProcess11"/>
    <dgm:cxn modelId="{0B8244FB-0F93-D04F-B7BA-1EA0524D233B}" type="presParOf" srcId="{912244B1-D9C3-0644-A4A0-57422566183F}" destId="{292EE2AD-F7EE-364E-9ECF-595CE8A4CB6A}" srcOrd="0" destOrd="0" presId="urn:microsoft.com/office/officeart/2005/8/layout/hProcess11"/>
    <dgm:cxn modelId="{A5CB256F-604E-9648-A3C0-66C93912BFCD}" type="presParOf" srcId="{292EE2AD-F7EE-364E-9ECF-595CE8A4CB6A}" destId="{3D797B7D-59B9-E544-A302-0B69B45F05BD}" srcOrd="0" destOrd="0" presId="urn:microsoft.com/office/officeart/2005/8/layout/hProcess11"/>
    <dgm:cxn modelId="{FCFDFAC1-04D9-F04F-B9FD-BA9FAB11C268}" type="presParOf" srcId="{292EE2AD-F7EE-364E-9ECF-595CE8A4CB6A}" destId="{807546D9-8E8B-6A4F-AC7F-C4B7428D197A}" srcOrd="1" destOrd="0" presId="urn:microsoft.com/office/officeart/2005/8/layout/hProcess11"/>
    <dgm:cxn modelId="{38957B96-B057-F44B-83EF-1234B83B1FB0}" type="presParOf" srcId="{292EE2AD-F7EE-364E-9ECF-595CE8A4CB6A}" destId="{459829BB-99CE-294F-857C-2EC9C6C28936}" srcOrd="2" destOrd="0" presId="urn:microsoft.com/office/officeart/2005/8/layout/hProcess11"/>
    <dgm:cxn modelId="{34123A59-A837-B34A-B530-6AE0CA0B4894}" type="presParOf" srcId="{912244B1-D9C3-0644-A4A0-57422566183F}" destId="{6771F2D8-7136-3342-8A76-726226ED88B5}" srcOrd="1" destOrd="0" presId="urn:microsoft.com/office/officeart/2005/8/layout/hProcess11"/>
    <dgm:cxn modelId="{A37582EF-D68D-244C-BD80-CBD0C6A294DE}" type="presParOf" srcId="{912244B1-D9C3-0644-A4A0-57422566183F}" destId="{2E235EE9-F24B-C747-9D91-30AC13ECF2E7}" srcOrd="2" destOrd="0" presId="urn:microsoft.com/office/officeart/2005/8/layout/hProcess11"/>
    <dgm:cxn modelId="{B50844D6-770F-D847-87B8-6EA1E8700BBC}" type="presParOf" srcId="{2E235EE9-F24B-C747-9D91-30AC13ECF2E7}" destId="{DD86D1A7-993C-7244-8C6E-441273AA7777}" srcOrd="0" destOrd="0" presId="urn:microsoft.com/office/officeart/2005/8/layout/hProcess11"/>
    <dgm:cxn modelId="{DD0EE937-1C18-B749-8D13-AEACC037B6E3}" type="presParOf" srcId="{2E235EE9-F24B-C747-9D91-30AC13ECF2E7}" destId="{54394626-9124-C54E-AFB1-DB948AB78EEC}" srcOrd="1" destOrd="0" presId="urn:microsoft.com/office/officeart/2005/8/layout/hProcess11"/>
    <dgm:cxn modelId="{81BAE763-801C-2B4D-8B18-DBCA56934AF7}" type="presParOf" srcId="{2E235EE9-F24B-C747-9D91-30AC13ECF2E7}" destId="{2C21D46C-9DE1-BA4F-957C-EBA6267E2DE1}" srcOrd="2" destOrd="0" presId="urn:microsoft.com/office/officeart/2005/8/layout/hProcess11"/>
    <dgm:cxn modelId="{5399AB04-6A8D-5A48-8B70-6523B5981BD1}" type="presParOf" srcId="{912244B1-D9C3-0644-A4A0-57422566183F}" destId="{F126C619-B978-7449-B593-4CEEA93CD44F}" srcOrd="3" destOrd="0" presId="urn:microsoft.com/office/officeart/2005/8/layout/hProcess11"/>
    <dgm:cxn modelId="{3637E845-4C20-BA4C-B16F-3EF1818050A8}" type="presParOf" srcId="{912244B1-D9C3-0644-A4A0-57422566183F}" destId="{68458F19-44FD-D44C-8708-26E657E69876}" srcOrd="4" destOrd="0" presId="urn:microsoft.com/office/officeart/2005/8/layout/hProcess11"/>
    <dgm:cxn modelId="{B51F6E9B-069E-D349-99A2-0C5C5815D52F}" type="presParOf" srcId="{68458F19-44FD-D44C-8708-26E657E69876}" destId="{4D83B5BC-A42D-7444-BB11-D8D1B80CD3A9}" srcOrd="0" destOrd="0" presId="urn:microsoft.com/office/officeart/2005/8/layout/hProcess11"/>
    <dgm:cxn modelId="{4D667DBE-D9CB-1A43-9ABD-08DDA7ABDD12}" type="presParOf" srcId="{68458F19-44FD-D44C-8708-26E657E69876}" destId="{58494C77-8E8C-AB4D-92EC-9E2074C07624}" srcOrd="1" destOrd="0" presId="urn:microsoft.com/office/officeart/2005/8/layout/hProcess11"/>
    <dgm:cxn modelId="{D4ED74D6-82B1-484E-92F0-137F3A857FD0}" type="presParOf" srcId="{68458F19-44FD-D44C-8708-26E657E69876}" destId="{3A5543CB-C572-504E-9DD9-8EA1B2FE2285}"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F5AAC0A-6843-6C4D-9F1E-557CCB6D79CE}" type="doc">
      <dgm:prSet loTypeId="urn:microsoft.com/office/officeart/2005/8/layout/hProcess11" loCatId="process" qsTypeId="urn:microsoft.com/office/officeart/2005/8/quickstyle/simple4" qsCatId="simple" csTypeId="urn:microsoft.com/office/officeart/2005/8/colors/accent1_2" csCatId="accent1"/>
      <dgm:spPr/>
      <dgm:t>
        <a:bodyPr/>
        <a:lstStyle/>
        <a:p>
          <a:endParaRPr lang="en-US"/>
        </a:p>
      </dgm:t>
    </dgm:pt>
    <dgm:pt modelId="{AA2E0C0A-AD41-C941-B906-FA1E246739DF}">
      <dgm:prSet/>
      <dgm:spPr/>
      <dgm:t>
        <a:bodyPr/>
        <a:lstStyle/>
        <a:p>
          <a:pPr rtl="0"/>
          <a:r>
            <a:rPr lang="en-US" dirty="0"/>
            <a:t>Occur when the pipeline, or some portion of the pipeline, must stall because conditions do not permit continued execution</a:t>
          </a:r>
        </a:p>
      </dgm:t>
    </dgm:pt>
    <dgm:pt modelId="{D82015F7-94D6-0D49-8422-19C3F5C27B17}" type="parTrans" cxnId="{9333F340-43C9-2040-A76F-E60C6D357432}">
      <dgm:prSet/>
      <dgm:spPr/>
      <dgm:t>
        <a:bodyPr/>
        <a:lstStyle/>
        <a:p>
          <a:endParaRPr lang="en-US"/>
        </a:p>
      </dgm:t>
    </dgm:pt>
    <dgm:pt modelId="{7C642CD6-87FB-274F-A2E3-F7715ACB8EB1}" type="sibTrans" cxnId="{9333F340-43C9-2040-A76F-E60C6D357432}">
      <dgm:prSet/>
      <dgm:spPr/>
      <dgm:t>
        <a:bodyPr/>
        <a:lstStyle/>
        <a:p>
          <a:endParaRPr lang="en-US"/>
        </a:p>
      </dgm:t>
    </dgm:pt>
    <dgm:pt modelId="{6A26042E-C4EF-F847-88DD-22568E0807F6}">
      <dgm:prSet/>
      <dgm:spPr/>
      <dgm:t>
        <a:bodyPr/>
        <a:lstStyle/>
        <a:p>
          <a:pPr rtl="0"/>
          <a:r>
            <a:rPr lang="en-GB" dirty="0"/>
            <a:t>Also referred to as a </a:t>
          </a:r>
          <a:r>
            <a:rPr lang="en-GB" i="1" dirty="0"/>
            <a:t>pipeline bubble</a:t>
          </a:r>
        </a:p>
      </dgm:t>
    </dgm:pt>
    <dgm:pt modelId="{AB370706-9EE8-1349-8C27-BAA2C6ED0065}" type="parTrans" cxnId="{24175857-556C-8945-9EDD-74C904565C0D}">
      <dgm:prSet/>
      <dgm:spPr/>
      <dgm:t>
        <a:bodyPr/>
        <a:lstStyle/>
        <a:p>
          <a:endParaRPr lang="en-US"/>
        </a:p>
      </dgm:t>
    </dgm:pt>
    <dgm:pt modelId="{6B767552-F402-5148-A780-CB70B546C7F5}" type="sibTrans" cxnId="{24175857-556C-8945-9EDD-74C904565C0D}">
      <dgm:prSet/>
      <dgm:spPr/>
      <dgm:t>
        <a:bodyPr/>
        <a:lstStyle/>
        <a:p>
          <a:endParaRPr lang="en-US"/>
        </a:p>
      </dgm:t>
    </dgm:pt>
    <dgm:pt modelId="{7288C513-9138-634A-A59D-8621AF5DB1B2}">
      <dgm:prSet/>
      <dgm:spPr/>
      <dgm:t>
        <a:bodyPr/>
        <a:lstStyle/>
        <a:p>
          <a:pPr rtl="0"/>
          <a:r>
            <a:rPr lang="en-US" dirty="0"/>
            <a:t>There are three types of hazards:</a:t>
          </a:r>
        </a:p>
      </dgm:t>
    </dgm:pt>
    <dgm:pt modelId="{A3E0762F-4292-4346-AD57-2C948D6EB257}" type="parTrans" cxnId="{8ECCAA0B-4A14-5743-BE41-B900A54FAB7C}">
      <dgm:prSet/>
      <dgm:spPr/>
      <dgm:t>
        <a:bodyPr/>
        <a:lstStyle/>
        <a:p>
          <a:endParaRPr lang="en-US"/>
        </a:p>
      </dgm:t>
    </dgm:pt>
    <dgm:pt modelId="{09EF258C-D413-FF4C-8CE1-DF89C2ACFAAE}" type="sibTrans" cxnId="{8ECCAA0B-4A14-5743-BE41-B900A54FAB7C}">
      <dgm:prSet/>
      <dgm:spPr/>
      <dgm:t>
        <a:bodyPr/>
        <a:lstStyle/>
        <a:p>
          <a:endParaRPr lang="en-US"/>
        </a:p>
      </dgm:t>
    </dgm:pt>
    <dgm:pt modelId="{27090480-E7F0-3548-A1FA-23A174051EBA}">
      <dgm:prSet/>
      <dgm:spPr/>
      <dgm:t>
        <a:bodyPr/>
        <a:lstStyle/>
        <a:p>
          <a:pPr rtl="0"/>
          <a:r>
            <a:rPr lang="en-US" dirty="0"/>
            <a:t>Resource</a:t>
          </a:r>
        </a:p>
      </dgm:t>
    </dgm:pt>
    <dgm:pt modelId="{8A18D0EF-0E04-6644-850C-002090E53B33}" type="parTrans" cxnId="{9E94075E-334E-854A-B40B-4402931D7DAC}">
      <dgm:prSet/>
      <dgm:spPr/>
      <dgm:t>
        <a:bodyPr/>
        <a:lstStyle/>
        <a:p>
          <a:endParaRPr lang="en-US"/>
        </a:p>
      </dgm:t>
    </dgm:pt>
    <dgm:pt modelId="{DBA2C1EF-8EB7-874E-9F11-54F476C4FDDD}" type="sibTrans" cxnId="{9E94075E-334E-854A-B40B-4402931D7DAC}">
      <dgm:prSet/>
      <dgm:spPr/>
      <dgm:t>
        <a:bodyPr/>
        <a:lstStyle/>
        <a:p>
          <a:endParaRPr lang="en-US"/>
        </a:p>
      </dgm:t>
    </dgm:pt>
    <dgm:pt modelId="{2E2A47DB-A594-3F48-B13B-DD5C834FD3F3}">
      <dgm:prSet/>
      <dgm:spPr/>
      <dgm:t>
        <a:bodyPr/>
        <a:lstStyle/>
        <a:p>
          <a:pPr rtl="0"/>
          <a:r>
            <a:rPr lang="en-US" dirty="0"/>
            <a:t>Data</a:t>
          </a:r>
        </a:p>
      </dgm:t>
    </dgm:pt>
    <dgm:pt modelId="{51982D76-486E-3E4D-8947-9E8F80A75F95}" type="parTrans" cxnId="{868B883F-CEC1-E54A-B0C9-2363C31CB29C}">
      <dgm:prSet/>
      <dgm:spPr/>
      <dgm:t>
        <a:bodyPr/>
        <a:lstStyle/>
        <a:p>
          <a:endParaRPr lang="en-US"/>
        </a:p>
      </dgm:t>
    </dgm:pt>
    <dgm:pt modelId="{3B385EEF-F5ED-1D4E-9AA5-DC7D0AEB5651}" type="sibTrans" cxnId="{868B883F-CEC1-E54A-B0C9-2363C31CB29C}">
      <dgm:prSet/>
      <dgm:spPr/>
      <dgm:t>
        <a:bodyPr/>
        <a:lstStyle/>
        <a:p>
          <a:endParaRPr lang="en-US"/>
        </a:p>
      </dgm:t>
    </dgm:pt>
    <dgm:pt modelId="{93F518CC-11E2-A04A-A832-5C248A47BBB2}">
      <dgm:prSet/>
      <dgm:spPr/>
      <dgm:t>
        <a:bodyPr/>
        <a:lstStyle/>
        <a:p>
          <a:pPr rtl="0"/>
          <a:r>
            <a:rPr lang="en-US" dirty="0"/>
            <a:t>Control</a:t>
          </a:r>
        </a:p>
      </dgm:t>
    </dgm:pt>
    <dgm:pt modelId="{CBC133BE-75CB-5C41-ABE4-B8315FDA531C}" type="parTrans" cxnId="{D5AD9F93-3B31-C04A-8364-26E201948065}">
      <dgm:prSet/>
      <dgm:spPr/>
      <dgm:t>
        <a:bodyPr/>
        <a:lstStyle/>
        <a:p>
          <a:endParaRPr lang="en-US"/>
        </a:p>
      </dgm:t>
    </dgm:pt>
    <dgm:pt modelId="{CA8AE1B9-991E-1947-AB2D-99D321F733F4}" type="sibTrans" cxnId="{D5AD9F93-3B31-C04A-8364-26E201948065}">
      <dgm:prSet/>
      <dgm:spPr/>
      <dgm:t>
        <a:bodyPr/>
        <a:lstStyle/>
        <a:p>
          <a:endParaRPr lang="en-US"/>
        </a:p>
      </dgm:t>
    </dgm:pt>
    <dgm:pt modelId="{8F45EA0E-0BD7-C54E-BA84-A9056AE0C297}" type="pres">
      <dgm:prSet presAssocID="{1F5AAC0A-6843-6C4D-9F1E-557CCB6D79CE}" presName="Name0" presStyleCnt="0">
        <dgm:presLayoutVars>
          <dgm:dir/>
          <dgm:resizeHandles val="exact"/>
        </dgm:presLayoutVars>
      </dgm:prSet>
      <dgm:spPr/>
    </dgm:pt>
    <dgm:pt modelId="{F13418A6-B3D1-1B4D-B372-84BBCCFB20B3}" type="pres">
      <dgm:prSet presAssocID="{1F5AAC0A-6843-6C4D-9F1E-557CCB6D79CE}" presName="arrow" presStyleLbl="bgShp" presStyleIdx="0" presStyleCnt="1"/>
      <dgm:spPr>
        <a:ln w="53975">
          <a:solidFill>
            <a:schemeClr val="accent4"/>
          </a:solidFill>
        </a:ln>
      </dgm:spPr>
    </dgm:pt>
    <dgm:pt modelId="{3635A546-675E-1E43-A8EB-CAD7CA78119A}" type="pres">
      <dgm:prSet presAssocID="{1F5AAC0A-6843-6C4D-9F1E-557CCB6D79CE}" presName="points" presStyleCnt="0"/>
      <dgm:spPr/>
    </dgm:pt>
    <dgm:pt modelId="{5D4745E3-D55B-5F4A-B4D9-89B077BF9480}" type="pres">
      <dgm:prSet presAssocID="{AA2E0C0A-AD41-C941-B906-FA1E246739DF}" presName="compositeA" presStyleCnt="0"/>
      <dgm:spPr/>
    </dgm:pt>
    <dgm:pt modelId="{95FBECC7-0BDA-F64E-BF06-D65A00F03C43}" type="pres">
      <dgm:prSet presAssocID="{AA2E0C0A-AD41-C941-B906-FA1E246739DF}" presName="textA" presStyleLbl="revTx" presStyleIdx="0" presStyleCnt="3">
        <dgm:presLayoutVars>
          <dgm:bulletEnabled val="1"/>
        </dgm:presLayoutVars>
      </dgm:prSet>
      <dgm:spPr/>
    </dgm:pt>
    <dgm:pt modelId="{FEA28A59-43CC-CA48-91CC-049A515D183B}" type="pres">
      <dgm:prSet presAssocID="{AA2E0C0A-AD41-C941-B906-FA1E246739DF}" presName="circleA" presStyleLbl="node1" presStyleIdx="0" presStyleCnt="3"/>
      <dgm:spPr>
        <a:solidFill>
          <a:schemeClr val="accent3"/>
        </a:solidFill>
        <a:ln>
          <a:solidFill>
            <a:schemeClr val="accent3"/>
          </a:solidFill>
        </a:ln>
      </dgm:spPr>
    </dgm:pt>
    <dgm:pt modelId="{1CDF83C4-A988-5C41-B807-9CB322A63D87}" type="pres">
      <dgm:prSet presAssocID="{AA2E0C0A-AD41-C941-B906-FA1E246739DF}" presName="spaceA" presStyleCnt="0"/>
      <dgm:spPr/>
    </dgm:pt>
    <dgm:pt modelId="{2B128320-E9AC-8B4E-A732-6B9B03C77EDA}" type="pres">
      <dgm:prSet presAssocID="{7C642CD6-87FB-274F-A2E3-F7715ACB8EB1}" presName="space" presStyleCnt="0"/>
      <dgm:spPr/>
    </dgm:pt>
    <dgm:pt modelId="{AFA4D588-B7D5-1648-BAB2-390CFF460A45}" type="pres">
      <dgm:prSet presAssocID="{6A26042E-C4EF-F847-88DD-22568E0807F6}" presName="compositeB" presStyleCnt="0"/>
      <dgm:spPr/>
    </dgm:pt>
    <dgm:pt modelId="{5B43A04A-5B4D-FC49-9C8C-79D55B45C474}" type="pres">
      <dgm:prSet presAssocID="{6A26042E-C4EF-F847-88DD-22568E0807F6}" presName="textB" presStyleLbl="revTx" presStyleIdx="1" presStyleCnt="3">
        <dgm:presLayoutVars>
          <dgm:bulletEnabled val="1"/>
        </dgm:presLayoutVars>
      </dgm:prSet>
      <dgm:spPr/>
    </dgm:pt>
    <dgm:pt modelId="{8453DE48-C8CC-4047-8F93-D3EC13EB92CF}" type="pres">
      <dgm:prSet presAssocID="{6A26042E-C4EF-F847-88DD-22568E0807F6}" presName="circleB" presStyleLbl="node1" presStyleIdx="1" presStyleCnt="3"/>
      <dgm:spPr>
        <a:solidFill>
          <a:schemeClr val="accent4"/>
        </a:solidFill>
        <a:ln>
          <a:solidFill>
            <a:schemeClr val="accent4"/>
          </a:solidFill>
        </a:ln>
      </dgm:spPr>
    </dgm:pt>
    <dgm:pt modelId="{2345788F-8C0E-4647-9149-621403A58DE7}" type="pres">
      <dgm:prSet presAssocID="{6A26042E-C4EF-F847-88DD-22568E0807F6}" presName="spaceB" presStyleCnt="0"/>
      <dgm:spPr/>
    </dgm:pt>
    <dgm:pt modelId="{81E8564B-D9DD-ED45-8840-B0D3CB51637E}" type="pres">
      <dgm:prSet presAssocID="{6B767552-F402-5148-A780-CB70B546C7F5}" presName="space" presStyleCnt="0"/>
      <dgm:spPr/>
    </dgm:pt>
    <dgm:pt modelId="{4A66AA03-AA9D-6C4D-B333-6601912ED71D}" type="pres">
      <dgm:prSet presAssocID="{7288C513-9138-634A-A59D-8621AF5DB1B2}" presName="compositeA" presStyleCnt="0"/>
      <dgm:spPr/>
    </dgm:pt>
    <dgm:pt modelId="{0E2A96DD-9A2D-304B-A545-DFFD197A19FD}" type="pres">
      <dgm:prSet presAssocID="{7288C513-9138-634A-A59D-8621AF5DB1B2}" presName="textA" presStyleLbl="revTx" presStyleIdx="2" presStyleCnt="3">
        <dgm:presLayoutVars>
          <dgm:bulletEnabled val="1"/>
        </dgm:presLayoutVars>
      </dgm:prSet>
      <dgm:spPr/>
    </dgm:pt>
    <dgm:pt modelId="{183E54CD-4462-0148-8FAD-D290624DB81E}" type="pres">
      <dgm:prSet presAssocID="{7288C513-9138-634A-A59D-8621AF5DB1B2}" presName="circleA" presStyleLbl="node1" presStyleIdx="2" presStyleCnt="3"/>
      <dgm:spPr>
        <a:solidFill>
          <a:schemeClr val="accent3"/>
        </a:solidFill>
        <a:ln>
          <a:solidFill>
            <a:schemeClr val="accent3"/>
          </a:solidFill>
        </a:ln>
      </dgm:spPr>
    </dgm:pt>
    <dgm:pt modelId="{8BF3DFE8-F618-CB4A-948A-28784C58C9C6}" type="pres">
      <dgm:prSet presAssocID="{7288C513-9138-634A-A59D-8621AF5DB1B2}" presName="spaceA" presStyleCnt="0"/>
      <dgm:spPr/>
    </dgm:pt>
  </dgm:ptLst>
  <dgm:cxnLst>
    <dgm:cxn modelId="{E3C19C07-3038-0243-9B75-9220B3F3F171}" type="presOf" srcId="{2E2A47DB-A594-3F48-B13B-DD5C834FD3F3}" destId="{0E2A96DD-9A2D-304B-A545-DFFD197A19FD}" srcOrd="0" destOrd="2" presId="urn:microsoft.com/office/officeart/2005/8/layout/hProcess11"/>
    <dgm:cxn modelId="{8ECCAA0B-4A14-5743-BE41-B900A54FAB7C}" srcId="{1F5AAC0A-6843-6C4D-9F1E-557CCB6D79CE}" destId="{7288C513-9138-634A-A59D-8621AF5DB1B2}" srcOrd="2" destOrd="0" parTransId="{A3E0762F-4292-4346-AD57-2C948D6EB257}" sibTransId="{09EF258C-D413-FF4C-8CE1-DF89C2ACFAAE}"/>
    <dgm:cxn modelId="{868B883F-CEC1-E54A-B0C9-2363C31CB29C}" srcId="{7288C513-9138-634A-A59D-8621AF5DB1B2}" destId="{2E2A47DB-A594-3F48-B13B-DD5C834FD3F3}" srcOrd="1" destOrd="0" parTransId="{51982D76-486E-3E4D-8947-9E8F80A75F95}" sibTransId="{3B385EEF-F5ED-1D4E-9AA5-DC7D0AEB5651}"/>
    <dgm:cxn modelId="{9333F340-43C9-2040-A76F-E60C6D357432}" srcId="{1F5AAC0A-6843-6C4D-9F1E-557CCB6D79CE}" destId="{AA2E0C0A-AD41-C941-B906-FA1E246739DF}" srcOrd="0" destOrd="0" parTransId="{D82015F7-94D6-0D49-8422-19C3F5C27B17}" sibTransId="{7C642CD6-87FB-274F-A2E3-F7715ACB8EB1}"/>
    <dgm:cxn modelId="{9E94075E-334E-854A-B40B-4402931D7DAC}" srcId="{7288C513-9138-634A-A59D-8621AF5DB1B2}" destId="{27090480-E7F0-3548-A1FA-23A174051EBA}" srcOrd="0" destOrd="0" parTransId="{8A18D0EF-0E04-6644-850C-002090E53B33}" sibTransId="{DBA2C1EF-8EB7-874E-9F11-54F476C4FDDD}"/>
    <dgm:cxn modelId="{6C119255-4DC0-3D4B-8677-350C3F273889}" type="presOf" srcId="{6A26042E-C4EF-F847-88DD-22568E0807F6}" destId="{5B43A04A-5B4D-FC49-9C8C-79D55B45C474}" srcOrd="0" destOrd="0" presId="urn:microsoft.com/office/officeart/2005/8/layout/hProcess11"/>
    <dgm:cxn modelId="{24175857-556C-8945-9EDD-74C904565C0D}" srcId="{1F5AAC0A-6843-6C4D-9F1E-557CCB6D79CE}" destId="{6A26042E-C4EF-F847-88DD-22568E0807F6}" srcOrd="1" destOrd="0" parTransId="{AB370706-9EE8-1349-8C27-BAA2C6ED0065}" sibTransId="{6B767552-F402-5148-A780-CB70B546C7F5}"/>
    <dgm:cxn modelId="{3F789687-66FF-8943-8792-A9C996C5AB66}" type="presOf" srcId="{AA2E0C0A-AD41-C941-B906-FA1E246739DF}" destId="{95FBECC7-0BDA-F64E-BF06-D65A00F03C43}" srcOrd="0" destOrd="0" presId="urn:microsoft.com/office/officeart/2005/8/layout/hProcess11"/>
    <dgm:cxn modelId="{3D34468C-D785-A645-9927-C6F1A889FD20}" type="presOf" srcId="{27090480-E7F0-3548-A1FA-23A174051EBA}" destId="{0E2A96DD-9A2D-304B-A545-DFFD197A19FD}" srcOrd="0" destOrd="1" presId="urn:microsoft.com/office/officeart/2005/8/layout/hProcess11"/>
    <dgm:cxn modelId="{D5AD9F93-3B31-C04A-8364-26E201948065}" srcId="{7288C513-9138-634A-A59D-8621AF5DB1B2}" destId="{93F518CC-11E2-A04A-A832-5C248A47BBB2}" srcOrd="2" destOrd="0" parTransId="{CBC133BE-75CB-5C41-ABE4-B8315FDA531C}" sibTransId="{CA8AE1B9-991E-1947-AB2D-99D321F733F4}"/>
    <dgm:cxn modelId="{9AC9B7B3-61AB-2D4D-A887-56A9C8B7A8B9}" type="presOf" srcId="{1F5AAC0A-6843-6C4D-9F1E-557CCB6D79CE}" destId="{8F45EA0E-0BD7-C54E-BA84-A9056AE0C297}" srcOrd="0" destOrd="0" presId="urn:microsoft.com/office/officeart/2005/8/layout/hProcess11"/>
    <dgm:cxn modelId="{AA6AB4BE-0CB3-9743-BA8C-9D7F941E0E4F}" type="presOf" srcId="{7288C513-9138-634A-A59D-8621AF5DB1B2}" destId="{0E2A96DD-9A2D-304B-A545-DFFD197A19FD}" srcOrd="0" destOrd="0" presId="urn:microsoft.com/office/officeart/2005/8/layout/hProcess11"/>
    <dgm:cxn modelId="{9A9992E6-E716-C34F-81B2-E3B454651377}" type="presOf" srcId="{93F518CC-11E2-A04A-A832-5C248A47BBB2}" destId="{0E2A96DD-9A2D-304B-A545-DFFD197A19FD}" srcOrd="0" destOrd="3" presId="urn:microsoft.com/office/officeart/2005/8/layout/hProcess11"/>
    <dgm:cxn modelId="{F75D97E8-1636-3144-B2DA-8445159B7999}" type="presParOf" srcId="{8F45EA0E-0BD7-C54E-BA84-A9056AE0C297}" destId="{F13418A6-B3D1-1B4D-B372-84BBCCFB20B3}" srcOrd="0" destOrd="0" presId="urn:microsoft.com/office/officeart/2005/8/layout/hProcess11"/>
    <dgm:cxn modelId="{DF23325F-00A0-FB4F-BCD3-62209BE9FE89}" type="presParOf" srcId="{8F45EA0E-0BD7-C54E-BA84-A9056AE0C297}" destId="{3635A546-675E-1E43-A8EB-CAD7CA78119A}" srcOrd="1" destOrd="0" presId="urn:microsoft.com/office/officeart/2005/8/layout/hProcess11"/>
    <dgm:cxn modelId="{2C98B0AD-97DF-0C4B-8EB5-8D437FCDE8C7}" type="presParOf" srcId="{3635A546-675E-1E43-A8EB-CAD7CA78119A}" destId="{5D4745E3-D55B-5F4A-B4D9-89B077BF9480}" srcOrd="0" destOrd="0" presId="urn:microsoft.com/office/officeart/2005/8/layout/hProcess11"/>
    <dgm:cxn modelId="{E297FC30-E938-8348-B857-476B83ECD507}" type="presParOf" srcId="{5D4745E3-D55B-5F4A-B4D9-89B077BF9480}" destId="{95FBECC7-0BDA-F64E-BF06-D65A00F03C43}" srcOrd="0" destOrd="0" presId="urn:microsoft.com/office/officeart/2005/8/layout/hProcess11"/>
    <dgm:cxn modelId="{CB084129-9DE0-AB4B-9F41-EA5095F48E5D}" type="presParOf" srcId="{5D4745E3-D55B-5F4A-B4D9-89B077BF9480}" destId="{FEA28A59-43CC-CA48-91CC-049A515D183B}" srcOrd="1" destOrd="0" presId="urn:microsoft.com/office/officeart/2005/8/layout/hProcess11"/>
    <dgm:cxn modelId="{44AAFDBB-707E-E940-99D6-B85401EE464D}" type="presParOf" srcId="{5D4745E3-D55B-5F4A-B4D9-89B077BF9480}" destId="{1CDF83C4-A988-5C41-B807-9CB322A63D87}" srcOrd="2" destOrd="0" presId="urn:microsoft.com/office/officeart/2005/8/layout/hProcess11"/>
    <dgm:cxn modelId="{04398DE2-CA7A-A14A-816B-19013163A9C5}" type="presParOf" srcId="{3635A546-675E-1E43-A8EB-CAD7CA78119A}" destId="{2B128320-E9AC-8B4E-A732-6B9B03C77EDA}" srcOrd="1" destOrd="0" presId="urn:microsoft.com/office/officeart/2005/8/layout/hProcess11"/>
    <dgm:cxn modelId="{E0870F9C-BE12-C74A-BA1C-E23857793AB1}" type="presParOf" srcId="{3635A546-675E-1E43-A8EB-CAD7CA78119A}" destId="{AFA4D588-B7D5-1648-BAB2-390CFF460A45}" srcOrd="2" destOrd="0" presId="urn:microsoft.com/office/officeart/2005/8/layout/hProcess11"/>
    <dgm:cxn modelId="{4F0C3A7A-5A72-0E47-91F4-F4BD4FB60D1B}" type="presParOf" srcId="{AFA4D588-B7D5-1648-BAB2-390CFF460A45}" destId="{5B43A04A-5B4D-FC49-9C8C-79D55B45C474}" srcOrd="0" destOrd="0" presId="urn:microsoft.com/office/officeart/2005/8/layout/hProcess11"/>
    <dgm:cxn modelId="{7743FB02-5553-8443-81A3-03F73D8F390F}" type="presParOf" srcId="{AFA4D588-B7D5-1648-BAB2-390CFF460A45}" destId="{8453DE48-C8CC-4047-8F93-D3EC13EB92CF}" srcOrd="1" destOrd="0" presId="urn:microsoft.com/office/officeart/2005/8/layout/hProcess11"/>
    <dgm:cxn modelId="{D19D7B5E-F21F-7047-AACA-2AB529A09A23}" type="presParOf" srcId="{AFA4D588-B7D5-1648-BAB2-390CFF460A45}" destId="{2345788F-8C0E-4647-9149-621403A58DE7}" srcOrd="2" destOrd="0" presId="urn:microsoft.com/office/officeart/2005/8/layout/hProcess11"/>
    <dgm:cxn modelId="{013B15F4-0618-1A40-B21B-B0B3864E3522}" type="presParOf" srcId="{3635A546-675E-1E43-A8EB-CAD7CA78119A}" destId="{81E8564B-D9DD-ED45-8840-B0D3CB51637E}" srcOrd="3" destOrd="0" presId="urn:microsoft.com/office/officeart/2005/8/layout/hProcess11"/>
    <dgm:cxn modelId="{4A8DE226-F0B7-D744-837E-308C952DF198}" type="presParOf" srcId="{3635A546-675E-1E43-A8EB-CAD7CA78119A}" destId="{4A66AA03-AA9D-6C4D-B333-6601912ED71D}" srcOrd="4" destOrd="0" presId="urn:microsoft.com/office/officeart/2005/8/layout/hProcess11"/>
    <dgm:cxn modelId="{26C6F99E-4E06-5940-81B4-7DB4D475EC5E}" type="presParOf" srcId="{4A66AA03-AA9D-6C4D-B333-6601912ED71D}" destId="{0E2A96DD-9A2D-304B-A545-DFFD197A19FD}" srcOrd="0" destOrd="0" presId="urn:microsoft.com/office/officeart/2005/8/layout/hProcess11"/>
    <dgm:cxn modelId="{FF225FB8-300A-5E43-BCDF-4A664AF39C03}" type="presParOf" srcId="{4A66AA03-AA9D-6C4D-B333-6601912ED71D}" destId="{183E54CD-4462-0148-8FAD-D290624DB81E}" srcOrd="1" destOrd="0" presId="urn:microsoft.com/office/officeart/2005/8/layout/hProcess11"/>
    <dgm:cxn modelId="{4F462E5E-6977-8940-851D-51F54C28C5CE}" type="presParOf" srcId="{4A66AA03-AA9D-6C4D-B333-6601912ED71D}" destId="{8BF3DFE8-F618-CB4A-948A-28784C58C9C6}"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A3AEB8B-595F-1E45-9F85-8D83834C2EEC}" type="doc">
      <dgm:prSet loTypeId="urn:microsoft.com/office/officeart/2005/8/layout/vProcess5" loCatId="process" qsTypeId="urn:microsoft.com/office/officeart/2005/8/quickstyle/simple4" qsCatId="simple" csTypeId="urn:microsoft.com/office/officeart/2005/8/colors/colorful3" csCatId="colorful" phldr="1"/>
      <dgm:spPr/>
      <dgm:t>
        <a:bodyPr/>
        <a:lstStyle/>
        <a:p>
          <a:endParaRPr lang="en-US"/>
        </a:p>
      </dgm:t>
    </dgm:pt>
    <dgm:pt modelId="{2312EE13-3DD8-BD42-816C-78C8111CAF08}">
      <dgm:prSet/>
      <dgm:spPr>
        <a:xfrm>
          <a:off x="0" y="0"/>
          <a:ext cx="7222402" cy="1551964"/>
        </a:xfrm>
        <a:prstGeom prst="roundRect">
          <a:avLst>
            <a:gd name="adj" fmla="val 10000"/>
          </a:avLst>
        </a:prstGeom>
        <a:gradFill rotWithShape="0">
          <a:gsLst>
            <a:gs pos="0">
              <a:srgbClr val="666699">
                <a:hueOff val="0"/>
                <a:satOff val="0"/>
                <a:lumOff val="0"/>
                <a:alphaOff val="0"/>
                <a:shade val="40000"/>
                <a:alpha val="100000"/>
                <a:satMod val="150000"/>
                <a:lumMod val="100000"/>
              </a:srgbClr>
            </a:gs>
            <a:gs pos="100000">
              <a:srgbClr val="666699">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latin typeface="Rockwell"/>
              <a:ea typeface="+mn-ea"/>
              <a:cs typeface="+mn-cs"/>
            </a:rPr>
            <a:t>A simple pipeline suffers a penalty for a branch instruction because it must choose one of two instructions to fetch next and may make the wrong choice</a:t>
          </a:r>
        </a:p>
      </dgm:t>
    </dgm:pt>
    <dgm:pt modelId="{2DB489A5-9873-A842-9AC5-5433BB6AEDA7}" type="parTrans" cxnId="{2931843B-C50E-B843-A891-55BC43C7BBDA}">
      <dgm:prSet/>
      <dgm:spPr/>
      <dgm:t>
        <a:bodyPr/>
        <a:lstStyle/>
        <a:p>
          <a:endParaRPr lang="en-US"/>
        </a:p>
      </dgm:t>
    </dgm:pt>
    <dgm:pt modelId="{2EB7D3ED-9D99-4645-995D-BC872FF6B808}" type="sibTrans" cxnId="{2931843B-C50E-B843-A891-55BC43C7BBDA}">
      <dgm:prSet/>
      <dgm:spPr>
        <a:xfrm>
          <a:off x="6213625" y="1176906"/>
          <a:ext cx="1008777" cy="1008777"/>
        </a:xfrm>
        <a:prstGeom prst="downArrow">
          <a:avLst>
            <a:gd name="adj1" fmla="val 55000"/>
            <a:gd name="adj2" fmla="val 45000"/>
          </a:avLst>
        </a:prstGeom>
        <a:solidFill>
          <a:srgbClr val="666699">
            <a:tint val="40000"/>
            <a:alpha val="90000"/>
            <a:hueOff val="0"/>
            <a:satOff val="0"/>
            <a:lumOff val="0"/>
            <a:alphaOff val="0"/>
          </a:srgbClr>
        </a:solidFill>
        <a:ln w="12700" cap="flat" cmpd="sng" algn="ctr">
          <a:solidFill>
            <a:srgbClr val="666699">
              <a:lumMod val="75000"/>
            </a:srgbClr>
          </a:solidFill>
          <a:prstDash val="solid"/>
        </a:ln>
        <a:effectLst/>
      </dgm:spPr>
      <dgm:t>
        <a:bodyPr/>
        <a:lstStyle/>
        <a:p>
          <a:endParaRPr lang="en-US">
            <a:solidFill>
              <a:sysClr val="windowText" lastClr="000000">
                <a:hueOff val="0"/>
                <a:satOff val="0"/>
                <a:lumOff val="0"/>
                <a:alphaOff val="0"/>
              </a:sysClr>
            </a:solidFill>
            <a:latin typeface="Rockwell"/>
            <a:ea typeface="+mn-ea"/>
            <a:cs typeface="+mn-cs"/>
          </a:endParaRPr>
        </a:p>
      </dgm:t>
    </dgm:pt>
    <dgm:pt modelId="{39978387-B0D6-D84E-AA46-3A520135027A}">
      <dgm:prSet/>
      <dgm:spPr>
        <a:xfrm>
          <a:off x="637270" y="1810625"/>
          <a:ext cx="7222402" cy="1551964"/>
        </a:xfrm>
        <a:prstGeom prst="roundRect">
          <a:avLst>
            <a:gd name="adj" fmla="val 10000"/>
          </a:avLst>
        </a:prstGeom>
        <a:gradFill rotWithShape="0">
          <a:gsLst>
            <a:gs pos="0">
              <a:srgbClr val="666699">
                <a:hueOff val="-5400000"/>
                <a:satOff val="0"/>
                <a:lumOff val="0"/>
                <a:alphaOff val="0"/>
                <a:shade val="40000"/>
                <a:alpha val="100000"/>
                <a:satMod val="150000"/>
                <a:lumMod val="100000"/>
              </a:srgbClr>
            </a:gs>
            <a:gs pos="100000">
              <a:srgbClr val="666699">
                <a:hueOff val="-540000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latin typeface="Rockwell"/>
              <a:ea typeface="+mn-ea"/>
              <a:cs typeface="+mn-cs"/>
            </a:rPr>
            <a:t>A brute-force approach is to replicate the initial portions of the pipeline and allow the pipeline to fetch both instructions, making use of two streams</a:t>
          </a:r>
        </a:p>
      </dgm:t>
    </dgm:pt>
    <dgm:pt modelId="{2BA8EECC-307C-C740-9FA7-7B595E287B75}" type="parTrans" cxnId="{89698EA8-AEBA-9A42-829A-E929A794355D}">
      <dgm:prSet/>
      <dgm:spPr/>
      <dgm:t>
        <a:bodyPr/>
        <a:lstStyle/>
        <a:p>
          <a:endParaRPr lang="en-US"/>
        </a:p>
      </dgm:t>
    </dgm:pt>
    <dgm:pt modelId="{393AAF2D-8EA2-4C4B-8FFA-9F98A6AABF66}" type="sibTrans" cxnId="{89698EA8-AEBA-9A42-829A-E929A794355D}">
      <dgm:prSet/>
      <dgm:spPr>
        <a:xfrm>
          <a:off x="6850896" y="2977185"/>
          <a:ext cx="1008777" cy="1008777"/>
        </a:xfrm>
        <a:prstGeom prst="downArrow">
          <a:avLst>
            <a:gd name="adj1" fmla="val 55000"/>
            <a:gd name="adj2" fmla="val 45000"/>
          </a:avLst>
        </a:prstGeom>
        <a:solidFill>
          <a:srgbClr val="666699">
            <a:tint val="40000"/>
            <a:alpha val="90000"/>
            <a:hueOff val="-10800000"/>
            <a:satOff val="0"/>
            <a:lumOff val="0"/>
            <a:alphaOff val="0"/>
          </a:srgbClr>
        </a:solidFill>
        <a:ln w="12700" cap="flat" cmpd="sng" algn="ctr">
          <a:solidFill>
            <a:srgbClr val="666699">
              <a:lumMod val="75000"/>
            </a:srgbClr>
          </a:solidFill>
          <a:prstDash val="solid"/>
        </a:ln>
        <a:effectLst/>
      </dgm:spPr>
      <dgm:t>
        <a:bodyPr/>
        <a:lstStyle/>
        <a:p>
          <a:endParaRPr lang="en-US">
            <a:solidFill>
              <a:sysClr val="windowText" lastClr="000000">
                <a:hueOff val="0"/>
                <a:satOff val="0"/>
                <a:lumOff val="0"/>
                <a:alphaOff val="0"/>
              </a:sysClr>
            </a:solidFill>
            <a:latin typeface="Rockwell"/>
            <a:ea typeface="+mn-ea"/>
            <a:cs typeface="+mn-cs"/>
          </a:endParaRPr>
        </a:p>
      </dgm:t>
    </dgm:pt>
    <dgm:pt modelId="{F7C28206-C5DF-2E47-B879-DA4DA558AFBC}">
      <dgm:prSet/>
      <dgm:spPr>
        <a:xfrm>
          <a:off x="1274541" y="3621251"/>
          <a:ext cx="7222402" cy="1551964"/>
        </a:xfrm>
        <a:prstGeom prst="roundRect">
          <a:avLst>
            <a:gd name="adj" fmla="val 10000"/>
          </a:avLst>
        </a:prstGeom>
        <a:solidFill>
          <a:srgbClr val="999966"/>
        </a:soli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latin typeface="Rockwell"/>
              <a:ea typeface="+mn-ea"/>
              <a:cs typeface="+mn-cs"/>
            </a:rPr>
            <a:t>Drawbacks:</a:t>
          </a:r>
        </a:p>
      </dgm:t>
    </dgm:pt>
    <dgm:pt modelId="{2A906F2A-D4B8-B948-9C09-98FB1BC4956E}" type="parTrans" cxnId="{31D4057F-DECC-A649-8EC7-44BA1AAE81C9}">
      <dgm:prSet/>
      <dgm:spPr/>
      <dgm:t>
        <a:bodyPr/>
        <a:lstStyle/>
        <a:p>
          <a:endParaRPr lang="en-US"/>
        </a:p>
      </dgm:t>
    </dgm:pt>
    <dgm:pt modelId="{2BC02C87-370F-BA40-B3D1-702AD1F5B821}" type="sibTrans" cxnId="{31D4057F-DECC-A649-8EC7-44BA1AAE81C9}">
      <dgm:prSet/>
      <dgm:spPr/>
      <dgm:t>
        <a:bodyPr/>
        <a:lstStyle/>
        <a:p>
          <a:endParaRPr lang="en-US"/>
        </a:p>
      </dgm:t>
    </dgm:pt>
    <dgm:pt modelId="{50B1BE64-80BA-2149-98EE-DB65FA243F0F}">
      <dgm:prSet/>
      <dgm:spPr>
        <a:xfrm>
          <a:off x="1274541" y="3621251"/>
          <a:ext cx="7222402" cy="1551964"/>
        </a:xfrm>
        <a:prstGeom prst="roundRect">
          <a:avLst>
            <a:gd name="adj" fmla="val 10000"/>
          </a:avLst>
        </a:prstGeom>
        <a:solidFill>
          <a:srgbClr val="999966"/>
        </a:soli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latin typeface="Rockwell"/>
              <a:ea typeface="+mn-ea"/>
              <a:cs typeface="+mn-cs"/>
            </a:rPr>
            <a:t>With multiple pipelines there are contention delays for access to the registers and to memory</a:t>
          </a:r>
        </a:p>
      </dgm:t>
    </dgm:pt>
    <dgm:pt modelId="{F098B388-47A0-084F-9F61-6CEF8003BE88}" type="parTrans" cxnId="{DB4AB602-8F11-6E4C-93DE-8FA998647EDB}">
      <dgm:prSet/>
      <dgm:spPr/>
      <dgm:t>
        <a:bodyPr/>
        <a:lstStyle/>
        <a:p>
          <a:endParaRPr lang="en-US"/>
        </a:p>
      </dgm:t>
    </dgm:pt>
    <dgm:pt modelId="{607F8CFC-31F1-1C4D-B637-17C7B2367361}" type="sibTrans" cxnId="{DB4AB602-8F11-6E4C-93DE-8FA998647EDB}">
      <dgm:prSet/>
      <dgm:spPr/>
      <dgm:t>
        <a:bodyPr/>
        <a:lstStyle/>
        <a:p>
          <a:endParaRPr lang="en-US"/>
        </a:p>
      </dgm:t>
    </dgm:pt>
    <dgm:pt modelId="{605E9185-7A87-CB49-B2C2-6F255D69FCBC}">
      <dgm:prSet/>
      <dgm:spPr>
        <a:xfrm>
          <a:off x="1274541" y="3621251"/>
          <a:ext cx="7222402" cy="1551964"/>
        </a:xfrm>
        <a:prstGeom prst="roundRect">
          <a:avLst>
            <a:gd name="adj" fmla="val 10000"/>
          </a:avLst>
        </a:prstGeom>
        <a:solidFill>
          <a:srgbClr val="999966"/>
        </a:soli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latin typeface="Rockwell"/>
              <a:ea typeface="+mn-ea"/>
              <a:cs typeface="+mn-cs"/>
            </a:rPr>
            <a:t>Additional branch instructions may enter the pipeline before the original branch decision is resolved</a:t>
          </a:r>
        </a:p>
      </dgm:t>
    </dgm:pt>
    <dgm:pt modelId="{333C6BB3-2AB5-1F47-B940-5365F5AA0639}" type="parTrans" cxnId="{1AA547DA-6F6C-DB4A-8C30-B70270A8E82E}">
      <dgm:prSet/>
      <dgm:spPr/>
      <dgm:t>
        <a:bodyPr/>
        <a:lstStyle/>
        <a:p>
          <a:endParaRPr lang="en-US"/>
        </a:p>
      </dgm:t>
    </dgm:pt>
    <dgm:pt modelId="{42E85C68-6F72-9048-A164-6F08B56B3D31}" type="sibTrans" cxnId="{1AA547DA-6F6C-DB4A-8C30-B70270A8E82E}">
      <dgm:prSet/>
      <dgm:spPr/>
      <dgm:t>
        <a:bodyPr/>
        <a:lstStyle/>
        <a:p>
          <a:endParaRPr lang="en-US"/>
        </a:p>
      </dgm:t>
    </dgm:pt>
    <dgm:pt modelId="{6FDFFF18-36D5-5D4F-B0AE-F276F8B05AAD}" type="pres">
      <dgm:prSet presAssocID="{5A3AEB8B-595F-1E45-9F85-8D83834C2EEC}" presName="outerComposite" presStyleCnt="0">
        <dgm:presLayoutVars>
          <dgm:chMax val="5"/>
          <dgm:dir/>
          <dgm:resizeHandles val="exact"/>
        </dgm:presLayoutVars>
      </dgm:prSet>
      <dgm:spPr/>
    </dgm:pt>
    <dgm:pt modelId="{2A056B70-8C0D-AA46-93AB-AF93A7CCD662}" type="pres">
      <dgm:prSet presAssocID="{5A3AEB8B-595F-1E45-9F85-8D83834C2EEC}" presName="dummyMaxCanvas" presStyleCnt="0">
        <dgm:presLayoutVars/>
      </dgm:prSet>
      <dgm:spPr/>
    </dgm:pt>
    <dgm:pt modelId="{457F6F8A-0906-674E-AFD4-200239B477D8}" type="pres">
      <dgm:prSet presAssocID="{5A3AEB8B-595F-1E45-9F85-8D83834C2EEC}" presName="ThreeNodes_1" presStyleLbl="node1" presStyleIdx="0" presStyleCnt="3">
        <dgm:presLayoutVars>
          <dgm:bulletEnabled val="1"/>
        </dgm:presLayoutVars>
      </dgm:prSet>
      <dgm:spPr/>
    </dgm:pt>
    <dgm:pt modelId="{161F44EF-0492-E941-886C-60773EAAC415}" type="pres">
      <dgm:prSet presAssocID="{5A3AEB8B-595F-1E45-9F85-8D83834C2EEC}" presName="ThreeNodes_2" presStyleLbl="node1" presStyleIdx="1" presStyleCnt="3">
        <dgm:presLayoutVars>
          <dgm:bulletEnabled val="1"/>
        </dgm:presLayoutVars>
      </dgm:prSet>
      <dgm:spPr/>
    </dgm:pt>
    <dgm:pt modelId="{B1F79EE3-7A7D-C44F-9D34-BEFD90CE1B1A}" type="pres">
      <dgm:prSet presAssocID="{5A3AEB8B-595F-1E45-9F85-8D83834C2EEC}" presName="ThreeNodes_3" presStyleLbl="node1" presStyleIdx="2" presStyleCnt="3">
        <dgm:presLayoutVars>
          <dgm:bulletEnabled val="1"/>
        </dgm:presLayoutVars>
      </dgm:prSet>
      <dgm:spPr/>
    </dgm:pt>
    <dgm:pt modelId="{3ED912AA-9F9D-CD47-B60C-545F31A5E796}" type="pres">
      <dgm:prSet presAssocID="{5A3AEB8B-595F-1E45-9F85-8D83834C2EEC}" presName="ThreeConn_1-2" presStyleLbl="fgAccFollowNode1" presStyleIdx="0" presStyleCnt="2">
        <dgm:presLayoutVars>
          <dgm:bulletEnabled val="1"/>
        </dgm:presLayoutVars>
      </dgm:prSet>
      <dgm:spPr/>
    </dgm:pt>
    <dgm:pt modelId="{0D29E717-2597-8D46-AD2C-467DADE43F0B}" type="pres">
      <dgm:prSet presAssocID="{5A3AEB8B-595F-1E45-9F85-8D83834C2EEC}" presName="ThreeConn_2-3" presStyleLbl="fgAccFollowNode1" presStyleIdx="1" presStyleCnt="2">
        <dgm:presLayoutVars>
          <dgm:bulletEnabled val="1"/>
        </dgm:presLayoutVars>
      </dgm:prSet>
      <dgm:spPr/>
    </dgm:pt>
    <dgm:pt modelId="{33977D92-97FB-F544-BA82-DF14FC65451D}" type="pres">
      <dgm:prSet presAssocID="{5A3AEB8B-595F-1E45-9F85-8D83834C2EEC}" presName="ThreeNodes_1_text" presStyleLbl="node1" presStyleIdx="2" presStyleCnt="3">
        <dgm:presLayoutVars>
          <dgm:bulletEnabled val="1"/>
        </dgm:presLayoutVars>
      </dgm:prSet>
      <dgm:spPr/>
    </dgm:pt>
    <dgm:pt modelId="{5060755F-F956-E84A-87B1-21AF6D18324A}" type="pres">
      <dgm:prSet presAssocID="{5A3AEB8B-595F-1E45-9F85-8D83834C2EEC}" presName="ThreeNodes_2_text" presStyleLbl="node1" presStyleIdx="2" presStyleCnt="3">
        <dgm:presLayoutVars>
          <dgm:bulletEnabled val="1"/>
        </dgm:presLayoutVars>
      </dgm:prSet>
      <dgm:spPr/>
    </dgm:pt>
    <dgm:pt modelId="{892E51B9-018D-B04E-8548-45EC799DD941}" type="pres">
      <dgm:prSet presAssocID="{5A3AEB8B-595F-1E45-9F85-8D83834C2EEC}" presName="ThreeNodes_3_text" presStyleLbl="node1" presStyleIdx="2" presStyleCnt="3">
        <dgm:presLayoutVars>
          <dgm:bulletEnabled val="1"/>
        </dgm:presLayoutVars>
      </dgm:prSet>
      <dgm:spPr/>
    </dgm:pt>
  </dgm:ptLst>
  <dgm:cxnLst>
    <dgm:cxn modelId="{DB4AB602-8F11-6E4C-93DE-8FA998647EDB}" srcId="{F7C28206-C5DF-2E47-B879-DA4DA558AFBC}" destId="{50B1BE64-80BA-2149-98EE-DB65FA243F0F}" srcOrd="0" destOrd="0" parTransId="{F098B388-47A0-084F-9F61-6CEF8003BE88}" sibTransId="{607F8CFC-31F1-1C4D-B637-17C7B2367361}"/>
    <dgm:cxn modelId="{2FF88A03-0DF6-B640-874E-83A83FE33B05}" type="presOf" srcId="{39978387-B0D6-D84E-AA46-3A520135027A}" destId="{5060755F-F956-E84A-87B1-21AF6D18324A}" srcOrd="1" destOrd="0" presId="urn:microsoft.com/office/officeart/2005/8/layout/vProcess5"/>
    <dgm:cxn modelId="{AEC7E61D-C176-5942-97DE-D0EE5D427065}" type="presOf" srcId="{393AAF2D-8EA2-4C4B-8FFA-9F98A6AABF66}" destId="{0D29E717-2597-8D46-AD2C-467DADE43F0B}" srcOrd="0" destOrd="0" presId="urn:microsoft.com/office/officeart/2005/8/layout/vProcess5"/>
    <dgm:cxn modelId="{2931843B-C50E-B843-A891-55BC43C7BBDA}" srcId="{5A3AEB8B-595F-1E45-9F85-8D83834C2EEC}" destId="{2312EE13-3DD8-BD42-816C-78C8111CAF08}" srcOrd="0" destOrd="0" parTransId="{2DB489A5-9873-A842-9AC5-5433BB6AEDA7}" sibTransId="{2EB7D3ED-9D99-4645-995D-BC872FF6B808}"/>
    <dgm:cxn modelId="{BD86D643-224D-0D47-9214-85AFD3D6BD38}" type="presOf" srcId="{50B1BE64-80BA-2149-98EE-DB65FA243F0F}" destId="{B1F79EE3-7A7D-C44F-9D34-BEFD90CE1B1A}" srcOrd="0" destOrd="1" presId="urn:microsoft.com/office/officeart/2005/8/layout/vProcess5"/>
    <dgm:cxn modelId="{101EAC6D-695E-564E-A11A-7A247D02C055}" type="presOf" srcId="{605E9185-7A87-CB49-B2C2-6F255D69FCBC}" destId="{892E51B9-018D-B04E-8548-45EC799DD941}" srcOrd="1" destOrd="2" presId="urn:microsoft.com/office/officeart/2005/8/layout/vProcess5"/>
    <dgm:cxn modelId="{F944CB4F-1C5E-E44E-873B-ED30D2736501}" type="presOf" srcId="{39978387-B0D6-D84E-AA46-3A520135027A}" destId="{161F44EF-0492-E941-886C-60773EAAC415}" srcOrd="0" destOrd="0" presId="urn:microsoft.com/office/officeart/2005/8/layout/vProcess5"/>
    <dgm:cxn modelId="{5AB30251-C7A1-AD4B-BFB4-749249A05E41}" type="presOf" srcId="{F7C28206-C5DF-2E47-B879-DA4DA558AFBC}" destId="{B1F79EE3-7A7D-C44F-9D34-BEFD90CE1B1A}" srcOrd="0" destOrd="0" presId="urn:microsoft.com/office/officeart/2005/8/layout/vProcess5"/>
    <dgm:cxn modelId="{81460074-1008-BF48-A562-932A9388FBCB}" type="presOf" srcId="{50B1BE64-80BA-2149-98EE-DB65FA243F0F}" destId="{892E51B9-018D-B04E-8548-45EC799DD941}" srcOrd="1" destOrd="1" presId="urn:microsoft.com/office/officeart/2005/8/layout/vProcess5"/>
    <dgm:cxn modelId="{31D4057F-DECC-A649-8EC7-44BA1AAE81C9}" srcId="{5A3AEB8B-595F-1E45-9F85-8D83834C2EEC}" destId="{F7C28206-C5DF-2E47-B879-DA4DA558AFBC}" srcOrd="2" destOrd="0" parTransId="{2A906F2A-D4B8-B948-9C09-98FB1BC4956E}" sibTransId="{2BC02C87-370F-BA40-B3D1-702AD1F5B821}"/>
    <dgm:cxn modelId="{8304EB85-4CBA-104C-B122-F12FEFC5BFDA}" type="presOf" srcId="{5A3AEB8B-595F-1E45-9F85-8D83834C2EEC}" destId="{6FDFFF18-36D5-5D4F-B0AE-F276F8B05AAD}" srcOrd="0" destOrd="0" presId="urn:microsoft.com/office/officeart/2005/8/layout/vProcess5"/>
    <dgm:cxn modelId="{693FC98F-F56E-A34D-80C0-C13CBE478616}" type="presOf" srcId="{2312EE13-3DD8-BD42-816C-78C8111CAF08}" destId="{33977D92-97FB-F544-BA82-DF14FC65451D}" srcOrd="1" destOrd="0" presId="urn:microsoft.com/office/officeart/2005/8/layout/vProcess5"/>
    <dgm:cxn modelId="{78EF289E-3841-1344-990B-F5D6C5F03C7B}" type="presOf" srcId="{2312EE13-3DD8-BD42-816C-78C8111CAF08}" destId="{457F6F8A-0906-674E-AFD4-200239B477D8}" srcOrd="0" destOrd="0" presId="urn:microsoft.com/office/officeart/2005/8/layout/vProcess5"/>
    <dgm:cxn modelId="{C61C339F-2469-824B-8F32-640DD420BD19}" type="presOf" srcId="{605E9185-7A87-CB49-B2C2-6F255D69FCBC}" destId="{B1F79EE3-7A7D-C44F-9D34-BEFD90CE1B1A}" srcOrd="0" destOrd="2" presId="urn:microsoft.com/office/officeart/2005/8/layout/vProcess5"/>
    <dgm:cxn modelId="{89698EA8-AEBA-9A42-829A-E929A794355D}" srcId="{5A3AEB8B-595F-1E45-9F85-8D83834C2EEC}" destId="{39978387-B0D6-D84E-AA46-3A520135027A}" srcOrd="1" destOrd="0" parTransId="{2BA8EECC-307C-C740-9FA7-7B595E287B75}" sibTransId="{393AAF2D-8EA2-4C4B-8FFA-9F98A6AABF66}"/>
    <dgm:cxn modelId="{307C25C3-280E-CA48-AB2F-1AF6438BA8D6}" type="presOf" srcId="{2EB7D3ED-9D99-4645-995D-BC872FF6B808}" destId="{3ED912AA-9F9D-CD47-B60C-545F31A5E796}" srcOrd="0" destOrd="0" presId="urn:microsoft.com/office/officeart/2005/8/layout/vProcess5"/>
    <dgm:cxn modelId="{1AA547DA-6F6C-DB4A-8C30-B70270A8E82E}" srcId="{F7C28206-C5DF-2E47-B879-DA4DA558AFBC}" destId="{605E9185-7A87-CB49-B2C2-6F255D69FCBC}" srcOrd="1" destOrd="0" parTransId="{333C6BB3-2AB5-1F47-B940-5365F5AA0639}" sibTransId="{42E85C68-6F72-9048-A164-6F08B56B3D31}"/>
    <dgm:cxn modelId="{229012E8-AFDD-CE49-A60E-4DC34D836D8C}" type="presOf" srcId="{F7C28206-C5DF-2E47-B879-DA4DA558AFBC}" destId="{892E51B9-018D-B04E-8548-45EC799DD941}" srcOrd="1" destOrd="0" presId="urn:microsoft.com/office/officeart/2005/8/layout/vProcess5"/>
    <dgm:cxn modelId="{C3C08ACD-7A6D-7747-8C55-9D5F94850C13}" type="presParOf" srcId="{6FDFFF18-36D5-5D4F-B0AE-F276F8B05AAD}" destId="{2A056B70-8C0D-AA46-93AB-AF93A7CCD662}" srcOrd="0" destOrd="0" presId="urn:microsoft.com/office/officeart/2005/8/layout/vProcess5"/>
    <dgm:cxn modelId="{DA091DCC-B466-EF4D-9796-FCA960183FA1}" type="presParOf" srcId="{6FDFFF18-36D5-5D4F-B0AE-F276F8B05AAD}" destId="{457F6F8A-0906-674E-AFD4-200239B477D8}" srcOrd="1" destOrd="0" presId="urn:microsoft.com/office/officeart/2005/8/layout/vProcess5"/>
    <dgm:cxn modelId="{30B6968A-2FB8-134B-82A6-1B4BA356C7B4}" type="presParOf" srcId="{6FDFFF18-36D5-5D4F-B0AE-F276F8B05AAD}" destId="{161F44EF-0492-E941-886C-60773EAAC415}" srcOrd="2" destOrd="0" presId="urn:microsoft.com/office/officeart/2005/8/layout/vProcess5"/>
    <dgm:cxn modelId="{C90991C6-B8EB-C047-BA7D-53C680320FED}" type="presParOf" srcId="{6FDFFF18-36D5-5D4F-B0AE-F276F8B05AAD}" destId="{B1F79EE3-7A7D-C44F-9D34-BEFD90CE1B1A}" srcOrd="3" destOrd="0" presId="urn:microsoft.com/office/officeart/2005/8/layout/vProcess5"/>
    <dgm:cxn modelId="{0367F89F-9ED7-D24B-9CA5-91896C287F22}" type="presParOf" srcId="{6FDFFF18-36D5-5D4F-B0AE-F276F8B05AAD}" destId="{3ED912AA-9F9D-CD47-B60C-545F31A5E796}" srcOrd="4" destOrd="0" presId="urn:microsoft.com/office/officeart/2005/8/layout/vProcess5"/>
    <dgm:cxn modelId="{75910121-91A5-9146-9566-9D11B2015B73}" type="presParOf" srcId="{6FDFFF18-36D5-5D4F-B0AE-F276F8B05AAD}" destId="{0D29E717-2597-8D46-AD2C-467DADE43F0B}" srcOrd="5" destOrd="0" presId="urn:microsoft.com/office/officeart/2005/8/layout/vProcess5"/>
    <dgm:cxn modelId="{822CE04D-7E39-1349-AF44-1398E65FEFFA}" type="presParOf" srcId="{6FDFFF18-36D5-5D4F-B0AE-F276F8B05AAD}" destId="{33977D92-97FB-F544-BA82-DF14FC65451D}" srcOrd="6" destOrd="0" presId="urn:microsoft.com/office/officeart/2005/8/layout/vProcess5"/>
    <dgm:cxn modelId="{D66F8CD8-5920-8C48-B7FD-E835C6ABD083}" type="presParOf" srcId="{6FDFFF18-36D5-5D4F-B0AE-F276F8B05AAD}" destId="{5060755F-F956-E84A-87B1-21AF6D18324A}" srcOrd="7" destOrd="0" presId="urn:microsoft.com/office/officeart/2005/8/layout/vProcess5"/>
    <dgm:cxn modelId="{DED5E24A-B613-7D4D-B761-3F9E175E5585}" type="presParOf" srcId="{6FDFFF18-36D5-5D4F-B0AE-F276F8B05AAD}" destId="{892E51B9-018D-B04E-8548-45EC799DD941}"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F85C84A-E5F5-3A41-9F5F-AC27C1D4EE55}" type="doc">
      <dgm:prSet loTypeId="urn:microsoft.com/office/officeart/2005/8/layout/process4" loCatId="process" qsTypeId="urn:microsoft.com/office/officeart/2005/8/quickstyle/3D3" qsCatId="3D" csTypeId="urn:microsoft.com/office/officeart/2005/8/colors/colorful3" csCatId="colorful"/>
      <dgm:spPr/>
      <dgm:t>
        <a:bodyPr/>
        <a:lstStyle/>
        <a:p>
          <a:endParaRPr lang="en-US"/>
        </a:p>
      </dgm:t>
    </dgm:pt>
    <dgm:pt modelId="{8CB7D1A7-D135-BF4D-AAEA-D203A671227C}">
      <dgm:prSet/>
      <dgm:spPr/>
      <dgm:t>
        <a:bodyPr/>
        <a:lstStyle/>
        <a:p>
          <a:pPr rtl="0"/>
          <a:r>
            <a:rPr lang="en-GB"/>
            <a:t>Fetch</a:t>
          </a:r>
        </a:p>
      </dgm:t>
    </dgm:pt>
    <dgm:pt modelId="{8BD0A86A-7E79-5444-B7C6-2FDB26BA9AAE}" type="parTrans" cxnId="{262B09E0-F9BA-B44A-AE53-F706DAEC4FB8}">
      <dgm:prSet/>
      <dgm:spPr/>
      <dgm:t>
        <a:bodyPr/>
        <a:lstStyle/>
        <a:p>
          <a:endParaRPr lang="en-US"/>
        </a:p>
      </dgm:t>
    </dgm:pt>
    <dgm:pt modelId="{EA6BE41C-A630-7B44-8272-11E91B465E62}" type="sibTrans" cxnId="{262B09E0-F9BA-B44A-AE53-F706DAEC4FB8}">
      <dgm:prSet/>
      <dgm:spPr/>
      <dgm:t>
        <a:bodyPr/>
        <a:lstStyle/>
        <a:p>
          <a:endParaRPr lang="en-US"/>
        </a:p>
      </dgm:t>
    </dgm:pt>
    <dgm:pt modelId="{589603AB-A285-394E-AFED-C17ECA6B2D17}">
      <dgm:prSet/>
      <dgm:spPr/>
      <dgm:t>
        <a:bodyPr/>
        <a:lstStyle/>
        <a:p>
          <a:pPr rtl="0"/>
          <a:r>
            <a:rPr lang="en-GB"/>
            <a:t>Objective is to fill the prefetch buffers with new data as soon as the old data have been consumed by the instruction decoder</a:t>
          </a:r>
        </a:p>
      </dgm:t>
    </dgm:pt>
    <dgm:pt modelId="{322B68CD-E98E-D44C-A394-F455EEDFB8D3}" type="parTrans" cxnId="{2A8613AF-2982-CF46-B4ED-D4923115A5EC}">
      <dgm:prSet/>
      <dgm:spPr/>
      <dgm:t>
        <a:bodyPr/>
        <a:lstStyle/>
        <a:p>
          <a:endParaRPr lang="en-US"/>
        </a:p>
      </dgm:t>
    </dgm:pt>
    <dgm:pt modelId="{9C823A49-D0A9-2945-8267-6CC8371CD4E2}" type="sibTrans" cxnId="{2A8613AF-2982-CF46-B4ED-D4923115A5EC}">
      <dgm:prSet/>
      <dgm:spPr/>
      <dgm:t>
        <a:bodyPr/>
        <a:lstStyle/>
        <a:p>
          <a:endParaRPr lang="en-US"/>
        </a:p>
      </dgm:t>
    </dgm:pt>
    <dgm:pt modelId="{5D23B203-7EF5-2B48-B366-D785D9A788AF}">
      <dgm:prSet/>
      <dgm:spPr/>
      <dgm:t>
        <a:bodyPr/>
        <a:lstStyle/>
        <a:p>
          <a:pPr rtl="0"/>
          <a:r>
            <a:rPr lang="en-GB"/>
            <a:t>Operates independently of the other stages to keep the prefetch buffers full</a:t>
          </a:r>
        </a:p>
      </dgm:t>
    </dgm:pt>
    <dgm:pt modelId="{A5C585F6-28C3-E74A-BC19-1A4C39B353A4}" type="parTrans" cxnId="{B86FBE96-E386-4940-BAA2-DAFC245438FC}">
      <dgm:prSet/>
      <dgm:spPr/>
      <dgm:t>
        <a:bodyPr/>
        <a:lstStyle/>
        <a:p>
          <a:endParaRPr lang="en-US"/>
        </a:p>
      </dgm:t>
    </dgm:pt>
    <dgm:pt modelId="{C827D877-48B5-9043-9C22-CA35708494B1}" type="sibTrans" cxnId="{B86FBE96-E386-4940-BAA2-DAFC245438FC}">
      <dgm:prSet/>
      <dgm:spPr/>
      <dgm:t>
        <a:bodyPr/>
        <a:lstStyle/>
        <a:p>
          <a:endParaRPr lang="en-US"/>
        </a:p>
      </dgm:t>
    </dgm:pt>
    <dgm:pt modelId="{843BA61E-7D3F-C84F-A2B0-576C2512FD7D}">
      <dgm:prSet/>
      <dgm:spPr/>
      <dgm:t>
        <a:bodyPr/>
        <a:lstStyle/>
        <a:p>
          <a:pPr rtl="0"/>
          <a:r>
            <a:rPr lang="en-GB"/>
            <a:t>Decode stage 1</a:t>
          </a:r>
        </a:p>
      </dgm:t>
    </dgm:pt>
    <dgm:pt modelId="{C850FBF3-5F07-D242-B78F-0CD1A9E695AE}" type="parTrans" cxnId="{5F3070D0-FFF0-0F44-ADE3-3FBF09994465}">
      <dgm:prSet/>
      <dgm:spPr/>
      <dgm:t>
        <a:bodyPr/>
        <a:lstStyle/>
        <a:p>
          <a:endParaRPr lang="en-US"/>
        </a:p>
      </dgm:t>
    </dgm:pt>
    <dgm:pt modelId="{D121255B-A1B6-B84F-A7D3-7BE1B7D4D20B}" type="sibTrans" cxnId="{5F3070D0-FFF0-0F44-ADE3-3FBF09994465}">
      <dgm:prSet/>
      <dgm:spPr/>
      <dgm:t>
        <a:bodyPr/>
        <a:lstStyle/>
        <a:p>
          <a:endParaRPr lang="en-US"/>
        </a:p>
      </dgm:t>
    </dgm:pt>
    <dgm:pt modelId="{E62F3FFF-10B3-FF4B-9C78-96651AE7337F}">
      <dgm:prSet/>
      <dgm:spPr/>
      <dgm:t>
        <a:bodyPr/>
        <a:lstStyle/>
        <a:p>
          <a:pPr rtl="0"/>
          <a:r>
            <a:rPr lang="en-GB"/>
            <a:t>All opcode and addressing-mode information is decoded in the D1 stage</a:t>
          </a:r>
        </a:p>
      </dgm:t>
    </dgm:pt>
    <dgm:pt modelId="{7AC2CB80-E549-8446-9763-51B55A5A45BE}" type="parTrans" cxnId="{6E4D85CD-5E7D-2C4D-8EF6-A31BB6665819}">
      <dgm:prSet/>
      <dgm:spPr/>
      <dgm:t>
        <a:bodyPr/>
        <a:lstStyle/>
        <a:p>
          <a:endParaRPr lang="en-US"/>
        </a:p>
      </dgm:t>
    </dgm:pt>
    <dgm:pt modelId="{872561F3-C30E-8349-B3AC-B51EEA96AE18}" type="sibTrans" cxnId="{6E4D85CD-5E7D-2C4D-8EF6-A31BB6665819}">
      <dgm:prSet/>
      <dgm:spPr/>
      <dgm:t>
        <a:bodyPr/>
        <a:lstStyle/>
        <a:p>
          <a:endParaRPr lang="en-US"/>
        </a:p>
      </dgm:t>
    </dgm:pt>
    <dgm:pt modelId="{30921778-804A-324E-8751-9A806FD2FC53}">
      <dgm:prSet/>
      <dgm:spPr/>
      <dgm:t>
        <a:bodyPr/>
        <a:lstStyle/>
        <a:p>
          <a:pPr rtl="0"/>
          <a:r>
            <a:rPr lang="en-GB"/>
            <a:t>3 bytes of instruction are passed to the D1 stage from the prefetch buffers</a:t>
          </a:r>
        </a:p>
      </dgm:t>
    </dgm:pt>
    <dgm:pt modelId="{B375C82C-ED30-7D49-99BE-1F8D20EB6937}" type="parTrans" cxnId="{F3E48F21-1BD8-F54B-8902-FBFF3C977702}">
      <dgm:prSet/>
      <dgm:spPr/>
      <dgm:t>
        <a:bodyPr/>
        <a:lstStyle/>
        <a:p>
          <a:endParaRPr lang="en-US"/>
        </a:p>
      </dgm:t>
    </dgm:pt>
    <dgm:pt modelId="{432A75C1-333B-E84A-A691-E33135925CE8}" type="sibTrans" cxnId="{F3E48F21-1BD8-F54B-8902-FBFF3C977702}">
      <dgm:prSet/>
      <dgm:spPr/>
      <dgm:t>
        <a:bodyPr/>
        <a:lstStyle/>
        <a:p>
          <a:endParaRPr lang="en-US"/>
        </a:p>
      </dgm:t>
    </dgm:pt>
    <dgm:pt modelId="{5017EDA6-EB71-7741-AA11-698F2727454B}">
      <dgm:prSet/>
      <dgm:spPr/>
      <dgm:t>
        <a:bodyPr/>
        <a:lstStyle/>
        <a:p>
          <a:pPr rtl="0"/>
          <a:r>
            <a:rPr lang="en-GB"/>
            <a:t>D1 decoder can then direct the D2 stage to capture the rest of the instruction</a:t>
          </a:r>
        </a:p>
      </dgm:t>
    </dgm:pt>
    <dgm:pt modelId="{320CF892-E7F5-6C46-96C2-365E6DE6ABCB}" type="parTrans" cxnId="{6B9C1B7A-3AF5-194E-A1A8-F7D8F18A9E28}">
      <dgm:prSet/>
      <dgm:spPr/>
      <dgm:t>
        <a:bodyPr/>
        <a:lstStyle/>
        <a:p>
          <a:endParaRPr lang="en-US"/>
        </a:p>
      </dgm:t>
    </dgm:pt>
    <dgm:pt modelId="{B6E7E68A-3CC2-5741-9540-C36D123C71FF}" type="sibTrans" cxnId="{6B9C1B7A-3AF5-194E-A1A8-F7D8F18A9E28}">
      <dgm:prSet/>
      <dgm:spPr/>
      <dgm:t>
        <a:bodyPr/>
        <a:lstStyle/>
        <a:p>
          <a:endParaRPr lang="en-US"/>
        </a:p>
      </dgm:t>
    </dgm:pt>
    <dgm:pt modelId="{24C6ABE2-2110-F647-A6BA-9AAE716A23AE}">
      <dgm:prSet/>
      <dgm:spPr/>
      <dgm:t>
        <a:bodyPr/>
        <a:lstStyle/>
        <a:p>
          <a:pPr rtl="0"/>
          <a:r>
            <a:rPr lang="en-GB"/>
            <a:t>Decode stage 2</a:t>
          </a:r>
        </a:p>
      </dgm:t>
    </dgm:pt>
    <dgm:pt modelId="{92E4C216-F7CD-F64C-ADAB-BEA527D63E05}" type="parTrans" cxnId="{60EF6050-DB2F-724F-96B7-276AA3DA615E}">
      <dgm:prSet/>
      <dgm:spPr/>
      <dgm:t>
        <a:bodyPr/>
        <a:lstStyle/>
        <a:p>
          <a:endParaRPr lang="en-US"/>
        </a:p>
      </dgm:t>
    </dgm:pt>
    <dgm:pt modelId="{D749398B-C184-6244-8E47-DFD1EFCA87FB}" type="sibTrans" cxnId="{60EF6050-DB2F-724F-96B7-276AA3DA615E}">
      <dgm:prSet/>
      <dgm:spPr/>
      <dgm:t>
        <a:bodyPr/>
        <a:lstStyle/>
        <a:p>
          <a:endParaRPr lang="en-US"/>
        </a:p>
      </dgm:t>
    </dgm:pt>
    <dgm:pt modelId="{72401490-A5DA-D14E-A560-EF66726187FD}">
      <dgm:prSet/>
      <dgm:spPr/>
      <dgm:t>
        <a:bodyPr/>
        <a:lstStyle/>
        <a:p>
          <a:pPr rtl="0"/>
          <a:r>
            <a:rPr lang="en-GB"/>
            <a:t>Expands each opcode into control signals for the ALU</a:t>
          </a:r>
        </a:p>
      </dgm:t>
    </dgm:pt>
    <dgm:pt modelId="{33BBC257-8B0F-CD4A-BDB6-4C58E2A95B13}" type="parTrans" cxnId="{857DCA6C-399A-314E-B3AA-462DF3863979}">
      <dgm:prSet/>
      <dgm:spPr/>
      <dgm:t>
        <a:bodyPr/>
        <a:lstStyle/>
        <a:p>
          <a:endParaRPr lang="en-US"/>
        </a:p>
      </dgm:t>
    </dgm:pt>
    <dgm:pt modelId="{09732D72-3E4E-9241-97B1-5261BA30496E}" type="sibTrans" cxnId="{857DCA6C-399A-314E-B3AA-462DF3863979}">
      <dgm:prSet/>
      <dgm:spPr/>
      <dgm:t>
        <a:bodyPr/>
        <a:lstStyle/>
        <a:p>
          <a:endParaRPr lang="en-US"/>
        </a:p>
      </dgm:t>
    </dgm:pt>
    <dgm:pt modelId="{9680B5DB-3E1A-6C40-BBA3-770769CE1445}">
      <dgm:prSet/>
      <dgm:spPr/>
      <dgm:t>
        <a:bodyPr/>
        <a:lstStyle/>
        <a:p>
          <a:pPr rtl="0"/>
          <a:r>
            <a:rPr lang="en-GB"/>
            <a:t>Also controls the computation of the more complex addressing modes</a:t>
          </a:r>
        </a:p>
      </dgm:t>
    </dgm:pt>
    <dgm:pt modelId="{DA0E61AD-DBE2-9643-ACAF-35F61AA95EE9}" type="parTrans" cxnId="{62D938E7-1465-9547-AC78-7C19AE7B57DE}">
      <dgm:prSet/>
      <dgm:spPr/>
      <dgm:t>
        <a:bodyPr/>
        <a:lstStyle/>
        <a:p>
          <a:endParaRPr lang="en-US"/>
        </a:p>
      </dgm:t>
    </dgm:pt>
    <dgm:pt modelId="{8D9340BF-2C9B-504D-A8F8-0ECA8B83DBF0}" type="sibTrans" cxnId="{62D938E7-1465-9547-AC78-7C19AE7B57DE}">
      <dgm:prSet/>
      <dgm:spPr/>
      <dgm:t>
        <a:bodyPr/>
        <a:lstStyle/>
        <a:p>
          <a:endParaRPr lang="en-US"/>
        </a:p>
      </dgm:t>
    </dgm:pt>
    <dgm:pt modelId="{89D7BDB2-8EE0-5E44-9D0D-DA4E1F1D8DF1}">
      <dgm:prSet/>
      <dgm:spPr/>
      <dgm:t>
        <a:bodyPr/>
        <a:lstStyle/>
        <a:p>
          <a:pPr rtl="0"/>
          <a:r>
            <a:rPr lang="en-GB"/>
            <a:t>Execute</a:t>
          </a:r>
        </a:p>
      </dgm:t>
    </dgm:pt>
    <dgm:pt modelId="{3006FBAE-534A-CD40-90CE-3A6C37B7995B}" type="parTrans" cxnId="{320B64A8-006E-0147-95F1-83C05761E8B9}">
      <dgm:prSet/>
      <dgm:spPr/>
      <dgm:t>
        <a:bodyPr/>
        <a:lstStyle/>
        <a:p>
          <a:endParaRPr lang="en-US"/>
        </a:p>
      </dgm:t>
    </dgm:pt>
    <dgm:pt modelId="{E63166DA-1CB5-F246-8D2B-ADC2F4850387}" type="sibTrans" cxnId="{320B64A8-006E-0147-95F1-83C05761E8B9}">
      <dgm:prSet/>
      <dgm:spPr/>
      <dgm:t>
        <a:bodyPr/>
        <a:lstStyle/>
        <a:p>
          <a:endParaRPr lang="en-US"/>
        </a:p>
      </dgm:t>
    </dgm:pt>
    <dgm:pt modelId="{C4B9E2AC-D8AF-E840-848B-E462825091A8}">
      <dgm:prSet/>
      <dgm:spPr/>
      <dgm:t>
        <a:bodyPr/>
        <a:lstStyle/>
        <a:p>
          <a:pPr rtl="0"/>
          <a:r>
            <a:rPr lang="en-GB"/>
            <a:t>Stage includes ALU operations, cache access, and register update</a:t>
          </a:r>
        </a:p>
      </dgm:t>
    </dgm:pt>
    <dgm:pt modelId="{2B7F55DB-AA4F-9B41-A762-8E0A2159D270}" type="parTrans" cxnId="{2F6D108B-63A0-8C4C-ACCC-2F7600CF6A56}">
      <dgm:prSet/>
      <dgm:spPr/>
      <dgm:t>
        <a:bodyPr/>
        <a:lstStyle/>
        <a:p>
          <a:endParaRPr lang="en-US"/>
        </a:p>
      </dgm:t>
    </dgm:pt>
    <dgm:pt modelId="{ED507F0B-74D1-624F-B04C-8FEF7C15A45F}" type="sibTrans" cxnId="{2F6D108B-63A0-8C4C-ACCC-2F7600CF6A56}">
      <dgm:prSet/>
      <dgm:spPr/>
      <dgm:t>
        <a:bodyPr/>
        <a:lstStyle/>
        <a:p>
          <a:endParaRPr lang="en-US"/>
        </a:p>
      </dgm:t>
    </dgm:pt>
    <dgm:pt modelId="{92A9CFB3-6211-604C-BA9B-820E09FAB85C}">
      <dgm:prSet/>
      <dgm:spPr/>
      <dgm:t>
        <a:bodyPr/>
        <a:lstStyle/>
        <a:p>
          <a:pPr rtl="0"/>
          <a:r>
            <a:rPr lang="en-GB"/>
            <a:t>Write back</a:t>
          </a:r>
        </a:p>
      </dgm:t>
    </dgm:pt>
    <dgm:pt modelId="{E5B64DAB-919B-F848-B3BB-42E02F516881}" type="parTrans" cxnId="{7CD1AC90-4B91-694F-8303-05E7F2E01015}">
      <dgm:prSet/>
      <dgm:spPr/>
      <dgm:t>
        <a:bodyPr/>
        <a:lstStyle/>
        <a:p>
          <a:endParaRPr lang="en-US"/>
        </a:p>
      </dgm:t>
    </dgm:pt>
    <dgm:pt modelId="{0609CE27-85DB-7B41-8A6A-A13954516E15}" type="sibTrans" cxnId="{7CD1AC90-4B91-694F-8303-05E7F2E01015}">
      <dgm:prSet/>
      <dgm:spPr/>
      <dgm:t>
        <a:bodyPr/>
        <a:lstStyle/>
        <a:p>
          <a:endParaRPr lang="en-US"/>
        </a:p>
      </dgm:t>
    </dgm:pt>
    <dgm:pt modelId="{D4EE6F57-B316-BC49-8E8C-1BFACC17F892}">
      <dgm:prSet/>
      <dgm:spPr/>
      <dgm:t>
        <a:bodyPr/>
        <a:lstStyle/>
        <a:p>
          <a:pPr rtl="0"/>
          <a:r>
            <a:rPr lang="en-GB"/>
            <a:t>Updates registers and status flags modified during the preceding execute stage</a:t>
          </a:r>
        </a:p>
      </dgm:t>
    </dgm:pt>
    <dgm:pt modelId="{370C6179-63F6-6148-BED1-780B15F56650}" type="parTrans" cxnId="{F0443D99-C7BD-A140-B267-B503CA224C1A}">
      <dgm:prSet/>
      <dgm:spPr/>
      <dgm:t>
        <a:bodyPr/>
        <a:lstStyle/>
        <a:p>
          <a:endParaRPr lang="en-US"/>
        </a:p>
      </dgm:t>
    </dgm:pt>
    <dgm:pt modelId="{EE2828EE-8C79-D046-8BA5-612764FDCFFB}" type="sibTrans" cxnId="{F0443D99-C7BD-A140-B267-B503CA224C1A}">
      <dgm:prSet/>
      <dgm:spPr/>
      <dgm:t>
        <a:bodyPr/>
        <a:lstStyle/>
        <a:p>
          <a:endParaRPr lang="en-US"/>
        </a:p>
      </dgm:t>
    </dgm:pt>
    <dgm:pt modelId="{C17D6A2C-360B-0B47-9402-D3C745092FC4}" type="pres">
      <dgm:prSet presAssocID="{BF85C84A-E5F5-3A41-9F5F-AC27C1D4EE55}" presName="Name0" presStyleCnt="0">
        <dgm:presLayoutVars>
          <dgm:dir/>
          <dgm:animLvl val="lvl"/>
          <dgm:resizeHandles val="exact"/>
        </dgm:presLayoutVars>
      </dgm:prSet>
      <dgm:spPr/>
    </dgm:pt>
    <dgm:pt modelId="{EA6DABDF-A844-EB45-BAB5-D6F4DEA6D01F}" type="pres">
      <dgm:prSet presAssocID="{92A9CFB3-6211-604C-BA9B-820E09FAB85C}" presName="boxAndChildren" presStyleCnt="0"/>
      <dgm:spPr/>
    </dgm:pt>
    <dgm:pt modelId="{289024DD-E6DD-E44D-9D59-0D76F8C2DF48}" type="pres">
      <dgm:prSet presAssocID="{92A9CFB3-6211-604C-BA9B-820E09FAB85C}" presName="parentTextBox" presStyleLbl="node1" presStyleIdx="0" presStyleCnt="5"/>
      <dgm:spPr/>
    </dgm:pt>
    <dgm:pt modelId="{6A1A5C5D-E876-A54A-A276-7916B59DDE7B}" type="pres">
      <dgm:prSet presAssocID="{92A9CFB3-6211-604C-BA9B-820E09FAB85C}" presName="entireBox" presStyleLbl="node1" presStyleIdx="0" presStyleCnt="5"/>
      <dgm:spPr/>
    </dgm:pt>
    <dgm:pt modelId="{668B9D5A-D731-7446-927D-628B106088A5}" type="pres">
      <dgm:prSet presAssocID="{92A9CFB3-6211-604C-BA9B-820E09FAB85C}" presName="descendantBox" presStyleCnt="0"/>
      <dgm:spPr/>
    </dgm:pt>
    <dgm:pt modelId="{934F4480-EF98-2D4C-9B83-D15690809056}" type="pres">
      <dgm:prSet presAssocID="{D4EE6F57-B316-BC49-8E8C-1BFACC17F892}" presName="childTextBox" presStyleLbl="fgAccFollowNode1" presStyleIdx="0" presStyleCnt="9">
        <dgm:presLayoutVars>
          <dgm:bulletEnabled val="1"/>
        </dgm:presLayoutVars>
      </dgm:prSet>
      <dgm:spPr/>
    </dgm:pt>
    <dgm:pt modelId="{8C0377E9-CC77-EC4B-BA09-E1AF0AFFCAFC}" type="pres">
      <dgm:prSet presAssocID="{E63166DA-1CB5-F246-8D2B-ADC2F4850387}" presName="sp" presStyleCnt="0"/>
      <dgm:spPr/>
    </dgm:pt>
    <dgm:pt modelId="{0D9A1043-0844-6B42-A15D-4BD8C433C5FE}" type="pres">
      <dgm:prSet presAssocID="{89D7BDB2-8EE0-5E44-9D0D-DA4E1F1D8DF1}" presName="arrowAndChildren" presStyleCnt="0"/>
      <dgm:spPr/>
    </dgm:pt>
    <dgm:pt modelId="{BB601536-BA29-E54E-A0E9-6D7B0CF894E4}" type="pres">
      <dgm:prSet presAssocID="{89D7BDB2-8EE0-5E44-9D0D-DA4E1F1D8DF1}" presName="parentTextArrow" presStyleLbl="node1" presStyleIdx="0" presStyleCnt="5"/>
      <dgm:spPr/>
    </dgm:pt>
    <dgm:pt modelId="{076C065E-D8E3-AC43-9F26-8D74FDDEE281}" type="pres">
      <dgm:prSet presAssocID="{89D7BDB2-8EE0-5E44-9D0D-DA4E1F1D8DF1}" presName="arrow" presStyleLbl="node1" presStyleIdx="1" presStyleCnt="5"/>
      <dgm:spPr/>
    </dgm:pt>
    <dgm:pt modelId="{EE37C080-4358-9543-9417-392157613AB9}" type="pres">
      <dgm:prSet presAssocID="{89D7BDB2-8EE0-5E44-9D0D-DA4E1F1D8DF1}" presName="descendantArrow" presStyleCnt="0"/>
      <dgm:spPr/>
    </dgm:pt>
    <dgm:pt modelId="{8D380DDE-D8A1-CA46-A6EA-E26248B08CA0}" type="pres">
      <dgm:prSet presAssocID="{C4B9E2AC-D8AF-E840-848B-E462825091A8}" presName="childTextArrow" presStyleLbl="fgAccFollowNode1" presStyleIdx="1" presStyleCnt="9">
        <dgm:presLayoutVars>
          <dgm:bulletEnabled val="1"/>
        </dgm:presLayoutVars>
      </dgm:prSet>
      <dgm:spPr/>
    </dgm:pt>
    <dgm:pt modelId="{DBC4B77A-E1D5-E740-A9EF-1D21F455E5AE}" type="pres">
      <dgm:prSet presAssocID="{D749398B-C184-6244-8E47-DFD1EFCA87FB}" presName="sp" presStyleCnt="0"/>
      <dgm:spPr/>
    </dgm:pt>
    <dgm:pt modelId="{4714A245-D030-F045-A9E7-AA0FE37DE911}" type="pres">
      <dgm:prSet presAssocID="{24C6ABE2-2110-F647-A6BA-9AAE716A23AE}" presName="arrowAndChildren" presStyleCnt="0"/>
      <dgm:spPr/>
    </dgm:pt>
    <dgm:pt modelId="{37DB57B1-C80C-0C44-AA7D-134BA0E548FE}" type="pres">
      <dgm:prSet presAssocID="{24C6ABE2-2110-F647-A6BA-9AAE716A23AE}" presName="parentTextArrow" presStyleLbl="node1" presStyleIdx="1" presStyleCnt="5"/>
      <dgm:spPr/>
    </dgm:pt>
    <dgm:pt modelId="{1F270C8F-950D-4746-ADF7-6E5479824A59}" type="pres">
      <dgm:prSet presAssocID="{24C6ABE2-2110-F647-A6BA-9AAE716A23AE}" presName="arrow" presStyleLbl="node1" presStyleIdx="2" presStyleCnt="5"/>
      <dgm:spPr/>
    </dgm:pt>
    <dgm:pt modelId="{9595F397-6B16-E147-9582-A2FF1C96EE8C}" type="pres">
      <dgm:prSet presAssocID="{24C6ABE2-2110-F647-A6BA-9AAE716A23AE}" presName="descendantArrow" presStyleCnt="0"/>
      <dgm:spPr/>
    </dgm:pt>
    <dgm:pt modelId="{D380F6F6-CF18-2345-A74F-FDE18796F575}" type="pres">
      <dgm:prSet presAssocID="{72401490-A5DA-D14E-A560-EF66726187FD}" presName="childTextArrow" presStyleLbl="fgAccFollowNode1" presStyleIdx="2" presStyleCnt="9">
        <dgm:presLayoutVars>
          <dgm:bulletEnabled val="1"/>
        </dgm:presLayoutVars>
      </dgm:prSet>
      <dgm:spPr/>
    </dgm:pt>
    <dgm:pt modelId="{E7F4D529-EE61-FA46-8C6C-3665849EB00A}" type="pres">
      <dgm:prSet presAssocID="{9680B5DB-3E1A-6C40-BBA3-770769CE1445}" presName="childTextArrow" presStyleLbl="fgAccFollowNode1" presStyleIdx="3" presStyleCnt="9">
        <dgm:presLayoutVars>
          <dgm:bulletEnabled val="1"/>
        </dgm:presLayoutVars>
      </dgm:prSet>
      <dgm:spPr/>
    </dgm:pt>
    <dgm:pt modelId="{AF7CB47D-EA9F-AB49-AD4B-195AE061A0AF}" type="pres">
      <dgm:prSet presAssocID="{D121255B-A1B6-B84F-A7D3-7BE1B7D4D20B}" presName="sp" presStyleCnt="0"/>
      <dgm:spPr/>
    </dgm:pt>
    <dgm:pt modelId="{87F18BDB-1171-A74C-AE38-0140DBC9AE21}" type="pres">
      <dgm:prSet presAssocID="{843BA61E-7D3F-C84F-A2B0-576C2512FD7D}" presName="arrowAndChildren" presStyleCnt="0"/>
      <dgm:spPr/>
    </dgm:pt>
    <dgm:pt modelId="{AD1EC417-B49E-2D48-8BA0-8C91F112FAA7}" type="pres">
      <dgm:prSet presAssocID="{843BA61E-7D3F-C84F-A2B0-576C2512FD7D}" presName="parentTextArrow" presStyleLbl="node1" presStyleIdx="2" presStyleCnt="5"/>
      <dgm:spPr/>
    </dgm:pt>
    <dgm:pt modelId="{5B26307B-A624-C24C-ACCD-2DDF84EAA60B}" type="pres">
      <dgm:prSet presAssocID="{843BA61E-7D3F-C84F-A2B0-576C2512FD7D}" presName="arrow" presStyleLbl="node1" presStyleIdx="3" presStyleCnt="5"/>
      <dgm:spPr/>
    </dgm:pt>
    <dgm:pt modelId="{AC85C532-A897-9D43-AF2B-A27640ADCBB0}" type="pres">
      <dgm:prSet presAssocID="{843BA61E-7D3F-C84F-A2B0-576C2512FD7D}" presName="descendantArrow" presStyleCnt="0"/>
      <dgm:spPr/>
    </dgm:pt>
    <dgm:pt modelId="{86710D97-7381-7643-8E6C-7CD89531582C}" type="pres">
      <dgm:prSet presAssocID="{E62F3FFF-10B3-FF4B-9C78-96651AE7337F}" presName="childTextArrow" presStyleLbl="fgAccFollowNode1" presStyleIdx="4" presStyleCnt="9">
        <dgm:presLayoutVars>
          <dgm:bulletEnabled val="1"/>
        </dgm:presLayoutVars>
      </dgm:prSet>
      <dgm:spPr/>
    </dgm:pt>
    <dgm:pt modelId="{981DC774-DE51-BE4F-B703-2CC713DF2309}" type="pres">
      <dgm:prSet presAssocID="{30921778-804A-324E-8751-9A806FD2FC53}" presName="childTextArrow" presStyleLbl="fgAccFollowNode1" presStyleIdx="5" presStyleCnt="9">
        <dgm:presLayoutVars>
          <dgm:bulletEnabled val="1"/>
        </dgm:presLayoutVars>
      </dgm:prSet>
      <dgm:spPr/>
    </dgm:pt>
    <dgm:pt modelId="{FC3D2DC0-4C36-2745-8697-9F32D22B9C2E}" type="pres">
      <dgm:prSet presAssocID="{5017EDA6-EB71-7741-AA11-698F2727454B}" presName="childTextArrow" presStyleLbl="fgAccFollowNode1" presStyleIdx="6" presStyleCnt="9">
        <dgm:presLayoutVars>
          <dgm:bulletEnabled val="1"/>
        </dgm:presLayoutVars>
      </dgm:prSet>
      <dgm:spPr/>
    </dgm:pt>
    <dgm:pt modelId="{67E6B979-C45B-094B-A020-D8FFA4816A9F}" type="pres">
      <dgm:prSet presAssocID="{EA6BE41C-A630-7B44-8272-11E91B465E62}" presName="sp" presStyleCnt="0"/>
      <dgm:spPr/>
    </dgm:pt>
    <dgm:pt modelId="{2697E330-7545-4842-BD82-05F119779EB5}" type="pres">
      <dgm:prSet presAssocID="{8CB7D1A7-D135-BF4D-AAEA-D203A671227C}" presName="arrowAndChildren" presStyleCnt="0"/>
      <dgm:spPr/>
    </dgm:pt>
    <dgm:pt modelId="{BA9C48DF-74FF-6F4C-B4D4-B33E426FCF5D}" type="pres">
      <dgm:prSet presAssocID="{8CB7D1A7-D135-BF4D-AAEA-D203A671227C}" presName="parentTextArrow" presStyleLbl="node1" presStyleIdx="3" presStyleCnt="5"/>
      <dgm:spPr/>
    </dgm:pt>
    <dgm:pt modelId="{EB857481-C7D6-2D4C-89EB-D1F54EFE4799}" type="pres">
      <dgm:prSet presAssocID="{8CB7D1A7-D135-BF4D-AAEA-D203A671227C}" presName="arrow" presStyleLbl="node1" presStyleIdx="4" presStyleCnt="5"/>
      <dgm:spPr/>
    </dgm:pt>
    <dgm:pt modelId="{745E780D-0CFE-9741-9AD7-B95239441AD6}" type="pres">
      <dgm:prSet presAssocID="{8CB7D1A7-D135-BF4D-AAEA-D203A671227C}" presName="descendantArrow" presStyleCnt="0"/>
      <dgm:spPr/>
    </dgm:pt>
    <dgm:pt modelId="{23616CED-90C6-0049-B429-C173A89B11C4}" type="pres">
      <dgm:prSet presAssocID="{589603AB-A285-394E-AFED-C17ECA6B2D17}" presName="childTextArrow" presStyleLbl="fgAccFollowNode1" presStyleIdx="7" presStyleCnt="9">
        <dgm:presLayoutVars>
          <dgm:bulletEnabled val="1"/>
        </dgm:presLayoutVars>
      </dgm:prSet>
      <dgm:spPr/>
    </dgm:pt>
    <dgm:pt modelId="{1D9CA8F7-9FAF-B443-9050-42C2FD4F26E6}" type="pres">
      <dgm:prSet presAssocID="{5D23B203-7EF5-2B48-B366-D785D9A788AF}" presName="childTextArrow" presStyleLbl="fgAccFollowNode1" presStyleIdx="8" presStyleCnt="9">
        <dgm:presLayoutVars>
          <dgm:bulletEnabled val="1"/>
        </dgm:presLayoutVars>
      </dgm:prSet>
      <dgm:spPr/>
    </dgm:pt>
  </dgm:ptLst>
  <dgm:cxnLst>
    <dgm:cxn modelId="{F0DA4E03-A825-4D4F-8C58-7EA42F68EB3F}" type="presOf" srcId="{8CB7D1A7-D135-BF4D-AAEA-D203A671227C}" destId="{EB857481-C7D6-2D4C-89EB-D1F54EFE4799}" srcOrd="1" destOrd="0" presId="urn:microsoft.com/office/officeart/2005/8/layout/process4"/>
    <dgm:cxn modelId="{F2DCCE04-D1E3-7E45-B496-8B6FFBD1C199}" type="presOf" srcId="{E62F3FFF-10B3-FF4B-9C78-96651AE7337F}" destId="{86710D97-7381-7643-8E6C-7CD89531582C}" srcOrd="0" destOrd="0" presId="urn:microsoft.com/office/officeart/2005/8/layout/process4"/>
    <dgm:cxn modelId="{D352D111-5478-0E4E-A0A4-DDB52BB23BF6}" type="presOf" srcId="{89D7BDB2-8EE0-5E44-9D0D-DA4E1F1D8DF1}" destId="{076C065E-D8E3-AC43-9F26-8D74FDDEE281}" srcOrd="1" destOrd="0" presId="urn:microsoft.com/office/officeart/2005/8/layout/process4"/>
    <dgm:cxn modelId="{C861D611-4CB6-FF4E-9467-81B74FE5B798}" type="presOf" srcId="{89D7BDB2-8EE0-5E44-9D0D-DA4E1F1D8DF1}" destId="{BB601536-BA29-E54E-A0E9-6D7B0CF894E4}" srcOrd="0" destOrd="0" presId="urn:microsoft.com/office/officeart/2005/8/layout/process4"/>
    <dgm:cxn modelId="{A6FB8014-0D28-4A4A-A265-B6F1C6B735FB}" type="presOf" srcId="{24C6ABE2-2110-F647-A6BA-9AAE716A23AE}" destId="{1F270C8F-950D-4746-ADF7-6E5479824A59}" srcOrd="1" destOrd="0" presId="urn:microsoft.com/office/officeart/2005/8/layout/process4"/>
    <dgm:cxn modelId="{F3E48F21-1BD8-F54B-8902-FBFF3C977702}" srcId="{843BA61E-7D3F-C84F-A2B0-576C2512FD7D}" destId="{30921778-804A-324E-8751-9A806FD2FC53}" srcOrd="1" destOrd="0" parTransId="{B375C82C-ED30-7D49-99BE-1F8D20EB6937}" sibTransId="{432A75C1-333B-E84A-A691-E33135925CE8}"/>
    <dgm:cxn modelId="{14C06D23-2234-304B-8477-85A1E279E2FC}" type="presOf" srcId="{D4EE6F57-B316-BC49-8E8C-1BFACC17F892}" destId="{934F4480-EF98-2D4C-9B83-D15690809056}" srcOrd="0" destOrd="0" presId="urn:microsoft.com/office/officeart/2005/8/layout/process4"/>
    <dgm:cxn modelId="{6BA82641-8792-FC4B-A589-F389BBCB34B8}" type="presOf" srcId="{843BA61E-7D3F-C84F-A2B0-576C2512FD7D}" destId="{AD1EC417-B49E-2D48-8BA0-8C91F112FAA7}" srcOrd="0" destOrd="0" presId="urn:microsoft.com/office/officeart/2005/8/layout/process4"/>
    <dgm:cxn modelId="{FF53E347-A7BB-AD4E-B3C7-E393F1EAB406}" type="presOf" srcId="{92A9CFB3-6211-604C-BA9B-820E09FAB85C}" destId="{6A1A5C5D-E876-A54A-A276-7916B59DDE7B}" srcOrd="1" destOrd="0" presId="urn:microsoft.com/office/officeart/2005/8/layout/process4"/>
    <dgm:cxn modelId="{E8405F4B-D3C9-EF45-A023-913C5D7C3B04}" type="presOf" srcId="{C4B9E2AC-D8AF-E840-848B-E462825091A8}" destId="{8D380DDE-D8A1-CA46-A6EA-E26248B08CA0}" srcOrd="0" destOrd="0" presId="urn:microsoft.com/office/officeart/2005/8/layout/process4"/>
    <dgm:cxn modelId="{857DCA6C-399A-314E-B3AA-462DF3863979}" srcId="{24C6ABE2-2110-F647-A6BA-9AAE716A23AE}" destId="{72401490-A5DA-D14E-A560-EF66726187FD}" srcOrd="0" destOrd="0" parTransId="{33BBC257-8B0F-CD4A-BDB6-4C58E2A95B13}" sibTransId="{09732D72-3E4E-9241-97B1-5261BA30496E}"/>
    <dgm:cxn modelId="{60EF6050-DB2F-724F-96B7-276AA3DA615E}" srcId="{BF85C84A-E5F5-3A41-9F5F-AC27C1D4EE55}" destId="{24C6ABE2-2110-F647-A6BA-9AAE716A23AE}" srcOrd="2" destOrd="0" parTransId="{92E4C216-F7CD-F64C-ADAB-BEA527D63E05}" sibTransId="{D749398B-C184-6244-8E47-DFD1EFCA87FB}"/>
    <dgm:cxn modelId="{BE506953-A12F-0241-BC5E-7345095C914A}" type="presOf" srcId="{24C6ABE2-2110-F647-A6BA-9AAE716A23AE}" destId="{37DB57B1-C80C-0C44-AA7D-134BA0E548FE}" srcOrd="0" destOrd="0" presId="urn:microsoft.com/office/officeart/2005/8/layout/process4"/>
    <dgm:cxn modelId="{6B9C1B7A-3AF5-194E-A1A8-F7D8F18A9E28}" srcId="{843BA61E-7D3F-C84F-A2B0-576C2512FD7D}" destId="{5017EDA6-EB71-7741-AA11-698F2727454B}" srcOrd="2" destOrd="0" parTransId="{320CF892-E7F5-6C46-96C2-365E6DE6ABCB}" sibTransId="{B6E7E68A-3CC2-5741-9540-C36D123C71FF}"/>
    <dgm:cxn modelId="{2200475A-0384-9A4B-A992-3C56EADE1B6A}" type="presOf" srcId="{30921778-804A-324E-8751-9A806FD2FC53}" destId="{981DC774-DE51-BE4F-B703-2CC713DF2309}" srcOrd="0" destOrd="0" presId="urn:microsoft.com/office/officeart/2005/8/layout/process4"/>
    <dgm:cxn modelId="{8CC5585A-F5E8-9A4D-A5C2-216A1BE3293E}" type="presOf" srcId="{92A9CFB3-6211-604C-BA9B-820E09FAB85C}" destId="{289024DD-E6DD-E44D-9D59-0D76F8C2DF48}" srcOrd="0" destOrd="0" presId="urn:microsoft.com/office/officeart/2005/8/layout/process4"/>
    <dgm:cxn modelId="{2F6D108B-63A0-8C4C-ACCC-2F7600CF6A56}" srcId="{89D7BDB2-8EE0-5E44-9D0D-DA4E1F1D8DF1}" destId="{C4B9E2AC-D8AF-E840-848B-E462825091A8}" srcOrd="0" destOrd="0" parTransId="{2B7F55DB-AA4F-9B41-A762-8E0A2159D270}" sibTransId="{ED507F0B-74D1-624F-B04C-8FEF7C15A45F}"/>
    <dgm:cxn modelId="{7CD1AC90-4B91-694F-8303-05E7F2E01015}" srcId="{BF85C84A-E5F5-3A41-9F5F-AC27C1D4EE55}" destId="{92A9CFB3-6211-604C-BA9B-820E09FAB85C}" srcOrd="4" destOrd="0" parTransId="{E5B64DAB-919B-F848-B3BB-42E02F516881}" sibTransId="{0609CE27-85DB-7B41-8A6A-A13954516E15}"/>
    <dgm:cxn modelId="{B86FBE96-E386-4940-BAA2-DAFC245438FC}" srcId="{8CB7D1A7-D135-BF4D-AAEA-D203A671227C}" destId="{5D23B203-7EF5-2B48-B366-D785D9A788AF}" srcOrd="1" destOrd="0" parTransId="{A5C585F6-28C3-E74A-BC19-1A4C39B353A4}" sibTransId="{C827D877-48B5-9043-9C22-CA35708494B1}"/>
    <dgm:cxn modelId="{F0443D99-C7BD-A140-B267-B503CA224C1A}" srcId="{92A9CFB3-6211-604C-BA9B-820E09FAB85C}" destId="{D4EE6F57-B316-BC49-8E8C-1BFACC17F892}" srcOrd="0" destOrd="0" parTransId="{370C6179-63F6-6148-BED1-780B15F56650}" sibTransId="{EE2828EE-8C79-D046-8BA5-612764FDCFFB}"/>
    <dgm:cxn modelId="{58E88B9A-7B41-7A42-8F5B-113A9A689092}" type="presOf" srcId="{5D23B203-7EF5-2B48-B366-D785D9A788AF}" destId="{1D9CA8F7-9FAF-B443-9050-42C2FD4F26E6}" srcOrd="0" destOrd="0" presId="urn:microsoft.com/office/officeart/2005/8/layout/process4"/>
    <dgm:cxn modelId="{78CC749B-FD9B-F14D-86B9-C06165A84CAD}" type="presOf" srcId="{589603AB-A285-394E-AFED-C17ECA6B2D17}" destId="{23616CED-90C6-0049-B429-C173A89B11C4}" srcOrd="0" destOrd="0" presId="urn:microsoft.com/office/officeart/2005/8/layout/process4"/>
    <dgm:cxn modelId="{320B64A8-006E-0147-95F1-83C05761E8B9}" srcId="{BF85C84A-E5F5-3A41-9F5F-AC27C1D4EE55}" destId="{89D7BDB2-8EE0-5E44-9D0D-DA4E1F1D8DF1}" srcOrd="3" destOrd="0" parTransId="{3006FBAE-534A-CD40-90CE-3A6C37B7995B}" sibTransId="{E63166DA-1CB5-F246-8D2B-ADC2F4850387}"/>
    <dgm:cxn modelId="{2A8613AF-2982-CF46-B4ED-D4923115A5EC}" srcId="{8CB7D1A7-D135-BF4D-AAEA-D203A671227C}" destId="{589603AB-A285-394E-AFED-C17ECA6B2D17}" srcOrd="0" destOrd="0" parTransId="{322B68CD-E98E-D44C-A394-F455EEDFB8D3}" sibTransId="{9C823A49-D0A9-2945-8267-6CC8371CD4E2}"/>
    <dgm:cxn modelId="{2AF16FBD-1E00-C842-8467-792B22D2FEFE}" type="presOf" srcId="{5017EDA6-EB71-7741-AA11-698F2727454B}" destId="{FC3D2DC0-4C36-2745-8697-9F32D22B9C2E}" srcOrd="0" destOrd="0" presId="urn:microsoft.com/office/officeart/2005/8/layout/process4"/>
    <dgm:cxn modelId="{66E773C1-C318-3F4B-BDB8-AE7A553617DC}" type="presOf" srcId="{8CB7D1A7-D135-BF4D-AAEA-D203A671227C}" destId="{BA9C48DF-74FF-6F4C-B4D4-B33E426FCF5D}" srcOrd="0" destOrd="0" presId="urn:microsoft.com/office/officeart/2005/8/layout/process4"/>
    <dgm:cxn modelId="{8B0285C2-5F14-D144-8FFD-76458CE3866F}" type="presOf" srcId="{72401490-A5DA-D14E-A560-EF66726187FD}" destId="{D380F6F6-CF18-2345-A74F-FDE18796F575}" srcOrd="0" destOrd="0" presId="urn:microsoft.com/office/officeart/2005/8/layout/process4"/>
    <dgm:cxn modelId="{6E4D85CD-5E7D-2C4D-8EF6-A31BB6665819}" srcId="{843BA61E-7D3F-C84F-A2B0-576C2512FD7D}" destId="{E62F3FFF-10B3-FF4B-9C78-96651AE7337F}" srcOrd="0" destOrd="0" parTransId="{7AC2CB80-E549-8446-9763-51B55A5A45BE}" sibTransId="{872561F3-C30E-8349-B3AC-B51EEA96AE18}"/>
    <dgm:cxn modelId="{62A40ACF-E8DD-F947-AFFA-B34600A177A8}" type="presOf" srcId="{9680B5DB-3E1A-6C40-BBA3-770769CE1445}" destId="{E7F4D529-EE61-FA46-8C6C-3665849EB00A}" srcOrd="0" destOrd="0" presId="urn:microsoft.com/office/officeart/2005/8/layout/process4"/>
    <dgm:cxn modelId="{5F3070D0-FFF0-0F44-ADE3-3FBF09994465}" srcId="{BF85C84A-E5F5-3A41-9F5F-AC27C1D4EE55}" destId="{843BA61E-7D3F-C84F-A2B0-576C2512FD7D}" srcOrd="1" destOrd="0" parTransId="{C850FBF3-5F07-D242-B78F-0CD1A9E695AE}" sibTransId="{D121255B-A1B6-B84F-A7D3-7BE1B7D4D20B}"/>
    <dgm:cxn modelId="{A1014CDC-5E5B-554F-B2D7-78B02108E680}" type="presOf" srcId="{843BA61E-7D3F-C84F-A2B0-576C2512FD7D}" destId="{5B26307B-A624-C24C-ACCD-2DDF84EAA60B}" srcOrd="1" destOrd="0" presId="urn:microsoft.com/office/officeart/2005/8/layout/process4"/>
    <dgm:cxn modelId="{262B09E0-F9BA-B44A-AE53-F706DAEC4FB8}" srcId="{BF85C84A-E5F5-3A41-9F5F-AC27C1D4EE55}" destId="{8CB7D1A7-D135-BF4D-AAEA-D203A671227C}" srcOrd="0" destOrd="0" parTransId="{8BD0A86A-7E79-5444-B7C6-2FDB26BA9AAE}" sibTransId="{EA6BE41C-A630-7B44-8272-11E91B465E62}"/>
    <dgm:cxn modelId="{62D938E7-1465-9547-AC78-7C19AE7B57DE}" srcId="{24C6ABE2-2110-F647-A6BA-9AAE716A23AE}" destId="{9680B5DB-3E1A-6C40-BBA3-770769CE1445}" srcOrd="1" destOrd="0" parTransId="{DA0E61AD-DBE2-9643-ACAF-35F61AA95EE9}" sibTransId="{8D9340BF-2C9B-504D-A8F8-0ECA8B83DBF0}"/>
    <dgm:cxn modelId="{855270EA-59D3-794C-B029-E10F2B6B9E01}" type="presOf" srcId="{BF85C84A-E5F5-3A41-9F5F-AC27C1D4EE55}" destId="{C17D6A2C-360B-0B47-9402-D3C745092FC4}" srcOrd="0" destOrd="0" presId="urn:microsoft.com/office/officeart/2005/8/layout/process4"/>
    <dgm:cxn modelId="{D3310410-D9D4-4747-AD0E-518E3BC6F6FD}" type="presParOf" srcId="{C17D6A2C-360B-0B47-9402-D3C745092FC4}" destId="{EA6DABDF-A844-EB45-BAB5-D6F4DEA6D01F}" srcOrd="0" destOrd="0" presId="urn:microsoft.com/office/officeart/2005/8/layout/process4"/>
    <dgm:cxn modelId="{107B07CE-E2AC-4E48-AC9A-908500CA92F2}" type="presParOf" srcId="{EA6DABDF-A844-EB45-BAB5-D6F4DEA6D01F}" destId="{289024DD-E6DD-E44D-9D59-0D76F8C2DF48}" srcOrd="0" destOrd="0" presId="urn:microsoft.com/office/officeart/2005/8/layout/process4"/>
    <dgm:cxn modelId="{041E63AD-A65B-A542-8EC5-FEC23605A3F9}" type="presParOf" srcId="{EA6DABDF-A844-EB45-BAB5-D6F4DEA6D01F}" destId="{6A1A5C5D-E876-A54A-A276-7916B59DDE7B}" srcOrd="1" destOrd="0" presId="urn:microsoft.com/office/officeart/2005/8/layout/process4"/>
    <dgm:cxn modelId="{B41A31B1-967A-3045-954E-EEB6C6CD4B00}" type="presParOf" srcId="{EA6DABDF-A844-EB45-BAB5-D6F4DEA6D01F}" destId="{668B9D5A-D731-7446-927D-628B106088A5}" srcOrd="2" destOrd="0" presId="urn:microsoft.com/office/officeart/2005/8/layout/process4"/>
    <dgm:cxn modelId="{0F6B578B-29B0-8B46-AB96-3D5EA4867334}" type="presParOf" srcId="{668B9D5A-D731-7446-927D-628B106088A5}" destId="{934F4480-EF98-2D4C-9B83-D15690809056}" srcOrd="0" destOrd="0" presId="urn:microsoft.com/office/officeart/2005/8/layout/process4"/>
    <dgm:cxn modelId="{610E9721-CCE9-874D-A440-A416D9D8B329}" type="presParOf" srcId="{C17D6A2C-360B-0B47-9402-D3C745092FC4}" destId="{8C0377E9-CC77-EC4B-BA09-E1AF0AFFCAFC}" srcOrd="1" destOrd="0" presId="urn:microsoft.com/office/officeart/2005/8/layout/process4"/>
    <dgm:cxn modelId="{22CD6A89-3477-5642-B767-B961C2127FEE}" type="presParOf" srcId="{C17D6A2C-360B-0B47-9402-D3C745092FC4}" destId="{0D9A1043-0844-6B42-A15D-4BD8C433C5FE}" srcOrd="2" destOrd="0" presId="urn:microsoft.com/office/officeart/2005/8/layout/process4"/>
    <dgm:cxn modelId="{47BB46AF-E7A6-7841-B645-A98095DB05F7}" type="presParOf" srcId="{0D9A1043-0844-6B42-A15D-4BD8C433C5FE}" destId="{BB601536-BA29-E54E-A0E9-6D7B0CF894E4}" srcOrd="0" destOrd="0" presId="urn:microsoft.com/office/officeart/2005/8/layout/process4"/>
    <dgm:cxn modelId="{E1ADE432-25D6-7B4B-841C-72B77B1BBB70}" type="presParOf" srcId="{0D9A1043-0844-6B42-A15D-4BD8C433C5FE}" destId="{076C065E-D8E3-AC43-9F26-8D74FDDEE281}" srcOrd="1" destOrd="0" presId="urn:microsoft.com/office/officeart/2005/8/layout/process4"/>
    <dgm:cxn modelId="{73800BE3-A292-C74C-BC46-0CC302AF954E}" type="presParOf" srcId="{0D9A1043-0844-6B42-A15D-4BD8C433C5FE}" destId="{EE37C080-4358-9543-9417-392157613AB9}" srcOrd="2" destOrd="0" presId="urn:microsoft.com/office/officeart/2005/8/layout/process4"/>
    <dgm:cxn modelId="{EBA9C8EB-E04D-A647-97E6-1A727B415922}" type="presParOf" srcId="{EE37C080-4358-9543-9417-392157613AB9}" destId="{8D380DDE-D8A1-CA46-A6EA-E26248B08CA0}" srcOrd="0" destOrd="0" presId="urn:microsoft.com/office/officeart/2005/8/layout/process4"/>
    <dgm:cxn modelId="{E280690D-9958-B340-841D-3204ED99D465}" type="presParOf" srcId="{C17D6A2C-360B-0B47-9402-D3C745092FC4}" destId="{DBC4B77A-E1D5-E740-A9EF-1D21F455E5AE}" srcOrd="3" destOrd="0" presId="urn:microsoft.com/office/officeart/2005/8/layout/process4"/>
    <dgm:cxn modelId="{DDD570CB-382B-3544-9CD6-4C4C1E176958}" type="presParOf" srcId="{C17D6A2C-360B-0B47-9402-D3C745092FC4}" destId="{4714A245-D030-F045-A9E7-AA0FE37DE911}" srcOrd="4" destOrd="0" presId="urn:microsoft.com/office/officeart/2005/8/layout/process4"/>
    <dgm:cxn modelId="{429F0035-A91A-2941-AD6B-F75C0888CAEB}" type="presParOf" srcId="{4714A245-D030-F045-A9E7-AA0FE37DE911}" destId="{37DB57B1-C80C-0C44-AA7D-134BA0E548FE}" srcOrd="0" destOrd="0" presId="urn:microsoft.com/office/officeart/2005/8/layout/process4"/>
    <dgm:cxn modelId="{983DE708-37C0-1F4F-B32A-B3F6C7744EFB}" type="presParOf" srcId="{4714A245-D030-F045-A9E7-AA0FE37DE911}" destId="{1F270C8F-950D-4746-ADF7-6E5479824A59}" srcOrd="1" destOrd="0" presId="urn:microsoft.com/office/officeart/2005/8/layout/process4"/>
    <dgm:cxn modelId="{47C1107D-6892-C74D-B67F-F73590415ACA}" type="presParOf" srcId="{4714A245-D030-F045-A9E7-AA0FE37DE911}" destId="{9595F397-6B16-E147-9582-A2FF1C96EE8C}" srcOrd="2" destOrd="0" presId="urn:microsoft.com/office/officeart/2005/8/layout/process4"/>
    <dgm:cxn modelId="{1004EE42-CBD7-9342-A0E4-99077A29686F}" type="presParOf" srcId="{9595F397-6B16-E147-9582-A2FF1C96EE8C}" destId="{D380F6F6-CF18-2345-A74F-FDE18796F575}" srcOrd="0" destOrd="0" presId="urn:microsoft.com/office/officeart/2005/8/layout/process4"/>
    <dgm:cxn modelId="{2FD1CEE4-2E17-0048-B03F-374AA67F507D}" type="presParOf" srcId="{9595F397-6B16-E147-9582-A2FF1C96EE8C}" destId="{E7F4D529-EE61-FA46-8C6C-3665849EB00A}" srcOrd="1" destOrd="0" presId="urn:microsoft.com/office/officeart/2005/8/layout/process4"/>
    <dgm:cxn modelId="{5C5DC16E-1D6F-104A-8F5A-D8C2F5B40B2C}" type="presParOf" srcId="{C17D6A2C-360B-0B47-9402-D3C745092FC4}" destId="{AF7CB47D-EA9F-AB49-AD4B-195AE061A0AF}" srcOrd="5" destOrd="0" presId="urn:microsoft.com/office/officeart/2005/8/layout/process4"/>
    <dgm:cxn modelId="{CFD1803D-F59C-3044-8936-9239475C65B6}" type="presParOf" srcId="{C17D6A2C-360B-0B47-9402-D3C745092FC4}" destId="{87F18BDB-1171-A74C-AE38-0140DBC9AE21}" srcOrd="6" destOrd="0" presId="urn:microsoft.com/office/officeart/2005/8/layout/process4"/>
    <dgm:cxn modelId="{B232C612-8C76-8E45-9B2D-54267754AA1C}" type="presParOf" srcId="{87F18BDB-1171-A74C-AE38-0140DBC9AE21}" destId="{AD1EC417-B49E-2D48-8BA0-8C91F112FAA7}" srcOrd="0" destOrd="0" presId="urn:microsoft.com/office/officeart/2005/8/layout/process4"/>
    <dgm:cxn modelId="{11F71D61-0CC6-5041-B99F-0D6242E6F18E}" type="presParOf" srcId="{87F18BDB-1171-A74C-AE38-0140DBC9AE21}" destId="{5B26307B-A624-C24C-ACCD-2DDF84EAA60B}" srcOrd="1" destOrd="0" presId="urn:microsoft.com/office/officeart/2005/8/layout/process4"/>
    <dgm:cxn modelId="{6A6C40D3-986F-774B-934C-B96602564B32}" type="presParOf" srcId="{87F18BDB-1171-A74C-AE38-0140DBC9AE21}" destId="{AC85C532-A897-9D43-AF2B-A27640ADCBB0}" srcOrd="2" destOrd="0" presId="urn:microsoft.com/office/officeart/2005/8/layout/process4"/>
    <dgm:cxn modelId="{62D8968C-C0AB-6342-AB6C-898873D33F28}" type="presParOf" srcId="{AC85C532-A897-9D43-AF2B-A27640ADCBB0}" destId="{86710D97-7381-7643-8E6C-7CD89531582C}" srcOrd="0" destOrd="0" presId="urn:microsoft.com/office/officeart/2005/8/layout/process4"/>
    <dgm:cxn modelId="{C67B9758-383B-0E4B-93F2-07C238607F04}" type="presParOf" srcId="{AC85C532-A897-9D43-AF2B-A27640ADCBB0}" destId="{981DC774-DE51-BE4F-B703-2CC713DF2309}" srcOrd="1" destOrd="0" presId="urn:microsoft.com/office/officeart/2005/8/layout/process4"/>
    <dgm:cxn modelId="{C17FCB5D-B47A-474C-9257-5C23FDB0D475}" type="presParOf" srcId="{AC85C532-A897-9D43-AF2B-A27640ADCBB0}" destId="{FC3D2DC0-4C36-2745-8697-9F32D22B9C2E}" srcOrd="2" destOrd="0" presId="urn:microsoft.com/office/officeart/2005/8/layout/process4"/>
    <dgm:cxn modelId="{E609A8AA-2EF0-2344-9376-2E9C0BFBB355}" type="presParOf" srcId="{C17D6A2C-360B-0B47-9402-D3C745092FC4}" destId="{67E6B979-C45B-094B-A020-D8FFA4816A9F}" srcOrd="7" destOrd="0" presId="urn:microsoft.com/office/officeart/2005/8/layout/process4"/>
    <dgm:cxn modelId="{DD450D84-0345-7E4F-9444-6635E8E4C89A}" type="presParOf" srcId="{C17D6A2C-360B-0B47-9402-D3C745092FC4}" destId="{2697E330-7545-4842-BD82-05F119779EB5}" srcOrd="8" destOrd="0" presId="urn:microsoft.com/office/officeart/2005/8/layout/process4"/>
    <dgm:cxn modelId="{C84BAE5D-1E29-8B4E-B56D-B534C10C1F7A}" type="presParOf" srcId="{2697E330-7545-4842-BD82-05F119779EB5}" destId="{BA9C48DF-74FF-6F4C-B4D4-B33E426FCF5D}" srcOrd="0" destOrd="0" presId="urn:microsoft.com/office/officeart/2005/8/layout/process4"/>
    <dgm:cxn modelId="{EB41654D-3A47-A343-A3F9-209021BC607F}" type="presParOf" srcId="{2697E330-7545-4842-BD82-05F119779EB5}" destId="{EB857481-C7D6-2D4C-89EB-D1F54EFE4799}" srcOrd="1" destOrd="0" presId="urn:microsoft.com/office/officeart/2005/8/layout/process4"/>
    <dgm:cxn modelId="{AEE94624-2759-6843-A18F-C173A39EA647}" type="presParOf" srcId="{2697E330-7545-4842-BD82-05F119779EB5}" destId="{745E780D-0CFE-9741-9AD7-B95239441AD6}" srcOrd="2" destOrd="0" presId="urn:microsoft.com/office/officeart/2005/8/layout/process4"/>
    <dgm:cxn modelId="{CCCE37E8-5937-FC42-971C-FF4B82179F40}" type="presParOf" srcId="{745E780D-0CFE-9741-9AD7-B95239441AD6}" destId="{23616CED-90C6-0049-B429-C173A89B11C4}" srcOrd="0" destOrd="0" presId="urn:microsoft.com/office/officeart/2005/8/layout/process4"/>
    <dgm:cxn modelId="{F660FD03-5563-4D41-9583-5DD151CCD1C7}" type="presParOf" srcId="{745E780D-0CFE-9741-9AD7-B95239441AD6}" destId="{1D9CA8F7-9FAF-B443-9050-42C2FD4F26E6}" srcOrd="1"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8F2A902-9075-FC40-A058-E7EC8718ECDD}" type="doc">
      <dgm:prSet loTypeId="urn:microsoft.com/office/officeart/2005/8/layout/matrix2" loCatId="matrix" qsTypeId="urn:microsoft.com/office/officeart/2005/8/quickstyle/simple4" qsCatId="simple" csTypeId="urn:microsoft.com/office/officeart/2005/8/colors/colorful3" csCatId="colorful" phldr="1"/>
      <dgm:spPr/>
      <dgm:t>
        <a:bodyPr/>
        <a:lstStyle/>
        <a:p>
          <a:endParaRPr lang="en-US"/>
        </a:p>
      </dgm:t>
    </dgm:pt>
    <dgm:pt modelId="{A04800D4-16D0-CB4B-B1C3-C2185D1C1BD7}">
      <dgm:prSet custT="1"/>
      <dgm:spPr>
        <a:xfrm>
          <a:off x="2106001" y="368482"/>
          <a:ext cx="2267585" cy="2267585"/>
        </a:xfrm>
        <a:prstGeom prst="roundRect">
          <a:avLst/>
        </a:prstGeom>
        <a:solidFill>
          <a:srgbClr val="2B142D">
            <a:lumMod val="75000"/>
            <a:lumOff val="25000"/>
          </a:srgbClr>
        </a:soli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sz="2000" dirty="0">
              <a:solidFill>
                <a:sysClr val="window" lastClr="FFFFFF"/>
              </a:solidFill>
              <a:effectLst>
                <a:outerShdw blurRad="38100" dist="38100" dir="2700000" algn="tl">
                  <a:srgbClr val="000000">
                    <a:alpha val="43137"/>
                  </a:srgbClr>
                </a:outerShdw>
              </a:effectLst>
              <a:latin typeface="Rockwell"/>
              <a:ea typeface="+mn-ea"/>
              <a:cs typeface="+mn-cs"/>
            </a:rPr>
            <a:t>ARM architecture supports seven execution modes</a:t>
          </a:r>
        </a:p>
      </dgm:t>
    </dgm:pt>
    <dgm:pt modelId="{2AFE30F1-250B-BF48-BFEE-2F5776E422D1}" type="parTrans" cxnId="{1B52649C-F5A7-0F40-BACF-0950529BA4DE}">
      <dgm:prSet/>
      <dgm:spPr/>
      <dgm:t>
        <a:bodyPr/>
        <a:lstStyle/>
        <a:p>
          <a:endParaRPr lang="en-US"/>
        </a:p>
      </dgm:t>
    </dgm:pt>
    <dgm:pt modelId="{F0EB69C3-63FE-F14E-B12D-776BFED2A03B}" type="sibTrans" cxnId="{1B52649C-F5A7-0F40-BACF-0950529BA4DE}">
      <dgm:prSet/>
      <dgm:spPr/>
      <dgm:t>
        <a:bodyPr/>
        <a:lstStyle/>
        <a:p>
          <a:endParaRPr lang="en-US"/>
        </a:p>
      </dgm:t>
    </dgm:pt>
    <dgm:pt modelId="{6EB13D03-1353-CC49-A413-1BBA83F3F059}">
      <dgm:prSet custT="1"/>
      <dgm:spPr>
        <a:xfrm>
          <a:off x="4770413" y="368482"/>
          <a:ext cx="2267585" cy="2267585"/>
        </a:xfrm>
        <a:prstGeom prst="roundRect">
          <a:avLst/>
        </a:prstGeom>
        <a:solidFill>
          <a:srgbClr val="0070C0"/>
        </a:soli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sz="1600" dirty="0">
              <a:solidFill>
                <a:sysClr val="window" lastClr="FFFFFF"/>
              </a:solidFill>
              <a:effectLst>
                <a:outerShdw blurRad="38100" dist="38100" dir="2700000" algn="tl">
                  <a:srgbClr val="000000">
                    <a:alpha val="43137"/>
                  </a:srgbClr>
                </a:outerShdw>
              </a:effectLst>
              <a:latin typeface="Rockwell"/>
              <a:ea typeface="+mn-ea"/>
              <a:cs typeface="+mn-cs"/>
            </a:rPr>
            <a:t>Most application programs execute in user mode</a:t>
          </a:r>
        </a:p>
      </dgm:t>
    </dgm:pt>
    <dgm:pt modelId="{7193FF67-453D-3849-B9C0-88AEEB94B5C8}" type="parTrans" cxnId="{986B1AB5-75D5-4B47-A67D-12E61BCAC313}">
      <dgm:prSet/>
      <dgm:spPr/>
      <dgm:t>
        <a:bodyPr/>
        <a:lstStyle/>
        <a:p>
          <a:endParaRPr lang="en-US"/>
        </a:p>
      </dgm:t>
    </dgm:pt>
    <dgm:pt modelId="{0118D4E5-CF14-034C-9152-2565C3801E4A}" type="sibTrans" cxnId="{986B1AB5-75D5-4B47-A67D-12E61BCAC313}">
      <dgm:prSet/>
      <dgm:spPr/>
      <dgm:t>
        <a:bodyPr/>
        <a:lstStyle/>
        <a:p>
          <a:endParaRPr lang="en-US"/>
        </a:p>
      </dgm:t>
    </dgm:pt>
    <dgm:pt modelId="{F051DA9D-A738-E64B-B758-FB14D26172F6}">
      <dgm:prSet custT="1"/>
      <dgm:spPr>
        <a:xfrm>
          <a:off x="4770413" y="368482"/>
          <a:ext cx="2267585" cy="2267585"/>
        </a:xfrm>
        <a:prstGeom prst="roundRect">
          <a:avLst/>
        </a:prstGeom>
        <a:solidFill>
          <a:srgbClr val="0070C0"/>
        </a:soli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sz="1200" dirty="0">
              <a:solidFill>
                <a:sysClr val="window" lastClr="FFFFFF"/>
              </a:solidFill>
              <a:effectLst>
                <a:outerShdw blurRad="38100" dist="38100" dir="2700000" algn="tl">
                  <a:srgbClr val="000000">
                    <a:alpha val="43137"/>
                  </a:srgbClr>
                </a:outerShdw>
              </a:effectLst>
              <a:latin typeface="Rockwell"/>
              <a:ea typeface="+mn-ea"/>
              <a:cs typeface="+mn-cs"/>
            </a:rPr>
            <a:t>While the processor is in user mode the program being executed is unable to access protected system resources or to change mode, other than by causing an exception to occur</a:t>
          </a:r>
        </a:p>
      </dgm:t>
    </dgm:pt>
    <dgm:pt modelId="{DE9A338D-8908-A549-991C-3BD7E8D4DAF7}" type="parTrans" cxnId="{D68ECC9E-7DA1-B344-BB1B-2459AC43DD8B}">
      <dgm:prSet/>
      <dgm:spPr/>
      <dgm:t>
        <a:bodyPr/>
        <a:lstStyle/>
        <a:p>
          <a:endParaRPr lang="en-US"/>
        </a:p>
      </dgm:t>
    </dgm:pt>
    <dgm:pt modelId="{1E87BD43-2FEC-5D49-9886-CB67DF71783C}" type="sibTrans" cxnId="{D68ECC9E-7DA1-B344-BB1B-2459AC43DD8B}">
      <dgm:prSet/>
      <dgm:spPr/>
      <dgm:t>
        <a:bodyPr/>
        <a:lstStyle/>
        <a:p>
          <a:endParaRPr lang="en-US"/>
        </a:p>
      </dgm:t>
    </dgm:pt>
    <dgm:pt modelId="{3E357887-DD75-B042-A2CD-493136B4903B}">
      <dgm:prSet custT="1"/>
      <dgm:spPr>
        <a:xfrm>
          <a:off x="2106001" y="3032895"/>
          <a:ext cx="2267585" cy="2267585"/>
        </a:xfrm>
        <a:prstGeom prst="roundRect">
          <a:avLst/>
        </a:prstGeom>
        <a:solidFill>
          <a:srgbClr val="A3A101">
            <a:lumMod val="75000"/>
          </a:srgbClr>
        </a:soli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sz="1800" dirty="0">
              <a:solidFill>
                <a:sysClr val="window" lastClr="FFFFFF"/>
              </a:solidFill>
              <a:effectLst>
                <a:outerShdw blurRad="38100" dist="38100" dir="2700000" algn="tl">
                  <a:srgbClr val="000000">
                    <a:alpha val="43137"/>
                  </a:srgbClr>
                </a:outerShdw>
              </a:effectLst>
              <a:latin typeface="Rockwell"/>
              <a:ea typeface="+mn-ea"/>
              <a:cs typeface="+mn-cs"/>
            </a:rPr>
            <a:t>Remaining six execution modes are referred to as privileged modes</a:t>
          </a:r>
        </a:p>
      </dgm:t>
    </dgm:pt>
    <dgm:pt modelId="{8463C77B-B6C7-C444-9558-E01A507D2AFC}" type="parTrans" cxnId="{223A4213-7E51-0745-9441-B9DC6297C3B0}">
      <dgm:prSet/>
      <dgm:spPr/>
      <dgm:t>
        <a:bodyPr/>
        <a:lstStyle/>
        <a:p>
          <a:endParaRPr lang="en-US"/>
        </a:p>
      </dgm:t>
    </dgm:pt>
    <dgm:pt modelId="{E7D5C247-58A9-6841-8159-3A27B31AF063}" type="sibTrans" cxnId="{223A4213-7E51-0745-9441-B9DC6297C3B0}">
      <dgm:prSet/>
      <dgm:spPr/>
      <dgm:t>
        <a:bodyPr/>
        <a:lstStyle/>
        <a:p>
          <a:endParaRPr lang="en-US"/>
        </a:p>
      </dgm:t>
    </dgm:pt>
    <dgm:pt modelId="{BC6F4297-211F-DD48-91FB-2C4AF59742E9}">
      <dgm:prSet custT="1"/>
      <dgm:spPr>
        <a:xfrm>
          <a:off x="2106001" y="3032895"/>
          <a:ext cx="2267585" cy="2267585"/>
        </a:xfrm>
        <a:prstGeom prst="roundRect">
          <a:avLst/>
        </a:prstGeom>
        <a:solidFill>
          <a:srgbClr val="A3A101">
            <a:lumMod val="75000"/>
          </a:srgbClr>
        </a:soli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sz="1400" dirty="0">
              <a:solidFill>
                <a:sysClr val="window" lastClr="FFFFFF"/>
              </a:solidFill>
              <a:effectLst>
                <a:outerShdw blurRad="38100" dist="38100" dir="2700000" algn="tl">
                  <a:srgbClr val="000000">
                    <a:alpha val="43137"/>
                  </a:srgbClr>
                </a:outerShdw>
              </a:effectLst>
              <a:latin typeface="Rockwell"/>
              <a:ea typeface="+mn-ea"/>
              <a:cs typeface="+mn-cs"/>
            </a:rPr>
            <a:t>These modes are used to run system software</a:t>
          </a:r>
        </a:p>
      </dgm:t>
    </dgm:pt>
    <dgm:pt modelId="{647F5C3F-FFB4-8F46-A9A9-92C43DDA85EE}" type="parTrans" cxnId="{8C9A5087-A578-9248-8AE8-16F17AC94DE7}">
      <dgm:prSet/>
      <dgm:spPr/>
      <dgm:t>
        <a:bodyPr/>
        <a:lstStyle/>
        <a:p>
          <a:endParaRPr lang="en-US"/>
        </a:p>
      </dgm:t>
    </dgm:pt>
    <dgm:pt modelId="{38C5312C-BEE4-C941-8AA7-E1E74D232C34}" type="sibTrans" cxnId="{8C9A5087-A578-9248-8AE8-16F17AC94DE7}">
      <dgm:prSet/>
      <dgm:spPr/>
      <dgm:t>
        <a:bodyPr/>
        <a:lstStyle/>
        <a:p>
          <a:endParaRPr lang="en-US"/>
        </a:p>
      </dgm:t>
    </dgm:pt>
    <dgm:pt modelId="{6AA51245-72BB-D24F-B7FF-F9FCF32F757E}">
      <dgm:prSet custT="1"/>
      <dgm:spPr>
        <a:xfrm>
          <a:off x="4770413" y="3032895"/>
          <a:ext cx="2267585" cy="2267585"/>
        </a:xfrm>
        <a:prstGeom prst="roundRect">
          <a:avLst/>
        </a:prstGeom>
        <a:solidFill>
          <a:srgbClr val="F7901E">
            <a:lumMod val="50000"/>
          </a:srgbClr>
        </a:soli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sz="1400" dirty="0">
              <a:solidFill>
                <a:sysClr val="window" lastClr="FFFFFF"/>
              </a:solidFill>
              <a:effectLst>
                <a:outerShdw blurRad="38100" dist="38100" dir="2700000" algn="tl">
                  <a:srgbClr val="000000">
                    <a:alpha val="43137"/>
                  </a:srgbClr>
                </a:outerShdw>
              </a:effectLst>
              <a:latin typeface="Rockwell"/>
              <a:ea typeface="+mn-ea"/>
              <a:cs typeface="+mn-cs"/>
            </a:rPr>
            <a:t>Advantages to defining so many different privileged modes</a:t>
          </a:r>
        </a:p>
      </dgm:t>
    </dgm:pt>
    <dgm:pt modelId="{D2DD2781-3ED1-5E48-A6DF-9DF9FA25EA66}" type="parTrans" cxnId="{F391B1CC-17E4-D24B-8F52-497D94BE8CCA}">
      <dgm:prSet/>
      <dgm:spPr/>
      <dgm:t>
        <a:bodyPr/>
        <a:lstStyle/>
        <a:p>
          <a:endParaRPr lang="en-US"/>
        </a:p>
      </dgm:t>
    </dgm:pt>
    <dgm:pt modelId="{F3B90CFF-D0BB-D242-979C-C945E48DBD74}" type="sibTrans" cxnId="{F391B1CC-17E4-D24B-8F52-497D94BE8CCA}">
      <dgm:prSet/>
      <dgm:spPr/>
      <dgm:t>
        <a:bodyPr/>
        <a:lstStyle/>
        <a:p>
          <a:endParaRPr lang="en-US"/>
        </a:p>
      </dgm:t>
    </dgm:pt>
    <dgm:pt modelId="{1170A62F-A1ED-EC49-825F-717CC7576201}">
      <dgm:prSet custT="1"/>
      <dgm:spPr>
        <a:xfrm>
          <a:off x="4770413" y="3032895"/>
          <a:ext cx="2267585" cy="2267585"/>
        </a:xfrm>
        <a:prstGeom prst="roundRect">
          <a:avLst/>
        </a:prstGeom>
        <a:solidFill>
          <a:srgbClr val="F7901E">
            <a:lumMod val="50000"/>
          </a:srgbClr>
        </a:soli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sz="1100" dirty="0">
              <a:solidFill>
                <a:sysClr val="window" lastClr="FFFFFF"/>
              </a:solidFill>
              <a:effectLst>
                <a:outerShdw blurRad="38100" dist="38100" dir="2700000" algn="tl">
                  <a:srgbClr val="000000">
                    <a:alpha val="43137"/>
                  </a:srgbClr>
                </a:outerShdw>
              </a:effectLst>
              <a:latin typeface="Rockwell"/>
              <a:ea typeface="+mn-ea"/>
              <a:cs typeface="+mn-cs"/>
            </a:rPr>
            <a:t>The OS can tailor the use of system software to a variety of circumstances</a:t>
          </a:r>
        </a:p>
      </dgm:t>
    </dgm:pt>
    <dgm:pt modelId="{A12E082B-0298-0641-937C-8C7700BC6E27}" type="parTrans" cxnId="{75839AC3-B384-A84A-AECA-D2E398B62E02}">
      <dgm:prSet/>
      <dgm:spPr/>
      <dgm:t>
        <a:bodyPr/>
        <a:lstStyle/>
        <a:p>
          <a:endParaRPr lang="en-US"/>
        </a:p>
      </dgm:t>
    </dgm:pt>
    <dgm:pt modelId="{4692AE21-9B27-7B4D-AD56-0F47BCA22F78}" type="sibTrans" cxnId="{75839AC3-B384-A84A-AECA-D2E398B62E02}">
      <dgm:prSet/>
      <dgm:spPr/>
      <dgm:t>
        <a:bodyPr/>
        <a:lstStyle/>
        <a:p>
          <a:endParaRPr lang="en-US"/>
        </a:p>
      </dgm:t>
    </dgm:pt>
    <dgm:pt modelId="{CC7241F7-26AD-324F-ADAD-18B49C3B3350}">
      <dgm:prSet custT="1"/>
      <dgm:spPr>
        <a:xfrm>
          <a:off x="4770413" y="3032895"/>
          <a:ext cx="2267585" cy="2267585"/>
        </a:xfrm>
        <a:prstGeom prst="roundRect">
          <a:avLst/>
        </a:prstGeom>
        <a:solidFill>
          <a:srgbClr val="F7901E">
            <a:lumMod val="50000"/>
          </a:srgbClr>
        </a:soli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sz="1100" dirty="0">
              <a:solidFill>
                <a:sysClr val="window" lastClr="FFFFFF"/>
              </a:solidFill>
              <a:effectLst>
                <a:outerShdw blurRad="38100" dist="38100" dir="2700000" algn="tl">
                  <a:srgbClr val="000000">
                    <a:alpha val="43137"/>
                  </a:srgbClr>
                </a:outerShdw>
              </a:effectLst>
              <a:latin typeface="Rockwell"/>
              <a:ea typeface="+mn-ea"/>
              <a:cs typeface="+mn-cs"/>
            </a:rPr>
            <a:t>Certain registers are dedicated for use for each of the privileged modes, allows swifter changes in context</a:t>
          </a:r>
        </a:p>
      </dgm:t>
    </dgm:pt>
    <dgm:pt modelId="{A7DE6104-A0A4-B44F-9582-910FB1E2E5E5}" type="parTrans" cxnId="{097DFCC9-AE8C-6844-96F9-661F7E5B350D}">
      <dgm:prSet/>
      <dgm:spPr/>
      <dgm:t>
        <a:bodyPr/>
        <a:lstStyle/>
        <a:p>
          <a:endParaRPr lang="en-US"/>
        </a:p>
      </dgm:t>
    </dgm:pt>
    <dgm:pt modelId="{C485F7FB-CF85-904F-88B2-E0A73AA963B6}" type="sibTrans" cxnId="{097DFCC9-AE8C-6844-96F9-661F7E5B350D}">
      <dgm:prSet/>
      <dgm:spPr/>
      <dgm:t>
        <a:bodyPr/>
        <a:lstStyle/>
        <a:p>
          <a:endParaRPr lang="en-US"/>
        </a:p>
      </dgm:t>
    </dgm:pt>
    <dgm:pt modelId="{DFC96DD9-3619-4749-A166-9A4151844AF7}" type="pres">
      <dgm:prSet presAssocID="{E8F2A902-9075-FC40-A058-E7EC8718ECDD}" presName="matrix" presStyleCnt="0">
        <dgm:presLayoutVars>
          <dgm:chMax val="1"/>
          <dgm:dir/>
          <dgm:resizeHandles val="exact"/>
        </dgm:presLayoutVars>
      </dgm:prSet>
      <dgm:spPr/>
    </dgm:pt>
    <dgm:pt modelId="{7CF07E74-4791-3E40-B146-9CC610B80177}" type="pres">
      <dgm:prSet presAssocID="{E8F2A902-9075-FC40-A058-E7EC8718ECDD}" presName="axisShape" presStyleLbl="bgShp" presStyleIdx="0" presStyleCnt="1"/>
      <dgm:spPr>
        <a:xfrm>
          <a:off x="1737518" y="0"/>
          <a:ext cx="5668963" cy="5668963"/>
        </a:xfrm>
        <a:prstGeom prst="quadArrow">
          <a:avLst>
            <a:gd name="adj1" fmla="val 2000"/>
            <a:gd name="adj2" fmla="val 4000"/>
            <a:gd name="adj3" fmla="val 5000"/>
          </a:avLst>
        </a:prstGeom>
        <a:solidFill>
          <a:srgbClr val="666699">
            <a:lumMod val="60000"/>
            <a:lumOff val="40000"/>
          </a:srgbClr>
        </a:solidFill>
        <a:ln>
          <a:noFill/>
        </a:ln>
        <a:effectLst>
          <a:innerShdw blurRad="50800" dist="25400" dir="13500000">
            <a:srgbClr val="FFFFFF">
              <a:alpha val="75000"/>
            </a:srgbClr>
          </a:innerShdw>
          <a:outerShdw blurRad="63500" dist="25400" dir="5400000" rotWithShape="0">
            <a:srgbClr val="808080">
              <a:alpha val="75000"/>
            </a:srgbClr>
          </a:outerShdw>
        </a:effectLst>
      </dgm:spPr>
    </dgm:pt>
    <dgm:pt modelId="{8183A7BA-751A-B84D-98A4-1CFF3FB73852}" type="pres">
      <dgm:prSet presAssocID="{E8F2A902-9075-FC40-A058-E7EC8718ECDD}" presName="rect1" presStyleLbl="node1" presStyleIdx="0" presStyleCnt="4">
        <dgm:presLayoutVars>
          <dgm:chMax val="0"/>
          <dgm:chPref val="0"/>
          <dgm:bulletEnabled val="1"/>
        </dgm:presLayoutVars>
      </dgm:prSet>
      <dgm:spPr/>
    </dgm:pt>
    <dgm:pt modelId="{0D3592DF-EB4F-9943-B973-EF43EEC77EFC}" type="pres">
      <dgm:prSet presAssocID="{E8F2A902-9075-FC40-A058-E7EC8718ECDD}" presName="rect2" presStyleLbl="node1" presStyleIdx="1" presStyleCnt="4">
        <dgm:presLayoutVars>
          <dgm:chMax val="0"/>
          <dgm:chPref val="0"/>
          <dgm:bulletEnabled val="1"/>
        </dgm:presLayoutVars>
      </dgm:prSet>
      <dgm:spPr/>
    </dgm:pt>
    <dgm:pt modelId="{A54A9365-B66B-5043-A58D-CC1B872E299A}" type="pres">
      <dgm:prSet presAssocID="{E8F2A902-9075-FC40-A058-E7EC8718ECDD}" presName="rect3" presStyleLbl="node1" presStyleIdx="2" presStyleCnt="4">
        <dgm:presLayoutVars>
          <dgm:chMax val="0"/>
          <dgm:chPref val="0"/>
          <dgm:bulletEnabled val="1"/>
        </dgm:presLayoutVars>
      </dgm:prSet>
      <dgm:spPr/>
    </dgm:pt>
    <dgm:pt modelId="{20A77D24-6C97-2D40-956E-48152CC1DAA6}" type="pres">
      <dgm:prSet presAssocID="{E8F2A902-9075-FC40-A058-E7EC8718ECDD}" presName="rect4" presStyleLbl="node1" presStyleIdx="3" presStyleCnt="4">
        <dgm:presLayoutVars>
          <dgm:chMax val="0"/>
          <dgm:chPref val="0"/>
          <dgm:bulletEnabled val="1"/>
        </dgm:presLayoutVars>
      </dgm:prSet>
      <dgm:spPr/>
    </dgm:pt>
  </dgm:ptLst>
  <dgm:cxnLst>
    <dgm:cxn modelId="{223A4213-7E51-0745-9441-B9DC6297C3B0}" srcId="{E8F2A902-9075-FC40-A058-E7EC8718ECDD}" destId="{3E357887-DD75-B042-A2CD-493136B4903B}" srcOrd="2" destOrd="0" parTransId="{8463C77B-B6C7-C444-9558-E01A507D2AFC}" sibTransId="{E7D5C247-58A9-6841-8159-3A27B31AF063}"/>
    <dgm:cxn modelId="{EA952D20-2ED0-A442-A05D-BBE4FF578EA0}" type="presOf" srcId="{F051DA9D-A738-E64B-B758-FB14D26172F6}" destId="{0D3592DF-EB4F-9943-B973-EF43EEC77EFC}" srcOrd="0" destOrd="1" presId="urn:microsoft.com/office/officeart/2005/8/layout/matrix2"/>
    <dgm:cxn modelId="{9CAA4774-B5F7-D143-9D54-7B568FA439E0}" type="presOf" srcId="{BC6F4297-211F-DD48-91FB-2C4AF59742E9}" destId="{A54A9365-B66B-5043-A58D-CC1B872E299A}" srcOrd="0" destOrd="1" presId="urn:microsoft.com/office/officeart/2005/8/layout/matrix2"/>
    <dgm:cxn modelId="{47A73D58-2945-1848-B9E6-D09E0F9C81D2}" type="presOf" srcId="{E8F2A902-9075-FC40-A058-E7EC8718ECDD}" destId="{DFC96DD9-3619-4749-A166-9A4151844AF7}" srcOrd="0" destOrd="0" presId="urn:microsoft.com/office/officeart/2005/8/layout/matrix2"/>
    <dgm:cxn modelId="{8C9A5087-A578-9248-8AE8-16F17AC94DE7}" srcId="{3E357887-DD75-B042-A2CD-493136B4903B}" destId="{BC6F4297-211F-DD48-91FB-2C4AF59742E9}" srcOrd="0" destOrd="0" parTransId="{647F5C3F-FFB4-8F46-A9A9-92C43DDA85EE}" sibTransId="{38C5312C-BEE4-C941-8AA7-E1E74D232C34}"/>
    <dgm:cxn modelId="{BECEE699-E387-B240-9102-C799C5FE6E51}" type="presOf" srcId="{3E357887-DD75-B042-A2CD-493136B4903B}" destId="{A54A9365-B66B-5043-A58D-CC1B872E299A}" srcOrd="0" destOrd="0" presId="urn:microsoft.com/office/officeart/2005/8/layout/matrix2"/>
    <dgm:cxn modelId="{1B52649C-F5A7-0F40-BACF-0950529BA4DE}" srcId="{E8F2A902-9075-FC40-A058-E7EC8718ECDD}" destId="{A04800D4-16D0-CB4B-B1C3-C2185D1C1BD7}" srcOrd="0" destOrd="0" parTransId="{2AFE30F1-250B-BF48-BFEE-2F5776E422D1}" sibTransId="{F0EB69C3-63FE-F14E-B12D-776BFED2A03B}"/>
    <dgm:cxn modelId="{17E94E9C-C2AB-BC45-BC65-9553F3B8F379}" type="presOf" srcId="{A04800D4-16D0-CB4B-B1C3-C2185D1C1BD7}" destId="{8183A7BA-751A-B84D-98A4-1CFF3FB73852}" srcOrd="0" destOrd="0" presId="urn:microsoft.com/office/officeart/2005/8/layout/matrix2"/>
    <dgm:cxn modelId="{D68ECC9E-7DA1-B344-BB1B-2459AC43DD8B}" srcId="{6EB13D03-1353-CC49-A413-1BBA83F3F059}" destId="{F051DA9D-A738-E64B-B758-FB14D26172F6}" srcOrd="0" destOrd="0" parTransId="{DE9A338D-8908-A549-991C-3BD7E8D4DAF7}" sibTransId="{1E87BD43-2FEC-5D49-9886-CB67DF71783C}"/>
    <dgm:cxn modelId="{C77822AC-1A8F-4748-B6A9-092E81AB5D22}" type="presOf" srcId="{6AA51245-72BB-D24F-B7FF-F9FCF32F757E}" destId="{20A77D24-6C97-2D40-956E-48152CC1DAA6}" srcOrd="0" destOrd="0" presId="urn:microsoft.com/office/officeart/2005/8/layout/matrix2"/>
    <dgm:cxn modelId="{986B1AB5-75D5-4B47-A67D-12E61BCAC313}" srcId="{E8F2A902-9075-FC40-A058-E7EC8718ECDD}" destId="{6EB13D03-1353-CC49-A413-1BBA83F3F059}" srcOrd="1" destOrd="0" parTransId="{7193FF67-453D-3849-B9C0-88AEEB94B5C8}" sibTransId="{0118D4E5-CF14-034C-9152-2565C3801E4A}"/>
    <dgm:cxn modelId="{FE8870BC-7629-9041-9EBF-86AAB34FE5FD}" type="presOf" srcId="{CC7241F7-26AD-324F-ADAD-18B49C3B3350}" destId="{20A77D24-6C97-2D40-956E-48152CC1DAA6}" srcOrd="0" destOrd="2" presId="urn:microsoft.com/office/officeart/2005/8/layout/matrix2"/>
    <dgm:cxn modelId="{75839AC3-B384-A84A-AECA-D2E398B62E02}" srcId="{6AA51245-72BB-D24F-B7FF-F9FCF32F757E}" destId="{1170A62F-A1ED-EC49-825F-717CC7576201}" srcOrd="0" destOrd="0" parTransId="{A12E082B-0298-0641-937C-8C7700BC6E27}" sibTransId="{4692AE21-9B27-7B4D-AD56-0F47BCA22F78}"/>
    <dgm:cxn modelId="{097DFCC9-AE8C-6844-96F9-661F7E5B350D}" srcId="{6AA51245-72BB-D24F-B7FF-F9FCF32F757E}" destId="{CC7241F7-26AD-324F-ADAD-18B49C3B3350}" srcOrd="1" destOrd="0" parTransId="{A7DE6104-A0A4-B44F-9582-910FB1E2E5E5}" sibTransId="{C485F7FB-CF85-904F-88B2-E0A73AA963B6}"/>
    <dgm:cxn modelId="{F391B1CC-17E4-D24B-8F52-497D94BE8CCA}" srcId="{E8F2A902-9075-FC40-A058-E7EC8718ECDD}" destId="{6AA51245-72BB-D24F-B7FF-F9FCF32F757E}" srcOrd="3" destOrd="0" parTransId="{D2DD2781-3ED1-5E48-A6DF-9DF9FA25EA66}" sibTransId="{F3B90CFF-D0BB-D242-979C-C945E48DBD74}"/>
    <dgm:cxn modelId="{E21DE8EE-D5FA-8C4D-B396-8C2A2CEF5E8C}" type="presOf" srcId="{6EB13D03-1353-CC49-A413-1BBA83F3F059}" destId="{0D3592DF-EB4F-9943-B973-EF43EEC77EFC}" srcOrd="0" destOrd="0" presId="urn:microsoft.com/office/officeart/2005/8/layout/matrix2"/>
    <dgm:cxn modelId="{4A11CDFD-B9AE-554F-87C6-D741C6A3E1C6}" type="presOf" srcId="{1170A62F-A1ED-EC49-825F-717CC7576201}" destId="{20A77D24-6C97-2D40-956E-48152CC1DAA6}" srcOrd="0" destOrd="1" presId="urn:microsoft.com/office/officeart/2005/8/layout/matrix2"/>
    <dgm:cxn modelId="{8FCF03F5-C3D9-194C-9285-A242E8E4AF3F}" type="presParOf" srcId="{DFC96DD9-3619-4749-A166-9A4151844AF7}" destId="{7CF07E74-4791-3E40-B146-9CC610B80177}" srcOrd="0" destOrd="0" presId="urn:microsoft.com/office/officeart/2005/8/layout/matrix2"/>
    <dgm:cxn modelId="{B989E7F4-2274-6B4A-91D4-D76BC2C6BD07}" type="presParOf" srcId="{DFC96DD9-3619-4749-A166-9A4151844AF7}" destId="{8183A7BA-751A-B84D-98A4-1CFF3FB73852}" srcOrd="1" destOrd="0" presId="urn:microsoft.com/office/officeart/2005/8/layout/matrix2"/>
    <dgm:cxn modelId="{877D266A-3FA5-8F4E-AADE-4541AF157BA2}" type="presParOf" srcId="{DFC96DD9-3619-4749-A166-9A4151844AF7}" destId="{0D3592DF-EB4F-9943-B973-EF43EEC77EFC}" srcOrd="2" destOrd="0" presId="urn:microsoft.com/office/officeart/2005/8/layout/matrix2"/>
    <dgm:cxn modelId="{C7A7E216-A2BD-0C42-86E7-BCA13F21C1ED}" type="presParOf" srcId="{DFC96DD9-3619-4749-A166-9A4151844AF7}" destId="{A54A9365-B66B-5043-A58D-CC1B872E299A}" srcOrd="3" destOrd="0" presId="urn:microsoft.com/office/officeart/2005/8/layout/matrix2"/>
    <dgm:cxn modelId="{5520B1C3-0891-8145-89BB-9D44E2203A4A}" type="presParOf" srcId="{DFC96DD9-3619-4749-A166-9A4151844AF7}" destId="{20A77D24-6C97-2D40-956E-48152CC1DAA6}" srcOrd="4" destOrd="0" presId="urn:microsoft.com/office/officeart/2005/8/layout/matrix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5D266D5-F7F4-D74F-B12E-6769F95E4941}" type="doc">
      <dgm:prSet loTypeId="urn:microsoft.com/office/officeart/2005/8/layout/matrix2" loCatId="matrix" qsTypeId="urn:microsoft.com/office/officeart/2005/8/quickstyle/simple4" qsCatId="simple" csTypeId="urn:microsoft.com/office/officeart/2005/8/colors/accent4_3" csCatId="accent4" phldr="1"/>
      <dgm:spPr/>
      <dgm:t>
        <a:bodyPr/>
        <a:lstStyle/>
        <a:p>
          <a:endParaRPr lang="en-US"/>
        </a:p>
      </dgm:t>
    </dgm:pt>
    <dgm:pt modelId="{A5C86D7B-E342-3445-8B50-2181C0BED678}">
      <dgm:prSet custT="1"/>
      <dgm:spPr>
        <a:xfrm>
          <a:off x="1716792" y="409560"/>
          <a:ext cx="2520374" cy="2520374"/>
        </a:xfrm>
        <a:prstGeom prst="roundRect">
          <a:avLst/>
        </a:prstGeom>
        <a:gradFill rotWithShape="0">
          <a:gsLst>
            <a:gs pos="0">
              <a:srgbClr val="999966">
                <a:shade val="80000"/>
                <a:hueOff val="0"/>
                <a:satOff val="0"/>
                <a:lumOff val="0"/>
                <a:alphaOff val="0"/>
                <a:shade val="40000"/>
                <a:alpha val="100000"/>
                <a:satMod val="150000"/>
                <a:lumMod val="100000"/>
              </a:srgbClr>
            </a:gs>
            <a:gs pos="100000">
              <a:srgbClr val="999966">
                <a:shade val="80000"/>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sz="1800" dirty="0">
              <a:solidFill>
                <a:srgbClr val="330F42"/>
              </a:solidFill>
              <a:effectLst>
                <a:outerShdw blurRad="38100" dist="38100" dir="2700000" algn="tl">
                  <a:srgbClr val="000000">
                    <a:alpha val="43137"/>
                  </a:srgbClr>
                </a:outerShdw>
              </a:effectLst>
              <a:latin typeface="Rockwell"/>
              <a:ea typeface="+mn-ea"/>
              <a:cs typeface="+mn-cs"/>
            </a:rPr>
            <a:t>Have full access to system resources and can change modes freely</a:t>
          </a:r>
          <a:endParaRPr lang="en-US" sz="1400" dirty="0">
            <a:solidFill>
              <a:srgbClr val="330F42"/>
            </a:solidFill>
            <a:effectLst>
              <a:outerShdw blurRad="38100" dist="38100" dir="2700000" algn="tl">
                <a:srgbClr val="000000">
                  <a:alpha val="43137"/>
                </a:srgbClr>
              </a:outerShdw>
            </a:effectLst>
            <a:latin typeface="Rockwell"/>
            <a:ea typeface="+mn-ea"/>
            <a:cs typeface="+mn-cs"/>
          </a:endParaRPr>
        </a:p>
      </dgm:t>
    </dgm:pt>
    <dgm:pt modelId="{E6484562-D439-6745-ABCE-8342D2751C8C}" type="parTrans" cxnId="{DFB88F4F-6B1D-5B45-B3CC-8DC0E9555A9C}">
      <dgm:prSet/>
      <dgm:spPr/>
      <dgm:t>
        <a:bodyPr/>
        <a:lstStyle/>
        <a:p>
          <a:endParaRPr lang="en-US" sz="1600"/>
        </a:p>
      </dgm:t>
    </dgm:pt>
    <dgm:pt modelId="{CE4CDA49-0E60-5947-B1CF-48C7B6DADA31}" type="sibTrans" cxnId="{DFB88F4F-6B1D-5B45-B3CC-8DC0E9555A9C}">
      <dgm:prSet/>
      <dgm:spPr/>
      <dgm:t>
        <a:bodyPr/>
        <a:lstStyle/>
        <a:p>
          <a:endParaRPr lang="en-US" sz="1600"/>
        </a:p>
      </dgm:t>
    </dgm:pt>
    <dgm:pt modelId="{F35D25E3-D5F3-E142-897E-5CBF66B92793}">
      <dgm:prSet custT="1"/>
      <dgm:spPr>
        <a:xfrm>
          <a:off x="4678232" y="409560"/>
          <a:ext cx="2520374" cy="2520374"/>
        </a:xfrm>
        <a:prstGeom prst="roundRect">
          <a:avLst/>
        </a:prstGeom>
        <a:gradFill rotWithShape="0">
          <a:gsLst>
            <a:gs pos="0">
              <a:srgbClr val="999966">
                <a:shade val="80000"/>
                <a:hueOff val="0"/>
                <a:satOff val="-1631"/>
                <a:lumOff val="8479"/>
                <a:alphaOff val="0"/>
                <a:shade val="40000"/>
                <a:alpha val="100000"/>
                <a:satMod val="150000"/>
                <a:lumMod val="100000"/>
              </a:srgbClr>
            </a:gs>
            <a:gs pos="100000">
              <a:srgbClr val="999966">
                <a:shade val="80000"/>
                <a:hueOff val="0"/>
                <a:satOff val="-1631"/>
                <a:lumOff val="8479"/>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sz="1800" dirty="0">
              <a:solidFill>
                <a:srgbClr val="330F42"/>
              </a:solidFill>
              <a:effectLst>
                <a:outerShdw blurRad="38100" dist="38100" dir="2700000" algn="tl">
                  <a:srgbClr val="000000">
                    <a:alpha val="43137"/>
                  </a:srgbClr>
                </a:outerShdw>
              </a:effectLst>
              <a:latin typeface="Rockwell"/>
              <a:ea typeface="+mn-ea"/>
              <a:cs typeface="+mn-cs"/>
            </a:rPr>
            <a:t>Entered when specific exceptions occur</a:t>
          </a:r>
        </a:p>
      </dgm:t>
    </dgm:pt>
    <dgm:pt modelId="{8C3CD99D-0841-6645-8D06-3DE55350C11C}" type="parTrans" cxnId="{57626668-665D-1344-9911-8438F22BB42D}">
      <dgm:prSet/>
      <dgm:spPr/>
      <dgm:t>
        <a:bodyPr/>
        <a:lstStyle/>
        <a:p>
          <a:endParaRPr lang="en-US" sz="1600"/>
        </a:p>
      </dgm:t>
    </dgm:pt>
    <dgm:pt modelId="{2DC80F9A-AF65-714A-B420-F3E44B7D1EC4}" type="sibTrans" cxnId="{57626668-665D-1344-9911-8438F22BB42D}">
      <dgm:prSet/>
      <dgm:spPr/>
      <dgm:t>
        <a:bodyPr/>
        <a:lstStyle/>
        <a:p>
          <a:endParaRPr lang="en-US" sz="1600"/>
        </a:p>
      </dgm:t>
    </dgm:pt>
    <dgm:pt modelId="{DD700002-3519-894B-BB3C-F26B6642C645}">
      <dgm:prSet custT="1"/>
      <dgm:spPr>
        <a:xfrm>
          <a:off x="1716792" y="3371000"/>
          <a:ext cx="2520374" cy="2520374"/>
        </a:xfrm>
        <a:prstGeom prst="roundRect">
          <a:avLst/>
        </a:prstGeom>
        <a:gradFill rotWithShape="0">
          <a:gsLst>
            <a:gs pos="0">
              <a:srgbClr val="999966">
                <a:shade val="80000"/>
                <a:hueOff val="0"/>
                <a:satOff val="-3261"/>
                <a:lumOff val="16958"/>
                <a:alphaOff val="0"/>
                <a:shade val="40000"/>
                <a:alpha val="100000"/>
                <a:satMod val="150000"/>
                <a:lumMod val="100000"/>
              </a:srgbClr>
            </a:gs>
            <a:gs pos="100000">
              <a:srgbClr val="999966">
                <a:shade val="80000"/>
                <a:hueOff val="0"/>
                <a:satOff val="-3261"/>
                <a:lumOff val="16958"/>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sz="1800" dirty="0">
              <a:solidFill>
                <a:srgbClr val="330F42"/>
              </a:solidFill>
              <a:effectLst>
                <a:outerShdw blurRad="38100" dist="38100" dir="2700000" algn="tl">
                  <a:srgbClr val="000000">
                    <a:alpha val="43137"/>
                  </a:srgbClr>
                </a:outerShdw>
              </a:effectLst>
              <a:latin typeface="Rockwell"/>
              <a:ea typeface="+mn-ea"/>
              <a:cs typeface="+mn-cs"/>
            </a:rPr>
            <a:t>Exception modes:</a:t>
          </a:r>
        </a:p>
      </dgm:t>
    </dgm:pt>
    <dgm:pt modelId="{DB52FEB4-39BB-E241-9CCF-88AECF2033A9}" type="parTrans" cxnId="{FF5A3ACA-94A6-3D43-9E5A-B9EF7CCF5E73}">
      <dgm:prSet/>
      <dgm:spPr/>
      <dgm:t>
        <a:bodyPr/>
        <a:lstStyle/>
        <a:p>
          <a:endParaRPr lang="en-US" sz="1600"/>
        </a:p>
      </dgm:t>
    </dgm:pt>
    <dgm:pt modelId="{B9FA993C-4BC0-B74C-A7E3-25710455C2D8}" type="sibTrans" cxnId="{FF5A3ACA-94A6-3D43-9E5A-B9EF7CCF5E73}">
      <dgm:prSet/>
      <dgm:spPr/>
      <dgm:t>
        <a:bodyPr/>
        <a:lstStyle/>
        <a:p>
          <a:endParaRPr lang="en-US" sz="1600"/>
        </a:p>
      </dgm:t>
    </dgm:pt>
    <dgm:pt modelId="{6DB1177D-BF35-FF49-998F-3F09D11DDD8A}">
      <dgm:prSet custT="1"/>
      <dgm:spPr>
        <a:xfrm>
          <a:off x="1716792" y="3371000"/>
          <a:ext cx="2520374" cy="2520374"/>
        </a:xfrm>
        <a:prstGeom prst="roundRect">
          <a:avLst/>
        </a:prstGeom>
        <a:gradFill rotWithShape="0">
          <a:gsLst>
            <a:gs pos="0">
              <a:srgbClr val="999966">
                <a:shade val="80000"/>
                <a:hueOff val="0"/>
                <a:satOff val="-3261"/>
                <a:lumOff val="16958"/>
                <a:alphaOff val="0"/>
                <a:shade val="40000"/>
                <a:alpha val="100000"/>
                <a:satMod val="150000"/>
                <a:lumMod val="100000"/>
              </a:srgbClr>
            </a:gs>
            <a:gs pos="100000">
              <a:srgbClr val="999966">
                <a:shade val="80000"/>
                <a:hueOff val="0"/>
                <a:satOff val="-3261"/>
                <a:lumOff val="16958"/>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sz="1400" dirty="0">
              <a:solidFill>
                <a:srgbClr val="330F42"/>
              </a:solidFill>
              <a:effectLst>
                <a:outerShdw blurRad="38100" dist="38100" dir="2700000" algn="tl">
                  <a:srgbClr val="000000">
                    <a:alpha val="43137"/>
                  </a:srgbClr>
                </a:outerShdw>
              </a:effectLst>
              <a:latin typeface="Rockwell"/>
              <a:ea typeface="+mn-ea"/>
              <a:cs typeface="+mn-cs"/>
            </a:rPr>
            <a:t>Supervisor mode</a:t>
          </a:r>
        </a:p>
      </dgm:t>
    </dgm:pt>
    <dgm:pt modelId="{E26B5788-B633-5346-A481-ECD119E3ABF8}" type="parTrans" cxnId="{2F651624-9178-AF4F-8EEC-3EC61B659C13}">
      <dgm:prSet/>
      <dgm:spPr/>
      <dgm:t>
        <a:bodyPr/>
        <a:lstStyle/>
        <a:p>
          <a:endParaRPr lang="en-US" sz="1600"/>
        </a:p>
      </dgm:t>
    </dgm:pt>
    <dgm:pt modelId="{ABF3CF5B-69FC-944E-B1F6-FFE40563BBFE}" type="sibTrans" cxnId="{2F651624-9178-AF4F-8EEC-3EC61B659C13}">
      <dgm:prSet/>
      <dgm:spPr/>
      <dgm:t>
        <a:bodyPr/>
        <a:lstStyle/>
        <a:p>
          <a:endParaRPr lang="en-US" sz="1600"/>
        </a:p>
      </dgm:t>
    </dgm:pt>
    <dgm:pt modelId="{6854CC64-A7DD-774A-B510-76A107E4974F}">
      <dgm:prSet custT="1"/>
      <dgm:spPr>
        <a:xfrm>
          <a:off x="1716792" y="3371000"/>
          <a:ext cx="2520374" cy="2520374"/>
        </a:xfrm>
        <a:prstGeom prst="roundRect">
          <a:avLst/>
        </a:prstGeom>
        <a:gradFill rotWithShape="0">
          <a:gsLst>
            <a:gs pos="0">
              <a:srgbClr val="999966">
                <a:shade val="80000"/>
                <a:hueOff val="0"/>
                <a:satOff val="-3261"/>
                <a:lumOff val="16958"/>
                <a:alphaOff val="0"/>
                <a:shade val="40000"/>
                <a:alpha val="100000"/>
                <a:satMod val="150000"/>
                <a:lumMod val="100000"/>
              </a:srgbClr>
            </a:gs>
            <a:gs pos="100000">
              <a:srgbClr val="999966">
                <a:shade val="80000"/>
                <a:hueOff val="0"/>
                <a:satOff val="-3261"/>
                <a:lumOff val="16958"/>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sz="1400" dirty="0">
              <a:solidFill>
                <a:srgbClr val="330F42"/>
              </a:solidFill>
              <a:effectLst>
                <a:outerShdw blurRad="38100" dist="38100" dir="2700000" algn="tl">
                  <a:srgbClr val="000000">
                    <a:alpha val="43137"/>
                  </a:srgbClr>
                </a:outerShdw>
              </a:effectLst>
              <a:latin typeface="Rockwell"/>
              <a:ea typeface="+mn-ea"/>
              <a:cs typeface="+mn-cs"/>
            </a:rPr>
            <a:t>Abort mode</a:t>
          </a:r>
        </a:p>
      </dgm:t>
    </dgm:pt>
    <dgm:pt modelId="{6B148308-86E1-1A41-A342-5462DE511D79}" type="parTrans" cxnId="{7A34012E-8C9C-A742-B7FE-F2A8E992CAF0}">
      <dgm:prSet/>
      <dgm:spPr/>
      <dgm:t>
        <a:bodyPr/>
        <a:lstStyle/>
        <a:p>
          <a:endParaRPr lang="en-US" sz="1600"/>
        </a:p>
      </dgm:t>
    </dgm:pt>
    <dgm:pt modelId="{DB537143-6EA0-4343-91CA-105E6681D432}" type="sibTrans" cxnId="{7A34012E-8C9C-A742-B7FE-F2A8E992CAF0}">
      <dgm:prSet/>
      <dgm:spPr/>
      <dgm:t>
        <a:bodyPr/>
        <a:lstStyle/>
        <a:p>
          <a:endParaRPr lang="en-US" sz="1600"/>
        </a:p>
      </dgm:t>
    </dgm:pt>
    <dgm:pt modelId="{19C45681-5B82-434C-ACCF-99A72CA9AAB1}">
      <dgm:prSet custT="1"/>
      <dgm:spPr>
        <a:xfrm>
          <a:off x="1716792" y="3371000"/>
          <a:ext cx="2520374" cy="2520374"/>
        </a:xfrm>
        <a:prstGeom prst="roundRect">
          <a:avLst/>
        </a:prstGeom>
        <a:gradFill rotWithShape="0">
          <a:gsLst>
            <a:gs pos="0">
              <a:srgbClr val="999966">
                <a:shade val="80000"/>
                <a:hueOff val="0"/>
                <a:satOff val="-3261"/>
                <a:lumOff val="16958"/>
                <a:alphaOff val="0"/>
                <a:shade val="40000"/>
                <a:alpha val="100000"/>
                <a:satMod val="150000"/>
                <a:lumMod val="100000"/>
              </a:srgbClr>
            </a:gs>
            <a:gs pos="100000">
              <a:srgbClr val="999966">
                <a:shade val="80000"/>
                <a:hueOff val="0"/>
                <a:satOff val="-3261"/>
                <a:lumOff val="16958"/>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sz="1400" dirty="0">
              <a:solidFill>
                <a:srgbClr val="330F42"/>
              </a:solidFill>
              <a:effectLst>
                <a:outerShdw blurRad="38100" dist="38100" dir="2700000" algn="tl">
                  <a:srgbClr val="000000">
                    <a:alpha val="43137"/>
                  </a:srgbClr>
                </a:outerShdw>
              </a:effectLst>
              <a:latin typeface="Rockwell"/>
              <a:ea typeface="+mn-ea"/>
              <a:cs typeface="+mn-cs"/>
            </a:rPr>
            <a:t>Undefined mode</a:t>
          </a:r>
        </a:p>
      </dgm:t>
    </dgm:pt>
    <dgm:pt modelId="{FD963DD7-4231-B944-84FF-504E9175E604}" type="parTrans" cxnId="{AAE0A579-4D52-574B-811D-2F70BC953EAC}">
      <dgm:prSet/>
      <dgm:spPr/>
      <dgm:t>
        <a:bodyPr/>
        <a:lstStyle/>
        <a:p>
          <a:endParaRPr lang="en-US" sz="1600"/>
        </a:p>
      </dgm:t>
    </dgm:pt>
    <dgm:pt modelId="{D0B1410D-2C8F-8941-BFE2-B2E0AD6BB8DB}" type="sibTrans" cxnId="{AAE0A579-4D52-574B-811D-2F70BC953EAC}">
      <dgm:prSet/>
      <dgm:spPr/>
      <dgm:t>
        <a:bodyPr/>
        <a:lstStyle/>
        <a:p>
          <a:endParaRPr lang="en-US" sz="1600"/>
        </a:p>
      </dgm:t>
    </dgm:pt>
    <dgm:pt modelId="{5925CE37-294F-E848-93AE-42C4ABBF1D33}">
      <dgm:prSet custT="1"/>
      <dgm:spPr>
        <a:xfrm>
          <a:off x="1716792" y="3371000"/>
          <a:ext cx="2520374" cy="2520374"/>
        </a:xfrm>
        <a:prstGeom prst="roundRect">
          <a:avLst/>
        </a:prstGeom>
        <a:gradFill rotWithShape="0">
          <a:gsLst>
            <a:gs pos="0">
              <a:srgbClr val="999966">
                <a:shade val="80000"/>
                <a:hueOff val="0"/>
                <a:satOff val="-3261"/>
                <a:lumOff val="16958"/>
                <a:alphaOff val="0"/>
                <a:shade val="40000"/>
                <a:alpha val="100000"/>
                <a:satMod val="150000"/>
                <a:lumMod val="100000"/>
              </a:srgbClr>
            </a:gs>
            <a:gs pos="100000">
              <a:srgbClr val="999966">
                <a:shade val="80000"/>
                <a:hueOff val="0"/>
                <a:satOff val="-3261"/>
                <a:lumOff val="16958"/>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sz="1400" dirty="0">
              <a:solidFill>
                <a:srgbClr val="330F42"/>
              </a:solidFill>
              <a:effectLst>
                <a:outerShdw blurRad="38100" dist="38100" dir="2700000" algn="tl">
                  <a:srgbClr val="000000">
                    <a:alpha val="43137"/>
                  </a:srgbClr>
                </a:outerShdw>
              </a:effectLst>
              <a:latin typeface="Rockwell"/>
              <a:ea typeface="+mn-ea"/>
              <a:cs typeface="+mn-cs"/>
            </a:rPr>
            <a:t>Fast interrupt mode</a:t>
          </a:r>
        </a:p>
      </dgm:t>
    </dgm:pt>
    <dgm:pt modelId="{580FA373-8816-104D-ACEB-77CDC366CD6B}" type="parTrans" cxnId="{83520551-C2DF-DA40-B284-ED5CED4EBCF8}">
      <dgm:prSet/>
      <dgm:spPr/>
      <dgm:t>
        <a:bodyPr/>
        <a:lstStyle/>
        <a:p>
          <a:endParaRPr lang="en-US" sz="1600"/>
        </a:p>
      </dgm:t>
    </dgm:pt>
    <dgm:pt modelId="{F7217720-B770-0147-980D-6C194D14D1E3}" type="sibTrans" cxnId="{83520551-C2DF-DA40-B284-ED5CED4EBCF8}">
      <dgm:prSet/>
      <dgm:spPr/>
      <dgm:t>
        <a:bodyPr/>
        <a:lstStyle/>
        <a:p>
          <a:endParaRPr lang="en-US" sz="1600"/>
        </a:p>
      </dgm:t>
    </dgm:pt>
    <dgm:pt modelId="{40DE6D44-5240-9D4D-995D-6DB3A2442AA6}">
      <dgm:prSet custT="1"/>
      <dgm:spPr>
        <a:xfrm>
          <a:off x="1716792" y="3371000"/>
          <a:ext cx="2520374" cy="2520374"/>
        </a:xfrm>
        <a:prstGeom prst="roundRect">
          <a:avLst/>
        </a:prstGeom>
        <a:gradFill rotWithShape="0">
          <a:gsLst>
            <a:gs pos="0">
              <a:srgbClr val="999966">
                <a:shade val="80000"/>
                <a:hueOff val="0"/>
                <a:satOff val="-3261"/>
                <a:lumOff val="16958"/>
                <a:alphaOff val="0"/>
                <a:shade val="40000"/>
                <a:alpha val="100000"/>
                <a:satMod val="150000"/>
                <a:lumMod val="100000"/>
              </a:srgbClr>
            </a:gs>
            <a:gs pos="100000">
              <a:srgbClr val="999966">
                <a:shade val="80000"/>
                <a:hueOff val="0"/>
                <a:satOff val="-3261"/>
                <a:lumOff val="16958"/>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sz="1400" dirty="0">
              <a:solidFill>
                <a:srgbClr val="330F42"/>
              </a:solidFill>
              <a:effectLst>
                <a:outerShdw blurRad="38100" dist="38100" dir="2700000" algn="tl">
                  <a:srgbClr val="000000">
                    <a:alpha val="43137"/>
                  </a:srgbClr>
                </a:outerShdw>
              </a:effectLst>
              <a:latin typeface="Rockwell"/>
              <a:ea typeface="+mn-ea"/>
              <a:cs typeface="+mn-cs"/>
            </a:rPr>
            <a:t>Interrupt mode</a:t>
          </a:r>
        </a:p>
      </dgm:t>
    </dgm:pt>
    <dgm:pt modelId="{00FDBD99-22B4-7F46-8FB1-3BD11595FBB0}" type="parTrans" cxnId="{94156327-86DC-2541-9D46-AD430C5C02AE}">
      <dgm:prSet/>
      <dgm:spPr/>
      <dgm:t>
        <a:bodyPr/>
        <a:lstStyle/>
        <a:p>
          <a:endParaRPr lang="en-US" sz="1600"/>
        </a:p>
      </dgm:t>
    </dgm:pt>
    <dgm:pt modelId="{7D77FDFB-FE1D-6948-BA17-6FDA99D5D15C}" type="sibTrans" cxnId="{94156327-86DC-2541-9D46-AD430C5C02AE}">
      <dgm:prSet/>
      <dgm:spPr/>
      <dgm:t>
        <a:bodyPr/>
        <a:lstStyle/>
        <a:p>
          <a:endParaRPr lang="en-US" sz="1600"/>
        </a:p>
      </dgm:t>
    </dgm:pt>
    <dgm:pt modelId="{71BD4134-5348-F648-AF55-C37F90E6BF03}">
      <dgm:prSet custT="1"/>
      <dgm:spPr>
        <a:xfrm>
          <a:off x="4678232" y="3371000"/>
          <a:ext cx="2520374" cy="2520374"/>
        </a:xfrm>
        <a:prstGeom prst="roundRect">
          <a:avLst/>
        </a:prstGeom>
        <a:gradFill rotWithShape="0">
          <a:gsLst>
            <a:gs pos="0">
              <a:srgbClr val="999966">
                <a:shade val="80000"/>
                <a:hueOff val="0"/>
                <a:satOff val="-4892"/>
                <a:lumOff val="25437"/>
                <a:alphaOff val="0"/>
                <a:shade val="40000"/>
                <a:alpha val="100000"/>
                <a:satMod val="150000"/>
                <a:lumMod val="100000"/>
              </a:srgbClr>
            </a:gs>
            <a:gs pos="100000">
              <a:srgbClr val="999966">
                <a:shade val="80000"/>
                <a:hueOff val="0"/>
                <a:satOff val="-4892"/>
                <a:lumOff val="25437"/>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sz="1600" dirty="0">
              <a:solidFill>
                <a:srgbClr val="330F42"/>
              </a:solidFill>
              <a:effectLst>
                <a:outerShdw blurRad="38100" dist="38100" dir="2700000" algn="tl">
                  <a:srgbClr val="000000">
                    <a:alpha val="43137"/>
                  </a:srgbClr>
                </a:outerShdw>
              </a:effectLst>
              <a:latin typeface="Rockwell"/>
              <a:ea typeface="+mn-ea"/>
              <a:cs typeface="+mn-cs"/>
            </a:rPr>
            <a:t>System mode:</a:t>
          </a:r>
        </a:p>
      </dgm:t>
    </dgm:pt>
    <dgm:pt modelId="{5C0A23E4-8C2A-7844-8725-D63EAD4DB1A8}" type="parTrans" cxnId="{9B9A7152-8624-5E4C-BB3D-7D467E96D96F}">
      <dgm:prSet/>
      <dgm:spPr/>
      <dgm:t>
        <a:bodyPr/>
        <a:lstStyle/>
        <a:p>
          <a:endParaRPr lang="en-US" sz="1600"/>
        </a:p>
      </dgm:t>
    </dgm:pt>
    <dgm:pt modelId="{19A3BB50-E1A3-0E4A-976E-54BBA0B2809E}" type="sibTrans" cxnId="{9B9A7152-8624-5E4C-BB3D-7D467E96D96F}">
      <dgm:prSet/>
      <dgm:spPr/>
      <dgm:t>
        <a:bodyPr/>
        <a:lstStyle/>
        <a:p>
          <a:endParaRPr lang="en-US" sz="1600"/>
        </a:p>
      </dgm:t>
    </dgm:pt>
    <dgm:pt modelId="{60EE9986-C31E-6140-980F-2A0CABD63F3B}">
      <dgm:prSet custT="1"/>
      <dgm:spPr>
        <a:xfrm>
          <a:off x="4678232" y="3371000"/>
          <a:ext cx="2520374" cy="2520374"/>
        </a:xfrm>
        <a:prstGeom prst="roundRect">
          <a:avLst/>
        </a:prstGeom>
        <a:gradFill rotWithShape="0">
          <a:gsLst>
            <a:gs pos="0">
              <a:srgbClr val="999966">
                <a:shade val="80000"/>
                <a:hueOff val="0"/>
                <a:satOff val="-4892"/>
                <a:lumOff val="25437"/>
                <a:alphaOff val="0"/>
                <a:shade val="40000"/>
                <a:alpha val="100000"/>
                <a:satMod val="150000"/>
                <a:lumMod val="100000"/>
              </a:srgbClr>
            </a:gs>
            <a:gs pos="100000">
              <a:srgbClr val="999966">
                <a:shade val="80000"/>
                <a:hueOff val="0"/>
                <a:satOff val="-4892"/>
                <a:lumOff val="25437"/>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sz="1200" dirty="0">
              <a:solidFill>
                <a:srgbClr val="330F42"/>
              </a:solidFill>
              <a:effectLst>
                <a:outerShdw blurRad="38100" dist="38100" dir="2700000" algn="tl">
                  <a:srgbClr val="000000">
                    <a:alpha val="43137"/>
                  </a:srgbClr>
                </a:outerShdw>
              </a:effectLst>
              <a:latin typeface="Rockwell"/>
              <a:ea typeface="+mn-ea"/>
              <a:cs typeface="+mn-cs"/>
            </a:rPr>
            <a:t>Not entered by any exception and uses the same registers available in User mode</a:t>
          </a:r>
        </a:p>
      </dgm:t>
    </dgm:pt>
    <dgm:pt modelId="{EFF18E3B-545F-EA49-86EC-D26A036FF9BC}" type="parTrans" cxnId="{B73C1B1F-A1C5-F54A-94E0-2D7B8162E5AD}">
      <dgm:prSet/>
      <dgm:spPr/>
      <dgm:t>
        <a:bodyPr/>
        <a:lstStyle/>
        <a:p>
          <a:endParaRPr lang="en-US" sz="1600"/>
        </a:p>
      </dgm:t>
    </dgm:pt>
    <dgm:pt modelId="{4E0B6887-4E6C-E44C-BD36-8DD3EF0B2A8B}" type="sibTrans" cxnId="{B73C1B1F-A1C5-F54A-94E0-2D7B8162E5AD}">
      <dgm:prSet/>
      <dgm:spPr/>
      <dgm:t>
        <a:bodyPr/>
        <a:lstStyle/>
        <a:p>
          <a:endParaRPr lang="en-US" sz="1600"/>
        </a:p>
      </dgm:t>
    </dgm:pt>
    <dgm:pt modelId="{218CCAEE-562F-714C-B62B-4493D60CF403}">
      <dgm:prSet custT="1"/>
      <dgm:spPr>
        <a:xfrm>
          <a:off x="4678232" y="3371000"/>
          <a:ext cx="2520374" cy="2520374"/>
        </a:xfrm>
        <a:prstGeom prst="roundRect">
          <a:avLst/>
        </a:prstGeom>
        <a:gradFill rotWithShape="0">
          <a:gsLst>
            <a:gs pos="0">
              <a:srgbClr val="999966">
                <a:shade val="80000"/>
                <a:hueOff val="0"/>
                <a:satOff val="-4892"/>
                <a:lumOff val="25437"/>
                <a:alphaOff val="0"/>
                <a:shade val="40000"/>
                <a:alpha val="100000"/>
                <a:satMod val="150000"/>
                <a:lumMod val="100000"/>
              </a:srgbClr>
            </a:gs>
            <a:gs pos="100000">
              <a:srgbClr val="999966">
                <a:shade val="80000"/>
                <a:hueOff val="0"/>
                <a:satOff val="-4892"/>
                <a:lumOff val="25437"/>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sz="1200" dirty="0">
              <a:solidFill>
                <a:srgbClr val="330F42"/>
              </a:solidFill>
              <a:effectLst>
                <a:outerShdw blurRad="38100" dist="38100" dir="2700000" algn="tl">
                  <a:srgbClr val="000000">
                    <a:alpha val="43137"/>
                  </a:srgbClr>
                </a:outerShdw>
              </a:effectLst>
              <a:latin typeface="Rockwell"/>
              <a:ea typeface="+mn-ea"/>
              <a:cs typeface="+mn-cs"/>
            </a:rPr>
            <a:t>Is used for running certain privileged operating system tasks</a:t>
          </a:r>
        </a:p>
      </dgm:t>
    </dgm:pt>
    <dgm:pt modelId="{673E2237-10D8-414D-A512-D800C1BE97CB}" type="parTrans" cxnId="{49D6EFBE-D6AB-1248-B2B2-D7BFAB245CF4}">
      <dgm:prSet/>
      <dgm:spPr/>
      <dgm:t>
        <a:bodyPr/>
        <a:lstStyle/>
        <a:p>
          <a:endParaRPr lang="en-US" sz="1600"/>
        </a:p>
      </dgm:t>
    </dgm:pt>
    <dgm:pt modelId="{6319707F-95D3-3144-836C-0632FAEAEBD2}" type="sibTrans" cxnId="{49D6EFBE-D6AB-1248-B2B2-D7BFAB245CF4}">
      <dgm:prSet/>
      <dgm:spPr/>
      <dgm:t>
        <a:bodyPr/>
        <a:lstStyle/>
        <a:p>
          <a:endParaRPr lang="en-US" sz="1600"/>
        </a:p>
      </dgm:t>
    </dgm:pt>
    <dgm:pt modelId="{15D44755-B14E-F04C-8DB8-9D6AFF803D24}">
      <dgm:prSet custT="1"/>
      <dgm:spPr>
        <a:xfrm>
          <a:off x="4678232" y="3371000"/>
          <a:ext cx="2520374" cy="2520374"/>
        </a:xfrm>
        <a:prstGeom prst="roundRect">
          <a:avLst/>
        </a:prstGeom>
        <a:gradFill rotWithShape="0">
          <a:gsLst>
            <a:gs pos="0">
              <a:srgbClr val="999966">
                <a:shade val="80000"/>
                <a:hueOff val="0"/>
                <a:satOff val="-4892"/>
                <a:lumOff val="25437"/>
                <a:alphaOff val="0"/>
                <a:shade val="40000"/>
                <a:alpha val="100000"/>
                <a:satMod val="150000"/>
                <a:lumMod val="100000"/>
              </a:srgbClr>
            </a:gs>
            <a:gs pos="100000">
              <a:srgbClr val="999966">
                <a:shade val="80000"/>
                <a:hueOff val="0"/>
                <a:satOff val="-4892"/>
                <a:lumOff val="25437"/>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sz="1200" dirty="0">
              <a:solidFill>
                <a:srgbClr val="330F42"/>
              </a:solidFill>
              <a:effectLst>
                <a:outerShdw blurRad="38100" dist="38100" dir="2700000" algn="tl">
                  <a:srgbClr val="000000">
                    <a:alpha val="43137"/>
                  </a:srgbClr>
                </a:outerShdw>
              </a:effectLst>
              <a:latin typeface="Rockwell"/>
              <a:ea typeface="+mn-ea"/>
              <a:cs typeface="+mn-cs"/>
            </a:rPr>
            <a:t>May be interrupted by any of the five exception categories</a:t>
          </a:r>
        </a:p>
      </dgm:t>
    </dgm:pt>
    <dgm:pt modelId="{B4D6C793-72EE-9442-81A8-53B9311BF512}" type="parTrans" cxnId="{1AB7502A-B58F-B543-88E5-94317A4D07CA}">
      <dgm:prSet/>
      <dgm:spPr/>
      <dgm:t>
        <a:bodyPr/>
        <a:lstStyle/>
        <a:p>
          <a:endParaRPr lang="en-US" sz="1600"/>
        </a:p>
      </dgm:t>
    </dgm:pt>
    <dgm:pt modelId="{E182563F-0160-9E47-B175-BABD931F5E86}" type="sibTrans" cxnId="{1AB7502A-B58F-B543-88E5-94317A4D07CA}">
      <dgm:prSet/>
      <dgm:spPr/>
      <dgm:t>
        <a:bodyPr/>
        <a:lstStyle/>
        <a:p>
          <a:endParaRPr lang="en-US" sz="1600"/>
        </a:p>
      </dgm:t>
    </dgm:pt>
    <dgm:pt modelId="{F56435D0-4D76-F64B-888F-19BABBF255F8}" type="pres">
      <dgm:prSet presAssocID="{35D266D5-F7F4-D74F-B12E-6769F95E4941}" presName="matrix" presStyleCnt="0">
        <dgm:presLayoutVars>
          <dgm:chMax val="1"/>
          <dgm:dir/>
          <dgm:resizeHandles val="exact"/>
        </dgm:presLayoutVars>
      </dgm:prSet>
      <dgm:spPr/>
    </dgm:pt>
    <dgm:pt modelId="{9E26EEDF-7730-D144-AC01-182061D8166A}" type="pres">
      <dgm:prSet presAssocID="{35D266D5-F7F4-D74F-B12E-6769F95E4941}" presName="axisShape" presStyleLbl="bgShp" presStyleIdx="0" presStyleCnt="1"/>
      <dgm:spPr>
        <a:xfrm>
          <a:off x="1307232" y="0"/>
          <a:ext cx="6300936" cy="6300936"/>
        </a:xfrm>
        <a:prstGeom prst="quadArrow">
          <a:avLst>
            <a:gd name="adj1" fmla="val 2000"/>
            <a:gd name="adj2" fmla="val 4000"/>
            <a:gd name="adj3" fmla="val 5000"/>
          </a:avLst>
        </a:prstGeom>
        <a:solidFill>
          <a:srgbClr val="666699">
            <a:lumMod val="60000"/>
            <a:lumOff val="40000"/>
          </a:srgbClr>
        </a:solidFill>
        <a:ln>
          <a:noFill/>
        </a:ln>
        <a:effectLst>
          <a:innerShdw blurRad="50800" dist="25400" dir="13500000">
            <a:srgbClr val="FFFFFF">
              <a:alpha val="75000"/>
            </a:srgbClr>
          </a:innerShdw>
          <a:outerShdw blurRad="63500" dist="25400" dir="5400000" rotWithShape="0">
            <a:srgbClr val="808080">
              <a:alpha val="75000"/>
            </a:srgbClr>
          </a:outerShdw>
        </a:effectLst>
      </dgm:spPr>
    </dgm:pt>
    <dgm:pt modelId="{63528393-0AC5-AC4A-9193-D664E8B0F830}" type="pres">
      <dgm:prSet presAssocID="{35D266D5-F7F4-D74F-B12E-6769F95E4941}" presName="rect1" presStyleLbl="node1" presStyleIdx="0" presStyleCnt="4">
        <dgm:presLayoutVars>
          <dgm:chMax val="0"/>
          <dgm:chPref val="0"/>
          <dgm:bulletEnabled val="1"/>
        </dgm:presLayoutVars>
      </dgm:prSet>
      <dgm:spPr/>
    </dgm:pt>
    <dgm:pt modelId="{9929BC74-C9D5-7647-AA71-C883196EE3F7}" type="pres">
      <dgm:prSet presAssocID="{35D266D5-F7F4-D74F-B12E-6769F95E4941}" presName="rect2" presStyleLbl="node1" presStyleIdx="1" presStyleCnt="4">
        <dgm:presLayoutVars>
          <dgm:chMax val="0"/>
          <dgm:chPref val="0"/>
          <dgm:bulletEnabled val="1"/>
        </dgm:presLayoutVars>
      </dgm:prSet>
      <dgm:spPr/>
    </dgm:pt>
    <dgm:pt modelId="{2E3DFCF2-8AEA-5E4D-933E-9ECD1088EEDE}" type="pres">
      <dgm:prSet presAssocID="{35D266D5-F7F4-D74F-B12E-6769F95E4941}" presName="rect3" presStyleLbl="node1" presStyleIdx="2" presStyleCnt="4">
        <dgm:presLayoutVars>
          <dgm:chMax val="0"/>
          <dgm:chPref val="0"/>
          <dgm:bulletEnabled val="1"/>
        </dgm:presLayoutVars>
      </dgm:prSet>
      <dgm:spPr/>
    </dgm:pt>
    <dgm:pt modelId="{1B9D5CAB-120D-FB4A-A5F2-861B7735D979}" type="pres">
      <dgm:prSet presAssocID="{35D266D5-F7F4-D74F-B12E-6769F95E4941}" presName="rect4" presStyleLbl="node1" presStyleIdx="3" presStyleCnt="4">
        <dgm:presLayoutVars>
          <dgm:chMax val="0"/>
          <dgm:chPref val="0"/>
          <dgm:bulletEnabled val="1"/>
        </dgm:presLayoutVars>
      </dgm:prSet>
      <dgm:spPr/>
    </dgm:pt>
  </dgm:ptLst>
  <dgm:cxnLst>
    <dgm:cxn modelId="{4465950D-7BAD-4B46-88E4-66AC18C422EE}" type="presOf" srcId="{DD700002-3519-894B-BB3C-F26B6642C645}" destId="{2E3DFCF2-8AEA-5E4D-933E-9ECD1088EEDE}" srcOrd="0" destOrd="0" presId="urn:microsoft.com/office/officeart/2005/8/layout/matrix2"/>
    <dgm:cxn modelId="{B73C1B1F-A1C5-F54A-94E0-2D7B8162E5AD}" srcId="{71BD4134-5348-F648-AF55-C37F90E6BF03}" destId="{60EE9986-C31E-6140-980F-2A0CABD63F3B}" srcOrd="0" destOrd="0" parTransId="{EFF18E3B-545F-EA49-86EC-D26A036FF9BC}" sibTransId="{4E0B6887-4E6C-E44C-BD36-8DD3EF0B2A8B}"/>
    <dgm:cxn modelId="{201E1C23-B690-594A-B59C-442DD3CA8620}" type="presOf" srcId="{218CCAEE-562F-714C-B62B-4493D60CF403}" destId="{1B9D5CAB-120D-FB4A-A5F2-861B7735D979}" srcOrd="0" destOrd="2" presId="urn:microsoft.com/office/officeart/2005/8/layout/matrix2"/>
    <dgm:cxn modelId="{2F651624-9178-AF4F-8EEC-3EC61B659C13}" srcId="{DD700002-3519-894B-BB3C-F26B6642C645}" destId="{6DB1177D-BF35-FF49-998F-3F09D11DDD8A}" srcOrd="0" destOrd="0" parTransId="{E26B5788-B633-5346-A481-ECD119E3ABF8}" sibTransId="{ABF3CF5B-69FC-944E-B1F6-FFE40563BBFE}"/>
    <dgm:cxn modelId="{94156327-86DC-2541-9D46-AD430C5C02AE}" srcId="{DD700002-3519-894B-BB3C-F26B6642C645}" destId="{40DE6D44-5240-9D4D-995D-6DB3A2442AA6}" srcOrd="4" destOrd="0" parTransId="{00FDBD99-22B4-7F46-8FB1-3BD11595FBB0}" sibTransId="{7D77FDFB-FE1D-6948-BA17-6FDA99D5D15C}"/>
    <dgm:cxn modelId="{1AB7502A-B58F-B543-88E5-94317A4D07CA}" srcId="{71BD4134-5348-F648-AF55-C37F90E6BF03}" destId="{15D44755-B14E-F04C-8DB8-9D6AFF803D24}" srcOrd="2" destOrd="0" parTransId="{B4D6C793-72EE-9442-81A8-53B9311BF512}" sibTransId="{E182563F-0160-9E47-B175-BABD931F5E86}"/>
    <dgm:cxn modelId="{7A34012E-8C9C-A742-B7FE-F2A8E992CAF0}" srcId="{DD700002-3519-894B-BB3C-F26B6642C645}" destId="{6854CC64-A7DD-774A-B510-76A107E4974F}" srcOrd="1" destOrd="0" parTransId="{6B148308-86E1-1A41-A342-5462DE511D79}" sibTransId="{DB537143-6EA0-4343-91CA-105E6681D432}"/>
    <dgm:cxn modelId="{513A7034-73C3-534C-9927-AEA000136880}" type="presOf" srcId="{35D266D5-F7F4-D74F-B12E-6769F95E4941}" destId="{F56435D0-4D76-F64B-888F-19BABBF255F8}" srcOrd="0" destOrd="0" presId="urn:microsoft.com/office/officeart/2005/8/layout/matrix2"/>
    <dgm:cxn modelId="{37BD3B5C-D373-A847-B62E-EB210F0E72C5}" type="presOf" srcId="{71BD4134-5348-F648-AF55-C37F90E6BF03}" destId="{1B9D5CAB-120D-FB4A-A5F2-861B7735D979}" srcOrd="0" destOrd="0" presId="urn:microsoft.com/office/officeart/2005/8/layout/matrix2"/>
    <dgm:cxn modelId="{57626668-665D-1344-9911-8438F22BB42D}" srcId="{35D266D5-F7F4-D74F-B12E-6769F95E4941}" destId="{F35D25E3-D5F3-E142-897E-5CBF66B92793}" srcOrd="1" destOrd="0" parTransId="{8C3CD99D-0841-6645-8D06-3DE55350C11C}" sibTransId="{2DC80F9A-AF65-714A-B420-F3E44B7D1EC4}"/>
    <dgm:cxn modelId="{E8BDC94C-DDD2-6845-9FE7-362334B7B32E}" type="presOf" srcId="{19C45681-5B82-434C-ACCF-99A72CA9AAB1}" destId="{2E3DFCF2-8AEA-5E4D-933E-9ECD1088EEDE}" srcOrd="0" destOrd="3" presId="urn:microsoft.com/office/officeart/2005/8/layout/matrix2"/>
    <dgm:cxn modelId="{DFB88F4F-6B1D-5B45-B3CC-8DC0E9555A9C}" srcId="{35D266D5-F7F4-D74F-B12E-6769F95E4941}" destId="{A5C86D7B-E342-3445-8B50-2181C0BED678}" srcOrd="0" destOrd="0" parTransId="{E6484562-D439-6745-ABCE-8342D2751C8C}" sibTransId="{CE4CDA49-0E60-5947-B1CF-48C7B6DADA31}"/>
    <dgm:cxn modelId="{2671A86F-53AB-4446-A64E-C203500F0119}" type="presOf" srcId="{A5C86D7B-E342-3445-8B50-2181C0BED678}" destId="{63528393-0AC5-AC4A-9193-D664E8B0F830}" srcOrd="0" destOrd="0" presId="urn:microsoft.com/office/officeart/2005/8/layout/matrix2"/>
    <dgm:cxn modelId="{83520551-C2DF-DA40-B284-ED5CED4EBCF8}" srcId="{DD700002-3519-894B-BB3C-F26B6642C645}" destId="{5925CE37-294F-E848-93AE-42C4ABBF1D33}" srcOrd="3" destOrd="0" parTransId="{580FA373-8816-104D-ACEB-77CDC366CD6B}" sibTransId="{F7217720-B770-0147-980D-6C194D14D1E3}"/>
    <dgm:cxn modelId="{9B9A7152-8624-5E4C-BB3D-7D467E96D96F}" srcId="{35D266D5-F7F4-D74F-B12E-6769F95E4941}" destId="{71BD4134-5348-F648-AF55-C37F90E6BF03}" srcOrd="3" destOrd="0" parTransId="{5C0A23E4-8C2A-7844-8725-D63EAD4DB1A8}" sibTransId="{19A3BB50-E1A3-0E4A-976E-54BBA0B2809E}"/>
    <dgm:cxn modelId="{AAE0A579-4D52-574B-811D-2F70BC953EAC}" srcId="{DD700002-3519-894B-BB3C-F26B6642C645}" destId="{19C45681-5B82-434C-ACCF-99A72CA9AAB1}" srcOrd="2" destOrd="0" parTransId="{FD963DD7-4231-B944-84FF-504E9175E604}" sibTransId="{D0B1410D-2C8F-8941-BFE2-B2E0AD6BB8DB}"/>
    <dgm:cxn modelId="{D95BEB7E-F776-F84B-B282-F51FC308765A}" type="presOf" srcId="{15D44755-B14E-F04C-8DB8-9D6AFF803D24}" destId="{1B9D5CAB-120D-FB4A-A5F2-861B7735D979}" srcOrd="0" destOrd="3" presId="urn:microsoft.com/office/officeart/2005/8/layout/matrix2"/>
    <dgm:cxn modelId="{9B2C118A-3337-0949-B512-9B5ED47BDCD2}" type="presOf" srcId="{40DE6D44-5240-9D4D-995D-6DB3A2442AA6}" destId="{2E3DFCF2-8AEA-5E4D-933E-9ECD1088EEDE}" srcOrd="0" destOrd="5" presId="urn:microsoft.com/office/officeart/2005/8/layout/matrix2"/>
    <dgm:cxn modelId="{3D11868F-E515-D642-9704-B6282503BACF}" type="presOf" srcId="{F35D25E3-D5F3-E142-897E-5CBF66B92793}" destId="{9929BC74-C9D5-7647-AA71-C883196EE3F7}" srcOrd="0" destOrd="0" presId="urn:microsoft.com/office/officeart/2005/8/layout/matrix2"/>
    <dgm:cxn modelId="{DEA5589B-C7AC-374E-8D2D-92FCE05620DD}" type="presOf" srcId="{6DB1177D-BF35-FF49-998F-3F09D11DDD8A}" destId="{2E3DFCF2-8AEA-5E4D-933E-9ECD1088EEDE}" srcOrd="0" destOrd="1" presId="urn:microsoft.com/office/officeart/2005/8/layout/matrix2"/>
    <dgm:cxn modelId="{CC5F9DA2-DC78-BC4A-8E3F-0AD5F1668043}" type="presOf" srcId="{6854CC64-A7DD-774A-B510-76A107E4974F}" destId="{2E3DFCF2-8AEA-5E4D-933E-9ECD1088EEDE}" srcOrd="0" destOrd="2" presId="urn:microsoft.com/office/officeart/2005/8/layout/matrix2"/>
    <dgm:cxn modelId="{49D6EFBE-D6AB-1248-B2B2-D7BFAB245CF4}" srcId="{71BD4134-5348-F648-AF55-C37F90E6BF03}" destId="{218CCAEE-562F-714C-B62B-4493D60CF403}" srcOrd="1" destOrd="0" parTransId="{673E2237-10D8-414D-A512-D800C1BE97CB}" sibTransId="{6319707F-95D3-3144-836C-0632FAEAEBD2}"/>
    <dgm:cxn modelId="{66694FC3-2835-AA4D-ABE9-3183EC64FFC0}" type="presOf" srcId="{60EE9986-C31E-6140-980F-2A0CABD63F3B}" destId="{1B9D5CAB-120D-FB4A-A5F2-861B7735D979}" srcOrd="0" destOrd="1" presId="urn:microsoft.com/office/officeart/2005/8/layout/matrix2"/>
    <dgm:cxn modelId="{FF5A3ACA-94A6-3D43-9E5A-B9EF7CCF5E73}" srcId="{35D266D5-F7F4-D74F-B12E-6769F95E4941}" destId="{DD700002-3519-894B-BB3C-F26B6642C645}" srcOrd="2" destOrd="0" parTransId="{DB52FEB4-39BB-E241-9CCF-88AECF2033A9}" sibTransId="{B9FA993C-4BC0-B74C-A7E3-25710455C2D8}"/>
    <dgm:cxn modelId="{959B2FDC-6A8B-AE40-AA0A-E17FD78624A0}" type="presOf" srcId="{5925CE37-294F-E848-93AE-42C4ABBF1D33}" destId="{2E3DFCF2-8AEA-5E4D-933E-9ECD1088EEDE}" srcOrd="0" destOrd="4" presId="urn:microsoft.com/office/officeart/2005/8/layout/matrix2"/>
    <dgm:cxn modelId="{679E02E0-40DE-8644-A9D8-67F5A84F709C}" type="presParOf" srcId="{F56435D0-4D76-F64B-888F-19BABBF255F8}" destId="{9E26EEDF-7730-D144-AC01-182061D8166A}" srcOrd="0" destOrd="0" presId="urn:microsoft.com/office/officeart/2005/8/layout/matrix2"/>
    <dgm:cxn modelId="{33F3DB3B-F41A-AF44-BA00-C1082CB02963}" type="presParOf" srcId="{F56435D0-4D76-F64B-888F-19BABBF255F8}" destId="{63528393-0AC5-AC4A-9193-D664E8B0F830}" srcOrd="1" destOrd="0" presId="urn:microsoft.com/office/officeart/2005/8/layout/matrix2"/>
    <dgm:cxn modelId="{C5625E7A-EFDF-404E-BEC6-EE13911F2AF1}" type="presParOf" srcId="{F56435D0-4D76-F64B-888F-19BABBF255F8}" destId="{9929BC74-C9D5-7647-AA71-C883196EE3F7}" srcOrd="2" destOrd="0" presId="urn:microsoft.com/office/officeart/2005/8/layout/matrix2"/>
    <dgm:cxn modelId="{A92F2715-1976-104E-9C0A-D6E9E4E415E4}" type="presParOf" srcId="{F56435D0-4D76-F64B-888F-19BABBF255F8}" destId="{2E3DFCF2-8AEA-5E4D-933E-9ECD1088EEDE}" srcOrd="3" destOrd="0" presId="urn:microsoft.com/office/officeart/2005/8/layout/matrix2"/>
    <dgm:cxn modelId="{624124FA-8AD3-EC42-84FA-3F85CEB29D21}" type="presParOf" srcId="{F56435D0-4D76-F64B-888F-19BABBF255F8}" destId="{1B9D5CAB-120D-FB4A-A5F2-861B7735D979}" srcOrd="4" destOrd="0" presId="urn:microsoft.com/office/officeart/2005/8/layout/matrix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038744-C04D-3E4E-AA73-587B41E192F1}">
      <dsp:nvSpPr>
        <dsp:cNvPr id="0" name=""/>
        <dsp:cNvSpPr/>
      </dsp:nvSpPr>
      <dsp:spPr>
        <a:xfrm>
          <a:off x="239909" y="1641471"/>
          <a:ext cx="3733418" cy="3079289"/>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sp>
    <dsp:sp modelId="{035FEA2A-0066-1642-A472-449A8E0D404E}">
      <dsp:nvSpPr>
        <dsp:cNvPr id="0" name=""/>
        <dsp:cNvSpPr/>
      </dsp:nvSpPr>
      <dsp:spPr>
        <a:xfrm>
          <a:off x="1814735" y="1188329"/>
          <a:ext cx="3239768" cy="5210474"/>
        </a:xfrm>
        <a:prstGeom prst="leftCircularArrow">
          <a:avLst>
            <a:gd name="adj1" fmla="val 1811"/>
            <a:gd name="adj2" fmla="val 215986"/>
            <a:gd name="adj3" fmla="val 3871744"/>
            <a:gd name="adj4" fmla="val 10904737"/>
            <a:gd name="adj5" fmla="val 2112"/>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4921A1A8-6658-C946-81EC-1BBCEEEDE982}">
      <dsp:nvSpPr>
        <dsp:cNvPr id="0" name=""/>
        <dsp:cNvSpPr/>
      </dsp:nvSpPr>
      <dsp:spPr>
        <a:xfrm>
          <a:off x="540050" y="2391801"/>
          <a:ext cx="3318594" cy="1319695"/>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rtl="0">
            <a:lnSpc>
              <a:spcPct val="90000"/>
            </a:lnSpc>
            <a:spcBef>
              <a:spcPct val="0"/>
            </a:spcBef>
            <a:spcAft>
              <a:spcPct val="35000"/>
            </a:spcAft>
            <a:buNone/>
          </a:pPr>
          <a:r>
            <a:rPr lang="en-US" sz="2200" kern="1200" dirty="0">
              <a:solidFill>
                <a:sysClr val="window" lastClr="FFFFFF"/>
              </a:solidFill>
              <a:latin typeface="Rockwell"/>
              <a:ea typeface="+mn-ea"/>
              <a:cs typeface="+mn-cs"/>
            </a:rPr>
            <a:t>Referenced by means of the machine language that the processor executes</a:t>
          </a:r>
        </a:p>
      </dsp:txBody>
      <dsp:txXfrm>
        <a:off x="578703" y="2430454"/>
        <a:ext cx="3241288" cy="1242389"/>
      </dsp:txXfrm>
    </dsp:sp>
    <dsp:sp modelId="{C1F890E0-24C4-D642-8884-C9B159244FFE}">
      <dsp:nvSpPr>
        <dsp:cNvPr id="0" name=""/>
        <dsp:cNvSpPr/>
      </dsp:nvSpPr>
      <dsp:spPr>
        <a:xfrm>
          <a:off x="4697807" y="1496251"/>
          <a:ext cx="4056881" cy="4534931"/>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 tIns="24765" rIns="24765" bIns="24765" numCol="1" spcCol="1270" anchor="t" anchorCtr="0">
          <a:noAutofit/>
        </a:bodyPr>
        <a:lstStyle/>
        <a:p>
          <a:pPr marL="114300" lvl="1" indent="-114300" algn="l" defTabSz="577850" rtl="0">
            <a:lnSpc>
              <a:spcPct val="90000"/>
            </a:lnSpc>
            <a:spcBef>
              <a:spcPct val="0"/>
            </a:spcBef>
            <a:spcAft>
              <a:spcPct val="15000"/>
            </a:spcAft>
            <a:buChar char="•"/>
          </a:pPr>
          <a:r>
            <a:rPr lang="en-US" sz="1300" b="1" kern="1200" dirty="0">
              <a:solidFill>
                <a:srgbClr val="666699"/>
              </a:solidFill>
              <a:latin typeface="Rockwell"/>
              <a:ea typeface="+mn-ea"/>
              <a:cs typeface="+mn-cs"/>
            </a:rPr>
            <a:t>General purpose</a:t>
          </a:r>
        </a:p>
        <a:p>
          <a:pPr marL="228600" lvl="2" indent="-114300" algn="l" defTabSz="577850" rtl="0">
            <a:lnSpc>
              <a:spcPct val="90000"/>
            </a:lnSpc>
            <a:spcBef>
              <a:spcPct val="0"/>
            </a:spcBef>
            <a:spcAft>
              <a:spcPct val="15000"/>
            </a:spcAft>
            <a:buChar char="•"/>
          </a:pPr>
          <a:r>
            <a:rPr lang="en-US" sz="1300" kern="1200" dirty="0">
              <a:solidFill>
                <a:sysClr val="windowText" lastClr="000000">
                  <a:hueOff val="0"/>
                  <a:satOff val="0"/>
                  <a:lumOff val="0"/>
                  <a:alphaOff val="0"/>
                </a:sysClr>
              </a:solidFill>
              <a:latin typeface="Rockwell"/>
              <a:ea typeface="+mn-ea"/>
              <a:cs typeface="+mn-cs"/>
            </a:rPr>
            <a:t>Can be assigned to a variety of functions by the programmer</a:t>
          </a:r>
        </a:p>
        <a:p>
          <a:pPr marL="114300" lvl="1" indent="-114300" algn="l" defTabSz="577850" rtl="0">
            <a:lnSpc>
              <a:spcPct val="90000"/>
            </a:lnSpc>
            <a:spcBef>
              <a:spcPct val="0"/>
            </a:spcBef>
            <a:spcAft>
              <a:spcPct val="15000"/>
            </a:spcAft>
            <a:buChar char="•"/>
          </a:pPr>
          <a:r>
            <a:rPr lang="en-US" sz="1300" b="1" kern="1200" dirty="0">
              <a:solidFill>
                <a:srgbClr val="666699"/>
              </a:solidFill>
              <a:latin typeface="Rockwell"/>
              <a:ea typeface="+mn-ea"/>
              <a:cs typeface="+mn-cs"/>
            </a:rPr>
            <a:t>Data</a:t>
          </a:r>
        </a:p>
        <a:p>
          <a:pPr marL="228600" lvl="2" indent="-114300" algn="l" defTabSz="577850" rtl="0">
            <a:lnSpc>
              <a:spcPct val="90000"/>
            </a:lnSpc>
            <a:spcBef>
              <a:spcPct val="0"/>
            </a:spcBef>
            <a:spcAft>
              <a:spcPct val="15000"/>
            </a:spcAft>
            <a:buChar char="•"/>
          </a:pPr>
          <a:r>
            <a:rPr lang="en-US" sz="1300" kern="1200" dirty="0">
              <a:solidFill>
                <a:sysClr val="windowText" lastClr="000000">
                  <a:hueOff val="0"/>
                  <a:satOff val="0"/>
                  <a:lumOff val="0"/>
                  <a:alphaOff val="0"/>
                </a:sysClr>
              </a:solidFill>
              <a:latin typeface="Rockwell"/>
              <a:ea typeface="+mn-ea"/>
              <a:cs typeface="+mn-cs"/>
            </a:rPr>
            <a:t>May be used only to hold data and cannot be employed in the calculation of an operand address</a:t>
          </a:r>
        </a:p>
        <a:p>
          <a:pPr marL="114300" lvl="1" indent="-114300" algn="l" defTabSz="577850" rtl="0">
            <a:lnSpc>
              <a:spcPct val="90000"/>
            </a:lnSpc>
            <a:spcBef>
              <a:spcPct val="0"/>
            </a:spcBef>
            <a:spcAft>
              <a:spcPct val="15000"/>
            </a:spcAft>
            <a:buChar char="•"/>
          </a:pPr>
          <a:r>
            <a:rPr lang="en-US" sz="1300" b="1" kern="1200" dirty="0">
              <a:solidFill>
                <a:srgbClr val="666699"/>
              </a:solidFill>
              <a:latin typeface="Rockwell"/>
              <a:ea typeface="+mn-ea"/>
              <a:cs typeface="+mn-cs"/>
            </a:rPr>
            <a:t>Address</a:t>
          </a:r>
        </a:p>
        <a:p>
          <a:pPr marL="228600" lvl="2" indent="-114300" algn="l" defTabSz="577850" rtl="0">
            <a:lnSpc>
              <a:spcPct val="90000"/>
            </a:lnSpc>
            <a:spcBef>
              <a:spcPct val="0"/>
            </a:spcBef>
            <a:spcAft>
              <a:spcPct val="15000"/>
            </a:spcAft>
            <a:buChar char="•"/>
          </a:pPr>
          <a:r>
            <a:rPr lang="en-US" sz="1300" kern="1200" dirty="0">
              <a:solidFill>
                <a:sysClr val="windowText" lastClr="000000">
                  <a:hueOff val="0"/>
                  <a:satOff val="0"/>
                  <a:lumOff val="0"/>
                  <a:alphaOff val="0"/>
                </a:sysClr>
              </a:solidFill>
              <a:latin typeface="Rockwell"/>
              <a:ea typeface="+mn-ea"/>
              <a:cs typeface="+mn-cs"/>
            </a:rPr>
            <a:t>May be somewhat general purpose or may be devoted to a particular addressing mode</a:t>
          </a:r>
        </a:p>
        <a:p>
          <a:pPr marL="228600" lvl="2" indent="-114300" algn="l" defTabSz="577850" rtl="0">
            <a:lnSpc>
              <a:spcPct val="90000"/>
            </a:lnSpc>
            <a:spcBef>
              <a:spcPct val="0"/>
            </a:spcBef>
            <a:spcAft>
              <a:spcPct val="15000"/>
            </a:spcAft>
            <a:buChar char="•"/>
          </a:pPr>
          <a:r>
            <a:rPr lang="en-US" sz="1300" kern="1200" dirty="0">
              <a:solidFill>
                <a:sysClr val="windowText" lastClr="000000">
                  <a:hueOff val="0"/>
                  <a:satOff val="0"/>
                  <a:lumOff val="0"/>
                  <a:alphaOff val="0"/>
                </a:sysClr>
              </a:solidFill>
              <a:latin typeface="Rockwell"/>
              <a:ea typeface="+mn-ea"/>
              <a:cs typeface="+mn-cs"/>
            </a:rPr>
            <a:t>Examples:  segment pointers, index registers, stack pointer</a:t>
          </a:r>
        </a:p>
        <a:p>
          <a:pPr marL="114300" lvl="1" indent="-114300" algn="l" defTabSz="577850" rtl="0">
            <a:lnSpc>
              <a:spcPct val="90000"/>
            </a:lnSpc>
            <a:spcBef>
              <a:spcPct val="0"/>
            </a:spcBef>
            <a:spcAft>
              <a:spcPct val="15000"/>
            </a:spcAft>
            <a:buChar char="•"/>
          </a:pPr>
          <a:r>
            <a:rPr lang="en-US" sz="1300" b="1" kern="1200" dirty="0">
              <a:solidFill>
                <a:srgbClr val="666699"/>
              </a:solidFill>
              <a:latin typeface="Rockwell"/>
              <a:ea typeface="+mn-ea"/>
              <a:cs typeface="+mn-cs"/>
            </a:rPr>
            <a:t>Condition codes</a:t>
          </a:r>
        </a:p>
        <a:p>
          <a:pPr marL="228600" lvl="2" indent="-114300" algn="l" defTabSz="577850" rtl="0">
            <a:lnSpc>
              <a:spcPct val="90000"/>
            </a:lnSpc>
            <a:spcBef>
              <a:spcPct val="0"/>
            </a:spcBef>
            <a:spcAft>
              <a:spcPct val="15000"/>
            </a:spcAft>
            <a:buChar char="•"/>
          </a:pPr>
          <a:r>
            <a:rPr lang="en-US" sz="1300" kern="1200" dirty="0">
              <a:solidFill>
                <a:sysClr val="windowText" lastClr="000000">
                  <a:hueOff val="0"/>
                  <a:satOff val="0"/>
                  <a:lumOff val="0"/>
                  <a:alphaOff val="0"/>
                </a:sysClr>
              </a:solidFill>
              <a:latin typeface="Rockwell"/>
              <a:ea typeface="+mn-ea"/>
              <a:cs typeface="+mn-cs"/>
            </a:rPr>
            <a:t>Also referred to as </a:t>
          </a:r>
          <a:r>
            <a:rPr lang="en-US" sz="1300" i="1" kern="1200" dirty="0">
              <a:solidFill>
                <a:sysClr val="windowText" lastClr="000000">
                  <a:hueOff val="0"/>
                  <a:satOff val="0"/>
                  <a:lumOff val="0"/>
                  <a:alphaOff val="0"/>
                </a:sysClr>
              </a:solidFill>
              <a:latin typeface="Rockwell"/>
              <a:ea typeface="+mn-ea"/>
              <a:cs typeface="+mn-cs"/>
            </a:rPr>
            <a:t>flags</a:t>
          </a:r>
          <a:endParaRPr lang="en-US" sz="1300" kern="1200" dirty="0">
            <a:solidFill>
              <a:sysClr val="windowText" lastClr="000000">
                <a:hueOff val="0"/>
                <a:satOff val="0"/>
                <a:lumOff val="0"/>
                <a:alphaOff val="0"/>
              </a:sysClr>
            </a:solidFill>
            <a:latin typeface="Rockwell"/>
            <a:ea typeface="+mn-ea"/>
            <a:cs typeface="+mn-cs"/>
          </a:endParaRPr>
        </a:p>
        <a:p>
          <a:pPr marL="228600" lvl="2" indent="-114300" algn="l" defTabSz="577850" rtl="0">
            <a:lnSpc>
              <a:spcPct val="90000"/>
            </a:lnSpc>
            <a:spcBef>
              <a:spcPct val="0"/>
            </a:spcBef>
            <a:spcAft>
              <a:spcPct val="15000"/>
            </a:spcAft>
            <a:buChar char="•"/>
          </a:pPr>
          <a:r>
            <a:rPr lang="en-US" sz="1300" kern="1200" dirty="0">
              <a:solidFill>
                <a:sysClr val="windowText" lastClr="000000">
                  <a:hueOff val="0"/>
                  <a:satOff val="0"/>
                  <a:lumOff val="0"/>
                  <a:alphaOff val="0"/>
                </a:sysClr>
              </a:solidFill>
              <a:latin typeface="Rockwell"/>
              <a:ea typeface="+mn-ea"/>
              <a:cs typeface="+mn-cs"/>
            </a:rPr>
            <a:t>Bits set by the processor hardware as the result of operations</a:t>
          </a:r>
        </a:p>
      </dsp:txBody>
      <dsp:txXfrm>
        <a:off x="4802168" y="2572383"/>
        <a:ext cx="3848159" cy="3354438"/>
      </dsp:txXfrm>
    </dsp:sp>
    <dsp:sp modelId="{1F6A97C5-F3A9-E94F-905E-0E5EEFB98187}">
      <dsp:nvSpPr>
        <dsp:cNvPr id="0" name=""/>
        <dsp:cNvSpPr/>
      </dsp:nvSpPr>
      <dsp:spPr>
        <a:xfrm>
          <a:off x="5270041" y="966196"/>
          <a:ext cx="3504003" cy="1437623"/>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45720" rIns="68580" bIns="45720" numCol="1" spcCol="1270" anchor="ctr" anchorCtr="0">
          <a:noAutofit/>
        </a:bodyPr>
        <a:lstStyle/>
        <a:p>
          <a:pPr marL="0" lvl="0" indent="0" algn="ctr" defTabSz="1600200" rtl="0">
            <a:lnSpc>
              <a:spcPct val="90000"/>
            </a:lnSpc>
            <a:spcBef>
              <a:spcPct val="0"/>
            </a:spcBef>
            <a:spcAft>
              <a:spcPct val="35000"/>
            </a:spcAft>
            <a:buNone/>
          </a:pPr>
          <a:r>
            <a:rPr lang="en-US" sz="3600" kern="1200" dirty="0">
              <a:solidFill>
                <a:sysClr val="window" lastClr="FFFFFF"/>
              </a:solidFill>
              <a:latin typeface="Rockwell"/>
              <a:ea typeface="+mn-ea"/>
              <a:cs typeface="+mn-cs"/>
            </a:rPr>
            <a:t>Categories:</a:t>
          </a:r>
        </a:p>
      </dsp:txBody>
      <dsp:txXfrm>
        <a:off x="5312148" y="1008303"/>
        <a:ext cx="3419789" cy="13534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3E271E-CE66-1941-BDE4-DC011A56D099}">
      <dsp:nvSpPr>
        <dsp:cNvPr id="0" name=""/>
        <dsp:cNvSpPr/>
      </dsp:nvSpPr>
      <dsp:spPr>
        <a:xfrm>
          <a:off x="4622" y="0"/>
          <a:ext cx="2773435" cy="2384904"/>
        </a:xfrm>
        <a:prstGeom prst="upArrow">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CFF95017-E622-CB47-81A6-7B8D3D03A33B}">
      <dsp:nvSpPr>
        <dsp:cNvPr id="0" name=""/>
        <dsp:cNvSpPr/>
      </dsp:nvSpPr>
      <dsp:spPr>
        <a:xfrm>
          <a:off x="2861260" y="0"/>
          <a:ext cx="4706436" cy="23849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0" rIns="149352" bIns="149352" numCol="1" spcCol="1270" anchor="ctr" anchorCtr="0">
          <a:noAutofit/>
        </a:bodyPr>
        <a:lstStyle/>
        <a:p>
          <a:pPr marL="0" lvl="0" indent="0" algn="l" defTabSz="933450" rtl="0">
            <a:lnSpc>
              <a:spcPct val="90000"/>
            </a:lnSpc>
            <a:spcBef>
              <a:spcPct val="0"/>
            </a:spcBef>
            <a:spcAft>
              <a:spcPct val="35000"/>
            </a:spcAft>
            <a:buNone/>
          </a:pPr>
          <a:r>
            <a:rPr lang="en-US" sz="2100" kern="1200" dirty="0">
              <a:solidFill>
                <a:sysClr val="windowText" lastClr="000000">
                  <a:hueOff val="0"/>
                  <a:satOff val="0"/>
                  <a:lumOff val="0"/>
                  <a:alphaOff val="0"/>
                </a:sysClr>
              </a:solidFill>
              <a:latin typeface="Rockwell"/>
              <a:ea typeface="+mn-ea"/>
              <a:cs typeface="+mn-cs"/>
            </a:rPr>
            <a:t>Register or set of registers that contain status information</a:t>
          </a:r>
        </a:p>
      </dsp:txBody>
      <dsp:txXfrm>
        <a:off x="2861260" y="0"/>
        <a:ext cx="4706436" cy="2384904"/>
      </dsp:txXfrm>
    </dsp:sp>
    <dsp:sp modelId="{FAFFC7AD-0AC6-7C42-BAAA-78490EEA3097}">
      <dsp:nvSpPr>
        <dsp:cNvPr id="0" name=""/>
        <dsp:cNvSpPr/>
      </dsp:nvSpPr>
      <dsp:spPr>
        <a:xfrm>
          <a:off x="836653" y="2583647"/>
          <a:ext cx="2773435" cy="2384904"/>
        </a:xfrm>
        <a:prstGeom prst="downArrow">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20F573A9-C3CE-6E4D-8FF9-E946479E33E0}">
      <dsp:nvSpPr>
        <dsp:cNvPr id="0" name=""/>
        <dsp:cNvSpPr/>
      </dsp:nvSpPr>
      <dsp:spPr>
        <a:xfrm>
          <a:off x="3693291" y="2583647"/>
          <a:ext cx="4706436" cy="23849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0" rIns="149352" bIns="149352" numCol="1" spcCol="1270" anchor="ctr" anchorCtr="0">
          <a:noAutofit/>
        </a:bodyPr>
        <a:lstStyle/>
        <a:p>
          <a:pPr marL="0" lvl="0" indent="0" algn="l" defTabSz="933450" rtl="0">
            <a:lnSpc>
              <a:spcPct val="90000"/>
            </a:lnSpc>
            <a:spcBef>
              <a:spcPct val="0"/>
            </a:spcBef>
            <a:spcAft>
              <a:spcPct val="35000"/>
            </a:spcAft>
            <a:buNone/>
          </a:pPr>
          <a:r>
            <a:rPr lang="en-US" sz="2100" kern="1200" dirty="0">
              <a:solidFill>
                <a:sysClr val="windowText" lastClr="000000">
                  <a:hueOff val="0"/>
                  <a:satOff val="0"/>
                  <a:lumOff val="0"/>
                  <a:alphaOff val="0"/>
                </a:sysClr>
              </a:solidFill>
              <a:latin typeface="Rockwell"/>
              <a:ea typeface="+mn-ea"/>
              <a:cs typeface="+mn-cs"/>
            </a:rPr>
            <a:t>Common fields or flags include:</a:t>
          </a:r>
        </a:p>
        <a:p>
          <a:pPr marL="171450" lvl="1" indent="-171450" algn="l" defTabSz="711200" rtl="0">
            <a:lnSpc>
              <a:spcPct val="90000"/>
            </a:lnSpc>
            <a:spcBef>
              <a:spcPct val="0"/>
            </a:spcBef>
            <a:spcAft>
              <a:spcPct val="15000"/>
            </a:spcAft>
            <a:buChar char="•"/>
          </a:pPr>
          <a:r>
            <a:rPr lang="en-US" sz="1600" kern="1200" dirty="0">
              <a:solidFill>
                <a:sysClr val="windowText" lastClr="000000">
                  <a:hueOff val="0"/>
                  <a:satOff val="0"/>
                  <a:lumOff val="0"/>
                  <a:alphaOff val="0"/>
                </a:sysClr>
              </a:solidFill>
              <a:latin typeface="Rockwell"/>
              <a:ea typeface="+mn-ea"/>
              <a:cs typeface="+mn-cs"/>
            </a:rPr>
            <a:t>Sign</a:t>
          </a:r>
        </a:p>
        <a:p>
          <a:pPr marL="171450" lvl="1" indent="-171450" algn="l" defTabSz="711200" rtl="0">
            <a:lnSpc>
              <a:spcPct val="90000"/>
            </a:lnSpc>
            <a:spcBef>
              <a:spcPct val="0"/>
            </a:spcBef>
            <a:spcAft>
              <a:spcPct val="15000"/>
            </a:spcAft>
            <a:buChar char="•"/>
          </a:pPr>
          <a:r>
            <a:rPr lang="en-US" sz="1600" kern="1200" dirty="0">
              <a:solidFill>
                <a:sysClr val="windowText" lastClr="000000">
                  <a:hueOff val="0"/>
                  <a:satOff val="0"/>
                  <a:lumOff val="0"/>
                  <a:alphaOff val="0"/>
                </a:sysClr>
              </a:solidFill>
              <a:latin typeface="Rockwell"/>
              <a:ea typeface="+mn-ea"/>
              <a:cs typeface="+mn-cs"/>
            </a:rPr>
            <a:t>Zero</a:t>
          </a:r>
        </a:p>
        <a:p>
          <a:pPr marL="171450" lvl="1" indent="-171450" algn="l" defTabSz="711200" rtl="0">
            <a:lnSpc>
              <a:spcPct val="90000"/>
            </a:lnSpc>
            <a:spcBef>
              <a:spcPct val="0"/>
            </a:spcBef>
            <a:spcAft>
              <a:spcPct val="15000"/>
            </a:spcAft>
            <a:buChar char="•"/>
          </a:pPr>
          <a:r>
            <a:rPr lang="en-US" sz="1600" kern="1200" dirty="0">
              <a:solidFill>
                <a:sysClr val="windowText" lastClr="000000">
                  <a:hueOff val="0"/>
                  <a:satOff val="0"/>
                  <a:lumOff val="0"/>
                  <a:alphaOff val="0"/>
                </a:sysClr>
              </a:solidFill>
              <a:latin typeface="Rockwell"/>
              <a:ea typeface="+mn-ea"/>
              <a:cs typeface="+mn-cs"/>
            </a:rPr>
            <a:t>Carry</a:t>
          </a:r>
        </a:p>
        <a:p>
          <a:pPr marL="171450" lvl="1" indent="-171450" algn="l" defTabSz="711200" rtl="0">
            <a:lnSpc>
              <a:spcPct val="90000"/>
            </a:lnSpc>
            <a:spcBef>
              <a:spcPct val="0"/>
            </a:spcBef>
            <a:spcAft>
              <a:spcPct val="15000"/>
            </a:spcAft>
            <a:buChar char="•"/>
          </a:pPr>
          <a:r>
            <a:rPr lang="en-US" sz="1600" kern="1200" dirty="0">
              <a:solidFill>
                <a:sysClr val="windowText" lastClr="000000">
                  <a:hueOff val="0"/>
                  <a:satOff val="0"/>
                  <a:lumOff val="0"/>
                  <a:alphaOff val="0"/>
                </a:sysClr>
              </a:solidFill>
              <a:latin typeface="Rockwell"/>
              <a:ea typeface="+mn-ea"/>
              <a:cs typeface="+mn-cs"/>
            </a:rPr>
            <a:t>Equal</a:t>
          </a:r>
        </a:p>
        <a:p>
          <a:pPr marL="171450" lvl="1" indent="-171450" algn="l" defTabSz="711200" rtl="0">
            <a:lnSpc>
              <a:spcPct val="90000"/>
            </a:lnSpc>
            <a:spcBef>
              <a:spcPct val="0"/>
            </a:spcBef>
            <a:spcAft>
              <a:spcPct val="15000"/>
            </a:spcAft>
            <a:buChar char="•"/>
          </a:pPr>
          <a:r>
            <a:rPr lang="en-US" sz="1600" kern="1200" dirty="0">
              <a:solidFill>
                <a:sysClr val="windowText" lastClr="000000">
                  <a:hueOff val="0"/>
                  <a:satOff val="0"/>
                  <a:lumOff val="0"/>
                  <a:alphaOff val="0"/>
                </a:sysClr>
              </a:solidFill>
              <a:latin typeface="Rockwell"/>
              <a:ea typeface="+mn-ea"/>
              <a:cs typeface="+mn-cs"/>
            </a:rPr>
            <a:t>Overflow</a:t>
          </a:r>
        </a:p>
        <a:p>
          <a:pPr marL="171450" lvl="1" indent="-171450" algn="l" defTabSz="711200" rtl="0">
            <a:lnSpc>
              <a:spcPct val="90000"/>
            </a:lnSpc>
            <a:spcBef>
              <a:spcPct val="0"/>
            </a:spcBef>
            <a:spcAft>
              <a:spcPct val="15000"/>
            </a:spcAft>
            <a:buChar char="•"/>
          </a:pPr>
          <a:r>
            <a:rPr lang="en-US" sz="1600" kern="1200" dirty="0">
              <a:solidFill>
                <a:sysClr val="windowText" lastClr="000000">
                  <a:hueOff val="0"/>
                  <a:satOff val="0"/>
                  <a:lumOff val="0"/>
                  <a:alphaOff val="0"/>
                </a:sysClr>
              </a:solidFill>
              <a:latin typeface="Rockwell"/>
              <a:ea typeface="+mn-ea"/>
              <a:cs typeface="+mn-cs"/>
            </a:rPr>
            <a:t>Interrupt Enable/Disable</a:t>
          </a:r>
        </a:p>
        <a:p>
          <a:pPr marL="171450" lvl="1" indent="-171450" algn="l" defTabSz="711200" rtl="0">
            <a:lnSpc>
              <a:spcPct val="90000"/>
            </a:lnSpc>
            <a:spcBef>
              <a:spcPct val="0"/>
            </a:spcBef>
            <a:spcAft>
              <a:spcPct val="15000"/>
            </a:spcAft>
            <a:buChar char="•"/>
          </a:pPr>
          <a:r>
            <a:rPr lang="en-US" sz="1600" kern="1200" dirty="0">
              <a:solidFill>
                <a:sysClr val="windowText" lastClr="000000">
                  <a:hueOff val="0"/>
                  <a:satOff val="0"/>
                  <a:lumOff val="0"/>
                  <a:alphaOff val="0"/>
                </a:sysClr>
              </a:solidFill>
              <a:latin typeface="Rockwell"/>
              <a:ea typeface="+mn-ea"/>
              <a:cs typeface="+mn-cs"/>
            </a:rPr>
            <a:t>Supervisor</a:t>
          </a:r>
        </a:p>
      </dsp:txBody>
      <dsp:txXfrm>
        <a:off x="3693291" y="2583647"/>
        <a:ext cx="4706436" cy="238490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EDDD63-D148-C04E-AE73-900A9CB76940}">
      <dsp:nvSpPr>
        <dsp:cNvPr id="0" name=""/>
        <dsp:cNvSpPr/>
      </dsp:nvSpPr>
      <dsp:spPr>
        <a:xfrm>
          <a:off x="7224511" y="3684778"/>
          <a:ext cx="91440" cy="686030"/>
        </a:xfrm>
        <a:custGeom>
          <a:avLst/>
          <a:gdLst/>
          <a:ahLst/>
          <a:cxnLst/>
          <a:rect l="0" t="0" r="0" b="0"/>
          <a:pathLst>
            <a:path>
              <a:moveTo>
                <a:pt x="45720" y="0"/>
              </a:moveTo>
              <a:lnTo>
                <a:pt x="45720" y="686030"/>
              </a:lnTo>
            </a:path>
          </a:pathLst>
        </a:custGeom>
        <a:noFill/>
        <a:ln w="12700" cap="flat" cmpd="sng" algn="ctr">
          <a:solidFill>
            <a:srgbClr val="663366">
              <a:shade val="80000"/>
              <a:hueOff val="0"/>
              <a:satOff val="0"/>
              <a:lumOff val="0"/>
              <a:alphaOff val="0"/>
            </a:srgbClr>
          </a:solidFill>
          <a:prstDash val="solid"/>
        </a:ln>
        <a:effectLst/>
      </dsp:spPr>
      <dsp:style>
        <a:lnRef idx="1">
          <a:scrgbClr r="0" g="0" b="0"/>
        </a:lnRef>
        <a:fillRef idx="0">
          <a:scrgbClr r="0" g="0" b="0"/>
        </a:fillRef>
        <a:effectRef idx="0">
          <a:scrgbClr r="0" g="0" b="0"/>
        </a:effectRef>
        <a:fontRef idx="minor"/>
      </dsp:style>
    </dsp:sp>
    <dsp:sp modelId="{DC38F41A-7026-F74C-AC4B-78ED7376BF67}">
      <dsp:nvSpPr>
        <dsp:cNvPr id="0" name=""/>
        <dsp:cNvSpPr/>
      </dsp:nvSpPr>
      <dsp:spPr>
        <a:xfrm>
          <a:off x="4387201" y="1500882"/>
          <a:ext cx="2883030" cy="686030"/>
        </a:xfrm>
        <a:custGeom>
          <a:avLst/>
          <a:gdLst/>
          <a:ahLst/>
          <a:cxnLst/>
          <a:rect l="0" t="0" r="0" b="0"/>
          <a:pathLst>
            <a:path>
              <a:moveTo>
                <a:pt x="0" y="0"/>
              </a:moveTo>
              <a:lnTo>
                <a:pt x="0" y="467509"/>
              </a:lnTo>
              <a:lnTo>
                <a:pt x="2883030" y="467509"/>
              </a:lnTo>
              <a:lnTo>
                <a:pt x="2883030" y="686030"/>
              </a:lnTo>
            </a:path>
          </a:pathLst>
        </a:custGeom>
        <a:noFill/>
        <a:ln w="12700" cap="flat" cmpd="sng" algn="ctr">
          <a:solidFill>
            <a:srgbClr val="663366">
              <a:shade val="60000"/>
              <a:hueOff val="0"/>
              <a:satOff val="0"/>
              <a:lumOff val="0"/>
              <a:alphaOff val="0"/>
            </a:srgbClr>
          </a:solidFill>
          <a:prstDash val="solid"/>
        </a:ln>
        <a:effectLst/>
      </dsp:spPr>
      <dsp:style>
        <a:lnRef idx="1">
          <a:scrgbClr r="0" g="0" b="0"/>
        </a:lnRef>
        <a:fillRef idx="0">
          <a:scrgbClr r="0" g="0" b="0"/>
        </a:fillRef>
        <a:effectRef idx="0">
          <a:scrgbClr r="0" g="0" b="0"/>
        </a:effectRef>
        <a:fontRef idx="minor"/>
      </dsp:style>
    </dsp:sp>
    <dsp:sp modelId="{2643EC93-7D48-5144-87AF-EB858A6B6431}">
      <dsp:nvSpPr>
        <dsp:cNvPr id="0" name=""/>
        <dsp:cNvSpPr/>
      </dsp:nvSpPr>
      <dsp:spPr>
        <a:xfrm>
          <a:off x="4341481" y="3684778"/>
          <a:ext cx="91440" cy="686030"/>
        </a:xfrm>
        <a:custGeom>
          <a:avLst/>
          <a:gdLst/>
          <a:ahLst/>
          <a:cxnLst/>
          <a:rect l="0" t="0" r="0" b="0"/>
          <a:pathLst>
            <a:path>
              <a:moveTo>
                <a:pt x="45720" y="0"/>
              </a:moveTo>
              <a:lnTo>
                <a:pt x="45720" y="686030"/>
              </a:lnTo>
            </a:path>
          </a:pathLst>
        </a:custGeom>
        <a:noFill/>
        <a:ln w="12700" cap="flat" cmpd="sng" algn="ctr">
          <a:solidFill>
            <a:srgbClr val="663366">
              <a:shade val="80000"/>
              <a:hueOff val="0"/>
              <a:satOff val="0"/>
              <a:lumOff val="0"/>
              <a:alphaOff val="0"/>
            </a:srgbClr>
          </a:solidFill>
          <a:prstDash val="solid"/>
        </a:ln>
        <a:effectLst/>
      </dsp:spPr>
      <dsp:style>
        <a:lnRef idx="1">
          <a:scrgbClr r="0" g="0" b="0"/>
        </a:lnRef>
        <a:fillRef idx="0">
          <a:scrgbClr r="0" g="0" b="0"/>
        </a:fillRef>
        <a:effectRef idx="0">
          <a:scrgbClr r="0" g="0" b="0"/>
        </a:effectRef>
        <a:fontRef idx="minor"/>
      </dsp:style>
    </dsp:sp>
    <dsp:sp modelId="{7134F9FD-5E66-6844-A538-8F42E8B33A32}">
      <dsp:nvSpPr>
        <dsp:cNvPr id="0" name=""/>
        <dsp:cNvSpPr/>
      </dsp:nvSpPr>
      <dsp:spPr>
        <a:xfrm>
          <a:off x="4341481" y="1500882"/>
          <a:ext cx="91440" cy="686030"/>
        </a:xfrm>
        <a:custGeom>
          <a:avLst/>
          <a:gdLst/>
          <a:ahLst/>
          <a:cxnLst/>
          <a:rect l="0" t="0" r="0" b="0"/>
          <a:pathLst>
            <a:path>
              <a:moveTo>
                <a:pt x="45720" y="0"/>
              </a:moveTo>
              <a:lnTo>
                <a:pt x="45720" y="686030"/>
              </a:lnTo>
            </a:path>
          </a:pathLst>
        </a:custGeom>
        <a:noFill/>
        <a:ln w="12700" cap="flat" cmpd="sng" algn="ctr">
          <a:solidFill>
            <a:srgbClr val="663366">
              <a:shade val="60000"/>
              <a:hueOff val="0"/>
              <a:satOff val="0"/>
              <a:lumOff val="0"/>
              <a:alphaOff val="0"/>
            </a:srgbClr>
          </a:solidFill>
          <a:prstDash val="solid"/>
        </a:ln>
        <a:effectLst/>
      </dsp:spPr>
      <dsp:style>
        <a:lnRef idx="1">
          <a:scrgbClr r="0" g="0" b="0"/>
        </a:lnRef>
        <a:fillRef idx="0">
          <a:scrgbClr r="0" g="0" b="0"/>
        </a:fillRef>
        <a:effectRef idx="0">
          <a:scrgbClr r="0" g="0" b="0"/>
        </a:effectRef>
        <a:fontRef idx="minor"/>
      </dsp:style>
    </dsp:sp>
    <dsp:sp modelId="{7336A106-E8E5-7842-B744-5DA305419486}">
      <dsp:nvSpPr>
        <dsp:cNvPr id="0" name=""/>
        <dsp:cNvSpPr/>
      </dsp:nvSpPr>
      <dsp:spPr>
        <a:xfrm>
          <a:off x="1458450" y="3684778"/>
          <a:ext cx="91440" cy="686030"/>
        </a:xfrm>
        <a:custGeom>
          <a:avLst/>
          <a:gdLst/>
          <a:ahLst/>
          <a:cxnLst/>
          <a:rect l="0" t="0" r="0" b="0"/>
          <a:pathLst>
            <a:path>
              <a:moveTo>
                <a:pt x="45720" y="0"/>
              </a:moveTo>
              <a:lnTo>
                <a:pt x="45720" y="686030"/>
              </a:lnTo>
            </a:path>
          </a:pathLst>
        </a:custGeom>
        <a:noFill/>
        <a:ln w="12700" cap="flat" cmpd="sng" algn="ctr">
          <a:solidFill>
            <a:srgbClr val="663366">
              <a:shade val="80000"/>
              <a:hueOff val="0"/>
              <a:satOff val="0"/>
              <a:lumOff val="0"/>
              <a:alphaOff val="0"/>
            </a:srgbClr>
          </a:solidFill>
          <a:prstDash val="solid"/>
        </a:ln>
        <a:effectLst/>
      </dsp:spPr>
      <dsp:style>
        <a:lnRef idx="1">
          <a:scrgbClr r="0" g="0" b="0"/>
        </a:lnRef>
        <a:fillRef idx="0">
          <a:scrgbClr r="0" g="0" b="0"/>
        </a:fillRef>
        <a:effectRef idx="0">
          <a:scrgbClr r="0" g="0" b="0"/>
        </a:effectRef>
        <a:fontRef idx="minor"/>
      </dsp:style>
    </dsp:sp>
    <dsp:sp modelId="{44366298-FD9B-5A4A-9783-59C231A2AEE2}">
      <dsp:nvSpPr>
        <dsp:cNvPr id="0" name=""/>
        <dsp:cNvSpPr/>
      </dsp:nvSpPr>
      <dsp:spPr>
        <a:xfrm>
          <a:off x="1504170" y="1500882"/>
          <a:ext cx="2883030" cy="686030"/>
        </a:xfrm>
        <a:custGeom>
          <a:avLst/>
          <a:gdLst/>
          <a:ahLst/>
          <a:cxnLst/>
          <a:rect l="0" t="0" r="0" b="0"/>
          <a:pathLst>
            <a:path>
              <a:moveTo>
                <a:pt x="2883030" y="0"/>
              </a:moveTo>
              <a:lnTo>
                <a:pt x="2883030" y="467509"/>
              </a:lnTo>
              <a:lnTo>
                <a:pt x="0" y="467509"/>
              </a:lnTo>
              <a:lnTo>
                <a:pt x="0" y="686030"/>
              </a:lnTo>
            </a:path>
          </a:pathLst>
        </a:custGeom>
        <a:noFill/>
        <a:ln w="12700" cap="flat" cmpd="sng" algn="ctr">
          <a:solidFill>
            <a:srgbClr val="663366">
              <a:shade val="60000"/>
              <a:hueOff val="0"/>
              <a:satOff val="0"/>
              <a:lumOff val="0"/>
              <a:alphaOff val="0"/>
            </a:srgbClr>
          </a:solidFill>
          <a:prstDash val="solid"/>
        </a:ln>
        <a:effectLst/>
      </dsp:spPr>
      <dsp:style>
        <a:lnRef idx="1">
          <a:scrgbClr r="0" g="0" b="0"/>
        </a:lnRef>
        <a:fillRef idx="0">
          <a:scrgbClr r="0" g="0" b="0"/>
        </a:fillRef>
        <a:effectRef idx="0">
          <a:scrgbClr r="0" g="0" b="0"/>
        </a:effectRef>
        <a:fontRef idx="minor"/>
      </dsp:style>
    </dsp:sp>
    <dsp:sp modelId="{AD085B36-DA72-2244-BE46-2D2FD9A8231A}">
      <dsp:nvSpPr>
        <dsp:cNvPr id="0" name=""/>
        <dsp:cNvSpPr/>
      </dsp:nvSpPr>
      <dsp:spPr>
        <a:xfrm>
          <a:off x="3207779" y="3017"/>
          <a:ext cx="2358843" cy="1497865"/>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4EA4FB93-F3AC-BD4A-A777-9351FC75EDE1}">
      <dsp:nvSpPr>
        <dsp:cNvPr id="0" name=""/>
        <dsp:cNvSpPr/>
      </dsp:nvSpPr>
      <dsp:spPr>
        <a:xfrm>
          <a:off x="3469873" y="252006"/>
          <a:ext cx="2358843" cy="1497865"/>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dirty="0">
              <a:solidFill>
                <a:sysClr val="windowText" lastClr="000000">
                  <a:hueOff val="0"/>
                  <a:satOff val="0"/>
                  <a:lumOff val="0"/>
                  <a:alphaOff val="0"/>
                </a:sysClr>
              </a:solidFill>
              <a:latin typeface="Rockwell"/>
              <a:ea typeface="+mn-ea"/>
              <a:cs typeface="+mn-cs"/>
            </a:rPr>
            <a:t>Includes the following stages:</a:t>
          </a:r>
        </a:p>
      </dsp:txBody>
      <dsp:txXfrm>
        <a:off x="3513744" y="295877"/>
        <a:ext cx="2271101" cy="1410123"/>
      </dsp:txXfrm>
    </dsp:sp>
    <dsp:sp modelId="{9FB4FFB5-C11F-484E-B2AC-3F8A7722AECD}">
      <dsp:nvSpPr>
        <dsp:cNvPr id="0" name=""/>
        <dsp:cNvSpPr/>
      </dsp:nvSpPr>
      <dsp:spPr>
        <a:xfrm>
          <a:off x="324749" y="2186912"/>
          <a:ext cx="2358843" cy="1497865"/>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4C89960E-E5D9-D046-8D4B-DD02582B7D3A}">
      <dsp:nvSpPr>
        <dsp:cNvPr id="0" name=""/>
        <dsp:cNvSpPr/>
      </dsp:nvSpPr>
      <dsp:spPr>
        <a:xfrm>
          <a:off x="586842" y="2435901"/>
          <a:ext cx="2358843" cy="1497865"/>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dirty="0">
              <a:solidFill>
                <a:sysClr val="windowText" lastClr="000000">
                  <a:hueOff val="0"/>
                  <a:satOff val="0"/>
                  <a:lumOff val="0"/>
                  <a:alphaOff val="0"/>
                </a:sysClr>
              </a:solidFill>
              <a:latin typeface="Rockwell"/>
              <a:ea typeface="+mn-ea"/>
              <a:cs typeface="+mn-cs"/>
            </a:rPr>
            <a:t>Fetch</a:t>
          </a:r>
        </a:p>
      </dsp:txBody>
      <dsp:txXfrm>
        <a:off x="630713" y="2479772"/>
        <a:ext cx="2271101" cy="1410123"/>
      </dsp:txXfrm>
    </dsp:sp>
    <dsp:sp modelId="{553E2E5B-A13E-FF49-8C45-FB7E75BAA80F}">
      <dsp:nvSpPr>
        <dsp:cNvPr id="0" name=""/>
        <dsp:cNvSpPr/>
      </dsp:nvSpPr>
      <dsp:spPr>
        <a:xfrm>
          <a:off x="324749" y="4370808"/>
          <a:ext cx="2358843" cy="1497865"/>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BB51A060-E74F-BA43-988A-F74B2DB43A08}">
      <dsp:nvSpPr>
        <dsp:cNvPr id="0" name=""/>
        <dsp:cNvSpPr/>
      </dsp:nvSpPr>
      <dsp:spPr>
        <a:xfrm>
          <a:off x="586842" y="4619797"/>
          <a:ext cx="2358843" cy="1497865"/>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dirty="0">
              <a:solidFill>
                <a:sysClr val="windowText" lastClr="000000">
                  <a:hueOff val="0"/>
                  <a:satOff val="0"/>
                  <a:lumOff val="0"/>
                  <a:alphaOff val="0"/>
                </a:sysClr>
              </a:solidFill>
              <a:latin typeface="Rockwell"/>
              <a:ea typeface="+mn-ea"/>
              <a:cs typeface="+mn-cs"/>
            </a:rPr>
            <a:t>Read the next instruction from memory into the processor</a:t>
          </a:r>
        </a:p>
      </dsp:txBody>
      <dsp:txXfrm>
        <a:off x="630713" y="4663668"/>
        <a:ext cx="2271101" cy="1410123"/>
      </dsp:txXfrm>
    </dsp:sp>
    <dsp:sp modelId="{25DF7365-5D74-DF46-96B5-16D5E6DC1CCA}">
      <dsp:nvSpPr>
        <dsp:cNvPr id="0" name=""/>
        <dsp:cNvSpPr/>
      </dsp:nvSpPr>
      <dsp:spPr>
        <a:xfrm>
          <a:off x="3207779" y="2186912"/>
          <a:ext cx="2358843" cy="1497865"/>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08A2C79F-E9DA-7747-88FE-4BE1B57D3E7B}">
      <dsp:nvSpPr>
        <dsp:cNvPr id="0" name=""/>
        <dsp:cNvSpPr/>
      </dsp:nvSpPr>
      <dsp:spPr>
        <a:xfrm>
          <a:off x="3469873" y="2435901"/>
          <a:ext cx="2358843" cy="1497865"/>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dirty="0">
              <a:solidFill>
                <a:sysClr val="windowText" lastClr="000000">
                  <a:hueOff val="0"/>
                  <a:satOff val="0"/>
                  <a:lumOff val="0"/>
                  <a:alphaOff val="0"/>
                </a:sysClr>
              </a:solidFill>
              <a:latin typeface="Rockwell"/>
              <a:ea typeface="+mn-ea"/>
              <a:cs typeface="+mn-cs"/>
            </a:rPr>
            <a:t>Execute</a:t>
          </a:r>
        </a:p>
      </dsp:txBody>
      <dsp:txXfrm>
        <a:off x="3513744" y="2479772"/>
        <a:ext cx="2271101" cy="1410123"/>
      </dsp:txXfrm>
    </dsp:sp>
    <dsp:sp modelId="{2BAF6A3E-78B0-7949-A2B0-6895C6917D8B}">
      <dsp:nvSpPr>
        <dsp:cNvPr id="0" name=""/>
        <dsp:cNvSpPr/>
      </dsp:nvSpPr>
      <dsp:spPr>
        <a:xfrm>
          <a:off x="3207779" y="4370808"/>
          <a:ext cx="2358843" cy="1497865"/>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BAF7092A-AE27-DE44-9782-177693E2CA5C}">
      <dsp:nvSpPr>
        <dsp:cNvPr id="0" name=""/>
        <dsp:cNvSpPr/>
      </dsp:nvSpPr>
      <dsp:spPr>
        <a:xfrm>
          <a:off x="3469873" y="4619797"/>
          <a:ext cx="2358843" cy="1497865"/>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dirty="0">
              <a:solidFill>
                <a:sysClr val="windowText" lastClr="000000">
                  <a:hueOff val="0"/>
                  <a:satOff val="0"/>
                  <a:lumOff val="0"/>
                  <a:alphaOff val="0"/>
                </a:sysClr>
              </a:solidFill>
              <a:latin typeface="Rockwell"/>
              <a:ea typeface="+mn-ea"/>
              <a:cs typeface="+mn-cs"/>
            </a:rPr>
            <a:t>Interpret the opcode and perform the indicated operation</a:t>
          </a:r>
        </a:p>
      </dsp:txBody>
      <dsp:txXfrm>
        <a:off x="3513744" y="4663668"/>
        <a:ext cx="2271101" cy="1410123"/>
      </dsp:txXfrm>
    </dsp:sp>
    <dsp:sp modelId="{C91E6CA4-2AF4-C547-9551-BEB59BE9CDA3}">
      <dsp:nvSpPr>
        <dsp:cNvPr id="0" name=""/>
        <dsp:cNvSpPr/>
      </dsp:nvSpPr>
      <dsp:spPr>
        <a:xfrm>
          <a:off x="6090810" y="2186912"/>
          <a:ext cx="2358843" cy="1497865"/>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350E5B82-958A-1F4B-AE37-5BE92D52A0F0}">
      <dsp:nvSpPr>
        <dsp:cNvPr id="0" name=""/>
        <dsp:cNvSpPr/>
      </dsp:nvSpPr>
      <dsp:spPr>
        <a:xfrm>
          <a:off x="6352903" y="2435901"/>
          <a:ext cx="2358843" cy="1497865"/>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dirty="0">
              <a:solidFill>
                <a:sysClr val="windowText" lastClr="000000">
                  <a:hueOff val="0"/>
                  <a:satOff val="0"/>
                  <a:lumOff val="0"/>
                  <a:alphaOff val="0"/>
                </a:sysClr>
              </a:solidFill>
              <a:latin typeface="Rockwell"/>
              <a:ea typeface="+mn-ea"/>
              <a:cs typeface="+mn-cs"/>
            </a:rPr>
            <a:t>Interrupt </a:t>
          </a:r>
        </a:p>
      </dsp:txBody>
      <dsp:txXfrm>
        <a:off x="6396774" y="2479772"/>
        <a:ext cx="2271101" cy="1410123"/>
      </dsp:txXfrm>
    </dsp:sp>
    <dsp:sp modelId="{421C3655-0911-9049-B8DE-E6E2B6DA48D6}">
      <dsp:nvSpPr>
        <dsp:cNvPr id="0" name=""/>
        <dsp:cNvSpPr/>
      </dsp:nvSpPr>
      <dsp:spPr>
        <a:xfrm>
          <a:off x="6090810" y="4370808"/>
          <a:ext cx="2358843" cy="1497865"/>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8B4CAA32-B118-204E-8081-E3E47AD463CF}">
      <dsp:nvSpPr>
        <dsp:cNvPr id="0" name=""/>
        <dsp:cNvSpPr/>
      </dsp:nvSpPr>
      <dsp:spPr>
        <a:xfrm>
          <a:off x="6352903" y="4619797"/>
          <a:ext cx="2358843" cy="1497865"/>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dirty="0">
              <a:solidFill>
                <a:sysClr val="windowText" lastClr="000000">
                  <a:hueOff val="0"/>
                  <a:satOff val="0"/>
                  <a:lumOff val="0"/>
                  <a:alphaOff val="0"/>
                </a:sysClr>
              </a:solidFill>
              <a:latin typeface="Rockwell"/>
              <a:ea typeface="+mn-ea"/>
              <a:cs typeface="+mn-cs"/>
            </a:rPr>
            <a:t>If interrupts are enabled and an interrupt has occurred, save the current process state and service the interrupt</a:t>
          </a:r>
        </a:p>
      </dsp:txBody>
      <dsp:txXfrm>
        <a:off x="6396774" y="4663668"/>
        <a:ext cx="2271101" cy="141012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9B2F7D-2FE7-D940-A78C-16267BBAB00A}">
      <dsp:nvSpPr>
        <dsp:cNvPr id="0" name=""/>
        <dsp:cNvSpPr/>
      </dsp:nvSpPr>
      <dsp:spPr>
        <a:xfrm>
          <a:off x="0" y="1468963"/>
          <a:ext cx="8784976" cy="1958617"/>
        </a:xfrm>
        <a:prstGeom prst="notchedRightArrow">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1">
          <a:scrgbClr r="0" g="0" b="0"/>
        </a:fillRef>
        <a:effectRef idx="2">
          <a:scrgbClr r="0" g="0" b="0"/>
        </a:effectRef>
        <a:fontRef idx="minor"/>
      </dsp:style>
    </dsp:sp>
    <dsp:sp modelId="{3D797B7D-59B9-E544-A302-0B69B45F05BD}">
      <dsp:nvSpPr>
        <dsp:cNvPr id="0" name=""/>
        <dsp:cNvSpPr/>
      </dsp:nvSpPr>
      <dsp:spPr>
        <a:xfrm>
          <a:off x="3860" y="0"/>
          <a:ext cx="2547986" cy="19586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b" anchorCtr="0">
          <a:noAutofit/>
        </a:bodyPr>
        <a:lstStyle/>
        <a:p>
          <a:pPr marL="0" lvl="0" indent="0" algn="ctr" defTabSz="800100" rtl="0">
            <a:lnSpc>
              <a:spcPct val="90000"/>
            </a:lnSpc>
            <a:spcBef>
              <a:spcPct val="0"/>
            </a:spcBef>
            <a:spcAft>
              <a:spcPct val="35000"/>
            </a:spcAft>
            <a:buNone/>
          </a:pPr>
          <a:r>
            <a:rPr lang="en-US" sz="1800" kern="1200" dirty="0">
              <a:solidFill>
                <a:sysClr val="windowText" lastClr="000000">
                  <a:hueOff val="0"/>
                  <a:satOff val="0"/>
                  <a:lumOff val="0"/>
                  <a:alphaOff val="0"/>
                </a:sysClr>
              </a:solidFill>
              <a:latin typeface="Rockwell"/>
              <a:ea typeface="+mn-ea"/>
              <a:cs typeface="+mn-cs"/>
            </a:rPr>
            <a:t>Similar to the use of an assembly line in a manufacturing plant</a:t>
          </a:r>
        </a:p>
      </dsp:txBody>
      <dsp:txXfrm>
        <a:off x="3860" y="0"/>
        <a:ext cx="2547986" cy="1958617"/>
      </dsp:txXfrm>
    </dsp:sp>
    <dsp:sp modelId="{807546D9-8E8B-6A4F-AC7F-C4B7428D197A}">
      <dsp:nvSpPr>
        <dsp:cNvPr id="0" name=""/>
        <dsp:cNvSpPr/>
      </dsp:nvSpPr>
      <dsp:spPr>
        <a:xfrm>
          <a:off x="1033026" y="2203444"/>
          <a:ext cx="489654" cy="489654"/>
        </a:xfrm>
        <a:prstGeom prst="ellipse">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DD86D1A7-993C-7244-8C6E-441273AA7777}">
      <dsp:nvSpPr>
        <dsp:cNvPr id="0" name=""/>
        <dsp:cNvSpPr/>
      </dsp:nvSpPr>
      <dsp:spPr>
        <a:xfrm>
          <a:off x="2679246" y="2937926"/>
          <a:ext cx="2547986" cy="19586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0" lvl="0" indent="0" algn="ctr" defTabSz="800100" rtl="0">
            <a:lnSpc>
              <a:spcPct val="90000"/>
            </a:lnSpc>
            <a:spcBef>
              <a:spcPct val="0"/>
            </a:spcBef>
            <a:spcAft>
              <a:spcPct val="35000"/>
            </a:spcAft>
            <a:buNone/>
          </a:pPr>
          <a:r>
            <a:rPr lang="en-US" sz="1800" kern="1200" dirty="0">
              <a:solidFill>
                <a:sysClr val="windowText" lastClr="000000">
                  <a:hueOff val="0"/>
                  <a:satOff val="0"/>
                  <a:lumOff val="0"/>
                  <a:alphaOff val="0"/>
                </a:sysClr>
              </a:solidFill>
              <a:latin typeface="Rockwell"/>
              <a:ea typeface="+mn-ea"/>
              <a:cs typeface="+mn-cs"/>
            </a:rPr>
            <a:t>New inputs are accepted at one end before previously accepted inputs appear as outputs at the other end</a:t>
          </a:r>
        </a:p>
      </dsp:txBody>
      <dsp:txXfrm>
        <a:off x="2679246" y="2937926"/>
        <a:ext cx="2547986" cy="1958617"/>
      </dsp:txXfrm>
    </dsp:sp>
    <dsp:sp modelId="{54394626-9124-C54E-AFB1-DB948AB78EEC}">
      <dsp:nvSpPr>
        <dsp:cNvPr id="0" name=""/>
        <dsp:cNvSpPr/>
      </dsp:nvSpPr>
      <dsp:spPr>
        <a:xfrm>
          <a:off x="3708412" y="2203444"/>
          <a:ext cx="489654" cy="489654"/>
        </a:xfrm>
        <a:prstGeom prst="ellipse">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4D83B5BC-A42D-7444-BB11-D8D1B80CD3A9}">
      <dsp:nvSpPr>
        <dsp:cNvPr id="0" name=""/>
        <dsp:cNvSpPr/>
      </dsp:nvSpPr>
      <dsp:spPr>
        <a:xfrm>
          <a:off x="5354631" y="0"/>
          <a:ext cx="2547986" cy="19586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b" anchorCtr="0">
          <a:noAutofit/>
        </a:bodyPr>
        <a:lstStyle/>
        <a:p>
          <a:pPr marL="0" lvl="0" indent="0" algn="ctr" defTabSz="800100" rtl="0">
            <a:lnSpc>
              <a:spcPct val="90000"/>
            </a:lnSpc>
            <a:spcBef>
              <a:spcPct val="0"/>
            </a:spcBef>
            <a:spcAft>
              <a:spcPct val="35000"/>
            </a:spcAft>
            <a:buNone/>
          </a:pPr>
          <a:r>
            <a:rPr lang="en-US" sz="1800" kern="1200" dirty="0">
              <a:solidFill>
                <a:sysClr val="windowText" lastClr="000000">
                  <a:hueOff val="0"/>
                  <a:satOff val="0"/>
                  <a:lumOff val="0"/>
                  <a:alphaOff val="0"/>
                </a:sysClr>
              </a:solidFill>
              <a:latin typeface="Rockwell"/>
              <a:ea typeface="+mn-ea"/>
              <a:cs typeface="+mn-cs"/>
            </a:rPr>
            <a:t>To apply this concept to instruction execution we must recognize that an instruction has a number of stages</a:t>
          </a:r>
        </a:p>
      </dsp:txBody>
      <dsp:txXfrm>
        <a:off x="5354631" y="0"/>
        <a:ext cx="2547986" cy="1958617"/>
      </dsp:txXfrm>
    </dsp:sp>
    <dsp:sp modelId="{58494C77-8E8C-AB4D-92EC-9E2074C07624}">
      <dsp:nvSpPr>
        <dsp:cNvPr id="0" name=""/>
        <dsp:cNvSpPr/>
      </dsp:nvSpPr>
      <dsp:spPr>
        <a:xfrm>
          <a:off x="6383797" y="2203444"/>
          <a:ext cx="489654" cy="489654"/>
        </a:xfrm>
        <a:prstGeom prst="ellipse">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3418A6-B3D1-1B4D-B372-84BBCCFB20B3}">
      <dsp:nvSpPr>
        <dsp:cNvPr id="0" name=""/>
        <dsp:cNvSpPr/>
      </dsp:nvSpPr>
      <dsp:spPr>
        <a:xfrm>
          <a:off x="0" y="1555432"/>
          <a:ext cx="8785225" cy="2073910"/>
        </a:xfrm>
        <a:prstGeom prst="notchedRightArrow">
          <a:avLst/>
        </a:prstGeom>
        <a:solidFill>
          <a:schemeClr val="accent1">
            <a:tint val="40000"/>
            <a:hueOff val="0"/>
            <a:satOff val="0"/>
            <a:lumOff val="0"/>
            <a:alphaOff val="0"/>
          </a:schemeClr>
        </a:solidFill>
        <a:ln w="53975">
          <a:solidFill>
            <a:schemeClr val="accent4"/>
          </a:solid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95FBECC7-0BDA-F64E-BF06-D65A00F03C43}">
      <dsp:nvSpPr>
        <dsp:cNvPr id="0" name=""/>
        <dsp:cNvSpPr/>
      </dsp:nvSpPr>
      <dsp:spPr>
        <a:xfrm>
          <a:off x="3860" y="0"/>
          <a:ext cx="2548058" cy="20739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b" anchorCtr="0">
          <a:noAutofit/>
        </a:bodyPr>
        <a:lstStyle/>
        <a:p>
          <a:pPr marL="0" lvl="0" indent="0" algn="ctr" defTabSz="844550" rtl="0">
            <a:lnSpc>
              <a:spcPct val="90000"/>
            </a:lnSpc>
            <a:spcBef>
              <a:spcPct val="0"/>
            </a:spcBef>
            <a:spcAft>
              <a:spcPct val="35000"/>
            </a:spcAft>
            <a:buNone/>
          </a:pPr>
          <a:r>
            <a:rPr lang="en-US" sz="1900" kern="1200" dirty="0"/>
            <a:t>Occur when the pipeline, or some portion of the pipeline, must stall because conditions do not permit continued execution</a:t>
          </a:r>
        </a:p>
      </dsp:txBody>
      <dsp:txXfrm>
        <a:off x="3860" y="0"/>
        <a:ext cx="2548058" cy="2073910"/>
      </dsp:txXfrm>
    </dsp:sp>
    <dsp:sp modelId="{FEA28A59-43CC-CA48-91CC-049A515D183B}">
      <dsp:nvSpPr>
        <dsp:cNvPr id="0" name=""/>
        <dsp:cNvSpPr/>
      </dsp:nvSpPr>
      <dsp:spPr>
        <a:xfrm>
          <a:off x="1018651" y="2333148"/>
          <a:ext cx="518477" cy="518477"/>
        </a:xfrm>
        <a:prstGeom prst="ellipse">
          <a:avLst/>
        </a:prstGeom>
        <a:solidFill>
          <a:schemeClr val="accent3"/>
        </a:solidFill>
        <a:ln>
          <a:solidFill>
            <a:schemeClr val="accent3"/>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5B43A04A-5B4D-FC49-9C8C-79D55B45C474}">
      <dsp:nvSpPr>
        <dsp:cNvPr id="0" name=""/>
        <dsp:cNvSpPr/>
      </dsp:nvSpPr>
      <dsp:spPr>
        <a:xfrm>
          <a:off x="2679322" y="3110864"/>
          <a:ext cx="2548058" cy="20739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t" anchorCtr="0">
          <a:noAutofit/>
        </a:bodyPr>
        <a:lstStyle/>
        <a:p>
          <a:pPr marL="0" lvl="0" indent="0" algn="ctr" defTabSz="844550" rtl="0">
            <a:lnSpc>
              <a:spcPct val="90000"/>
            </a:lnSpc>
            <a:spcBef>
              <a:spcPct val="0"/>
            </a:spcBef>
            <a:spcAft>
              <a:spcPct val="35000"/>
            </a:spcAft>
            <a:buNone/>
          </a:pPr>
          <a:r>
            <a:rPr lang="en-GB" sz="1900" kern="1200" dirty="0"/>
            <a:t>Also referred to as a </a:t>
          </a:r>
          <a:r>
            <a:rPr lang="en-GB" sz="1900" i="1" kern="1200" dirty="0"/>
            <a:t>pipeline bubble</a:t>
          </a:r>
        </a:p>
      </dsp:txBody>
      <dsp:txXfrm>
        <a:off x="2679322" y="3110864"/>
        <a:ext cx="2548058" cy="2073910"/>
      </dsp:txXfrm>
    </dsp:sp>
    <dsp:sp modelId="{8453DE48-C8CC-4047-8F93-D3EC13EB92CF}">
      <dsp:nvSpPr>
        <dsp:cNvPr id="0" name=""/>
        <dsp:cNvSpPr/>
      </dsp:nvSpPr>
      <dsp:spPr>
        <a:xfrm>
          <a:off x="3694112" y="2333148"/>
          <a:ext cx="518477" cy="518477"/>
        </a:xfrm>
        <a:prstGeom prst="ellipse">
          <a:avLst/>
        </a:prstGeom>
        <a:solidFill>
          <a:schemeClr val="accent4"/>
        </a:solidFill>
        <a:ln>
          <a:solidFill>
            <a:schemeClr val="accent4"/>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0E2A96DD-9A2D-304B-A545-DFFD197A19FD}">
      <dsp:nvSpPr>
        <dsp:cNvPr id="0" name=""/>
        <dsp:cNvSpPr/>
      </dsp:nvSpPr>
      <dsp:spPr>
        <a:xfrm>
          <a:off x="5354783" y="0"/>
          <a:ext cx="2548058" cy="20739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b" anchorCtr="1">
          <a:noAutofit/>
        </a:bodyPr>
        <a:lstStyle/>
        <a:p>
          <a:pPr marL="0" lvl="0" indent="0" algn="l" defTabSz="844550" rtl="0">
            <a:lnSpc>
              <a:spcPct val="90000"/>
            </a:lnSpc>
            <a:spcBef>
              <a:spcPct val="0"/>
            </a:spcBef>
            <a:spcAft>
              <a:spcPct val="35000"/>
            </a:spcAft>
            <a:buNone/>
          </a:pPr>
          <a:r>
            <a:rPr lang="en-US" sz="1900" kern="1200" dirty="0"/>
            <a:t>There are three types of hazards:</a:t>
          </a:r>
        </a:p>
        <a:p>
          <a:pPr marL="114300" lvl="1" indent="-114300" algn="l" defTabSz="666750" rtl="0">
            <a:lnSpc>
              <a:spcPct val="90000"/>
            </a:lnSpc>
            <a:spcBef>
              <a:spcPct val="0"/>
            </a:spcBef>
            <a:spcAft>
              <a:spcPct val="15000"/>
            </a:spcAft>
            <a:buChar char="•"/>
          </a:pPr>
          <a:r>
            <a:rPr lang="en-US" sz="1500" kern="1200" dirty="0"/>
            <a:t>Resource</a:t>
          </a:r>
        </a:p>
        <a:p>
          <a:pPr marL="114300" lvl="1" indent="-114300" algn="l" defTabSz="666750" rtl="0">
            <a:lnSpc>
              <a:spcPct val="90000"/>
            </a:lnSpc>
            <a:spcBef>
              <a:spcPct val="0"/>
            </a:spcBef>
            <a:spcAft>
              <a:spcPct val="15000"/>
            </a:spcAft>
            <a:buChar char="•"/>
          </a:pPr>
          <a:r>
            <a:rPr lang="en-US" sz="1500" kern="1200" dirty="0"/>
            <a:t>Data</a:t>
          </a:r>
        </a:p>
        <a:p>
          <a:pPr marL="114300" lvl="1" indent="-114300" algn="l" defTabSz="666750" rtl="0">
            <a:lnSpc>
              <a:spcPct val="90000"/>
            </a:lnSpc>
            <a:spcBef>
              <a:spcPct val="0"/>
            </a:spcBef>
            <a:spcAft>
              <a:spcPct val="15000"/>
            </a:spcAft>
            <a:buChar char="•"/>
          </a:pPr>
          <a:r>
            <a:rPr lang="en-US" sz="1500" kern="1200" dirty="0"/>
            <a:t>Control</a:t>
          </a:r>
        </a:p>
      </dsp:txBody>
      <dsp:txXfrm>
        <a:off x="5354783" y="0"/>
        <a:ext cx="2548058" cy="2073910"/>
      </dsp:txXfrm>
    </dsp:sp>
    <dsp:sp modelId="{183E54CD-4462-0148-8FAD-D290624DB81E}">
      <dsp:nvSpPr>
        <dsp:cNvPr id="0" name=""/>
        <dsp:cNvSpPr/>
      </dsp:nvSpPr>
      <dsp:spPr>
        <a:xfrm>
          <a:off x="6369573" y="2333148"/>
          <a:ext cx="518477" cy="518477"/>
        </a:xfrm>
        <a:prstGeom prst="ellipse">
          <a:avLst/>
        </a:prstGeom>
        <a:solidFill>
          <a:schemeClr val="accent3"/>
        </a:solidFill>
        <a:ln>
          <a:solidFill>
            <a:schemeClr val="accent3"/>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7F6F8A-0906-674E-AFD4-200239B477D8}">
      <dsp:nvSpPr>
        <dsp:cNvPr id="0" name=""/>
        <dsp:cNvSpPr/>
      </dsp:nvSpPr>
      <dsp:spPr>
        <a:xfrm>
          <a:off x="0" y="0"/>
          <a:ext cx="6916368" cy="1486203"/>
        </a:xfrm>
        <a:prstGeom prst="roundRect">
          <a:avLst>
            <a:gd name="adj" fmla="val 10000"/>
          </a:avLst>
        </a:prstGeom>
        <a:gradFill rotWithShape="0">
          <a:gsLst>
            <a:gs pos="0">
              <a:srgbClr val="666699">
                <a:hueOff val="0"/>
                <a:satOff val="0"/>
                <a:lumOff val="0"/>
                <a:alphaOff val="0"/>
                <a:shade val="40000"/>
                <a:alpha val="100000"/>
                <a:satMod val="150000"/>
                <a:lumMod val="100000"/>
              </a:srgbClr>
            </a:gs>
            <a:gs pos="100000">
              <a:srgbClr val="666699">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US" sz="1900" kern="1200" dirty="0">
              <a:solidFill>
                <a:sysClr val="window" lastClr="FFFFFF"/>
              </a:solidFill>
              <a:latin typeface="Rockwell"/>
              <a:ea typeface="+mn-ea"/>
              <a:cs typeface="+mn-cs"/>
            </a:rPr>
            <a:t>A simple pipeline suffers a penalty for a branch instruction because it must choose one of two instructions to fetch next and may make the wrong choice</a:t>
          </a:r>
        </a:p>
      </dsp:txBody>
      <dsp:txXfrm>
        <a:off x="43529" y="43529"/>
        <a:ext cx="5312639" cy="1399145"/>
      </dsp:txXfrm>
    </dsp:sp>
    <dsp:sp modelId="{161F44EF-0492-E941-886C-60773EAAC415}">
      <dsp:nvSpPr>
        <dsp:cNvPr id="0" name=""/>
        <dsp:cNvSpPr/>
      </dsp:nvSpPr>
      <dsp:spPr>
        <a:xfrm>
          <a:off x="610267" y="1733904"/>
          <a:ext cx="6916368" cy="1486203"/>
        </a:xfrm>
        <a:prstGeom prst="roundRect">
          <a:avLst>
            <a:gd name="adj" fmla="val 10000"/>
          </a:avLst>
        </a:prstGeom>
        <a:gradFill rotWithShape="0">
          <a:gsLst>
            <a:gs pos="0">
              <a:srgbClr val="666699">
                <a:hueOff val="-5400000"/>
                <a:satOff val="0"/>
                <a:lumOff val="0"/>
                <a:alphaOff val="0"/>
                <a:shade val="40000"/>
                <a:alpha val="100000"/>
                <a:satMod val="150000"/>
                <a:lumMod val="100000"/>
              </a:srgbClr>
            </a:gs>
            <a:gs pos="100000">
              <a:srgbClr val="666699">
                <a:hueOff val="-540000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US" sz="1900" kern="1200" dirty="0">
              <a:solidFill>
                <a:sysClr val="window" lastClr="FFFFFF"/>
              </a:solidFill>
              <a:latin typeface="Rockwell"/>
              <a:ea typeface="+mn-ea"/>
              <a:cs typeface="+mn-cs"/>
            </a:rPr>
            <a:t>A brute-force approach is to replicate the initial portions of the pipeline and allow the pipeline to fetch both instructions, making use of two streams</a:t>
          </a:r>
        </a:p>
      </dsp:txBody>
      <dsp:txXfrm>
        <a:off x="653796" y="1777433"/>
        <a:ext cx="5253010" cy="1399145"/>
      </dsp:txXfrm>
    </dsp:sp>
    <dsp:sp modelId="{B1F79EE3-7A7D-C44F-9D34-BEFD90CE1B1A}">
      <dsp:nvSpPr>
        <dsp:cNvPr id="0" name=""/>
        <dsp:cNvSpPr/>
      </dsp:nvSpPr>
      <dsp:spPr>
        <a:xfrm>
          <a:off x="1220535" y="3467808"/>
          <a:ext cx="6916368" cy="1486203"/>
        </a:xfrm>
        <a:prstGeom prst="roundRect">
          <a:avLst>
            <a:gd name="adj" fmla="val 10000"/>
          </a:avLst>
        </a:prstGeom>
        <a:solidFill>
          <a:srgbClr val="999966"/>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US" sz="1900" kern="1200" dirty="0">
              <a:solidFill>
                <a:sysClr val="window" lastClr="FFFFFF"/>
              </a:solidFill>
              <a:latin typeface="Rockwell"/>
              <a:ea typeface="+mn-ea"/>
              <a:cs typeface="+mn-cs"/>
            </a:rPr>
            <a:t>Drawbacks:</a:t>
          </a:r>
        </a:p>
        <a:p>
          <a:pPr marL="114300" lvl="1" indent="-114300" algn="l" defTabSz="666750" rtl="0">
            <a:lnSpc>
              <a:spcPct val="90000"/>
            </a:lnSpc>
            <a:spcBef>
              <a:spcPct val="0"/>
            </a:spcBef>
            <a:spcAft>
              <a:spcPct val="15000"/>
            </a:spcAft>
            <a:buChar char="•"/>
          </a:pPr>
          <a:r>
            <a:rPr lang="en-US" sz="1500" kern="1200" dirty="0">
              <a:solidFill>
                <a:sysClr val="window" lastClr="FFFFFF"/>
              </a:solidFill>
              <a:latin typeface="Rockwell"/>
              <a:ea typeface="+mn-ea"/>
              <a:cs typeface="+mn-cs"/>
            </a:rPr>
            <a:t>With multiple pipelines there are contention delays for access to the registers and to memory</a:t>
          </a:r>
        </a:p>
        <a:p>
          <a:pPr marL="114300" lvl="1" indent="-114300" algn="l" defTabSz="666750" rtl="0">
            <a:lnSpc>
              <a:spcPct val="90000"/>
            </a:lnSpc>
            <a:spcBef>
              <a:spcPct val="0"/>
            </a:spcBef>
            <a:spcAft>
              <a:spcPct val="15000"/>
            </a:spcAft>
            <a:buChar char="•"/>
          </a:pPr>
          <a:r>
            <a:rPr lang="en-US" sz="1500" kern="1200" dirty="0">
              <a:solidFill>
                <a:sysClr val="window" lastClr="FFFFFF"/>
              </a:solidFill>
              <a:latin typeface="Rockwell"/>
              <a:ea typeface="+mn-ea"/>
              <a:cs typeface="+mn-cs"/>
            </a:rPr>
            <a:t>Additional branch instructions may enter the pipeline before the original branch decision is resolved</a:t>
          </a:r>
        </a:p>
      </dsp:txBody>
      <dsp:txXfrm>
        <a:off x="1264064" y="3511337"/>
        <a:ext cx="5253010" cy="1399145"/>
      </dsp:txXfrm>
    </dsp:sp>
    <dsp:sp modelId="{3ED912AA-9F9D-CD47-B60C-545F31A5E796}">
      <dsp:nvSpPr>
        <dsp:cNvPr id="0" name=""/>
        <dsp:cNvSpPr/>
      </dsp:nvSpPr>
      <dsp:spPr>
        <a:xfrm>
          <a:off x="5950336" y="1127037"/>
          <a:ext cx="966032" cy="966032"/>
        </a:xfrm>
        <a:prstGeom prst="downArrow">
          <a:avLst>
            <a:gd name="adj1" fmla="val 55000"/>
            <a:gd name="adj2" fmla="val 45000"/>
          </a:avLst>
        </a:prstGeom>
        <a:solidFill>
          <a:srgbClr val="666699">
            <a:tint val="40000"/>
            <a:alpha val="90000"/>
            <a:hueOff val="0"/>
            <a:satOff val="0"/>
            <a:lumOff val="0"/>
            <a:alphaOff val="0"/>
          </a:srgbClr>
        </a:solidFill>
        <a:ln w="12700" cap="flat" cmpd="sng" algn="ctr">
          <a:solidFill>
            <a:srgbClr val="666699">
              <a:lumMod val="7500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solidFill>
              <a:sysClr val="windowText" lastClr="000000">
                <a:hueOff val="0"/>
                <a:satOff val="0"/>
                <a:lumOff val="0"/>
                <a:alphaOff val="0"/>
              </a:sysClr>
            </a:solidFill>
            <a:latin typeface="Rockwell"/>
            <a:ea typeface="+mn-ea"/>
            <a:cs typeface="+mn-cs"/>
          </a:endParaRPr>
        </a:p>
      </dsp:txBody>
      <dsp:txXfrm>
        <a:off x="6167693" y="1127037"/>
        <a:ext cx="531318" cy="726939"/>
      </dsp:txXfrm>
    </dsp:sp>
    <dsp:sp modelId="{0D29E717-2597-8D46-AD2C-467DADE43F0B}">
      <dsp:nvSpPr>
        <dsp:cNvPr id="0" name=""/>
        <dsp:cNvSpPr/>
      </dsp:nvSpPr>
      <dsp:spPr>
        <a:xfrm>
          <a:off x="6560603" y="2851033"/>
          <a:ext cx="966032" cy="966032"/>
        </a:xfrm>
        <a:prstGeom prst="downArrow">
          <a:avLst>
            <a:gd name="adj1" fmla="val 55000"/>
            <a:gd name="adj2" fmla="val 45000"/>
          </a:avLst>
        </a:prstGeom>
        <a:solidFill>
          <a:srgbClr val="666699">
            <a:tint val="40000"/>
            <a:alpha val="90000"/>
            <a:hueOff val="-10800000"/>
            <a:satOff val="0"/>
            <a:lumOff val="0"/>
            <a:alphaOff val="0"/>
          </a:srgbClr>
        </a:solidFill>
        <a:ln w="12700" cap="flat" cmpd="sng" algn="ctr">
          <a:solidFill>
            <a:srgbClr val="666699">
              <a:lumMod val="7500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solidFill>
              <a:sysClr val="windowText" lastClr="000000">
                <a:hueOff val="0"/>
                <a:satOff val="0"/>
                <a:lumOff val="0"/>
                <a:alphaOff val="0"/>
              </a:sysClr>
            </a:solidFill>
            <a:latin typeface="Rockwell"/>
            <a:ea typeface="+mn-ea"/>
            <a:cs typeface="+mn-cs"/>
          </a:endParaRPr>
        </a:p>
      </dsp:txBody>
      <dsp:txXfrm>
        <a:off x="6777960" y="2851033"/>
        <a:ext cx="531318" cy="72693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1A5C5D-E876-A54A-A276-7916B59DDE7B}">
      <dsp:nvSpPr>
        <dsp:cNvPr id="0" name=""/>
        <dsp:cNvSpPr/>
      </dsp:nvSpPr>
      <dsp:spPr>
        <a:xfrm>
          <a:off x="0" y="4265963"/>
          <a:ext cx="7957536" cy="699866"/>
        </a:xfrm>
        <a:prstGeom prst="rect">
          <a:avLst/>
        </a:prstGeom>
        <a:solidFill>
          <a:schemeClr val="accent3">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rtl="0">
            <a:lnSpc>
              <a:spcPct val="90000"/>
            </a:lnSpc>
            <a:spcBef>
              <a:spcPct val="0"/>
            </a:spcBef>
            <a:spcAft>
              <a:spcPct val="35000"/>
            </a:spcAft>
            <a:buNone/>
          </a:pPr>
          <a:r>
            <a:rPr lang="en-GB" sz="1300" kern="1200"/>
            <a:t>Write back</a:t>
          </a:r>
        </a:p>
      </dsp:txBody>
      <dsp:txXfrm>
        <a:off x="0" y="4265963"/>
        <a:ext cx="7957536" cy="377928"/>
      </dsp:txXfrm>
    </dsp:sp>
    <dsp:sp modelId="{934F4480-EF98-2D4C-9B83-D15690809056}">
      <dsp:nvSpPr>
        <dsp:cNvPr id="0" name=""/>
        <dsp:cNvSpPr/>
      </dsp:nvSpPr>
      <dsp:spPr>
        <a:xfrm>
          <a:off x="0" y="4629894"/>
          <a:ext cx="7957536" cy="321938"/>
        </a:xfrm>
        <a:prstGeom prst="rect">
          <a:avLst/>
        </a:prstGeom>
        <a:solidFill>
          <a:schemeClr val="accent3">
            <a:tint val="40000"/>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1120" tIns="12700" rIns="71120" bIns="12700" numCol="1" spcCol="1270" anchor="ctr" anchorCtr="0">
          <a:noAutofit/>
        </a:bodyPr>
        <a:lstStyle/>
        <a:p>
          <a:pPr marL="0" lvl="0" indent="0" algn="ctr" defTabSz="444500" rtl="0">
            <a:lnSpc>
              <a:spcPct val="90000"/>
            </a:lnSpc>
            <a:spcBef>
              <a:spcPct val="0"/>
            </a:spcBef>
            <a:spcAft>
              <a:spcPct val="35000"/>
            </a:spcAft>
            <a:buNone/>
          </a:pPr>
          <a:r>
            <a:rPr lang="en-GB" sz="1000" kern="1200"/>
            <a:t>Updates registers and status flags modified during the preceding execute stage</a:t>
          </a:r>
        </a:p>
      </dsp:txBody>
      <dsp:txXfrm>
        <a:off x="0" y="4629894"/>
        <a:ext cx="7957536" cy="321938"/>
      </dsp:txXfrm>
    </dsp:sp>
    <dsp:sp modelId="{076C065E-D8E3-AC43-9F26-8D74FDDEE281}">
      <dsp:nvSpPr>
        <dsp:cNvPr id="0" name=""/>
        <dsp:cNvSpPr/>
      </dsp:nvSpPr>
      <dsp:spPr>
        <a:xfrm rot="10800000">
          <a:off x="0" y="3200066"/>
          <a:ext cx="7957536" cy="1076395"/>
        </a:xfrm>
        <a:prstGeom prst="upArrowCallout">
          <a:avLst/>
        </a:prstGeom>
        <a:solidFill>
          <a:schemeClr val="accent3">
            <a:hueOff val="378899"/>
            <a:satOff val="2993"/>
            <a:lumOff val="-1911"/>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rtl="0">
            <a:lnSpc>
              <a:spcPct val="90000"/>
            </a:lnSpc>
            <a:spcBef>
              <a:spcPct val="0"/>
            </a:spcBef>
            <a:spcAft>
              <a:spcPct val="35000"/>
            </a:spcAft>
            <a:buNone/>
          </a:pPr>
          <a:r>
            <a:rPr lang="en-GB" sz="1300" kern="1200"/>
            <a:t>Execute</a:t>
          </a:r>
        </a:p>
      </dsp:txBody>
      <dsp:txXfrm rot="-10800000">
        <a:off x="0" y="3200066"/>
        <a:ext cx="7957536" cy="377814"/>
      </dsp:txXfrm>
    </dsp:sp>
    <dsp:sp modelId="{8D380DDE-D8A1-CA46-A6EA-E26248B08CA0}">
      <dsp:nvSpPr>
        <dsp:cNvPr id="0" name=""/>
        <dsp:cNvSpPr/>
      </dsp:nvSpPr>
      <dsp:spPr>
        <a:xfrm>
          <a:off x="0" y="3577880"/>
          <a:ext cx="7957536" cy="321842"/>
        </a:xfrm>
        <a:prstGeom prst="rect">
          <a:avLst/>
        </a:prstGeom>
        <a:solidFill>
          <a:schemeClr val="accent3">
            <a:tint val="40000"/>
            <a:alpha val="90000"/>
            <a:hueOff val="274340"/>
            <a:satOff val="-1864"/>
            <a:lumOff val="-203"/>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1120" tIns="12700" rIns="71120" bIns="12700" numCol="1" spcCol="1270" anchor="ctr" anchorCtr="0">
          <a:noAutofit/>
        </a:bodyPr>
        <a:lstStyle/>
        <a:p>
          <a:pPr marL="0" lvl="0" indent="0" algn="ctr" defTabSz="444500" rtl="0">
            <a:lnSpc>
              <a:spcPct val="90000"/>
            </a:lnSpc>
            <a:spcBef>
              <a:spcPct val="0"/>
            </a:spcBef>
            <a:spcAft>
              <a:spcPct val="35000"/>
            </a:spcAft>
            <a:buNone/>
          </a:pPr>
          <a:r>
            <a:rPr lang="en-GB" sz="1000" kern="1200"/>
            <a:t>Stage includes ALU operations, cache access, and register update</a:t>
          </a:r>
        </a:p>
      </dsp:txBody>
      <dsp:txXfrm>
        <a:off x="0" y="3577880"/>
        <a:ext cx="7957536" cy="321842"/>
      </dsp:txXfrm>
    </dsp:sp>
    <dsp:sp modelId="{1F270C8F-950D-4746-ADF7-6E5479824A59}">
      <dsp:nvSpPr>
        <dsp:cNvPr id="0" name=""/>
        <dsp:cNvSpPr/>
      </dsp:nvSpPr>
      <dsp:spPr>
        <a:xfrm rot="10800000">
          <a:off x="0" y="2134169"/>
          <a:ext cx="7957536" cy="1076395"/>
        </a:xfrm>
        <a:prstGeom prst="upArrowCallout">
          <a:avLst/>
        </a:prstGeom>
        <a:solidFill>
          <a:schemeClr val="accent3">
            <a:hueOff val="757798"/>
            <a:satOff val="5985"/>
            <a:lumOff val="-3822"/>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rtl="0">
            <a:lnSpc>
              <a:spcPct val="90000"/>
            </a:lnSpc>
            <a:spcBef>
              <a:spcPct val="0"/>
            </a:spcBef>
            <a:spcAft>
              <a:spcPct val="35000"/>
            </a:spcAft>
            <a:buNone/>
          </a:pPr>
          <a:r>
            <a:rPr lang="en-GB" sz="1300" kern="1200"/>
            <a:t>Decode stage 2</a:t>
          </a:r>
        </a:p>
      </dsp:txBody>
      <dsp:txXfrm rot="-10800000">
        <a:off x="0" y="2134169"/>
        <a:ext cx="7957536" cy="377814"/>
      </dsp:txXfrm>
    </dsp:sp>
    <dsp:sp modelId="{D380F6F6-CF18-2345-A74F-FDE18796F575}">
      <dsp:nvSpPr>
        <dsp:cNvPr id="0" name=""/>
        <dsp:cNvSpPr/>
      </dsp:nvSpPr>
      <dsp:spPr>
        <a:xfrm>
          <a:off x="0" y="2511983"/>
          <a:ext cx="3978767" cy="321842"/>
        </a:xfrm>
        <a:prstGeom prst="rect">
          <a:avLst/>
        </a:prstGeom>
        <a:solidFill>
          <a:schemeClr val="accent3">
            <a:tint val="40000"/>
            <a:alpha val="90000"/>
            <a:hueOff val="548679"/>
            <a:satOff val="-3727"/>
            <a:lumOff val="-406"/>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1120" tIns="12700" rIns="71120" bIns="12700" numCol="1" spcCol="1270" anchor="ctr" anchorCtr="0">
          <a:noAutofit/>
        </a:bodyPr>
        <a:lstStyle/>
        <a:p>
          <a:pPr marL="0" lvl="0" indent="0" algn="ctr" defTabSz="444500" rtl="0">
            <a:lnSpc>
              <a:spcPct val="90000"/>
            </a:lnSpc>
            <a:spcBef>
              <a:spcPct val="0"/>
            </a:spcBef>
            <a:spcAft>
              <a:spcPct val="35000"/>
            </a:spcAft>
            <a:buNone/>
          </a:pPr>
          <a:r>
            <a:rPr lang="en-GB" sz="1000" kern="1200"/>
            <a:t>Expands each opcode into control signals for the ALU</a:t>
          </a:r>
        </a:p>
      </dsp:txBody>
      <dsp:txXfrm>
        <a:off x="0" y="2511983"/>
        <a:ext cx="3978767" cy="321842"/>
      </dsp:txXfrm>
    </dsp:sp>
    <dsp:sp modelId="{E7F4D529-EE61-FA46-8C6C-3665849EB00A}">
      <dsp:nvSpPr>
        <dsp:cNvPr id="0" name=""/>
        <dsp:cNvSpPr/>
      </dsp:nvSpPr>
      <dsp:spPr>
        <a:xfrm>
          <a:off x="3978768" y="2511983"/>
          <a:ext cx="3978767" cy="321842"/>
        </a:xfrm>
        <a:prstGeom prst="rect">
          <a:avLst/>
        </a:prstGeom>
        <a:solidFill>
          <a:schemeClr val="accent3">
            <a:tint val="40000"/>
            <a:alpha val="90000"/>
            <a:hueOff val="823019"/>
            <a:satOff val="-5591"/>
            <a:lumOff val="-609"/>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1120" tIns="12700" rIns="71120" bIns="12700" numCol="1" spcCol="1270" anchor="ctr" anchorCtr="0">
          <a:noAutofit/>
        </a:bodyPr>
        <a:lstStyle/>
        <a:p>
          <a:pPr marL="0" lvl="0" indent="0" algn="ctr" defTabSz="444500" rtl="0">
            <a:lnSpc>
              <a:spcPct val="90000"/>
            </a:lnSpc>
            <a:spcBef>
              <a:spcPct val="0"/>
            </a:spcBef>
            <a:spcAft>
              <a:spcPct val="35000"/>
            </a:spcAft>
            <a:buNone/>
          </a:pPr>
          <a:r>
            <a:rPr lang="en-GB" sz="1000" kern="1200"/>
            <a:t>Also controls the computation of the more complex addressing modes</a:t>
          </a:r>
        </a:p>
      </dsp:txBody>
      <dsp:txXfrm>
        <a:off x="3978768" y="2511983"/>
        <a:ext cx="3978767" cy="321842"/>
      </dsp:txXfrm>
    </dsp:sp>
    <dsp:sp modelId="{5B26307B-A624-C24C-ACCD-2DDF84EAA60B}">
      <dsp:nvSpPr>
        <dsp:cNvPr id="0" name=""/>
        <dsp:cNvSpPr/>
      </dsp:nvSpPr>
      <dsp:spPr>
        <a:xfrm rot="10800000">
          <a:off x="0" y="1068272"/>
          <a:ext cx="7957536" cy="1076395"/>
        </a:xfrm>
        <a:prstGeom prst="upArrowCallout">
          <a:avLst/>
        </a:prstGeom>
        <a:solidFill>
          <a:schemeClr val="accent3">
            <a:hueOff val="1136697"/>
            <a:satOff val="8978"/>
            <a:lumOff val="-5734"/>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rtl="0">
            <a:lnSpc>
              <a:spcPct val="90000"/>
            </a:lnSpc>
            <a:spcBef>
              <a:spcPct val="0"/>
            </a:spcBef>
            <a:spcAft>
              <a:spcPct val="35000"/>
            </a:spcAft>
            <a:buNone/>
          </a:pPr>
          <a:r>
            <a:rPr lang="en-GB" sz="1300" kern="1200"/>
            <a:t>Decode stage 1</a:t>
          </a:r>
        </a:p>
      </dsp:txBody>
      <dsp:txXfrm rot="-10800000">
        <a:off x="0" y="1068272"/>
        <a:ext cx="7957536" cy="377814"/>
      </dsp:txXfrm>
    </dsp:sp>
    <dsp:sp modelId="{86710D97-7381-7643-8E6C-7CD89531582C}">
      <dsp:nvSpPr>
        <dsp:cNvPr id="0" name=""/>
        <dsp:cNvSpPr/>
      </dsp:nvSpPr>
      <dsp:spPr>
        <a:xfrm>
          <a:off x="3885" y="1446086"/>
          <a:ext cx="2649921" cy="321842"/>
        </a:xfrm>
        <a:prstGeom prst="rect">
          <a:avLst/>
        </a:prstGeom>
        <a:solidFill>
          <a:schemeClr val="accent3">
            <a:tint val="40000"/>
            <a:alpha val="90000"/>
            <a:hueOff val="1097359"/>
            <a:satOff val="-7455"/>
            <a:lumOff val="-813"/>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1120" tIns="12700" rIns="71120" bIns="12700" numCol="1" spcCol="1270" anchor="ctr" anchorCtr="0">
          <a:noAutofit/>
        </a:bodyPr>
        <a:lstStyle/>
        <a:p>
          <a:pPr marL="0" lvl="0" indent="0" algn="ctr" defTabSz="444500" rtl="0">
            <a:lnSpc>
              <a:spcPct val="90000"/>
            </a:lnSpc>
            <a:spcBef>
              <a:spcPct val="0"/>
            </a:spcBef>
            <a:spcAft>
              <a:spcPct val="35000"/>
            </a:spcAft>
            <a:buNone/>
          </a:pPr>
          <a:r>
            <a:rPr lang="en-GB" sz="1000" kern="1200"/>
            <a:t>All opcode and addressing-mode information is decoded in the D1 stage</a:t>
          </a:r>
        </a:p>
      </dsp:txBody>
      <dsp:txXfrm>
        <a:off x="3885" y="1446086"/>
        <a:ext cx="2649921" cy="321842"/>
      </dsp:txXfrm>
    </dsp:sp>
    <dsp:sp modelId="{981DC774-DE51-BE4F-B703-2CC713DF2309}">
      <dsp:nvSpPr>
        <dsp:cNvPr id="0" name=""/>
        <dsp:cNvSpPr/>
      </dsp:nvSpPr>
      <dsp:spPr>
        <a:xfrm>
          <a:off x="2653807" y="1446086"/>
          <a:ext cx="2649921" cy="321842"/>
        </a:xfrm>
        <a:prstGeom prst="rect">
          <a:avLst/>
        </a:prstGeom>
        <a:solidFill>
          <a:schemeClr val="accent3">
            <a:tint val="40000"/>
            <a:alpha val="90000"/>
            <a:hueOff val="1371698"/>
            <a:satOff val="-9319"/>
            <a:lumOff val="-1016"/>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1120" tIns="12700" rIns="71120" bIns="12700" numCol="1" spcCol="1270" anchor="ctr" anchorCtr="0">
          <a:noAutofit/>
        </a:bodyPr>
        <a:lstStyle/>
        <a:p>
          <a:pPr marL="0" lvl="0" indent="0" algn="ctr" defTabSz="444500" rtl="0">
            <a:lnSpc>
              <a:spcPct val="90000"/>
            </a:lnSpc>
            <a:spcBef>
              <a:spcPct val="0"/>
            </a:spcBef>
            <a:spcAft>
              <a:spcPct val="35000"/>
            </a:spcAft>
            <a:buNone/>
          </a:pPr>
          <a:r>
            <a:rPr lang="en-GB" sz="1000" kern="1200"/>
            <a:t>3 bytes of instruction are passed to the D1 stage from the prefetch buffers</a:t>
          </a:r>
        </a:p>
      </dsp:txBody>
      <dsp:txXfrm>
        <a:off x="2653807" y="1446086"/>
        <a:ext cx="2649921" cy="321842"/>
      </dsp:txXfrm>
    </dsp:sp>
    <dsp:sp modelId="{FC3D2DC0-4C36-2745-8697-9F32D22B9C2E}">
      <dsp:nvSpPr>
        <dsp:cNvPr id="0" name=""/>
        <dsp:cNvSpPr/>
      </dsp:nvSpPr>
      <dsp:spPr>
        <a:xfrm>
          <a:off x="5303728" y="1446086"/>
          <a:ext cx="2649921" cy="321842"/>
        </a:xfrm>
        <a:prstGeom prst="rect">
          <a:avLst/>
        </a:prstGeom>
        <a:solidFill>
          <a:schemeClr val="accent3">
            <a:tint val="40000"/>
            <a:alpha val="90000"/>
            <a:hueOff val="1646038"/>
            <a:satOff val="-11182"/>
            <a:lumOff val="-1219"/>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1120" tIns="12700" rIns="71120" bIns="12700" numCol="1" spcCol="1270" anchor="ctr" anchorCtr="0">
          <a:noAutofit/>
        </a:bodyPr>
        <a:lstStyle/>
        <a:p>
          <a:pPr marL="0" lvl="0" indent="0" algn="ctr" defTabSz="444500" rtl="0">
            <a:lnSpc>
              <a:spcPct val="90000"/>
            </a:lnSpc>
            <a:spcBef>
              <a:spcPct val="0"/>
            </a:spcBef>
            <a:spcAft>
              <a:spcPct val="35000"/>
            </a:spcAft>
            <a:buNone/>
          </a:pPr>
          <a:r>
            <a:rPr lang="en-GB" sz="1000" kern="1200"/>
            <a:t>D1 decoder can then direct the D2 stage to capture the rest of the instruction</a:t>
          </a:r>
        </a:p>
      </dsp:txBody>
      <dsp:txXfrm>
        <a:off x="5303728" y="1446086"/>
        <a:ext cx="2649921" cy="321842"/>
      </dsp:txXfrm>
    </dsp:sp>
    <dsp:sp modelId="{EB857481-C7D6-2D4C-89EB-D1F54EFE4799}">
      <dsp:nvSpPr>
        <dsp:cNvPr id="0" name=""/>
        <dsp:cNvSpPr/>
      </dsp:nvSpPr>
      <dsp:spPr>
        <a:xfrm rot="10800000">
          <a:off x="0" y="2374"/>
          <a:ext cx="7957536" cy="1076395"/>
        </a:xfrm>
        <a:prstGeom prst="upArrowCallout">
          <a:avLst/>
        </a:prstGeom>
        <a:solidFill>
          <a:schemeClr val="accent3">
            <a:hueOff val="1515596"/>
            <a:satOff val="11970"/>
            <a:lumOff val="-7645"/>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rtl="0">
            <a:lnSpc>
              <a:spcPct val="90000"/>
            </a:lnSpc>
            <a:spcBef>
              <a:spcPct val="0"/>
            </a:spcBef>
            <a:spcAft>
              <a:spcPct val="35000"/>
            </a:spcAft>
            <a:buNone/>
          </a:pPr>
          <a:r>
            <a:rPr lang="en-GB" sz="1300" kern="1200"/>
            <a:t>Fetch</a:t>
          </a:r>
        </a:p>
      </dsp:txBody>
      <dsp:txXfrm rot="-10800000">
        <a:off x="0" y="2374"/>
        <a:ext cx="7957536" cy="377814"/>
      </dsp:txXfrm>
    </dsp:sp>
    <dsp:sp modelId="{23616CED-90C6-0049-B429-C173A89B11C4}">
      <dsp:nvSpPr>
        <dsp:cNvPr id="0" name=""/>
        <dsp:cNvSpPr/>
      </dsp:nvSpPr>
      <dsp:spPr>
        <a:xfrm>
          <a:off x="0" y="380189"/>
          <a:ext cx="3978767" cy="321842"/>
        </a:xfrm>
        <a:prstGeom prst="rect">
          <a:avLst/>
        </a:prstGeom>
        <a:solidFill>
          <a:schemeClr val="accent3">
            <a:tint val="40000"/>
            <a:alpha val="90000"/>
            <a:hueOff val="1920377"/>
            <a:satOff val="-13046"/>
            <a:lumOff val="-1422"/>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1120" tIns="12700" rIns="71120" bIns="12700" numCol="1" spcCol="1270" anchor="ctr" anchorCtr="0">
          <a:noAutofit/>
        </a:bodyPr>
        <a:lstStyle/>
        <a:p>
          <a:pPr marL="0" lvl="0" indent="0" algn="ctr" defTabSz="444500" rtl="0">
            <a:lnSpc>
              <a:spcPct val="90000"/>
            </a:lnSpc>
            <a:spcBef>
              <a:spcPct val="0"/>
            </a:spcBef>
            <a:spcAft>
              <a:spcPct val="35000"/>
            </a:spcAft>
            <a:buNone/>
          </a:pPr>
          <a:r>
            <a:rPr lang="en-GB" sz="1000" kern="1200"/>
            <a:t>Objective is to fill the prefetch buffers with new data as soon as the old data have been consumed by the instruction decoder</a:t>
          </a:r>
        </a:p>
      </dsp:txBody>
      <dsp:txXfrm>
        <a:off x="0" y="380189"/>
        <a:ext cx="3978767" cy="321842"/>
      </dsp:txXfrm>
    </dsp:sp>
    <dsp:sp modelId="{1D9CA8F7-9FAF-B443-9050-42C2FD4F26E6}">
      <dsp:nvSpPr>
        <dsp:cNvPr id="0" name=""/>
        <dsp:cNvSpPr/>
      </dsp:nvSpPr>
      <dsp:spPr>
        <a:xfrm>
          <a:off x="3978768" y="380189"/>
          <a:ext cx="3978767" cy="321842"/>
        </a:xfrm>
        <a:prstGeom prst="rect">
          <a:avLst/>
        </a:prstGeom>
        <a:solidFill>
          <a:schemeClr val="accent3">
            <a:tint val="40000"/>
            <a:alpha val="90000"/>
            <a:hueOff val="2194717"/>
            <a:satOff val="-14910"/>
            <a:lumOff val="-1625"/>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1120" tIns="12700" rIns="71120" bIns="12700" numCol="1" spcCol="1270" anchor="ctr" anchorCtr="0">
          <a:noAutofit/>
        </a:bodyPr>
        <a:lstStyle/>
        <a:p>
          <a:pPr marL="0" lvl="0" indent="0" algn="ctr" defTabSz="444500" rtl="0">
            <a:lnSpc>
              <a:spcPct val="90000"/>
            </a:lnSpc>
            <a:spcBef>
              <a:spcPct val="0"/>
            </a:spcBef>
            <a:spcAft>
              <a:spcPct val="35000"/>
            </a:spcAft>
            <a:buNone/>
          </a:pPr>
          <a:r>
            <a:rPr lang="en-GB" sz="1000" kern="1200"/>
            <a:t>Operates independently of the other stages to keep the prefetch buffers full</a:t>
          </a:r>
        </a:p>
      </dsp:txBody>
      <dsp:txXfrm>
        <a:off x="3978768" y="380189"/>
        <a:ext cx="3978767" cy="32184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F07E74-4791-3E40-B146-9CC610B80177}">
      <dsp:nvSpPr>
        <dsp:cNvPr id="0" name=""/>
        <dsp:cNvSpPr/>
      </dsp:nvSpPr>
      <dsp:spPr>
        <a:xfrm>
          <a:off x="1737518" y="0"/>
          <a:ext cx="5668963" cy="5668963"/>
        </a:xfrm>
        <a:prstGeom prst="quadArrow">
          <a:avLst>
            <a:gd name="adj1" fmla="val 2000"/>
            <a:gd name="adj2" fmla="val 4000"/>
            <a:gd name="adj3" fmla="val 5000"/>
          </a:avLst>
        </a:prstGeom>
        <a:solidFill>
          <a:srgbClr val="666699">
            <a:lumMod val="60000"/>
            <a:lumOff val="40000"/>
          </a:srgbClr>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1">
          <a:scrgbClr r="0" g="0" b="0"/>
        </a:fillRef>
        <a:effectRef idx="2">
          <a:scrgbClr r="0" g="0" b="0"/>
        </a:effectRef>
        <a:fontRef idx="minor"/>
      </dsp:style>
    </dsp:sp>
    <dsp:sp modelId="{8183A7BA-751A-B84D-98A4-1CFF3FB73852}">
      <dsp:nvSpPr>
        <dsp:cNvPr id="0" name=""/>
        <dsp:cNvSpPr/>
      </dsp:nvSpPr>
      <dsp:spPr>
        <a:xfrm>
          <a:off x="2106001" y="368482"/>
          <a:ext cx="2267585" cy="2267585"/>
        </a:xfrm>
        <a:prstGeom prst="roundRect">
          <a:avLst/>
        </a:prstGeom>
        <a:solidFill>
          <a:srgbClr val="2B142D">
            <a:lumMod val="75000"/>
            <a:lumOff val="25000"/>
          </a:srgbClr>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kern="1200" dirty="0">
              <a:solidFill>
                <a:sysClr val="window" lastClr="FFFFFF"/>
              </a:solidFill>
              <a:effectLst>
                <a:outerShdw blurRad="38100" dist="38100" dir="2700000" algn="tl">
                  <a:srgbClr val="000000">
                    <a:alpha val="43137"/>
                  </a:srgbClr>
                </a:outerShdw>
              </a:effectLst>
              <a:latin typeface="Rockwell"/>
              <a:ea typeface="+mn-ea"/>
              <a:cs typeface="+mn-cs"/>
            </a:rPr>
            <a:t>ARM architecture supports seven execution modes</a:t>
          </a:r>
        </a:p>
      </dsp:txBody>
      <dsp:txXfrm>
        <a:off x="2216695" y="479176"/>
        <a:ext cx="2046197" cy="2046197"/>
      </dsp:txXfrm>
    </dsp:sp>
    <dsp:sp modelId="{0D3592DF-EB4F-9943-B973-EF43EEC77EFC}">
      <dsp:nvSpPr>
        <dsp:cNvPr id="0" name=""/>
        <dsp:cNvSpPr/>
      </dsp:nvSpPr>
      <dsp:spPr>
        <a:xfrm>
          <a:off x="4770413" y="368482"/>
          <a:ext cx="2267585" cy="2267585"/>
        </a:xfrm>
        <a:prstGeom prst="roundRect">
          <a:avLst/>
        </a:prstGeom>
        <a:solidFill>
          <a:srgbClr val="0070C0"/>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rtl="0">
            <a:lnSpc>
              <a:spcPct val="90000"/>
            </a:lnSpc>
            <a:spcBef>
              <a:spcPct val="0"/>
            </a:spcBef>
            <a:spcAft>
              <a:spcPct val="35000"/>
            </a:spcAft>
            <a:buNone/>
          </a:pPr>
          <a:r>
            <a:rPr lang="en-US" sz="1600" kern="1200" dirty="0">
              <a:solidFill>
                <a:sysClr val="window" lastClr="FFFFFF"/>
              </a:solidFill>
              <a:effectLst>
                <a:outerShdw blurRad="38100" dist="38100" dir="2700000" algn="tl">
                  <a:srgbClr val="000000">
                    <a:alpha val="43137"/>
                  </a:srgbClr>
                </a:outerShdw>
              </a:effectLst>
              <a:latin typeface="Rockwell"/>
              <a:ea typeface="+mn-ea"/>
              <a:cs typeface="+mn-cs"/>
            </a:rPr>
            <a:t>Most application programs execute in user mode</a:t>
          </a:r>
        </a:p>
        <a:p>
          <a:pPr marL="114300" lvl="1" indent="-114300" algn="l" defTabSz="533400" rtl="0">
            <a:lnSpc>
              <a:spcPct val="90000"/>
            </a:lnSpc>
            <a:spcBef>
              <a:spcPct val="0"/>
            </a:spcBef>
            <a:spcAft>
              <a:spcPct val="15000"/>
            </a:spcAft>
            <a:buChar char="•"/>
          </a:pPr>
          <a:r>
            <a:rPr lang="en-US" sz="1200" kern="1200" dirty="0">
              <a:solidFill>
                <a:sysClr val="window" lastClr="FFFFFF"/>
              </a:solidFill>
              <a:effectLst>
                <a:outerShdw blurRad="38100" dist="38100" dir="2700000" algn="tl">
                  <a:srgbClr val="000000">
                    <a:alpha val="43137"/>
                  </a:srgbClr>
                </a:outerShdw>
              </a:effectLst>
              <a:latin typeface="Rockwell"/>
              <a:ea typeface="+mn-ea"/>
              <a:cs typeface="+mn-cs"/>
            </a:rPr>
            <a:t>While the processor is in user mode the program being executed is unable to access protected system resources or to change mode, other than by causing an exception to occur</a:t>
          </a:r>
        </a:p>
      </dsp:txBody>
      <dsp:txXfrm>
        <a:off x="4881107" y="479176"/>
        <a:ext cx="2046197" cy="2046197"/>
      </dsp:txXfrm>
    </dsp:sp>
    <dsp:sp modelId="{A54A9365-B66B-5043-A58D-CC1B872E299A}">
      <dsp:nvSpPr>
        <dsp:cNvPr id="0" name=""/>
        <dsp:cNvSpPr/>
      </dsp:nvSpPr>
      <dsp:spPr>
        <a:xfrm>
          <a:off x="2106001" y="3032895"/>
          <a:ext cx="2267585" cy="2267585"/>
        </a:xfrm>
        <a:prstGeom prst="roundRect">
          <a:avLst/>
        </a:prstGeom>
        <a:solidFill>
          <a:srgbClr val="A3A101">
            <a:lumMod val="75000"/>
          </a:srgbClr>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rtl="0">
            <a:lnSpc>
              <a:spcPct val="90000"/>
            </a:lnSpc>
            <a:spcBef>
              <a:spcPct val="0"/>
            </a:spcBef>
            <a:spcAft>
              <a:spcPct val="35000"/>
            </a:spcAft>
            <a:buNone/>
          </a:pPr>
          <a:r>
            <a:rPr lang="en-US" sz="1800" kern="1200" dirty="0">
              <a:solidFill>
                <a:sysClr val="window" lastClr="FFFFFF"/>
              </a:solidFill>
              <a:effectLst>
                <a:outerShdw blurRad="38100" dist="38100" dir="2700000" algn="tl">
                  <a:srgbClr val="000000">
                    <a:alpha val="43137"/>
                  </a:srgbClr>
                </a:outerShdw>
              </a:effectLst>
              <a:latin typeface="Rockwell"/>
              <a:ea typeface="+mn-ea"/>
              <a:cs typeface="+mn-cs"/>
            </a:rPr>
            <a:t>Remaining six execution modes are referred to as privileged modes</a:t>
          </a:r>
        </a:p>
        <a:p>
          <a:pPr marL="114300" lvl="1" indent="-114300" algn="l" defTabSz="622300" rtl="0">
            <a:lnSpc>
              <a:spcPct val="90000"/>
            </a:lnSpc>
            <a:spcBef>
              <a:spcPct val="0"/>
            </a:spcBef>
            <a:spcAft>
              <a:spcPct val="15000"/>
            </a:spcAft>
            <a:buChar char="•"/>
          </a:pPr>
          <a:r>
            <a:rPr lang="en-US" sz="1400" kern="1200" dirty="0">
              <a:solidFill>
                <a:sysClr val="window" lastClr="FFFFFF"/>
              </a:solidFill>
              <a:effectLst>
                <a:outerShdw blurRad="38100" dist="38100" dir="2700000" algn="tl">
                  <a:srgbClr val="000000">
                    <a:alpha val="43137"/>
                  </a:srgbClr>
                </a:outerShdw>
              </a:effectLst>
              <a:latin typeface="Rockwell"/>
              <a:ea typeface="+mn-ea"/>
              <a:cs typeface="+mn-cs"/>
            </a:rPr>
            <a:t>These modes are used to run system software</a:t>
          </a:r>
        </a:p>
      </dsp:txBody>
      <dsp:txXfrm>
        <a:off x="2216695" y="3143589"/>
        <a:ext cx="2046197" cy="2046197"/>
      </dsp:txXfrm>
    </dsp:sp>
    <dsp:sp modelId="{20A77D24-6C97-2D40-956E-48152CC1DAA6}">
      <dsp:nvSpPr>
        <dsp:cNvPr id="0" name=""/>
        <dsp:cNvSpPr/>
      </dsp:nvSpPr>
      <dsp:spPr>
        <a:xfrm>
          <a:off x="4770413" y="3032895"/>
          <a:ext cx="2267585" cy="2267585"/>
        </a:xfrm>
        <a:prstGeom prst="roundRect">
          <a:avLst/>
        </a:prstGeom>
        <a:solidFill>
          <a:srgbClr val="F7901E">
            <a:lumMod val="50000"/>
          </a:srgbClr>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rtl="0">
            <a:lnSpc>
              <a:spcPct val="90000"/>
            </a:lnSpc>
            <a:spcBef>
              <a:spcPct val="0"/>
            </a:spcBef>
            <a:spcAft>
              <a:spcPct val="35000"/>
            </a:spcAft>
            <a:buNone/>
          </a:pPr>
          <a:r>
            <a:rPr lang="en-US" sz="1400" kern="1200" dirty="0">
              <a:solidFill>
                <a:sysClr val="window" lastClr="FFFFFF"/>
              </a:solidFill>
              <a:effectLst>
                <a:outerShdw blurRad="38100" dist="38100" dir="2700000" algn="tl">
                  <a:srgbClr val="000000">
                    <a:alpha val="43137"/>
                  </a:srgbClr>
                </a:outerShdw>
              </a:effectLst>
              <a:latin typeface="Rockwell"/>
              <a:ea typeface="+mn-ea"/>
              <a:cs typeface="+mn-cs"/>
            </a:rPr>
            <a:t>Advantages to defining so many different privileged modes</a:t>
          </a:r>
        </a:p>
        <a:p>
          <a:pPr marL="57150" lvl="1" indent="-57150" algn="l" defTabSz="488950" rtl="0">
            <a:lnSpc>
              <a:spcPct val="90000"/>
            </a:lnSpc>
            <a:spcBef>
              <a:spcPct val="0"/>
            </a:spcBef>
            <a:spcAft>
              <a:spcPct val="15000"/>
            </a:spcAft>
            <a:buChar char="•"/>
          </a:pPr>
          <a:r>
            <a:rPr lang="en-US" sz="1100" kern="1200" dirty="0">
              <a:solidFill>
                <a:sysClr val="window" lastClr="FFFFFF"/>
              </a:solidFill>
              <a:effectLst>
                <a:outerShdw blurRad="38100" dist="38100" dir="2700000" algn="tl">
                  <a:srgbClr val="000000">
                    <a:alpha val="43137"/>
                  </a:srgbClr>
                </a:outerShdw>
              </a:effectLst>
              <a:latin typeface="Rockwell"/>
              <a:ea typeface="+mn-ea"/>
              <a:cs typeface="+mn-cs"/>
            </a:rPr>
            <a:t>The OS can tailor the use of system software to a variety of circumstances</a:t>
          </a:r>
        </a:p>
        <a:p>
          <a:pPr marL="57150" lvl="1" indent="-57150" algn="l" defTabSz="488950" rtl="0">
            <a:lnSpc>
              <a:spcPct val="90000"/>
            </a:lnSpc>
            <a:spcBef>
              <a:spcPct val="0"/>
            </a:spcBef>
            <a:spcAft>
              <a:spcPct val="15000"/>
            </a:spcAft>
            <a:buChar char="•"/>
          </a:pPr>
          <a:r>
            <a:rPr lang="en-US" sz="1100" kern="1200" dirty="0">
              <a:solidFill>
                <a:sysClr val="window" lastClr="FFFFFF"/>
              </a:solidFill>
              <a:effectLst>
                <a:outerShdw blurRad="38100" dist="38100" dir="2700000" algn="tl">
                  <a:srgbClr val="000000">
                    <a:alpha val="43137"/>
                  </a:srgbClr>
                </a:outerShdw>
              </a:effectLst>
              <a:latin typeface="Rockwell"/>
              <a:ea typeface="+mn-ea"/>
              <a:cs typeface="+mn-cs"/>
            </a:rPr>
            <a:t>Certain registers are dedicated for use for each of the privileged modes, allows swifter changes in context</a:t>
          </a:r>
        </a:p>
      </dsp:txBody>
      <dsp:txXfrm>
        <a:off x="4881107" y="3143589"/>
        <a:ext cx="2046197" cy="204619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26EEDF-7730-D144-AC01-182061D8166A}">
      <dsp:nvSpPr>
        <dsp:cNvPr id="0" name=""/>
        <dsp:cNvSpPr/>
      </dsp:nvSpPr>
      <dsp:spPr>
        <a:xfrm>
          <a:off x="1194927" y="0"/>
          <a:ext cx="5759624" cy="5759624"/>
        </a:xfrm>
        <a:prstGeom prst="quadArrow">
          <a:avLst>
            <a:gd name="adj1" fmla="val 2000"/>
            <a:gd name="adj2" fmla="val 4000"/>
            <a:gd name="adj3" fmla="val 5000"/>
          </a:avLst>
        </a:prstGeom>
        <a:solidFill>
          <a:srgbClr val="666699">
            <a:lumMod val="60000"/>
            <a:lumOff val="40000"/>
          </a:srgbClr>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1">
          <a:scrgbClr r="0" g="0" b="0"/>
        </a:fillRef>
        <a:effectRef idx="2">
          <a:scrgbClr r="0" g="0" b="0"/>
        </a:effectRef>
        <a:fontRef idx="minor"/>
      </dsp:style>
    </dsp:sp>
    <dsp:sp modelId="{63528393-0AC5-AC4A-9193-D664E8B0F830}">
      <dsp:nvSpPr>
        <dsp:cNvPr id="0" name=""/>
        <dsp:cNvSpPr/>
      </dsp:nvSpPr>
      <dsp:spPr>
        <a:xfrm>
          <a:off x="1569303" y="374375"/>
          <a:ext cx="2303849" cy="2303849"/>
        </a:xfrm>
        <a:prstGeom prst="roundRect">
          <a:avLst/>
        </a:prstGeom>
        <a:gradFill rotWithShape="0">
          <a:gsLst>
            <a:gs pos="0">
              <a:srgbClr val="999966">
                <a:shade val="80000"/>
                <a:hueOff val="0"/>
                <a:satOff val="0"/>
                <a:lumOff val="0"/>
                <a:alphaOff val="0"/>
                <a:shade val="40000"/>
                <a:alpha val="100000"/>
                <a:satMod val="150000"/>
                <a:lumMod val="100000"/>
              </a:srgbClr>
            </a:gs>
            <a:gs pos="100000">
              <a:srgbClr val="999966">
                <a:shade val="80000"/>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dirty="0">
              <a:solidFill>
                <a:srgbClr val="330F42"/>
              </a:solidFill>
              <a:effectLst>
                <a:outerShdw blurRad="38100" dist="38100" dir="2700000" algn="tl">
                  <a:srgbClr val="000000">
                    <a:alpha val="43137"/>
                  </a:srgbClr>
                </a:outerShdw>
              </a:effectLst>
              <a:latin typeface="Rockwell"/>
              <a:ea typeface="+mn-ea"/>
              <a:cs typeface="+mn-cs"/>
            </a:rPr>
            <a:t>Have full access to system resources and can change modes freely</a:t>
          </a:r>
          <a:endParaRPr lang="en-US" sz="1400" kern="1200" dirty="0">
            <a:solidFill>
              <a:srgbClr val="330F42"/>
            </a:solidFill>
            <a:effectLst>
              <a:outerShdw blurRad="38100" dist="38100" dir="2700000" algn="tl">
                <a:srgbClr val="000000">
                  <a:alpha val="43137"/>
                </a:srgbClr>
              </a:outerShdw>
            </a:effectLst>
            <a:latin typeface="Rockwell"/>
            <a:ea typeface="+mn-ea"/>
            <a:cs typeface="+mn-cs"/>
          </a:endParaRPr>
        </a:p>
      </dsp:txBody>
      <dsp:txXfrm>
        <a:off x="1681768" y="486840"/>
        <a:ext cx="2078919" cy="2078919"/>
      </dsp:txXfrm>
    </dsp:sp>
    <dsp:sp modelId="{9929BC74-C9D5-7647-AA71-C883196EE3F7}">
      <dsp:nvSpPr>
        <dsp:cNvPr id="0" name=""/>
        <dsp:cNvSpPr/>
      </dsp:nvSpPr>
      <dsp:spPr>
        <a:xfrm>
          <a:off x="4276326" y="374375"/>
          <a:ext cx="2303849" cy="2303849"/>
        </a:xfrm>
        <a:prstGeom prst="roundRect">
          <a:avLst/>
        </a:prstGeom>
        <a:gradFill rotWithShape="0">
          <a:gsLst>
            <a:gs pos="0">
              <a:srgbClr val="999966">
                <a:shade val="80000"/>
                <a:hueOff val="0"/>
                <a:satOff val="-1631"/>
                <a:lumOff val="8479"/>
                <a:alphaOff val="0"/>
                <a:shade val="40000"/>
                <a:alpha val="100000"/>
                <a:satMod val="150000"/>
                <a:lumMod val="100000"/>
              </a:srgbClr>
            </a:gs>
            <a:gs pos="100000">
              <a:srgbClr val="999966">
                <a:shade val="80000"/>
                <a:hueOff val="0"/>
                <a:satOff val="-1631"/>
                <a:lumOff val="8479"/>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dirty="0">
              <a:solidFill>
                <a:srgbClr val="330F42"/>
              </a:solidFill>
              <a:effectLst>
                <a:outerShdw blurRad="38100" dist="38100" dir="2700000" algn="tl">
                  <a:srgbClr val="000000">
                    <a:alpha val="43137"/>
                  </a:srgbClr>
                </a:outerShdw>
              </a:effectLst>
              <a:latin typeface="Rockwell"/>
              <a:ea typeface="+mn-ea"/>
              <a:cs typeface="+mn-cs"/>
            </a:rPr>
            <a:t>Entered when specific exceptions occur</a:t>
          </a:r>
        </a:p>
      </dsp:txBody>
      <dsp:txXfrm>
        <a:off x="4388791" y="486840"/>
        <a:ext cx="2078919" cy="2078919"/>
      </dsp:txXfrm>
    </dsp:sp>
    <dsp:sp modelId="{2E3DFCF2-8AEA-5E4D-933E-9ECD1088EEDE}">
      <dsp:nvSpPr>
        <dsp:cNvPr id="0" name=""/>
        <dsp:cNvSpPr/>
      </dsp:nvSpPr>
      <dsp:spPr>
        <a:xfrm>
          <a:off x="1569303" y="3081398"/>
          <a:ext cx="2303849" cy="2303849"/>
        </a:xfrm>
        <a:prstGeom prst="roundRect">
          <a:avLst/>
        </a:prstGeom>
        <a:gradFill rotWithShape="0">
          <a:gsLst>
            <a:gs pos="0">
              <a:srgbClr val="999966">
                <a:shade val="80000"/>
                <a:hueOff val="0"/>
                <a:satOff val="-3261"/>
                <a:lumOff val="16958"/>
                <a:alphaOff val="0"/>
                <a:shade val="40000"/>
                <a:alpha val="100000"/>
                <a:satMod val="150000"/>
                <a:lumMod val="100000"/>
              </a:srgbClr>
            </a:gs>
            <a:gs pos="100000">
              <a:srgbClr val="999966">
                <a:shade val="80000"/>
                <a:hueOff val="0"/>
                <a:satOff val="-3261"/>
                <a:lumOff val="16958"/>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rtl="0">
            <a:lnSpc>
              <a:spcPct val="90000"/>
            </a:lnSpc>
            <a:spcBef>
              <a:spcPct val="0"/>
            </a:spcBef>
            <a:spcAft>
              <a:spcPct val="35000"/>
            </a:spcAft>
            <a:buNone/>
          </a:pPr>
          <a:r>
            <a:rPr lang="en-US" sz="1800" kern="1200" dirty="0">
              <a:solidFill>
                <a:srgbClr val="330F42"/>
              </a:solidFill>
              <a:effectLst>
                <a:outerShdw blurRad="38100" dist="38100" dir="2700000" algn="tl">
                  <a:srgbClr val="000000">
                    <a:alpha val="43137"/>
                  </a:srgbClr>
                </a:outerShdw>
              </a:effectLst>
              <a:latin typeface="Rockwell"/>
              <a:ea typeface="+mn-ea"/>
              <a:cs typeface="+mn-cs"/>
            </a:rPr>
            <a:t>Exception modes:</a:t>
          </a:r>
        </a:p>
        <a:p>
          <a:pPr marL="114300" lvl="1" indent="-114300" algn="l" defTabSz="622300" rtl="0">
            <a:lnSpc>
              <a:spcPct val="90000"/>
            </a:lnSpc>
            <a:spcBef>
              <a:spcPct val="0"/>
            </a:spcBef>
            <a:spcAft>
              <a:spcPct val="15000"/>
            </a:spcAft>
            <a:buChar char="•"/>
          </a:pPr>
          <a:r>
            <a:rPr lang="en-US" sz="1400" kern="1200" dirty="0">
              <a:solidFill>
                <a:srgbClr val="330F42"/>
              </a:solidFill>
              <a:effectLst>
                <a:outerShdw blurRad="38100" dist="38100" dir="2700000" algn="tl">
                  <a:srgbClr val="000000">
                    <a:alpha val="43137"/>
                  </a:srgbClr>
                </a:outerShdw>
              </a:effectLst>
              <a:latin typeface="Rockwell"/>
              <a:ea typeface="+mn-ea"/>
              <a:cs typeface="+mn-cs"/>
            </a:rPr>
            <a:t>Supervisor mode</a:t>
          </a:r>
        </a:p>
        <a:p>
          <a:pPr marL="114300" lvl="1" indent="-114300" algn="l" defTabSz="622300" rtl="0">
            <a:lnSpc>
              <a:spcPct val="90000"/>
            </a:lnSpc>
            <a:spcBef>
              <a:spcPct val="0"/>
            </a:spcBef>
            <a:spcAft>
              <a:spcPct val="15000"/>
            </a:spcAft>
            <a:buChar char="•"/>
          </a:pPr>
          <a:r>
            <a:rPr lang="en-US" sz="1400" kern="1200" dirty="0">
              <a:solidFill>
                <a:srgbClr val="330F42"/>
              </a:solidFill>
              <a:effectLst>
                <a:outerShdw blurRad="38100" dist="38100" dir="2700000" algn="tl">
                  <a:srgbClr val="000000">
                    <a:alpha val="43137"/>
                  </a:srgbClr>
                </a:outerShdw>
              </a:effectLst>
              <a:latin typeface="Rockwell"/>
              <a:ea typeface="+mn-ea"/>
              <a:cs typeface="+mn-cs"/>
            </a:rPr>
            <a:t>Abort mode</a:t>
          </a:r>
        </a:p>
        <a:p>
          <a:pPr marL="114300" lvl="1" indent="-114300" algn="l" defTabSz="622300" rtl="0">
            <a:lnSpc>
              <a:spcPct val="90000"/>
            </a:lnSpc>
            <a:spcBef>
              <a:spcPct val="0"/>
            </a:spcBef>
            <a:spcAft>
              <a:spcPct val="15000"/>
            </a:spcAft>
            <a:buChar char="•"/>
          </a:pPr>
          <a:r>
            <a:rPr lang="en-US" sz="1400" kern="1200" dirty="0">
              <a:solidFill>
                <a:srgbClr val="330F42"/>
              </a:solidFill>
              <a:effectLst>
                <a:outerShdw blurRad="38100" dist="38100" dir="2700000" algn="tl">
                  <a:srgbClr val="000000">
                    <a:alpha val="43137"/>
                  </a:srgbClr>
                </a:outerShdw>
              </a:effectLst>
              <a:latin typeface="Rockwell"/>
              <a:ea typeface="+mn-ea"/>
              <a:cs typeface="+mn-cs"/>
            </a:rPr>
            <a:t>Undefined mode</a:t>
          </a:r>
        </a:p>
        <a:p>
          <a:pPr marL="114300" lvl="1" indent="-114300" algn="l" defTabSz="622300" rtl="0">
            <a:lnSpc>
              <a:spcPct val="90000"/>
            </a:lnSpc>
            <a:spcBef>
              <a:spcPct val="0"/>
            </a:spcBef>
            <a:spcAft>
              <a:spcPct val="15000"/>
            </a:spcAft>
            <a:buChar char="•"/>
          </a:pPr>
          <a:r>
            <a:rPr lang="en-US" sz="1400" kern="1200" dirty="0">
              <a:solidFill>
                <a:srgbClr val="330F42"/>
              </a:solidFill>
              <a:effectLst>
                <a:outerShdw blurRad="38100" dist="38100" dir="2700000" algn="tl">
                  <a:srgbClr val="000000">
                    <a:alpha val="43137"/>
                  </a:srgbClr>
                </a:outerShdw>
              </a:effectLst>
              <a:latin typeface="Rockwell"/>
              <a:ea typeface="+mn-ea"/>
              <a:cs typeface="+mn-cs"/>
            </a:rPr>
            <a:t>Fast interrupt mode</a:t>
          </a:r>
        </a:p>
        <a:p>
          <a:pPr marL="114300" lvl="1" indent="-114300" algn="l" defTabSz="622300" rtl="0">
            <a:lnSpc>
              <a:spcPct val="90000"/>
            </a:lnSpc>
            <a:spcBef>
              <a:spcPct val="0"/>
            </a:spcBef>
            <a:spcAft>
              <a:spcPct val="15000"/>
            </a:spcAft>
            <a:buChar char="•"/>
          </a:pPr>
          <a:r>
            <a:rPr lang="en-US" sz="1400" kern="1200" dirty="0">
              <a:solidFill>
                <a:srgbClr val="330F42"/>
              </a:solidFill>
              <a:effectLst>
                <a:outerShdw blurRad="38100" dist="38100" dir="2700000" algn="tl">
                  <a:srgbClr val="000000">
                    <a:alpha val="43137"/>
                  </a:srgbClr>
                </a:outerShdw>
              </a:effectLst>
              <a:latin typeface="Rockwell"/>
              <a:ea typeface="+mn-ea"/>
              <a:cs typeface="+mn-cs"/>
            </a:rPr>
            <a:t>Interrupt mode</a:t>
          </a:r>
        </a:p>
      </dsp:txBody>
      <dsp:txXfrm>
        <a:off x="1681768" y="3193863"/>
        <a:ext cx="2078919" cy="2078919"/>
      </dsp:txXfrm>
    </dsp:sp>
    <dsp:sp modelId="{1B9D5CAB-120D-FB4A-A5F2-861B7735D979}">
      <dsp:nvSpPr>
        <dsp:cNvPr id="0" name=""/>
        <dsp:cNvSpPr/>
      </dsp:nvSpPr>
      <dsp:spPr>
        <a:xfrm>
          <a:off x="4276326" y="3081398"/>
          <a:ext cx="2303849" cy="2303849"/>
        </a:xfrm>
        <a:prstGeom prst="roundRect">
          <a:avLst/>
        </a:prstGeom>
        <a:gradFill rotWithShape="0">
          <a:gsLst>
            <a:gs pos="0">
              <a:srgbClr val="999966">
                <a:shade val="80000"/>
                <a:hueOff val="0"/>
                <a:satOff val="-4892"/>
                <a:lumOff val="25437"/>
                <a:alphaOff val="0"/>
                <a:shade val="40000"/>
                <a:alpha val="100000"/>
                <a:satMod val="150000"/>
                <a:lumMod val="100000"/>
              </a:srgbClr>
            </a:gs>
            <a:gs pos="100000">
              <a:srgbClr val="999966">
                <a:shade val="80000"/>
                <a:hueOff val="0"/>
                <a:satOff val="-4892"/>
                <a:lumOff val="25437"/>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rtl="0">
            <a:lnSpc>
              <a:spcPct val="90000"/>
            </a:lnSpc>
            <a:spcBef>
              <a:spcPct val="0"/>
            </a:spcBef>
            <a:spcAft>
              <a:spcPct val="35000"/>
            </a:spcAft>
            <a:buNone/>
          </a:pPr>
          <a:r>
            <a:rPr lang="en-US" sz="1600" kern="1200" dirty="0">
              <a:solidFill>
                <a:srgbClr val="330F42"/>
              </a:solidFill>
              <a:effectLst>
                <a:outerShdw blurRad="38100" dist="38100" dir="2700000" algn="tl">
                  <a:srgbClr val="000000">
                    <a:alpha val="43137"/>
                  </a:srgbClr>
                </a:outerShdw>
              </a:effectLst>
              <a:latin typeface="Rockwell"/>
              <a:ea typeface="+mn-ea"/>
              <a:cs typeface="+mn-cs"/>
            </a:rPr>
            <a:t>System mode:</a:t>
          </a:r>
        </a:p>
        <a:p>
          <a:pPr marL="114300" lvl="1" indent="-114300" algn="l" defTabSz="533400" rtl="0">
            <a:lnSpc>
              <a:spcPct val="90000"/>
            </a:lnSpc>
            <a:spcBef>
              <a:spcPct val="0"/>
            </a:spcBef>
            <a:spcAft>
              <a:spcPct val="15000"/>
            </a:spcAft>
            <a:buChar char="•"/>
          </a:pPr>
          <a:r>
            <a:rPr lang="en-US" sz="1200" kern="1200" dirty="0">
              <a:solidFill>
                <a:srgbClr val="330F42"/>
              </a:solidFill>
              <a:effectLst>
                <a:outerShdw blurRad="38100" dist="38100" dir="2700000" algn="tl">
                  <a:srgbClr val="000000">
                    <a:alpha val="43137"/>
                  </a:srgbClr>
                </a:outerShdw>
              </a:effectLst>
              <a:latin typeface="Rockwell"/>
              <a:ea typeface="+mn-ea"/>
              <a:cs typeface="+mn-cs"/>
            </a:rPr>
            <a:t>Not entered by any exception and uses the same registers available in User mode</a:t>
          </a:r>
        </a:p>
        <a:p>
          <a:pPr marL="114300" lvl="1" indent="-114300" algn="l" defTabSz="533400" rtl="0">
            <a:lnSpc>
              <a:spcPct val="90000"/>
            </a:lnSpc>
            <a:spcBef>
              <a:spcPct val="0"/>
            </a:spcBef>
            <a:spcAft>
              <a:spcPct val="15000"/>
            </a:spcAft>
            <a:buChar char="•"/>
          </a:pPr>
          <a:r>
            <a:rPr lang="en-US" sz="1200" kern="1200" dirty="0">
              <a:solidFill>
                <a:srgbClr val="330F42"/>
              </a:solidFill>
              <a:effectLst>
                <a:outerShdw blurRad="38100" dist="38100" dir="2700000" algn="tl">
                  <a:srgbClr val="000000">
                    <a:alpha val="43137"/>
                  </a:srgbClr>
                </a:outerShdw>
              </a:effectLst>
              <a:latin typeface="Rockwell"/>
              <a:ea typeface="+mn-ea"/>
              <a:cs typeface="+mn-cs"/>
            </a:rPr>
            <a:t>Is used for running certain privileged operating system tasks</a:t>
          </a:r>
        </a:p>
        <a:p>
          <a:pPr marL="114300" lvl="1" indent="-114300" algn="l" defTabSz="533400" rtl="0">
            <a:lnSpc>
              <a:spcPct val="90000"/>
            </a:lnSpc>
            <a:spcBef>
              <a:spcPct val="0"/>
            </a:spcBef>
            <a:spcAft>
              <a:spcPct val="15000"/>
            </a:spcAft>
            <a:buChar char="•"/>
          </a:pPr>
          <a:r>
            <a:rPr lang="en-US" sz="1200" kern="1200" dirty="0">
              <a:solidFill>
                <a:srgbClr val="330F42"/>
              </a:solidFill>
              <a:effectLst>
                <a:outerShdw blurRad="38100" dist="38100" dir="2700000" algn="tl">
                  <a:srgbClr val="000000">
                    <a:alpha val="43137"/>
                  </a:srgbClr>
                </a:outerShdw>
              </a:effectLst>
              <a:latin typeface="Rockwell"/>
              <a:ea typeface="+mn-ea"/>
              <a:cs typeface="+mn-cs"/>
            </a:rPr>
            <a:t>May be interrupted by any of the five exception categories</a:t>
          </a:r>
        </a:p>
      </dsp:txBody>
      <dsp:txXfrm>
        <a:off x="4388791" y="3193863"/>
        <a:ext cx="2078919" cy="2078919"/>
      </dsp:txXfrm>
    </dsp:sp>
  </dsp:spTree>
</dsp:drawing>
</file>

<file path=ppt/diagrams/layout1.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arrow4">
  <dgm:title val=""/>
  <dgm:desc val=""/>
  <dgm:catLst>
    <dgm:cat type="relationship" pri="8000"/>
    <dgm:cat type="process" pri="30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shape xmlns:r="http://schemas.openxmlformats.org/officeDocument/2006/relationships" r:blip="">
      <dgm:adjLst/>
    </dgm:shape>
    <dgm:presOf/>
    <dgm:choose name="Name0">
      <dgm:if name="Name1" func="var" arg="dir" op="equ" val="norm">
        <dgm:choose name="Name2">
          <dgm:if name="Name3" axis="ch" ptType="node" func="cnt" op="lte" val="1">
            <dgm:constrLst>
              <dgm:constr type="primFontSz" for="des" ptType="node" op="equ" val="65"/>
              <dgm:constr type="w" for="ch" forName="upArrow" refType="w" fact="0.33"/>
              <dgm:constr type="h" for="ch" forName="upArrow" refType="h"/>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dgm:constr type="b" for="ch" forName="upArrowText" refType="h" fact="0.48"/>
              <dgm:constr type="l" for="ch" forName="upArrowText" refType="w" refFor="ch" refForName="upArrow" fact="1.03"/>
            </dgm:constrLst>
          </dgm:if>
          <dgm:else name="Name4">
            <dgm:constrLst>
              <dgm:constr type="primFontSz" for="des" ptType="node" op="equ" val="65"/>
              <dgm:constr type="w" for="ch" forName="upArrow" refType="w" fact="0.33"/>
              <dgm:constr type="h" for="ch" forName="upArrow" refType="h" fact="0.48"/>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fact="0.48"/>
              <dgm:constr type="b" for="ch" forName="upArrowText" refType="h" fact="0.48"/>
              <dgm:constr type="l" for="ch" forName="upArrowText" refType="w" refFor="ch" refForName="upArrow" fact="1.03"/>
              <dgm:constr type="w" for="ch" forName="downArrow" refType="w" fact="0.33"/>
              <dgm:constr type="h" for="ch" forName="downArrow" refType="h" fact="0.48"/>
              <dgm:constr type="t" for="ch" forName="downArrow" refType="h" fact="0.52"/>
              <dgm:constr type="l" for="ch" forName="downArrow" refType="w" refFor="ch" refForName="downArrow" fact="0.3"/>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refType="w" refFor="ch" refForName="downArrow" fact="1.33"/>
            </dgm:constrLst>
          </dgm:else>
        </dgm:choose>
      </dgm:if>
      <dgm:else name="Name5">
        <dgm:choose name="Name6">
          <dgm:if name="Name7" axis="ch" ptType="node" func="cnt" op="lte" val="1">
            <dgm:constrLst>
              <dgm:constr type="primFontSz" for="des" ptType="node" op="equ" val="65"/>
              <dgm:constr type="w" for="ch" forName="upArrow" refType="w" fact="0.33"/>
              <dgm:constr type="h" for="ch" forName="upArrow" refType="h"/>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dgm:constr type="t" for="ch" forName="upArrowText"/>
              <dgm:constr type="l" for="ch" forName="upArrowText" refType="w" fact="0.1"/>
            </dgm:constrLst>
          </dgm:if>
          <dgm:else name="Name8">
            <dgm:constrLst>
              <dgm:constr type="primFontSz" for="des" ptType="node" op="equ" val="65"/>
              <dgm:constr type="w" for="ch" forName="upArrow" refType="w" fact="0.33"/>
              <dgm:constr type="h" for="ch" forName="upArrow" refType="h" fact="0.48"/>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fact="0.48"/>
              <dgm:constr type="t" for="ch" forName="upArrowText"/>
              <dgm:constr type="l" for="ch" forName="upArrowText" refType="w" fact="0.1"/>
              <dgm:constr type="w" for="ch" forName="downArrow" refType="w" fact="0.33"/>
              <dgm:constr type="h" for="ch" forName="downArrow" refType="h" fact="0.48"/>
              <dgm:constr type="t" for="ch" forName="downArrow" refType="h" fact="0.52"/>
              <dgm:constr type="l" for="ch" forName="downArrow" refType="w" fact="0.57"/>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dgm:constrLst>
          </dgm:else>
        </dgm:choose>
      </dgm:else>
    </dgm:choose>
    <dgm:ruleLst/>
    <dgm:forEach name="Name9" axis="ch" ptType="node" cnt="1">
      <dgm:layoutNode name="upArrow" styleLbl="node1">
        <dgm:alg type="sp"/>
        <dgm:shape xmlns:r="http://schemas.openxmlformats.org/officeDocument/2006/relationships" type="upArrow" r:blip="">
          <dgm:adjLst/>
        </dgm:shape>
        <dgm:presOf/>
        <dgm:constrLst/>
        <dgm:ruleLst/>
      </dgm:layoutNode>
      <dgm:layoutNode name="upArrowText" styleLbl="revTx">
        <dgm:varLst>
          <dgm:chMax val="0"/>
          <dgm:bulletEnabled val="1"/>
        </dgm:varLst>
        <dgm:choose name="Name10">
          <dgm:if name="Name11" axis="root des" ptType="all node" func="maxDepth" op="gt" val="1">
            <dgm:alg type="tx">
              <dgm:param type="parTxLTRAlign" val="l"/>
              <dgm:param type="parTxRTLAlign" val="r"/>
              <dgm:param type="txAnchorVertCh" val="mid"/>
            </dgm:alg>
          </dgm:if>
          <dgm:else name="Name12">
            <dgm:choose name="Name13">
              <dgm:if name="Name14" func="var" arg="dir" op="equ" val="norm">
                <dgm:alg type="tx">
                  <dgm:param type="parTxLTRAlign" val="l"/>
                  <dgm:param type="parTxRTLAlign" val="l"/>
                  <dgm:param type="txAnchorVertCh" val="mid"/>
                </dgm:alg>
              </dgm:if>
              <dgm:else name="Name15">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forEach name="Name16" axis="ch" ptType="node" st="2"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chMax val="0"/>
          <dgm:bulletEnabled val="1"/>
        </dgm:varLst>
        <dgm:choose name="Name17">
          <dgm:if name="Name18" axis="root des" ptType="all node" func="maxDepth" op="gt" val="1">
            <dgm:alg type="tx">
              <dgm:param type="parTxLTRAlign" val="l"/>
              <dgm:param type="parTxRTLAlign" val="r"/>
              <dgm:param type="txAnchorVertCh" val="mid"/>
            </dgm:alg>
          </dgm:if>
          <dgm:else name="Name19">
            <dgm:choose name="Name20">
              <dgm:if name="Name21" func="var" arg="dir" op="equ" val="norm">
                <dgm:alg type="tx">
                  <dgm:param type="parTxLTRAlign" val="l"/>
                  <dgm:param type="parTxRTLAlign" val="l"/>
                  <dgm:param type="txAnchorVertCh" val="mid"/>
                </dgm:alg>
              </dgm:if>
              <dgm:else name="Name22">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7.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9.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108674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Rot="1" noChangeAspect="1" noChangeArrowheads="1" noTextEdit="1"/>
          </p:cNvSpPr>
          <p:nvPr>
            <p:ph type="sldImg" idx="2"/>
          </p:nvPr>
        </p:nvSpPr>
        <p:spPr bwMode="auto">
          <a:xfrm>
            <a:off x="1149350" y="692150"/>
            <a:ext cx="4559300" cy="3416300"/>
          </a:xfrm>
          <a:prstGeom prst="rect">
            <a:avLst/>
          </a:prstGeom>
          <a:noFill/>
          <a:ln w="12700">
            <a:solidFill>
              <a:srgbClr val="000000"/>
            </a:solidFill>
            <a:miter lim="800000"/>
            <a:headEnd/>
            <a:tailEnd/>
          </a:ln>
          <a:effectLst/>
        </p:spPr>
      </p:sp>
      <p:sp>
        <p:nvSpPr>
          <p:cNvPr id="2051" name="Rectangle 3"/>
          <p:cNvSpPr>
            <a:spLocks noGrp="1" noChangeArrowheads="1"/>
          </p:cNvSpPr>
          <p:nvPr>
            <p:ph type="body" sz="quarter" idx="3"/>
          </p:nvPr>
        </p:nvSpPr>
        <p:spPr bwMode="auto">
          <a:xfrm>
            <a:off x="914400" y="4343400"/>
            <a:ext cx="5029200" cy="4114800"/>
          </a:xfrm>
          <a:prstGeom prst="rect">
            <a:avLst/>
          </a:prstGeom>
          <a:noFill/>
          <a:ln w="12700">
            <a:noFill/>
            <a:miter lim="800000"/>
            <a:headEnd/>
            <a:tailEnd/>
          </a:ln>
          <a:effectLst/>
        </p:spPr>
        <p:txBody>
          <a:bodyPr vert="horz" wrap="square" lIns="90488" tIns="44450" rIns="90488" bIns="4445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45870290"/>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56C40E98-D33D-704E-929D-27FB84CF5632}" type="slidenum">
              <a:rPr lang="en-US" smtClean="0"/>
              <a:pPr/>
              <a:t>1</a:t>
            </a:fld>
            <a:endParaRPr lang="en-US" dirty="0"/>
          </a:p>
        </p:txBody>
      </p:sp>
    </p:spTree>
    <p:extLst>
      <p:ext uri="{BB962C8B-B14F-4D97-AF65-F5344CB8AC3E}">
        <p14:creationId xmlns:p14="http://schemas.microsoft.com/office/powerpoint/2010/main" val="16205632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813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22</a:t>
            </a:r>
          </a:p>
        </p:txBody>
      </p:sp>
      <p:sp>
        <p:nvSpPr>
          <p:cNvPr id="4813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813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8134" name="Rectangle 6"/>
          <p:cNvSpPr>
            <a:spLocks noGrp="1" noRot="1" noChangeAspect="1" noChangeArrowheads="1" noTextEdit="1"/>
          </p:cNvSpPr>
          <p:nvPr>
            <p:ph type="sldImg"/>
          </p:nvPr>
        </p:nvSpPr>
        <p:spPr>
          <a:xfrm>
            <a:off x="1150938" y="692150"/>
            <a:ext cx="4556125" cy="3416300"/>
          </a:xfrm>
          <a:ln cap="flat"/>
        </p:spPr>
      </p:sp>
      <p:sp>
        <p:nvSpPr>
          <p:cNvPr id="48135"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To understand the organization of the processor, let us consider the requirements placed on the processor, the things that it must do: </a:t>
            </a:r>
            <a:endParaRPr lang="en-US" dirty="0"/>
          </a:p>
          <a:p>
            <a:endParaRPr lang="en-US" sz="1200" b="0"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Fetch instruction: </a:t>
            </a:r>
            <a:r>
              <a:rPr lang="en-US" sz="1200" b="0" kern="1200" dirty="0">
                <a:solidFill>
                  <a:schemeClr val="tx1"/>
                </a:solidFill>
                <a:latin typeface="Times New Roman" pitchFamily="-1" charset="0"/>
                <a:ea typeface="+mn-ea"/>
                <a:cs typeface="+mn-cs"/>
              </a:rPr>
              <a:t>The processor reads an instruction from memory (register, cache, main memory). </a:t>
            </a:r>
          </a:p>
          <a:p>
            <a:endParaRPr lang="en-US" sz="1200" b="0"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Interpret instruction</a:t>
            </a:r>
            <a:r>
              <a:rPr lang="en-US" sz="1200" b="0" kern="1200" dirty="0">
                <a:solidFill>
                  <a:schemeClr val="tx1"/>
                </a:solidFill>
                <a:latin typeface="Times New Roman" pitchFamily="-1" charset="0"/>
                <a:ea typeface="+mn-ea"/>
                <a:cs typeface="+mn-cs"/>
              </a:rPr>
              <a:t>: The </a:t>
            </a:r>
            <a:r>
              <a:rPr lang="en-US" sz="1200" kern="1200" dirty="0">
                <a:solidFill>
                  <a:schemeClr val="tx1"/>
                </a:solidFill>
                <a:latin typeface="Times New Roman" pitchFamily="-1" charset="0"/>
                <a:ea typeface="+mn-ea"/>
                <a:cs typeface="+mn-cs"/>
              </a:rPr>
              <a:t>instruction is decoded to determine what action is required.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Fetch data: </a:t>
            </a:r>
            <a:r>
              <a:rPr lang="en-US" sz="1200" b="0" kern="1200" dirty="0">
                <a:solidFill>
                  <a:schemeClr val="tx1"/>
                </a:solidFill>
                <a:latin typeface="Times New Roman" pitchFamily="-1" charset="0"/>
                <a:ea typeface="+mn-ea"/>
                <a:cs typeface="+mn-cs"/>
              </a:rPr>
              <a:t>The execution of an instruction may require reading data from memory or an I/O module. </a:t>
            </a:r>
          </a:p>
          <a:p>
            <a:endParaRPr lang="en-US" sz="1200" b="0"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Process data</a:t>
            </a:r>
            <a:r>
              <a:rPr lang="en-US" sz="1200" b="0" kern="1200" dirty="0">
                <a:solidFill>
                  <a:schemeClr val="tx1"/>
                </a:solidFill>
                <a:latin typeface="Times New Roman" pitchFamily="-1" charset="0"/>
                <a:ea typeface="+mn-ea"/>
                <a:cs typeface="+mn-cs"/>
              </a:rPr>
              <a:t>: The execution of an instruction may require performing some arithmetic or logical operation on data. </a:t>
            </a:r>
          </a:p>
          <a:p>
            <a:endParaRPr lang="en-US" sz="1200" b="0"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Write data: </a:t>
            </a:r>
            <a:r>
              <a:rPr lang="en-US" sz="1200" b="0" kern="1200" dirty="0">
                <a:solidFill>
                  <a:schemeClr val="tx1"/>
                </a:solidFill>
                <a:latin typeface="Times New Roman" pitchFamily="-1" charset="0"/>
                <a:ea typeface="+mn-ea"/>
                <a:cs typeface="+mn-cs"/>
              </a:rPr>
              <a:t>The results of an execution may require writing data to memory or an I/O module.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To do these things, it should be clear that the processor needs to store some data temporarily. It must remember the location of the last instruction so that it can know where to get the next instruction. It needs to store instructions and data temporarily while an instruction is being executed. In other words, the processor needs a small internal memory. </a:t>
            </a:r>
          </a:p>
          <a:p>
            <a:endParaRPr lang="en-GB"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92500"/>
          </a:bodyPr>
          <a:lstStyle/>
          <a:p>
            <a:r>
              <a:rPr lang="en-US" sz="1200" kern="1200" dirty="0">
                <a:solidFill>
                  <a:schemeClr val="tx1"/>
                </a:solidFill>
                <a:effectLst/>
                <a:latin typeface="Times New Roman" pitchFamily="-1" charset="0"/>
                <a:ea typeface="+mn-ea"/>
                <a:cs typeface="+mn-cs"/>
              </a:rPr>
              <a:t>Figure</a:t>
            </a:r>
            <a:r>
              <a:rPr lang="en-US" sz="1200" kern="1200" baseline="0" dirty="0">
                <a:solidFill>
                  <a:schemeClr val="tx1"/>
                </a:solidFill>
                <a:effectLst/>
                <a:latin typeface="Times New Roman" pitchFamily="-1" charset="0"/>
                <a:ea typeface="+mn-ea"/>
                <a:cs typeface="+mn-cs"/>
              </a:rPr>
              <a:t> </a:t>
            </a:r>
            <a:r>
              <a:rPr lang="en-US" sz="1200" kern="1200" dirty="0">
                <a:solidFill>
                  <a:schemeClr val="tx1"/>
                </a:solidFill>
                <a:effectLst/>
                <a:latin typeface="Times New Roman" pitchFamily="-1" charset="0"/>
                <a:ea typeface="+mn-ea"/>
                <a:cs typeface="+mn-cs"/>
              </a:rPr>
              <a:t>16.1 is a simplified view of the internal structure of a processor. The</a:t>
            </a:r>
          </a:p>
          <a:p>
            <a:r>
              <a:rPr lang="en-US" sz="1200" kern="1200" dirty="0">
                <a:solidFill>
                  <a:schemeClr val="tx1"/>
                </a:solidFill>
                <a:effectLst/>
                <a:latin typeface="Times New Roman" pitchFamily="-1" charset="0"/>
                <a:ea typeface="+mn-ea"/>
                <a:cs typeface="+mn-cs"/>
              </a:rPr>
              <a:t>reader will recall that the major components of the processor are an </a:t>
            </a:r>
            <a:r>
              <a:rPr lang="en-US" sz="1200" i="1" kern="1200" dirty="0">
                <a:solidFill>
                  <a:schemeClr val="tx1"/>
                </a:solidFill>
                <a:effectLst/>
                <a:latin typeface="Times New Roman" pitchFamily="-1" charset="0"/>
                <a:ea typeface="+mn-ea"/>
                <a:cs typeface="+mn-cs"/>
              </a:rPr>
              <a:t>arithmetic and</a:t>
            </a:r>
          </a:p>
          <a:p>
            <a:r>
              <a:rPr lang="en-US" sz="1200" i="1" kern="1200" dirty="0">
                <a:solidFill>
                  <a:schemeClr val="tx1"/>
                </a:solidFill>
                <a:effectLst/>
                <a:latin typeface="Times New Roman" pitchFamily="-1" charset="0"/>
                <a:ea typeface="+mn-ea"/>
                <a:cs typeface="+mn-cs"/>
              </a:rPr>
              <a:t>logic unit </a:t>
            </a:r>
            <a:r>
              <a:rPr lang="en-US" sz="1200" kern="1200" dirty="0">
                <a:solidFill>
                  <a:schemeClr val="tx1"/>
                </a:solidFill>
                <a:effectLst/>
                <a:latin typeface="Times New Roman" pitchFamily="-1" charset="0"/>
                <a:ea typeface="+mn-ea"/>
                <a:cs typeface="+mn-cs"/>
              </a:rPr>
              <a:t> (ALU) and a </a:t>
            </a:r>
            <a:r>
              <a:rPr lang="en-US" sz="1200" i="1" kern="1200" dirty="0">
                <a:solidFill>
                  <a:schemeClr val="tx1"/>
                </a:solidFill>
                <a:effectLst/>
                <a:latin typeface="Times New Roman" pitchFamily="-1" charset="0"/>
                <a:ea typeface="+mn-ea"/>
                <a:cs typeface="+mn-cs"/>
              </a:rPr>
              <a:t>control unit</a:t>
            </a:r>
            <a:r>
              <a:rPr lang="en-US" sz="1200" kern="1200" dirty="0">
                <a:solidFill>
                  <a:schemeClr val="tx1"/>
                </a:solidFill>
                <a:effectLst/>
                <a:latin typeface="Times New Roman" pitchFamily="-1" charset="0"/>
                <a:ea typeface="+mn-ea"/>
                <a:cs typeface="+mn-cs"/>
              </a:rPr>
              <a:t>  (CU). The ALU does the actual computation or</a:t>
            </a:r>
          </a:p>
          <a:p>
            <a:r>
              <a:rPr lang="en-US" sz="1200" kern="1200" dirty="0">
                <a:solidFill>
                  <a:schemeClr val="tx1"/>
                </a:solidFill>
                <a:effectLst/>
                <a:latin typeface="Times New Roman" pitchFamily="-1" charset="0"/>
                <a:ea typeface="+mn-ea"/>
                <a:cs typeface="+mn-cs"/>
              </a:rPr>
              <a:t>processing of data. The control unit controls the movement of data and instructions</a:t>
            </a:r>
          </a:p>
          <a:p>
            <a:r>
              <a:rPr lang="en-US" sz="1200" kern="1200" dirty="0">
                <a:solidFill>
                  <a:schemeClr val="tx1"/>
                </a:solidFill>
                <a:effectLst/>
                <a:latin typeface="Times New Roman" pitchFamily="-1" charset="0"/>
                <a:ea typeface="+mn-ea"/>
                <a:cs typeface="+mn-cs"/>
              </a:rPr>
              <a:t>into and out of the processor, and controls the operation of the ALU. In addition,</a:t>
            </a:r>
          </a:p>
          <a:p>
            <a:r>
              <a:rPr lang="en-US" sz="1200" kern="1200" dirty="0">
                <a:solidFill>
                  <a:schemeClr val="tx1"/>
                </a:solidFill>
                <a:effectLst/>
                <a:latin typeface="Times New Roman" pitchFamily="-1" charset="0"/>
                <a:ea typeface="+mn-ea"/>
                <a:cs typeface="+mn-cs"/>
              </a:rPr>
              <a:t>the figure shows a minimal internal memory, consisting of a set of storage locations,</a:t>
            </a:r>
          </a:p>
          <a:p>
            <a:r>
              <a:rPr lang="en-US" sz="1200" kern="1200" dirty="0">
                <a:solidFill>
                  <a:schemeClr val="tx1"/>
                </a:solidFill>
                <a:effectLst/>
                <a:latin typeface="Times New Roman" pitchFamily="-1" charset="0"/>
                <a:ea typeface="+mn-ea"/>
                <a:cs typeface="+mn-cs"/>
              </a:rPr>
              <a:t>called </a:t>
            </a:r>
            <a:r>
              <a:rPr lang="en-US" sz="1200" i="1" kern="1200" dirty="0">
                <a:solidFill>
                  <a:schemeClr val="tx1"/>
                </a:solidFill>
                <a:effectLst/>
                <a:latin typeface="Times New Roman" pitchFamily="-1" charset="0"/>
                <a:ea typeface="+mn-ea"/>
                <a:cs typeface="+mn-cs"/>
              </a:rPr>
              <a:t>registers </a:t>
            </a:r>
            <a:r>
              <a:rPr lang="en-US" sz="1200" kern="1200" dirty="0">
                <a:solidFill>
                  <a:schemeClr val="tx1"/>
                </a:solidFill>
                <a:effectLst/>
                <a:latin typeface="Times New Roman" pitchFamily="-1" charset="0"/>
                <a:ea typeface="+mn-ea"/>
                <a:cs typeface="+mn-cs"/>
              </a:rPr>
              <a:t>. The data transfer and logic control paths are indicated, including</a:t>
            </a:r>
          </a:p>
          <a:p>
            <a:r>
              <a:rPr lang="en-US" sz="1200" kern="1200" dirty="0">
                <a:solidFill>
                  <a:schemeClr val="tx1"/>
                </a:solidFill>
                <a:effectLst/>
                <a:latin typeface="Times New Roman" pitchFamily="-1" charset="0"/>
                <a:ea typeface="+mn-ea"/>
                <a:cs typeface="+mn-cs"/>
              </a:rPr>
              <a:t>an element labeled </a:t>
            </a:r>
            <a:r>
              <a:rPr lang="en-US" sz="1200" i="1" kern="1200" dirty="0">
                <a:solidFill>
                  <a:schemeClr val="tx1"/>
                </a:solidFill>
                <a:effectLst/>
                <a:latin typeface="Times New Roman" pitchFamily="-1" charset="0"/>
                <a:ea typeface="+mn-ea"/>
                <a:cs typeface="+mn-cs"/>
              </a:rPr>
              <a:t>internal processor bus </a:t>
            </a:r>
            <a:r>
              <a:rPr lang="en-US" sz="1200" kern="1200" dirty="0">
                <a:solidFill>
                  <a:schemeClr val="tx1"/>
                </a:solidFill>
                <a:effectLst/>
                <a:latin typeface="Times New Roman" pitchFamily="-1" charset="0"/>
                <a:ea typeface="+mn-ea"/>
                <a:cs typeface="+mn-cs"/>
              </a:rPr>
              <a:t>. This element is needed to transfer data</a:t>
            </a:r>
          </a:p>
          <a:p>
            <a:r>
              <a:rPr lang="en-US" sz="1200" kern="1200" dirty="0">
                <a:solidFill>
                  <a:schemeClr val="tx1"/>
                </a:solidFill>
                <a:effectLst/>
                <a:latin typeface="Times New Roman" pitchFamily="-1" charset="0"/>
                <a:ea typeface="+mn-ea"/>
                <a:cs typeface="+mn-cs"/>
              </a:rPr>
              <a:t>between the various registers and the ALU, because the ALU in fact operates only</a:t>
            </a:r>
          </a:p>
          <a:p>
            <a:r>
              <a:rPr lang="en-US" sz="1200" kern="1200" dirty="0">
                <a:solidFill>
                  <a:schemeClr val="tx1"/>
                </a:solidFill>
                <a:effectLst/>
                <a:latin typeface="Times New Roman" pitchFamily="-1" charset="0"/>
                <a:ea typeface="+mn-ea"/>
                <a:cs typeface="+mn-cs"/>
              </a:rPr>
              <a:t>on data in the internal processor memory. The figure also shows typical basic elements</a:t>
            </a:r>
          </a:p>
          <a:p>
            <a:r>
              <a:rPr lang="en-US" sz="1200" kern="1200" dirty="0">
                <a:solidFill>
                  <a:schemeClr val="tx1"/>
                </a:solidFill>
                <a:effectLst/>
                <a:latin typeface="Times New Roman" pitchFamily="-1" charset="0"/>
                <a:ea typeface="+mn-ea"/>
                <a:cs typeface="+mn-cs"/>
              </a:rPr>
              <a:t>of the ALU. Note the similarity between the internal structure of the computer</a:t>
            </a:r>
          </a:p>
          <a:p>
            <a:r>
              <a:rPr lang="en-US" sz="1200" kern="1200" dirty="0">
                <a:solidFill>
                  <a:schemeClr val="tx1"/>
                </a:solidFill>
                <a:effectLst/>
                <a:latin typeface="Times New Roman" pitchFamily="-1" charset="0"/>
                <a:ea typeface="+mn-ea"/>
                <a:cs typeface="+mn-cs"/>
              </a:rPr>
              <a:t>as a whole, and the internal structure of the processor. In both cases, there is</a:t>
            </a:r>
          </a:p>
          <a:p>
            <a:r>
              <a:rPr lang="en-US" sz="1200" kern="1200" dirty="0">
                <a:solidFill>
                  <a:schemeClr val="tx1"/>
                </a:solidFill>
                <a:effectLst/>
                <a:latin typeface="Times New Roman" pitchFamily="-1" charset="0"/>
                <a:ea typeface="+mn-ea"/>
                <a:cs typeface="+mn-cs"/>
              </a:rPr>
              <a:t>a small collection of major elements (computer: processor, I/O, memory; processor:</a:t>
            </a:r>
          </a:p>
          <a:p>
            <a:r>
              <a:rPr lang="en-US" sz="1200" kern="1200" dirty="0">
                <a:solidFill>
                  <a:schemeClr val="tx1"/>
                </a:solidFill>
                <a:effectLst/>
                <a:latin typeface="Times New Roman" pitchFamily="-1" charset="0"/>
                <a:ea typeface="+mn-ea"/>
                <a:cs typeface="+mn-cs"/>
              </a:rPr>
              <a:t>control unit, ALU, registers) connected by data paths.</a:t>
            </a:r>
          </a:p>
          <a:p>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017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23</a:t>
            </a:r>
          </a:p>
        </p:txBody>
      </p:sp>
      <p:sp>
        <p:nvSpPr>
          <p:cNvPr id="5018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018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0182" name="Rectangle 6"/>
          <p:cNvSpPr>
            <a:spLocks noGrp="1" noRot="1" noChangeAspect="1" noChangeArrowheads="1" noTextEdit="1"/>
          </p:cNvSpPr>
          <p:nvPr>
            <p:ph type="sldImg"/>
          </p:nvPr>
        </p:nvSpPr>
        <p:spPr>
          <a:xfrm>
            <a:off x="1150938" y="692150"/>
            <a:ext cx="4556125" cy="3416300"/>
          </a:xfrm>
          <a:ln cap="flat"/>
        </p:spPr>
      </p:sp>
      <p:sp>
        <p:nvSpPr>
          <p:cNvPr id="50183"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As we discussed in Chapter 4, a computer system employs a memory hierarchy. At higher levels of the hierarchy, memory is faster, smaller, and more expensive (per bit). Within the processor, there is a set of registers that function as a level of memory above main memory and cache in the hierarchy. The registers in the processor perform two roles: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User-visible registers</a:t>
            </a:r>
            <a:r>
              <a:rPr lang="en-US" sz="1200" b="0" kern="1200" dirty="0">
                <a:solidFill>
                  <a:schemeClr val="tx1"/>
                </a:solidFill>
                <a:latin typeface="Times New Roman" pitchFamily="-1" charset="0"/>
                <a:ea typeface="+mn-ea"/>
                <a:cs typeface="+mn-cs"/>
              </a:rPr>
              <a:t>: Enable the machine- or assembly language programmer to minimize main memory references by optimizing use of registers. </a:t>
            </a:r>
          </a:p>
          <a:p>
            <a:endParaRPr lang="en-US" sz="1200" b="0"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Control and status registers: </a:t>
            </a:r>
            <a:r>
              <a:rPr lang="en-US" sz="1200" kern="1200" dirty="0">
                <a:solidFill>
                  <a:schemeClr val="tx1"/>
                </a:solidFill>
                <a:latin typeface="Times New Roman" pitchFamily="-1" charset="0"/>
                <a:ea typeface="+mn-ea"/>
                <a:cs typeface="+mn-cs"/>
              </a:rPr>
              <a:t>Used by the control unit to control the operation of the processor and by privileged, operating system programs to control the execution of programs.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There is not a clean separation of registers into these two categories. For example, on some machines the program counter is user visible (e.g., x86), but on many it is not. For purposes of the following discussion, however, we will use these categories. </a:t>
            </a:r>
          </a:p>
          <a:p>
            <a:endParaRPr lang="en-GB"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222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24</a:t>
            </a:r>
          </a:p>
        </p:txBody>
      </p:sp>
      <p:sp>
        <p:nvSpPr>
          <p:cNvPr id="5222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222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2230" name="Rectangle 6"/>
          <p:cNvSpPr>
            <a:spLocks noGrp="1" noRot="1" noChangeAspect="1" noChangeArrowheads="1" noTextEdit="1"/>
          </p:cNvSpPr>
          <p:nvPr>
            <p:ph type="sldImg"/>
          </p:nvPr>
        </p:nvSpPr>
        <p:spPr>
          <a:xfrm>
            <a:off x="1150938" y="692150"/>
            <a:ext cx="4556125" cy="3416300"/>
          </a:xfrm>
          <a:ln cap="flat"/>
        </p:spPr>
      </p:sp>
      <p:sp>
        <p:nvSpPr>
          <p:cNvPr id="52231"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A user-visible register is one that may be referenced by means of the machine language that the processor executes. We can characterize these in the following categories: </a:t>
            </a:r>
            <a:endParaRPr lang="en-US" dirty="0"/>
          </a:p>
          <a:p>
            <a:pPr lvl="1"/>
            <a:endParaRPr lang="en-US" sz="1200" kern="1200" dirty="0">
              <a:solidFill>
                <a:schemeClr val="tx1"/>
              </a:solidFill>
              <a:latin typeface="Times New Roman" pitchFamily="-1" charset="0"/>
              <a:ea typeface="ＭＳ Ｐゴシック" pitchFamily="-1" charset="-128"/>
              <a:cs typeface="+mn-cs"/>
            </a:endParaRPr>
          </a:p>
          <a:p>
            <a:pPr marL="628650" lvl="1" indent="-171450">
              <a:buFont typeface="Arial" charset="0"/>
              <a:buChar char="•"/>
            </a:pPr>
            <a:r>
              <a:rPr lang="en-US" sz="1200" kern="1200" dirty="0">
                <a:solidFill>
                  <a:schemeClr val="tx1"/>
                </a:solidFill>
                <a:latin typeface="Times New Roman" pitchFamily="-1" charset="0"/>
                <a:ea typeface="ＭＳ Ｐゴシック" pitchFamily="-1" charset="-128"/>
                <a:cs typeface="+mn-cs"/>
              </a:rPr>
              <a:t>General purpose </a:t>
            </a:r>
          </a:p>
          <a:p>
            <a:pPr marL="628650" lvl="1" indent="-171450">
              <a:buFont typeface="Arial" charset="0"/>
              <a:buChar char="•"/>
            </a:pPr>
            <a:r>
              <a:rPr lang="en-US" sz="1200" kern="1200" dirty="0">
                <a:solidFill>
                  <a:schemeClr val="tx1"/>
                </a:solidFill>
                <a:latin typeface="Times New Roman" pitchFamily="-1" charset="0"/>
                <a:ea typeface="ＭＳ Ｐゴシック" pitchFamily="-1" charset="-128"/>
                <a:cs typeface="+mn-cs"/>
              </a:rPr>
              <a:t>Data </a:t>
            </a:r>
          </a:p>
          <a:p>
            <a:pPr marL="628650" lvl="1" indent="-171450">
              <a:buFont typeface="Arial" charset="0"/>
              <a:buChar char="•"/>
            </a:pPr>
            <a:r>
              <a:rPr lang="en-US" sz="1200" kern="1200" dirty="0">
                <a:solidFill>
                  <a:schemeClr val="tx1"/>
                </a:solidFill>
                <a:latin typeface="Times New Roman" pitchFamily="-1" charset="0"/>
                <a:ea typeface="ＭＳ Ｐゴシック" pitchFamily="-1" charset="-128"/>
                <a:cs typeface="+mn-cs"/>
              </a:rPr>
              <a:t>Address </a:t>
            </a:r>
          </a:p>
          <a:p>
            <a:pPr marL="628650" lvl="1" indent="-171450">
              <a:buFont typeface="Arial" charset="0"/>
              <a:buChar char="•"/>
            </a:pPr>
            <a:r>
              <a:rPr lang="en-US" sz="1200" kern="1200" dirty="0">
                <a:solidFill>
                  <a:schemeClr val="tx1"/>
                </a:solidFill>
                <a:latin typeface="Times New Roman" pitchFamily="-1" charset="0"/>
                <a:ea typeface="ＭＳ Ｐゴシック" pitchFamily="-1" charset="-128"/>
                <a:cs typeface="+mn-cs"/>
              </a:rPr>
              <a:t>Condition codes </a:t>
            </a:r>
          </a:p>
          <a:p>
            <a:pPr lvl="1"/>
            <a:endParaRPr lang="en-US" sz="1200" b="1" kern="1200" dirty="0">
              <a:solidFill>
                <a:schemeClr val="tx1"/>
              </a:solidFill>
              <a:latin typeface="Times New Roman" pitchFamily="-1" charset="0"/>
              <a:ea typeface="ＭＳ Ｐゴシック" pitchFamily="-1" charset="-128"/>
              <a:cs typeface="+mn-cs"/>
            </a:endParaRPr>
          </a:p>
          <a:p>
            <a:pPr lvl="1"/>
            <a:r>
              <a:rPr lang="en-US" sz="1200" b="1" kern="1200" dirty="0">
                <a:solidFill>
                  <a:schemeClr val="tx1"/>
                </a:solidFill>
                <a:latin typeface="Times New Roman" pitchFamily="-1" charset="0"/>
                <a:ea typeface="ＭＳ Ｐゴシック" pitchFamily="-1" charset="-128"/>
                <a:cs typeface="+mn-cs"/>
              </a:rPr>
              <a:t>General-purpose registers </a:t>
            </a:r>
            <a:r>
              <a:rPr lang="en-US" sz="1200" kern="1200" dirty="0">
                <a:solidFill>
                  <a:schemeClr val="tx1"/>
                </a:solidFill>
                <a:latin typeface="Times New Roman" pitchFamily="-1" charset="0"/>
                <a:ea typeface="ＭＳ Ｐゴシック" pitchFamily="-1" charset="-128"/>
                <a:cs typeface="+mn-cs"/>
              </a:rPr>
              <a:t>can be assigned to a variety of functions by the programmer. Sometimes their use within the instruction set is orthogonal to the operation. That is, any general-purpose register can contain the operand for any opcode. This provides true general-purpose register use. Often, however, there are restrictions. For example, there may be dedicated registers for floating-point and stack operations. </a:t>
            </a:r>
          </a:p>
          <a:p>
            <a:pPr lvl="1"/>
            <a:endParaRPr lang="en-US" sz="1200" kern="1200" dirty="0">
              <a:solidFill>
                <a:schemeClr val="tx1"/>
              </a:solidFill>
              <a:latin typeface="Times New Roman" pitchFamily="-1" charset="0"/>
              <a:ea typeface="ＭＳ Ｐゴシック" pitchFamily="-1" charset="-128"/>
              <a:cs typeface="+mn-cs"/>
            </a:endParaRP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ＭＳ Ｐゴシック" pitchFamily="-1" charset="-128"/>
                <a:cs typeface="+mn-cs"/>
              </a:rPr>
              <a:t>In some cases, general-purpose registers can be used for addressing functions (e.g., register indirect, displacement). In other cases, there is a partial or clean separation between data registers and address registers. </a:t>
            </a:r>
            <a:r>
              <a:rPr lang="en-US" sz="1200" b="1" kern="1200" dirty="0">
                <a:solidFill>
                  <a:schemeClr val="tx1"/>
                </a:solidFill>
                <a:latin typeface="Times New Roman" pitchFamily="-1" charset="0"/>
                <a:ea typeface="ＭＳ Ｐゴシック" pitchFamily="-1" charset="-128"/>
                <a:cs typeface="+mn-cs"/>
              </a:rPr>
              <a:t>Data registers </a:t>
            </a:r>
            <a:r>
              <a:rPr lang="en-US" sz="1200" kern="1200" dirty="0">
                <a:solidFill>
                  <a:schemeClr val="tx1"/>
                </a:solidFill>
                <a:latin typeface="Times New Roman" pitchFamily="-1" charset="0"/>
                <a:ea typeface="ＭＳ Ｐゴシック" pitchFamily="-1" charset="-128"/>
                <a:cs typeface="+mn-cs"/>
              </a:rPr>
              <a:t>may be used only to hold data and cannot be employed in the</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ＭＳ Ｐゴシック" pitchFamily="-1" charset="-128"/>
                <a:cs typeface="+mn-cs"/>
              </a:rPr>
              <a:t>calculation of an operand address. </a:t>
            </a:r>
            <a:r>
              <a:rPr lang="en-US" sz="1200" b="1" kern="1200" dirty="0">
                <a:solidFill>
                  <a:schemeClr val="tx1"/>
                </a:solidFill>
                <a:latin typeface="Times New Roman" pitchFamily="-1" charset="0"/>
                <a:ea typeface="+mn-ea"/>
                <a:cs typeface="+mn-cs"/>
              </a:rPr>
              <a:t> Address registers </a:t>
            </a:r>
            <a:r>
              <a:rPr lang="en-US" sz="1200" kern="1200" dirty="0">
                <a:solidFill>
                  <a:schemeClr val="tx1"/>
                </a:solidFill>
                <a:latin typeface="Times New Roman" pitchFamily="-1" charset="0"/>
                <a:ea typeface="+mn-ea"/>
                <a:cs typeface="+mn-cs"/>
              </a:rPr>
              <a:t>may themselves be somewhat general purpose, or they may be </a:t>
            </a:r>
            <a:endParaRPr lang="en-US" dirty="0"/>
          </a:p>
          <a:p>
            <a:r>
              <a:rPr lang="en-US" sz="1200" kern="1200" dirty="0">
                <a:solidFill>
                  <a:schemeClr val="tx1"/>
                </a:solidFill>
                <a:latin typeface="Times New Roman" pitchFamily="-1" charset="0"/>
                <a:ea typeface="+mn-ea"/>
                <a:cs typeface="+mn-cs"/>
              </a:rPr>
              <a:t>devoted to a particular addressing mode. Examples include the following: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Segment pointers: </a:t>
            </a:r>
            <a:r>
              <a:rPr lang="en-US" sz="1200" kern="1200" dirty="0">
                <a:solidFill>
                  <a:schemeClr val="tx1"/>
                </a:solidFill>
                <a:latin typeface="Times New Roman" pitchFamily="-1" charset="0"/>
                <a:ea typeface="+mn-ea"/>
                <a:cs typeface="+mn-cs"/>
              </a:rPr>
              <a:t>In a machine with segmented addressing (see Section 9.3), a segment register holds the address of the base of the segment. There may be multiple registers: for example, one for the operating system and one for the current process.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Index registers: </a:t>
            </a:r>
            <a:r>
              <a:rPr lang="en-US" sz="1200" kern="1200" dirty="0">
                <a:solidFill>
                  <a:schemeClr val="tx1"/>
                </a:solidFill>
                <a:latin typeface="Times New Roman" pitchFamily="-1" charset="0"/>
                <a:ea typeface="+mn-ea"/>
                <a:cs typeface="+mn-cs"/>
              </a:rPr>
              <a:t>These are used for indexed addressing and may be autoindexed.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Stack pointer: </a:t>
            </a:r>
            <a:r>
              <a:rPr lang="en-US" sz="1200" kern="1200" dirty="0">
                <a:solidFill>
                  <a:schemeClr val="tx1"/>
                </a:solidFill>
                <a:latin typeface="Times New Roman" pitchFamily="-1" charset="0"/>
                <a:ea typeface="+mn-ea"/>
                <a:cs typeface="+mn-cs"/>
              </a:rPr>
              <a:t>If there is user-visible stack addressing, then typically there is a dedicated register that points to the top of the stack. This allows implicit ad- dressing; that is, push, pop, and other stack instructions need not contain an explicit stack operand. </a:t>
            </a:r>
          </a:p>
          <a:p>
            <a:pPr lvl="1"/>
            <a:endParaRPr lang="en-US" sz="1200" b="1" kern="1200" dirty="0">
              <a:solidFill>
                <a:schemeClr val="tx1"/>
              </a:solidFill>
              <a:latin typeface="Times New Roman" pitchFamily="-1" charset="0"/>
              <a:ea typeface="ＭＳ Ｐゴシック" pitchFamily="-1" charset="-128"/>
              <a:cs typeface="+mn-cs"/>
            </a:endParaRPr>
          </a:p>
          <a:p>
            <a:r>
              <a:rPr lang="en-US" sz="1200" kern="1200" dirty="0">
                <a:solidFill>
                  <a:schemeClr val="tx1"/>
                </a:solidFill>
                <a:latin typeface="Times New Roman" pitchFamily="-1" charset="0"/>
                <a:ea typeface="+mn-ea"/>
                <a:cs typeface="+mn-cs"/>
              </a:rPr>
              <a:t>There are several design issues to be addressed here. An important issue is whether to use completely general-purpose registers or to specialize their use. We have already touched on this issue in the preceding chapter because it affects instruction set design. With the use of specialized registers, it can generally be implicit in the opcode which type of register a certain operand specifier refers to. The operand specifier must only identify one of a set of specialized registers rather than one out of all the registers, thus saving bits. On the other hand, this specialization limits the programmer’s flexibility.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effectLst/>
                <a:latin typeface="Times New Roman" pitchFamily="-1" charset="0"/>
                <a:ea typeface="+mn-ea"/>
                <a:cs typeface="+mn-cs"/>
              </a:rPr>
              <a:t> Another design issue is the number of registers, either general purpose or data</a:t>
            </a:r>
          </a:p>
          <a:p>
            <a:r>
              <a:rPr lang="en-US" sz="1200" kern="1200" dirty="0">
                <a:solidFill>
                  <a:schemeClr val="tx1"/>
                </a:solidFill>
                <a:effectLst/>
                <a:latin typeface="Times New Roman" pitchFamily="-1" charset="0"/>
                <a:ea typeface="+mn-ea"/>
                <a:cs typeface="+mn-cs"/>
              </a:rPr>
              <a:t>plus address, to be provided. Again, this affects instruction set design because more</a:t>
            </a:r>
          </a:p>
          <a:p>
            <a:r>
              <a:rPr lang="en-US" sz="1200" kern="1200" dirty="0">
                <a:solidFill>
                  <a:schemeClr val="tx1"/>
                </a:solidFill>
                <a:effectLst/>
                <a:latin typeface="Times New Roman" pitchFamily="-1" charset="0"/>
                <a:ea typeface="+mn-ea"/>
                <a:cs typeface="+mn-cs"/>
              </a:rPr>
              <a:t>registers require more operand specifier bits. As we previously discussed, somewhere</a:t>
            </a:r>
          </a:p>
          <a:p>
            <a:r>
              <a:rPr lang="en-US" sz="1200" kern="1200" dirty="0">
                <a:solidFill>
                  <a:schemeClr val="tx1"/>
                </a:solidFill>
                <a:effectLst/>
                <a:latin typeface="Times New Roman" pitchFamily="-1" charset="0"/>
                <a:ea typeface="+mn-ea"/>
                <a:cs typeface="+mn-cs"/>
              </a:rPr>
              <a:t>between 8 and 32 registers appears optimum [LUND77]. Fewer registers</a:t>
            </a:r>
          </a:p>
          <a:p>
            <a:r>
              <a:rPr lang="en-US" sz="1200" kern="1200" dirty="0">
                <a:solidFill>
                  <a:schemeClr val="tx1"/>
                </a:solidFill>
                <a:effectLst/>
                <a:latin typeface="Times New Roman" pitchFamily="-1" charset="0"/>
                <a:ea typeface="+mn-ea"/>
                <a:cs typeface="+mn-cs"/>
              </a:rPr>
              <a:t>result in more memory references; more registers do not noticeably reduce memory</a:t>
            </a:r>
          </a:p>
          <a:p>
            <a:r>
              <a:rPr lang="en-US" sz="1200" kern="1200" dirty="0">
                <a:solidFill>
                  <a:schemeClr val="tx1"/>
                </a:solidFill>
                <a:effectLst/>
                <a:latin typeface="Times New Roman" pitchFamily="-1" charset="0"/>
                <a:ea typeface="+mn-ea"/>
                <a:cs typeface="+mn-cs"/>
              </a:rPr>
              <a:t>references (e.g., see [WILL90]). However, a new approach, which finds advantage</a:t>
            </a:r>
          </a:p>
          <a:p>
            <a:r>
              <a:rPr lang="en-US" sz="1200" kern="1200" dirty="0">
                <a:solidFill>
                  <a:schemeClr val="tx1"/>
                </a:solidFill>
                <a:effectLst/>
                <a:latin typeface="Times New Roman" pitchFamily="-1" charset="0"/>
                <a:ea typeface="+mn-ea"/>
                <a:cs typeface="+mn-cs"/>
              </a:rPr>
              <a:t>in the use of hundreds of registers, is exhibited in some RISC systems and is discussed</a:t>
            </a:r>
          </a:p>
          <a:p>
            <a:r>
              <a:rPr lang="en-US" sz="1200" kern="1200" dirty="0">
                <a:solidFill>
                  <a:schemeClr val="tx1"/>
                </a:solidFill>
                <a:effectLst/>
                <a:latin typeface="Times New Roman" pitchFamily="-1" charset="0"/>
                <a:ea typeface="+mn-ea"/>
                <a:cs typeface="+mn-cs"/>
              </a:rPr>
              <a:t>in Chapter 17.</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Finally, there is the issue of register length. Registers that must hold addresses obviously must be at least long enough to hold the largest address. Data registers should be able to hold values of most data types. Some machines allow two contiguous registers to be used as one for holding double-length values.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 final category of registers, which is at least partially visible to the user, holds </a:t>
            </a:r>
            <a:r>
              <a:rPr lang="en-US" sz="1200" b="1" kern="1200" dirty="0">
                <a:solidFill>
                  <a:schemeClr val="tx1"/>
                </a:solidFill>
                <a:latin typeface="Times New Roman" pitchFamily="-1" charset="0"/>
                <a:ea typeface="+mn-ea"/>
                <a:cs typeface="+mn-cs"/>
              </a:rPr>
              <a:t>condition codes </a:t>
            </a:r>
            <a:r>
              <a:rPr lang="en-US" sz="1200" kern="1200" dirty="0">
                <a:solidFill>
                  <a:schemeClr val="tx1"/>
                </a:solidFill>
                <a:latin typeface="Times New Roman" pitchFamily="-1" charset="0"/>
                <a:ea typeface="+mn-ea"/>
                <a:cs typeface="+mn-cs"/>
              </a:rPr>
              <a:t>(also referred to as </a:t>
            </a:r>
            <a:r>
              <a:rPr lang="en-US" sz="1200" i="1" kern="1200" dirty="0">
                <a:solidFill>
                  <a:schemeClr val="tx1"/>
                </a:solidFill>
                <a:latin typeface="Times New Roman" pitchFamily="-1" charset="0"/>
                <a:ea typeface="+mn-ea"/>
                <a:cs typeface="+mn-cs"/>
              </a:rPr>
              <a:t>flags). </a:t>
            </a:r>
            <a:r>
              <a:rPr lang="en-US" sz="1200" kern="1200" dirty="0">
                <a:solidFill>
                  <a:schemeClr val="tx1"/>
                </a:solidFill>
                <a:latin typeface="Times New Roman" pitchFamily="-1" charset="0"/>
                <a:ea typeface="+mn-ea"/>
                <a:cs typeface="+mn-cs"/>
              </a:rPr>
              <a:t>Condition codes are bits set by the processor hardware as the result of operations. For example, an arithmetic operation may produce a positive, negative, zero, or overflow result. In addition to the result itself being stored in a register or memory, a condition code is also set. The code may subsequently be tested as part of a conditional branch operation.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Condition code bits are collected into one or more registers. Usually, they form part of a control register. Generally, machine instructions allow these bits to be read by implicit reference, but the programmer cannot alter them. </a:t>
            </a:r>
            <a:endParaRPr lang="en-US" dirty="0"/>
          </a:p>
          <a:p>
            <a:endParaRPr lang="en-US" dirty="0"/>
          </a:p>
          <a:p>
            <a:pPr lvl="1"/>
            <a:endParaRPr lang="en-US" sz="1200" b="1" kern="1200" dirty="0">
              <a:solidFill>
                <a:schemeClr val="tx1"/>
              </a:solidFill>
              <a:latin typeface="Times New Roman" pitchFamily="-1" charset="0"/>
              <a:ea typeface="ＭＳ Ｐゴシック" pitchFamily="-1" charset="-128"/>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451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30</a:t>
            </a:r>
          </a:p>
        </p:txBody>
      </p:sp>
      <p:sp>
        <p:nvSpPr>
          <p:cNvPr id="6451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451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4518" name="Rectangle 6"/>
          <p:cNvSpPr>
            <a:spLocks noGrp="1" noRot="1" noChangeAspect="1" noChangeArrowheads="1" noTextEdit="1"/>
          </p:cNvSpPr>
          <p:nvPr>
            <p:ph type="sldImg"/>
          </p:nvPr>
        </p:nvSpPr>
        <p:spPr>
          <a:xfrm>
            <a:off x="1150938" y="692150"/>
            <a:ext cx="4556125" cy="3416300"/>
          </a:xfrm>
          <a:ln cap="flat"/>
        </p:spPr>
      </p:sp>
      <p:sp>
        <p:nvSpPr>
          <p:cNvPr id="64519"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There are a variety of processor registers that are employed to control the operation of the processor. Most of these, on most machines, are not visible to the user. Some of them may be visible to machine instructions executed in a control or operating system mode.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Of course, different machines will have different register organizations and use different terminology. We list here a reasonably complete list of register types, with a brief description.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Four registers are essential to instruction execution: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Program counter (PC): </a:t>
            </a:r>
            <a:r>
              <a:rPr lang="en-US" sz="1200" kern="1200" dirty="0">
                <a:solidFill>
                  <a:schemeClr val="tx1"/>
                </a:solidFill>
                <a:latin typeface="Times New Roman" pitchFamily="-1" charset="0"/>
                <a:ea typeface="+mn-ea"/>
                <a:cs typeface="+mn-cs"/>
              </a:rPr>
              <a:t>Contains the address of an instruction to be fetched.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Instruction register (IR): </a:t>
            </a:r>
            <a:r>
              <a:rPr lang="en-US" sz="1200" kern="1200" dirty="0">
                <a:solidFill>
                  <a:schemeClr val="tx1"/>
                </a:solidFill>
                <a:latin typeface="Times New Roman" pitchFamily="-1" charset="0"/>
                <a:ea typeface="+mn-ea"/>
                <a:cs typeface="+mn-cs"/>
              </a:rPr>
              <a:t>Contains the instruction most recently fetched.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Memory address register (MAR): </a:t>
            </a:r>
            <a:r>
              <a:rPr lang="en-US" sz="1200" kern="1200" dirty="0">
                <a:solidFill>
                  <a:schemeClr val="tx1"/>
                </a:solidFill>
                <a:latin typeface="Times New Roman" pitchFamily="-1" charset="0"/>
                <a:ea typeface="+mn-ea"/>
                <a:cs typeface="+mn-cs"/>
              </a:rPr>
              <a:t>Contains the address of a location in memory.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Memory buffer register (MBR): </a:t>
            </a:r>
            <a:r>
              <a:rPr lang="en-US" sz="1200" kern="1200" dirty="0">
                <a:solidFill>
                  <a:schemeClr val="tx1"/>
                </a:solidFill>
                <a:latin typeface="Times New Roman" pitchFamily="-1" charset="0"/>
                <a:ea typeface="+mn-ea"/>
                <a:cs typeface="+mn-cs"/>
              </a:rPr>
              <a:t>Contains a word of data to be written to memory or the word most recently read.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Not all processors have internal registers designated as MAR and MBR, but some equivalent buffering mechanism is needed whereby the bits to be transferred to the system bus are staged and the bits to be read from the data bus are temporarily stored.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Typically, the processor updates the PC after each instruction fetch so that the PC always points to the next instruction to be executed. A branch or skip instruction will also modify the contents of the PC. The fetched instruction is loaded into an IR, where the opcode and operand specifiers are analyzed. Data are exchanged with memory using the MAR and MBR. In a bus- organized system, the MAR connects directly to the address bus, and the MBR connects directly to the data bus. User-visible registers, in turn, exchange data with the MBR.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four registers just mentioned are used for the movement of data between the processor and memory. Within the processor, data must be presented to the ALU for processing. The ALU may have direct access to the MBR and user-visible registers. Alternatively, there may be additional buffering registers at the boundary to the ALU; these registers serve as input and output registers for the ALU and exchange data with the MBR and user-visible registers. </a:t>
            </a:r>
            <a:endParaRPr lang="en-US" dirty="0"/>
          </a:p>
          <a:p>
            <a:endParaRPr lang="en-US" sz="1200" kern="1200" dirty="0">
              <a:solidFill>
                <a:schemeClr val="tx1"/>
              </a:solidFill>
              <a:latin typeface="Times New Roman" pitchFamily="-1" charset="0"/>
              <a:ea typeface="+mn-ea"/>
              <a:cs typeface="+mn-cs"/>
            </a:endParaRPr>
          </a:p>
          <a:p>
            <a:endParaRPr lang="en-GB"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6563"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31</a:t>
            </a:r>
          </a:p>
        </p:txBody>
      </p:sp>
      <p:sp>
        <p:nvSpPr>
          <p:cNvPr id="66564"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6565"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6566" name="Rectangle 6"/>
          <p:cNvSpPr>
            <a:spLocks noGrp="1" noRot="1" noChangeAspect="1" noChangeArrowheads="1" noTextEdit="1"/>
          </p:cNvSpPr>
          <p:nvPr>
            <p:ph type="sldImg"/>
          </p:nvPr>
        </p:nvSpPr>
        <p:spPr>
          <a:xfrm>
            <a:off x="1150938" y="692150"/>
            <a:ext cx="4556125" cy="3416300"/>
          </a:xfrm>
          <a:ln cap="flat"/>
        </p:spPr>
      </p:sp>
      <p:sp>
        <p:nvSpPr>
          <p:cNvPr id="66567"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Many processor designs include a register or set of registers, often known as the </a:t>
            </a:r>
            <a:r>
              <a:rPr lang="en-US" sz="1200" i="1" kern="1200" dirty="0">
                <a:solidFill>
                  <a:schemeClr val="tx1"/>
                </a:solidFill>
                <a:latin typeface="Times New Roman" pitchFamily="-1" charset="0"/>
                <a:ea typeface="+mn-ea"/>
                <a:cs typeface="+mn-cs"/>
              </a:rPr>
              <a:t>program status word </a:t>
            </a:r>
            <a:r>
              <a:rPr lang="en-US" sz="1200" kern="1200" dirty="0">
                <a:solidFill>
                  <a:schemeClr val="tx1"/>
                </a:solidFill>
                <a:latin typeface="Times New Roman" pitchFamily="-1" charset="0"/>
                <a:ea typeface="+mn-ea"/>
                <a:cs typeface="+mn-cs"/>
              </a:rPr>
              <a:t>(PSW), that contain status information. The PSW typically contains condition codes plus other status information. Common fields or flags include the following: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Sign: </a:t>
            </a:r>
            <a:r>
              <a:rPr lang="en-US" sz="1200" kern="1200" dirty="0">
                <a:solidFill>
                  <a:schemeClr val="tx1"/>
                </a:solidFill>
                <a:latin typeface="Times New Roman" pitchFamily="-1" charset="0"/>
                <a:ea typeface="+mn-ea"/>
                <a:cs typeface="+mn-cs"/>
              </a:rPr>
              <a:t>Contains the sign bit of the result of the last arithmetic operation.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Zero: </a:t>
            </a:r>
            <a:r>
              <a:rPr lang="en-US" sz="1200" kern="1200" dirty="0">
                <a:solidFill>
                  <a:schemeClr val="tx1"/>
                </a:solidFill>
                <a:latin typeface="Times New Roman" pitchFamily="-1" charset="0"/>
                <a:ea typeface="+mn-ea"/>
                <a:cs typeface="+mn-cs"/>
              </a:rPr>
              <a:t>Set when the result is 0.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Carry: </a:t>
            </a:r>
            <a:r>
              <a:rPr lang="en-US" sz="1200" kern="1200" dirty="0">
                <a:solidFill>
                  <a:schemeClr val="tx1"/>
                </a:solidFill>
                <a:latin typeface="Times New Roman" pitchFamily="-1" charset="0"/>
                <a:ea typeface="+mn-ea"/>
                <a:cs typeface="+mn-cs"/>
              </a:rPr>
              <a:t>Set if an operation resulted in a carry (addition) into or borrow (sub- traction) out of a high-order bit. Used for multiword arithmetic operations.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Equal: </a:t>
            </a:r>
            <a:r>
              <a:rPr lang="en-US" sz="1200" kern="1200" dirty="0">
                <a:solidFill>
                  <a:schemeClr val="tx1"/>
                </a:solidFill>
                <a:latin typeface="Times New Roman" pitchFamily="-1" charset="0"/>
                <a:ea typeface="+mn-ea"/>
                <a:cs typeface="+mn-cs"/>
              </a:rPr>
              <a:t>Set if a logical compare result is equality.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Overflow: </a:t>
            </a:r>
            <a:r>
              <a:rPr lang="en-US" sz="1200" kern="1200" dirty="0">
                <a:solidFill>
                  <a:schemeClr val="tx1"/>
                </a:solidFill>
                <a:latin typeface="Times New Roman" pitchFamily="-1" charset="0"/>
                <a:ea typeface="+mn-ea"/>
                <a:cs typeface="+mn-cs"/>
              </a:rPr>
              <a:t>Used to indicate arithmetic overflow.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Interrupt Enable/Disable: </a:t>
            </a:r>
            <a:r>
              <a:rPr lang="en-US" sz="1200" kern="1200" dirty="0">
                <a:solidFill>
                  <a:schemeClr val="tx1"/>
                </a:solidFill>
                <a:latin typeface="Times New Roman" pitchFamily="-1" charset="0"/>
                <a:ea typeface="+mn-ea"/>
                <a:cs typeface="+mn-cs"/>
              </a:rPr>
              <a:t>Used to enable or disable interrupts.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Supervisor: </a:t>
            </a:r>
            <a:r>
              <a:rPr lang="en-US" sz="1200" kern="1200" dirty="0">
                <a:solidFill>
                  <a:schemeClr val="tx1"/>
                </a:solidFill>
                <a:latin typeface="Times New Roman" pitchFamily="-1" charset="0"/>
                <a:ea typeface="+mn-ea"/>
                <a:cs typeface="+mn-cs"/>
              </a:rPr>
              <a:t>Indicates whether the processor is executing in supervisor or user mode. Certain privileged instructions can be executed only in supervisor mode, and certain areas of memory can be accessed only in supervisor mode. </a:t>
            </a:r>
          </a:p>
          <a:p>
            <a:endParaRPr lang="en-GB" sz="1200" kern="1200" dirty="0">
              <a:solidFill>
                <a:schemeClr val="tx1"/>
              </a:solidFill>
              <a:latin typeface="Times New Roman" pitchFamily="-1" charset="0"/>
              <a:ea typeface="+mn-ea"/>
              <a:cs typeface="+mn-cs"/>
            </a:endParaRPr>
          </a:p>
          <a:p>
            <a:r>
              <a:rPr lang="en-GB" sz="1200" kern="1200" dirty="0">
                <a:solidFill>
                  <a:schemeClr val="tx1"/>
                </a:solidFill>
                <a:effectLst/>
                <a:latin typeface="Times New Roman" pitchFamily="-1" charset="0"/>
                <a:ea typeface="+mn-ea"/>
                <a:cs typeface="+mn-cs"/>
              </a:rPr>
              <a:t> A number of other registers related to status and control might be found in a</a:t>
            </a:r>
          </a:p>
          <a:p>
            <a:r>
              <a:rPr lang="en-GB" sz="1200" kern="1200" dirty="0">
                <a:solidFill>
                  <a:schemeClr val="tx1"/>
                </a:solidFill>
                <a:effectLst/>
                <a:latin typeface="Times New Roman" pitchFamily="-1" charset="0"/>
                <a:ea typeface="+mn-ea"/>
                <a:cs typeface="+mn-cs"/>
              </a:rPr>
              <a:t>particular processor design. There may be a pointer to a block of memory containing</a:t>
            </a:r>
          </a:p>
          <a:p>
            <a:r>
              <a:rPr lang="en-GB" sz="1200" kern="1200" dirty="0">
                <a:solidFill>
                  <a:schemeClr val="tx1"/>
                </a:solidFill>
                <a:effectLst/>
                <a:latin typeface="Times New Roman" pitchFamily="-1" charset="0"/>
                <a:ea typeface="+mn-ea"/>
                <a:cs typeface="+mn-cs"/>
              </a:rPr>
              <a:t>additional status information (e.g., process control blocks). In machines using</a:t>
            </a:r>
          </a:p>
          <a:p>
            <a:r>
              <a:rPr lang="en-GB" sz="1200" kern="1200" dirty="0">
                <a:solidFill>
                  <a:schemeClr val="tx1"/>
                </a:solidFill>
                <a:effectLst/>
                <a:latin typeface="Times New Roman" pitchFamily="-1" charset="0"/>
                <a:ea typeface="+mn-ea"/>
                <a:cs typeface="+mn-cs"/>
              </a:rPr>
              <a:t>vectored interrupts, an interrupt vector register may be provided. If a stack is used</a:t>
            </a:r>
          </a:p>
          <a:p>
            <a:r>
              <a:rPr lang="en-GB" sz="1200" kern="1200" dirty="0">
                <a:solidFill>
                  <a:schemeClr val="tx1"/>
                </a:solidFill>
                <a:effectLst/>
                <a:latin typeface="Times New Roman" pitchFamily="-1" charset="0"/>
                <a:ea typeface="+mn-ea"/>
                <a:cs typeface="+mn-cs"/>
              </a:rPr>
              <a:t>to implement certain functions (e.g., subroutine call), then a system stack pointer is</a:t>
            </a:r>
          </a:p>
          <a:p>
            <a:r>
              <a:rPr lang="en-GB" sz="1200" kern="1200" dirty="0">
                <a:solidFill>
                  <a:schemeClr val="tx1"/>
                </a:solidFill>
                <a:effectLst/>
                <a:latin typeface="Times New Roman" pitchFamily="-1" charset="0"/>
                <a:ea typeface="+mn-ea"/>
                <a:cs typeface="+mn-cs"/>
              </a:rPr>
              <a:t>needed. A page table pointer is used with a virtual memory system. Finally, registers</a:t>
            </a:r>
          </a:p>
          <a:p>
            <a:r>
              <a:rPr lang="en-GB" sz="1200" kern="1200" dirty="0">
                <a:solidFill>
                  <a:schemeClr val="tx1"/>
                </a:solidFill>
                <a:effectLst/>
                <a:latin typeface="Times New Roman" pitchFamily="-1" charset="0"/>
                <a:ea typeface="+mn-ea"/>
                <a:cs typeface="+mn-cs"/>
              </a:rPr>
              <a:t>may be used in the control of I/O operations.</a:t>
            </a:r>
          </a:p>
          <a:p>
            <a:endParaRPr lang="en-GB" sz="1200" kern="1200" dirty="0">
              <a:solidFill>
                <a:schemeClr val="tx1"/>
              </a:solidFill>
              <a:effectLst/>
              <a:latin typeface="Times New Roman" pitchFamily="-1" charset="0"/>
              <a:ea typeface="+mn-ea"/>
              <a:cs typeface="+mn-cs"/>
            </a:endParaRPr>
          </a:p>
          <a:p>
            <a:r>
              <a:rPr lang="en-GB" sz="1200" kern="1200" dirty="0">
                <a:solidFill>
                  <a:schemeClr val="tx1"/>
                </a:solidFill>
                <a:effectLst/>
                <a:latin typeface="Times New Roman" pitchFamily="-1" charset="0"/>
                <a:ea typeface="+mn-ea"/>
                <a:cs typeface="+mn-cs"/>
              </a:rPr>
              <a:t>A number of factors go into the design of the control and status register organization.</a:t>
            </a:r>
          </a:p>
          <a:p>
            <a:r>
              <a:rPr lang="en-GB" sz="1200" kern="1200" dirty="0">
                <a:solidFill>
                  <a:schemeClr val="tx1"/>
                </a:solidFill>
                <a:effectLst/>
                <a:latin typeface="Times New Roman" pitchFamily="-1" charset="0"/>
                <a:ea typeface="+mn-ea"/>
                <a:cs typeface="+mn-cs"/>
              </a:rPr>
              <a:t>One key issue is operating system support. Certain types of control information</a:t>
            </a:r>
          </a:p>
          <a:p>
            <a:r>
              <a:rPr lang="en-GB" sz="1200" kern="1200" dirty="0">
                <a:solidFill>
                  <a:schemeClr val="tx1"/>
                </a:solidFill>
                <a:effectLst/>
                <a:latin typeface="Times New Roman" pitchFamily="-1" charset="0"/>
                <a:ea typeface="+mn-ea"/>
                <a:cs typeface="+mn-cs"/>
              </a:rPr>
              <a:t>are of specific utility to the operating system. If the processor designer has</a:t>
            </a:r>
          </a:p>
          <a:p>
            <a:r>
              <a:rPr lang="en-GB" sz="1200" kern="1200" dirty="0">
                <a:solidFill>
                  <a:schemeClr val="tx1"/>
                </a:solidFill>
                <a:effectLst/>
                <a:latin typeface="Times New Roman" pitchFamily="-1" charset="0"/>
                <a:ea typeface="+mn-ea"/>
                <a:cs typeface="+mn-cs"/>
              </a:rPr>
              <a:t>a functional understanding of the operating system to be used, then the register</a:t>
            </a:r>
          </a:p>
          <a:p>
            <a:r>
              <a:rPr lang="en-GB" sz="1200" kern="1200" dirty="0">
                <a:solidFill>
                  <a:schemeClr val="tx1"/>
                </a:solidFill>
                <a:effectLst/>
                <a:latin typeface="Times New Roman" pitchFamily="-1" charset="0"/>
                <a:ea typeface="+mn-ea"/>
                <a:cs typeface="+mn-cs"/>
              </a:rPr>
              <a:t>organization can to some extent be tailored to the operating system.</a:t>
            </a:r>
          </a:p>
          <a:p>
            <a:endParaRPr lang="en-GB" sz="1200" kern="1200" dirty="0">
              <a:solidFill>
                <a:schemeClr val="tx1"/>
              </a:solidFill>
              <a:effectLst/>
              <a:latin typeface="Times New Roman" pitchFamily="-1" charset="0"/>
              <a:ea typeface="+mn-ea"/>
              <a:cs typeface="+mn-cs"/>
            </a:endParaRPr>
          </a:p>
          <a:p>
            <a:r>
              <a:rPr lang="en-GB" sz="1200" kern="1200" dirty="0">
                <a:solidFill>
                  <a:schemeClr val="tx1"/>
                </a:solidFill>
                <a:effectLst/>
                <a:latin typeface="Times New Roman" pitchFamily="-1" charset="0"/>
                <a:ea typeface="+mn-ea"/>
                <a:cs typeface="+mn-cs"/>
              </a:rPr>
              <a:t>Another key design decision is the allocation of control information between</a:t>
            </a:r>
          </a:p>
          <a:p>
            <a:r>
              <a:rPr lang="en-GB" sz="1200" kern="1200" dirty="0">
                <a:solidFill>
                  <a:schemeClr val="tx1"/>
                </a:solidFill>
                <a:effectLst/>
                <a:latin typeface="Times New Roman" pitchFamily="-1" charset="0"/>
                <a:ea typeface="+mn-ea"/>
                <a:cs typeface="+mn-cs"/>
              </a:rPr>
              <a:t>registers and memory. It is common to dedicate the first (lowest) few hundred or</a:t>
            </a:r>
          </a:p>
          <a:p>
            <a:r>
              <a:rPr lang="en-GB" sz="1200" kern="1200" dirty="0">
                <a:solidFill>
                  <a:schemeClr val="tx1"/>
                </a:solidFill>
                <a:effectLst/>
                <a:latin typeface="Times New Roman" pitchFamily="-1" charset="0"/>
                <a:ea typeface="+mn-ea"/>
                <a:cs typeface="+mn-cs"/>
              </a:rPr>
              <a:t>thousand words of memory for control purposes. The designer must decide how</a:t>
            </a:r>
          </a:p>
          <a:p>
            <a:r>
              <a:rPr lang="en-GB" sz="1200" kern="1200" dirty="0">
                <a:solidFill>
                  <a:schemeClr val="tx1"/>
                </a:solidFill>
                <a:effectLst/>
                <a:latin typeface="Times New Roman" pitchFamily="-1" charset="0"/>
                <a:ea typeface="+mn-ea"/>
                <a:cs typeface="+mn-cs"/>
              </a:rPr>
              <a:t>much control information should be in registers and how much in memory. The</a:t>
            </a:r>
          </a:p>
          <a:p>
            <a:r>
              <a:rPr lang="en-GB" sz="1200" kern="1200" dirty="0">
                <a:solidFill>
                  <a:schemeClr val="tx1"/>
                </a:solidFill>
                <a:effectLst/>
                <a:latin typeface="Times New Roman" pitchFamily="-1" charset="0"/>
                <a:ea typeface="+mn-ea"/>
                <a:cs typeface="+mn-cs"/>
              </a:rPr>
              <a:t>usual trade-off of cost versus speed arises.</a:t>
            </a:r>
          </a:p>
          <a:p>
            <a:endParaRPr lang="en-GB"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Rot="1" noChangeAspect="1" noChangeArrowheads="1" noTextEdit="1"/>
          </p:cNvSpPr>
          <p:nvPr>
            <p:ph type="sldImg"/>
          </p:nvPr>
        </p:nvSpPr>
        <p:spPr>
          <a:xfrm>
            <a:off x="1150938" y="692150"/>
            <a:ext cx="4556125" cy="3416300"/>
          </a:xfrm>
          <a:ln/>
        </p:spPr>
      </p:sp>
      <p:sp>
        <p:nvSpPr>
          <p:cNvPr id="120835" name="Rectangle 3"/>
          <p:cNvSpPr>
            <a:spLocks noGrp="1" noChangeArrowheads="1"/>
          </p:cNvSpPr>
          <p:nvPr>
            <p:ph type="body" idx="1"/>
          </p:nvPr>
        </p:nvSpPr>
        <p:spPr/>
        <p:txBody>
          <a:bodyPr/>
          <a:lstStyle/>
          <a:p>
            <a:r>
              <a:rPr lang="en-US" sz="1200" kern="1200" dirty="0">
                <a:solidFill>
                  <a:schemeClr val="tx1"/>
                </a:solidFill>
                <a:latin typeface="Times New Roman" pitchFamily="-1" charset="0"/>
                <a:ea typeface="+mn-ea"/>
                <a:cs typeface="+mn-cs"/>
              </a:rPr>
              <a:t>It is instructive to examine and compare the register organization of comparable systems. In this section, we look at two 16-bit microprocessors that were designed at about the same time: the Motorola MC68000 [STRI79] and the Intel 8086 [MORS78]. Figures 16.2a and b depict the register organization of each; purely internal registers, such as a memory address register, are not shown.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MC68000 partitions its 32-bit registers into eight data registers and nine address registers. The eight data registers are used primarily for data manipulation and are also used in addressing as index registers. The width of the registers allows 8-, 16-, and 32-bit data operations, determined by opcode. The address registers contain 32-bit (no segmentation) addresses; two of these registers are also used as stack pointers, one for users and one for the operating system, depending on the current execution mode. Both registers are numbered 7, because only one can be used at a time. The MC68000 also includes a 32-bit program counter and a 16-bit status register.</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effectLst/>
                <a:latin typeface="Times New Roman" pitchFamily="-1" charset="0"/>
                <a:ea typeface="+mn-ea"/>
                <a:cs typeface="+mn-cs"/>
              </a:rPr>
              <a:t>The Motorola team wanted a very regular instruction set, with no special-purpose</a:t>
            </a:r>
          </a:p>
          <a:p>
            <a:r>
              <a:rPr lang="en-US" sz="1200" kern="1200" dirty="0">
                <a:solidFill>
                  <a:schemeClr val="tx1"/>
                </a:solidFill>
                <a:effectLst/>
                <a:latin typeface="Times New Roman" pitchFamily="-1" charset="0"/>
                <a:ea typeface="+mn-ea"/>
                <a:cs typeface="+mn-cs"/>
              </a:rPr>
              <a:t>registers. A concern for code efficiency led them to divide the registers into</a:t>
            </a:r>
          </a:p>
          <a:p>
            <a:r>
              <a:rPr lang="en-US" sz="1200" kern="1200" dirty="0">
                <a:solidFill>
                  <a:schemeClr val="tx1"/>
                </a:solidFill>
                <a:effectLst/>
                <a:latin typeface="Times New Roman" pitchFamily="-1" charset="0"/>
                <a:ea typeface="+mn-ea"/>
                <a:cs typeface="+mn-cs"/>
              </a:rPr>
              <a:t>two functional components, saving one bit on each register specifier. This seems a</a:t>
            </a:r>
          </a:p>
          <a:p>
            <a:r>
              <a:rPr lang="en-US" sz="1200" kern="1200" dirty="0">
                <a:solidFill>
                  <a:schemeClr val="tx1"/>
                </a:solidFill>
                <a:effectLst/>
                <a:latin typeface="Times New Roman" pitchFamily="-1" charset="0"/>
                <a:ea typeface="+mn-ea"/>
                <a:cs typeface="+mn-cs"/>
              </a:rPr>
              <a:t>reasonable compromise between complete generality and code compaction.</a:t>
            </a:r>
            <a:endParaRPr lang="en-US" sz="1200" kern="1200" dirty="0">
              <a:solidFill>
                <a:schemeClr val="tx1"/>
              </a:solidFill>
              <a:latin typeface="Times New Roman" pitchFamily="-1" charset="0"/>
              <a:ea typeface="+mn-ea"/>
              <a:cs typeface="+mn-cs"/>
            </a:endParaRP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Intel 8086 takes a different approach to register organization. Every register is special purpose, although some registers are also usable as general purpose. The 8086 contains four 16-bit data registers that are addressable on a byte or 16-bit basis, and four 16-bit pointer and index registers. The data registers can be used as general purpose in some instructions. In others, the registers are used implicitly. For example, a multiply instruction always uses the accumulator. The four pointer registers are also used implicitly in a number of operations; each contains a segment offset. There are also four 16-bit segment registers. Three of the four segment registers are used in a dedicated, implicit fashion, to point to the segment of the current instruction (useful for branch instructions), a segment containing data, and a segment containing a stack, respectively. These dedicated and implicit uses provide for compact encoding at the cost of reduced flexibility. The 8086 also includes an instruction pointer and a set of 1-bit status and control flags.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point of this comparison should be clear. There is no universally accepted philosophy concerning the best way to organize processor registers [TOON81]. As with overall instruction set design and so many other processor design issues, it is still a matter of judgment and taste.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 second instructive point concerning register organization design is illustrated in Figure 16.3c. This figure shows the user-visible register organization for the Intel 80386 [ELAY85], which is a 32-bit microprocessor designed as an extension of the 8086. The 80386 uses 32-bit registers. However, to provide upward compatibility for programs written on the earlier machine, the 80386 retains the original register organization embedded in the new organization. Given this design constraint, the architects of the 32-bit processors had limited flexibility in designing the register organization. </a:t>
            </a:r>
            <a:endParaRPr lang="en-US" dirty="0"/>
          </a:p>
          <a:p>
            <a:r>
              <a:rPr lang="en-US" sz="1200" kern="1200" dirty="0">
                <a:solidFill>
                  <a:schemeClr val="tx1"/>
                </a:solidFill>
                <a:latin typeface="Times New Roman" pitchFamily="-1" charset="0"/>
                <a:ea typeface="+mn-ea"/>
                <a:cs typeface="+mn-cs"/>
              </a:rPr>
              <a:t> </a:t>
            </a:r>
            <a:endParaRPr lang="en-US" dirty="0"/>
          </a:p>
          <a:p>
            <a:endParaRPr lang="en-GB"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475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35</a:t>
            </a:r>
          </a:p>
        </p:txBody>
      </p:sp>
      <p:sp>
        <p:nvSpPr>
          <p:cNvPr id="7475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475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4758" name="Rectangle 6"/>
          <p:cNvSpPr>
            <a:spLocks noGrp="1" noRot="1" noChangeAspect="1" noChangeArrowheads="1" noTextEdit="1"/>
          </p:cNvSpPr>
          <p:nvPr>
            <p:ph type="sldImg"/>
          </p:nvPr>
        </p:nvSpPr>
        <p:spPr>
          <a:xfrm>
            <a:off x="1150938" y="692150"/>
            <a:ext cx="4556125" cy="3416300"/>
          </a:xfrm>
          <a:ln cap="flat"/>
        </p:spPr>
      </p:sp>
      <p:sp>
        <p:nvSpPr>
          <p:cNvPr id="74759"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In Section 3.2, we described the processor’s instruction cycle (Figure 3.9). To recall, an instruction cycle includes the following stages: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Fetch: </a:t>
            </a:r>
            <a:r>
              <a:rPr lang="en-US" sz="1200" kern="1200" dirty="0">
                <a:solidFill>
                  <a:schemeClr val="tx1"/>
                </a:solidFill>
                <a:latin typeface="Times New Roman" pitchFamily="-1" charset="0"/>
                <a:ea typeface="+mn-ea"/>
                <a:cs typeface="+mn-cs"/>
              </a:rPr>
              <a:t>Read the next instruction from memory into the processor.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Execute: </a:t>
            </a:r>
            <a:r>
              <a:rPr lang="en-US" sz="1200" kern="1200" dirty="0">
                <a:solidFill>
                  <a:schemeClr val="tx1"/>
                </a:solidFill>
                <a:latin typeface="Times New Roman" pitchFamily="-1" charset="0"/>
                <a:ea typeface="+mn-ea"/>
                <a:cs typeface="+mn-cs"/>
              </a:rPr>
              <a:t>Interpret the opcode and perform the indicated operation.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Interrupt: </a:t>
            </a:r>
            <a:r>
              <a:rPr lang="en-US" sz="1200" kern="1200" dirty="0">
                <a:solidFill>
                  <a:schemeClr val="tx1"/>
                </a:solidFill>
                <a:latin typeface="Times New Roman" pitchFamily="-1" charset="0"/>
                <a:ea typeface="+mn-ea"/>
                <a:cs typeface="+mn-cs"/>
              </a:rPr>
              <a:t>If interrupts are enabled and an interrupt has occurred, save the current process state and service the interrupt.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We are now in a position to elaborate somewhat on the instruction cycle. First, we must introduce one additional stage, known as the indirect cycle. </a:t>
            </a:r>
          </a:p>
          <a:p>
            <a:endParaRPr lang="en-GB"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Rot="1" noChangeAspect="1" noChangeArrowheads="1" noTextEdit="1"/>
          </p:cNvSpPr>
          <p:nvPr>
            <p:ph type="sldImg"/>
          </p:nvPr>
        </p:nvSpPr>
        <p:spPr>
          <a:xfrm>
            <a:off x="1150938" y="692150"/>
            <a:ext cx="4556125" cy="3416300"/>
          </a:xfrm>
          <a:ln/>
        </p:spPr>
      </p:sp>
      <p:sp>
        <p:nvSpPr>
          <p:cNvPr id="122883" name="Rectangle 3"/>
          <p:cNvSpPr>
            <a:spLocks noGrp="1" noChangeArrowheads="1"/>
          </p:cNvSpPr>
          <p:nvPr>
            <p:ph type="body" idx="1"/>
          </p:nvPr>
        </p:nvSpPr>
        <p:spPr/>
        <p:txBody>
          <a:bodyPr/>
          <a:lstStyle/>
          <a:p>
            <a:r>
              <a:rPr lang="en-US" sz="1200" kern="1200" dirty="0">
                <a:solidFill>
                  <a:schemeClr val="tx1"/>
                </a:solidFill>
                <a:latin typeface="Times New Roman" pitchFamily="-1" charset="0"/>
                <a:ea typeface="+mn-ea"/>
                <a:cs typeface="+mn-cs"/>
              </a:rPr>
              <a:t>We have seen, in Chapter 14, that the execution of an instruction may involve one or more operands in memory, each of which requires a memory access. Further, if indirect addressing is used, then additional memory accesses are required. </a:t>
            </a:r>
            <a:endParaRPr lang="en-US" dirty="0"/>
          </a:p>
          <a:p>
            <a:endParaRPr lang="en-US" sz="1200" kern="1200" dirty="0">
              <a:solidFill>
                <a:schemeClr val="tx1"/>
              </a:solidFill>
              <a:effectLst/>
              <a:latin typeface="Times New Roman" pitchFamily="-1" charset="0"/>
              <a:ea typeface="+mn-ea"/>
              <a:cs typeface="+mn-cs"/>
            </a:endParaRPr>
          </a:p>
          <a:p>
            <a:r>
              <a:rPr lang="en-US" sz="1200" kern="1200" dirty="0">
                <a:solidFill>
                  <a:schemeClr val="tx1"/>
                </a:solidFill>
                <a:effectLst/>
                <a:latin typeface="Times New Roman" pitchFamily="-1" charset="0"/>
                <a:ea typeface="+mn-ea"/>
                <a:cs typeface="+mn-cs"/>
              </a:rPr>
              <a:t>We can think of the fetching of indirect addresses as one or more instruction</a:t>
            </a:r>
          </a:p>
          <a:p>
            <a:r>
              <a:rPr lang="en-US" sz="1200" kern="1200" dirty="0">
                <a:solidFill>
                  <a:schemeClr val="tx1"/>
                </a:solidFill>
                <a:effectLst/>
                <a:latin typeface="Times New Roman" pitchFamily="-1" charset="0"/>
                <a:ea typeface="+mn-ea"/>
                <a:cs typeface="+mn-cs"/>
              </a:rPr>
              <a:t>stages. The result is shown in Figure 16.3. The main line of activity consists of alternating</a:t>
            </a:r>
          </a:p>
          <a:p>
            <a:r>
              <a:rPr lang="en-US" sz="1200" kern="1200" dirty="0">
                <a:solidFill>
                  <a:schemeClr val="tx1"/>
                </a:solidFill>
                <a:effectLst/>
                <a:latin typeface="Times New Roman" pitchFamily="-1" charset="0"/>
                <a:ea typeface="+mn-ea"/>
                <a:cs typeface="+mn-cs"/>
              </a:rPr>
              <a:t>instruction fetch and instruction execution activities. After an instruction is</a:t>
            </a:r>
          </a:p>
          <a:p>
            <a:r>
              <a:rPr lang="en-US" sz="1200" kern="1200" dirty="0">
                <a:solidFill>
                  <a:schemeClr val="tx1"/>
                </a:solidFill>
                <a:effectLst/>
                <a:latin typeface="Times New Roman" pitchFamily="-1" charset="0"/>
                <a:ea typeface="+mn-ea"/>
                <a:cs typeface="+mn-cs"/>
              </a:rPr>
              <a:t>fetched, it is examined to determine if any indirect addressing is involved. If so, the</a:t>
            </a:r>
          </a:p>
          <a:p>
            <a:r>
              <a:rPr lang="en-US" sz="1200" kern="1200" dirty="0">
                <a:solidFill>
                  <a:schemeClr val="tx1"/>
                </a:solidFill>
                <a:effectLst/>
                <a:latin typeface="Times New Roman" pitchFamily="-1" charset="0"/>
                <a:ea typeface="+mn-ea"/>
                <a:cs typeface="+mn-cs"/>
              </a:rPr>
              <a:t>required operands are fetched using indirect addressing. Following execution, an</a:t>
            </a:r>
          </a:p>
          <a:p>
            <a:r>
              <a:rPr lang="en-US" sz="1200" kern="1200" dirty="0">
                <a:solidFill>
                  <a:schemeClr val="tx1"/>
                </a:solidFill>
                <a:effectLst/>
                <a:latin typeface="Times New Roman" pitchFamily="-1" charset="0"/>
                <a:ea typeface="+mn-ea"/>
                <a:cs typeface="+mn-cs"/>
              </a:rPr>
              <a:t>interrupt may be processed before the next instruction</a:t>
            </a:r>
          </a:p>
          <a:p>
            <a:endParaRPr lang="en-GB"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Rot="1" noChangeAspect="1" noChangeArrowheads="1" noTextEdit="1"/>
          </p:cNvSpPr>
          <p:nvPr>
            <p:ph type="sldImg"/>
          </p:nvPr>
        </p:nvSpPr>
        <p:spPr>
          <a:xfrm>
            <a:off x="1150938" y="692150"/>
            <a:ext cx="4556125" cy="3416300"/>
          </a:xfrm>
          <a:ln/>
        </p:spPr>
      </p:sp>
      <p:sp>
        <p:nvSpPr>
          <p:cNvPr id="123907"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Another way to view this process is shown in Figure 16.4, which is a revised version of Figure 3.12. This illustrates more correctly the nature of the instruction cycle. Once an instruction is fetched, its operand specifiers must be identified. Each input operand in memory is then fetched, and this process may require indirect addressing. Register-based operands need not be fetched. Once the opcode is executed, a similar process may be needed to store the result in main memory. </a:t>
            </a:r>
            <a:endParaRPr lang="en-US" dirty="0"/>
          </a:p>
          <a:p>
            <a:endParaRPr lang="en-GB"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Rot="1" noChangeAspect="1" noChangeArrowheads="1" noTextEdit="1"/>
          </p:cNvSpPr>
          <p:nvPr>
            <p:ph type="sldImg"/>
          </p:nvPr>
        </p:nvSpPr>
        <p:spPr>
          <a:xfrm>
            <a:off x="1150938" y="692150"/>
            <a:ext cx="4556125" cy="3416300"/>
          </a:xfrm>
          <a:ln/>
        </p:spPr>
      </p:sp>
      <p:sp>
        <p:nvSpPr>
          <p:cNvPr id="124931" name="Rectangle 3"/>
          <p:cNvSpPr>
            <a:spLocks noGrp="1" noChangeArrowheads="1"/>
          </p:cNvSpPr>
          <p:nvPr>
            <p:ph type="body" idx="1"/>
          </p:nvPr>
        </p:nvSpPr>
        <p:spPr/>
        <p:txBody>
          <a:bodyPr/>
          <a:lstStyle/>
          <a:p>
            <a:r>
              <a:rPr lang="en-US" sz="1200" kern="1200" dirty="0">
                <a:solidFill>
                  <a:schemeClr val="tx1"/>
                </a:solidFill>
                <a:latin typeface="Times New Roman" pitchFamily="-1" charset="0"/>
                <a:ea typeface="+mn-ea"/>
                <a:cs typeface="+mn-cs"/>
              </a:rPr>
              <a:t>The exact sequence of events during an instruction cycle depends on the design of the processor. We can, however, indicate in general terms what must happen. Let us assume that a processor that employs a memory address register (MAR), a memory buffer register (MBR), a program counter (PC), and an instruction register (IR).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During the </a:t>
            </a:r>
            <a:r>
              <a:rPr lang="en-US" sz="1200" i="1" kern="1200" dirty="0">
                <a:solidFill>
                  <a:schemeClr val="tx1"/>
                </a:solidFill>
                <a:latin typeface="Times New Roman" pitchFamily="-1" charset="0"/>
                <a:ea typeface="+mn-ea"/>
                <a:cs typeface="+mn-cs"/>
              </a:rPr>
              <a:t>fetch cycle, </a:t>
            </a:r>
            <a:r>
              <a:rPr lang="en-US" sz="1200" kern="1200" dirty="0">
                <a:solidFill>
                  <a:schemeClr val="tx1"/>
                </a:solidFill>
                <a:latin typeface="Times New Roman" pitchFamily="-1" charset="0"/>
                <a:ea typeface="+mn-ea"/>
                <a:cs typeface="+mn-cs"/>
              </a:rPr>
              <a:t>an instruction is read from memory. Figure 16.5 shows the flow of data during this cycle. The PC contains the address of the next instruction to be fetched. This address is moved to the MAR and placed on the address bus. The control unit requests a memory read, and the result is placed on the data bus and copied into the MBR and then moved to the IR. Meanwhile, the PC is incremented by 1, preparatory for the next fetch. </a:t>
            </a:r>
            <a:endParaRPr lang="en-US" dirty="0"/>
          </a:p>
          <a:p>
            <a:endParaRPr lang="en-GB"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Rot="1" noChangeAspect="1" noChangeArrowheads="1" noTextEdit="1"/>
          </p:cNvSpPr>
          <p:nvPr>
            <p:ph type="sldImg"/>
          </p:nvPr>
        </p:nvSpPr>
        <p:spPr>
          <a:xfrm>
            <a:off x="1150938" y="692150"/>
            <a:ext cx="4556125" cy="3416300"/>
          </a:xfrm>
          <a:ln/>
        </p:spPr>
      </p:sp>
      <p:sp>
        <p:nvSpPr>
          <p:cNvPr id="126979" name="Rectangle 3"/>
          <p:cNvSpPr>
            <a:spLocks noGrp="1" noChangeArrowheads="1"/>
          </p:cNvSpPr>
          <p:nvPr>
            <p:ph type="body" idx="1"/>
          </p:nvPr>
        </p:nvSpPr>
        <p:spPr/>
        <p:txBody>
          <a:bodyPr/>
          <a:lstStyle/>
          <a:p>
            <a:r>
              <a:rPr lang="en-US" sz="1200" kern="1200" dirty="0">
                <a:solidFill>
                  <a:schemeClr val="tx1"/>
                </a:solidFill>
                <a:latin typeface="Times New Roman" pitchFamily="-1" charset="0"/>
                <a:ea typeface="+mn-ea"/>
                <a:cs typeface="+mn-cs"/>
              </a:rPr>
              <a:t>Once the fetch cycle is over, the control unit examines the contents of the IR to determine if it contains an operand specifier using indirect addressing. If so, an </a:t>
            </a:r>
            <a:r>
              <a:rPr lang="en-US" sz="1200" i="1" kern="1200" dirty="0">
                <a:solidFill>
                  <a:schemeClr val="tx1"/>
                </a:solidFill>
                <a:latin typeface="Times New Roman" pitchFamily="-1" charset="0"/>
                <a:ea typeface="+mn-ea"/>
                <a:cs typeface="+mn-cs"/>
              </a:rPr>
              <a:t>indirect cycle </a:t>
            </a:r>
            <a:r>
              <a:rPr lang="en-US" sz="1200" kern="1200" dirty="0">
                <a:solidFill>
                  <a:schemeClr val="tx1"/>
                </a:solidFill>
                <a:latin typeface="Times New Roman" pitchFamily="-1" charset="0"/>
                <a:ea typeface="+mn-ea"/>
                <a:cs typeface="+mn-cs"/>
              </a:rPr>
              <a:t>is performed. As shown in Figure 16.6, this is a simple cycle. The right- most </a:t>
            </a:r>
            <a:r>
              <a:rPr lang="en-US" sz="1200" i="1" kern="1200" dirty="0">
                <a:solidFill>
                  <a:schemeClr val="tx1"/>
                </a:solidFill>
                <a:latin typeface="Times New Roman" pitchFamily="-1" charset="0"/>
                <a:ea typeface="+mn-ea"/>
                <a:cs typeface="+mn-cs"/>
              </a:rPr>
              <a:t>N </a:t>
            </a:r>
            <a:r>
              <a:rPr lang="en-US" sz="1200" kern="1200" dirty="0">
                <a:solidFill>
                  <a:schemeClr val="tx1"/>
                </a:solidFill>
                <a:latin typeface="Times New Roman" pitchFamily="-1" charset="0"/>
                <a:ea typeface="+mn-ea"/>
                <a:cs typeface="+mn-cs"/>
              </a:rPr>
              <a:t>bits of the MBR, which contain the address reference, are transferred to the MAR. Then the control unit requests a memory read, to get the desired address of the operand into the MBR.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fetch and indirect cycles are simple and predictable. The </a:t>
            </a:r>
            <a:r>
              <a:rPr lang="en-US" sz="1200" i="1" kern="1200" dirty="0">
                <a:solidFill>
                  <a:schemeClr val="tx1"/>
                </a:solidFill>
                <a:latin typeface="Times New Roman" pitchFamily="-1" charset="0"/>
                <a:ea typeface="+mn-ea"/>
                <a:cs typeface="+mn-cs"/>
              </a:rPr>
              <a:t>execute cycle </a:t>
            </a:r>
            <a:r>
              <a:rPr lang="en-US" sz="1200" kern="1200" dirty="0">
                <a:solidFill>
                  <a:schemeClr val="tx1"/>
                </a:solidFill>
                <a:latin typeface="Times New Roman" pitchFamily="-1" charset="0"/>
                <a:ea typeface="+mn-ea"/>
                <a:cs typeface="+mn-cs"/>
              </a:rPr>
              <a:t>takes many forms; the form depends on which of the various machine instructions is in the IR. This cycle may involve transferring data among registers, read or write from memory or I/O, and/or the invocation of the ALU. </a:t>
            </a:r>
            <a:endParaRPr lang="en-US" dirty="0"/>
          </a:p>
          <a:p>
            <a:endParaRPr lang="en-GB"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Rot="1" noChangeAspect="1" noChangeArrowheads="1" noTextEdit="1"/>
          </p:cNvSpPr>
          <p:nvPr>
            <p:ph type="sldImg"/>
          </p:nvPr>
        </p:nvSpPr>
        <p:spPr>
          <a:xfrm>
            <a:off x="1150938" y="692150"/>
            <a:ext cx="4556125" cy="3416300"/>
          </a:xfrm>
          <a:ln/>
        </p:spPr>
      </p:sp>
      <p:sp>
        <p:nvSpPr>
          <p:cNvPr id="128003"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Like the fetch and indirect cycles, the </a:t>
            </a:r>
            <a:r>
              <a:rPr lang="en-US" sz="1200" i="1" kern="1200" dirty="0">
                <a:solidFill>
                  <a:schemeClr val="tx1"/>
                </a:solidFill>
                <a:latin typeface="Times New Roman" pitchFamily="-1" charset="0"/>
                <a:ea typeface="+mn-ea"/>
                <a:cs typeface="+mn-cs"/>
              </a:rPr>
              <a:t>interrupt cycle </a:t>
            </a:r>
            <a:r>
              <a:rPr lang="en-US" sz="1200" kern="1200" dirty="0">
                <a:solidFill>
                  <a:schemeClr val="tx1"/>
                </a:solidFill>
                <a:latin typeface="Times New Roman" pitchFamily="-1" charset="0"/>
                <a:ea typeface="+mn-ea"/>
                <a:cs typeface="+mn-cs"/>
              </a:rPr>
              <a:t>is simple and predictable (Figure 16.7). The current contents of the PC must be saved so that the processor can resume normal activity after the interrupt. Thus, the contents of the PC are transferred to the MBR to be written into memory. The special memory location reserved for this purpose is loaded into the MAR from the control unit. It might, for example, be a stack pointer. The PC is loaded with the address of the interrupt routine. As a result, the next instruction cycle will begin by fetching the appropriate instruction.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 </a:t>
            </a:r>
            <a:endParaRPr lang="en-US" dirty="0"/>
          </a:p>
          <a:p>
            <a:endParaRPr lang="en-GB"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089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38</a:t>
            </a:r>
          </a:p>
        </p:txBody>
      </p:sp>
      <p:sp>
        <p:nvSpPr>
          <p:cNvPr id="8090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090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0902" name="Rectangle 6"/>
          <p:cNvSpPr>
            <a:spLocks noGrp="1" noRot="1" noChangeAspect="1" noChangeArrowheads="1" noTextEdit="1"/>
          </p:cNvSpPr>
          <p:nvPr>
            <p:ph type="sldImg"/>
          </p:nvPr>
        </p:nvSpPr>
        <p:spPr>
          <a:xfrm>
            <a:off x="1150938" y="692150"/>
            <a:ext cx="4556125" cy="3416300"/>
          </a:xfrm>
          <a:ln cap="flat"/>
        </p:spPr>
      </p:sp>
      <p:sp>
        <p:nvSpPr>
          <p:cNvPr id="80903" name="Rectangle 7"/>
          <p:cNvSpPr>
            <a:spLocks noGrp="1" noChangeArrowheads="1"/>
          </p:cNvSpPr>
          <p:nvPr>
            <p:ph type="body" idx="1"/>
          </p:nvPr>
        </p:nvSpPr>
        <p:spPr>
          <a:ln/>
        </p:spPr>
        <p:txBody>
          <a:bodyPr/>
          <a:lstStyle/>
          <a:p>
            <a:r>
              <a:rPr lang="en-US" sz="1200" kern="1200" dirty="0">
                <a:solidFill>
                  <a:schemeClr val="tx1"/>
                </a:solidFill>
                <a:effectLst/>
                <a:latin typeface="Times New Roman" pitchFamily="-1" charset="0"/>
                <a:ea typeface="+mn-ea"/>
                <a:cs typeface="+mn-cs"/>
              </a:rPr>
              <a:t> As computer systems evolve, greater performance can be achieved by taking advantage</a:t>
            </a:r>
          </a:p>
          <a:p>
            <a:r>
              <a:rPr lang="en-US" sz="1200" kern="1200" dirty="0">
                <a:solidFill>
                  <a:schemeClr val="tx1"/>
                </a:solidFill>
                <a:effectLst/>
                <a:latin typeface="Times New Roman" pitchFamily="-1" charset="0"/>
                <a:ea typeface="+mn-ea"/>
                <a:cs typeface="+mn-cs"/>
              </a:rPr>
              <a:t>of improvements in technology, such as faster circuitry. In addition, organizational</a:t>
            </a:r>
          </a:p>
          <a:p>
            <a:r>
              <a:rPr lang="en-US" sz="1200" kern="1200" dirty="0">
                <a:solidFill>
                  <a:schemeClr val="tx1"/>
                </a:solidFill>
                <a:effectLst/>
                <a:latin typeface="Times New Roman" pitchFamily="-1" charset="0"/>
                <a:ea typeface="+mn-ea"/>
                <a:cs typeface="+mn-cs"/>
              </a:rPr>
              <a:t>enhancements to the processor can improve performance. We have already</a:t>
            </a:r>
          </a:p>
          <a:p>
            <a:r>
              <a:rPr lang="en-US" sz="1200" kern="1200" dirty="0">
                <a:solidFill>
                  <a:schemeClr val="tx1"/>
                </a:solidFill>
                <a:effectLst/>
                <a:latin typeface="Times New Roman" pitchFamily="-1" charset="0"/>
                <a:ea typeface="+mn-ea"/>
                <a:cs typeface="+mn-cs"/>
              </a:rPr>
              <a:t>seen some examples of this, such as the use of multiple registers rather than a single</a:t>
            </a:r>
          </a:p>
          <a:p>
            <a:r>
              <a:rPr lang="en-US" sz="1200" kern="1200" dirty="0">
                <a:solidFill>
                  <a:schemeClr val="tx1"/>
                </a:solidFill>
                <a:effectLst/>
                <a:latin typeface="Times New Roman" pitchFamily="-1" charset="0"/>
                <a:ea typeface="+mn-ea"/>
                <a:cs typeface="+mn-cs"/>
              </a:rPr>
              <a:t>accumulator, and the use of a cache memory. Another organizational approach,</a:t>
            </a:r>
          </a:p>
          <a:p>
            <a:r>
              <a:rPr lang="en-US" sz="1200" kern="1200" dirty="0">
                <a:solidFill>
                  <a:schemeClr val="tx1"/>
                </a:solidFill>
                <a:effectLst/>
                <a:latin typeface="Times New Roman" pitchFamily="-1" charset="0"/>
                <a:ea typeface="+mn-ea"/>
                <a:cs typeface="+mn-cs"/>
              </a:rPr>
              <a:t>which is quite common, is instruction pipelining.</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Instruction pipelining is similar to the use of an assembly line in a manufacturing plant. An assembly line takes advantage of the fact that a product goes through various stages of production. By laying the production process out in an assembly line, products at various stages can be worked on simultaneously. This process is also referred to as </a:t>
            </a:r>
            <a:r>
              <a:rPr lang="en-US" sz="1200" i="1" kern="1200" dirty="0">
                <a:solidFill>
                  <a:schemeClr val="tx1"/>
                </a:solidFill>
                <a:latin typeface="Times New Roman" pitchFamily="-1" charset="0"/>
                <a:ea typeface="+mn-ea"/>
                <a:cs typeface="+mn-cs"/>
              </a:rPr>
              <a:t>pipelining, </a:t>
            </a:r>
            <a:r>
              <a:rPr lang="en-US" sz="1200" kern="1200" dirty="0">
                <a:solidFill>
                  <a:schemeClr val="tx1"/>
                </a:solidFill>
                <a:latin typeface="Times New Roman" pitchFamily="-1" charset="0"/>
                <a:ea typeface="+mn-ea"/>
                <a:cs typeface="+mn-cs"/>
              </a:rPr>
              <a:t>because, as in a pipeline, new inputs are accepted at one end before previously accepted inputs appear as outputs at the other end.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To apply this concept to instruction execution, we must recognize that, in fact, an instruction has a number of stages. Figures 16.4, for example, breaks the instruction cycle up into 10 tasks, which occur in sequence. Clearly, there should be some opportunity for pipelining. </a:t>
            </a:r>
            <a:endParaRPr lang="en-US" dirty="0"/>
          </a:p>
          <a:p>
            <a:endParaRPr lang="en-US" sz="1200" kern="1200" dirty="0">
              <a:solidFill>
                <a:schemeClr val="tx1"/>
              </a:solidFill>
              <a:latin typeface="Times New Roman" pitchFamily="-1" charset="0"/>
              <a:ea typeface="+mn-ea"/>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Times New Roman" pitchFamily="-1" charset="0"/>
                <a:ea typeface="+mn-ea"/>
                <a:cs typeface="+mn-cs"/>
              </a:rPr>
              <a:t>As a simple approach, consider subdividing instruction processing into two stages: fetch instruction and execute instruction. There are times during the execution of an instruction when main memory is not being accessed. This time could be used to fetch the next instruction in parallel with the execution of the current one. Figure 16.8a depicts this approach. The pipeline has two independent stages. The first stage fetches an instruction and buffers it. When the second stage is free, the first stage passes it the buffered instruction. While the second stage is executing the instruction, the first stage takes advantage of any unused memory cycles to fetch and buffer the next instruction. This is called instruction prefetch or </a:t>
            </a:r>
            <a:r>
              <a:rPr lang="en-US" sz="1200" i="1" kern="1200" dirty="0">
                <a:solidFill>
                  <a:schemeClr val="tx1"/>
                </a:solidFill>
                <a:latin typeface="Times New Roman" pitchFamily="-1" charset="0"/>
                <a:ea typeface="+mn-ea"/>
                <a:cs typeface="+mn-cs"/>
              </a:rPr>
              <a:t>fetch overlap. </a:t>
            </a:r>
            <a:r>
              <a:rPr lang="en-US" sz="1200" kern="1200" dirty="0">
                <a:solidFill>
                  <a:schemeClr val="tx1"/>
                </a:solidFill>
                <a:latin typeface="Times New Roman" pitchFamily="-1" charset="0"/>
                <a:ea typeface="+mn-ea"/>
                <a:cs typeface="+mn-cs"/>
              </a:rPr>
              <a:t>Note that this approach, which involves instruction buffering, requires more registers. </a:t>
            </a:r>
            <a:endParaRPr lang="en-US" dirty="0"/>
          </a:p>
          <a:p>
            <a:endParaRPr lang="en-US" sz="1200" kern="1200" dirty="0">
              <a:solidFill>
                <a:schemeClr val="tx1"/>
              </a:solidFill>
              <a:latin typeface="Times New Roman" pitchFamily="-1" charset="0"/>
              <a:ea typeface="+mn-ea"/>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77500" lnSpcReduction="20000"/>
          </a:bodyPr>
          <a:lstStyle/>
          <a:p>
            <a:r>
              <a:rPr lang="en-US" sz="1200" kern="1200" dirty="0">
                <a:solidFill>
                  <a:schemeClr val="tx1"/>
                </a:solidFill>
                <a:effectLst/>
                <a:latin typeface="Times New Roman" pitchFamily="-1" charset="0"/>
                <a:ea typeface="+mn-ea"/>
                <a:cs typeface="+mn-cs"/>
              </a:rPr>
              <a:t> In general, pipelining requires fast registers, called latches , that store intermediate</a:t>
            </a:r>
          </a:p>
          <a:p>
            <a:r>
              <a:rPr lang="en-US" sz="1200" kern="1200" dirty="0">
                <a:solidFill>
                  <a:schemeClr val="tx1"/>
                </a:solidFill>
                <a:effectLst/>
                <a:latin typeface="Times New Roman" pitchFamily="-1" charset="0"/>
                <a:ea typeface="+mn-ea"/>
                <a:cs typeface="+mn-cs"/>
              </a:rPr>
              <a:t>values between stages. Figure 16.9 illustrates this in simplified form for</a:t>
            </a:r>
          </a:p>
          <a:p>
            <a:r>
              <a:rPr lang="en-US" sz="1200" kern="1200" dirty="0">
                <a:solidFill>
                  <a:schemeClr val="tx1"/>
                </a:solidFill>
                <a:effectLst/>
                <a:latin typeface="Times New Roman" pitchFamily="-1" charset="0"/>
                <a:ea typeface="+mn-ea"/>
                <a:cs typeface="+mn-cs"/>
              </a:rPr>
              <a:t>a three-stage pipeline. The latches serve to decouple the stages from each other.</a:t>
            </a:r>
          </a:p>
          <a:p>
            <a:r>
              <a:rPr lang="en-US" sz="1200" kern="1200" dirty="0">
                <a:solidFill>
                  <a:schemeClr val="tx1"/>
                </a:solidFill>
                <a:effectLst/>
                <a:latin typeface="Times New Roman" pitchFamily="-1" charset="0"/>
                <a:ea typeface="+mn-ea"/>
                <a:cs typeface="+mn-cs"/>
              </a:rPr>
              <a:t>Information flows between adjacent stages under the control of a common clock</a:t>
            </a:r>
          </a:p>
          <a:p>
            <a:r>
              <a:rPr lang="en-US" sz="1200" kern="1200" dirty="0">
                <a:solidFill>
                  <a:schemeClr val="tx1"/>
                </a:solidFill>
                <a:effectLst/>
                <a:latin typeface="Times New Roman" pitchFamily="-1" charset="0"/>
                <a:ea typeface="+mn-ea"/>
                <a:cs typeface="+mn-cs"/>
              </a:rPr>
              <a:t>applied to all the latches simultaneously. As each clock cycle ends, the latches gate</a:t>
            </a:r>
          </a:p>
          <a:p>
            <a:r>
              <a:rPr lang="en-US" sz="1200" kern="1200" dirty="0">
                <a:solidFill>
                  <a:schemeClr val="tx1"/>
                </a:solidFill>
                <a:effectLst/>
                <a:latin typeface="Times New Roman" pitchFamily="-1" charset="0"/>
                <a:ea typeface="+mn-ea"/>
                <a:cs typeface="+mn-cs"/>
              </a:rPr>
              <a:t>in their inputs and forward them into the next stage, where the required operation</a:t>
            </a:r>
          </a:p>
          <a:p>
            <a:r>
              <a:rPr lang="en-US" sz="1200" kern="1200" dirty="0">
                <a:solidFill>
                  <a:schemeClr val="tx1"/>
                </a:solidFill>
                <a:effectLst/>
                <a:latin typeface="Times New Roman" pitchFamily="-1" charset="0"/>
                <a:ea typeface="+mn-ea"/>
                <a:cs typeface="+mn-cs"/>
              </a:rPr>
              <a:t>is performed. This simplified picture omits several details. Each stage may consist</a:t>
            </a:r>
          </a:p>
          <a:p>
            <a:r>
              <a:rPr lang="en-US" sz="1200" kern="1200" dirty="0">
                <a:solidFill>
                  <a:schemeClr val="tx1"/>
                </a:solidFill>
                <a:effectLst/>
                <a:latin typeface="Times New Roman" pitchFamily="-1" charset="0"/>
                <a:ea typeface="+mn-ea"/>
                <a:cs typeface="+mn-cs"/>
              </a:rPr>
              <a:t>of multiple execution units that cooperate in performing the required operations.</a:t>
            </a:r>
          </a:p>
          <a:p>
            <a:r>
              <a:rPr lang="en-US" sz="1200" kern="1200" dirty="0">
                <a:solidFill>
                  <a:schemeClr val="tx1"/>
                </a:solidFill>
                <a:effectLst/>
                <a:latin typeface="Times New Roman" pitchFamily="-1" charset="0"/>
                <a:ea typeface="+mn-ea"/>
                <a:cs typeface="+mn-cs"/>
              </a:rPr>
              <a:t>In addition, the latches may be extended with multiplexers that allow the input to a</a:t>
            </a:r>
          </a:p>
          <a:p>
            <a:r>
              <a:rPr lang="en-US" sz="1200" kern="1200" dirty="0">
                <a:solidFill>
                  <a:schemeClr val="tx1"/>
                </a:solidFill>
                <a:effectLst/>
                <a:latin typeface="Times New Roman" pitchFamily="-1" charset="0"/>
                <a:ea typeface="+mn-ea"/>
                <a:cs typeface="+mn-cs"/>
              </a:rPr>
              <a:t>latch to come from a subsequent stage (feed back) or from a stage prior to the just</a:t>
            </a:r>
          </a:p>
          <a:p>
            <a:r>
              <a:rPr lang="en-US" sz="1200" kern="1200" dirty="0">
                <a:solidFill>
                  <a:schemeClr val="tx1"/>
                </a:solidFill>
                <a:effectLst/>
                <a:latin typeface="Times New Roman" pitchFamily="-1" charset="0"/>
                <a:ea typeface="+mn-ea"/>
                <a:cs typeface="+mn-cs"/>
              </a:rPr>
              <a:t>preceding stage (feed forward).</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It should be clear that this process will speed up instruction execution. If the fetch and execute stages were of equal duration, the instruction cycle time would be halved. However, if we look more closely at this pipeline (Figure 16.8b), we will see that this doubling of execution rate is unlikely for two reasons: </a:t>
            </a:r>
            <a:endParaRPr lang="en-US" dirty="0"/>
          </a:p>
          <a:p>
            <a:endParaRPr lang="en-US" sz="1200" b="1" kern="1200" dirty="0">
              <a:solidFill>
                <a:schemeClr val="tx1"/>
              </a:solidFill>
              <a:latin typeface="Times New Roman" pitchFamily="-1" charset="0"/>
              <a:ea typeface="+mn-ea"/>
              <a:cs typeface="+mn-cs"/>
            </a:endParaRPr>
          </a:p>
          <a:p>
            <a:r>
              <a:rPr lang="en-US" sz="1200" b="0" kern="1200" dirty="0">
                <a:solidFill>
                  <a:schemeClr val="tx1"/>
                </a:solidFill>
                <a:latin typeface="Times New Roman" pitchFamily="-1" charset="0"/>
                <a:ea typeface="+mn-ea"/>
                <a:cs typeface="+mn-cs"/>
              </a:rPr>
              <a:t>1.  The execution time will generally be longer than the fetch time. Execution will involve reading and storing operands and the performance of some operation. Thus, the fetch stage may have to wait for some time before it can empty its buffer. </a:t>
            </a:r>
          </a:p>
          <a:p>
            <a:endParaRPr lang="en-US" sz="1200" b="1" kern="1200" dirty="0">
              <a:solidFill>
                <a:schemeClr val="tx1"/>
              </a:solidFill>
              <a:latin typeface="Times New Roman" pitchFamily="-1" charset="0"/>
              <a:ea typeface="+mn-ea"/>
              <a:cs typeface="+mn-cs"/>
            </a:endParaRPr>
          </a:p>
          <a:p>
            <a:r>
              <a:rPr lang="en-US" sz="1200" b="0" kern="1200" dirty="0">
                <a:solidFill>
                  <a:schemeClr val="tx1"/>
                </a:solidFill>
                <a:latin typeface="Times New Roman" pitchFamily="-1" charset="0"/>
                <a:ea typeface="+mn-ea"/>
                <a:cs typeface="+mn-cs"/>
              </a:rPr>
              <a:t>2.  A conditional branch instruction makes the address of the next instruction to be fetched unknown. Thus, the fetch stage must wait until it receives the next instruction address from the execute stage. The execute stage may then have to wait while the next instruction is fetched.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Guessing can reduce the time loss from the second reason. A simple rule is the following: When a conditional branch instruction is passed on from the fetch to the execute stage, the fetch stage fetches the next instruction in memory after the branch instruction. Then, if the branch is not taken, no time is lost. If the branch is taken, the fetched instruction must be discarded and a new instruction fetched.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Tree>
    <p:extLst>
      <p:ext uri="{BB962C8B-B14F-4D97-AF65-F5344CB8AC3E}">
        <p14:creationId xmlns:p14="http://schemas.microsoft.com/office/powerpoint/2010/main" val="10047043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92500" lnSpcReduction="20000"/>
          </a:bodyPr>
          <a:lstStyle/>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While these factors reduce the potential effectiveness of the two-stage pipe- line, some speedup occurs. To gain further speedup, the pipeline must have more stages. Let us consider the following decomposition of the instruction processing. </a:t>
            </a:r>
            <a:endParaRPr lang="en-US" dirty="0"/>
          </a:p>
          <a:p>
            <a:endParaRPr lang="en-US" dirty="0"/>
          </a:p>
          <a:p>
            <a:r>
              <a:rPr lang="en-US" sz="1200" b="1" kern="1200" dirty="0">
                <a:solidFill>
                  <a:schemeClr val="tx1"/>
                </a:solidFill>
                <a:latin typeface="Times New Roman" pitchFamily="-1" charset="0"/>
                <a:ea typeface="+mn-ea"/>
                <a:cs typeface="+mn-cs"/>
              </a:rPr>
              <a:t>Fetch instruction (FI): </a:t>
            </a:r>
            <a:r>
              <a:rPr lang="en-US" sz="1200" kern="1200" dirty="0">
                <a:solidFill>
                  <a:schemeClr val="tx1"/>
                </a:solidFill>
                <a:latin typeface="Times New Roman" pitchFamily="-1" charset="0"/>
                <a:ea typeface="+mn-ea"/>
                <a:cs typeface="+mn-cs"/>
              </a:rPr>
              <a:t>Read the next expected instruction into a buffer.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Decode instruction (DI): </a:t>
            </a:r>
            <a:r>
              <a:rPr lang="en-US" sz="1200" kern="1200" dirty="0">
                <a:solidFill>
                  <a:schemeClr val="tx1"/>
                </a:solidFill>
                <a:latin typeface="Times New Roman" pitchFamily="-1" charset="0"/>
                <a:ea typeface="+mn-ea"/>
                <a:cs typeface="+mn-cs"/>
              </a:rPr>
              <a:t>Determine the opcode and the operand specifiers.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Calculate operands (CO): </a:t>
            </a:r>
            <a:r>
              <a:rPr lang="en-US" sz="1200" b="0" kern="1200" dirty="0">
                <a:solidFill>
                  <a:schemeClr val="tx1"/>
                </a:solidFill>
                <a:latin typeface="Times New Roman" pitchFamily="-1" charset="0"/>
                <a:ea typeface="+mn-ea"/>
                <a:cs typeface="+mn-cs"/>
              </a:rPr>
              <a:t>Calculate the effective address of each source operand</a:t>
            </a:r>
            <a:r>
              <a:rPr lang="en-US" sz="1200" kern="1200" dirty="0">
                <a:solidFill>
                  <a:schemeClr val="tx1"/>
                </a:solidFill>
                <a:latin typeface="Times New Roman" pitchFamily="-1" charset="0"/>
                <a:ea typeface="+mn-ea"/>
                <a:cs typeface="+mn-cs"/>
              </a:rPr>
              <a:t>. This may involve displacement, register indirect, indirect, or other forms of address calculation.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Fetch operands (FO): </a:t>
            </a:r>
            <a:r>
              <a:rPr lang="en-US" sz="1200" kern="1200" dirty="0">
                <a:solidFill>
                  <a:schemeClr val="tx1"/>
                </a:solidFill>
                <a:latin typeface="Times New Roman" pitchFamily="-1" charset="0"/>
                <a:ea typeface="+mn-ea"/>
                <a:cs typeface="+mn-cs"/>
              </a:rPr>
              <a:t>Fetch each operand from memory. Operands in registers need not be fetched.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Execute instruction (EI): </a:t>
            </a:r>
            <a:r>
              <a:rPr lang="en-US" sz="1200" b="0" kern="1200" dirty="0">
                <a:solidFill>
                  <a:schemeClr val="tx1"/>
                </a:solidFill>
                <a:latin typeface="Times New Roman" pitchFamily="-1" charset="0"/>
                <a:ea typeface="+mn-ea"/>
                <a:cs typeface="+mn-cs"/>
              </a:rPr>
              <a:t>Perform the indicated operation and store the result, if </a:t>
            </a:r>
            <a:r>
              <a:rPr lang="en-US" sz="1200" kern="1200" dirty="0">
                <a:solidFill>
                  <a:schemeClr val="tx1"/>
                </a:solidFill>
                <a:latin typeface="Times New Roman" pitchFamily="-1" charset="0"/>
                <a:ea typeface="+mn-ea"/>
                <a:cs typeface="+mn-cs"/>
              </a:rPr>
              <a:t>any, in the specified destination operand location.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Write operand (WO): </a:t>
            </a:r>
            <a:r>
              <a:rPr lang="en-US" sz="1200" kern="1200" dirty="0">
                <a:solidFill>
                  <a:schemeClr val="tx1"/>
                </a:solidFill>
                <a:latin typeface="Times New Roman" pitchFamily="-1" charset="0"/>
                <a:ea typeface="+mn-ea"/>
                <a:cs typeface="+mn-cs"/>
              </a:rPr>
              <a:t>Store the result in memory. </a:t>
            </a:r>
          </a:p>
          <a:p>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With this decomposition, the various stages will be of more nearly equal duration. </a:t>
            </a:r>
            <a:endParaRPr lang="en-US" dirty="0"/>
          </a:p>
          <a:p>
            <a:endParaRPr lang="en-US" sz="1200" kern="1200" dirty="0">
              <a:solidFill>
                <a:schemeClr val="tx1"/>
              </a:solidFill>
              <a:latin typeface="Times New Roman" pitchFamily="-1" charset="0"/>
              <a:ea typeface="+mn-ea"/>
              <a:cs typeface="+mn-cs"/>
            </a:endParaRPr>
          </a:p>
          <a:p>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294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39</a:t>
            </a:r>
          </a:p>
        </p:txBody>
      </p:sp>
      <p:sp>
        <p:nvSpPr>
          <p:cNvPr id="8294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294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2950" name="Rectangle 6"/>
          <p:cNvSpPr>
            <a:spLocks noGrp="1" noRot="1" noChangeAspect="1" noChangeArrowheads="1" noTextEdit="1"/>
          </p:cNvSpPr>
          <p:nvPr>
            <p:ph type="sldImg"/>
          </p:nvPr>
        </p:nvSpPr>
        <p:spPr>
          <a:xfrm>
            <a:off x="1150938" y="692150"/>
            <a:ext cx="4556125" cy="3416300"/>
          </a:xfrm>
          <a:ln cap="flat"/>
        </p:spPr>
      </p:sp>
      <p:sp>
        <p:nvSpPr>
          <p:cNvPr id="82951" name="Rectangle 7"/>
          <p:cNvSpPr>
            <a:spLocks noGrp="1" noChangeArrowheads="1"/>
          </p:cNvSpPr>
          <p:nvPr>
            <p:ph type="body" idx="1"/>
          </p:nvPr>
        </p:nvSpPr>
        <p:spPr>
          <a:ln/>
        </p:spPr>
        <p:txBody>
          <a:bodyPr/>
          <a:lstStyle/>
          <a:p>
            <a:r>
              <a:rPr lang="en-US" sz="1200" kern="1200" dirty="0">
                <a:solidFill>
                  <a:schemeClr val="tx1"/>
                </a:solidFill>
                <a:effectLst/>
                <a:latin typeface="Times New Roman" pitchFamily="-1" charset="0"/>
                <a:ea typeface="+mn-ea"/>
                <a:cs typeface="+mn-cs"/>
              </a:rPr>
              <a:t>For the sake of illustration, let us assume equal duration. Using this assumption, Figure 16.10 shows that a six-stage pipeline </a:t>
            </a:r>
          </a:p>
          <a:p>
            <a:r>
              <a:rPr lang="en-US" sz="1200" kern="1200" dirty="0">
                <a:solidFill>
                  <a:schemeClr val="tx1"/>
                </a:solidFill>
                <a:effectLst/>
                <a:latin typeface="Times New Roman" pitchFamily="-1" charset="0"/>
                <a:ea typeface="+mn-ea"/>
                <a:cs typeface="+mn-cs"/>
              </a:rPr>
              <a:t>can reduce the execution time for 9 instructions from 54 time units to 14 time units.</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Several comments are in order: The diagram assumes that each instruction goes through all six stages of the pipeline. This will not always be the case. For example, a load instruction does not need the WO stage. However, to simplify the pipeline hardware, the timing is set up assuming that each instruction requires all six stages. Also, the diagram assumes that all of the stages can be performed in parallel. In particular, it is assumed that there are no memory conflicts. For example, the FI, FO, and WO stages involve a memory access. The diagram implies that all these accesses can occur simultaneously. Most memory systems will not permit that. However, the desired value may be in cache, or the FO or WO stage may be null. Thus, much of the time, memory conflicts will not slow down the pipeline.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effectLst/>
                <a:latin typeface="Times New Roman" pitchFamily="-1" charset="0"/>
                <a:ea typeface="+mn-ea"/>
                <a:cs typeface="+mn-cs"/>
              </a:rPr>
              <a:t> Several other factors serve to limit the performance enhancement. If the six</a:t>
            </a:r>
          </a:p>
          <a:p>
            <a:r>
              <a:rPr lang="en-US" sz="1200" kern="1200" dirty="0">
                <a:solidFill>
                  <a:schemeClr val="tx1"/>
                </a:solidFill>
                <a:effectLst/>
                <a:latin typeface="Times New Roman" pitchFamily="-1" charset="0"/>
                <a:ea typeface="+mn-ea"/>
                <a:cs typeface="+mn-cs"/>
              </a:rPr>
              <a:t>stages are not of equal duration, there will be some waiting involved at various pipeline</a:t>
            </a:r>
          </a:p>
          <a:p>
            <a:r>
              <a:rPr lang="en-US" sz="1200" kern="1200" dirty="0">
                <a:solidFill>
                  <a:schemeClr val="tx1"/>
                </a:solidFill>
                <a:effectLst/>
                <a:latin typeface="Times New Roman" pitchFamily="-1" charset="0"/>
                <a:ea typeface="+mn-ea"/>
                <a:cs typeface="+mn-cs"/>
              </a:rPr>
              <a:t>stages, as discussed before for the two-stage pipeline. Another difficulty is the</a:t>
            </a:r>
          </a:p>
          <a:p>
            <a:r>
              <a:rPr lang="en-US" sz="1200" kern="1200" dirty="0">
                <a:solidFill>
                  <a:schemeClr val="tx1"/>
                </a:solidFill>
                <a:effectLst/>
                <a:latin typeface="Times New Roman" pitchFamily="-1" charset="0"/>
                <a:ea typeface="+mn-ea"/>
                <a:cs typeface="+mn-cs"/>
              </a:rPr>
              <a:t>conditional branch instruction, which can invalidate several instruction fetches. A</a:t>
            </a:r>
          </a:p>
          <a:p>
            <a:r>
              <a:rPr lang="en-US" sz="1200" kern="1200" dirty="0">
                <a:solidFill>
                  <a:schemeClr val="tx1"/>
                </a:solidFill>
                <a:effectLst/>
                <a:latin typeface="Times New Roman" pitchFamily="-1" charset="0"/>
                <a:ea typeface="+mn-ea"/>
                <a:cs typeface="+mn-cs"/>
              </a:rPr>
              <a:t>similar unpredictable event is an interrupt.</a:t>
            </a:r>
          </a:p>
          <a:p>
            <a:endParaRPr lang="en-US" dirty="0"/>
          </a:p>
          <a:p>
            <a:endParaRPr lang="en-GB"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 charset="0"/>
                <a:ea typeface="+mn-ea"/>
                <a:cs typeface="+mn-cs"/>
              </a:rPr>
              <a:t>Figure 16.11 illustrates the effects of the</a:t>
            </a:r>
          </a:p>
          <a:p>
            <a:r>
              <a:rPr lang="en-US" sz="1200" kern="1200" dirty="0">
                <a:solidFill>
                  <a:schemeClr val="tx1"/>
                </a:solidFill>
                <a:effectLst/>
                <a:latin typeface="Times New Roman" pitchFamily="-1" charset="0"/>
                <a:ea typeface="+mn-ea"/>
                <a:cs typeface="+mn-cs"/>
              </a:rPr>
              <a:t>conditional branch, using the same program as Figure 16.10. Assume that instruction</a:t>
            </a:r>
          </a:p>
          <a:p>
            <a:r>
              <a:rPr lang="en-US" sz="1200" kern="1200" dirty="0">
                <a:solidFill>
                  <a:schemeClr val="tx1"/>
                </a:solidFill>
                <a:effectLst/>
                <a:latin typeface="Times New Roman" pitchFamily="-1" charset="0"/>
                <a:ea typeface="+mn-ea"/>
                <a:cs typeface="+mn-cs"/>
              </a:rPr>
              <a:t>3 is a conditional branch to instruction 15. Until the instruction is executed,</a:t>
            </a:r>
          </a:p>
          <a:p>
            <a:r>
              <a:rPr lang="en-US" sz="1200" kern="1200" dirty="0">
                <a:solidFill>
                  <a:schemeClr val="tx1"/>
                </a:solidFill>
                <a:effectLst/>
                <a:latin typeface="Times New Roman" pitchFamily="-1" charset="0"/>
                <a:ea typeface="+mn-ea"/>
                <a:cs typeface="+mn-cs"/>
              </a:rPr>
              <a:t>there is no way of knowing which instruction will come next. The pipeline, in this</a:t>
            </a:r>
          </a:p>
          <a:p>
            <a:r>
              <a:rPr lang="en-US" sz="1200" kern="1200" dirty="0">
                <a:solidFill>
                  <a:schemeClr val="tx1"/>
                </a:solidFill>
                <a:effectLst/>
                <a:latin typeface="Times New Roman" pitchFamily="-1" charset="0"/>
                <a:ea typeface="+mn-ea"/>
                <a:cs typeface="+mn-cs"/>
              </a:rPr>
              <a:t>example, simply loads the next instruction in sequence (instruction 4) and proceeds.</a:t>
            </a:r>
          </a:p>
          <a:p>
            <a:r>
              <a:rPr lang="en-US" sz="1200" kern="1200" dirty="0">
                <a:solidFill>
                  <a:schemeClr val="tx1"/>
                </a:solidFill>
                <a:effectLst/>
                <a:latin typeface="Times New Roman" pitchFamily="-1" charset="0"/>
                <a:ea typeface="+mn-ea"/>
                <a:cs typeface="+mn-cs"/>
              </a:rPr>
              <a:t>In Figure 16.10, the branch is not taken, and we get the full performance benefit of</a:t>
            </a:r>
          </a:p>
          <a:p>
            <a:r>
              <a:rPr lang="en-US" sz="1200" kern="1200" dirty="0">
                <a:solidFill>
                  <a:schemeClr val="tx1"/>
                </a:solidFill>
                <a:effectLst/>
                <a:latin typeface="Times New Roman" pitchFamily="-1" charset="0"/>
                <a:ea typeface="+mn-ea"/>
                <a:cs typeface="+mn-cs"/>
              </a:rPr>
              <a:t>the enhancement. In Figure 16.11, the branch is taken. This is not determined until</a:t>
            </a:r>
          </a:p>
          <a:p>
            <a:r>
              <a:rPr lang="en-US" sz="1200" kern="1200" dirty="0">
                <a:solidFill>
                  <a:schemeClr val="tx1"/>
                </a:solidFill>
                <a:effectLst/>
                <a:latin typeface="Times New Roman" pitchFamily="-1" charset="0"/>
                <a:ea typeface="+mn-ea"/>
                <a:cs typeface="+mn-cs"/>
              </a:rPr>
              <a:t>the end of time unit 7. At this point, the pipeline must be cleared of instructions that</a:t>
            </a:r>
          </a:p>
          <a:p>
            <a:r>
              <a:rPr lang="en-US" sz="1200" kern="1200" dirty="0">
                <a:solidFill>
                  <a:schemeClr val="tx1"/>
                </a:solidFill>
                <a:effectLst/>
                <a:latin typeface="Times New Roman" pitchFamily="-1" charset="0"/>
                <a:ea typeface="+mn-ea"/>
                <a:cs typeface="+mn-cs"/>
              </a:rPr>
              <a:t>are not useful. During time unit 8, instruction 15 enters the pipeline. No instructions</a:t>
            </a:r>
          </a:p>
          <a:p>
            <a:r>
              <a:rPr lang="en-US" sz="1200" kern="1200" dirty="0">
                <a:solidFill>
                  <a:schemeClr val="tx1"/>
                </a:solidFill>
                <a:effectLst/>
                <a:latin typeface="Times New Roman" pitchFamily="-1" charset="0"/>
                <a:ea typeface="+mn-ea"/>
                <a:cs typeface="+mn-cs"/>
              </a:rPr>
              <a:t>complete during time units 9 through 12; this is the performance penalty incurred</a:t>
            </a:r>
          </a:p>
          <a:p>
            <a:r>
              <a:rPr lang="en-US" sz="1200" kern="1200" dirty="0">
                <a:solidFill>
                  <a:schemeClr val="tx1"/>
                </a:solidFill>
                <a:effectLst/>
                <a:latin typeface="Times New Roman" pitchFamily="-1" charset="0"/>
                <a:ea typeface="+mn-ea"/>
                <a:cs typeface="+mn-cs"/>
              </a:rPr>
              <a:t>because we could not anticipate the branch.</a:t>
            </a:r>
          </a:p>
        </p:txBody>
      </p:sp>
    </p:spTree>
    <p:extLst>
      <p:ext uri="{BB962C8B-B14F-4D97-AF65-F5344CB8AC3E}">
        <p14:creationId xmlns:p14="http://schemas.microsoft.com/office/powerpoint/2010/main" val="17879926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Times New Roman" pitchFamily="-1" charset="0"/>
                <a:ea typeface="+mn-ea"/>
                <a:cs typeface="+mn-cs"/>
              </a:rPr>
              <a:t>Figure 16.12 indicates the logic needed for pipelining to account for branches and interrupts.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Other problems arise that did not appear in our simple two-stage organization. The CO stage may depend on the contents of a register that could be altered by a previous instruction that is still in the pipeline. Other such register and memory conflicts could occur. The system must contain logic to account for this type of conflict. </a:t>
            </a:r>
            <a:endParaRPr lang="en-US" dirty="0"/>
          </a:p>
          <a:p>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55000" lnSpcReduction="20000"/>
          </a:bodyPr>
          <a:lstStyle/>
          <a:p>
            <a:r>
              <a:rPr lang="en-US" sz="1200" kern="1200" dirty="0">
                <a:solidFill>
                  <a:schemeClr val="tx1"/>
                </a:solidFill>
                <a:effectLst/>
                <a:latin typeface="Times New Roman" pitchFamily="-1" charset="0"/>
                <a:ea typeface="+mn-ea"/>
                <a:cs typeface="+mn-cs"/>
              </a:rPr>
              <a:t>To clarify pipeline operation, it might be useful to look at an alternative depiction.</a:t>
            </a:r>
          </a:p>
          <a:p>
            <a:r>
              <a:rPr lang="en-US" sz="1200" kern="1200" dirty="0">
                <a:solidFill>
                  <a:schemeClr val="tx1"/>
                </a:solidFill>
                <a:effectLst/>
                <a:latin typeface="Times New Roman" pitchFamily="-1" charset="0"/>
                <a:ea typeface="+mn-ea"/>
                <a:cs typeface="+mn-cs"/>
              </a:rPr>
              <a:t>Figures 16.10 and 16.11 show the progression of time horizontally across the figures, with</a:t>
            </a:r>
          </a:p>
          <a:p>
            <a:r>
              <a:rPr lang="en-US" sz="1200" kern="1200" dirty="0">
                <a:solidFill>
                  <a:schemeClr val="tx1"/>
                </a:solidFill>
                <a:effectLst/>
                <a:latin typeface="Times New Roman" pitchFamily="-1" charset="0"/>
                <a:ea typeface="+mn-ea"/>
                <a:cs typeface="+mn-cs"/>
              </a:rPr>
              <a:t>each row showing the progress of an individual instruction. Figure</a:t>
            </a:r>
          </a:p>
          <a:p>
            <a:r>
              <a:rPr lang="en-US" sz="1200" kern="1200" dirty="0">
                <a:solidFill>
                  <a:schemeClr val="tx1"/>
                </a:solidFill>
                <a:effectLst/>
                <a:latin typeface="Times New Roman" pitchFamily="-1" charset="0"/>
                <a:ea typeface="+mn-ea"/>
                <a:cs typeface="+mn-cs"/>
              </a:rPr>
              <a:t>16.13 shows the same sequence of events with time progressing vertically down the figure, </a:t>
            </a:r>
          </a:p>
          <a:p>
            <a:r>
              <a:rPr lang="en-US" sz="1200" kern="1200" dirty="0">
                <a:solidFill>
                  <a:schemeClr val="tx1"/>
                </a:solidFill>
                <a:effectLst/>
                <a:latin typeface="Times New Roman" pitchFamily="-1" charset="0"/>
                <a:ea typeface="+mn-ea"/>
                <a:cs typeface="+mn-cs"/>
              </a:rPr>
              <a:t>and each row showing the state of the pipeline at a given point in time. In Figure 16.13a (which corresponds</a:t>
            </a:r>
          </a:p>
          <a:p>
            <a:r>
              <a:rPr lang="en-US" sz="1200" kern="1200" dirty="0">
                <a:solidFill>
                  <a:schemeClr val="tx1"/>
                </a:solidFill>
                <a:effectLst/>
                <a:latin typeface="Times New Roman" pitchFamily="-1" charset="0"/>
                <a:ea typeface="+mn-ea"/>
                <a:cs typeface="+mn-cs"/>
              </a:rPr>
              <a:t>to Figure 16.10), the pipeline is full at time 6, with 6 different instructions in various</a:t>
            </a:r>
          </a:p>
          <a:p>
            <a:r>
              <a:rPr lang="en-US" sz="1200" kern="1200" dirty="0">
                <a:solidFill>
                  <a:schemeClr val="tx1"/>
                </a:solidFill>
                <a:effectLst/>
                <a:latin typeface="Times New Roman" pitchFamily="-1" charset="0"/>
                <a:ea typeface="+mn-ea"/>
                <a:cs typeface="+mn-cs"/>
              </a:rPr>
              <a:t>stages of execution, and remains full through time 9; we assume that instruction I9 is the</a:t>
            </a:r>
          </a:p>
          <a:p>
            <a:r>
              <a:rPr lang="en-US" sz="1200" kern="1200" dirty="0">
                <a:solidFill>
                  <a:schemeClr val="tx1"/>
                </a:solidFill>
                <a:effectLst/>
                <a:latin typeface="Times New Roman" pitchFamily="-1" charset="0"/>
                <a:ea typeface="+mn-ea"/>
                <a:cs typeface="+mn-cs"/>
              </a:rPr>
              <a:t>last instruction to be executed. In Figure 16.13b, (which corresponds to Figure 16.11),</a:t>
            </a:r>
          </a:p>
          <a:p>
            <a:r>
              <a:rPr lang="en-US" sz="1200" kern="1200" dirty="0">
                <a:solidFill>
                  <a:schemeClr val="tx1"/>
                </a:solidFill>
                <a:effectLst/>
                <a:latin typeface="Times New Roman" pitchFamily="-1" charset="0"/>
                <a:ea typeface="+mn-ea"/>
                <a:cs typeface="+mn-cs"/>
              </a:rPr>
              <a:t>the pipeline is full at times 6 and 7. At time 7, instruction 3 is in the execute stage and</a:t>
            </a:r>
          </a:p>
          <a:p>
            <a:r>
              <a:rPr lang="en-US" sz="1200" kern="1200" dirty="0">
                <a:solidFill>
                  <a:schemeClr val="tx1"/>
                </a:solidFill>
                <a:effectLst/>
                <a:latin typeface="Times New Roman" pitchFamily="-1" charset="0"/>
                <a:ea typeface="+mn-ea"/>
                <a:cs typeface="+mn-cs"/>
              </a:rPr>
              <a:t>executes a branch to instruction 15. At this point, instructions I4 through I7 are flushed</a:t>
            </a:r>
          </a:p>
          <a:p>
            <a:r>
              <a:rPr lang="en-US" sz="1200" kern="1200" dirty="0">
                <a:solidFill>
                  <a:schemeClr val="tx1"/>
                </a:solidFill>
                <a:effectLst/>
                <a:latin typeface="Times New Roman" pitchFamily="-1" charset="0"/>
                <a:ea typeface="+mn-ea"/>
                <a:cs typeface="+mn-cs"/>
              </a:rPr>
              <a:t>from the pipeline, so that at time 8, only two instructions are in the pipeline, I3 and I15.</a:t>
            </a:r>
          </a:p>
          <a:p>
            <a:endParaRPr lang="en-US" sz="1200" kern="1200" dirty="0">
              <a:solidFill>
                <a:schemeClr val="tx1"/>
              </a:solidFill>
              <a:effectLst/>
              <a:latin typeface="Times New Roman" pitchFamily="-1" charset="0"/>
              <a:ea typeface="+mn-ea"/>
              <a:cs typeface="+mn-cs"/>
            </a:endParaRPr>
          </a:p>
          <a:p>
            <a:r>
              <a:rPr lang="en-US" sz="1200" kern="1200" dirty="0">
                <a:solidFill>
                  <a:schemeClr val="tx1"/>
                </a:solidFill>
                <a:effectLst/>
                <a:latin typeface="Times New Roman" pitchFamily="-1" charset="0"/>
                <a:ea typeface="+mn-ea"/>
                <a:cs typeface="+mn-cs"/>
              </a:rPr>
              <a:t> From the preceding discussion, it might appear that the greater the number of</a:t>
            </a:r>
          </a:p>
          <a:p>
            <a:r>
              <a:rPr lang="en-US" sz="1200" kern="1200" dirty="0">
                <a:solidFill>
                  <a:schemeClr val="tx1"/>
                </a:solidFill>
                <a:effectLst/>
                <a:latin typeface="Times New Roman" pitchFamily="-1" charset="0"/>
                <a:ea typeface="+mn-ea"/>
                <a:cs typeface="+mn-cs"/>
              </a:rPr>
              <a:t>stages in the pipeline, the faster the execution rate. Some of the IBM S/360 designers</a:t>
            </a:r>
          </a:p>
          <a:p>
            <a:r>
              <a:rPr lang="en-US" sz="1200" kern="1200" dirty="0">
                <a:solidFill>
                  <a:schemeClr val="tx1"/>
                </a:solidFill>
                <a:effectLst/>
                <a:latin typeface="Times New Roman" pitchFamily="-1" charset="0"/>
                <a:ea typeface="+mn-ea"/>
                <a:cs typeface="+mn-cs"/>
              </a:rPr>
              <a:t>pointed out two factors that frustrate this seemingly simple pattern for high-performance</a:t>
            </a:r>
          </a:p>
          <a:p>
            <a:r>
              <a:rPr lang="en-US" sz="1200" kern="1200" dirty="0">
                <a:solidFill>
                  <a:schemeClr val="tx1"/>
                </a:solidFill>
                <a:effectLst/>
                <a:latin typeface="Times New Roman" pitchFamily="-1" charset="0"/>
                <a:ea typeface="+mn-ea"/>
                <a:cs typeface="+mn-cs"/>
              </a:rPr>
              <a:t>design [ANDE67a], and they remain elements that designer must still consider:</a:t>
            </a:r>
          </a:p>
          <a:p>
            <a:endParaRPr lang="en-US" sz="1200" kern="1200" dirty="0">
              <a:solidFill>
                <a:schemeClr val="tx1"/>
              </a:solidFill>
              <a:effectLst/>
              <a:latin typeface="Times New Roman" pitchFamily="-1" charset="0"/>
              <a:ea typeface="+mn-ea"/>
              <a:cs typeface="+mn-cs"/>
            </a:endParaRPr>
          </a:p>
          <a:p>
            <a:r>
              <a:rPr lang="en-US" sz="1200" kern="1200" dirty="0">
                <a:solidFill>
                  <a:schemeClr val="tx1"/>
                </a:solidFill>
                <a:effectLst/>
                <a:latin typeface="Times New Roman" pitchFamily="-1" charset="0"/>
                <a:ea typeface="+mn-ea"/>
                <a:cs typeface="+mn-cs"/>
              </a:rPr>
              <a:t>1.  At each stage of the pipeline, there is some overhead involved in moving data</a:t>
            </a:r>
          </a:p>
          <a:p>
            <a:r>
              <a:rPr lang="en-US" sz="1200" kern="1200" dirty="0">
                <a:solidFill>
                  <a:schemeClr val="tx1"/>
                </a:solidFill>
                <a:effectLst/>
                <a:latin typeface="Times New Roman" pitchFamily="-1" charset="0"/>
                <a:ea typeface="+mn-ea"/>
                <a:cs typeface="+mn-cs"/>
              </a:rPr>
              <a:t>from buffer to buffer and in performing various preparation and delivery functions.</a:t>
            </a:r>
          </a:p>
          <a:p>
            <a:r>
              <a:rPr lang="en-US" sz="1200" kern="1200" dirty="0">
                <a:solidFill>
                  <a:schemeClr val="tx1"/>
                </a:solidFill>
                <a:effectLst/>
                <a:latin typeface="Times New Roman" pitchFamily="-1" charset="0"/>
                <a:ea typeface="+mn-ea"/>
                <a:cs typeface="+mn-cs"/>
              </a:rPr>
              <a:t>This overhead can appreciably lengthen the total execution time of a single</a:t>
            </a:r>
          </a:p>
          <a:p>
            <a:r>
              <a:rPr lang="en-US" sz="1200" kern="1200" dirty="0">
                <a:solidFill>
                  <a:schemeClr val="tx1"/>
                </a:solidFill>
                <a:effectLst/>
                <a:latin typeface="Times New Roman" pitchFamily="-1" charset="0"/>
                <a:ea typeface="+mn-ea"/>
                <a:cs typeface="+mn-cs"/>
              </a:rPr>
              <a:t>instruction. This is significant when sequential instructions are logically dependent,</a:t>
            </a:r>
          </a:p>
          <a:p>
            <a:r>
              <a:rPr lang="en-US" sz="1200" kern="1200" dirty="0">
                <a:solidFill>
                  <a:schemeClr val="tx1"/>
                </a:solidFill>
                <a:effectLst/>
                <a:latin typeface="Times New Roman" pitchFamily="-1" charset="0"/>
                <a:ea typeface="+mn-ea"/>
                <a:cs typeface="+mn-cs"/>
              </a:rPr>
              <a:t>either through heavy use of branching or through memory access dependencies.</a:t>
            </a:r>
          </a:p>
          <a:p>
            <a:endParaRPr lang="en-US" sz="1200" kern="1200" dirty="0">
              <a:solidFill>
                <a:schemeClr val="tx1"/>
              </a:solidFill>
              <a:effectLst/>
              <a:latin typeface="Times New Roman" pitchFamily="-1" charset="0"/>
              <a:ea typeface="+mn-ea"/>
              <a:cs typeface="+mn-cs"/>
            </a:endParaRPr>
          </a:p>
          <a:p>
            <a:r>
              <a:rPr lang="en-US" sz="1200" kern="1200" dirty="0">
                <a:solidFill>
                  <a:schemeClr val="tx1"/>
                </a:solidFill>
                <a:effectLst/>
                <a:latin typeface="Times New Roman" pitchFamily="-1" charset="0"/>
                <a:ea typeface="+mn-ea"/>
                <a:cs typeface="+mn-cs"/>
              </a:rPr>
              <a:t>2.  The amount of control logic required to handle memory and register dependencies</a:t>
            </a:r>
          </a:p>
          <a:p>
            <a:r>
              <a:rPr lang="en-US" sz="1200" kern="1200" dirty="0">
                <a:solidFill>
                  <a:schemeClr val="tx1"/>
                </a:solidFill>
                <a:effectLst/>
                <a:latin typeface="Times New Roman" pitchFamily="-1" charset="0"/>
                <a:ea typeface="+mn-ea"/>
                <a:cs typeface="+mn-cs"/>
              </a:rPr>
              <a:t>and to optimize the use of the pipeline increases enormously with the</a:t>
            </a:r>
          </a:p>
          <a:p>
            <a:r>
              <a:rPr lang="en-US" sz="1200" kern="1200" dirty="0">
                <a:solidFill>
                  <a:schemeClr val="tx1"/>
                </a:solidFill>
                <a:effectLst/>
                <a:latin typeface="Times New Roman" pitchFamily="-1" charset="0"/>
                <a:ea typeface="+mn-ea"/>
                <a:cs typeface="+mn-cs"/>
              </a:rPr>
              <a:t>number of stages. This can lead to a situation where the logic controlling the</a:t>
            </a:r>
          </a:p>
          <a:p>
            <a:r>
              <a:rPr lang="en-US" sz="1200" kern="1200" dirty="0">
                <a:solidFill>
                  <a:schemeClr val="tx1"/>
                </a:solidFill>
                <a:effectLst/>
                <a:latin typeface="Times New Roman" pitchFamily="-1" charset="0"/>
                <a:ea typeface="+mn-ea"/>
                <a:cs typeface="+mn-cs"/>
              </a:rPr>
              <a:t>gating between stages is more complex than the stages being controlled.</a:t>
            </a:r>
          </a:p>
          <a:p>
            <a:r>
              <a:rPr lang="en-US" sz="1200" kern="1200" dirty="0">
                <a:solidFill>
                  <a:schemeClr val="tx1"/>
                </a:solidFill>
                <a:effectLst/>
                <a:latin typeface="Times New Roman" pitchFamily="-1" charset="0"/>
                <a:ea typeface="+mn-ea"/>
                <a:cs typeface="+mn-cs"/>
              </a:rPr>
              <a:t>Another consideration is latching delay: It takes time for pipeline buffers to</a:t>
            </a:r>
          </a:p>
          <a:p>
            <a:r>
              <a:rPr lang="en-US" sz="1200" kern="1200" dirty="0">
                <a:solidFill>
                  <a:schemeClr val="tx1"/>
                </a:solidFill>
                <a:effectLst/>
                <a:latin typeface="Times New Roman" pitchFamily="-1" charset="0"/>
                <a:ea typeface="+mn-ea"/>
                <a:cs typeface="+mn-cs"/>
              </a:rPr>
              <a:t>operate, and this adds to instruction cycle time.</a:t>
            </a:r>
          </a:p>
          <a:p>
            <a:endParaRPr lang="en-US" sz="1200" kern="1200" dirty="0">
              <a:solidFill>
                <a:schemeClr val="tx1"/>
              </a:solidFill>
              <a:effectLst/>
              <a:latin typeface="Times New Roman" pitchFamily="-1" charset="0"/>
              <a:ea typeface="+mn-ea"/>
              <a:cs typeface="+mn-cs"/>
            </a:endParaRPr>
          </a:p>
          <a:p>
            <a:r>
              <a:rPr lang="en-US" sz="1200" kern="1200" dirty="0">
                <a:solidFill>
                  <a:schemeClr val="tx1"/>
                </a:solidFill>
                <a:effectLst/>
                <a:latin typeface="Times New Roman" pitchFamily="-1" charset="0"/>
                <a:ea typeface="+mn-ea"/>
                <a:cs typeface="+mn-cs"/>
              </a:rPr>
              <a:t> Instruction pipelining is a powerful technique for enhancing performance, but</a:t>
            </a:r>
          </a:p>
          <a:p>
            <a:r>
              <a:rPr lang="en-US" sz="1200" kern="1200" dirty="0">
                <a:solidFill>
                  <a:schemeClr val="tx1"/>
                </a:solidFill>
                <a:effectLst/>
                <a:latin typeface="Times New Roman" pitchFamily="-1" charset="0"/>
                <a:ea typeface="+mn-ea"/>
                <a:cs typeface="+mn-cs"/>
              </a:rPr>
              <a:t>requires careful design to achieve optimum results with reasonable complexity.</a:t>
            </a:r>
          </a:p>
          <a:p>
            <a:endParaRPr lang="en-US" sz="1200" kern="1200" dirty="0">
              <a:solidFill>
                <a:schemeClr val="tx1"/>
              </a:solidFill>
              <a:effectLst/>
              <a:latin typeface="Times New Roman" pitchFamily="-1" charset="0"/>
              <a:ea typeface="+mn-ea"/>
              <a:cs typeface="+mn-cs"/>
            </a:endParaRPr>
          </a:p>
          <a:p>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294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39</a:t>
            </a:r>
          </a:p>
        </p:txBody>
      </p:sp>
      <p:sp>
        <p:nvSpPr>
          <p:cNvPr id="8294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294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2950" name="Rectangle 6"/>
          <p:cNvSpPr>
            <a:spLocks noGrp="1" noRot="1" noChangeAspect="1" noChangeArrowheads="1" noTextEdit="1"/>
          </p:cNvSpPr>
          <p:nvPr>
            <p:ph type="sldImg"/>
          </p:nvPr>
        </p:nvSpPr>
        <p:spPr>
          <a:xfrm>
            <a:off x="1150938" y="692150"/>
            <a:ext cx="4556125" cy="3416300"/>
          </a:xfrm>
          <a:ln cap="flat"/>
        </p:spPr>
      </p:sp>
      <p:sp>
        <p:nvSpPr>
          <p:cNvPr id="82951" name="Rectangle 7"/>
          <p:cNvSpPr>
            <a:spLocks noGrp="1" noChangeArrowheads="1"/>
          </p:cNvSpPr>
          <p:nvPr>
            <p:ph type="body" idx="1"/>
          </p:nvPr>
        </p:nvSpPr>
        <p:spPr>
          <a:ln/>
        </p:spPr>
        <p:txBody>
          <a:bodyPr/>
          <a:lstStyle/>
          <a:p>
            <a:r>
              <a:rPr lang="en-US" sz="1200" kern="1200" dirty="0">
                <a:solidFill>
                  <a:schemeClr val="tx1"/>
                </a:solidFill>
                <a:effectLst/>
                <a:latin typeface="Times New Roman" pitchFamily="-1" charset="0"/>
                <a:ea typeface="+mn-ea"/>
                <a:cs typeface="+mn-cs"/>
              </a:rPr>
              <a:t>For the sake of illustration, let us assume equal duration. Using this assumption, Figure 16.10 shows that a six-stage pipeline </a:t>
            </a:r>
          </a:p>
          <a:p>
            <a:r>
              <a:rPr lang="en-US" sz="1200" kern="1200" dirty="0">
                <a:solidFill>
                  <a:schemeClr val="tx1"/>
                </a:solidFill>
                <a:effectLst/>
                <a:latin typeface="Times New Roman" pitchFamily="-1" charset="0"/>
                <a:ea typeface="+mn-ea"/>
                <a:cs typeface="+mn-cs"/>
              </a:rPr>
              <a:t>can reduce the execution time for 9 instructions from 54 time units to 14 time units.</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Several comments are in order: The diagram assumes that each instruction goes through all six stages of the pipeline. This will not always be the case. For example, a load instruction does not need the WO stage. However, to simplify the pipeline hardware, the timing is set up assuming that each instruction requires all six stages. Also, the diagram assumes that all of the stages can be performed in parallel. In particular, it is assumed that there are no memory conflicts. For example, the FI, FO, and WO stages involve a memory access. The diagram implies that all these accesses can occur simultaneously. Most memory systems will not permit that. However, the desired value may be in cache, or the FO or WO stage may be null. Thus, much of the time, memory conflicts will not slow down the pipeline.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effectLst/>
                <a:latin typeface="Times New Roman" pitchFamily="-1" charset="0"/>
                <a:ea typeface="+mn-ea"/>
                <a:cs typeface="+mn-cs"/>
              </a:rPr>
              <a:t> Several other factors serve to limit the performance enhancement. If the six</a:t>
            </a:r>
          </a:p>
          <a:p>
            <a:r>
              <a:rPr lang="en-US" sz="1200" kern="1200" dirty="0">
                <a:solidFill>
                  <a:schemeClr val="tx1"/>
                </a:solidFill>
                <a:effectLst/>
                <a:latin typeface="Times New Roman" pitchFamily="-1" charset="0"/>
                <a:ea typeface="+mn-ea"/>
                <a:cs typeface="+mn-cs"/>
              </a:rPr>
              <a:t>stages are not of equal duration, there will be some waiting involved at various pipeline</a:t>
            </a:r>
          </a:p>
          <a:p>
            <a:r>
              <a:rPr lang="en-US" sz="1200" kern="1200" dirty="0">
                <a:solidFill>
                  <a:schemeClr val="tx1"/>
                </a:solidFill>
                <a:effectLst/>
                <a:latin typeface="Times New Roman" pitchFamily="-1" charset="0"/>
                <a:ea typeface="+mn-ea"/>
                <a:cs typeface="+mn-cs"/>
              </a:rPr>
              <a:t>stages, as discussed before for the two-stage pipeline. Another difficulty is the</a:t>
            </a:r>
          </a:p>
          <a:p>
            <a:r>
              <a:rPr lang="en-US" sz="1200" kern="1200" dirty="0">
                <a:solidFill>
                  <a:schemeClr val="tx1"/>
                </a:solidFill>
                <a:effectLst/>
                <a:latin typeface="Times New Roman" pitchFamily="-1" charset="0"/>
                <a:ea typeface="+mn-ea"/>
                <a:cs typeface="+mn-cs"/>
              </a:rPr>
              <a:t>conditional branch instruction, which can invalidate several instruction fetches. A</a:t>
            </a:r>
          </a:p>
          <a:p>
            <a:r>
              <a:rPr lang="en-US" sz="1200" kern="1200" dirty="0">
                <a:solidFill>
                  <a:schemeClr val="tx1"/>
                </a:solidFill>
                <a:effectLst/>
                <a:latin typeface="Times New Roman" pitchFamily="-1" charset="0"/>
                <a:ea typeface="+mn-ea"/>
                <a:cs typeface="+mn-cs"/>
              </a:rPr>
              <a:t>similar unpredictable event is an interrupt.</a:t>
            </a:r>
          </a:p>
          <a:p>
            <a:endParaRPr lang="en-US" dirty="0"/>
          </a:p>
          <a:p>
            <a:endParaRPr lang="en-GB" dirty="0"/>
          </a:p>
        </p:txBody>
      </p:sp>
    </p:spTree>
    <p:extLst>
      <p:ext uri="{BB962C8B-B14F-4D97-AF65-F5344CB8AC3E}">
        <p14:creationId xmlns:p14="http://schemas.microsoft.com/office/powerpoint/2010/main" val="2785207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a:solidFill>
                  <a:schemeClr val="tx1"/>
                </a:solidFill>
                <a:effectLst/>
                <a:latin typeface="Times New Roman" pitchFamily="-1" charset="0"/>
                <a:ea typeface="+mn-ea"/>
                <a:cs typeface="+mn-cs"/>
              </a:rPr>
              <a:t>Figure 16.14a plots the speedup factor as a function of the number of instructions</a:t>
            </a:r>
          </a:p>
          <a:p>
            <a:r>
              <a:rPr lang="en-US" sz="1200" kern="1200" dirty="0">
                <a:solidFill>
                  <a:schemeClr val="tx1"/>
                </a:solidFill>
                <a:effectLst/>
                <a:latin typeface="Times New Roman" pitchFamily="-1" charset="0"/>
                <a:ea typeface="+mn-ea"/>
                <a:cs typeface="+mn-cs"/>
              </a:rPr>
              <a:t>that are executed without a branch.</a:t>
            </a:r>
          </a:p>
          <a:p>
            <a:endParaRPr lang="en-US" sz="1200" kern="1200" dirty="0">
              <a:solidFill>
                <a:schemeClr val="tx1"/>
              </a:solidFill>
              <a:effectLst/>
              <a:latin typeface="Times New Roman" pitchFamily="-1" charset="0"/>
              <a:ea typeface="+mn-ea"/>
              <a:cs typeface="+mn-cs"/>
            </a:endParaRPr>
          </a:p>
          <a:p>
            <a:r>
              <a:rPr lang="en-US" sz="1200" kern="1200" dirty="0">
                <a:solidFill>
                  <a:schemeClr val="tx1"/>
                </a:solidFill>
                <a:effectLst/>
                <a:latin typeface="Times New Roman" pitchFamily="-1" charset="0"/>
                <a:ea typeface="+mn-ea"/>
                <a:cs typeface="+mn-cs"/>
              </a:rPr>
              <a:t> Figure 16.14b shows the speedup factor as a function of</a:t>
            </a:r>
          </a:p>
          <a:p>
            <a:r>
              <a:rPr lang="en-US" sz="1200" kern="1200" dirty="0">
                <a:solidFill>
                  <a:schemeClr val="tx1"/>
                </a:solidFill>
                <a:effectLst/>
                <a:latin typeface="Times New Roman" pitchFamily="-1" charset="0"/>
                <a:ea typeface="+mn-ea"/>
                <a:cs typeface="+mn-cs"/>
              </a:rPr>
              <a:t>the number of stages in the instruction pipeline.  In this case, the speedup factor</a:t>
            </a:r>
          </a:p>
          <a:p>
            <a:r>
              <a:rPr lang="en-US" sz="1200" kern="1200" dirty="0">
                <a:solidFill>
                  <a:schemeClr val="tx1"/>
                </a:solidFill>
                <a:effectLst/>
                <a:latin typeface="Times New Roman" pitchFamily="-1" charset="0"/>
                <a:ea typeface="+mn-ea"/>
                <a:cs typeface="+mn-cs"/>
              </a:rPr>
              <a:t>approaches the number of instructions that can be fed into the pipeline without</a:t>
            </a:r>
          </a:p>
          <a:p>
            <a:r>
              <a:rPr lang="en-US" sz="1200" kern="1200" dirty="0">
                <a:solidFill>
                  <a:schemeClr val="tx1"/>
                </a:solidFill>
                <a:effectLst/>
                <a:latin typeface="Times New Roman" pitchFamily="-1" charset="0"/>
                <a:ea typeface="+mn-ea"/>
                <a:cs typeface="+mn-cs"/>
              </a:rPr>
              <a:t>branches. Thus, the larger the number of pipeline stages, the greater the potential</a:t>
            </a:r>
          </a:p>
          <a:p>
            <a:r>
              <a:rPr lang="en-US" sz="1200" kern="1200" dirty="0">
                <a:solidFill>
                  <a:schemeClr val="tx1"/>
                </a:solidFill>
                <a:effectLst/>
                <a:latin typeface="Times New Roman" pitchFamily="-1" charset="0"/>
                <a:ea typeface="+mn-ea"/>
                <a:cs typeface="+mn-cs"/>
              </a:rPr>
              <a:t>for speedup. However, as a practical matter, the potential gains of additional</a:t>
            </a:r>
          </a:p>
          <a:p>
            <a:r>
              <a:rPr lang="en-US" sz="1200" kern="1200" dirty="0">
                <a:solidFill>
                  <a:schemeClr val="tx1"/>
                </a:solidFill>
                <a:effectLst/>
                <a:latin typeface="Times New Roman" pitchFamily="-1" charset="0"/>
                <a:ea typeface="+mn-ea"/>
                <a:cs typeface="+mn-cs"/>
              </a:rPr>
              <a:t>pipeline stages are countered by increases in cost, delays between stages, and the</a:t>
            </a:r>
          </a:p>
          <a:p>
            <a:r>
              <a:rPr lang="en-US" sz="1200" kern="1200" dirty="0">
                <a:solidFill>
                  <a:schemeClr val="tx1"/>
                </a:solidFill>
                <a:effectLst/>
                <a:latin typeface="Times New Roman" pitchFamily="-1" charset="0"/>
                <a:ea typeface="+mn-ea"/>
                <a:cs typeface="+mn-cs"/>
              </a:rPr>
              <a:t>fact that branches will be encountered requiring the flushing of the pipeline.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Times New Roman" pitchFamily="-1" charset="0"/>
                <a:ea typeface="+mn-ea"/>
                <a:cs typeface="+mn-cs"/>
              </a:rPr>
              <a:t>In the previous subsection, we mentioned some of the situations that can result in less than optimal pipeline performance. In this subsection, we examine this issue in a more systematic way. Chapter 18 revisits this issue, in more detail, after we have introduced the complexities found in superscalar pipeline organizations.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 </a:t>
            </a:r>
            <a:r>
              <a:rPr lang="en-US" sz="1200" b="1" kern="1200" dirty="0">
                <a:solidFill>
                  <a:schemeClr val="tx1"/>
                </a:solidFill>
                <a:latin typeface="Times New Roman" pitchFamily="-1" charset="0"/>
                <a:ea typeface="+mn-ea"/>
                <a:cs typeface="+mn-cs"/>
              </a:rPr>
              <a:t>pipeline hazard </a:t>
            </a:r>
            <a:r>
              <a:rPr lang="en-US" sz="1200" kern="1200" dirty="0">
                <a:solidFill>
                  <a:schemeClr val="tx1"/>
                </a:solidFill>
                <a:latin typeface="Times New Roman" pitchFamily="-1" charset="0"/>
                <a:ea typeface="+mn-ea"/>
                <a:cs typeface="+mn-cs"/>
              </a:rPr>
              <a:t>occurs when the pipeline, or some portion of the pipeline, must stall because conditions do not permit continued execution. Such a pipe- line stall is also referred to as a </a:t>
            </a:r>
            <a:r>
              <a:rPr lang="en-US" sz="1200" i="1" kern="1200" dirty="0">
                <a:solidFill>
                  <a:schemeClr val="tx1"/>
                </a:solidFill>
                <a:latin typeface="Times New Roman" pitchFamily="-1" charset="0"/>
                <a:ea typeface="+mn-ea"/>
                <a:cs typeface="+mn-cs"/>
              </a:rPr>
              <a:t>pipeline bubble. </a:t>
            </a:r>
            <a:r>
              <a:rPr lang="en-US" sz="1200" kern="1200" dirty="0">
                <a:solidFill>
                  <a:schemeClr val="tx1"/>
                </a:solidFill>
                <a:latin typeface="Times New Roman" pitchFamily="-1" charset="0"/>
                <a:ea typeface="+mn-ea"/>
                <a:cs typeface="+mn-cs"/>
              </a:rPr>
              <a:t>There are three types of hazards: resource, data, and control.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92500"/>
          </a:bodyPr>
          <a:lstStyle/>
          <a:p>
            <a:r>
              <a:rPr lang="en-US" sz="1200" kern="1200" dirty="0">
                <a:solidFill>
                  <a:schemeClr val="tx1"/>
                </a:solidFill>
                <a:latin typeface="Times New Roman" pitchFamily="-1" charset="0"/>
                <a:ea typeface="+mn-ea"/>
                <a:cs typeface="+mn-cs"/>
              </a:rPr>
              <a:t>A resource hazard occurs when two (or more) instructions that are already in the pipeline need the same resource. The result is that the instructions must be executed in serial rather than parallel for a portion of the pipeline. A resource hazard is sometime referred to as a </a:t>
            </a:r>
            <a:r>
              <a:rPr lang="en-US" sz="1200" i="1" kern="1200" dirty="0">
                <a:solidFill>
                  <a:schemeClr val="tx1"/>
                </a:solidFill>
                <a:latin typeface="Times New Roman" pitchFamily="-1" charset="0"/>
                <a:ea typeface="+mn-ea"/>
                <a:cs typeface="+mn-cs"/>
              </a:rPr>
              <a:t>structural hazard.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Let us consider a simple example of a resource hazard. Assume a simplified five-stage pipeline, in which each stage takes one clock cycle. Figure 16.15a shows the ideal case, in which a new instruction enters the pipeline each clock cycle. Now assume that main memory has a single port and that all instruction fetches and data reads and writes must be performed one at a time. Further, ignore the cache. In this case, an operand read to or write from memory cannot be performed in parallel with an instruction fetch. This is illustrated in Figure 16.15b, which assumes that the source operand for instruction I1 is in memory, rather than a register. Therefore, the fetch instruction stage of the pipeline must idle for one cycle before beginning the instruction fetch for instruction I3. The figure assumes that all other operands are in registers.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Another example of a resource conflict is a situation in which multiple instructions are ready to enter the execute instruction phase and there is a single ALU. One solutions to such resource hazards is to increase available resources, such as having multiple ports into main memory and multiple ALU units. </a:t>
            </a:r>
            <a:endParaRPr lang="en-US" dirty="0"/>
          </a:p>
          <a:p>
            <a:r>
              <a:rPr lang="en-US" sz="1200" kern="1200" dirty="0">
                <a:solidFill>
                  <a:schemeClr val="tx1"/>
                </a:solidFill>
                <a:latin typeface="Times New Roman" pitchFamily="-1" charset="0"/>
                <a:ea typeface="+mn-ea"/>
                <a:cs typeface="+mn-cs"/>
              </a:rPr>
              <a:t> </a:t>
            </a:r>
            <a:endParaRPr lang="en-US" dirty="0"/>
          </a:p>
          <a:p>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77500" lnSpcReduction="2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A data hazard occurs when there is a conflict in the access of an operand location. In general terms, we can state the hazard in this form: Two instructions in a program are to be executed in sequence and both access a particular memory or register operand. If the two instructions are executed in strict sequence, no problem occurs. However, if the instructions are executed in a pipeline, then it is possible for the operand value to be updated in such a way as to produce a different result than would occur with strict sequential execution. In other words, the program produces an incorrect result because of the use of pipelining.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 As an example, consider the following x86 machine instruction sequence:</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ADD EAX, EBX /* EAX = EAX + EBX</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SUB ECX, EAX /* ECX = ECX – EAX</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The first instruction adds the contents of the 32-bit registers EAX and EBX</a:t>
            </a:r>
          </a:p>
          <a:p>
            <a:r>
              <a:rPr lang="en-US" sz="1200" b="0" i="0" u="none" strike="noStrike" kern="1200" baseline="0" dirty="0">
                <a:solidFill>
                  <a:schemeClr val="tx1"/>
                </a:solidFill>
                <a:latin typeface="Times New Roman" pitchFamily="-1" charset="0"/>
                <a:ea typeface="+mn-ea"/>
                <a:cs typeface="+mn-cs"/>
              </a:rPr>
              <a:t>and stores the result in EAX. The second instruction subtracts the contents of EAX</a:t>
            </a:r>
          </a:p>
          <a:p>
            <a:r>
              <a:rPr lang="en-US" sz="1200" b="0" i="0" u="none" strike="noStrike" kern="1200" baseline="0" dirty="0">
                <a:solidFill>
                  <a:schemeClr val="tx1"/>
                </a:solidFill>
                <a:latin typeface="Times New Roman" pitchFamily="-1" charset="0"/>
                <a:ea typeface="+mn-ea"/>
                <a:cs typeface="+mn-cs"/>
              </a:rPr>
              <a:t>from ECX and stores the result in ECX. Figure 16.16 shows the pipeline behavior.</a:t>
            </a:r>
            <a:endParaRPr lang="en-US" dirty="0"/>
          </a:p>
          <a:p>
            <a:r>
              <a:rPr lang="en-US" sz="1200" kern="1200" dirty="0">
                <a:solidFill>
                  <a:schemeClr val="tx1"/>
                </a:solidFill>
                <a:effectLst/>
                <a:latin typeface="Times New Roman" pitchFamily="-1" charset="0"/>
                <a:ea typeface="+mn-ea"/>
                <a:cs typeface="+mn-cs"/>
              </a:rPr>
              <a:t>The ADD instruction does not update register EAX until the end of stage 5, which</a:t>
            </a:r>
          </a:p>
          <a:p>
            <a:r>
              <a:rPr lang="en-US" sz="1200" kern="1200" dirty="0">
                <a:solidFill>
                  <a:schemeClr val="tx1"/>
                </a:solidFill>
                <a:effectLst/>
                <a:latin typeface="Times New Roman" pitchFamily="-1" charset="0"/>
                <a:ea typeface="+mn-ea"/>
                <a:cs typeface="+mn-cs"/>
              </a:rPr>
              <a:t>occurs at clock cycle 5. But the SUB instruction needs that value at the beginning of</a:t>
            </a:r>
          </a:p>
          <a:p>
            <a:r>
              <a:rPr lang="en-US" sz="1200" kern="1200" dirty="0">
                <a:solidFill>
                  <a:schemeClr val="tx1"/>
                </a:solidFill>
                <a:effectLst/>
                <a:latin typeface="Times New Roman" pitchFamily="-1" charset="0"/>
                <a:ea typeface="+mn-ea"/>
                <a:cs typeface="+mn-cs"/>
              </a:rPr>
              <a:t> its stage 2, which occurs at clock cycle 4. To maintain correct operation, the pipeline</a:t>
            </a:r>
          </a:p>
          <a:p>
            <a:r>
              <a:rPr lang="en-US" sz="1200" kern="1200" dirty="0">
                <a:solidFill>
                  <a:schemeClr val="tx1"/>
                </a:solidFill>
                <a:effectLst/>
                <a:latin typeface="Times New Roman" pitchFamily="-1" charset="0"/>
                <a:ea typeface="+mn-ea"/>
                <a:cs typeface="+mn-cs"/>
              </a:rPr>
              <a:t>must stall for two clocks cycles. Thus, in the absence of special hardware and specific</a:t>
            </a:r>
          </a:p>
          <a:p>
            <a:r>
              <a:rPr lang="en-US" sz="1200" kern="1200" dirty="0">
                <a:solidFill>
                  <a:schemeClr val="tx1"/>
                </a:solidFill>
                <a:effectLst/>
                <a:latin typeface="Times New Roman" pitchFamily="-1" charset="0"/>
                <a:ea typeface="+mn-ea"/>
                <a:cs typeface="+mn-cs"/>
              </a:rPr>
              <a:t>avoidance algorithms, such a data hazard results in inefficient pipeline usage.</a:t>
            </a:r>
          </a:p>
          <a:p>
            <a:endParaRPr lang="en-US" sz="1200" kern="1200" dirty="0">
              <a:solidFill>
                <a:schemeClr val="tx1"/>
              </a:solidFill>
              <a:effectLst/>
              <a:latin typeface="Times New Roman" pitchFamily="-1" charset="0"/>
              <a:ea typeface="+mn-ea"/>
              <a:cs typeface="+mn-cs"/>
            </a:endParaRPr>
          </a:p>
          <a:p>
            <a:r>
              <a:rPr lang="en-US" sz="1200" b="1" kern="1200" dirty="0">
                <a:solidFill>
                  <a:schemeClr val="tx1"/>
                </a:solidFill>
                <a:effectLst/>
                <a:latin typeface="Times New Roman" pitchFamily="-1" charset="0"/>
                <a:ea typeface="+mn-ea"/>
                <a:cs typeface="+mn-cs"/>
              </a:rPr>
              <a:t>Can improve the speed by implement write and read in the same cycle. The WO happen at the first half of 5</a:t>
            </a:r>
            <a:r>
              <a:rPr lang="en-US" sz="1200" b="1" kern="1200" baseline="30000" dirty="0">
                <a:solidFill>
                  <a:schemeClr val="tx1"/>
                </a:solidFill>
                <a:effectLst/>
                <a:latin typeface="Times New Roman" pitchFamily="-1" charset="0"/>
                <a:ea typeface="+mn-ea"/>
                <a:cs typeface="+mn-cs"/>
              </a:rPr>
              <a:t>th</a:t>
            </a:r>
            <a:r>
              <a:rPr lang="en-US" sz="1200" b="1" kern="1200" dirty="0">
                <a:solidFill>
                  <a:schemeClr val="tx1"/>
                </a:solidFill>
                <a:effectLst/>
                <a:latin typeface="Times New Roman" pitchFamily="-1" charset="0"/>
                <a:ea typeface="+mn-ea"/>
                <a:cs typeface="+mn-cs"/>
              </a:rPr>
              <a:t> cycle and the FO happen at the second half of 5</a:t>
            </a:r>
            <a:r>
              <a:rPr lang="en-US" sz="1200" b="1" kern="1200" baseline="30000" dirty="0">
                <a:solidFill>
                  <a:schemeClr val="tx1"/>
                </a:solidFill>
                <a:effectLst/>
                <a:latin typeface="Times New Roman" pitchFamily="-1" charset="0"/>
                <a:ea typeface="+mn-ea"/>
                <a:cs typeface="+mn-cs"/>
              </a:rPr>
              <a:t>th</a:t>
            </a:r>
            <a:r>
              <a:rPr lang="en-US" sz="1200" b="1" kern="1200" dirty="0">
                <a:solidFill>
                  <a:schemeClr val="tx1"/>
                </a:solidFill>
                <a:effectLst/>
                <a:latin typeface="Times New Roman" pitchFamily="-1" charset="0"/>
                <a:ea typeface="+mn-ea"/>
                <a:cs typeface="+mn-cs"/>
              </a:rPr>
              <a:t> cycle. Then, the SUB instruction can be finished one cycle earlier as compare to the method of Idle implementation.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1" charset="0"/>
              <a:ea typeface="+mn-ea"/>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Times New Roman" pitchFamily="-1" charset="0"/>
                <a:ea typeface="+mn-ea"/>
                <a:cs typeface="+mn-cs"/>
              </a:rPr>
              <a:t>There are three types of data hazards;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Read after write (RAW), or true dependency: </a:t>
            </a:r>
            <a:r>
              <a:rPr lang="en-US" sz="1200" kern="1200" dirty="0">
                <a:solidFill>
                  <a:schemeClr val="tx1"/>
                </a:solidFill>
                <a:latin typeface="Times New Roman" pitchFamily="-1" charset="0"/>
                <a:ea typeface="+mn-ea"/>
                <a:cs typeface="+mn-cs"/>
              </a:rPr>
              <a:t>An instruction modifies a register or memory location and a succeeding instruction reads the data in that memory or register location. A hazard occurs if the read takes place before the write operation is complete.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Write after read (WAR), or antidependency: </a:t>
            </a:r>
            <a:r>
              <a:rPr lang="en-US" sz="1200" b="0" kern="1200" dirty="0">
                <a:solidFill>
                  <a:schemeClr val="tx1"/>
                </a:solidFill>
                <a:latin typeface="Times New Roman" pitchFamily="-1" charset="0"/>
                <a:ea typeface="+mn-ea"/>
                <a:cs typeface="+mn-cs"/>
              </a:rPr>
              <a:t>An instruction reads a register or </a:t>
            </a:r>
            <a:r>
              <a:rPr lang="en-US" sz="1200" kern="1200" dirty="0">
                <a:solidFill>
                  <a:schemeClr val="tx1"/>
                </a:solidFill>
                <a:latin typeface="Times New Roman" pitchFamily="-1" charset="0"/>
                <a:ea typeface="+mn-ea"/>
                <a:cs typeface="+mn-cs"/>
              </a:rPr>
              <a:t>memory location and a succeeding instruction writes to the location. A hazard occurs if the write operation completes before the read operation takes place.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Write after write (WAW), or output dependency: </a:t>
            </a:r>
            <a:r>
              <a:rPr lang="en-US" sz="1200" kern="1200" dirty="0">
                <a:solidFill>
                  <a:schemeClr val="tx1"/>
                </a:solidFill>
                <a:latin typeface="Times New Roman" pitchFamily="-1" charset="0"/>
                <a:ea typeface="+mn-ea"/>
                <a:cs typeface="+mn-cs"/>
              </a:rPr>
              <a:t>Two instructions both write to the same location. A hazard occurs if the write operations take place in the reverse order of the intended sequence.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example of Figure 16.16 is a RAW hazard. The other two hazards are best discussed in the context of superscalar organization, discussed in Chapter 18.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 </a:t>
            </a:r>
            <a:endParaRPr lang="en-US" dirty="0"/>
          </a:p>
          <a:p>
            <a:endParaRPr lang="en-US" dirty="0"/>
          </a:p>
          <a:p>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92500" lnSpcReduction="1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A control hazard, also known as a </a:t>
            </a:r>
            <a:r>
              <a:rPr lang="en-US" sz="1200" i="1" kern="1200" dirty="0">
                <a:solidFill>
                  <a:schemeClr val="tx1"/>
                </a:solidFill>
                <a:latin typeface="Times New Roman" pitchFamily="-1" charset="0"/>
                <a:ea typeface="+mn-ea"/>
                <a:cs typeface="+mn-cs"/>
              </a:rPr>
              <a:t>branch hazard, </a:t>
            </a:r>
            <a:r>
              <a:rPr lang="en-US" sz="1200" kern="1200" dirty="0">
                <a:solidFill>
                  <a:schemeClr val="tx1"/>
                </a:solidFill>
                <a:latin typeface="Times New Roman" pitchFamily="-1" charset="0"/>
                <a:ea typeface="+mn-ea"/>
                <a:cs typeface="+mn-cs"/>
              </a:rPr>
              <a:t>occurs when the pipeline makes the wrong decision on a branch prediction and therefore brings instructions into the pipeline that must subsequently be discarded. We discuss approaches to dealing with control hazards next. </a:t>
            </a:r>
            <a:endParaRPr lang="en-US" dirty="0"/>
          </a:p>
          <a:p>
            <a:endParaRPr lang="en-US" dirty="0"/>
          </a:p>
          <a:p>
            <a:r>
              <a:rPr lang="en-US" sz="1200" kern="1200" dirty="0">
                <a:solidFill>
                  <a:schemeClr val="tx1"/>
                </a:solidFill>
                <a:latin typeface="Times New Roman" pitchFamily="-1" charset="0"/>
                <a:ea typeface="+mn-ea"/>
                <a:cs typeface="+mn-cs"/>
              </a:rPr>
              <a:t>One of the major problems in designing an instruction pipeline is assuring a steady flow of instructions to the initial stages of the pipeline. The primary impediment, as we have seen, is the conditional branch instruction. Until the instruction is actually executed, it is impossible to determine whether the branch will be taken or not.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 variety of approaches have been taken for dealing with conditional branches: </a:t>
            </a:r>
            <a:endParaRPr lang="en-US" dirty="0"/>
          </a:p>
          <a:p>
            <a:endParaRPr lang="en-US" sz="1200" kern="1200" dirty="0">
              <a:solidFill>
                <a:schemeClr val="tx1"/>
              </a:solidFill>
              <a:latin typeface="Times New Roman" pitchFamily="-1" charset="0"/>
              <a:ea typeface="+mn-ea"/>
              <a:cs typeface="+mn-cs"/>
            </a:endParaRPr>
          </a:p>
          <a:p>
            <a:pPr marL="171450" indent="-171450">
              <a:buFont typeface="Arial" charset="0"/>
              <a:buChar char="•"/>
            </a:pPr>
            <a:r>
              <a:rPr lang="en-US" sz="1200" kern="1200" dirty="0">
                <a:solidFill>
                  <a:schemeClr val="tx1"/>
                </a:solidFill>
                <a:latin typeface="Times New Roman" pitchFamily="-1" charset="0"/>
                <a:ea typeface="+mn-ea"/>
                <a:cs typeface="+mn-cs"/>
              </a:rPr>
              <a:t>Multiple streams </a:t>
            </a:r>
          </a:p>
          <a:p>
            <a:pPr marL="171450" indent="-171450">
              <a:buFont typeface="Arial" charset="0"/>
              <a:buChar char="•"/>
            </a:pPr>
            <a:endParaRPr lang="en-US" sz="1200" kern="1200" dirty="0">
              <a:solidFill>
                <a:schemeClr val="tx1"/>
              </a:solidFill>
              <a:latin typeface="Times New Roman" pitchFamily="-1" charset="0"/>
              <a:ea typeface="+mn-ea"/>
              <a:cs typeface="+mn-cs"/>
            </a:endParaRPr>
          </a:p>
          <a:p>
            <a:pPr marL="171450" indent="-171450">
              <a:buFont typeface="Arial" charset="0"/>
              <a:buChar char="•"/>
            </a:pPr>
            <a:r>
              <a:rPr lang="en-US" sz="1200" kern="1200" dirty="0">
                <a:solidFill>
                  <a:schemeClr val="tx1"/>
                </a:solidFill>
                <a:latin typeface="Times New Roman" pitchFamily="-1" charset="0"/>
                <a:ea typeface="+mn-ea"/>
                <a:cs typeface="+mn-cs"/>
              </a:rPr>
              <a:t>Prefetch branch target </a:t>
            </a:r>
          </a:p>
          <a:p>
            <a:pPr marL="171450" indent="-171450">
              <a:buFont typeface="Arial" charset="0"/>
              <a:buChar char="•"/>
            </a:pPr>
            <a:endParaRPr lang="en-US" sz="1200" kern="1200" dirty="0">
              <a:solidFill>
                <a:schemeClr val="tx1"/>
              </a:solidFill>
              <a:latin typeface="Times New Roman" pitchFamily="-1" charset="0"/>
              <a:ea typeface="+mn-ea"/>
              <a:cs typeface="+mn-cs"/>
            </a:endParaRPr>
          </a:p>
          <a:p>
            <a:pPr marL="171450" indent="-171450">
              <a:buFont typeface="Arial" charset="0"/>
              <a:buChar char="•"/>
            </a:pPr>
            <a:r>
              <a:rPr lang="en-US" sz="1200" kern="1200" dirty="0">
                <a:solidFill>
                  <a:schemeClr val="tx1"/>
                </a:solidFill>
                <a:latin typeface="Times New Roman" pitchFamily="-1" charset="0"/>
                <a:ea typeface="+mn-ea"/>
                <a:cs typeface="+mn-cs"/>
              </a:rPr>
              <a:t>Loop buffer </a:t>
            </a:r>
          </a:p>
          <a:p>
            <a:pPr marL="171450" indent="-171450">
              <a:buFont typeface="Arial" charset="0"/>
              <a:buChar char="•"/>
            </a:pPr>
            <a:endParaRPr lang="en-US" sz="1200" kern="1200" dirty="0">
              <a:solidFill>
                <a:schemeClr val="tx1"/>
              </a:solidFill>
              <a:latin typeface="Times New Roman" pitchFamily="-1" charset="0"/>
              <a:ea typeface="+mn-ea"/>
              <a:cs typeface="+mn-cs"/>
            </a:endParaRPr>
          </a:p>
          <a:p>
            <a:pPr marL="171450" indent="-171450">
              <a:buFont typeface="Arial" charset="0"/>
              <a:buChar char="•"/>
            </a:pPr>
            <a:r>
              <a:rPr lang="en-US" sz="1200" kern="1200" dirty="0">
                <a:solidFill>
                  <a:schemeClr val="tx1"/>
                </a:solidFill>
                <a:latin typeface="Times New Roman" pitchFamily="-1" charset="0"/>
                <a:ea typeface="+mn-ea"/>
                <a:cs typeface="+mn-cs"/>
              </a:rPr>
              <a:t>Branch prediction </a:t>
            </a:r>
          </a:p>
          <a:p>
            <a:pPr marL="171450" indent="-171450">
              <a:buFont typeface="Arial" charset="0"/>
              <a:buChar char="•"/>
            </a:pPr>
            <a:endParaRPr lang="en-US" sz="1200" kern="1200" dirty="0">
              <a:solidFill>
                <a:schemeClr val="tx1"/>
              </a:solidFill>
              <a:latin typeface="Times New Roman" pitchFamily="-1" charset="0"/>
              <a:ea typeface="+mn-ea"/>
              <a:cs typeface="+mn-cs"/>
            </a:endParaRPr>
          </a:p>
          <a:p>
            <a:pPr marL="171450" indent="-171450">
              <a:buFont typeface="Arial" charset="0"/>
              <a:buChar char="•"/>
            </a:pPr>
            <a:r>
              <a:rPr lang="en-US" sz="1200" kern="1200" dirty="0">
                <a:solidFill>
                  <a:schemeClr val="tx1"/>
                </a:solidFill>
                <a:latin typeface="Times New Roman" pitchFamily="-1" charset="0"/>
                <a:ea typeface="+mn-ea"/>
                <a:cs typeface="+mn-cs"/>
              </a:rPr>
              <a:t>Delayed branch </a:t>
            </a:r>
          </a:p>
          <a:p>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909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42</a:t>
            </a:r>
          </a:p>
        </p:txBody>
      </p:sp>
      <p:sp>
        <p:nvSpPr>
          <p:cNvPr id="8909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909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9094" name="Rectangle 6"/>
          <p:cNvSpPr>
            <a:spLocks noGrp="1" noRot="1" noChangeAspect="1" noChangeArrowheads="1" noTextEdit="1"/>
          </p:cNvSpPr>
          <p:nvPr>
            <p:ph type="sldImg"/>
          </p:nvPr>
        </p:nvSpPr>
        <p:spPr>
          <a:xfrm>
            <a:off x="1150938" y="692150"/>
            <a:ext cx="4556125" cy="3416300"/>
          </a:xfrm>
          <a:ln cap="flat"/>
        </p:spPr>
      </p:sp>
      <p:sp>
        <p:nvSpPr>
          <p:cNvPr id="89095"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A simple pipeline suffers a penalty for a branch instruction because it must choose one of two instructions to fetch next and may make the wrong choice. A brute-force approach is to replicate the initial portions of the pipeline and allow the pipeline to fetch both instructions, making use of two streams. There are two problems with this approach: </a:t>
            </a:r>
          </a:p>
          <a:p>
            <a:endParaRPr lang="en-US" dirty="0"/>
          </a:p>
          <a:p>
            <a:pPr marL="628650" lvl="1" indent="-171450">
              <a:buFont typeface="Arial" charset="0"/>
              <a:buChar char="•"/>
            </a:pPr>
            <a:r>
              <a:rPr lang="en-US" sz="1200" kern="1200" dirty="0">
                <a:solidFill>
                  <a:schemeClr val="tx1"/>
                </a:solidFill>
                <a:latin typeface="Times New Roman" pitchFamily="-1" charset="0"/>
                <a:ea typeface="ＭＳ Ｐゴシック" pitchFamily="-1" charset="-128"/>
                <a:cs typeface="+mn-cs"/>
              </a:rPr>
              <a:t>With multiple pipelines there are contention delays for access to the registers and to memory. </a:t>
            </a:r>
          </a:p>
          <a:p>
            <a:pPr lvl="1"/>
            <a:endParaRPr lang="en-US" sz="1200" kern="1200" dirty="0">
              <a:solidFill>
                <a:schemeClr val="tx1"/>
              </a:solidFill>
              <a:latin typeface="Times New Roman" pitchFamily="-1" charset="0"/>
              <a:ea typeface="ＭＳ Ｐゴシック" pitchFamily="-1" charset="-128"/>
              <a:cs typeface="+mn-cs"/>
            </a:endParaRPr>
          </a:p>
          <a:p>
            <a:pPr marL="628650" lvl="1" indent="-171450">
              <a:buFont typeface="Arial" charset="0"/>
              <a:buChar char="•"/>
            </a:pPr>
            <a:r>
              <a:rPr lang="en-US" sz="1200" kern="1200" dirty="0">
                <a:solidFill>
                  <a:schemeClr val="tx1"/>
                </a:solidFill>
                <a:latin typeface="Times New Roman" pitchFamily="-1" charset="0"/>
                <a:ea typeface="ＭＳ Ｐゴシック" pitchFamily="-1" charset="-128"/>
                <a:cs typeface="+mn-cs"/>
              </a:rPr>
              <a:t>Additional branch instructions may enter the pipeline (either stream) before the original branch decision is resolved. Each such instruction needs an additional stream. </a:t>
            </a:r>
          </a:p>
          <a:p>
            <a:pPr lvl="1"/>
            <a:endParaRPr lang="en-US" sz="1200" kern="1200" dirty="0">
              <a:solidFill>
                <a:schemeClr val="tx1"/>
              </a:solidFill>
              <a:latin typeface="Times New Roman" pitchFamily="-1" charset="0"/>
              <a:ea typeface="ＭＳ Ｐゴシック" pitchFamily="-1" charset="-128"/>
              <a:cs typeface="+mn-cs"/>
            </a:endParaRPr>
          </a:p>
          <a:p>
            <a:pPr lvl="1"/>
            <a:r>
              <a:rPr lang="en-US" sz="1200" kern="1200" dirty="0">
                <a:solidFill>
                  <a:schemeClr val="tx1"/>
                </a:solidFill>
                <a:latin typeface="Times New Roman" pitchFamily="-1" charset="0"/>
                <a:ea typeface="ＭＳ Ｐゴシック" pitchFamily="-1" charset="-128"/>
                <a:cs typeface="+mn-cs"/>
              </a:rPr>
              <a:t>Despite these drawbacks, this strategy can improve performance. Examples of machines with two or more pipeline streams are the IBM 370/168 and the IBM 3033. </a:t>
            </a:r>
          </a:p>
          <a:p>
            <a:endParaRPr lang="en-GB"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113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43</a:t>
            </a:r>
          </a:p>
        </p:txBody>
      </p:sp>
      <p:sp>
        <p:nvSpPr>
          <p:cNvPr id="9114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114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1142" name="Rectangle 6"/>
          <p:cNvSpPr>
            <a:spLocks noGrp="1" noRot="1" noChangeAspect="1" noChangeArrowheads="1" noTextEdit="1"/>
          </p:cNvSpPr>
          <p:nvPr>
            <p:ph type="sldImg"/>
          </p:nvPr>
        </p:nvSpPr>
        <p:spPr>
          <a:xfrm>
            <a:off x="1150938" y="692150"/>
            <a:ext cx="4556125" cy="3416300"/>
          </a:xfrm>
          <a:ln cap="flat"/>
        </p:spPr>
      </p:sp>
      <p:sp>
        <p:nvSpPr>
          <p:cNvPr id="91143"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When a conditional branch is recognized, the target of the branch is prefetched, in addition to the instruction following the branch. This target is then saved until the branch instruction is executed. If the branch is taken, the target has already been prefetched.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IBM 360/91 uses this approach. </a:t>
            </a:r>
            <a:endParaRPr lang="en-US" dirty="0"/>
          </a:p>
          <a:p>
            <a:endParaRPr lang="en-GB"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318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44</a:t>
            </a:r>
          </a:p>
        </p:txBody>
      </p:sp>
      <p:sp>
        <p:nvSpPr>
          <p:cNvPr id="9318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318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3190" name="Rectangle 6"/>
          <p:cNvSpPr>
            <a:spLocks noGrp="1" noRot="1" noChangeAspect="1" noChangeArrowheads="1" noTextEdit="1"/>
          </p:cNvSpPr>
          <p:nvPr>
            <p:ph type="sldImg"/>
          </p:nvPr>
        </p:nvSpPr>
        <p:spPr>
          <a:xfrm>
            <a:off x="1150938" y="692150"/>
            <a:ext cx="4556125" cy="3416300"/>
          </a:xfrm>
          <a:ln cap="flat"/>
        </p:spPr>
      </p:sp>
      <p:sp>
        <p:nvSpPr>
          <p:cNvPr id="93191"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A loop buffer is a small, very-high-speed memory maintained by the instruction fetch stage of the pipeline and containing the </a:t>
            </a:r>
            <a:r>
              <a:rPr lang="en-US" sz="1200" i="1" kern="1200" dirty="0">
                <a:solidFill>
                  <a:schemeClr val="tx1"/>
                </a:solidFill>
                <a:latin typeface="Times New Roman" pitchFamily="-1" charset="0"/>
                <a:ea typeface="+mn-ea"/>
                <a:cs typeface="+mn-cs"/>
              </a:rPr>
              <a:t>n </a:t>
            </a:r>
            <a:r>
              <a:rPr lang="en-US" sz="1200" kern="1200" dirty="0">
                <a:solidFill>
                  <a:schemeClr val="tx1"/>
                </a:solidFill>
                <a:latin typeface="Times New Roman" pitchFamily="-1" charset="0"/>
                <a:ea typeface="+mn-ea"/>
                <a:cs typeface="+mn-cs"/>
              </a:rPr>
              <a:t>most recently fetched instructions, in sequence. If a branch is to be taken, the hardware first checks whether the branch target is within the buffer. If so, the next instruction is fetched from the buffer. The loop buffer has three benefits: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1. </a:t>
            </a:r>
            <a:r>
              <a:rPr lang="en-US" sz="1200" kern="1200" dirty="0">
                <a:solidFill>
                  <a:schemeClr val="tx1"/>
                </a:solidFill>
                <a:latin typeface="Times New Roman" pitchFamily="-1" charset="0"/>
                <a:ea typeface="+mn-ea"/>
                <a:cs typeface="+mn-cs"/>
              </a:rPr>
              <a:t>With the use of prefetching, the loop buffer will contain some instruction sequentially ahead of the current instruction fetch address. Thus, instructions fetched in sequence will be available without the usual memory access time.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2. </a:t>
            </a:r>
            <a:r>
              <a:rPr lang="en-US" sz="1200" kern="1200" dirty="0">
                <a:solidFill>
                  <a:schemeClr val="tx1"/>
                </a:solidFill>
                <a:latin typeface="Times New Roman" pitchFamily="-1" charset="0"/>
                <a:ea typeface="+mn-ea"/>
                <a:cs typeface="+mn-cs"/>
              </a:rPr>
              <a:t>If a branch occurs to a target just a few locations ahead of the address of the branch instruction, the target will already be in the buffer. This is useful for the rather common occurrence of IF–THEN and IF–THEN–ELSE sequences. </a:t>
            </a:r>
            <a:endParaRPr lang="en-US" dirty="0"/>
          </a:p>
          <a:p>
            <a:endParaRPr lang="en-GB" dirty="0"/>
          </a:p>
          <a:p>
            <a:r>
              <a:rPr lang="en-US" sz="1200" b="1" kern="1200" dirty="0">
                <a:solidFill>
                  <a:schemeClr val="tx1"/>
                </a:solidFill>
                <a:latin typeface="Times New Roman" pitchFamily="-1" charset="0"/>
                <a:ea typeface="+mn-ea"/>
                <a:cs typeface="+mn-cs"/>
              </a:rPr>
              <a:t>3. </a:t>
            </a:r>
            <a:r>
              <a:rPr lang="en-US" sz="1200" kern="1200" dirty="0">
                <a:solidFill>
                  <a:schemeClr val="tx1"/>
                </a:solidFill>
                <a:latin typeface="Times New Roman" pitchFamily="-1" charset="0"/>
                <a:ea typeface="+mn-ea"/>
                <a:cs typeface="+mn-cs"/>
              </a:rPr>
              <a:t>This strategy is particularly well suited to dealing with loops, or iterations; hence the name </a:t>
            </a:r>
            <a:r>
              <a:rPr lang="en-US" sz="1200" i="1" kern="1200" dirty="0">
                <a:solidFill>
                  <a:schemeClr val="tx1"/>
                </a:solidFill>
                <a:latin typeface="Times New Roman" pitchFamily="-1" charset="0"/>
                <a:ea typeface="+mn-ea"/>
                <a:cs typeface="+mn-cs"/>
              </a:rPr>
              <a:t>loop buffer. </a:t>
            </a:r>
            <a:r>
              <a:rPr lang="en-US" sz="1200" kern="1200" dirty="0">
                <a:solidFill>
                  <a:schemeClr val="tx1"/>
                </a:solidFill>
                <a:latin typeface="Times New Roman" pitchFamily="-1" charset="0"/>
                <a:ea typeface="+mn-ea"/>
                <a:cs typeface="+mn-cs"/>
              </a:rPr>
              <a:t>If the loop buffer is large enough to contain all the instructions in a loop, then those instructions need to be fetched from memory only once, for the first iteration. For subsequent iterations, all the needed instructions are already in the buffer.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loop buffer is similar in principle to a cache dedicated to instructions. The differences are that the loop buffer only retains instructions in sequence and is much smaller in size and hence lower in cost. </a:t>
            </a:r>
            <a:endParaRPr lang="en-US" dirty="0"/>
          </a:p>
          <a:p>
            <a:endParaRPr lang="en-GB"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Times New Roman" pitchFamily="-1" charset="0"/>
                <a:ea typeface="+mn-ea"/>
                <a:cs typeface="+mn-cs"/>
              </a:rPr>
              <a:t>Figure 16.17 gives an example of a loop buffer. If the buffer contains 256 bytes, and byte addressing is used, then the least significant 8 bits are used to index the buffer. The remaining most significant bits are checked to determine if the branch target lies within the environment captured by the buffer.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Among the machines using a loop buffer are some of the CDC machines (Star- 100, 6600, 7600) and the CRAY-1. A specialized form of loop buffer is available on the Motorola 68010, for executing a three-instruction loop involving the DBcc (decrement and branch on condition) instruction (see Problem 16.14). A three-word buffer is maintained, and the processor executes these instructions repeatedly until the loop condition is satisfied. </a:t>
            </a:r>
            <a:endParaRPr lang="en-US" dirty="0"/>
          </a:p>
          <a:p>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523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45</a:t>
            </a:r>
          </a:p>
        </p:txBody>
      </p:sp>
      <p:sp>
        <p:nvSpPr>
          <p:cNvPr id="9523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523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5238" name="Rectangle 6"/>
          <p:cNvSpPr>
            <a:spLocks noGrp="1" noRot="1" noChangeAspect="1" noChangeArrowheads="1" noTextEdit="1"/>
          </p:cNvSpPr>
          <p:nvPr>
            <p:ph type="sldImg"/>
          </p:nvPr>
        </p:nvSpPr>
        <p:spPr>
          <a:xfrm>
            <a:off x="1150938" y="692150"/>
            <a:ext cx="4556125" cy="3416300"/>
          </a:xfrm>
          <a:ln cap="flat"/>
        </p:spPr>
      </p:sp>
      <p:sp>
        <p:nvSpPr>
          <p:cNvPr id="95239"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Various techniques can be used to predict whether a branch will be taken. Among the more common are the following: </a:t>
            </a:r>
            <a:endParaRPr lang="en-US" dirty="0"/>
          </a:p>
          <a:p>
            <a:endParaRPr lang="en-US" sz="1200" kern="1200" dirty="0">
              <a:solidFill>
                <a:schemeClr val="tx1"/>
              </a:solidFill>
              <a:latin typeface="Times New Roman" pitchFamily="-1" charset="0"/>
              <a:ea typeface="+mn-ea"/>
              <a:cs typeface="+mn-cs"/>
            </a:endParaRPr>
          </a:p>
          <a:p>
            <a:pPr marL="171450" indent="-171450">
              <a:buFont typeface="Arial" charset="0"/>
              <a:buChar char="•"/>
            </a:pPr>
            <a:r>
              <a:rPr lang="en-US" sz="1200" kern="1200" dirty="0">
                <a:solidFill>
                  <a:schemeClr val="tx1"/>
                </a:solidFill>
                <a:latin typeface="Times New Roman" pitchFamily="-1" charset="0"/>
                <a:ea typeface="+mn-ea"/>
                <a:cs typeface="+mn-cs"/>
              </a:rPr>
              <a:t>Predict never taken </a:t>
            </a:r>
          </a:p>
          <a:p>
            <a:pPr marL="171450" indent="-171450">
              <a:buFont typeface="Arial" charset="0"/>
              <a:buChar char="•"/>
            </a:pPr>
            <a:endParaRPr lang="en-US" sz="1200" kern="1200" dirty="0">
              <a:solidFill>
                <a:schemeClr val="tx1"/>
              </a:solidFill>
              <a:latin typeface="Times New Roman" pitchFamily="-1" charset="0"/>
              <a:ea typeface="+mn-ea"/>
              <a:cs typeface="+mn-cs"/>
            </a:endParaRPr>
          </a:p>
          <a:p>
            <a:pPr marL="171450" indent="-171450">
              <a:buFont typeface="Arial" charset="0"/>
              <a:buChar char="•"/>
            </a:pPr>
            <a:endParaRPr lang="en-US" sz="1200" kern="1200" dirty="0">
              <a:solidFill>
                <a:schemeClr val="tx1"/>
              </a:solidFill>
              <a:latin typeface="Times New Roman" pitchFamily="-1" charset="0"/>
              <a:ea typeface="+mn-ea"/>
              <a:cs typeface="+mn-cs"/>
            </a:endParaRPr>
          </a:p>
          <a:p>
            <a:pPr marL="171450" indent="-171450">
              <a:buFont typeface="Arial" charset="0"/>
              <a:buChar char="•"/>
            </a:pPr>
            <a:r>
              <a:rPr lang="en-US" sz="1200" kern="1200" dirty="0">
                <a:solidFill>
                  <a:schemeClr val="tx1"/>
                </a:solidFill>
                <a:latin typeface="Times New Roman" pitchFamily="-1" charset="0"/>
                <a:ea typeface="+mn-ea"/>
                <a:cs typeface="+mn-cs"/>
              </a:rPr>
              <a:t>Predict always taken </a:t>
            </a:r>
          </a:p>
          <a:p>
            <a:pPr marL="171450" indent="-171450">
              <a:buFont typeface="Arial" charset="0"/>
              <a:buChar char="•"/>
            </a:pPr>
            <a:endParaRPr lang="en-US" sz="1200" kern="1200" dirty="0">
              <a:solidFill>
                <a:schemeClr val="tx1"/>
              </a:solidFill>
              <a:latin typeface="Times New Roman" pitchFamily="-1" charset="0"/>
              <a:ea typeface="+mn-ea"/>
              <a:cs typeface="+mn-cs"/>
            </a:endParaRPr>
          </a:p>
          <a:p>
            <a:pPr marL="171450" indent="-171450">
              <a:buFont typeface="Arial" charset="0"/>
              <a:buChar char="•"/>
            </a:pPr>
            <a:r>
              <a:rPr lang="en-US" sz="1200" kern="1200" dirty="0">
                <a:solidFill>
                  <a:schemeClr val="tx1"/>
                </a:solidFill>
                <a:latin typeface="Times New Roman" pitchFamily="-1" charset="0"/>
                <a:ea typeface="+mn-ea"/>
                <a:cs typeface="+mn-cs"/>
              </a:rPr>
              <a:t>Predict by opcode </a:t>
            </a:r>
          </a:p>
          <a:p>
            <a:pPr marL="171450" indent="-171450">
              <a:buFont typeface="Arial" charset="0"/>
              <a:buChar char="•"/>
            </a:pPr>
            <a:endParaRPr lang="en-US" sz="1200" kern="1200" dirty="0">
              <a:solidFill>
                <a:schemeClr val="tx1"/>
              </a:solidFill>
              <a:latin typeface="Times New Roman" pitchFamily="-1" charset="0"/>
              <a:ea typeface="+mn-ea"/>
              <a:cs typeface="+mn-cs"/>
            </a:endParaRPr>
          </a:p>
          <a:p>
            <a:pPr marL="171450" indent="-171450">
              <a:buFont typeface="Arial" charset="0"/>
              <a:buChar char="•"/>
            </a:pPr>
            <a:r>
              <a:rPr lang="en-US" sz="1200" kern="1200" dirty="0">
                <a:solidFill>
                  <a:schemeClr val="tx1"/>
                </a:solidFill>
                <a:latin typeface="Times New Roman" pitchFamily="-1" charset="0"/>
                <a:ea typeface="+mn-ea"/>
                <a:cs typeface="+mn-cs"/>
              </a:rPr>
              <a:t>Taken/not taken switch </a:t>
            </a:r>
          </a:p>
          <a:p>
            <a:pPr marL="171450" indent="-171450">
              <a:buFont typeface="Arial" charset="0"/>
              <a:buChar char="•"/>
            </a:pPr>
            <a:endParaRPr lang="en-US" sz="1200" kern="1200" dirty="0">
              <a:solidFill>
                <a:schemeClr val="tx1"/>
              </a:solidFill>
              <a:latin typeface="Times New Roman" pitchFamily="-1" charset="0"/>
              <a:ea typeface="+mn-ea"/>
              <a:cs typeface="+mn-cs"/>
            </a:endParaRPr>
          </a:p>
          <a:p>
            <a:pPr marL="171450" indent="-171450">
              <a:buFont typeface="Arial" charset="0"/>
              <a:buChar char="•"/>
            </a:pPr>
            <a:r>
              <a:rPr lang="en-US" sz="1200" kern="1200" dirty="0">
                <a:solidFill>
                  <a:schemeClr val="tx1"/>
                </a:solidFill>
                <a:latin typeface="Times New Roman" pitchFamily="-1" charset="0"/>
                <a:ea typeface="+mn-ea"/>
                <a:cs typeface="+mn-cs"/>
              </a:rPr>
              <a:t>Branch history table</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first three approaches are static: they do not depend on the execution history up to the time of the conditional branch instruction. The latter two approaches are dynamic: They depend on the execution history.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first two approaches are the simplest. These either always assume that the branch will not be taken and continue to fetch instructions in sequence, or they always assume that the branch will be taken and always fetch from the branch tar- get. The predict-never-taken approach is the most popular of all the branch prediction methods.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Studies analyzing program behavior have shown that conditional branches are taken more than 50% of the time [LILJ88], and so if the cost of prefetching from either path is the same, then always prefetching from the branch target address should give better performance than always prefetching from the sequential path. However, in a paged machine, prefetching the branch target is more likely to cause a page fault than prefetching the next instruction in sequence, and so this performance penalty should be taken into account. An avoidance mechanism may be employed to reduce this penalty.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final static approach makes the decision based on the opcode of the branch instruction. The processor assumes that the branch will be taken for certain branch opcodes and not for others. [LILJ88] reports success rates of greater than 75% with this strategy. </a:t>
            </a:r>
          </a:p>
          <a:p>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Dynamic branch strategies attempt to improve the accuracy of prediction by recording the history of conditional branch instructions in a program. For example, one or more bits can be associated with each conditional branch instruction that reflect the recent history of the instruction. These bits are referred to as a taken/ not taken switch that directs the processor to make a particular decision the next time the instruction is encountered. Typically, these history bits are not associated with the instruction in main memory. Rather, they are kept in temporary high- speed storage. One possibility is to associate these bits with any conditional branch instruction that is in a cache. When the instruction is replaced in the cache, its history is lost. Another possibility is to maintain a small table for recently executed branch instructions with one or more history bits in each entry. The processor could access the table associatively, like a cache, or by using the low-order bits of the branch instruction’s address. </a:t>
            </a:r>
            <a:endParaRPr lang="en-US" dirty="0"/>
          </a:p>
          <a:p>
            <a:endParaRPr lang="en-US" dirty="0"/>
          </a:p>
          <a:p>
            <a:r>
              <a:rPr lang="en-US" sz="1200" kern="1200" dirty="0">
                <a:solidFill>
                  <a:schemeClr val="tx1"/>
                </a:solidFill>
                <a:latin typeface="Times New Roman" pitchFamily="-1" charset="0"/>
                <a:ea typeface="+mn-ea"/>
                <a:cs typeface="+mn-cs"/>
              </a:rPr>
              <a:t> </a:t>
            </a:r>
            <a:endParaRPr lang="en-US" dirty="0"/>
          </a:p>
          <a:p>
            <a:endParaRPr lang="en-GB"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Times New Roman" pitchFamily="-1" charset="0"/>
                <a:ea typeface="+mn-ea"/>
                <a:cs typeface="+mn-cs"/>
              </a:rPr>
              <a:t>With a single bit, all that can be recorded is whether the last execution of this instruction resulted in a branch or not. A shortcoming of using a single bit appears in the case of a conditional branch instruction that is almost always taken, such as a loop instruction. With only one bit of history, an error in prediction will occur twice for each use of the loop: once on entering the loop, and once on exiting. </a:t>
            </a:r>
            <a:endParaRPr lang="en-US" dirty="0"/>
          </a:p>
          <a:p>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If two bits are used, they can be used to record the result of the last two instances of the execution of the associated instruction, or to record a state in some other fashion. Figure 16.18 shows a typical approach (see Problem 16.13 for other possibilities). Assume that the algorithm starts at the upper-left-hand corner of the flowchart. As long as each succeeding conditional branch instruction that is encountered is taken, the decision process predicts that the next branch will be taken. If a single prediction is wrong, the algorithm continues to predict that the next branch is taken. Only if two successive branches are not taken does the algorithm shift to the right-hand side of the flowchart. Subsequently, the algorithm will predict that branches are not taken until two branches in a row are taken. Thus, the algorithm requires two consecutive wrong predictions to change the prediction decision. </a:t>
            </a:r>
            <a:endParaRPr lang="en-US" dirty="0"/>
          </a:p>
          <a:p>
            <a:endParaRPr lang="en-US" dirty="0"/>
          </a:p>
          <a:p>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Rot="1" noChangeAspect="1" noChangeArrowheads="1" noTextEdit="1"/>
          </p:cNvSpPr>
          <p:nvPr>
            <p:ph type="sldImg"/>
          </p:nvPr>
        </p:nvSpPr>
        <p:spPr>
          <a:xfrm>
            <a:off x="1150938" y="692150"/>
            <a:ext cx="4556125" cy="3416300"/>
          </a:xfrm>
          <a:ln/>
        </p:spPr>
      </p:sp>
      <p:sp>
        <p:nvSpPr>
          <p:cNvPr id="132099" name="Rectangle 3"/>
          <p:cNvSpPr>
            <a:spLocks noGrp="1" noChangeArrowheads="1"/>
          </p:cNvSpPr>
          <p:nvPr>
            <p:ph type="body" idx="1"/>
          </p:nvPr>
        </p:nvSpPr>
        <p:spPr/>
        <p:txBody>
          <a:bodyPr/>
          <a:lstStyle/>
          <a:p>
            <a:r>
              <a:rPr lang="en-US" sz="1200" kern="1200" dirty="0">
                <a:solidFill>
                  <a:schemeClr val="tx1"/>
                </a:solidFill>
                <a:latin typeface="Times New Roman" pitchFamily="-1" charset="0"/>
                <a:ea typeface="+mn-ea"/>
                <a:cs typeface="+mn-cs"/>
              </a:rPr>
              <a:t>The decision process can be represented more compactly by a finite-state machine, shown in Figure 16.19. The finite-state machine representation is commonly used in the literature.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use of history bits, as just described, has one drawback: If the decision is made to take the branch, the target instruction cannot be fetched until the tar- get address, which is an operand in the conditional branch instruction, is decoded. Greater efficiency could be achieved if the instruction fetch could be initiated as soon as the branch decision is made. For this purpose, more information must be saved, in what is known as a branch target buffer, or a branch history table. </a:t>
            </a:r>
            <a:endParaRPr lang="en-US" dirty="0"/>
          </a:p>
          <a:p>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The branch history table is a small cache memory associated with the instruction fetch stage of the pipeline. Each entry in the table consists of three elements: the address of a branch instruction, some number of history bits that record the state of use of that instruction, and information about the target instruction. In most proposals and implementations, this third field contains the address of the target instruction. Another possibility is for the third field to actually contain the target instruction. The trade-off is clear: Storing the target address yields a smaller table but a greater instruction fetch time compared with storing the target instruction [RECH98]. </a:t>
            </a:r>
            <a:endParaRPr lang="en-US" dirty="0"/>
          </a:p>
          <a:p>
            <a:r>
              <a:rPr lang="en-US" sz="1200" kern="1200" dirty="0">
                <a:solidFill>
                  <a:schemeClr val="tx1"/>
                </a:solidFill>
                <a:latin typeface="Times New Roman" pitchFamily="-1" charset="0"/>
                <a:ea typeface="+mn-ea"/>
                <a:cs typeface="+mn-cs"/>
              </a:rPr>
              <a:t> </a:t>
            </a:r>
            <a:endParaRPr lang="en-US" dirty="0"/>
          </a:p>
          <a:p>
            <a:endParaRPr lang="en-GB"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85000" lnSpcReduction="10000"/>
          </a:bodyPr>
          <a:lstStyle/>
          <a:p>
            <a:r>
              <a:rPr lang="en-US" sz="1200" kern="1200" dirty="0">
                <a:solidFill>
                  <a:schemeClr val="tx1"/>
                </a:solidFill>
                <a:latin typeface="Times New Roman" pitchFamily="-1" charset="0"/>
                <a:ea typeface="+mn-ea"/>
                <a:cs typeface="+mn-cs"/>
              </a:rPr>
              <a:t>Figure 16.20 contrasts this scheme with a predict-never-taken strategy. With the former strategy, the instruction fetch stage always fetches the next sequential address. If a branch is taken, some logic in the processor detects this and instructs that the next instruction be fetched from the target address (in addition to flushing the pipeline). The branch history table is treated as a cache. Each prefetch triggers a lookup in the branch history table. If no match is found, the next sequential address is used for the fetch. If a match is found, a prediction is made based on the state of the instruction: Either the next sequential address or the branch target address is fed to the select logic.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When the branch instruction is executed, the execute stage signals the branch history table logic with the result. The state of the instruction is updated to reflect a correct or incorrect prediction. If the prediction is incorrect, the select logic is redirected to the correct address for the next fetch. When a conditional branch instruction is encountered that is not in the table, it is added to the table and one of the existing entries is discarded, using one of the cache replacement algorithms discussed in Chapter 5.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 refinement of the branch history approach is referred to as two-level or correlation-based branch history [YEH91]. This approach is based on the assumption that whereas in loop-closing branches, the past history of a particular branch instruction is a good predictor of future behavior, with more complex control-flow structures, the direction of a branch is frequently correlated with the direction of related branches. An example is an if-then-else or case structure. There are a number of strategies possible. Typically, recent global branch history (i.e., the history of the most recent branches not just of this branch instruction) is used in addition to the history of the current branch instruction. The general structure is defined as an (m, </a:t>
            </a:r>
            <a:r>
              <a:rPr lang="en-US" sz="1200" i="1" kern="1200" dirty="0">
                <a:solidFill>
                  <a:schemeClr val="tx1"/>
                </a:solidFill>
                <a:latin typeface="Times New Roman" pitchFamily="-1" charset="0"/>
                <a:ea typeface="+mn-ea"/>
                <a:cs typeface="+mn-cs"/>
              </a:rPr>
              <a:t>n) </a:t>
            </a:r>
            <a:r>
              <a:rPr lang="en-US" sz="1200" kern="1200" dirty="0">
                <a:solidFill>
                  <a:schemeClr val="tx1"/>
                </a:solidFill>
                <a:latin typeface="Times New Roman" pitchFamily="-1" charset="0"/>
                <a:ea typeface="+mn-ea"/>
                <a:cs typeface="+mn-cs"/>
              </a:rPr>
              <a:t>correlator, which uses the behavior of the last </a:t>
            </a:r>
            <a:r>
              <a:rPr lang="en-US" sz="1200" i="1" kern="1200" dirty="0">
                <a:solidFill>
                  <a:schemeClr val="tx1"/>
                </a:solidFill>
                <a:latin typeface="Times New Roman" pitchFamily="-1" charset="0"/>
                <a:ea typeface="+mn-ea"/>
                <a:cs typeface="+mn-cs"/>
              </a:rPr>
              <a:t>m </a:t>
            </a:r>
            <a:r>
              <a:rPr lang="en-US" sz="1200" kern="1200" dirty="0">
                <a:solidFill>
                  <a:schemeClr val="tx1"/>
                </a:solidFill>
                <a:latin typeface="Times New Roman" pitchFamily="-1" charset="0"/>
                <a:ea typeface="+mn-ea"/>
                <a:cs typeface="+mn-cs"/>
              </a:rPr>
              <a:t>branches to choose from 2</a:t>
            </a:r>
            <a:r>
              <a:rPr lang="en-US" sz="1200" kern="1200" baseline="30000" dirty="0">
                <a:solidFill>
                  <a:schemeClr val="tx1"/>
                </a:solidFill>
                <a:latin typeface="Times New Roman" pitchFamily="-1" charset="0"/>
                <a:ea typeface="+mn-ea"/>
                <a:cs typeface="+mn-cs"/>
              </a:rPr>
              <a:t>m</a:t>
            </a:r>
            <a:r>
              <a:rPr lang="en-US" sz="1200" kern="1200" dirty="0">
                <a:solidFill>
                  <a:schemeClr val="tx1"/>
                </a:solidFill>
                <a:latin typeface="Times New Roman" pitchFamily="-1" charset="0"/>
                <a:ea typeface="+mn-ea"/>
                <a:cs typeface="+mn-cs"/>
              </a:rPr>
              <a:t> </a:t>
            </a:r>
            <a:r>
              <a:rPr lang="en-US" sz="1200" i="1" kern="1200" dirty="0">
                <a:solidFill>
                  <a:schemeClr val="tx1"/>
                </a:solidFill>
                <a:latin typeface="Times New Roman" pitchFamily="-1" charset="0"/>
                <a:ea typeface="+mn-ea"/>
                <a:cs typeface="+mn-cs"/>
              </a:rPr>
              <a:t>n-bit </a:t>
            </a:r>
            <a:r>
              <a:rPr lang="en-US" sz="1200" kern="1200" dirty="0">
                <a:solidFill>
                  <a:schemeClr val="tx1"/>
                </a:solidFill>
                <a:latin typeface="Times New Roman" pitchFamily="-1" charset="0"/>
                <a:ea typeface="+mn-ea"/>
                <a:cs typeface="+mn-cs"/>
              </a:rPr>
              <a:t>branch predictors for the current branch instruction. In other words, an </a:t>
            </a:r>
            <a:r>
              <a:rPr lang="en-US" sz="1200" i="1" kern="1200" dirty="0">
                <a:solidFill>
                  <a:schemeClr val="tx1"/>
                </a:solidFill>
                <a:latin typeface="Times New Roman" pitchFamily="-1" charset="0"/>
                <a:ea typeface="+mn-ea"/>
                <a:cs typeface="+mn-cs"/>
              </a:rPr>
              <a:t>n-bit </a:t>
            </a:r>
            <a:r>
              <a:rPr lang="en-US" sz="1200" kern="1200" dirty="0">
                <a:solidFill>
                  <a:schemeClr val="tx1"/>
                </a:solidFill>
                <a:latin typeface="Times New Roman" pitchFamily="-1" charset="0"/>
                <a:ea typeface="+mn-ea"/>
                <a:cs typeface="+mn-cs"/>
              </a:rPr>
              <a:t>history is kept for a give branch for each possible combination of branches taken by the most recent </a:t>
            </a:r>
            <a:r>
              <a:rPr lang="en-US" sz="1200" i="1" kern="1200" dirty="0">
                <a:solidFill>
                  <a:schemeClr val="tx1"/>
                </a:solidFill>
                <a:latin typeface="Times New Roman" pitchFamily="-1" charset="0"/>
                <a:ea typeface="+mn-ea"/>
                <a:cs typeface="+mn-cs"/>
              </a:rPr>
              <a:t>m </a:t>
            </a:r>
            <a:r>
              <a:rPr lang="en-US" sz="1200" kern="1200" dirty="0">
                <a:solidFill>
                  <a:schemeClr val="tx1"/>
                </a:solidFill>
                <a:latin typeface="Times New Roman" pitchFamily="-1" charset="0"/>
                <a:ea typeface="+mn-ea"/>
                <a:cs typeface="+mn-cs"/>
              </a:rPr>
              <a:t>branches.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a:p>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9F2598D2-2ED8-8547-B4B7-C382E9B8AC9E}" type="slidenum">
              <a:rPr lang="en-US"/>
              <a:pPr/>
              <a:t>40</a:t>
            </a:fld>
            <a:endParaRPr lang="en-US" dirty="0"/>
          </a:p>
        </p:txBody>
      </p:sp>
      <p:sp>
        <p:nvSpPr>
          <p:cNvPr id="65538" name="Rectangle 2"/>
          <p:cNvSpPr>
            <a:spLocks noGrp="1" noRot="1" noChangeAspect="1" noChangeArrowheads="1" noTextEdit="1"/>
          </p:cNvSpPr>
          <p:nvPr>
            <p:ph type="sldImg"/>
          </p:nvPr>
        </p:nvSpPr>
        <p:spPr>
          <a:xfrm>
            <a:off x="1150938" y="692150"/>
            <a:ext cx="4556125" cy="3416300"/>
          </a:xfrm>
          <a:ln/>
        </p:spPr>
      </p:sp>
      <p:sp>
        <p:nvSpPr>
          <p:cNvPr id="65539" name="Rectangle 3"/>
          <p:cNvSpPr>
            <a:spLocks noGrp="1" noChangeArrowheads="1"/>
          </p:cNvSpPr>
          <p:nvPr>
            <p:ph type="body" idx="1"/>
          </p:nvPr>
        </p:nvSpPr>
        <p:spPr/>
        <p:txBody>
          <a:bodyPr/>
          <a:lstStyle/>
          <a:p>
            <a:r>
              <a:rPr lang="en-GB" dirty="0"/>
              <a:t>Chapter 16 summary.</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77500" lnSpcReduction="2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An instructive example of an instruction pipeline is that of the Intel 80486. The 80486 implements a five-stage pipeline: </a:t>
            </a:r>
            <a:endParaRPr lang="en-US" dirty="0"/>
          </a:p>
          <a:p>
            <a:endParaRPr lang="en-US" dirty="0"/>
          </a:p>
          <a:p>
            <a:pPr marL="171450" indent="-171450">
              <a:buFont typeface="Arial" charset="0"/>
              <a:buChar char="•"/>
            </a:pPr>
            <a:r>
              <a:rPr lang="en-US" sz="1200" b="1" kern="1200" dirty="0">
                <a:solidFill>
                  <a:schemeClr val="tx1"/>
                </a:solidFill>
                <a:latin typeface="Times New Roman" pitchFamily="-1" charset="0"/>
                <a:ea typeface="+mn-ea"/>
                <a:cs typeface="+mn-cs"/>
              </a:rPr>
              <a:t>Fetch: </a:t>
            </a:r>
            <a:r>
              <a:rPr lang="en-US" sz="1200" kern="1200" dirty="0">
                <a:solidFill>
                  <a:schemeClr val="tx1"/>
                </a:solidFill>
                <a:latin typeface="Times New Roman" pitchFamily="-1" charset="0"/>
                <a:ea typeface="+mn-ea"/>
                <a:cs typeface="+mn-cs"/>
              </a:rPr>
              <a:t>Instructions are fetched from the cache or from external memory and placed into one of the two 16-byte prefetch buffers. The objective of the fetch stage is to fill the prefetch buffers with new data as soon as the old data have been consumed by the instruction decoder. Because instructions are of variable length (from 1 to 11 bytes not counting prefixes), the status of the prefetcher relative to the other pipeline stages varies from instruction to instruction. On average, about five instructions are fetched with each 16-byte load [CRAW90]. The fetch stage operates independently of the other stages to keep the prefetch buffers full. </a:t>
            </a:r>
          </a:p>
          <a:p>
            <a:endParaRPr lang="en-US" sz="1200" b="1" kern="1200" dirty="0">
              <a:solidFill>
                <a:schemeClr val="tx1"/>
              </a:solidFill>
              <a:latin typeface="Times New Roman" pitchFamily="-1" charset="0"/>
              <a:ea typeface="+mn-ea"/>
              <a:cs typeface="+mn-cs"/>
            </a:endParaRPr>
          </a:p>
          <a:p>
            <a:pPr marL="171450" indent="-171450">
              <a:buFont typeface="Arial" charset="0"/>
              <a:buChar char="•"/>
            </a:pPr>
            <a:r>
              <a:rPr lang="en-US" sz="1200" b="1" kern="1200" dirty="0">
                <a:solidFill>
                  <a:schemeClr val="tx1"/>
                </a:solidFill>
                <a:latin typeface="Times New Roman" pitchFamily="-1" charset="0"/>
                <a:ea typeface="+mn-ea"/>
                <a:cs typeface="+mn-cs"/>
              </a:rPr>
              <a:t>Decode stage 1: </a:t>
            </a:r>
            <a:r>
              <a:rPr lang="en-US" sz="1200" kern="1200" dirty="0">
                <a:solidFill>
                  <a:schemeClr val="tx1"/>
                </a:solidFill>
                <a:latin typeface="Times New Roman" pitchFamily="-1" charset="0"/>
                <a:ea typeface="+mn-ea"/>
                <a:cs typeface="+mn-cs"/>
              </a:rPr>
              <a:t>All opcode and addressing-mode information is decoded in the D1 stage. The required information, as well as instruction-length information, is included in at most the first 3 bytes of the instruction. Hence, 3 bytes are passed to the D1 stage from the prefetch buffers. The D1 decoder can then direct the D2 stage to capture the rest of the instruction (displacement and immediate data), which is not involved in the D1 decoding. </a:t>
            </a:r>
          </a:p>
          <a:p>
            <a:endParaRPr lang="en-US" sz="1200" b="1" kern="1200" dirty="0">
              <a:solidFill>
                <a:schemeClr val="tx1"/>
              </a:solidFill>
              <a:latin typeface="Times New Roman" pitchFamily="-1" charset="0"/>
              <a:ea typeface="+mn-ea"/>
              <a:cs typeface="+mn-cs"/>
            </a:endParaRPr>
          </a:p>
          <a:p>
            <a:pPr marL="171450" indent="-171450">
              <a:buFont typeface="Arial" charset="0"/>
              <a:buChar char="•"/>
            </a:pPr>
            <a:r>
              <a:rPr lang="en-US" sz="1200" b="1" kern="1200" dirty="0">
                <a:solidFill>
                  <a:schemeClr val="tx1"/>
                </a:solidFill>
                <a:latin typeface="Times New Roman" pitchFamily="-1" charset="0"/>
                <a:ea typeface="+mn-ea"/>
                <a:cs typeface="+mn-cs"/>
              </a:rPr>
              <a:t>Decode stage 2: </a:t>
            </a:r>
            <a:r>
              <a:rPr lang="en-US" sz="1200" kern="1200" dirty="0">
                <a:solidFill>
                  <a:schemeClr val="tx1"/>
                </a:solidFill>
                <a:latin typeface="Times New Roman" pitchFamily="-1" charset="0"/>
                <a:ea typeface="+mn-ea"/>
                <a:cs typeface="+mn-cs"/>
              </a:rPr>
              <a:t>The D2 stage expands each opcode into control signals for the ALU. It also controls the computation of the more complex addressing modes. </a:t>
            </a:r>
          </a:p>
          <a:p>
            <a:endParaRPr lang="en-US" sz="1200" b="1" kern="1200" dirty="0">
              <a:solidFill>
                <a:schemeClr val="tx1"/>
              </a:solidFill>
              <a:latin typeface="Times New Roman" pitchFamily="-1" charset="0"/>
              <a:ea typeface="+mn-ea"/>
              <a:cs typeface="+mn-cs"/>
            </a:endParaRPr>
          </a:p>
          <a:p>
            <a:pPr marL="171450" indent="-171450">
              <a:buFont typeface="Arial" charset="0"/>
              <a:buChar char="•"/>
            </a:pPr>
            <a:r>
              <a:rPr lang="en-US" sz="1200" b="1" kern="1200" dirty="0">
                <a:solidFill>
                  <a:schemeClr val="tx1"/>
                </a:solidFill>
                <a:latin typeface="Times New Roman" pitchFamily="-1" charset="0"/>
                <a:ea typeface="+mn-ea"/>
                <a:cs typeface="+mn-cs"/>
              </a:rPr>
              <a:t>Execute: </a:t>
            </a:r>
            <a:r>
              <a:rPr lang="en-US" sz="1200" kern="1200" dirty="0">
                <a:solidFill>
                  <a:schemeClr val="tx1"/>
                </a:solidFill>
                <a:latin typeface="Times New Roman" pitchFamily="-1" charset="0"/>
                <a:ea typeface="+mn-ea"/>
                <a:cs typeface="+mn-cs"/>
              </a:rPr>
              <a:t>This stage includes ALU operations, cache access, and register update. </a:t>
            </a:r>
          </a:p>
          <a:p>
            <a:endParaRPr lang="en-US" sz="1200" b="1" kern="1200" dirty="0">
              <a:solidFill>
                <a:schemeClr val="tx1"/>
              </a:solidFill>
              <a:latin typeface="Times New Roman" pitchFamily="-1" charset="0"/>
              <a:ea typeface="+mn-ea"/>
              <a:cs typeface="+mn-cs"/>
            </a:endParaRPr>
          </a:p>
          <a:p>
            <a:pPr marL="171450" indent="-171450">
              <a:buFont typeface="Arial" charset="0"/>
              <a:buChar char="•"/>
            </a:pPr>
            <a:r>
              <a:rPr lang="en-US" sz="1200" b="1" kern="1200" dirty="0">
                <a:solidFill>
                  <a:schemeClr val="tx1"/>
                </a:solidFill>
                <a:latin typeface="Times New Roman" pitchFamily="-1" charset="0"/>
                <a:ea typeface="+mn-ea"/>
                <a:cs typeface="+mn-cs"/>
              </a:rPr>
              <a:t>Write back: </a:t>
            </a:r>
            <a:r>
              <a:rPr lang="en-US" sz="1200" kern="1200" dirty="0">
                <a:solidFill>
                  <a:schemeClr val="tx1"/>
                </a:solidFill>
                <a:latin typeface="Times New Roman" pitchFamily="-1" charset="0"/>
                <a:ea typeface="+mn-ea"/>
                <a:cs typeface="+mn-cs"/>
              </a:rPr>
              <a:t>This stage, if needed, updates registers and status flags modified during the preceding execute stage. If the current instruction updates memory, the computed value is sent to the cache and to the bus-interface write buffers at the same time.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With the use of two decode stages, the pipeline can sustain a throughput of close to one instruction per clock cycle. Complex instructions and conditional branches can slow down this rate. </a:t>
            </a:r>
          </a:p>
          <a:p>
            <a:endParaRPr lang="en-US" dirty="0"/>
          </a:p>
        </p:txBody>
      </p:sp>
    </p:spTree>
    <p:extLst>
      <p:ext uri="{BB962C8B-B14F-4D97-AF65-F5344CB8AC3E}">
        <p14:creationId xmlns:p14="http://schemas.microsoft.com/office/powerpoint/2010/main" val="251479562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Times New Roman" pitchFamily="-1" charset="0"/>
                <a:ea typeface="+mn-ea"/>
                <a:cs typeface="+mn-cs"/>
              </a:rPr>
              <a:t>Figure 16.21 shows examples of the operation of the pipeline. Figure 16.21a shows that there is no delay introduced into the pipeline when a memory access is required. However, as Figure 16.21b shows, there can be a delay for values used to compute memory addresses. That is, if a value is loaded from memory into a register and that register is then used as a base register in the next instruction, the processor will stall for one cycle. In this example, the processor accesses the cache in the EX stage of the first instruction and stores the value retrieved in the register during the WB stage. However, the next instruction needs this register in its D2 stage. When the D2 stage lines up with the WB stage of the previous instruction, bypass signal paths allow the D2 stage to have access to the same data being used by the WB stage for writing, saving one pipeline stage.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Figure 16.21c illustrates the timing of a branch instruction, assuming that the branch is taken. The compare instruction updates condition codes in the WB stage, and bypass paths make this available to the EX stage of the jump instruction at the same time. In parallel, the processor runs a speculative fetch cycle to the target of the jump during the EX stage of the jump instruction. If the processor determines a false branch condition, it discards this prefetch and continues execution with the next sequential instruction (already fetched and decoded). </a:t>
            </a:r>
            <a:endParaRPr lang="en-US" dirty="0"/>
          </a:p>
          <a:p>
            <a:endParaRPr lang="en-US" dirty="0"/>
          </a:p>
        </p:txBody>
      </p:sp>
    </p:spTree>
    <p:extLst>
      <p:ext uri="{BB962C8B-B14F-4D97-AF65-F5344CB8AC3E}">
        <p14:creationId xmlns:p14="http://schemas.microsoft.com/office/powerpoint/2010/main" val="152999378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 charset="0"/>
                <a:ea typeface="+mn-ea"/>
                <a:cs typeface="+mn-cs"/>
              </a:rPr>
              <a:t>This section looks at some of the enhancements to a simple pipeline that can be used</a:t>
            </a:r>
          </a:p>
          <a:p>
            <a:r>
              <a:rPr lang="en-US" sz="1200" kern="1200" dirty="0">
                <a:solidFill>
                  <a:schemeClr val="tx1"/>
                </a:solidFill>
                <a:effectLst/>
                <a:latin typeface="Times New Roman" pitchFamily="-1" charset="0"/>
                <a:ea typeface="+mn-ea"/>
                <a:cs typeface="+mn-cs"/>
              </a:rPr>
              <a:t>to improve performance. Consider a five-stage pipeline:</a:t>
            </a:r>
          </a:p>
          <a:p>
            <a:endParaRPr lang="en-US" sz="1200" b="1" kern="1200" dirty="0">
              <a:solidFill>
                <a:schemeClr val="tx1"/>
              </a:solidFill>
              <a:effectLst/>
              <a:latin typeface="Times New Roman" pitchFamily="-1" charset="0"/>
              <a:ea typeface="+mn-ea"/>
              <a:cs typeface="+mn-cs"/>
            </a:endParaRPr>
          </a:p>
          <a:p>
            <a:r>
              <a:rPr lang="en-US" sz="1200" b="1" kern="1200" dirty="0">
                <a:solidFill>
                  <a:schemeClr val="tx1"/>
                </a:solidFill>
                <a:effectLst/>
                <a:latin typeface="Times New Roman" pitchFamily="-1" charset="0"/>
                <a:ea typeface="+mn-ea"/>
                <a:cs typeface="+mn-cs"/>
              </a:rPr>
              <a:t>■ </a:t>
            </a:r>
            <a:r>
              <a:rPr lang="en-US" sz="1200" kern="1200" dirty="0">
                <a:solidFill>
                  <a:schemeClr val="tx1"/>
                </a:solidFill>
                <a:effectLst/>
                <a:latin typeface="Times New Roman" pitchFamily="-1" charset="0"/>
                <a:ea typeface="+mn-ea"/>
                <a:cs typeface="+mn-cs"/>
              </a:rPr>
              <a:t>Instruction fetch (IF):  Load instruction from cache.</a:t>
            </a:r>
          </a:p>
          <a:p>
            <a:endParaRPr lang="en-US" sz="1200" b="1" kern="1200" dirty="0">
              <a:solidFill>
                <a:schemeClr val="tx1"/>
              </a:solidFill>
              <a:effectLst/>
              <a:latin typeface="Times New Roman" pitchFamily="-1" charset="0"/>
              <a:ea typeface="+mn-ea"/>
              <a:cs typeface="+mn-cs"/>
            </a:endParaRPr>
          </a:p>
          <a:p>
            <a:r>
              <a:rPr lang="en-US" sz="1200" b="1" kern="1200" dirty="0">
                <a:solidFill>
                  <a:schemeClr val="tx1"/>
                </a:solidFill>
                <a:effectLst/>
                <a:latin typeface="Times New Roman" pitchFamily="-1" charset="0"/>
                <a:ea typeface="+mn-ea"/>
                <a:cs typeface="+mn-cs"/>
              </a:rPr>
              <a:t>■ </a:t>
            </a:r>
            <a:r>
              <a:rPr lang="en-US" sz="1200" kern="1200" dirty="0">
                <a:solidFill>
                  <a:schemeClr val="tx1"/>
                </a:solidFill>
                <a:effectLst/>
                <a:latin typeface="Times New Roman" pitchFamily="-1" charset="0"/>
                <a:ea typeface="+mn-ea"/>
                <a:cs typeface="+mn-cs"/>
              </a:rPr>
              <a:t>Instruction decode (ID):  Determine the opcode and the operand specifiers.</a:t>
            </a:r>
          </a:p>
          <a:p>
            <a:endParaRPr lang="en-US" sz="1200" b="1" kern="1200" dirty="0">
              <a:solidFill>
                <a:schemeClr val="tx1"/>
              </a:solidFill>
              <a:effectLst/>
              <a:latin typeface="Times New Roman" pitchFamily="-1" charset="0"/>
              <a:ea typeface="+mn-ea"/>
              <a:cs typeface="+mn-cs"/>
            </a:endParaRPr>
          </a:p>
          <a:p>
            <a:r>
              <a:rPr lang="en-US" sz="1200" b="1" kern="1200" dirty="0">
                <a:solidFill>
                  <a:schemeClr val="tx1"/>
                </a:solidFill>
                <a:effectLst/>
                <a:latin typeface="Times New Roman" pitchFamily="-1" charset="0"/>
                <a:ea typeface="+mn-ea"/>
                <a:cs typeface="+mn-cs"/>
              </a:rPr>
              <a:t>■ </a:t>
            </a:r>
            <a:r>
              <a:rPr lang="en-US" sz="1200" kern="1200" dirty="0">
                <a:solidFill>
                  <a:schemeClr val="tx1"/>
                </a:solidFill>
                <a:effectLst/>
                <a:latin typeface="Times New Roman" pitchFamily="-1" charset="0"/>
                <a:ea typeface="+mn-ea"/>
                <a:cs typeface="+mn-cs"/>
              </a:rPr>
              <a:t>Operand fetch (OF):  Read and buffer any register operands.</a:t>
            </a:r>
          </a:p>
          <a:p>
            <a:endParaRPr lang="en-US" sz="1200" b="1" kern="1200" dirty="0">
              <a:solidFill>
                <a:schemeClr val="tx1"/>
              </a:solidFill>
              <a:effectLst/>
              <a:latin typeface="Times New Roman" pitchFamily="-1" charset="0"/>
              <a:ea typeface="+mn-ea"/>
              <a:cs typeface="+mn-cs"/>
            </a:endParaRPr>
          </a:p>
          <a:p>
            <a:r>
              <a:rPr lang="en-US" sz="1200" b="1" kern="1200" dirty="0">
                <a:solidFill>
                  <a:schemeClr val="tx1"/>
                </a:solidFill>
                <a:effectLst/>
                <a:latin typeface="Times New Roman" pitchFamily="-1" charset="0"/>
                <a:ea typeface="+mn-ea"/>
                <a:cs typeface="+mn-cs"/>
              </a:rPr>
              <a:t>■ </a:t>
            </a:r>
            <a:r>
              <a:rPr lang="en-US" sz="1200" kern="1200" dirty="0">
                <a:solidFill>
                  <a:schemeClr val="tx1"/>
                </a:solidFill>
                <a:effectLst/>
                <a:latin typeface="Times New Roman" pitchFamily="-1" charset="0"/>
                <a:ea typeface="+mn-ea"/>
                <a:cs typeface="+mn-cs"/>
              </a:rPr>
              <a:t>Execute (EX):  Perform the indicated operation. For a memory load or store,</a:t>
            </a:r>
          </a:p>
          <a:p>
            <a:r>
              <a:rPr lang="en-US" sz="1200" kern="1200" dirty="0">
                <a:solidFill>
                  <a:schemeClr val="tx1"/>
                </a:solidFill>
                <a:effectLst/>
                <a:latin typeface="Times New Roman" pitchFamily="-1" charset="0"/>
                <a:ea typeface="+mn-ea"/>
                <a:cs typeface="+mn-cs"/>
              </a:rPr>
              <a:t>this involves memory access through the cache.</a:t>
            </a:r>
          </a:p>
          <a:p>
            <a:endParaRPr lang="en-US" sz="1200" b="1" kern="1200" dirty="0">
              <a:solidFill>
                <a:schemeClr val="tx1"/>
              </a:solidFill>
              <a:effectLst/>
              <a:latin typeface="Times New Roman" pitchFamily="-1" charset="0"/>
              <a:ea typeface="+mn-ea"/>
              <a:cs typeface="+mn-cs"/>
            </a:endParaRPr>
          </a:p>
          <a:p>
            <a:r>
              <a:rPr lang="en-US" sz="1200" b="1" kern="1200" dirty="0">
                <a:solidFill>
                  <a:schemeClr val="tx1"/>
                </a:solidFill>
                <a:effectLst/>
                <a:latin typeface="Times New Roman" pitchFamily="-1" charset="0"/>
                <a:ea typeface="+mn-ea"/>
                <a:cs typeface="+mn-cs"/>
              </a:rPr>
              <a:t>■ </a:t>
            </a:r>
            <a:r>
              <a:rPr lang="en-US" sz="1200" kern="1200" dirty="0">
                <a:solidFill>
                  <a:schemeClr val="tx1"/>
                </a:solidFill>
                <a:effectLst/>
                <a:latin typeface="Times New Roman" pitchFamily="-1" charset="0"/>
                <a:ea typeface="+mn-ea"/>
                <a:cs typeface="+mn-cs"/>
              </a:rPr>
              <a:t>Write back (WB):  Write back instruction result to its destination register.</a:t>
            </a:r>
          </a:p>
          <a:p>
            <a:endParaRPr lang="en-US" sz="1200" kern="1200" dirty="0">
              <a:solidFill>
                <a:schemeClr val="tx1"/>
              </a:solidFill>
              <a:effectLst/>
              <a:latin typeface="Times New Roman" pitchFamily="-1" charset="0"/>
              <a:ea typeface="+mn-ea"/>
              <a:cs typeface="+mn-cs"/>
            </a:endParaRPr>
          </a:p>
          <a:p>
            <a:r>
              <a:rPr lang="en-US" sz="1200" kern="1200" dirty="0">
                <a:solidFill>
                  <a:schemeClr val="tx1"/>
                </a:solidFill>
                <a:effectLst/>
                <a:latin typeface="Times New Roman" pitchFamily="-1" charset="0"/>
                <a:ea typeface="+mn-ea"/>
                <a:cs typeface="+mn-cs"/>
              </a:rPr>
              <a:t>Figure 16.22a indicates a simple organization for this pipeline. Two contention</a:t>
            </a:r>
          </a:p>
          <a:p>
            <a:r>
              <a:rPr lang="en-US" sz="1200" kern="1200" dirty="0">
                <a:solidFill>
                  <a:schemeClr val="tx1"/>
                </a:solidFill>
                <a:effectLst/>
                <a:latin typeface="Times New Roman" pitchFamily="-1" charset="0"/>
                <a:ea typeface="+mn-ea"/>
                <a:cs typeface="+mn-cs"/>
              </a:rPr>
              <a:t>problems are apparent. The WB and OF stages both need access to the register file,</a:t>
            </a:r>
          </a:p>
          <a:p>
            <a:r>
              <a:rPr lang="en-US" sz="1200" kern="1200" dirty="0">
                <a:solidFill>
                  <a:schemeClr val="tx1"/>
                </a:solidFill>
                <a:effectLst/>
                <a:latin typeface="Times New Roman" pitchFamily="-1" charset="0"/>
                <a:ea typeface="+mn-ea"/>
                <a:cs typeface="+mn-cs"/>
              </a:rPr>
              <a:t>and the IF and EX stages both need access to the cache. Figure 16.22b shows modifications</a:t>
            </a:r>
          </a:p>
          <a:p>
            <a:r>
              <a:rPr lang="en-US" sz="1200" kern="1200" dirty="0">
                <a:solidFill>
                  <a:schemeClr val="tx1"/>
                </a:solidFill>
                <a:effectLst/>
                <a:latin typeface="Times New Roman" pitchFamily="-1" charset="0"/>
                <a:ea typeface="+mn-ea"/>
                <a:cs typeface="+mn-cs"/>
              </a:rPr>
              <a:t>to the organization to alleviate these conflicts. Increasing the number of register</a:t>
            </a:r>
          </a:p>
          <a:p>
            <a:r>
              <a:rPr lang="en-US" sz="1200" kern="1200" dirty="0">
                <a:solidFill>
                  <a:schemeClr val="tx1"/>
                </a:solidFill>
                <a:effectLst/>
                <a:latin typeface="Times New Roman" pitchFamily="-1" charset="0"/>
                <a:ea typeface="+mn-ea"/>
                <a:cs typeface="+mn-cs"/>
              </a:rPr>
              <a:t>ports and busses enables simultaneous read and write. Separating the L1 cache</a:t>
            </a:r>
          </a:p>
          <a:p>
            <a:r>
              <a:rPr lang="en-US" sz="1200" kern="1200" dirty="0">
                <a:solidFill>
                  <a:schemeClr val="tx1"/>
                </a:solidFill>
                <a:effectLst/>
                <a:latin typeface="Times New Roman" pitchFamily="-1" charset="0"/>
                <a:ea typeface="+mn-ea"/>
                <a:cs typeface="+mn-cs"/>
              </a:rPr>
              <a:t>into an I-cache and a D-cache removes the conflict between the IF and EX stages.</a:t>
            </a:r>
          </a:p>
        </p:txBody>
      </p:sp>
    </p:spTree>
    <p:extLst>
      <p:ext uri="{BB962C8B-B14F-4D97-AF65-F5344CB8AC3E}">
        <p14:creationId xmlns:p14="http://schemas.microsoft.com/office/powerpoint/2010/main" val="111628160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 charset="0"/>
                <a:ea typeface="+mn-ea"/>
                <a:cs typeface="+mn-cs"/>
              </a:rPr>
              <a:t>Figure 16.23 shows a more complex organization that further enhances performance.</a:t>
            </a:r>
          </a:p>
          <a:p>
            <a:r>
              <a:rPr lang="en-US" sz="1200" kern="1200" dirty="0">
                <a:solidFill>
                  <a:schemeClr val="tx1"/>
                </a:solidFill>
                <a:effectLst/>
                <a:latin typeface="Times New Roman" pitchFamily="-1" charset="0"/>
                <a:ea typeface="+mn-ea"/>
                <a:cs typeface="+mn-cs"/>
              </a:rPr>
              <a:t>The following are the changes:</a:t>
            </a:r>
          </a:p>
          <a:p>
            <a:endParaRPr lang="en-US" sz="1200" b="1" kern="1200" dirty="0">
              <a:solidFill>
                <a:schemeClr val="tx1"/>
              </a:solidFill>
              <a:effectLst/>
              <a:latin typeface="Times New Roman" pitchFamily="-1" charset="0"/>
              <a:ea typeface="+mn-ea"/>
              <a:cs typeface="+mn-cs"/>
            </a:endParaRPr>
          </a:p>
          <a:p>
            <a:r>
              <a:rPr lang="en-US" sz="1200" b="1" kern="1200" dirty="0">
                <a:solidFill>
                  <a:schemeClr val="tx1"/>
                </a:solidFill>
                <a:effectLst/>
                <a:latin typeface="Times New Roman" pitchFamily="-1" charset="0"/>
                <a:ea typeface="+mn-ea"/>
                <a:cs typeface="+mn-cs"/>
              </a:rPr>
              <a:t>■ </a:t>
            </a:r>
            <a:r>
              <a:rPr lang="en-US" sz="1200" kern="1200" dirty="0">
                <a:solidFill>
                  <a:schemeClr val="tx1"/>
                </a:solidFill>
                <a:effectLst/>
                <a:latin typeface="Times New Roman" pitchFamily="-1" charset="0"/>
                <a:ea typeface="+mn-ea"/>
                <a:cs typeface="+mn-cs"/>
              </a:rPr>
              <a:t>Dedicated execution units for each function:  Different units can have different</a:t>
            </a:r>
          </a:p>
          <a:p>
            <a:r>
              <a:rPr lang="en-US" sz="1200" kern="1200" dirty="0">
                <a:solidFill>
                  <a:schemeClr val="tx1"/>
                </a:solidFill>
                <a:effectLst/>
                <a:latin typeface="Times New Roman" pitchFamily="-1" charset="0"/>
                <a:ea typeface="+mn-ea"/>
                <a:cs typeface="+mn-cs"/>
              </a:rPr>
              <a:t>time delays, allowing for more flexible pipelining.</a:t>
            </a:r>
          </a:p>
          <a:p>
            <a:endParaRPr lang="en-US" sz="1200" b="1" kern="1200" dirty="0">
              <a:solidFill>
                <a:schemeClr val="tx1"/>
              </a:solidFill>
              <a:effectLst/>
              <a:latin typeface="Times New Roman" pitchFamily="-1" charset="0"/>
              <a:ea typeface="+mn-ea"/>
              <a:cs typeface="+mn-cs"/>
            </a:endParaRPr>
          </a:p>
          <a:p>
            <a:r>
              <a:rPr lang="en-US" sz="1200" b="1" kern="1200" dirty="0">
                <a:solidFill>
                  <a:schemeClr val="tx1"/>
                </a:solidFill>
                <a:effectLst/>
                <a:latin typeface="Times New Roman" pitchFamily="-1" charset="0"/>
                <a:ea typeface="+mn-ea"/>
                <a:cs typeface="+mn-cs"/>
              </a:rPr>
              <a:t>■ </a:t>
            </a:r>
            <a:r>
              <a:rPr lang="en-US" sz="1200" kern="1200" dirty="0">
                <a:solidFill>
                  <a:schemeClr val="tx1"/>
                </a:solidFill>
                <a:effectLst/>
                <a:latin typeface="Times New Roman" pitchFamily="-1" charset="0"/>
                <a:ea typeface="+mn-ea"/>
                <a:cs typeface="+mn-cs"/>
              </a:rPr>
              <a:t>Pipelining a functional unit:  Because different functional (EX) units have different</a:t>
            </a:r>
          </a:p>
          <a:p>
            <a:r>
              <a:rPr lang="en-US" sz="1200" kern="1200" dirty="0">
                <a:solidFill>
                  <a:schemeClr val="tx1"/>
                </a:solidFill>
                <a:effectLst/>
                <a:latin typeface="Times New Roman" pitchFamily="-1" charset="0"/>
                <a:ea typeface="+mn-ea"/>
                <a:cs typeface="+mn-cs"/>
              </a:rPr>
              <a:t>time delays, it is possible to pipeline executions in a longer unit. For</a:t>
            </a:r>
          </a:p>
          <a:p>
            <a:r>
              <a:rPr lang="en-US" sz="1200" kern="1200" dirty="0">
                <a:solidFill>
                  <a:schemeClr val="tx1"/>
                </a:solidFill>
                <a:effectLst/>
                <a:latin typeface="Times New Roman" pitchFamily="-1" charset="0"/>
                <a:ea typeface="+mn-ea"/>
                <a:cs typeface="+mn-cs"/>
              </a:rPr>
              <a:t>example, an integer multiply unit may take multiple clock cycles, compared to</a:t>
            </a:r>
          </a:p>
          <a:p>
            <a:r>
              <a:rPr lang="en-US" sz="1200" kern="1200" dirty="0">
                <a:solidFill>
                  <a:schemeClr val="tx1"/>
                </a:solidFill>
                <a:effectLst/>
                <a:latin typeface="Times New Roman" pitchFamily="-1" charset="0"/>
                <a:ea typeface="+mn-ea"/>
                <a:cs typeface="+mn-cs"/>
              </a:rPr>
              <a:t>only one clock cycle for add/subtract and control transfer. Instead of having</a:t>
            </a:r>
          </a:p>
          <a:p>
            <a:r>
              <a:rPr lang="en-US" sz="1200" kern="1200" dirty="0">
                <a:solidFill>
                  <a:schemeClr val="tx1"/>
                </a:solidFill>
                <a:effectLst/>
                <a:latin typeface="Times New Roman" pitchFamily="-1" charset="0"/>
                <a:ea typeface="+mn-ea"/>
                <a:cs typeface="+mn-cs"/>
              </a:rPr>
              <a:t>to stall the pipeline until the entire multiply operation is complete, a new EX</a:t>
            </a:r>
          </a:p>
          <a:p>
            <a:r>
              <a:rPr lang="en-US" sz="1200" kern="1200" dirty="0">
                <a:solidFill>
                  <a:schemeClr val="tx1"/>
                </a:solidFill>
                <a:effectLst/>
                <a:latin typeface="Times New Roman" pitchFamily="-1" charset="0"/>
                <a:ea typeface="+mn-ea"/>
                <a:cs typeface="+mn-cs"/>
              </a:rPr>
              <a:t>stage can be started as soon as the first EX stage of the multiply is complete.</a:t>
            </a:r>
          </a:p>
          <a:p>
            <a:endParaRPr lang="en-US" sz="1200" b="1" kern="1200" dirty="0">
              <a:solidFill>
                <a:schemeClr val="tx1"/>
              </a:solidFill>
              <a:effectLst/>
              <a:latin typeface="Times New Roman" pitchFamily="-1" charset="0"/>
              <a:ea typeface="+mn-ea"/>
              <a:cs typeface="+mn-cs"/>
            </a:endParaRPr>
          </a:p>
          <a:p>
            <a:r>
              <a:rPr lang="en-US" sz="1200" b="1" kern="1200" dirty="0">
                <a:solidFill>
                  <a:schemeClr val="tx1"/>
                </a:solidFill>
                <a:effectLst/>
                <a:latin typeface="Times New Roman" pitchFamily="-1" charset="0"/>
                <a:ea typeface="+mn-ea"/>
                <a:cs typeface="+mn-cs"/>
              </a:rPr>
              <a:t>■ </a:t>
            </a:r>
            <a:r>
              <a:rPr lang="en-US" sz="1200" kern="1200" dirty="0">
                <a:solidFill>
                  <a:schemeClr val="tx1"/>
                </a:solidFill>
                <a:effectLst/>
                <a:latin typeface="Times New Roman" pitchFamily="-1" charset="0"/>
                <a:ea typeface="+mn-ea"/>
                <a:cs typeface="+mn-cs"/>
              </a:rPr>
              <a:t>Reservation station:  A buffer used to hold operations and operands for an EX</a:t>
            </a:r>
          </a:p>
          <a:p>
            <a:r>
              <a:rPr lang="en-US" sz="1200" kern="1200" dirty="0">
                <a:solidFill>
                  <a:schemeClr val="tx1"/>
                </a:solidFill>
                <a:effectLst/>
                <a:latin typeface="Times New Roman" pitchFamily="-1" charset="0"/>
                <a:ea typeface="+mn-ea"/>
                <a:cs typeface="+mn-cs"/>
              </a:rPr>
              <a:t>unit until the operands are available.</a:t>
            </a:r>
          </a:p>
          <a:p>
            <a:endParaRPr lang="en-US" sz="1200" kern="1200" dirty="0">
              <a:solidFill>
                <a:schemeClr val="tx1"/>
              </a:solidFill>
              <a:effectLst/>
              <a:latin typeface="Times New Roman" pitchFamily="-1" charset="0"/>
              <a:ea typeface="+mn-ea"/>
              <a:cs typeface="+mn-cs"/>
            </a:endParaRPr>
          </a:p>
          <a:p>
            <a:r>
              <a:rPr lang="en-US" sz="1200" kern="1200" dirty="0">
                <a:solidFill>
                  <a:schemeClr val="tx1"/>
                </a:solidFill>
                <a:effectLst/>
                <a:latin typeface="Times New Roman" pitchFamily="-1" charset="0"/>
                <a:ea typeface="+mn-ea"/>
                <a:cs typeface="+mn-cs"/>
              </a:rPr>
              <a:t>The purpose of the reservation station is to relieve a bottleneck at the OF stage.</a:t>
            </a:r>
          </a:p>
          <a:p>
            <a:r>
              <a:rPr lang="en-US" sz="1200" kern="1200" dirty="0">
                <a:solidFill>
                  <a:schemeClr val="tx1"/>
                </a:solidFill>
                <a:effectLst/>
                <a:latin typeface="Times New Roman" pitchFamily="-1" charset="0"/>
                <a:ea typeface="+mn-ea"/>
                <a:cs typeface="+mn-cs"/>
              </a:rPr>
              <a:t>The OF can issue an instruction as soon as a functional unit is available and hazards are</a:t>
            </a:r>
          </a:p>
          <a:p>
            <a:r>
              <a:rPr lang="en-US" sz="1200" kern="1200" dirty="0">
                <a:solidFill>
                  <a:schemeClr val="tx1"/>
                </a:solidFill>
                <a:effectLst/>
                <a:latin typeface="Times New Roman" pitchFamily="-1" charset="0"/>
                <a:ea typeface="+mn-ea"/>
                <a:cs typeface="+mn-cs"/>
              </a:rPr>
              <a:t> resolved. The problem this creates is that the OF stage cannot receive a new instruction</a:t>
            </a:r>
          </a:p>
          <a:p>
            <a:r>
              <a:rPr lang="en-US" sz="1200" kern="1200" dirty="0">
                <a:solidFill>
                  <a:schemeClr val="tx1"/>
                </a:solidFill>
                <a:effectLst/>
                <a:latin typeface="Times New Roman" pitchFamily="-1" charset="0"/>
                <a:ea typeface="+mn-ea"/>
                <a:cs typeface="+mn-cs"/>
              </a:rPr>
              <a:t>until the previous instruction has been issued. The reservation stations provide a buffer</a:t>
            </a:r>
          </a:p>
          <a:p>
            <a:r>
              <a:rPr lang="en-US" sz="1200" kern="1200" dirty="0">
                <a:solidFill>
                  <a:schemeClr val="tx1"/>
                </a:solidFill>
                <a:effectLst/>
                <a:latin typeface="Times New Roman" pitchFamily="-1" charset="0"/>
                <a:ea typeface="+mn-ea"/>
                <a:cs typeface="+mn-cs"/>
              </a:rPr>
              <a:t>that enables the OF stage to issue instructions as soon as possible. Then, the reservation</a:t>
            </a:r>
          </a:p>
          <a:p>
            <a:r>
              <a:rPr lang="en-US" sz="1200" kern="1200" dirty="0">
                <a:solidFill>
                  <a:schemeClr val="tx1"/>
                </a:solidFill>
                <a:effectLst/>
                <a:latin typeface="Times New Roman" pitchFamily="-1" charset="0"/>
                <a:ea typeface="+mn-ea"/>
                <a:cs typeface="+mn-cs"/>
              </a:rPr>
              <a:t>station will dispatch each instruction to its functional unit when the latter is available.</a:t>
            </a:r>
          </a:p>
        </p:txBody>
      </p:sp>
    </p:spTree>
    <p:extLst>
      <p:ext uri="{BB962C8B-B14F-4D97-AF65-F5344CB8AC3E}">
        <p14:creationId xmlns:p14="http://schemas.microsoft.com/office/powerpoint/2010/main" val="258265179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 charset="0"/>
                <a:ea typeface="+mn-ea"/>
                <a:cs typeface="+mn-cs"/>
              </a:rPr>
              <a:t> Figure 16.24 shows the typical contents of a reservation station for a machine</a:t>
            </a:r>
          </a:p>
          <a:p>
            <a:r>
              <a:rPr lang="en-US" sz="1200" kern="1200" dirty="0">
                <a:solidFill>
                  <a:schemeClr val="tx1"/>
                </a:solidFill>
                <a:effectLst/>
                <a:latin typeface="Times New Roman" pitchFamily="-1" charset="0"/>
                <a:ea typeface="+mn-ea"/>
                <a:cs typeface="+mn-cs"/>
              </a:rPr>
              <a:t>that has up to two operands per instruction. Each slot (shown vertically in the figure)</a:t>
            </a:r>
          </a:p>
          <a:p>
            <a:r>
              <a:rPr lang="en-US" sz="1200" kern="1200" dirty="0">
                <a:solidFill>
                  <a:schemeClr val="tx1"/>
                </a:solidFill>
                <a:effectLst/>
                <a:latin typeface="Times New Roman" pitchFamily="-1" charset="0"/>
                <a:ea typeface="+mn-ea"/>
                <a:cs typeface="+mn-cs"/>
              </a:rPr>
              <a:t>holds information for one instruction consisting of one or more tag/value pairs and</a:t>
            </a:r>
          </a:p>
          <a:p>
            <a:r>
              <a:rPr lang="en-US" sz="1200" kern="1200" dirty="0">
                <a:solidFill>
                  <a:schemeClr val="tx1"/>
                </a:solidFill>
                <a:effectLst/>
                <a:latin typeface="Times New Roman" pitchFamily="-1" charset="0"/>
                <a:ea typeface="+mn-ea"/>
                <a:cs typeface="+mn-cs"/>
              </a:rPr>
              <a:t>an OP field. The OP field is the instruction operation command for a functional unit.</a:t>
            </a:r>
          </a:p>
          <a:p>
            <a:r>
              <a:rPr lang="en-US" sz="1200" kern="1200" dirty="0">
                <a:solidFill>
                  <a:schemeClr val="tx1"/>
                </a:solidFill>
                <a:effectLst/>
                <a:latin typeface="Times New Roman" pitchFamily="-1" charset="0"/>
                <a:ea typeface="+mn-ea"/>
                <a:cs typeface="+mn-cs"/>
              </a:rPr>
              <a:t>The Tag field indicates “valid” if the corresponding Value field contains an operand.</a:t>
            </a:r>
          </a:p>
          <a:p>
            <a:r>
              <a:rPr lang="en-US" sz="1200" kern="1200" dirty="0">
                <a:solidFill>
                  <a:schemeClr val="tx1"/>
                </a:solidFill>
                <a:effectLst/>
                <a:latin typeface="Times New Roman" pitchFamily="-1" charset="0"/>
                <a:ea typeface="+mn-ea"/>
                <a:cs typeface="+mn-cs"/>
              </a:rPr>
              <a:t>Otherwise the Tag field indicates the identity of the desired operand, such as by using</a:t>
            </a:r>
          </a:p>
          <a:p>
            <a:r>
              <a:rPr lang="en-US" sz="1200" kern="1200" dirty="0">
                <a:solidFill>
                  <a:schemeClr val="tx1"/>
                </a:solidFill>
                <a:effectLst/>
                <a:latin typeface="Times New Roman" pitchFamily="-1" charset="0"/>
                <a:ea typeface="+mn-ea"/>
                <a:cs typeface="+mn-cs"/>
              </a:rPr>
              <a:t>a register number. If the desired operand is available, it is copied from a register to</a:t>
            </a:r>
          </a:p>
          <a:p>
            <a:r>
              <a:rPr lang="en-US" sz="1200" kern="1200" dirty="0">
                <a:solidFill>
                  <a:schemeClr val="tx1"/>
                </a:solidFill>
                <a:effectLst/>
                <a:latin typeface="Times New Roman" pitchFamily="-1" charset="0"/>
                <a:ea typeface="+mn-ea"/>
                <a:cs typeface="+mn-cs"/>
              </a:rPr>
              <a:t>the Value field; otherwise, the slot is in a waiting state until the operand is available.</a:t>
            </a:r>
          </a:p>
          <a:p>
            <a:endParaRPr lang="en-US" sz="1200" kern="1200" dirty="0">
              <a:solidFill>
                <a:schemeClr val="tx1"/>
              </a:solidFill>
              <a:effectLst/>
              <a:latin typeface="Times New Roman" pitchFamily="-1" charset="0"/>
              <a:ea typeface="+mn-ea"/>
              <a:cs typeface="+mn-cs"/>
            </a:endParaRPr>
          </a:p>
        </p:txBody>
      </p:sp>
    </p:spTree>
    <p:extLst>
      <p:ext uri="{BB962C8B-B14F-4D97-AF65-F5344CB8AC3E}">
        <p14:creationId xmlns:p14="http://schemas.microsoft.com/office/powerpoint/2010/main" val="365654112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55000" lnSpcReduction="20000"/>
          </a:bodyPr>
          <a:lstStyle/>
          <a:p>
            <a:r>
              <a:rPr lang="en-US" sz="1200" kern="1200" dirty="0">
                <a:solidFill>
                  <a:schemeClr val="tx1"/>
                </a:solidFill>
                <a:latin typeface="Times New Roman" pitchFamily="-1" charset="0"/>
                <a:ea typeface="+mn-ea"/>
                <a:cs typeface="+mn-cs"/>
              </a:rPr>
              <a:t>The register organization includes the following types of registers (Table 16.2):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General: </a:t>
            </a:r>
            <a:r>
              <a:rPr lang="en-US" sz="1200" kern="1200" dirty="0">
                <a:solidFill>
                  <a:schemeClr val="tx1"/>
                </a:solidFill>
                <a:latin typeface="Times New Roman" pitchFamily="-1" charset="0"/>
                <a:ea typeface="+mn-ea"/>
                <a:cs typeface="+mn-cs"/>
              </a:rPr>
              <a:t>There are eight 32-bit general-purpose registers (see Figure 16.3c). These may be used for all types of x86 instructions; they can also hold operands for address calculations. In addition, some of these registers also serve special purposes. For example, string instructions use the contents of the ECX, ESI, and EDI registers as operands without having to reference these registers explicitly in the instruction. As a result, a number of instructions can be encoded more compactly. In 64-bit mode, there are 16 64-bit general-purpose registers.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Segment: </a:t>
            </a:r>
            <a:r>
              <a:rPr lang="en-US" sz="1200" kern="1200" dirty="0">
                <a:solidFill>
                  <a:schemeClr val="tx1"/>
                </a:solidFill>
                <a:latin typeface="Times New Roman" pitchFamily="-1" charset="0"/>
                <a:ea typeface="+mn-ea"/>
                <a:cs typeface="+mn-cs"/>
              </a:rPr>
              <a:t>The six 16-bit segment registers contain segment selectors, which index into segment tables, as discussed in Chapter 9. The code segment (CS) register references the segment containing the instruction being executed. The stack segment (SS) register references the segment containing a user-visible stack. The remaining segment registers (DS, ES, FS, GS) enable the user to reference up to four separate data segments at a time.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Flags: </a:t>
            </a:r>
            <a:r>
              <a:rPr lang="en-US" sz="1200" kern="1200" dirty="0">
                <a:solidFill>
                  <a:schemeClr val="tx1"/>
                </a:solidFill>
                <a:latin typeface="Times New Roman" pitchFamily="-1" charset="0"/>
                <a:ea typeface="+mn-ea"/>
                <a:cs typeface="+mn-cs"/>
              </a:rPr>
              <a:t>The 32-bit EFLAGS register contains condition codes and various mode bits. In 64-bit mode, this register is extended to 64 bits and referred </a:t>
            </a:r>
            <a:endParaRPr lang="en-US" dirty="0"/>
          </a:p>
          <a:p>
            <a:r>
              <a:rPr lang="en-US" sz="1200" kern="1200" dirty="0">
                <a:solidFill>
                  <a:schemeClr val="tx1"/>
                </a:solidFill>
                <a:latin typeface="Times New Roman" pitchFamily="-1" charset="0"/>
                <a:ea typeface="+mn-ea"/>
                <a:cs typeface="+mn-cs"/>
              </a:rPr>
              <a:t>to as RFLAGS. In the current architecture definition, the upper 32 bits of RFLAGS are unused.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Instruction pointer: </a:t>
            </a:r>
            <a:r>
              <a:rPr lang="en-US" sz="1200" kern="1200" dirty="0">
                <a:solidFill>
                  <a:schemeClr val="tx1"/>
                </a:solidFill>
                <a:latin typeface="Times New Roman" pitchFamily="-1" charset="0"/>
                <a:ea typeface="+mn-ea"/>
                <a:cs typeface="+mn-cs"/>
              </a:rPr>
              <a:t>Contains the address of the current instruction.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There are also registers specifically devoted to the floating-point unit: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Numeric: </a:t>
            </a:r>
            <a:r>
              <a:rPr lang="en-US" sz="1200" kern="1200" dirty="0">
                <a:solidFill>
                  <a:schemeClr val="tx1"/>
                </a:solidFill>
                <a:latin typeface="Times New Roman" pitchFamily="-1" charset="0"/>
                <a:ea typeface="+mn-ea"/>
                <a:cs typeface="+mn-cs"/>
              </a:rPr>
              <a:t>Each register holds an extended-precision 80-bit floating-point number. There are eight registers that function as a stack, with push and pop operations available in the instruction set.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Control: </a:t>
            </a:r>
            <a:r>
              <a:rPr lang="en-US" sz="1200" kern="1200" dirty="0">
                <a:solidFill>
                  <a:schemeClr val="tx1"/>
                </a:solidFill>
                <a:latin typeface="Times New Roman" pitchFamily="-1" charset="0"/>
                <a:ea typeface="+mn-ea"/>
                <a:cs typeface="+mn-cs"/>
              </a:rPr>
              <a:t>The 16-bit control register contains bits that control the operation of the floating-point unit, including the type of rounding control; single, double, or extended precision; and bits to enable or disable various exception conditions.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Status: </a:t>
            </a:r>
            <a:r>
              <a:rPr lang="en-US" sz="1200" kern="1200" dirty="0">
                <a:solidFill>
                  <a:schemeClr val="tx1"/>
                </a:solidFill>
                <a:latin typeface="Times New Roman" pitchFamily="-1" charset="0"/>
                <a:ea typeface="+mn-ea"/>
                <a:cs typeface="+mn-cs"/>
              </a:rPr>
              <a:t>The 16-bit status register contains bits that reflect the current state of the floating-point unit, including a 3-bit pointer to the top of the stack; condition codes reporting the outcome of the last operation; and exception flags.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Tagword: </a:t>
            </a:r>
            <a:r>
              <a:rPr lang="en-US" sz="1200" b="0" kern="1200" dirty="0">
                <a:solidFill>
                  <a:schemeClr val="tx1"/>
                </a:solidFill>
                <a:latin typeface="Times New Roman" pitchFamily="-1" charset="0"/>
                <a:ea typeface="+mn-ea"/>
                <a:cs typeface="+mn-cs"/>
              </a:rPr>
              <a:t>This 16-bit register contains a 2-bit tag for each floating-point numeric </a:t>
            </a:r>
            <a:r>
              <a:rPr lang="en-US" sz="1200" kern="1200" dirty="0">
                <a:solidFill>
                  <a:schemeClr val="tx1"/>
                </a:solidFill>
                <a:latin typeface="Times New Roman" pitchFamily="-1" charset="0"/>
                <a:ea typeface="+mn-ea"/>
                <a:cs typeface="+mn-cs"/>
              </a:rPr>
              <a:t>register, which indicates the nature of the contents of the corresponding register.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four possible values are valid, zero, special (NaN, infinity, denormalized), and empty. These tags enable programs to check the contents of a numeric register without performing complex decoding of the actual data in the register. For example, when a context switch is made, the processor need not save any floating-point registers that are empty.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use of most of the aforementioned registers is easily understood. Let us elaborate briefly on several of the registers. </a:t>
            </a:r>
            <a:endParaRPr lang="en-US" dirty="0"/>
          </a:p>
          <a:p>
            <a:endParaRPr lang="en-US" dirty="0"/>
          </a:p>
          <a:p>
            <a:endParaRPr lang="en-US" dirty="0"/>
          </a:p>
        </p:txBody>
      </p:sp>
    </p:spTree>
    <p:extLst>
      <p:ext uri="{BB962C8B-B14F-4D97-AF65-F5344CB8AC3E}">
        <p14:creationId xmlns:p14="http://schemas.microsoft.com/office/powerpoint/2010/main" val="203563601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70000" lnSpcReduction="20000"/>
          </a:bodyPr>
          <a:lstStyle/>
          <a:p>
            <a:r>
              <a:rPr lang="en-US" sz="1200" kern="1200" dirty="0">
                <a:solidFill>
                  <a:schemeClr val="tx1"/>
                </a:solidFill>
                <a:latin typeface="Times New Roman" pitchFamily="-1" charset="0"/>
                <a:ea typeface="+mn-ea"/>
                <a:cs typeface="+mn-cs"/>
              </a:rPr>
              <a:t>The EFLAGS register (Figure 16.25) indicates the condition of the processor and helps to control its operation. It includes the six condition codes defined in Table 13.8(carry, parity, auxiliary, zero, sign, overflow), which report the results of an integer operation. In addition, there are bits in the register that may be referred to as control bits: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Trap flag (TF): </a:t>
            </a:r>
            <a:r>
              <a:rPr lang="en-US" sz="1200" kern="1200" dirty="0">
                <a:solidFill>
                  <a:schemeClr val="tx1"/>
                </a:solidFill>
                <a:latin typeface="Times New Roman" pitchFamily="-1" charset="0"/>
                <a:ea typeface="+mn-ea"/>
                <a:cs typeface="+mn-cs"/>
              </a:rPr>
              <a:t>When set, causes an interrupt after the execution of each instruction. This is used for debugging.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Interrupt enable flag (IF): </a:t>
            </a:r>
            <a:r>
              <a:rPr lang="en-US" sz="1200" kern="1200" dirty="0">
                <a:solidFill>
                  <a:schemeClr val="tx1"/>
                </a:solidFill>
                <a:latin typeface="Times New Roman" pitchFamily="-1" charset="0"/>
                <a:ea typeface="+mn-ea"/>
                <a:cs typeface="+mn-cs"/>
              </a:rPr>
              <a:t>When set, the processor will recognize external interrupts.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Direction flag (DF): </a:t>
            </a:r>
            <a:r>
              <a:rPr lang="en-US" sz="1200" kern="1200" dirty="0">
                <a:solidFill>
                  <a:schemeClr val="tx1"/>
                </a:solidFill>
                <a:latin typeface="Times New Roman" pitchFamily="-1" charset="0"/>
                <a:ea typeface="+mn-ea"/>
                <a:cs typeface="+mn-cs"/>
              </a:rPr>
              <a:t>Determines whether string processing instructions increment or decrement the 16-bit half-registers SI and DI (for 16-bit operations) or the 32-bit registers ESI and EDI (for 32-bit operations).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I/O privilege flag (IOPL): </a:t>
            </a:r>
            <a:r>
              <a:rPr lang="en-US" sz="1200" kern="1200" dirty="0">
                <a:solidFill>
                  <a:schemeClr val="tx1"/>
                </a:solidFill>
                <a:latin typeface="Times New Roman" pitchFamily="-1" charset="0"/>
                <a:ea typeface="+mn-ea"/>
                <a:cs typeface="+mn-cs"/>
              </a:rPr>
              <a:t>When set, causes the processor to generate an exception on all accesses to I/O devices during protected-mode operation.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Resume flag (RF): </a:t>
            </a:r>
            <a:r>
              <a:rPr lang="en-US" sz="1200" kern="1200" dirty="0">
                <a:solidFill>
                  <a:schemeClr val="tx1"/>
                </a:solidFill>
                <a:latin typeface="Times New Roman" pitchFamily="-1" charset="0"/>
                <a:ea typeface="+mn-ea"/>
                <a:cs typeface="+mn-cs"/>
              </a:rPr>
              <a:t>Allows the programmer to disable debug exceptions so that the instruction can be restarted after a debug exception without immediately causing another debug exception.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Alignment check (AC): </a:t>
            </a:r>
            <a:r>
              <a:rPr lang="en-US" sz="1200" kern="1200" dirty="0">
                <a:solidFill>
                  <a:schemeClr val="tx1"/>
                </a:solidFill>
                <a:latin typeface="Times New Roman" pitchFamily="-1" charset="0"/>
                <a:ea typeface="+mn-ea"/>
                <a:cs typeface="+mn-cs"/>
              </a:rPr>
              <a:t>Activates if a word or doubleword is addressed on a nonword or nondoubleword boundary.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Identification flag (ID): </a:t>
            </a:r>
            <a:r>
              <a:rPr lang="en-US" sz="1200" kern="1200" dirty="0">
                <a:solidFill>
                  <a:schemeClr val="tx1"/>
                </a:solidFill>
                <a:latin typeface="Times New Roman" pitchFamily="-1" charset="0"/>
                <a:ea typeface="+mn-ea"/>
                <a:cs typeface="+mn-cs"/>
              </a:rPr>
              <a:t>If this bit can be set and cleared, then this processor supports the processorID instruction. This instruction provides information about the vendor, family, and model. </a:t>
            </a:r>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In addition, there are 4 bits that relate to operating mode. The Nested Task (NT) flag indicates that the current task is nested within another task in protected- mode operation. The Virtual Mode (VM) bit allows the programmer to enable or disable virtual 8086 mode, which determines whether the processor runs as an 8086 machine. The Virtual Interrupt Flag (VIF) and Virtual Interrupt Pending (VIP) flag are used in a multitasking environment. </a:t>
            </a:r>
            <a:endParaRPr lang="en-US" dirty="0"/>
          </a:p>
          <a:p>
            <a:endParaRPr lang="en-US" dirty="0"/>
          </a:p>
        </p:txBody>
      </p:sp>
    </p:spTree>
    <p:extLst>
      <p:ext uri="{BB962C8B-B14F-4D97-AF65-F5344CB8AC3E}">
        <p14:creationId xmlns:p14="http://schemas.microsoft.com/office/powerpoint/2010/main" val="142220845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47500" lnSpcReduction="20000"/>
          </a:bodyPr>
          <a:lstStyle/>
          <a:p>
            <a:r>
              <a:rPr lang="en-US" sz="1200" kern="1200" dirty="0">
                <a:solidFill>
                  <a:schemeClr val="tx1"/>
                </a:solidFill>
                <a:latin typeface="Times New Roman" pitchFamily="-1" charset="0"/>
                <a:ea typeface="+mn-ea"/>
                <a:cs typeface="+mn-cs"/>
              </a:rPr>
              <a:t>The x86 employs four control registers (register CR1 is unused) to control various aspects of processor operation (Figure 16.26). All of the registers except CR0 are either 32 bits or 64 bits long, depending on whether the implementation supports the x86 64-bit architecture. The CR0 register contains system control flags, which control modes or indicate states that apply generally to the processor rather than </a:t>
            </a:r>
            <a:endParaRPr lang="en-US" dirty="0"/>
          </a:p>
          <a:p>
            <a:r>
              <a:rPr lang="en-US" sz="1200" kern="1200" dirty="0">
                <a:solidFill>
                  <a:schemeClr val="tx1"/>
                </a:solidFill>
                <a:latin typeface="Times New Roman" pitchFamily="-1" charset="0"/>
                <a:ea typeface="+mn-ea"/>
                <a:cs typeface="+mn-cs"/>
              </a:rPr>
              <a:t>to the execution of an individual task. The flags are as follows: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Protection Enable (PE): </a:t>
            </a:r>
            <a:r>
              <a:rPr lang="en-US" sz="1200" kern="1200" dirty="0">
                <a:solidFill>
                  <a:schemeClr val="tx1"/>
                </a:solidFill>
                <a:latin typeface="Times New Roman" pitchFamily="-1" charset="0"/>
                <a:ea typeface="+mn-ea"/>
                <a:cs typeface="+mn-cs"/>
              </a:rPr>
              <a:t>Enable/disable protected mode of operation.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Monitor Coprocessor (MP): </a:t>
            </a:r>
            <a:r>
              <a:rPr lang="en-US" sz="1200" kern="1200" dirty="0">
                <a:solidFill>
                  <a:schemeClr val="tx1"/>
                </a:solidFill>
                <a:latin typeface="Times New Roman" pitchFamily="-1" charset="0"/>
                <a:ea typeface="+mn-ea"/>
                <a:cs typeface="+mn-cs"/>
              </a:rPr>
              <a:t>Only of interest when running programs from earlier machines on the x86; it relates to the presence of an arithmetic coprocessor.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Emulation (EM): </a:t>
            </a:r>
            <a:r>
              <a:rPr lang="en-US" sz="1200" kern="1200" dirty="0">
                <a:solidFill>
                  <a:schemeClr val="tx1"/>
                </a:solidFill>
                <a:latin typeface="Times New Roman" pitchFamily="-1" charset="0"/>
                <a:ea typeface="+mn-ea"/>
                <a:cs typeface="+mn-cs"/>
              </a:rPr>
              <a:t>Set when the processor does not have a floating-point unit, and causes an interrupt when an attempt is made to execute floating-point instructions.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Task Switched (TS): </a:t>
            </a:r>
            <a:r>
              <a:rPr lang="en-US" sz="1200" kern="1200" dirty="0">
                <a:solidFill>
                  <a:schemeClr val="tx1"/>
                </a:solidFill>
                <a:latin typeface="Times New Roman" pitchFamily="-1" charset="0"/>
                <a:ea typeface="+mn-ea"/>
                <a:cs typeface="+mn-cs"/>
              </a:rPr>
              <a:t>Indicates that the processor has switched tasks.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Extension Type (ET): </a:t>
            </a:r>
            <a:r>
              <a:rPr lang="en-US" sz="1200" kern="1200" dirty="0">
                <a:solidFill>
                  <a:schemeClr val="tx1"/>
                </a:solidFill>
                <a:latin typeface="Times New Roman" pitchFamily="-1" charset="0"/>
                <a:ea typeface="+mn-ea"/>
                <a:cs typeface="+mn-cs"/>
              </a:rPr>
              <a:t>Not used on the Pentium and later machines; used to </a:t>
            </a:r>
          </a:p>
          <a:p>
            <a:r>
              <a:rPr lang="en-US" sz="1200" kern="1200" dirty="0">
                <a:solidFill>
                  <a:schemeClr val="tx1"/>
                </a:solidFill>
                <a:latin typeface="Times New Roman" pitchFamily="-1" charset="0"/>
                <a:ea typeface="+mn-ea"/>
                <a:cs typeface="+mn-cs"/>
              </a:rPr>
              <a:t>indicate support of math coprocessor instructions on earlier machines.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Numeric Error (NE): </a:t>
            </a:r>
            <a:r>
              <a:rPr lang="en-US" sz="1200" kern="1200" dirty="0">
                <a:solidFill>
                  <a:schemeClr val="tx1"/>
                </a:solidFill>
                <a:latin typeface="Times New Roman" pitchFamily="-1" charset="0"/>
                <a:ea typeface="+mn-ea"/>
                <a:cs typeface="+mn-cs"/>
              </a:rPr>
              <a:t>Enables the standard mechanism for reporting floating- point errors on external bus lines.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Write Protect (WP): </a:t>
            </a:r>
            <a:r>
              <a:rPr lang="en-US" sz="1200" kern="1200" dirty="0">
                <a:solidFill>
                  <a:schemeClr val="tx1"/>
                </a:solidFill>
                <a:latin typeface="Times New Roman" pitchFamily="-1" charset="0"/>
                <a:ea typeface="+mn-ea"/>
                <a:cs typeface="+mn-cs"/>
              </a:rPr>
              <a:t>When this bit is clear, read-only user-level pages can be written by a supervisor process. This feature is useful for supporting process creation in some operating systems.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Alignment Mask (AM): </a:t>
            </a:r>
            <a:r>
              <a:rPr lang="en-US" sz="1200" kern="1200" dirty="0">
                <a:solidFill>
                  <a:schemeClr val="tx1"/>
                </a:solidFill>
                <a:latin typeface="Times New Roman" pitchFamily="-1" charset="0"/>
                <a:ea typeface="+mn-ea"/>
                <a:cs typeface="+mn-cs"/>
              </a:rPr>
              <a:t>Enables/disables alignment checking.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Not Write Through (NW): </a:t>
            </a:r>
            <a:r>
              <a:rPr lang="en-US" sz="1200" b="0" kern="1200" dirty="0">
                <a:solidFill>
                  <a:schemeClr val="tx1"/>
                </a:solidFill>
                <a:latin typeface="Times New Roman" pitchFamily="-1" charset="0"/>
                <a:ea typeface="+mn-ea"/>
                <a:cs typeface="+mn-cs"/>
              </a:rPr>
              <a:t>Selects mode of operation of the data cache. When </a:t>
            </a:r>
          </a:p>
          <a:p>
            <a:r>
              <a:rPr lang="en-US" sz="1200" kern="1200" dirty="0">
                <a:solidFill>
                  <a:schemeClr val="tx1"/>
                </a:solidFill>
                <a:latin typeface="Times New Roman" pitchFamily="-1" charset="0"/>
                <a:ea typeface="+mn-ea"/>
                <a:cs typeface="+mn-cs"/>
              </a:rPr>
              <a:t>this bit is set, the data cache is inhibited from cache write-through operations.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Cache Disable (CD): </a:t>
            </a:r>
            <a:r>
              <a:rPr lang="en-US" sz="1200" kern="1200" dirty="0">
                <a:solidFill>
                  <a:schemeClr val="tx1"/>
                </a:solidFill>
                <a:latin typeface="Times New Roman" pitchFamily="-1" charset="0"/>
                <a:ea typeface="+mn-ea"/>
                <a:cs typeface="+mn-cs"/>
              </a:rPr>
              <a:t>Enables/disables the internal cache fill mechanism.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Paging (PG): </a:t>
            </a:r>
            <a:r>
              <a:rPr lang="en-US" sz="1200" kern="1200" dirty="0">
                <a:solidFill>
                  <a:schemeClr val="tx1"/>
                </a:solidFill>
                <a:latin typeface="Times New Roman" pitchFamily="-1" charset="0"/>
                <a:ea typeface="+mn-ea"/>
                <a:cs typeface="+mn-cs"/>
              </a:rPr>
              <a:t>Enables/disables paging.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r>
              <a:rPr lang="en-US" sz="1200" kern="1200" dirty="0">
                <a:solidFill>
                  <a:schemeClr val="tx1"/>
                </a:solidFill>
                <a:latin typeface="Times New Roman" pitchFamily="-1" charset="0"/>
                <a:ea typeface="+mn-ea"/>
                <a:cs typeface="+mn-cs"/>
              </a:rPr>
              <a:t>When paging is enabled, the CR2 and CR3 registers are valid. The CR2 register holds the 32-bit linear address of the last page accessed before a page fault interrupt. The leftmost 20 bits of CR3 hold the 20 most significant bits of the base address of the page directory; the remainder of the address contains zeros. Two bits of CR3 are used to drive pins that control the operation of an external cache. The page- level cache disable (PCD) enables or disables the external cache, and the page-level writes transparent (PWT) bit controls write through in the external cache. </a:t>
            </a:r>
            <a:r>
              <a:rPr lang="en-US" sz="1200" b="0" i="0" u="none" strike="noStrike" kern="1200" baseline="0" dirty="0">
                <a:solidFill>
                  <a:schemeClr val="tx1"/>
                </a:solidFill>
                <a:latin typeface="Times New Roman" pitchFamily="-1" charset="0"/>
                <a:ea typeface="+mn-ea"/>
                <a:cs typeface="+mn-cs"/>
              </a:rPr>
              <a:t>CR4 contains additional control bits.</a:t>
            </a:r>
            <a:endParaRPr lang="en-US" dirty="0"/>
          </a:p>
        </p:txBody>
      </p:sp>
    </p:spTree>
    <p:extLst>
      <p:ext uri="{BB962C8B-B14F-4D97-AF65-F5344CB8AC3E}">
        <p14:creationId xmlns:p14="http://schemas.microsoft.com/office/powerpoint/2010/main" val="239739904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85000" lnSpcReduction="10000"/>
          </a:bodyPr>
          <a:lstStyle/>
          <a:p>
            <a:r>
              <a:rPr lang="en-US" sz="1200" kern="1200" dirty="0">
                <a:solidFill>
                  <a:schemeClr val="tx1"/>
                </a:solidFill>
                <a:latin typeface="Times New Roman" pitchFamily="-1" charset="0"/>
                <a:ea typeface="+mn-ea"/>
                <a:cs typeface="+mn-cs"/>
              </a:rPr>
              <a:t>Recall from Section 13.3 that the x86 MMX capability makes use of several 64-bit data types. The MMX instructions make use of 3-bit register address fields, so that eight MMX registers are supported. In fact, the processor does not include specific MMX registers. Rather, the processor uses an aliasing technique (Figure 16.27). The existing floating-point registers are used to store MMX values.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Specifically, the low-order 64 bits (mantissa) of each floating-point register are used to form the eight MMX registers. Thus, the older 32-bit x86 architecture is easily extended to support the MMX capability. Some key characteristics of the MMX use of these registers are as follows: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Recall that the floating-point registers are treated as a stack for floating-point operations. For MMX operations, these same registers are accessed directly.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The first time that an MMX instruction is executed after any floating-point operations, the FP tag word is marked valid. This reflects the change from stack operation to direct register addressing. </a:t>
            </a:r>
            <a:endParaRPr lang="en-US" dirty="0"/>
          </a:p>
          <a:p>
            <a:endParaRPr lang="en-US" dirty="0"/>
          </a:p>
          <a:p>
            <a:r>
              <a:rPr lang="en-US" sz="1200" kern="1200" dirty="0">
                <a:solidFill>
                  <a:schemeClr val="tx1"/>
                </a:solidFill>
                <a:latin typeface="Times New Roman" pitchFamily="-1" charset="0"/>
                <a:ea typeface="+mn-ea"/>
                <a:cs typeface="+mn-cs"/>
              </a:rPr>
              <a:t>The EMMS (Empty MMX State) instruction sets bits of the FP tag word to indicate that all registers are empty. It is important that the programmer insert this instruction at the end of an MMX code block so that subsequent floating- point operations function properly.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When a value is written to an MMX register, bits [79:64] of the corresponding FP register (sign and exponent bits) are set to all ones. This sets the value in the FP register to NaN (not a number) or infinity when viewed as a floating- point value. This ensures that an MMX data value will not look like a valid floating-point value. </a:t>
            </a:r>
          </a:p>
          <a:p>
            <a:endParaRPr lang="en-US" dirty="0"/>
          </a:p>
        </p:txBody>
      </p:sp>
    </p:spTree>
    <p:extLst>
      <p:ext uri="{BB962C8B-B14F-4D97-AF65-F5344CB8AC3E}">
        <p14:creationId xmlns:p14="http://schemas.microsoft.com/office/powerpoint/2010/main" val="236913146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85000" lnSpcReduction="20000"/>
          </a:bodyPr>
          <a:lstStyle/>
          <a:p>
            <a:r>
              <a:rPr lang="en-US" sz="1200" kern="1200" dirty="0">
                <a:solidFill>
                  <a:schemeClr val="tx1"/>
                </a:solidFill>
                <a:latin typeface="Times New Roman" pitchFamily="-1" charset="0"/>
                <a:ea typeface="+mn-ea"/>
                <a:cs typeface="+mn-cs"/>
              </a:rPr>
              <a:t>Two classes of events cause the x86 to suspend execution of the current instruction stream and respond to the event: interrupts and exceptions. In both cases, the processor saves the context of the current process and transfers to a predefined routine to service the condition. An </a:t>
            </a:r>
            <a:r>
              <a:rPr lang="en-US" sz="1200" i="1" kern="1200" dirty="0">
                <a:solidFill>
                  <a:schemeClr val="tx1"/>
                </a:solidFill>
                <a:latin typeface="Times New Roman" pitchFamily="-1" charset="0"/>
                <a:ea typeface="+mn-ea"/>
                <a:cs typeface="+mn-cs"/>
              </a:rPr>
              <a:t>interrupt </a:t>
            </a:r>
            <a:r>
              <a:rPr lang="en-US" sz="1200" kern="1200" dirty="0">
                <a:solidFill>
                  <a:schemeClr val="tx1"/>
                </a:solidFill>
                <a:latin typeface="Times New Roman" pitchFamily="-1" charset="0"/>
                <a:ea typeface="+mn-ea"/>
                <a:cs typeface="+mn-cs"/>
              </a:rPr>
              <a:t>is generated by a signal from hardware, and it may occur at random times during the execution of a program. An </a:t>
            </a:r>
            <a:r>
              <a:rPr lang="en-US" sz="1200" i="1" kern="1200" dirty="0">
                <a:solidFill>
                  <a:schemeClr val="tx1"/>
                </a:solidFill>
                <a:latin typeface="Times New Roman" pitchFamily="-1" charset="0"/>
                <a:ea typeface="+mn-ea"/>
                <a:cs typeface="+mn-cs"/>
              </a:rPr>
              <a:t>exception </a:t>
            </a:r>
            <a:r>
              <a:rPr lang="en-US" sz="1200" kern="1200" dirty="0">
                <a:solidFill>
                  <a:schemeClr val="tx1"/>
                </a:solidFill>
                <a:latin typeface="Times New Roman" pitchFamily="-1" charset="0"/>
                <a:ea typeface="+mn-ea"/>
                <a:cs typeface="+mn-cs"/>
              </a:rPr>
              <a:t>is generated from software, and it is provoked by the execution of an instruction. There are two sources of interrupts and two sources of exceptions: </a:t>
            </a:r>
            <a:endParaRPr lang="en-US" dirty="0"/>
          </a:p>
          <a:p>
            <a:endParaRPr lang="en-US" sz="1200" b="1" kern="1200" dirty="0">
              <a:solidFill>
                <a:schemeClr val="tx1"/>
              </a:solidFill>
              <a:latin typeface="Times New Roman" pitchFamily="-1" charset="0"/>
              <a:ea typeface="+mn-ea"/>
              <a:cs typeface="+mn-cs"/>
            </a:endParaRPr>
          </a:p>
          <a:p>
            <a:pPr marL="228600" indent="-228600">
              <a:buAutoNum type="arabicPeriod"/>
            </a:pPr>
            <a:r>
              <a:rPr lang="en-US" sz="1200" b="1" kern="1200" dirty="0">
                <a:solidFill>
                  <a:schemeClr val="tx1"/>
                </a:solidFill>
                <a:latin typeface="Times New Roman" pitchFamily="-1" charset="0"/>
                <a:ea typeface="+mn-ea"/>
                <a:cs typeface="+mn-cs"/>
              </a:rPr>
              <a:t>Interrupts</a:t>
            </a:r>
            <a:r>
              <a:rPr lang="en-US" sz="1200" kern="1200" dirty="0">
                <a:solidFill>
                  <a:schemeClr val="tx1"/>
                </a:solidFill>
                <a:latin typeface="Times New Roman" pitchFamily="-1" charset="0"/>
                <a:ea typeface="+mn-ea"/>
                <a:cs typeface="+mn-cs"/>
              </a:rPr>
              <a:t> </a:t>
            </a:r>
          </a:p>
          <a:p>
            <a:pPr marL="228600" indent="-228600">
              <a:buAutoNum type="arabicPeriod"/>
            </a:pPr>
            <a:endParaRPr lang="en-US" dirty="0"/>
          </a:p>
          <a:p>
            <a:pPr marL="628650" lvl="1" indent="-171450">
              <a:buFont typeface="Arial" charset="0"/>
              <a:buChar char="•"/>
            </a:pPr>
            <a:r>
              <a:rPr lang="en-US" sz="1200" b="1" kern="1200" dirty="0">
                <a:solidFill>
                  <a:schemeClr val="tx1"/>
                </a:solidFill>
                <a:latin typeface="Times New Roman" pitchFamily="-1" charset="0"/>
                <a:ea typeface="ＭＳ Ｐゴシック" pitchFamily="-1" charset="-128"/>
                <a:cs typeface="+mn-cs"/>
              </a:rPr>
              <a:t>Maskable interrupts: </a:t>
            </a:r>
            <a:r>
              <a:rPr lang="en-US" sz="1200" b="0" kern="1200" dirty="0">
                <a:solidFill>
                  <a:schemeClr val="tx1"/>
                </a:solidFill>
                <a:latin typeface="Times New Roman" pitchFamily="-1" charset="0"/>
                <a:ea typeface="ＭＳ Ｐゴシック" pitchFamily="-1" charset="-128"/>
                <a:cs typeface="+mn-cs"/>
              </a:rPr>
              <a:t>Received on the processor’s INTR pin. The processor </a:t>
            </a:r>
            <a:r>
              <a:rPr lang="en-US" sz="1200" kern="1200" dirty="0">
                <a:solidFill>
                  <a:schemeClr val="tx1"/>
                </a:solidFill>
                <a:latin typeface="Times New Roman" pitchFamily="-1" charset="0"/>
                <a:ea typeface="ＭＳ Ｐゴシック" pitchFamily="-1" charset="-128"/>
                <a:cs typeface="+mn-cs"/>
              </a:rPr>
              <a:t>does not recognize a maskable interrupt unless the interrupt enable flag (IF) is set. </a:t>
            </a:r>
          </a:p>
          <a:p>
            <a:pPr lvl="1"/>
            <a:endParaRPr lang="en-US" sz="1200" b="1" kern="1200" dirty="0">
              <a:solidFill>
                <a:schemeClr val="tx1"/>
              </a:solidFill>
              <a:latin typeface="Times New Roman" pitchFamily="-1" charset="0"/>
              <a:ea typeface="ＭＳ Ｐゴシック" pitchFamily="-1" charset="-128"/>
              <a:cs typeface="+mn-cs"/>
            </a:endParaRPr>
          </a:p>
          <a:p>
            <a:pPr marL="628650" lvl="1" indent="-171450">
              <a:buFont typeface="Arial" charset="0"/>
              <a:buChar char="•"/>
            </a:pPr>
            <a:r>
              <a:rPr lang="en-US" sz="1200" b="1" kern="1200" dirty="0">
                <a:solidFill>
                  <a:schemeClr val="tx1"/>
                </a:solidFill>
                <a:latin typeface="Times New Roman" pitchFamily="-1" charset="0"/>
                <a:ea typeface="ＭＳ Ｐゴシック" pitchFamily="-1" charset="-128"/>
                <a:cs typeface="+mn-cs"/>
              </a:rPr>
              <a:t>Nonmaskable interrupts: </a:t>
            </a:r>
            <a:r>
              <a:rPr lang="en-US" sz="1200" b="0" kern="1200" dirty="0">
                <a:solidFill>
                  <a:schemeClr val="tx1"/>
                </a:solidFill>
                <a:latin typeface="Times New Roman" pitchFamily="-1" charset="0"/>
                <a:ea typeface="ＭＳ Ｐゴシック" pitchFamily="-1" charset="-128"/>
                <a:cs typeface="+mn-cs"/>
              </a:rPr>
              <a:t>Received on the processor’s NMI pin. Recognition </a:t>
            </a:r>
            <a:r>
              <a:rPr lang="en-US" sz="1200" kern="1200" dirty="0">
                <a:solidFill>
                  <a:schemeClr val="tx1"/>
                </a:solidFill>
                <a:latin typeface="Times New Roman" pitchFamily="-1" charset="0"/>
                <a:ea typeface="ＭＳ Ｐゴシック" pitchFamily="-1" charset="-128"/>
                <a:cs typeface="+mn-cs"/>
              </a:rPr>
              <a:t>of such interrupts cannot be prevented. </a:t>
            </a:r>
          </a:p>
          <a:p>
            <a:pPr marL="628650" lvl="1" indent="-171450">
              <a:buFont typeface="Arial" charset="0"/>
              <a:buChar char="•"/>
            </a:pPr>
            <a:endParaRPr lang="en-US" sz="1200" b="1" kern="1200" dirty="0">
              <a:solidFill>
                <a:schemeClr val="tx1"/>
              </a:solidFill>
              <a:latin typeface="Times New Roman" pitchFamily="-1" charset="0"/>
              <a:ea typeface="ＭＳ Ｐゴシック" pitchFamily="-1" charset="-128"/>
              <a:cs typeface="+mn-cs"/>
            </a:endParaRPr>
          </a:p>
          <a:p>
            <a:pPr marL="457200" lvl="1" indent="0">
              <a:buFont typeface="Arial" charset="0"/>
              <a:buNone/>
            </a:pPr>
            <a:r>
              <a:rPr lang="en-US" sz="1200" b="1" kern="1200" dirty="0">
                <a:solidFill>
                  <a:schemeClr val="tx1"/>
                </a:solidFill>
                <a:latin typeface="Times New Roman" pitchFamily="-1" charset="0"/>
                <a:ea typeface="ＭＳ Ｐゴシック" pitchFamily="-1" charset="-128"/>
                <a:cs typeface="+mn-cs"/>
              </a:rPr>
              <a:t>2. Exceptions </a:t>
            </a:r>
          </a:p>
          <a:p>
            <a:pPr lvl="1"/>
            <a:endParaRPr lang="en-US" sz="1200" b="1" kern="1200" dirty="0">
              <a:solidFill>
                <a:schemeClr val="tx1"/>
              </a:solidFill>
              <a:latin typeface="Times New Roman" pitchFamily="-1" charset="0"/>
              <a:ea typeface="ＭＳ Ｐゴシック" pitchFamily="-1" charset="-128"/>
              <a:cs typeface="+mn-cs"/>
            </a:endParaRPr>
          </a:p>
          <a:p>
            <a:pPr marL="628650" lvl="1" indent="-171450">
              <a:buFont typeface="Arial" charset="0"/>
              <a:buChar char="•"/>
            </a:pPr>
            <a:r>
              <a:rPr lang="en-US" sz="1200" b="1" kern="1200" dirty="0">
                <a:solidFill>
                  <a:schemeClr val="tx1"/>
                </a:solidFill>
                <a:latin typeface="Times New Roman" pitchFamily="-1" charset="0"/>
                <a:ea typeface="ＭＳ Ｐゴシック" pitchFamily="-1" charset="-128"/>
                <a:cs typeface="+mn-cs"/>
              </a:rPr>
              <a:t>Processor-detected exceptions: </a:t>
            </a:r>
            <a:r>
              <a:rPr lang="en-US" sz="1200" kern="1200" dirty="0">
                <a:solidFill>
                  <a:schemeClr val="tx1"/>
                </a:solidFill>
                <a:latin typeface="Times New Roman" pitchFamily="-1" charset="0"/>
                <a:ea typeface="ＭＳ Ｐゴシック" pitchFamily="-1" charset="-128"/>
                <a:cs typeface="+mn-cs"/>
              </a:rPr>
              <a:t>Results when the processor encounters an </a:t>
            </a:r>
          </a:p>
          <a:p>
            <a:pPr lvl="1"/>
            <a:r>
              <a:rPr lang="en-US" sz="1200" kern="1200" baseline="0" dirty="0">
                <a:solidFill>
                  <a:schemeClr val="tx1"/>
                </a:solidFill>
                <a:latin typeface="Times New Roman" pitchFamily="-1" charset="0"/>
                <a:ea typeface="ＭＳ Ｐゴシック" pitchFamily="-1" charset="-128"/>
                <a:cs typeface="+mn-cs"/>
              </a:rPr>
              <a:t>    </a:t>
            </a:r>
            <a:r>
              <a:rPr lang="en-US" sz="1200" kern="1200" dirty="0">
                <a:solidFill>
                  <a:schemeClr val="tx1"/>
                </a:solidFill>
                <a:latin typeface="Times New Roman" pitchFamily="-1" charset="0"/>
                <a:ea typeface="ＭＳ Ｐゴシック" pitchFamily="-1" charset="-128"/>
                <a:cs typeface="+mn-cs"/>
              </a:rPr>
              <a:t>error while attempting to execute an instruction. </a:t>
            </a:r>
          </a:p>
          <a:p>
            <a:pPr lvl="1"/>
            <a:endParaRPr lang="en-US" sz="1200" b="1" kern="1200" dirty="0">
              <a:solidFill>
                <a:schemeClr val="tx1"/>
              </a:solidFill>
              <a:latin typeface="Times New Roman" pitchFamily="-1" charset="0"/>
              <a:ea typeface="ＭＳ Ｐゴシック" pitchFamily="-1" charset="-128"/>
              <a:cs typeface="+mn-cs"/>
            </a:endParaRPr>
          </a:p>
          <a:p>
            <a:pPr marL="628650" lvl="1" indent="-171450">
              <a:buFont typeface="Arial" charset="0"/>
              <a:buChar char="•"/>
            </a:pPr>
            <a:r>
              <a:rPr lang="en-US" sz="1200" b="1" kern="1200" dirty="0">
                <a:solidFill>
                  <a:schemeClr val="tx1"/>
                </a:solidFill>
                <a:latin typeface="Times New Roman" pitchFamily="-1" charset="0"/>
                <a:ea typeface="ＭＳ Ｐゴシック" pitchFamily="-1" charset="-128"/>
                <a:cs typeface="+mn-cs"/>
              </a:rPr>
              <a:t>Programmed exceptions: </a:t>
            </a:r>
            <a:r>
              <a:rPr lang="en-US" sz="1200" b="0" kern="1200" dirty="0">
                <a:solidFill>
                  <a:schemeClr val="tx1"/>
                </a:solidFill>
                <a:latin typeface="Times New Roman" pitchFamily="-1" charset="0"/>
                <a:ea typeface="ＭＳ Ｐゴシック" pitchFamily="-1" charset="-128"/>
                <a:cs typeface="+mn-cs"/>
              </a:rPr>
              <a:t>These are instructions that generate an exception </a:t>
            </a:r>
            <a:r>
              <a:rPr lang="en-US" sz="1200" kern="1200" dirty="0">
                <a:solidFill>
                  <a:schemeClr val="tx1"/>
                </a:solidFill>
                <a:latin typeface="Times New Roman" pitchFamily="-1" charset="0"/>
                <a:ea typeface="ＭＳ Ｐゴシック" pitchFamily="-1" charset="-128"/>
                <a:cs typeface="+mn-cs"/>
              </a:rPr>
              <a:t>(e.g., INTO, INT3, INT, and BOUND). </a:t>
            </a:r>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Interrupt processing on the x86 uses the interrupt vector table. Every type of interrupt is assigned a number, and this number is used to index into the interrupt vector table. This table contains 256 32-bit interrupt vectors, which is the address (segment and offset) of the interrupt service routine for that interrupt number. </a:t>
            </a:r>
            <a:endParaRPr lang="en-US" dirty="0"/>
          </a:p>
          <a:p>
            <a:endParaRPr lang="en-US" dirty="0"/>
          </a:p>
        </p:txBody>
      </p:sp>
    </p:spTree>
    <p:extLst>
      <p:ext uri="{BB962C8B-B14F-4D97-AF65-F5344CB8AC3E}">
        <p14:creationId xmlns:p14="http://schemas.microsoft.com/office/powerpoint/2010/main" val="167364222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lnSpcReduction="1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Table 16.3 shows the assignment of numbers in the interrupt vector table; shaded entries represent interrupts, while nonshaded entries are exceptions. The NMI hardware interrupt is type 2. INTR hardware interrupts are assigned numbers in the range of 32 to 255; when an INTR interrupt is generated, it must be accompanied on the bus with the interrupt vector number for this interrupt. The remaining vector numbers are used for exceptions. </a:t>
            </a:r>
            <a:endParaRPr lang="en-US" dirty="0"/>
          </a:p>
          <a:p>
            <a:endParaRPr lang="en-US" dirty="0"/>
          </a:p>
          <a:p>
            <a:r>
              <a:rPr lang="en-US" sz="1200" kern="1200" dirty="0">
                <a:solidFill>
                  <a:schemeClr val="tx1"/>
                </a:solidFill>
                <a:latin typeface="Times New Roman" pitchFamily="-1" charset="0"/>
                <a:ea typeface="+mn-ea"/>
                <a:cs typeface="+mn-cs"/>
              </a:rPr>
              <a:t>If more than one exception or interrupt is pending, the processor services them in a predictable order. The location of vector numbers within the table does not reflect priority. Instead, priority among exceptions and interrupts is organized into five classes. In descending order of priority, these are </a:t>
            </a:r>
          </a:p>
          <a:p>
            <a:endParaRPr lang="en-US" dirty="0"/>
          </a:p>
          <a:p>
            <a:pPr marL="171450" indent="-171450">
              <a:buFont typeface="Arial" charset="0"/>
              <a:buChar char="•"/>
            </a:pPr>
            <a:r>
              <a:rPr lang="en-US" sz="1200" b="1" kern="1200" dirty="0">
                <a:solidFill>
                  <a:schemeClr val="tx1"/>
                </a:solidFill>
                <a:latin typeface="Times New Roman" pitchFamily="-1" charset="0"/>
                <a:ea typeface="+mn-ea"/>
                <a:cs typeface="+mn-cs"/>
              </a:rPr>
              <a:t>Class 1: </a:t>
            </a:r>
            <a:r>
              <a:rPr lang="en-US" sz="1200" kern="1200" dirty="0">
                <a:solidFill>
                  <a:schemeClr val="tx1"/>
                </a:solidFill>
                <a:latin typeface="Times New Roman" pitchFamily="-1" charset="0"/>
                <a:ea typeface="+mn-ea"/>
                <a:cs typeface="+mn-cs"/>
              </a:rPr>
              <a:t>Traps on the previous instruction (vector number 1)</a:t>
            </a:r>
            <a:br>
              <a:rPr lang="en-US" sz="1200" kern="1200" dirty="0">
                <a:solidFill>
                  <a:schemeClr val="tx1"/>
                </a:solidFill>
                <a:latin typeface="Times New Roman" pitchFamily="-1" charset="0"/>
                <a:ea typeface="+mn-ea"/>
                <a:cs typeface="+mn-cs"/>
              </a:rPr>
            </a:br>
            <a:endParaRPr lang="en-US" sz="1200" kern="1200" dirty="0">
              <a:solidFill>
                <a:schemeClr val="tx1"/>
              </a:solidFill>
              <a:latin typeface="Times New Roman" pitchFamily="-1" charset="0"/>
              <a:ea typeface="+mn-ea"/>
              <a:cs typeface="+mn-cs"/>
            </a:endParaRPr>
          </a:p>
          <a:p>
            <a:pPr marL="171450" indent="-171450">
              <a:buFont typeface="Arial" charset="0"/>
              <a:buChar char="•"/>
            </a:pPr>
            <a:r>
              <a:rPr lang="en-US" sz="1200" b="1" kern="1200" dirty="0">
                <a:solidFill>
                  <a:schemeClr val="tx1"/>
                </a:solidFill>
                <a:latin typeface="Times New Roman" pitchFamily="-1" charset="0"/>
                <a:ea typeface="+mn-ea"/>
                <a:cs typeface="+mn-cs"/>
              </a:rPr>
              <a:t>Class 2: </a:t>
            </a:r>
            <a:r>
              <a:rPr lang="en-US" sz="1200" kern="1200" dirty="0">
                <a:solidFill>
                  <a:schemeClr val="tx1"/>
                </a:solidFill>
                <a:latin typeface="Times New Roman" pitchFamily="-1" charset="0"/>
                <a:ea typeface="+mn-ea"/>
                <a:cs typeface="+mn-cs"/>
              </a:rPr>
              <a:t>External interrupts (2, 32–255)</a:t>
            </a:r>
            <a:br>
              <a:rPr lang="en-US" sz="1200" kern="1200" dirty="0">
                <a:solidFill>
                  <a:schemeClr val="tx1"/>
                </a:solidFill>
                <a:latin typeface="Times New Roman" pitchFamily="-1" charset="0"/>
                <a:ea typeface="+mn-ea"/>
                <a:cs typeface="+mn-cs"/>
              </a:rPr>
            </a:br>
            <a:endParaRPr lang="en-US" sz="1200" kern="1200" dirty="0">
              <a:solidFill>
                <a:schemeClr val="tx1"/>
              </a:solidFill>
              <a:latin typeface="Times New Roman" pitchFamily="-1" charset="0"/>
              <a:ea typeface="+mn-ea"/>
              <a:cs typeface="+mn-cs"/>
            </a:endParaRPr>
          </a:p>
          <a:p>
            <a:pPr marL="171450" indent="-171450">
              <a:buFont typeface="Arial" charset="0"/>
              <a:buChar char="•"/>
            </a:pPr>
            <a:r>
              <a:rPr lang="en-US" sz="1200" b="1" kern="1200" dirty="0">
                <a:solidFill>
                  <a:schemeClr val="tx1"/>
                </a:solidFill>
                <a:latin typeface="Times New Roman" pitchFamily="-1" charset="0"/>
                <a:ea typeface="+mn-ea"/>
                <a:cs typeface="+mn-cs"/>
              </a:rPr>
              <a:t>Class 3: </a:t>
            </a:r>
            <a:r>
              <a:rPr lang="en-US" sz="1200" kern="1200" dirty="0">
                <a:solidFill>
                  <a:schemeClr val="tx1"/>
                </a:solidFill>
                <a:latin typeface="Times New Roman" pitchFamily="-1" charset="0"/>
                <a:ea typeface="+mn-ea"/>
                <a:cs typeface="+mn-cs"/>
              </a:rPr>
              <a:t>Faults from fetching next instruction (3, 14)</a:t>
            </a:r>
            <a:br>
              <a:rPr lang="en-US" sz="1200" kern="1200" dirty="0">
                <a:solidFill>
                  <a:schemeClr val="tx1"/>
                </a:solidFill>
                <a:latin typeface="Times New Roman" pitchFamily="-1" charset="0"/>
                <a:ea typeface="+mn-ea"/>
                <a:cs typeface="+mn-cs"/>
              </a:rPr>
            </a:br>
            <a:endParaRPr lang="en-US" sz="1200" kern="1200" dirty="0">
              <a:solidFill>
                <a:schemeClr val="tx1"/>
              </a:solidFill>
              <a:latin typeface="Times New Roman" pitchFamily="-1" charset="0"/>
              <a:ea typeface="+mn-ea"/>
              <a:cs typeface="+mn-cs"/>
            </a:endParaRPr>
          </a:p>
          <a:p>
            <a:pPr marL="171450" indent="-171450">
              <a:buFont typeface="Arial" charset="0"/>
              <a:buChar char="•"/>
            </a:pPr>
            <a:r>
              <a:rPr lang="en-US" sz="1200" b="1" kern="1200" dirty="0">
                <a:solidFill>
                  <a:schemeClr val="tx1"/>
                </a:solidFill>
                <a:latin typeface="Times New Roman" pitchFamily="-1" charset="0"/>
                <a:ea typeface="+mn-ea"/>
                <a:cs typeface="+mn-cs"/>
              </a:rPr>
              <a:t>Class 4: </a:t>
            </a:r>
            <a:r>
              <a:rPr lang="en-US" sz="1200" kern="1200" dirty="0">
                <a:solidFill>
                  <a:schemeClr val="tx1"/>
                </a:solidFill>
                <a:latin typeface="Times New Roman" pitchFamily="-1" charset="0"/>
                <a:ea typeface="+mn-ea"/>
                <a:cs typeface="+mn-cs"/>
              </a:rPr>
              <a:t>Faults from decoding the next instruction (6, 7)</a:t>
            </a:r>
            <a:br>
              <a:rPr lang="en-US" sz="1200" kern="1200" dirty="0">
                <a:solidFill>
                  <a:schemeClr val="tx1"/>
                </a:solidFill>
                <a:latin typeface="Times New Roman" pitchFamily="-1" charset="0"/>
                <a:ea typeface="+mn-ea"/>
                <a:cs typeface="+mn-cs"/>
              </a:rPr>
            </a:br>
            <a:endParaRPr lang="en-US" sz="1200" kern="1200" dirty="0">
              <a:solidFill>
                <a:schemeClr val="tx1"/>
              </a:solidFill>
              <a:latin typeface="Times New Roman" pitchFamily="-1" charset="0"/>
              <a:ea typeface="+mn-ea"/>
              <a:cs typeface="+mn-cs"/>
            </a:endParaRPr>
          </a:p>
          <a:p>
            <a:pPr marL="171450" indent="-171450">
              <a:buFont typeface="Arial" charset="0"/>
              <a:buChar char="•"/>
            </a:pPr>
            <a:r>
              <a:rPr lang="en-US" sz="1200" b="1" kern="1200" dirty="0">
                <a:solidFill>
                  <a:schemeClr val="tx1"/>
                </a:solidFill>
                <a:latin typeface="Times New Roman" pitchFamily="-1" charset="0"/>
                <a:ea typeface="+mn-ea"/>
                <a:cs typeface="+mn-cs"/>
              </a:rPr>
              <a:t>Class 5: </a:t>
            </a:r>
            <a:r>
              <a:rPr lang="en-US" sz="1200" kern="1200" dirty="0">
                <a:solidFill>
                  <a:schemeClr val="tx1"/>
                </a:solidFill>
                <a:latin typeface="Times New Roman" pitchFamily="-1" charset="0"/>
                <a:ea typeface="+mn-ea"/>
                <a:cs typeface="+mn-cs"/>
              </a:rPr>
              <a:t>Faults on executing an instruction (0, 4, 5, 8, 10–14, 16, 17) </a:t>
            </a:r>
            <a:endParaRPr lang="en-US" dirty="0"/>
          </a:p>
          <a:p>
            <a:endParaRPr lang="en-US" dirty="0"/>
          </a:p>
        </p:txBody>
      </p:sp>
    </p:spTree>
    <p:extLst>
      <p:ext uri="{BB962C8B-B14F-4D97-AF65-F5344CB8AC3E}">
        <p14:creationId xmlns:p14="http://schemas.microsoft.com/office/powerpoint/2010/main" val="270530397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85000" lnSpcReduction="10000"/>
          </a:bodyPr>
          <a:lstStyle/>
          <a:p>
            <a:r>
              <a:rPr lang="en-US" sz="1200" kern="1200" dirty="0">
                <a:solidFill>
                  <a:schemeClr val="tx1"/>
                </a:solidFill>
                <a:latin typeface="Times New Roman" pitchFamily="-1" charset="0"/>
                <a:ea typeface="+mn-ea"/>
                <a:cs typeface="+mn-cs"/>
              </a:rPr>
              <a:t>ARM is primarily a RISC system with the following notable attributes:</a:t>
            </a:r>
          </a:p>
          <a:p>
            <a:r>
              <a:rPr lang="en-US" sz="1200" kern="1200" dirty="0">
                <a:solidFill>
                  <a:schemeClr val="tx1"/>
                </a:solidFill>
                <a:latin typeface="Times New Roman" pitchFamily="-1" charset="0"/>
                <a:ea typeface="+mn-ea"/>
                <a:cs typeface="+mn-cs"/>
              </a:rPr>
              <a:t> </a:t>
            </a:r>
            <a:endParaRPr lang="en-US" dirty="0"/>
          </a:p>
          <a:p>
            <a:r>
              <a:rPr lang="en-US" sz="1200" kern="1200" dirty="0">
                <a:solidFill>
                  <a:schemeClr val="tx1"/>
                </a:solidFill>
                <a:latin typeface="Times New Roman" pitchFamily="-1" charset="0"/>
                <a:ea typeface="+mn-ea"/>
                <a:cs typeface="+mn-cs"/>
              </a:rPr>
              <a:t>• A moderate array of uniform registers, more than are found on some CISC systems but fewer than are found on many RISC systems.</a:t>
            </a:r>
          </a:p>
          <a:p>
            <a:r>
              <a:rPr lang="en-US" sz="1200" kern="1200" dirty="0">
                <a:solidFill>
                  <a:schemeClr val="tx1"/>
                </a:solidFill>
                <a:latin typeface="Times New Roman" pitchFamily="-1" charset="0"/>
                <a:ea typeface="+mn-ea"/>
                <a:cs typeface="+mn-cs"/>
              </a:rPr>
              <a:t> </a:t>
            </a:r>
            <a:endParaRPr lang="en-US" dirty="0"/>
          </a:p>
          <a:p>
            <a:r>
              <a:rPr lang="en-US" sz="1200" kern="1200" dirty="0">
                <a:solidFill>
                  <a:schemeClr val="tx1"/>
                </a:solidFill>
                <a:latin typeface="Times New Roman" pitchFamily="-1" charset="0"/>
                <a:ea typeface="+mn-ea"/>
                <a:cs typeface="+mn-cs"/>
              </a:rPr>
              <a:t>* A load/store model of data processing, in which operations only perform on operands in registers and not directly in memory. All data must be loaded into registers before an operation can be performed; the result can then be used for further processing or stored into memory.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A uniform fixed-length instruction of 32 bits for the standard set and 16 bits for the Thumb instruction set.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To make each data processing instruction more flexible, either a shift or rotation can preprocess one of the source registers. To efficiently support this feature, there are separate arithmetic logic unit (ALU) and shifter units. </a:t>
            </a:r>
            <a:endParaRPr lang="en-US" dirty="0"/>
          </a:p>
          <a:p>
            <a:endParaRPr lang="en-US" sz="1200" kern="1200" dirty="0">
              <a:solidFill>
                <a:schemeClr val="tx1"/>
              </a:solidFill>
              <a:latin typeface="Times New Roman" pitchFamily="-1" charset="0"/>
              <a:ea typeface="+mn-ea"/>
              <a:cs typeface="+mn-cs"/>
            </a:endParaRPr>
          </a:p>
          <a:p>
            <a:pPr>
              <a:buFontTx/>
              <a:buChar char="•"/>
            </a:pPr>
            <a:r>
              <a:rPr lang="en-US" sz="1200" kern="1200" dirty="0">
                <a:solidFill>
                  <a:schemeClr val="tx1"/>
                </a:solidFill>
                <a:latin typeface="Times New Roman" pitchFamily="-1" charset="0"/>
                <a:ea typeface="+mn-ea"/>
                <a:cs typeface="+mn-cs"/>
              </a:rPr>
              <a:t> A small number of addressing modes with all load/store addressees deter- mined from registers and instruction fields. Indirect or indexed addressing involving values in memory are not used.</a:t>
            </a:r>
            <a:br>
              <a:rPr lang="en-US" sz="1200" kern="1200" dirty="0">
                <a:solidFill>
                  <a:schemeClr val="tx1"/>
                </a:solidFill>
                <a:latin typeface="Times New Roman" pitchFamily="-1" charset="0"/>
                <a:ea typeface="+mn-ea"/>
                <a:cs typeface="+mn-cs"/>
              </a:rPr>
            </a:br>
            <a:endParaRPr lang="en-US" sz="1200" kern="1200" dirty="0">
              <a:solidFill>
                <a:schemeClr val="tx1"/>
              </a:solidFill>
              <a:latin typeface="Times New Roman" pitchFamily="-1" charset="0"/>
              <a:ea typeface="+mn-ea"/>
              <a:cs typeface="+mn-cs"/>
            </a:endParaRPr>
          </a:p>
          <a:p>
            <a:pPr>
              <a:buFontTx/>
              <a:buChar char="•"/>
            </a:pPr>
            <a:r>
              <a:rPr lang="en-US" sz="1200" kern="1200" baseline="0" dirty="0">
                <a:solidFill>
                  <a:schemeClr val="tx1"/>
                </a:solidFill>
                <a:latin typeface="Times New Roman" pitchFamily="-1" charset="0"/>
                <a:ea typeface="+mn-ea"/>
                <a:cs typeface="+mn-cs"/>
              </a:rPr>
              <a:t> </a:t>
            </a:r>
            <a:r>
              <a:rPr lang="en-US" sz="1200" kern="1200" dirty="0">
                <a:solidFill>
                  <a:schemeClr val="tx1"/>
                </a:solidFill>
                <a:latin typeface="Times New Roman" pitchFamily="-1" charset="0"/>
                <a:ea typeface="+mn-ea"/>
                <a:cs typeface="+mn-cs"/>
              </a:rPr>
              <a:t>Auto-increment and auto-decrement addressing modes are used to improve the operation of program loops.</a:t>
            </a:r>
          </a:p>
          <a:p>
            <a:pPr>
              <a:buFontTx/>
              <a:buChar char="•"/>
            </a:pPr>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Char char="•"/>
              <a:tabLst/>
              <a:defRPr/>
            </a:pPr>
            <a:r>
              <a:rPr lang="en-US" sz="1200" kern="1200" baseline="0" dirty="0">
                <a:solidFill>
                  <a:schemeClr val="tx1"/>
                </a:solidFill>
                <a:latin typeface="Times New Roman" pitchFamily="-1" charset="0"/>
                <a:ea typeface="+mn-ea"/>
                <a:cs typeface="+mn-cs"/>
              </a:rPr>
              <a:t> </a:t>
            </a:r>
            <a:r>
              <a:rPr lang="en-US" sz="1200" kern="1200" dirty="0">
                <a:solidFill>
                  <a:schemeClr val="tx1"/>
                </a:solidFill>
                <a:latin typeface="Times New Roman" pitchFamily="-1" charset="0"/>
                <a:ea typeface="+mn-ea"/>
                <a:cs typeface="+mn-cs"/>
              </a:rPr>
              <a:t>Conditional execution of instructions minimizes the need for conditional branch instructions, thereby improving pipeline efficiency, because pipeline flushing is reduced.  </a:t>
            </a:r>
            <a:endParaRPr lang="en-US" dirty="0"/>
          </a:p>
          <a:p>
            <a:endParaRPr lang="en-US" dirty="0"/>
          </a:p>
        </p:txBody>
      </p:sp>
    </p:spTree>
    <p:extLst>
      <p:ext uri="{BB962C8B-B14F-4D97-AF65-F5344CB8AC3E}">
        <p14:creationId xmlns:p14="http://schemas.microsoft.com/office/powerpoint/2010/main" val="226743080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92500" lnSpcReduction="20000"/>
          </a:bodyPr>
          <a:lstStyle/>
          <a:p>
            <a:r>
              <a:rPr lang="en-US" sz="1200" kern="1200" dirty="0">
                <a:solidFill>
                  <a:schemeClr val="tx1"/>
                </a:solidFill>
                <a:latin typeface="Times New Roman" pitchFamily="-1" charset="0"/>
                <a:ea typeface="+mn-ea"/>
                <a:cs typeface="+mn-cs"/>
              </a:rPr>
              <a:t>The ARM processor organization varies substantially from one implementation to the next, particularly when based on different versions of the ARM architecture. However, it is useful for the discussion in this section to present a simplified, generic ARM organization, which is illustrated in Figure 16.28. In this figure, the arrows indicate the flow of data. Each box represents a functional hardware unit or a storage unit.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Data are exchanged with the processor from external memory through a data bus. The value transferred is either a data item, as a result of a load or store instruction, or an instruction fetch. Fetched instructions pass through an instruction decoder before execution, under control of a control unit. The latter includes pipeline logic and provides control signals (not shown) to all the hardware elements of the processor. Data items are placed in the register file, consisting of a set of 32-bit registers. Byte or halfword items treated as twos-complement numbers are sign-extended to 32 bits.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ARM data processing instructions typically have two source registers, </a:t>
            </a:r>
            <a:r>
              <a:rPr lang="en-US" sz="1200" i="1" kern="1200" dirty="0">
                <a:solidFill>
                  <a:schemeClr val="tx1"/>
                </a:solidFill>
                <a:latin typeface="Times New Roman" pitchFamily="-1" charset="0"/>
                <a:ea typeface="+mn-ea"/>
                <a:cs typeface="+mn-cs"/>
              </a:rPr>
              <a:t>Rn </a:t>
            </a:r>
            <a:r>
              <a:rPr lang="en-US" sz="1200" kern="1200" dirty="0">
                <a:solidFill>
                  <a:schemeClr val="tx1"/>
                </a:solidFill>
                <a:latin typeface="Times New Roman" pitchFamily="-1" charset="0"/>
                <a:ea typeface="+mn-ea"/>
                <a:cs typeface="+mn-cs"/>
              </a:rPr>
              <a:t>and </a:t>
            </a:r>
            <a:r>
              <a:rPr lang="en-US" sz="1200" i="1" kern="1200" dirty="0">
                <a:solidFill>
                  <a:schemeClr val="tx1"/>
                </a:solidFill>
                <a:latin typeface="Times New Roman" pitchFamily="-1" charset="0"/>
                <a:ea typeface="+mn-ea"/>
                <a:cs typeface="+mn-cs"/>
              </a:rPr>
              <a:t>Rm, </a:t>
            </a:r>
            <a:r>
              <a:rPr lang="en-US" sz="1200" kern="1200" dirty="0">
                <a:solidFill>
                  <a:schemeClr val="tx1"/>
                </a:solidFill>
                <a:latin typeface="Times New Roman" pitchFamily="-1" charset="0"/>
                <a:ea typeface="+mn-ea"/>
                <a:cs typeface="+mn-cs"/>
              </a:rPr>
              <a:t>and a single result or destination register, </a:t>
            </a:r>
            <a:r>
              <a:rPr lang="en-US" sz="1200" i="1" kern="1200" dirty="0">
                <a:solidFill>
                  <a:schemeClr val="tx1"/>
                </a:solidFill>
                <a:latin typeface="Times New Roman" pitchFamily="-1" charset="0"/>
                <a:ea typeface="+mn-ea"/>
                <a:cs typeface="+mn-cs"/>
              </a:rPr>
              <a:t>Rd. </a:t>
            </a:r>
            <a:r>
              <a:rPr lang="en-US" sz="1200" kern="1200" dirty="0">
                <a:solidFill>
                  <a:schemeClr val="tx1"/>
                </a:solidFill>
                <a:latin typeface="Times New Roman" pitchFamily="-1" charset="0"/>
                <a:ea typeface="+mn-ea"/>
                <a:cs typeface="+mn-cs"/>
              </a:rPr>
              <a:t>The source register values feed into the ALU or a separate multiply unit that makes use of an additional register to accumulate partial results. The ARM processor also includes a hardware unit that can shift or rotate the </a:t>
            </a:r>
            <a:r>
              <a:rPr lang="en-US" sz="1200" i="1" kern="1200" dirty="0">
                <a:solidFill>
                  <a:schemeClr val="tx1"/>
                </a:solidFill>
                <a:latin typeface="Times New Roman" pitchFamily="-1" charset="0"/>
                <a:ea typeface="+mn-ea"/>
                <a:cs typeface="+mn-cs"/>
              </a:rPr>
              <a:t>Rm </a:t>
            </a:r>
            <a:r>
              <a:rPr lang="en-US" sz="1200" kern="1200" dirty="0">
                <a:solidFill>
                  <a:schemeClr val="tx1"/>
                </a:solidFill>
                <a:latin typeface="Times New Roman" pitchFamily="-1" charset="0"/>
                <a:ea typeface="+mn-ea"/>
                <a:cs typeface="+mn-cs"/>
              </a:rPr>
              <a:t>value before it enters the ALU. This shift or rotate occurs within the cycle time of the instruction and increases the power and flexibility of many data processing operations.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results of an operation are fed back to the destination register. Load/store instructions may also use the output of the arithmetic units to generate the memory address for a load or store. </a:t>
            </a:r>
            <a:endParaRPr lang="en-US" dirty="0"/>
          </a:p>
          <a:p>
            <a:r>
              <a:rPr lang="en-US" sz="1200" kern="1200" dirty="0">
                <a:solidFill>
                  <a:schemeClr val="tx1"/>
                </a:solidFill>
                <a:latin typeface="Times New Roman" pitchFamily="-1" charset="0"/>
                <a:ea typeface="+mn-ea"/>
                <a:cs typeface="+mn-cs"/>
              </a:rPr>
              <a:t> </a:t>
            </a:r>
            <a:endParaRPr lang="en-US" dirty="0"/>
          </a:p>
          <a:p>
            <a:endParaRPr lang="en-US" dirty="0"/>
          </a:p>
        </p:txBody>
      </p:sp>
    </p:spTree>
    <p:extLst>
      <p:ext uri="{BB962C8B-B14F-4D97-AF65-F5344CB8AC3E}">
        <p14:creationId xmlns:p14="http://schemas.microsoft.com/office/powerpoint/2010/main" val="24567358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Times New Roman" pitchFamily="-1" charset="0"/>
                <a:ea typeface="+mn-ea"/>
                <a:cs typeface="+mn-cs"/>
              </a:rPr>
              <a:t>The ARM architecture supports seven execution modes. Most application programs execute in </a:t>
            </a:r>
            <a:r>
              <a:rPr lang="en-US" sz="1200" b="1" kern="1200" dirty="0">
                <a:solidFill>
                  <a:schemeClr val="tx1"/>
                </a:solidFill>
                <a:latin typeface="Times New Roman" pitchFamily="-1" charset="0"/>
                <a:ea typeface="+mn-ea"/>
                <a:cs typeface="+mn-cs"/>
              </a:rPr>
              <a:t>user mode. </a:t>
            </a:r>
            <a:r>
              <a:rPr lang="en-US" sz="1200" kern="1200" dirty="0">
                <a:solidFill>
                  <a:schemeClr val="tx1"/>
                </a:solidFill>
                <a:latin typeface="Times New Roman" pitchFamily="-1" charset="0"/>
                <a:ea typeface="+mn-ea"/>
                <a:cs typeface="+mn-cs"/>
              </a:rPr>
              <a:t>While the processor is in user mode, the program being executed is unable to access protected system resources or to change mode, other than by causing an exception to occur.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remaining six execution modes are referred to as privileged modes. These modes are used to run system software. There are two principal advantages to defining so many different privileged modes: (1) The OS can tailor the use of system software to a variety of circumstances, and (2) certain registers are dedicated for use for each of the privileged modes, allows swifter changes in context. </a:t>
            </a:r>
            <a:endParaRPr lang="en-US" dirty="0"/>
          </a:p>
          <a:p>
            <a:endParaRPr lang="en-US" sz="1200" kern="1200" dirty="0">
              <a:solidFill>
                <a:schemeClr val="tx1"/>
              </a:solidFill>
              <a:latin typeface="Times New Roman" pitchFamily="-1" charset="0"/>
              <a:ea typeface="+mn-ea"/>
              <a:cs typeface="+mn-cs"/>
            </a:endParaRPr>
          </a:p>
          <a:p>
            <a:endParaRPr lang="en-US" dirty="0"/>
          </a:p>
          <a:p>
            <a:endParaRPr lang="en-US" dirty="0"/>
          </a:p>
        </p:txBody>
      </p:sp>
    </p:spTree>
    <p:extLst>
      <p:ext uri="{BB962C8B-B14F-4D97-AF65-F5344CB8AC3E}">
        <p14:creationId xmlns:p14="http://schemas.microsoft.com/office/powerpoint/2010/main" val="276692282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85000" lnSpcReduction="20000"/>
          </a:bodyPr>
          <a:lstStyle/>
          <a:p>
            <a:r>
              <a:rPr lang="en-US" sz="1200" kern="1200" dirty="0">
                <a:solidFill>
                  <a:schemeClr val="tx1"/>
                </a:solidFill>
                <a:latin typeface="Times New Roman" pitchFamily="-1" charset="0"/>
                <a:ea typeface="+mn-ea"/>
                <a:cs typeface="+mn-cs"/>
              </a:rPr>
              <a:t>The exception modes have full access to system resources and can change modes freely. Five of these modes are known as exception modes. These are entered when specific exceptions occur. Each of these modes has some dedicated registers that substitute for some of the user mode registers, and which are used to avoid corrupting User mode state information when the exception occurs. The exception modes are as follows: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 Supervisor mode: </a:t>
            </a:r>
            <a:r>
              <a:rPr lang="en-US" sz="1200" kern="1200" dirty="0">
                <a:solidFill>
                  <a:schemeClr val="tx1"/>
                </a:solidFill>
                <a:latin typeface="Times New Roman" pitchFamily="-1" charset="0"/>
                <a:ea typeface="+mn-ea"/>
                <a:cs typeface="+mn-cs"/>
              </a:rPr>
              <a:t>Usually what the OS runs in. It is entered when the processor encounters a software interrupt instruction. Software interrupts are a standard way to invoke operating system services on ARM.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 Abort mode: </a:t>
            </a:r>
            <a:r>
              <a:rPr lang="en-US" sz="1200" kern="1200" dirty="0">
                <a:solidFill>
                  <a:schemeClr val="tx1"/>
                </a:solidFill>
                <a:latin typeface="Times New Roman" pitchFamily="-1" charset="0"/>
                <a:ea typeface="+mn-ea"/>
                <a:cs typeface="+mn-cs"/>
              </a:rPr>
              <a:t>Entered in response to memory faults. </a:t>
            </a:r>
            <a:endParaRPr lang="en-US" sz="1200" b="1" kern="1200" dirty="0">
              <a:solidFill>
                <a:schemeClr val="tx1"/>
              </a:solidFill>
              <a:latin typeface="Times New Roman" pitchFamily="-1" charset="0"/>
              <a:ea typeface="+mn-ea"/>
              <a:cs typeface="+mn-cs"/>
            </a:endParaRP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 Undefined mode: </a:t>
            </a:r>
            <a:r>
              <a:rPr lang="en-US" sz="1200" b="0" kern="1200" dirty="0">
                <a:solidFill>
                  <a:schemeClr val="tx1"/>
                </a:solidFill>
                <a:latin typeface="Times New Roman" pitchFamily="-1" charset="0"/>
                <a:ea typeface="+mn-ea"/>
                <a:cs typeface="+mn-cs"/>
              </a:rPr>
              <a:t>Entered when the processor attempts to execute an instruction </a:t>
            </a:r>
            <a:endParaRPr lang="en-US" b="0" dirty="0"/>
          </a:p>
          <a:p>
            <a:r>
              <a:rPr lang="en-US" sz="1200" kern="1200" dirty="0">
                <a:solidFill>
                  <a:schemeClr val="tx1"/>
                </a:solidFill>
                <a:latin typeface="Times New Roman" pitchFamily="-1" charset="0"/>
                <a:ea typeface="+mn-ea"/>
                <a:cs typeface="+mn-cs"/>
              </a:rPr>
              <a:t>that is supported neither by the main integer core nor by one of the coprocessors.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 Fast interrupt mode: </a:t>
            </a:r>
            <a:r>
              <a:rPr lang="en-US" sz="1200" kern="1200" dirty="0">
                <a:solidFill>
                  <a:schemeClr val="tx1"/>
                </a:solidFill>
                <a:latin typeface="Times New Roman" pitchFamily="-1" charset="0"/>
                <a:ea typeface="+mn-ea"/>
                <a:cs typeface="+mn-cs"/>
              </a:rPr>
              <a:t>Entered whenever the processor receives an interrupt signal from the designated fast interrupt source. A fast interrupt cannot be interrupted, but a fast interrupt may interrupt a normal interrupt.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Interrupt mode: </a:t>
            </a:r>
            <a:r>
              <a:rPr lang="en-US" sz="1200" kern="1200" dirty="0">
                <a:solidFill>
                  <a:schemeClr val="tx1"/>
                </a:solidFill>
                <a:latin typeface="Times New Roman" pitchFamily="-1" charset="0"/>
                <a:ea typeface="+mn-ea"/>
                <a:cs typeface="+mn-cs"/>
              </a:rPr>
              <a:t>Entered whenever the processor receives an interrupt signal from any other interrupt source (other than fast interrupt). An interrupt may only be interrupted by a fast interrupt.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remaining privileged mode is the </a:t>
            </a:r>
            <a:r>
              <a:rPr lang="en-US" sz="1200" b="1" kern="1200" dirty="0">
                <a:solidFill>
                  <a:schemeClr val="tx1"/>
                </a:solidFill>
                <a:latin typeface="Times New Roman" pitchFamily="-1" charset="0"/>
                <a:ea typeface="+mn-ea"/>
                <a:cs typeface="+mn-cs"/>
              </a:rPr>
              <a:t>System mode. </a:t>
            </a:r>
            <a:r>
              <a:rPr lang="en-US" sz="1200" kern="1200" dirty="0">
                <a:solidFill>
                  <a:schemeClr val="tx1"/>
                </a:solidFill>
                <a:latin typeface="Times New Roman" pitchFamily="-1" charset="0"/>
                <a:ea typeface="+mn-ea"/>
                <a:cs typeface="+mn-cs"/>
              </a:rPr>
              <a:t>This mode is not entered by any exception and uses the same registers available in User mode. The System mode is used for running certain privileged operating system tasks. System mode tasks may be interrupted by any of the five exception categories. </a:t>
            </a:r>
            <a:endParaRPr lang="en-US" dirty="0"/>
          </a:p>
          <a:p>
            <a:endParaRPr lang="en-US" dirty="0"/>
          </a:p>
          <a:p>
            <a:endParaRPr lang="en-US" dirty="0"/>
          </a:p>
        </p:txBody>
      </p:sp>
    </p:spTree>
    <p:extLst>
      <p:ext uri="{BB962C8B-B14F-4D97-AF65-F5344CB8AC3E}">
        <p14:creationId xmlns:p14="http://schemas.microsoft.com/office/powerpoint/2010/main" val="102351050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92500" lnSpcReduction="10000"/>
          </a:bodyPr>
          <a:lstStyle/>
          <a:p>
            <a:r>
              <a:rPr lang="en-US" sz="1200" kern="1200" dirty="0">
                <a:solidFill>
                  <a:schemeClr val="tx1"/>
                </a:solidFill>
                <a:latin typeface="Times New Roman" pitchFamily="-1" charset="0"/>
                <a:ea typeface="+mn-ea"/>
                <a:cs typeface="+mn-cs"/>
              </a:rPr>
              <a:t>Figure 16.29 depicts the user-visible registers for the ARM. The ARM processor has a total of 37 32-bit registers, classified as follows: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Thirty-one registers referred to in the ARM manual as general-purpose registers. In fact, some of these, such as the program counters, have special purposes.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Six program status registers.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Registers are arranged in partially overlapping banks, with the current processor mode determining which bank is available. At any time, sixteen numbered registers and one or two program status registers are visible, for a total of 17 or 18 software-visible registers. Figure 16.29 is interpreted as follows: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Registers R0 through R7, register R15 (the program counter) and the current program status register (CPSR) are visible in and shared by all modes.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Registers R8 through R12 are shared by all modes except fast </a:t>
            </a:r>
            <a:r>
              <a:rPr lang="en-US" sz="1200" kern="1200" dirty="0" err="1">
                <a:solidFill>
                  <a:schemeClr val="tx1"/>
                </a:solidFill>
                <a:latin typeface="Times New Roman" pitchFamily="-1" charset="0"/>
                <a:ea typeface="+mn-ea"/>
                <a:cs typeface="+mn-cs"/>
              </a:rPr>
              <a:t>interrupt,which</a:t>
            </a:r>
            <a:r>
              <a:rPr lang="en-US" sz="1200" kern="1200" dirty="0">
                <a:solidFill>
                  <a:schemeClr val="tx1"/>
                </a:solidFill>
                <a:latin typeface="Times New Roman" pitchFamily="-1" charset="0"/>
                <a:ea typeface="+mn-ea"/>
                <a:cs typeface="+mn-cs"/>
              </a:rPr>
              <a:t> has its own dedicated registers R8_fiq through R12_fiq.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All the exception modes have their own versions of registers R13 and R16.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All the exception modes have a dedicated saved program status register (SPSR)  </a:t>
            </a:r>
          </a:p>
          <a:p>
            <a:endParaRPr lang="en-US" dirty="0"/>
          </a:p>
        </p:txBody>
      </p:sp>
    </p:spTree>
    <p:extLst>
      <p:ext uri="{BB962C8B-B14F-4D97-AF65-F5344CB8AC3E}">
        <p14:creationId xmlns:p14="http://schemas.microsoft.com/office/powerpoint/2010/main" val="424196844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70000" lnSpcReduction="20000"/>
          </a:bodyPr>
          <a:lstStyle/>
          <a:p>
            <a:r>
              <a:rPr lang="en-US" sz="1200" kern="1200" dirty="0">
                <a:solidFill>
                  <a:schemeClr val="tx1"/>
                </a:solidFill>
                <a:latin typeface="Times New Roman" pitchFamily="-1" charset="0"/>
                <a:ea typeface="+mn-ea"/>
                <a:cs typeface="+mn-cs"/>
              </a:rPr>
              <a:t>The CPSR is accessible in all processor modes. Each exception mode also has a dedicated SPSR that is used to preserve the value of the CPSR when the associated exception occurs.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16 most significant bits of the CPSR contain user flags visible in User mode, and which can be used to affect the operation of a program (Figure 16.30). These are as follows: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Condition code flags: </a:t>
            </a:r>
            <a:r>
              <a:rPr lang="en-US" sz="1200" b="0" kern="1200" dirty="0">
                <a:solidFill>
                  <a:schemeClr val="tx1"/>
                </a:solidFill>
                <a:latin typeface="Times New Roman" pitchFamily="-1" charset="0"/>
                <a:ea typeface="+mn-ea"/>
                <a:cs typeface="+mn-cs"/>
              </a:rPr>
              <a:t>The N, Z, C, and V flags, which are discussed in Chapter 12. </a:t>
            </a:r>
          </a:p>
          <a:p>
            <a:endParaRPr lang="en-US" sz="1200" b="0"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 Q flag: </a:t>
            </a:r>
            <a:r>
              <a:rPr lang="en-US" sz="1200" kern="1200" dirty="0">
                <a:solidFill>
                  <a:schemeClr val="tx1"/>
                </a:solidFill>
                <a:latin typeface="Times New Roman" pitchFamily="-1" charset="0"/>
                <a:ea typeface="+mn-ea"/>
                <a:cs typeface="+mn-cs"/>
              </a:rPr>
              <a:t>used to indicate whether overflow and/or saturation has occurred in </a:t>
            </a:r>
            <a:endParaRPr lang="en-US" dirty="0"/>
          </a:p>
          <a:p>
            <a:r>
              <a:rPr lang="en-US" sz="1200" kern="1200" dirty="0">
                <a:solidFill>
                  <a:schemeClr val="tx1"/>
                </a:solidFill>
                <a:latin typeface="Times New Roman" pitchFamily="-1" charset="0"/>
                <a:ea typeface="+mn-ea"/>
                <a:cs typeface="+mn-cs"/>
              </a:rPr>
              <a:t>some SIMD-oriented instructions.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 J bit: </a:t>
            </a:r>
            <a:r>
              <a:rPr lang="en-US" sz="1200" kern="1200" dirty="0">
                <a:solidFill>
                  <a:schemeClr val="tx1"/>
                </a:solidFill>
                <a:latin typeface="Times New Roman" pitchFamily="-1" charset="0"/>
                <a:ea typeface="+mn-ea"/>
                <a:cs typeface="+mn-cs"/>
              </a:rPr>
              <a:t>indicates the use of special 8-bit instructions, known as Jazelle instructions, which are beyond the scope of our discussion. </a:t>
            </a:r>
            <a:endParaRPr lang="en-US" dirty="0"/>
          </a:p>
          <a:p>
            <a:endParaRPr lang="en-US" sz="1200" b="1" kern="1200" dirty="0">
              <a:solidFill>
                <a:schemeClr val="tx1"/>
              </a:solidFill>
              <a:latin typeface="Times New Roman" pitchFamily="-1" charset="0"/>
              <a:ea typeface="+mn-ea"/>
              <a:cs typeface="+mn-cs"/>
            </a:endParaRPr>
          </a:p>
          <a:p>
            <a:pPr>
              <a:buFontTx/>
              <a:buChar char="•"/>
            </a:pPr>
            <a:r>
              <a:rPr lang="en-US" sz="1200" b="1" kern="1200" dirty="0">
                <a:solidFill>
                  <a:schemeClr val="tx1"/>
                </a:solidFill>
                <a:latin typeface="Times New Roman" pitchFamily="-1" charset="0"/>
                <a:ea typeface="+mn-ea"/>
                <a:cs typeface="+mn-cs"/>
              </a:rPr>
              <a:t>GE[3:0] bits: </a:t>
            </a:r>
            <a:r>
              <a:rPr lang="en-US" sz="1200" kern="1200" dirty="0">
                <a:solidFill>
                  <a:schemeClr val="tx1"/>
                </a:solidFill>
                <a:latin typeface="Times New Roman" pitchFamily="-1" charset="0"/>
                <a:ea typeface="+mn-ea"/>
                <a:cs typeface="+mn-cs"/>
              </a:rPr>
              <a:t>SIMD instructions use bits [19:16] as Greater than or Equal (GE) flags for individual bytes or halfwords of the result.</a:t>
            </a:r>
          </a:p>
          <a:p>
            <a:pPr>
              <a:buFontTx/>
              <a:buChar char="•"/>
            </a:pPr>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16 least significant bits of the CPSR contain system control flags that can only be altered when the processor is in a privileged mode. The fields are as follows: </a:t>
            </a:r>
          </a:p>
          <a:p>
            <a:endParaRPr lang="en-US" dirty="0"/>
          </a:p>
          <a:p>
            <a:r>
              <a:rPr lang="en-US" sz="1200" kern="1200" dirty="0">
                <a:solidFill>
                  <a:schemeClr val="tx1"/>
                </a:solidFill>
                <a:latin typeface="Times New Roman" pitchFamily="-1" charset="0"/>
                <a:ea typeface="+mn-ea"/>
                <a:cs typeface="+mn-cs"/>
              </a:rPr>
              <a:t>•</a:t>
            </a:r>
            <a:r>
              <a:rPr lang="en-US" sz="1200" kern="1200" baseline="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Ebit: </a:t>
            </a:r>
            <a:r>
              <a:rPr lang="en-US" sz="1200" b="0" kern="1200" dirty="0">
                <a:solidFill>
                  <a:schemeClr val="tx1"/>
                </a:solidFill>
                <a:latin typeface="Times New Roman" pitchFamily="-1" charset="0"/>
                <a:ea typeface="+mn-ea"/>
                <a:cs typeface="+mn-cs"/>
              </a:rPr>
              <a:t>Controls load and store endianness for data; ignored for instruction fetches.</a:t>
            </a:r>
          </a:p>
          <a:p>
            <a:endParaRPr lang="en-US" sz="1200" b="0" kern="1200" dirty="0">
              <a:solidFill>
                <a:schemeClr val="tx1"/>
              </a:solidFill>
              <a:latin typeface="Times New Roman" pitchFamily="-1" charset="0"/>
              <a:ea typeface="+mn-ea"/>
              <a:cs typeface="+mn-cs"/>
            </a:endParaRPr>
          </a:p>
          <a:p>
            <a:r>
              <a:rPr lang="en-US" sz="1200" b="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Interrupt disable bits: </a:t>
            </a:r>
            <a:r>
              <a:rPr lang="en-US" sz="1200" b="0" kern="1200" dirty="0">
                <a:solidFill>
                  <a:schemeClr val="tx1"/>
                </a:solidFill>
                <a:latin typeface="Times New Roman" pitchFamily="-1" charset="0"/>
                <a:ea typeface="+mn-ea"/>
                <a:cs typeface="+mn-cs"/>
              </a:rPr>
              <a:t>The A bit disables imprecise data aborts when set; the I bit </a:t>
            </a:r>
            <a:endParaRPr lang="en-US" b="0" dirty="0"/>
          </a:p>
          <a:p>
            <a:r>
              <a:rPr lang="en-US" sz="1200" kern="1200" dirty="0">
                <a:solidFill>
                  <a:schemeClr val="tx1"/>
                </a:solidFill>
                <a:latin typeface="Times New Roman" pitchFamily="-1" charset="0"/>
                <a:ea typeface="+mn-ea"/>
                <a:cs typeface="+mn-cs"/>
              </a:rPr>
              <a:t>disables IRQ interrupts when set; and the F bit disables FIQ interrupts when set. </a:t>
            </a:r>
          </a:p>
          <a:p>
            <a:endParaRPr lang="en-US" dirty="0"/>
          </a:p>
          <a:p>
            <a:pPr>
              <a:buFontTx/>
              <a:buChar char="•"/>
            </a:pPr>
            <a:r>
              <a:rPr lang="en-US" sz="1200" b="1" kern="1200" dirty="0">
                <a:solidFill>
                  <a:schemeClr val="tx1"/>
                </a:solidFill>
                <a:latin typeface="Times New Roman" pitchFamily="-1" charset="0"/>
                <a:ea typeface="+mn-ea"/>
                <a:cs typeface="+mn-cs"/>
              </a:rPr>
              <a:t>T bit: </a:t>
            </a:r>
            <a:r>
              <a:rPr lang="en-US" sz="1200" kern="1200" dirty="0">
                <a:solidFill>
                  <a:schemeClr val="tx1"/>
                </a:solidFill>
                <a:latin typeface="Times New Roman" pitchFamily="-1" charset="0"/>
                <a:ea typeface="+mn-ea"/>
                <a:cs typeface="+mn-cs"/>
              </a:rPr>
              <a:t>Indicates whether instructions should be interpreted as normal ARM instructions or Thumb instructions.</a:t>
            </a:r>
          </a:p>
          <a:p>
            <a:pPr>
              <a:buFontTx/>
              <a:buNone/>
            </a:pPr>
            <a:r>
              <a:rPr lang="en-US" sz="1200" kern="1200" dirty="0">
                <a:solidFill>
                  <a:schemeClr val="tx1"/>
                </a:solidFill>
                <a:latin typeface="Times New Roman" pitchFamily="-1" charset="0"/>
                <a:ea typeface="+mn-ea"/>
                <a:cs typeface="+mn-cs"/>
              </a:rPr>
              <a:t> </a:t>
            </a:r>
            <a:endParaRPr lang="en-US" dirty="0"/>
          </a:p>
          <a:p>
            <a:r>
              <a:rPr lang="en-US" sz="1200" b="1" kern="1200" dirty="0">
                <a:solidFill>
                  <a:schemeClr val="tx1"/>
                </a:solidFill>
                <a:latin typeface="Times New Roman" pitchFamily="-1" charset="0"/>
                <a:ea typeface="+mn-ea"/>
                <a:cs typeface="+mn-cs"/>
              </a:rPr>
              <a:t>* Mode bits: </a:t>
            </a:r>
            <a:r>
              <a:rPr lang="en-US" sz="1200" kern="1200" dirty="0">
                <a:solidFill>
                  <a:schemeClr val="tx1"/>
                </a:solidFill>
                <a:latin typeface="Times New Roman" pitchFamily="-1" charset="0"/>
                <a:ea typeface="+mn-ea"/>
                <a:cs typeface="+mn-cs"/>
              </a:rPr>
              <a:t>Indicates the processor mode.  </a:t>
            </a:r>
            <a:endParaRPr lang="en-US" dirty="0"/>
          </a:p>
          <a:p>
            <a:endParaRPr lang="en-US" dirty="0"/>
          </a:p>
        </p:txBody>
      </p:sp>
    </p:spTree>
    <p:extLst>
      <p:ext uri="{BB962C8B-B14F-4D97-AF65-F5344CB8AC3E}">
        <p14:creationId xmlns:p14="http://schemas.microsoft.com/office/powerpoint/2010/main" val="329905310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lnSpcReduction="10000"/>
          </a:bodyPr>
          <a:lstStyle/>
          <a:p>
            <a:r>
              <a:rPr lang="en-US" sz="1200" kern="1200" dirty="0">
                <a:solidFill>
                  <a:schemeClr val="tx1"/>
                </a:solidFill>
                <a:latin typeface="Times New Roman" pitchFamily="-1" charset="0"/>
                <a:ea typeface="+mn-ea"/>
                <a:cs typeface="+mn-cs"/>
              </a:rPr>
              <a:t>As with any processor, the ARM includes a facility that enables the processor to interrupt the currently executing program to deal with exception conditions. Exceptions are generated by internal and external sources to cause the processor to handle an event. The processor state just before handling the exception is normally preserved so that the original program can be resumed when the exception routine has completed. More than one exception can arise at the same time. The ARM architecture supports seven types of exception. Table 14.4 lists the types of exception and the processor mode that is used to process each type. When an exception occurs, execution is forced from a fixed memory address corresponding to the type of exception. These fixed addresses are called the exception vectors.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If more than one interrupt is outstanding, they are handled in priority order. Table 16.4 lists the exceptions in priority order, highest to lowest.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When an exception occurs, the processor halts execution after the current instruction. The state of the processor is preserved in the SPSR that corresponds to the type of exception, so that the original program can be resumed when the exception routine has completed. The address of the instruction the processor was just about to execute is placed in the link register of the appropriate processor mode. To return after handling the exception, the SPSR is moved into the CPSR and R14 is moved into the PC.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Tree>
    <p:extLst>
      <p:ext uri="{BB962C8B-B14F-4D97-AF65-F5344CB8AC3E}">
        <p14:creationId xmlns:p14="http://schemas.microsoft.com/office/powerpoint/2010/main" val="28749132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4" name="Shape 18"/>
          <p:cNvSpPr>
            <a:spLocks noChangeArrowheads="1"/>
          </p:cNvSpPr>
          <p:nvPr/>
        </p:nvSpPr>
        <p:spPr bwMode="auto">
          <a:xfrm>
            <a:off x="0" y="0"/>
            <a:ext cx="9144000" cy="3886200"/>
          </a:xfrm>
          <a:prstGeom prst="rect">
            <a:avLst/>
          </a:prstGeom>
          <a:solidFill>
            <a:srgbClr val="007FA3"/>
          </a:solidFill>
          <a:ln w="25400">
            <a:solidFill>
              <a:srgbClr val="007FA3"/>
            </a:solidFill>
            <a:round/>
            <a:headEnd/>
            <a:tailEnd/>
          </a:ln>
        </p:spPr>
        <p:txBody>
          <a:bodyPr lIns="91425" tIns="45700" rIns="91425" bIns="45700" anchor="ct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Arial" panose="020B0604020202020204" pitchFamily="34" charset="0"/>
              <a:ea typeface="ヒラギノ角ゴ Pro W3" pitchFamily="1" charset="-128"/>
              <a:cs typeface="Arial" panose="020B0604020202020204" pitchFamily="34" charset="0"/>
              <a:sym typeface="Arial" panose="020B0604020202020204" pitchFamily="34" charset="0"/>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5" name="Shape 21"/>
          <p:cNvSpPr txBox="1">
            <a:spLocks noGrp="1"/>
          </p:cNvSpPr>
          <p:nvPr>
            <p:ph type="ftr" idx="10"/>
          </p:nvPr>
        </p:nvSpPr>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6" name="Shape 22"/>
          <p:cNvSpPr txBox="1">
            <a:spLocks noGrp="1"/>
          </p:cNvSpPr>
          <p:nvPr>
            <p:ph type="dt" idx="11"/>
          </p:nvPr>
        </p:nvSpPr>
        <p:spPr/>
        <p:txBody>
          <a:bodyPr/>
          <a:lstStyle>
            <a:lvl1pPr marL="0" marR="0" lvl="0" indent="0" algn="r" rtl="0">
              <a:spcBef>
                <a:spcPts val="0"/>
              </a:spcBef>
              <a:buNone/>
              <a:defRPr sz="900" b="0" i="0" u="none" strike="noStrike" cap="none">
                <a:solidFill>
                  <a:srgbClr val="FFFFFF"/>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7" name="Shape 23"/>
          <p:cNvSpPr txBox="1">
            <a:spLocks noGrp="1"/>
          </p:cNvSpPr>
          <p:nvPr>
            <p:ph type="sldNum" idx="12"/>
          </p:nvPr>
        </p:nvSpPr>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BE14EDEC-0104-4E70-9686-A570F422F167}"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3983199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Shape 24"/>
        <p:cNvGrpSpPr/>
        <p:nvPr/>
      </p:nvGrpSpPr>
      <p:grpSpPr>
        <a:xfrm>
          <a:off x="0" y="0"/>
          <a:ext cx="0" cy="0"/>
          <a:chOff x="0" y="0"/>
          <a:chExt cx="0" cy="0"/>
        </a:xfrm>
      </p:grpSpPr>
      <p:sp>
        <p:nvSpPr>
          <p:cNvPr id="25" name="Shape 25"/>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6" name="Shape 26"/>
          <p:cNvSpPr txBox="1">
            <a:spLocks noGrp="1"/>
          </p:cNvSpPr>
          <p:nvPr>
            <p:ph type="body" idx="1"/>
          </p:nvPr>
        </p:nvSpPr>
        <p:spPr>
          <a:xfrm>
            <a:off x="457200" y="1600200"/>
            <a:ext cx="8229600" cy="4525963"/>
          </a:xfrm>
          <a:prstGeom prst="rect">
            <a:avLst/>
          </a:prstGeom>
          <a:noFill/>
          <a:ln>
            <a:noFill/>
          </a:ln>
        </p:spPr>
        <p:txBody>
          <a:bodyPr/>
          <a:lstStyle>
            <a:lvl1pPr marL="256032" marR="0" lvl="0" indent="-154432" algn="l" rtl="0">
              <a:spcBef>
                <a:spcPts val="1500"/>
              </a:spcBef>
              <a:buClr>
                <a:srgbClr val="007FA3"/>
              </a:buClr>
              <a:buSzPct val="100000"/>
              <a:buFont typeface="Arial"/>
              <a:buChar char="•"/>
              <a:defRPr sz="24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4"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6"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F5A73AF7-22FE-4915-9687-D7E877768588}"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42933219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anchor="b"/>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6" name="Shape 42"/>
          <p:cNvSpPr txBox="1">
            <a:spLocks noGrp="1"/>
          </p:cNvSpPr>
          <p:nvPr>
            <p:ph type="ftr" idx="10"/>
          </p:nvPr>
        </p:nvSpPr>
        <p:spPr>
          <a:xfrm>
            <a:off x="93663" y="6165850"/>
            <a:ext cx="8596312" cy="234950"/>
          </a:xfrm>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7" name="Shape 43"/>
          <p:cNvSpPr txBox="1">
            <a:spLocks noGrp="1"/>
          </p:cNvSpPr>
          <p:nvPr>
            <p:ph type="dt" idx="11"/>
          </p:nvPr>
        </p:nvSpPr>
        <p:spPr/>
        <p:txBody>
          <a:bodyPr/>
          <a:lstStyle>
            <a:lvl1pPr marL="0" marR="0" lvl="0" indent="0" algn="r" rtl="0">
              <a:spcBef>
                <a:spcPts val="0"/>
              </a:spcBef>
              <a:buNone/>
              <a:defRPr sz="900" b="0" i="0" u="none" strike="noStrike" cap="none">
                <a:solidFill>
                  <a:srgbClr val="FFFFFF"/>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8" name="Shape 44"/>
          <p:cNvSpPr txBox="1">
            <a:spLocks noGrp="1"/>
          </p:cNvSpPr>
          <p:nvPr>
            <p:ph type="sldNum" idx="12"/>
          </p:nvPr>
        </p:nvSpPr>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33DA44F4-1B99-478F-9B55-2C5CC45829F7}"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3490634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s">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9" name="Shape 49"/>
          <p:cNvSpPr txBox="1">
            <a:spLocks noGrp="1"/>
          </p:cNvSpPr>
          <p:nvPr>
            <p:ph type="body" idx="1"/>
          </p:nvPr>
        </p:nvSpPr>
        <p:spPr>
          <a:xfrm>
            <a:off x="457200" y="1600200"/>
            <a:ext cx="8229600" cy="4525963"/>
          </a:xfrm>
          <a:prstGeom prst="rect">
            <a:avLst/>
          </a:prstGeom>
          <a:noFill/>
          <a:ln>
            <a:noFill/>
          </a:ln>
        </p:spPr>
        <p:txBody>
          <a:bodyPr/>
          <a:lstStyle>
            <a:lvl1pPr marL="118871" marR="0" lvl="0" indent="-93471" algn="l" rtl="0">
              <a:spcBef>
                <a:spcPts val="1500"/>
              </a:spcBef>
              <a:buClr>
                <a:srgbClr val="007FA3"/>
              </a:buClr>
              <a:buSzPct val="25000"/>
              <a:buFont typeface="Arial"/>
              <a:buChar char="•"/>
              <a:defRPr sz="1600" b="0" i="0" u="none" strike="noStrike" cap="none">
                <a:solidFill>
                  <a:schemeClr val="dk1"/>
                </a:solidFill>
                <a:latin typeface="Arial"/>
                <a:ea typeface="Arial"/>
                <a:cs typeface="Arial"/>
                <a:sym typeface="Arial"/>
              </a:defRPr>
            </a:lvl1pPr>
            <a:lvl2pPr marL="569913" marR="0" lvl="1" indent="-188912"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4"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6"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42E91456-BDEE-4569-92BC-96FB5C01DFEB}"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434579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5" name="Shape 55"/>
          <p:cNvSpPr txBox="1">
            <a:spLocks noGrp="1"/>
          </p:cNvSpPr>
          <p:nvPr>
            <p:ph type="body" idx="1"/>
          </p:nvPr>
        </p:nvSpPr>
        <p:spPr>
          <a:xfrm>
            <a:off x="457200" y="5368160"/>
            <a:ext cx="8229600" cy="916856"/>
          </a:xfrm>
          <a:prstGeom prst="rect">
            <a:avLst/>
          </a:prstGeom>
          <a:noFill/>
          <a:ln>
            <a:noFill/>
          </a:ln>
        </p:spPr>
        <p:txBody>
          <a:bodyPr anchor="b"/>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 name="Shape 56"/>
          <p:cNvSpPr txBox="1">
            <a:spLocks noGrp="1"/>
          </p:cNvSpPr>
          <p:nvPr>
            <p:ph type="ftr" idx="10"/>
          </p:nvPr>
        </p:nvSpPr>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57"/>
          <p:cNvSpPr txBox="1">
            <a:spLocks noGrp="1"/>
          </p:cNvSpPr>
          <p:nvPr>
            <p:ph type="dt" idx="11"/>
          </p:nvPr>
        </p:nvSpPr>
        <p:spPr/>
        <p:txBody>
          <a:bodyPr/>
          <a:lstStyle>
            <a:lvl1pPr marL="0" marR="0" lvl="0" indent="0" algn="r" rtl="0">
              <a:spcBef>
                <a:spcPts val="0"/>
              </a:spcBef>
              <a:buNone/>
              <a:defRPr sz="9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000000"/>
              </a:solidFill>
              <a:effectLst/>
              <a:uLnTx/>
              <a:uFillTx/>
              <a:latin typeface="Arial"/>
              <a:cs typeface="Arial"/>
              <a:sym typeface="Arial"/>
            </a:endParaRPr>
          </a:p>
        </p:txBody>
      </p:sp>
      <p:sp>
        <p:nvSpPr>
          <p:cNvPr id="6" name="Shape 58"/>
          <p:cNvSpPr txBox="1">
            <a:spLocks noGrp="1"/>
          </p:cNvSpPr>
          <p:nvPr>
            <p:ph type="sldNum" idx="12"/>
          </p:nvPr>
        </p:nvSpPr>
        <p:spPr/>
        <p:txBody>
          <a:bodyPr/>
          <a:lstStyle>
            <a:lvl1pPr>
              <a:defRPr>
                <a:solidFill>
                  <a:srgbClr val="000000"/>
                </a:solidFill>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151861E3-90A7-42D4-9B7A-166EF1A614E7}" type="slidenum">
              <a:rPr kumimoji="0" lang="en-US" sz="900" b="0" i="0" u="none" strike="noStrike" kern="1200" cap="none" spc="0" normalizeH="0" baseline="0" noProof="0">
                <a:ln>
                  <a:noFill/>
                </a:ln>
                <a:solidFill>
                  <a:srgbClr val="000000"/>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466503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3" name="Shape 63"/>
          <p:cNvSpPr txBox="1">
            <a:spLocks noGrp="1"/>
          </p:cNvSpPr>
          <p:nvPr>
            <p:ph type="body" idx="1"/>
          </p:nvPr>
        </p:nvSpPr>
        <p:spPr>
          <a:xfrm>
            <a:off x="457200" y="816429"/>
            <a:ext cx="8229600" cy="402769"/>
          </a:xfrm>
          <a:prstGeom prst="rect">
            <a:avLst/>
          </a:prstGeom>
          <a:noFill/>
          <a:ln>
            <a:noFill/>
          </a:ln>
        </p:spPr>
        <p:txBody>
          <a:bodyPr/>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5"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6"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7"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846A8B40-492E-4426-BAAD-D80E9F063A91}"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2888465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0" name="Shape 70"/>
          <p:cNvSpPr txBox="1">
            <a:spLocks noGrp="1"/>
          </p:cNvSpPr>
          <p:nvPr>
            <p:ph type="body" idx="1"/>
          </p:nvPr>
        </p:nvSpPr>
        <p:spPr>
          <a:xfrm>
            <a:off x="674687" y="3962400"/>
            <a:ext cx="7794626" cy="1752600"/>
          </a:xfrm>
          <a:prstGeom prst="rect">
            <a:avLst/>
          </a:prstGeom>
          <a:noFill/>
          <a:ln>
            <a:noFill/>
          </a:ln>
        </p:spPr>
        <p:txBody>
          <a:bodyPr/>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4"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6"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FB951973-C68A-429F-AA58-4C1FE6BDA16A}"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568307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4"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5"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D0F7696F-A32D-4889-8633-E1B7C5601BE7}"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7100562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lank">
    <p:spTree>
      <p:nvGrpSpPr>
        <p:cNvPr id="1" name="Shape 79"/>
        <p:cNvGrpSpPr/>
        <p:nvPr/>
      </p:nvGrpSpPr>
      <p:grpSpPr>
        <a:xfrm>
          <a:off x="0" y="0"/>
          <a:ext cx="0" cy="0"/>
          <a:chOff x="0" y="0"/>
          <a:chExt cx="0" cy="0"/>
        </a:xfrm>
      </p:grpSpPr>
      <p:sp>
        <p:nvSpPr>
          <p:cNvPr id="2" name="Shape 80"/>
          <p:cNvSpPr txBox="1">
            <a:spLocks noGrp="1"/>
          </p:cNvSpPr>
          <p:nvPr>
            <p:ph type="ftr" idx="10"/>
          </p:nvPr>
        </p:nvSpPr>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3" name="Shape 81"/>
          <p:cNvSpPr txBox="1">
            <a:spLocks noGrp="1"/>
          </p:cNvSpPr>
          <p:nvPr>
            <p:ph type="dt" idx="11"/>
          </p:nvPr>
        </p:nvSpPr>
        <p:spPr/>
        <p:txBody>
          <a:bodyPr/>
          <a:lstStyle>
            <a:lvl1pPr marL="0" marR="0" lvl="0" indent="0" algn="r" rtl="0">
              <a:spcBef>
                <a:spcPts val="0"/>
              </a:spcBef>
              <a:buNone/>
              <a:defRPr sz="9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000000"/>
              </a:solidFill>
              <a:effectLst/>
              <a:uLnTx/>
              <a:uFillTx/>
              <a:latin typeface="Arial"/>
              <a:cs typeface="Arial"/>
              <a:sym typeface="Arial"/>
            </a:endParaRPr>
          </a:p>
        </p:txBody>
      </p:sp>
      <p:sp>
        <p:nvSpPr>
          <p:cNvPr id="4" name="Shape 82"/>
          <p:cNvSpPr txBox="1">
            <a:spLocks noGrp="1"/>
          </p:cNvSpPr>
          <p:nvPr>
            <p:ph type="sldNum" idx="12"/>
          </p:nvPr>
        </p:nvSpPr>
        <p:spPr/>
        <p:txBody>
          <a:bodyPr/>
          <a:lstStyle>
            <a:lvl1pPr>
              <a:defRPr>
                <a:solidFill>
                  <a:srgbClr val="000000"/>
                </a:solidFill>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7EEADC32-B7CB-4469-A186-251F1CAA23B8}" type="slidenum">
              <a:rPr kumimoji="0" lang="en-US" sz="900" b="0" i="0" u="none" strike="noStrike" kern="1200" cap="none" spc="0" normalizeH="0" baseline="0" noProof="0">
                <a:ln>
                  <a:noFill/>
                </a:ln>
                <a:solidFill>
                  <a:srgbClr val="000000"/>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077291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Shape 10"/>
          <p:cNvSpPr txBox="1">
            <a:spLocks noGrp="1"/>
          </p:cNvSpPr>
          <p:nvPr>
            <p:ph type="title"/>
          </p:nvPr>
        </p:nvSpPr>
        <p:spPr bwMode="auto">
          <a:xfrm>
            <a:off x="457200" y="215900"/>
            <a:ext cx="8229600"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b" anchorCtr="0" compatLnSpc="1">
            <a:prstTxWarp prst="textNoShape">
              <a:avLst/>
            </a:prstTxWarp>
          </a:bodyPr>
          <a:lstStyle/>
          <a:p>
            <a:pPr lvl="0"/>
            <a:endParaRPr lang="en-US" altLang="en-US">
              <a:sym typeface="Arial" panose="020B0604020202020204" pitchFamily="34" charset="0"/>
            </a:endParaRPr>
          </a:p>
        </p:txBody>
      </p:sp>
      <p:sp>
        <p:nvSpPr>
          <p:cNvPr id="3075" name="Shape 11"/>
          <p:cNvSpPr txBox="1">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p>
            <a:pPr lvl="0"/>
            <a:endParaRPr lang="en-US" altLang="en-US">
              <a:sym typeface="Arial" panose="020B0604020202020204" pitchFamily="34" charset="0"/>
            </a:endParaRPr>
          </a:p>
        </p:txBody>
      </p:sp>
      <p:sp>
        <p:nvSpPr>
          <p:cNvPr id="12" name="Shape 12"/>
          <p:cNvSpPr txBox="1">
            <a:spLocks noGrp="1"/>
          </p:cNvSpPr>
          <p:nvPr>
            <p:ph type="ftr" idx="11"/>
          </p:nvPr>
        </p:nvSpPr>
        <p:spPr>
          <a:xfrm>
            <a:off x="93663" y="6172200"/>
            <a:ext cx="8596312" cy="234950"/>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13" name="Shape 13"/>
          <p:cNvSpPr txBox="1">
            <a:spLocks noGrp="1"/>
          </p:cNvSpPr>
          <p:nvPr>
            <p:ph type="dt" idx="10"/>
          </p:nvPr>
        </p:nvSpPr>
        <p:spPr>
          <a:xfrm>
            <a:off x="6335713" y="112713"/>
            <a:ext cx="2133600" cy="182562"/>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rgbClr val="FFFFFF"/>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14" name="Shape 14"/>
          <p:cNvSpPr txBox="1">
            <a:spLocks noGrp="1"/>
          </p:cNvSpPr>
          <p:nvPr>
            <p:ph type="sldNum" idx="12"/>
          </p:nvPr>
        </p:nvSpPr>
        <p:spPr>
          <a:xfrm>
            <a:off x="8469313" y="112713"/>
            <a:ext cx="552450" cy="182562"/>
          </a:xfrm>
          <a:prstGeom prst="rect">
            <a:avLst/>
          </a:prstGeom>
          <a:noFill/>
          <a:ln>
            <a:noFill/>
          </a:ln>
        </p:spPr>
        <p:txBody>
          <a:bodyPr lIns="91425" tIns="45700" rIns="91425" bIns="45700" anchor="ctr" anchorCtr="0">
            <a:noAutofit/>
          </a:bodyPr>
          <a:lstStyle>
            <a:lvl1pPr algn="r">
              <a:spcBef>
                <a:spcPts val="0"/>
              </a:spcBef>
              <a:buSzPct val="25000"/>
              <a:defRPr sz="900">
                <a:solidFill>
                  <a:srgbClr val="FFFFFF"/>
                </a:solidFill>
                <a:latin typeface="Arial"/>
                <a:ea typeface="Arial"/>
                <a:cs typeface="Arial"/>
                <a:sym typeface="Arial"/>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0B369858-E052-47C5-B392-6B9F20183AE0}"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pic>
        <p:nvPicPr>
          <p:cNvPr id="3079" name="Shape 15" descr="Pearson Logo"/>
          <p:cNvPicPr preferRelativeResize="0">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4500" y="6429375"/>
            <a:ext cx="91757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hape 16"/>
          <p:cNvSpPr txBox="1">
            <a:spLocks noChangeArrowheads="1"/>
          </p:cNvSpPr>
          <p:nvPr userDrawn="1"/>
        </p:nvSpPr>
        <p:spPr bwMode="auto">
          <a:xfrm>
            <a:off x="1600200" y="6429375"/>
            <a:ext cx="71628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latin typeface="Verdana" panose="020B0604030504040204" pitchFamily="34" charset="0"/>
                <a:ea typeface="ヒラギノ角ゴ Pro W3" pitchFamily="1" charset="-128"/>
                <a:cs typeface="Arial" panose="020B0604020202020204" pitchFamily="34" charset="0"/>
              </a:rPr>
              <a:t>Copyright © 2019, 2016, 2013 Pearson Education, Inc. All Rights Reserved</a:t>
            </a:r>
          </a:p>
        </p:txBody>
      </p:sp>
    </p:spTree>
    <p:extLst>
      <p:ext uri="{BB962C8B-B14F-4D97-AF65-F5344CB8AC3E}">
        <p14:creationId xmlns:p14="http://schemas.microsoft.com/office/powerpoint/2010/main" val="61075162"/>
      </p:ext>
    </p:extLst>
  </p:cSld>
  <p:clrMap bg1="lt1" tx1="dk1" bg2="dk2" tx2="lt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Lst>
  <p:hf sldNum="0" hdr="0" ftr="0" dt="0"/>
  <p:txStyles>
    <p:title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p:titleStyle>
    <p:body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4" Type="http://schemas.openxmlformats.org/officeDocument/2006/relationships/image" Target="../media/image16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80.png"/></Relationships>
</file>

<file path=ppt/slides/_rels/slide26.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55.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56.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txBox="1">
            <a:spLocks noGrp="1"/>
          </p:cNvSpPr>
          <p:nvPr>
            <p:ph type="title"/>
          </p:nvPr>
        </p:nvSpPr>
        <p:spPr/>
        <p:txBody>
          <a:bodyPr/>
          <a:lstStyle/>
          <a:p>
            <a:pPr>
              <a:spcBef>
                <a:spcPct val="0"/>
              </a:spcBef>
            </a:pPr>
            <a:r>
              <a:rPr lang="en-US" altLang="en-US" dirty="0">
                <a:latin typeface="Times New Roman" panose="02020603050405020304" pitchFamily="18" charset="0"/>
                <a:cs typeface="Times New Roman" panose="02020603050405020304" pitchFamily="18" charset="0"/>
                <a:sym typeface="Times New Roman" panose="02020603050405020304" pitchFamily="18" charset="0"/>
              </a:rPr>
              <a:t>Computer Organization and Architecture</a:t>
            </a:r>
            <a:br>
              <a:rPr lang="en-US" altLang="en-US" dirty="0">
                <a:latin typeface="Times New Roman" panose="02020603050405020304" pitchFamily="18" charset="0"/>
                <a:cs typeface="Times New Roman" panose="02020603050405020304" pitchFamily="18" charset="0"/>
                <a:sym typeface="Times New Roman" panose="02020603050405020304" pitchFamily="18" charset="0"/>
              </a:rPr>
            </a:br>
            <a:r>
              <a:rPr lang="en-US" altLang="en-US" sz="2600" dirty="0">
                <a:latin typeface="Times New Roman" panose="02020603050405020304" pitchFamily="18" charset="0"/>
                <a:cs typeface="Times New Roman" panose="02020603050405020304" pitchFamily="18" charset="0"/>
                <a:sym typeface="Times New Roman" panose="02020603050405020304" pitchFamily="18" charset="0"/>
              </a:rPr>
              <a:t>Designing for Performance</a:t>
            </a:r>
            <a:endParaRPr lang="en-IN" altLang="en-US" sz="2600" dirty="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13316" name="Text Placeholder 3"/>
          <p:cNvSpPr txBox="1">
            <a:spLocks noGrp="1"/>
          </p:cNvSpPr>
          <p:nvPr>
            <p:ph type="body" idx="2"/>
          </p:nvPr>
        </p:nvSpPr>
        <p:spPr/>
        <p:txBody>
          <a:bodyPr/>
          <a:lstStyle/>
          <a:p>
            <a:pPr>
              <a:spcBef>
                <a:spcPct val="0"/>
              </a:spcBef>
              <a:buFontTx/>
              <a:buNone/>
            </a:pPr>
            <a:r>
              <a:rPr lang="en-IN" altLang="en-US" dirty="0">
                <a:solidFill>
                  <a:srgbClr val="000000"/>
                </a:solidFill>
                <a:latin typeface="Arial" panose="020B0604020202020204" pitchFamily="34" charset="0"/>
                <a:cs typeface="Arial" panose="020B0604020202020204" pitchFamily="34" charset="0"/>
                <a:sym typeface="Arial" panose="020B0604020202020204" pitchFamily="34" charset="0"/>
              </a:rPr>
              <a:t>Chapter 16</a:t>
            </a:r>
          </a:p>
        </p:txBody>
      </p:sp>
      <p:sp>
        <p:nvSpPr>
          <p:cNvPr id="13317" name="Text Placeholder 4"/>
          <p:cNvSpPr txBox="1">
            <a:spLocks noGrp="1"/>
          </p:cNvSpPr>
          <p:nvPr>
            <p:ph type="body" idx="3"/>
          </p:nvPr>
        </p:nvSpPr>
        <p:spPr/>
        <p:txBody>
          <a:bodyPr/>
          <a:lstStyle/>
          <a:p>
            <a:r>
              <a:rPr lang="en-US" sz="2400" dirty="0"/>
              <a:t>Processor Structure and Function</a:t>
            </a:r>
          </a:p>
          <a:p>
            <a:r>
              <a:rPr lang="en-US" sz="2400" dirty="0"/>
              <a:t>(Pipelining) </a:t>
            </a:r>
          </a:p>
        </p:txBody>
      </p:sp>
      <p:pic>
        <p:nvPicPr>
          <p:cNvPr id="7" name="Shape 197"/>
          <p:cNvPicPr preferRelativeResize="0"/>
          <p:nvPr/>
        </p:nvPicPr>
        <p:blipFill>
          <a:blip r:embed="rId3">
            <a:extLst>
              <a:ext uri="{28A0092B-C50C-407E-A947-70E740481C1C}">
                <a14:useLocalDpi xmlns:a14="http://schemas.microsoft.com/office/drawing/2010/main" val="0"/>
              </a:ext>
            </a:extLst>
          </a:blip>
          <a:stretch>
            <a:fillRect/>
          </a:stretch>
        </p:blipFill>
        <p:spPr>
          <a:xfrm>
            <a:off x="825499" y="1745673"/>
            <a:ext cx="3524827" cy="4402049"/>
          </a:xfrm>
          <a:prstGeom prst="rect">
            <a:avLst/>
          </a:prstGeom>
          <a:noFill/>
          <a:ln w="9525" cap="flat" cmpd="sng">
            <a:solidFill>
              <a:srgbClr val="7F7F7F"/>
            </a:solidFill>
            <a:prstDash val="solid"/>
            <a:round/>
            <a:headEnd type="none" w="med" len="med"/>
            <a:tailEnd type="none" w="med" len="med"/>
          </a:ln>
          <a:effectLst>
            <a:outerShdw blurRad="50799" dist="76200" dir="2700000" algn="tl" rotWithShape="0">
              <a:srgbClr val="000000">
                <a:alpha val="55686"/>
              </a:srgbClr>
            </a:outerShdw>
          </a:effectLst>
        </p:spPr>
      </p:pic>
      <p:sp>
        <p:nvSpPr>
          <p:cNvPr id="8" name="Text Placeholder 2"/>
          <p:cNvSpPr txBox="1">
            <a:spLocks noGrp="1"/>
          </p:cNvSpPr>
          <p:nvPr>
            <p:ph type="body" idx="1"/>
          </p:nvPr>
        </p:nvSpPr>
        <p:spPr>
          <a:xfrm>
            <a:off x="457200" y="1268559"/>
            <a:ext cx="8229600" cy="479425"/>
          </a:xfrm>
        </p:spPr>
        <p:txBody>
          <a:bodyPr/>
          <a:lstStyle/>
          <a:p>
            <a:pPr>
              <a:spcBef>
                <a:spcPct val="0"/>
              </a:spcBef>
              <a:buFontTx/>
              <a:buNone/>
            </a:pPr>
            <a:r>
              <a:rPr lang="en-IN" altLang="en-US" dirty="0">
                <a:latin typeface="Arial" panose="020B0604020202020204" pitchFamily="34" charset="0"/>
                <a:cs typeface="Arial" panose="020B0604020202020204" pitchFamily="34" charset="0"/>
                <a:sym typeface="Arial" panose="020B0604020202020204" pitchFamily="34" charset="0"/>
              </a:rPr>
              <a:t>11</a:t>
            </a:r>
            <a:r>
              <a:rPr lang="en-IN" altLang="en-US" baseline="30000" dirty="0">
                <a:latin typeface="Arial" panose="020B0604020202020204" pitchFamily="34" charset="0"/>
                <a:cs typeface="Arial" panose="020B0604020202020204" pitchFamily="34" charset="0"/>
                <a:sym typeface="Arial" panose="020B0604020202020204" pitchFamily="34" charset="0"/>
              </a:rPr>
              <a:t>th</a:t>
            </a:r>
            <a:r>
              <a:rPr lang="en-IN" altLang="en-US" dirty="0">
                <a:latin typeface="Arial" panose="020B0604020202020204" pitchFamily="34" charset="0"/>
                <a:cs typeface="Arial" panose="020B0604020202020204" pitchFamily="34" charset="0"/>
                <a:sym typeface="Arial" panose="020B0604020202020204" pitchFamily="34" charset="0"/>
              </a:rPr>
              <a:t> Edition</a:t>
            </a:r>
          </a:p>
        </p:txBody>
      </p:sp>
    </p:spTree>
    <p:extLst>
      <p:ext uri="{BB962C8B-B14F-4D97-AF65-F5344CB8AC3E}">
        <p14:creationId xmlns:p14="http://schemas.microsoft.com/office/powerpoint/2010/main" val="34173788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4"/>
          <p:cNvSpPr>
            <a:spLocks noGrp="1" noChangeArrowheads="1"/>
          </p:cNvSpPr>
          <p:nvPr>
            <p:ph type="title"/>
          </p:nvPr>
        </p:nvSpPr>
        <p:spPr/>
        <p:txBody>
          <a:bodyPr/>
          <a:lstStyle/>
          <a:p>
            <a:r>
              <a:rPr lang="en-US" dirty="0"/>
              <a:t>Processor Organization</a:t>
            </a:r>
          </a:p>
        </p:txBody>
      </p:sp>
      <p:sp>
        <p:nvSpPr>
          <p:cNvPr id="9" name="Text Placeholder 8"/>
          <p:cNvSpPr>
            <a:spLocks noGrp="1"/>
          </p:cNvSpPr>
          <p:nvPr>
            <p:ph type="body" idx="1"/>
          </p:nvPr>
        </p:nvSpPr>
        <p:spPr>
          <a:xfrm>
            <a:off x="332518" y="1600200"/>
            <a:ext cx="8478965" cy="4525963"/>
          </a:xfrm>
        </p:spPr>
        <p:txBody>
          <a:bodyPr/>
          <a:lstStyle/>
          <a:p>
            <a:pPr marL="101600" indent="0">
              <a:buNone/>
            </a:pPr>
            <a:r>
              <a:rPr lang="en-US" sz="2800" dirty="0"/>
              <a:t>Processor Requirements:</a:t>
            </a:r>
          </a:p>
        </p:txBody>
      </p:sp>
      <p:sp>
        <p:nvSpPr>
          <p:cNvPr id="8" name="Content Placeholder 7"/>
          <p:cNvSpPr>
            <a:spLocks noGrp="1"/>
          </p:cNvSpPr>
          <p:nvPr>
            <p:ph idx="4294967295"/>
          </p:nvPr>
        </p:nvSpPr>
        <p:spPr>
          <a:xfrm>
            <a:off x="460308" y="2101552"/>
            <a:ext cx="8226492" cy="4495800"/>
          </a:xfrm>
        </p:spPr>
        <p:txBody>
          <a:bodyPr>
            <a:noAutofit/>
          </a:bodyPr>
          <a:lstStyle/>
          <a:p>
            <a:pPr marL="347663" indent="-347663">
              <a:spcBef>
                <a:spcPts val="300"/>
              </a:spcBef>
              <a:buClr>
                <a:schemeClr val="tx2"/>
              </a:buClr>
              <a:buFont typeface="Arial" panose="020B0604020202020204" pitchFamily="34" charset="0"/>
              <a:buChar char="•"/>
            </a:pPr>
            <a:r>
              <a:rPr lang="en-US" sz="1800" dirty="0"/>
              <a:t>Fetch instruction</a:t>
            </a:r>
          </a:p>
          <a:p>
            <a:pPr marL="706438" lvl="1" indent="-347663">
              <a:spcBef>
                <a:spcPts val="300"/>
              </a:spcBef>
              <a:buClr>
                <a:schemeClr val="tx2"/>
              </a:buClr>
              <a:buFont typeface="Arial" panose="020B0604020202020204" pitchFamily="34" charset="0"/>
              <a:buChar char="–"/>
            </a:pPr>
            <a:r>
              <a:rPr lang="en-US" sz="1600" dirty="0"/>
              <a:t>The processor reads an instruction from memory (register, cache, main memory)</a:t>
            </a:r>
          </a:p>
          <a:p>
            <a:pPr marL="347663" indent="-347663">
              <a:spcBef>
                <a:spcPts val="300"/>
              </a:spcBef>
              <a:buClr>
                <a:schemeClr val="tx2"/>
              </a:buClr>
              <a:buFont typeface="Arial" panose="020B0604020202020204" pitchFamily="34" charset="0"/>
              <a:buChar char="•"/>
            </a:pPr>
            <a:r>
              <a:rPr lang="en-US" sz="1800" dirty="0"/>
              <a:t>Interpret instruction</a:t>
            </a:r>
          </a:p>
          <a:p>
            <a:pPr marL="706438" lvl="1" indent="-347663">
              <a:spcBef>
                <a:spcPts val="300"/>
              </a:spcBef>
              <a:buClr>
                <a:schemeClr val="tx2"/>
              </a:buClr>
              <a:buFont typeface="Arial" panose="020B0604020202020204" pitchFamily="34" charset="0"/>
              <a:buChar char="–"/>
            </a:pPr>
            <a:r>
              <a:rPr lang="en-US" sz="1600" dirty="0"/>
              <a:t>The instruction is decoded to determine what action is required</a:t>
            </a:r>
          </a:p>
          <a:p>
            <a:pPr marL="347663" indent="-347663">
              <a:spcBef>
                <a:spcPts val="300"/>
              </a:spcBef>
              <a:buClr>
                <a:schemeClr val="tx2"/>
              </a:buClr>
              <a:buFont typeface="Arial" panose="020B0604020202020204" pitchFamily="34" charset="0"/>
              <a:buChar char="•"/>
            </a:pPr>
            <a:r>
              <a:rPr lang="en-US" sz="1800" dirty="0"/>
              <a:t>Fetch data</a:t>
            </a:r>
          </a:p>
          <a:p>
            <a:pPr marL="706438" lvl="1" indent="-347663">
              <a:spcBef>
                <a:spcPts val="300"/>
              </a:spcBef>
              <a:buClr>
                <a:schemeClr val="tx2"/>
              </a:buClr>
              <a:buFont typeface="Arial" panose="020B0604020202020204" pitchFamily="34" charset="0"/>
              <a:buChar char="–"/>
            </a:pPr>
            <a:r>
              <a:rPr lang="en-US" sz="1600" dirty="0"/>
              <a:t>The execution of an instruction may require reading data from memory or an I/O module</a:t>
            </a:r>
          </a:p>
          <a:p>
            <a:pPr marL="347663" indent="-347663">
              <a:spcBef>
                <a:spcPts val="300"/>
              </a:spcBef>
              <a:buClr>
                <a:schemeClr val="tx2"/>
              </a:buClr>
              <a:buFont typeface="Arial" panose="020B0604020202020204" pitchFamily="34" charset="0"/>
              <a:buChar char="•"/>
            </a:pPr>
            <a:r>
              <a:rPr lang="en-US" sz="1800" dirty="0"/>
              <a:t>Process data</a:t>
            </a:r>
          </a:p>
          <a:p>
            <a:pPr marL="706438" lvl="1" indent="-347663">
              <a:spcBef>
                <a:spcPts val="300"/>
              </a:spcBef>
              <a:buClr>
                <a:schemeClr val="tx2"/>
              </a:buClr>
              <a:buFont typeface="Arial" panose="020B0604020202020204" pitchFamily="34" charset="0"/>
              <a:buChar char="–"/>
            </a:pPr>
            <a:r>
              <a:rPr lang="en-US" sz="1600" dirty="0"/>
              <a:t>The execution of an instruction may require performing some arithmetic or logical operation on data</a:t>
            </a:r>
          </a:p>
          <a:p>
            <a:pPr marL="347663" indent="-347663">
              <a:spcBef>
                <a:spcPts val="300"/>
              </a:spcBef>
              <a:buClr>
                <a:schemeClr val="tx2"/>
              </a:buClr>
              <a:buFont typeface="Arial" panose="020B0604020202020204" pitchFamily="34" charset="0"/>
              <a:buChar char="•"/>
            </a:pPr>
            <a:r>
              <a:rPr lang="en-US" sz="1800" dirty="0"/>
              <a:t>Write data</a:t>
            </a:r>
          </a:p>
          <a:p>
            <a:pPr marL="706438" lvl="1" indent="-347663">
              <a:spcBef>
                <a:spcPts val="300"/>
              </a:spcBef>
              <a:buClr>
                <a:schemeClr val="tx2"/>
              </a:buClr>
              <a:buFont typeface="Arial" panose="020B0604020202020204" pitchFamily="34" charset="0"/>
              <a:buChar char="–"/>
            </a:pPr>
            <a:r>
              <a:rPr lang="en-US" sz="1600" dirty="0"/>
              <a:t>The results of an execution may require writing data to memory or an I/O module</a:t>
            </a:r>
          </a:p>
          <a:p>
            <a:pPr marL="347663" indent="-347663">
              <a:spcBef>
                <a:spcPts val="300"/>
              </a:spcBef>
              <a:buClr>
                <a:schemeClr val="tx2"/>
              </a:buClr>
              <a:buFont typeface="Arial" panose="020B0604020202020204" pitchFamily="34" charset="0"/>
              <a:buChar char="•"/>
            </a:pPr>
            <a:r>
              <a:rPr lang="en-US" sz="1800" dirty="0"/>
              <a:t>In order to do these things the processor needs to store some data temporarily and therefore needs a small internal memory</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0168"/>
            <a:ext cx="8229600" cy="1097279"/>
          </a:xfrm>
          <a:noFill/>
          <a:ln/>
        </p:spPr>
        <p:txBody>
          <a:bodyPr lIns="90488" tIns="44450" rIns="90488" bIns="44450"/>
          <a:lstStyle/>
          <a:p>
            <a:r>
              <a:rPr lang="en-US" dirty="0"/>
              <a:t>Figure 16.1 </a:t>
            </a:r>
            <a:br>
              <a:rPr lang="en-US" dirty="0"/>
            </a:br>
            <a:r>
              <a:rPr lang="en-US" dirty="0"/>
              <a:t>Internal Structure of the CPU</a:t>
            </a:r>
          </a:p>
        </p:txBody>
      </p:sp>
      <p:pic>
        <p:nvPicPr>
          <p:cNvPr id="4" name="Picture 3" descr="The arithmetic and the logic unit of the c p u contains the status flags, shifter, complementor and the arithmetic and Boolean logic. They are connected to the registers and the control unit through the internal c p u bus and the control paths." title="A diagram explains the internal structure of the c p u."/>
          <p:cNvPicPr>
            <a:picLocks noChangeAspect="1"/>
          </p:cNvPicPr>
          <p:nvPr/>
        </p:nvPicPr>
        <p:blipFill rotWithShape="1">
          <a:blip r:embed="rId3">
            <a:extLst>
              <a:ext uri="{28A0092B-C50C-407E-A947-70E740481C1C}">
                <a14:useLocalDpi xmlns:a14="http://schemas.microsoft.com/office/drawing/2010/main" val="0"/>
              </a:ext>
            </a:extLst>
          </a:blip>
          <a:srcRect l="12762" t="8000" r="12594" b="13251"/>
          <a:stretch/>
        </p:blipFill>
        <p:spPr>
          <a:xfrm>
            <a:off x="1420395" y="1256596"/>
            <a:ext cx="6303211" cy="5138485"/>
          </a:xfrm>
          <a:prstGeom prst="rect">
            <a:avLst/>
          </a:prstGeom>
        </p:spPr>
      </p:pic>
    </p:spTree>
  </p:cSld>
  <p:clrMapOvr>
    <a:masterClrMapping/>
  </p:clrMapOvr>
  <p:transition spd="med">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4"/>
          <p:cNvSpPr>
            <a:spLocks noGrp="1" noChangeArrowheads="1"/>
          </p:cNvSpPr>
          <p:nvPr>
            <p:ph type="title"/>
          </p:nvPr>
        </p:nvSpPr>
        <p:spPr>
          <a:xfrm>
            <a:off x="457200" y="171481"/>
            <a:ext cx="8229600" cy="1097279"/>
          </a:xfrm>
          <a:noFill/>
          <a:ln/>
        </p:spPr>
        <p:txBody>
          <a:bodyPr lIns="90488" tIns="44450" rIns="90488" bIns="44450"/>
          <a:lstStyle/>
          <a:p>
            <a:r>
              <a:rPr lang="en-US" dirty="0"/>
              <a:t>Register Organization</a:t>
            </a:r>
          </a:p>
        </p:txBody>
      </p:sp>
      <p:sp>
        <p:nvSpPr>
          <p:cNvPr id="49157" name="Rectangle 5"/>
          <p:cNvSpPr>
            <a:spLocks noGrp="1" noChangeArrowheads="1"/>
          </p:cNvSpPr>
          <p:nvPr>
            <p:ph sz="half" idx="4294967295"/>
          </p:nvPr>
        </p:nvSpPr>
        <p:spPr>
          <a:xfrm>
            <a:off x="482352" y="3893021"/>
            <a:ext cx="3657600" cy="2124075"/>
          </a:xfrm>
          <a:noFill/>
          <a:ln/>
        </p:spPr>
        <p:txBody>
          <a:bodyPr lIns="90488" tIns="44450" rIns="90488" bIns="44450"/>
          <a:lstStyle/>
          <a:p>
            <a:pPr marL="312738" indent="-312738">
              <a:buClr>
                <a:schemeClr val="tx2"/>
              </a:buClr>
              <a:buFont typeface="Arial" panose="020B0604020202020204" pitchFamily="34" charset="0"/>
              <a:buChar char="•"/>
            </a:pPr>
            <a:r>
              <a:rPr lang="en-US" sz="1800" dirty="0"/>
              <a:t>Enable the machine or assembly language programmer to minimize main memory references by optimizing use of registers</a:t>
            </a:r>
          </a:p>
        </p:txBody>
      </p:sp>
      <p:sp>
        <p:nvSpPr>
          <p:cNvPr id="8" name="Content Placeholder 7"/>
          <p:cNvSpPr>
            <a:spLocks noGrp="1"/>
          </p:cNvSpPr>
          <p:nvPr>
            <p:ph sz="quarter" idx="4294967295"/>
          </p:nvPr>
        </p:nvSpPr>
        <p:spPr>
          <a:xfrm>
            <a:off x="5004048" y="3893021"/>
            <a:ext cx="3657600" cy="2200275"/>
          </a:xfrm>
        </p:spPr>
        <p:txBody>
          <a:bodyPr/>
          <a:lstStyle/>
          <a:p>
            <a:pPr marL="285750" indent="-285750">
              <a:buClr>
                <a:schemeClr val="tx2"/>
              </a:buClr>
              <a:buFont typeface="Arial" panose="020B0604020202020204" pitchFamily="34" charset="0"/>
              <a:buChar char="•"/>
            </a:pPr>
            <a:r>
              <a:rPr lang="en-US" sz="1800" dirty="0"/>
              <a:t>Used by the control unit to control the operation of the processor and by privileged operating system programs to control the execution of programs</a:t>
            </a:r>
          </a:p>
        </p:txBody>
      </p:sp>
      <p:sp>
        <p:nvSpPr>
          <p:cNvPr id="7" name="Text Placeholder 6"/>
          <p:cNvSpPr>
            <a:spLocks noGrp="1"/>
          </p:cNvSpPr>
          <p:nvPr>
            <p:ph type="body" sz="quarter" idx="4294967295"/>
          </p:nvPr>
        </p:nvSpPr>
        <p:spPr>
          <a:xfrm>
            <a:off x="4932040" y="3435821"/>
            <a:ext cx="3480081" cy="322263"/>
          </a:xfrm>
        </p:spPr>
        <p:txBody>
          <a:bodyPr/>
          <a:lstStyle/>
          <a:p>
            <a:pPr algn="ctr"/>
            <a:r>
              <a:rPr lang="en-US" sz="1600" b="1" dirty="0"/>
              <a:t>Control and Status Registers</a:t>
            </a:r>
          </a:p>
        </p:txBody>
      </p:sp>
      <p:sp>
        <p:nvSpPr>
          <p:cNvPr id="9" name="TextBox 8"/>
          <p:cNvSpPr txBox="1"/>
          <p:nvPr/>
        </p:nvSpPr>
        <p:spPr>
          <a:xfrm>
            <a:off x="467544" y="1677112"/>
            <a:ext cx="8219256" cy="1703030"/>
          </a:xfrm>
          <a:prstGeom prst="rect">
            <a:avLst/>
          </a:prstGeom>
          <a:noFill/>
        </p:spPr>
        <p:txBody>
          <a:bodyPr wrap="square" rtlCol="0">
            <a:spAutoFit/>
          </a:bodyPr>
          <a:lstStyle/>
          <a:p>
            <a:pPr marL="334963" indent="-334963" eaLnBrk="1" hangingPunct="1">
              <a:spcBef>
                <a:spcPts val="2000"/>
              </a:spcBef>
              <a:buClr>
                <a:schemeClr val="tx2"/>
              </a:buClr>
              <a:buSzPct val="75000"/>
              <a:buFont typeface="Arial" panose="020B0604020202020204" pitchFamily="34" charset="0"/>
              <a:buChar char="•"/>
            </a:pPr>
            <a:r>
              <a:rPr lang="en-US" sz="2200" dirty="0">
                <a:latin typeface="+mn-lt"/>
              </a:rPr>
              <a:t>Within the processor there is a set of registers that function as a level of memory above main memory and cache in the hierarchy</a:t>
            </a:r>
          </a:p>
          <a:p>
            <a:pPr marL="334963" indent="-334963" eaLnBrk="1" hangingPunct="1">
              <a:spcBef>
                <a:spcPts val="2000"/>
              </a:spcBef>
              <a:buClr>
                <a:schemeClr val="tx2"/>
              </a:buClr>
              <a:buSzPct val="75000"/>
              <a:buFont typeface="Arial" panose="020B0604020202020204" pitchFamily="34" charset="0"/>
              <a:buChar char="•"/>
            </a:pPr>
            <a:r>
              <a:rPr lang="en-US" sz="2200" dirty="0">
                <a:latin typeface="+mn-lt"/>
              </a:rPr>
              <a:t>The registers in the processor perform two roles:</a:t>
            </a:r>
          </a:p>
        </p:txBody>
      </p:sp>
      <p:sp>
        <p:nvSpPr>
          <p:cNvPr id="12" name="Text Placeholder 6"/>
          <p:cNvSpPr>
            <a:spLocks noGrp="1"/>
          </p:cNvSpPr>
          <p:nvPr>
            <p:ph type="body" sz="quarter" idx="4294967295"/>
          </p:nvPr>
        </p:nvSpPr>
        <p:spPr>
          <a:xfrm>
            <a:off x="539552" y="3435821"/>
            <a:ext cx="3480081" cy="322263"/>
          </a:xfrm>
        </p:spPr>
        <p:txBody>
          <a:bodyPr/>
          <a:lstStyle/>
          <a:p>
            <a:pPr algn="ctr"/>
            <a:r>
              <a:rPr lang="en-US" sz="1600" b="1" dirty="0"/>
              <a:t>User-Visible Registers</a:t>
            </a: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4"/>
          <p:cNvSpPr>
            <a:spLocks noGrp="1" noChangeArrowheads="1"/>
          </p:cNvSpPr>
          <p:nvPr>
            <p:ph type="title"/>
          </p:nvPr>
        </p:nvSpPr>
        <p:spPr>
          <a:xfrm>
            <a:off x="457200" y="188640"/>
            <a:ext cx="8229600" cy="1097279"/>
          </a:xfrm>
          <a:noFill/>
          <a:ln/>
        </p:spPr>
        <p:txBody>
          <a:bodyPr lIns="90488" tIns="44450" rIns="90488" bIns="44450"/>
          <a:lstStyle/>
          <a:p>
            <a:r>
              <a:rPr lang="en-US" dirty="0"/>
              <a:t>User-Visible Registers</a:t>
            </a:r>
          </a:p>
        </p:txBody>
      </p:sp>
      <p:graphicFrame>
        <p:nvGraphicFramePr>
          <p:cNvPr id="9" name="Content Placeholder 16"/>
          <p:cNvGraphicFramePr>
            <a:graphicFrameLocks/>
          </p:cNvGraphicFramePr>
          <p:nvPr>
            <p:extLst>
              <p:ext uri="{D42A27DB-BD31-4B8C-83A1-F6EECF244321}">
                <p14:modId xmlns:p14="http://schemas.microsoft.com/office/powerpoint/2010/main" val="2215747273"/>
              </p:ext>
            </p:extLst>
          </p:nvPr>
        </p:nvGraphicFramePr>
        <p:xfrm>
          <a:off x="53752" y="1"/>
          <a:ext cx="9036496" cy="62842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2" name="Rectangle 4"/>
          <p:cNvSpPr>
            <a:spLocks noGrp="1" noChangeArrowheads="1"/>
          </p:cNvSpPr>
          <p:nvPr>
            <p:ph type="title"/>
          </p:nvPr>
        </p:nvSpPr>
        <p:spPr>
          <a:xfrm>
            <a:off x="457200" y="587436"/>
            <a:ext cx="8229600" cy="681324"/>
          </a:xfrm>
          <a:noFill/>
          <a:ln/>
        </p:spPr>
        <p:txBody>
          <a:bodyPr lIns="90488" tIns="44450" rIns="90488" bIns="44450"/>
          <a:lstStyle/>
          <a:p>
            <a:r>
              <a:rPr lang="en-US" dirty="0"/>
              <a:t>Control and Status Registers</a:t>
            </a:r>
          </a:p>
        </p:txBody>
      </p:sp>
      <p:sp>
        <p:nvSpPr>
          <p:cNvPr id="7" name="Text Placeholder 6"/>
          <p:cNvSpPr>
            <a:spLocks noGrp="1"/>
          </p:cNvSpPr>
          <p:nvPr>
            <p:ph type="body" idx="1"/>
          </p:nvPr>
        </p:nvSpPr>
        <p:spPr>
          <a:xfrm>
            <a:off x="332518" y="1611775"/>
            <a:ext cx="8478965" cy="4525963"/>
          </a:xfrm>
        </p:spPr>
        <p:txBody>
          <a:bodyPr/>
          <a:lstStyle/>
          <a:p>
            <a:pPr marL="101600" indent="0">
              <a:buNone/>
            </a:pPr>
            <a:r>
              <a:rPr lang="en-US" sz="2600" dirty="0"/>
              <a:t>Four registers are essential to instruction execution:</a:t>
            </a:r>
          </a:p>
        </p:txBody>
      </p:sp>
      <p:sp>
        <p:nvSpPr>
          <p:cNvPr id="6" name="Content Placeholder 5"/>
          <p:cNvSpPr>
            <a:spLocks noGrp="1"/>
          </p:cNvSpPr>
          <p:nvPr>
            <p:ph idx="4294967295"/>
          </p:nvPr>
        </p:nvSpPr>
        <p:spPr>
          <a:xfrm>
            <a:off x="471883" y="2092349"/>
            <a:ext cx="8339599" cy="4144963"/>
          </a:xfrm>
        </p:spPr>
        <p:txBody>
          <a:bodyPr/>
          <a:lstStyle/>
          <a:p>
            <a:pPr marL="334963" indent="-334963">
              <a:buClr>
                <a:schemeClr val="tx2"/>
              </a:buClr>
              <a:buFont typeface="Arial" panose="020B0604020202020204" pitchFamily="34" charset="0"/>
              <a:buChar char="•"/>
            </a:pPr>
            <a:r>
              <a:rPr lang="en-US" sz="2400" dirty="0"/>
              <a:t>Program counter (PC)</a:t>
            </a:r>
          </a:p>
          <a:p>
            <a:pPr marL="693738" lvl="1" indent="-358775">
              <a:buClr>
                <a:schemeClr val="tx2"/>
              </a:buClr>
              <a:buFont typeface="Arial" panose="020B0604020202020204" pitchFamily="34" charset="0"/>
              <a:buChar char="–"/>
            </a:pPr>
            <a:r>
              <a:rPr lang="en-US" sz="2000" dirty="0"/>
              <a:t>Contains the address of an instruction to be fetched</a:t>
            </a:r>
          </a:p>
          <a:p>
            <a:pPr marL="334963" indent="-334963">
              <a:buClr>
                <a:schemeClr val="tx2"/>
              </a:buClr>
              <a:buFont typeface="Arial" panose="020B0604020202020204" pitchFamily="34" charset="0"/>
              <a:buChar char="•"/>
            </a:pPr>
            <a:r>
              <a:rPr lang="en-US" sz="2400" dirty="0"/>
              <a:t>Instruction register (IR)</a:t>
            </a:r>
          </a:p>
          <a:p>
            <a:pPr marL="693738" lvl="1" indent="-358775">
              <a:buClr>
                <a:schemeClr val="tx2"/>
              </a:buClr>
              <a:buFont typeface="Arial" panose="020B0604020202020204" pitchFamily="34" charset="0"/>
              <a:buChar char="–"/>
            </a:pPr>
            <a:r>
              <a:rPr lang="en-US" sz="2000" dirty="0"/>
              <a:t>Contains the instruction most recently fetched</a:t>
            </a:r>
          </a:p>
          <a:p>
            <a:pPr marL="334963" indent="-334963">
              <a:buClr>
                <a:schemeClr val="tx2"/>
              </a:buClr>
              <a:buFont typeface="Arial" panose="020B0604020202020204" pitchFamily="34" charset="0"/>
              <a:buChar char="•"/>
            </a:pPr>
            <a:r>
              <a:rPr lang="en-US" sz="2400" dirty="0"/>
              <a:t>Memory address register (MAR)</a:t>
            </a:r>
          </a:p>
          <a:p>
            <a:pPr marL="693738" lvl="1" indent="-358775">
              <a:buClr>
                <a:schemeClr val="tx2"/>
              </a:buClr>
              <a:buFont typeface="Arial" panose="020B0604020202020204" pitchFamily="34" charset="0"/>
              <a:buChar char="–"/>
            </a:pPr>
            <a:r>
              <a:rPr lang="en-US" sz="2000" dirty="0"/>
              <a:t>Contains the address of a location in memory</a:t>
            </a:r>
          </a:p>
          <a:p>
            <a:pPr marL="334963" indent="-334963">
              <a:buClr>
                <a:schemeClr val="tx2"/>
              </a:buClr>
              <a:buFont typeface="Arial" panose="020B0604020202020204" pitchFamily="34" charset="0"/>
              <a:buChar char="•"/>
            </a:pPr>
            <a:r>
              <a:rPr lang="en-US" sz="2400" dirty="0"/>
              <a:t>Memory buffer register (MBR)</a:t>
            </a:r>
          </a:p>
          <a:p>
            <a:pPr marL="693738" lvl="1" indent="-358775">
              <a:buClr>
                <a:schemeClr val="tx2"/>
              </a:buClr>
              <a:buFont typeface="Arial" panose="020B0604020202020204" pitchFamily="34" charset="0"/>
              <a:buChar char="–"/>
            </a:pPr>
            <a:r>
              <a:rPr lang="en-US" sz="2000" dirty="0"/>
              <a:t>Contains a word of data to be written to memory or the word most recently read</a:t>
            </a: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2" name="Rectangle 6"/>
          <p:cNvSpPr>
            <a:spLocks noGrp="1" noChangeArrowheads="1"/>
          </p:cNvSpPr>
          <p:nvPr>
            <p:ph type="title"/>
          </p:nvPr>
        </p:nvSpPr>
        <p:spPr/>
        <p:txBody>
          <a:bodyPr/>
          <a:lstStyle/>
          <a:p>
            <a:r>
              <a:rPr lang="en-US" dirty="0"/>
              <a:t>Program Status Word (PSW)</a:t>
            </a:r>
          </a:p>
        </p:txBody>
      </p:sp>
      <p:graphicFrame>
        <p:nvGraphicFramePr>
          <p:cNvPr id="10" name="Content Placeholder 7"/>
          <p:cNvGraphicFramePr>
            <a:graphicFrameLocks/>
          </p:cNvGraphicFramePr>
          <p:nvPr>
            <p:extLst>
              <p:ext uri="{D42A27DB-BD31-4B8C-83A1-F6EECF244321}">
                <p14:modId xmlns:p14="http://schemas.microsoft.com/office/powerpoint/2010/main" val="2511479751"/>
              </p:ext>
            </p:extLst>
          </p:nvPr>
        </p:nvGraphicFramePr>
        <p:xfrm>
          <a:off x="369825" y="1340768"/>
          <a:ext cx="8404350" cy="49685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89953"/>
            <a:ext cx="8229600" cy="1582863"/>
          </a:xfrm>
          <a:noFill/>
          <a:ln/>
        </p:spPr>
        <p:txBody>
          <a:bodyPr lIns="90488" tIns="44450" rIns="90488" bIns="44450"/>
          <a:lstStyle/>
          <a:p>
            <a:r>
              <a:rPr lang="en-US" dirty="0"/>
              <a:t>Figure 16.2 </a:t>
            </a:r>
            <a:br>
              <a:rPr lang="en-US" dirty="0"/>
            </a:br>
            <a:r>
              <a:rPr lang="en-US" dirty="0"/>
              <a:t>Example Microprocessor Register Organizations</a:t>
            </a:r>
          </a:p>
        </p:txBody>
      </p:sp>
      <p:pic>
        <p:nvPicPr>
          <p:cNvPr id="4" name="Picture 3" descr="Diagram A, M C 68000, contains data registers and address registers. Data registers are made of 8 rows ranging from D 0 to D 7. Similarly address registers are made of 9 rows ranging from A 0 to A 7 and a final unnamed row. The program counter and the status register, together mark the program status. Diagram B, 8086, contains general registers, pointers and index, segment and program status. The general registers are made of accumulator, A X, , Base, B X, , Count, C X, and Data, D X. The pointers are made of stack p t r, S P, , base p t r, B P, , source index, S I, , d e s t index, D I. The segment contains the code, C S, , Data, D S, , stack, S S, and the extract, E S. The program status comprises of flags and I n s t e, p t r. Diagram C contains two sets of general registers and program status. The general registers are made of two columns and the address to the left. All the rows in column 1 are vacant. The address and the data in column 2 are as follows. Set 1. E A X, A X. E B X, B X. E C X, C X. E D X, D X. Set 2. E S P, S P. E B P, B P. E S I, S I. E D I, D I. The program status is made of FLAGS register and instruction pointer." title="Diagrammatic representations of the microprocessor register organizations MC 68000, 8086 and 80386 Pentium 4."/>
          <p:cNvPicPr>
            <a:picLocks noChangeAspect="1"/>
          </p:cNvPicPr>
          <p:nvPr/>
        </p:nvPicPr>
        <p:blipFill rotWithShape="1">
          <a:blip r:embed="rId3">
            <a:extLst>
              <a:ext uri="{28A0092B-C50C-407E-A947-70E740481C1C}">
                <a14:useLocalDpi xmlns:a14="http://schemas.microsoft.com/office/drawing/2010/main" val="0"/>
              </a:ext>
            </a:extLst>
          </a:blip>
          <a:srcRect l="6079" t="5773" r="6294" b="15986"/>
          <a:stretch/>
        </p:blipFill>
        <p:spPr>
          <a:xfrm>
            <a:off x="1280339" y="1916832"/>
            <a:ext cx="6583322" cy="4542309"/>
          </a:xfrm>
          <a:prstGeom prst="rect">
            <a:avLst/>
          </a:prstGeom>
        </p:spPr>
      </p:pic>
    </p:spTree>
  </p:cSld>
  <p:clrMapOvr>
    <a:masterClrMapping/>
  </p:clrMapOvr>
  <p:transition spd="med">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19"/>
          <p:cNvGraphicFramePr>
            <a:graphicFrameLocks/>
          </p:cNvGraphicFramePr>
          <p:nvPr>
            <p:extLst>
              <p:ext uri="{D42A27DB-BD31-4B8C-83A1-F6EECF244321}">
                <p14:modId xmlns:p14="http://schemas.microsoft.com/office/powerpoint/2010/main" val="854788750"/>
              </p:ext>
            </p:extLst>
          </p:nvPr>
        </p:nvGraphicFramePr>
        <p:xfrm>
          <a:off x="-30052" y="240323"/>
          <a:ext cx="9036496" cy="61206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id="{F6654235-2B7C-4074-86BA-F382E495A860}"/>
              </a:ext>
            </a:extLst>
          </p:cNvPr>
          <p:cNvSpPr>
            <a:spLocks noGrp="1"/>
          </p:cNvSpPr>
          <p:nvPr>
            <p:ph type="title"/>
          </p:nvPr>
        </p:nvSpPr>
        <p:spPr/>
        <p:txBody>
          <a:bodyPr/>
          <a:lstStyle/>
          <a:p>
            <a:r>
              <a:rPr lang="en-US" dirty="0"/>
              <a:t>Instruction </a:t>
            </a:r>
            <a:br>
              <a:rPr lang="en-US" dirty="0"/>
            </a:br>
            <a:r>
              <a:rPr lang="en-US" dirty="0"/>
              <a:t>Cycle</a:t>
            </a: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0168"/>
            <a:ext cx="8229600" cy="1097279"/>
          </a:xfrm>
          <a:noFill/>
          <a:ln/>
        </p:spPr>
        <p:txBody>
          <a:bodyPr lIns="90488" tIns="44450" rIns="90488" bIns="44450"/>
          <a:lstStyle/>
          <a:p>
            <a:r>
              <a:rPr lang="en-US" dirty="0"/>
              <a:t>Figure 16.3 </a:t>
            </a:r>
            <a:br>
              <a:rPr lang="en-US" dirty="0"/>
            </a:br>
            <a:r>
              <a:rPr lang="en-US" dirty="0"/>
              <a:t>The Instruction Cycle</a:t>
            </a:r>
          </a:p>
        </p:txBody>
      </p:sp>
      <p:pic>
        <p:nvPicPr>
          <p:cNvPr id="4" name="Picture 3" descr="Long Description. [DO NOT DELETE THIS LINE]&#10;Fetch leads to indirect, indirect leads to execute, execute leads to interrupt and interrupt again leads to fetch. Meanwhile, after fetching the data can also be directly executed and after execution, the data can also be sent for fetching once again.&#10;" title="A diagrammatic representation of the instruction cycle."/>
          <p:cNvPicPr>
            <a:picLocks noChangeAspect="1"/>
          </p:cNvPicPr>
          <p:nvPr/>
        </p:nvPicPr>
        <p:blipFill rotWithShape="1">
          <a:blip r:embed="rId3">
            <a:extLst>
              <a:ext uri="{28A0092B-C50C-407E-A947-70E740481C1C}">
                <a14:useLocalDpi xmlns:a14="http://schemas.microsoft.com/office/drawing/2010/main" val="0"/>
              </a:ext>
            </a:extLst>
          </a:blip>
          <a:srcRect l="8547" t="23777" r="12820" b="33293"/>
          <a:stretch/>
        </p:blipFill>
        <p:spPr>
          <a:xfrm>
            <a:off x="1090668" y="1293400"/>
            <a:ext cx="6962664" cy="4919273"/>
          </a:xfrm>
          <a:prstGeom prst="rect">
            <a:avLst/>
          </a:prstGeom>
        </p:spPr>
      </p:pic>
    </p:spTree>
  </p:cSld>
  <p:clrMapOvr>
    <a:masterClrMapping/>
  </p:clrMapOvr>
  <p:transition spd="med">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0168"/>
            <a:ext cx="8229600" cy="1097279"/>
          </a:xfrm>
          <a:noFill/>
          <a:ln/>
        </p:spPr>
        <p:txBody>
          <a:bodyPr lIns="90488" tIns="44450" rIns="90488" bIns="44450"/>
          <a:lstStyle/>
          <a:p>
            <a:r>
              <a:rPr lang="en-US" dirty="0"/>
              <a:t>Figure 16.4 </a:t>
            </a:r>
            <a:br>
              <a:rPr lang="en-US" dirty="0"/>
            </a:br>
            <a:r>
              <a:rPr lang="en-US" dirty="0"/>
              <a:t>Instruction Cycle State Diagram</a:t>
            </a:r>
          </a:p>
        </p:txBody>
      </p:sp>
      <p:pic>
        <p:nvPicPr>
          <p:cNvPr id="4" name="Picture 3" descr="Instruction fetch leads to instruction operation decoding. Instruction operation decoding leads to Operand address calculation. Operand address calculation leads to operation fetch. In case of multiple operands, operation fetch leads back to operand address calculation. Operand fetch leads to data operation. Data operation leads to Operand address calculation. Operand address calculation leads to Operand store. In case of multiple results, operand address store leads back to operand address calculation. Operand store also leads back to operand address calculation in case of return for string or vector data and instruction address calculation in case of instruction complete, fetch next instruction." title="A diagrammatic representation explains the instruction cycle in brief."/>
          <p:cNvPicPr>
            <a:picLocks noChangeAspect="1"/>
          </p:cNvPicPr>
          <p:nvPr/>
        </p:nvPicPr>
        <p:blipFill rotWithShape="1">
          <a:blip r:embed="rId3">
            <a:extLst>
              <a:ext uri="{28A0092B-C50C-407E-A947-70E740481C1C}">
                <a14:useLocalDpi xmlns:a14="http://schemas.microsoft.com/office/drawing/2010/main" val="0"/>
              </a:ext>
            </a:extLst>
          </a:blip>
          <a:srcRect l="4854" t="21698" r="10680" b="18284"/>
          <a:stretch/>
        </p:blipFill>
        <p:spPr>
          <a:xfrm>
            <a:off x="1763688" y="1249130"/>
            <a:ext cx="5616624" cy="5164712"/>
          </a:xfrm>
          <a:prstGeom prst="rect">
            <a:avLst/>
          </a:prstGeom>
        </p:spPr>
      </p:pic>
    </p:spTree>
  </p:cSld>
  <p:clrMapOvr>
    <a:masterClrMapping/>
  </p:clrMapOvr>
  <p:transition spd="med">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0168"/>
            <a:ext cx="8229600" cy="1097279"/>
          </a:xfrm>
          <a:noFill/>
          <a:ln/>
        </p:spPr>
        <p:txBody>
          <a:bodyPr lIns="90488" tIns="44450" rIns="90488" bIns="44450"/>
          <a:lstStyle/>
          <a:p>
            <a:r>
              <a:rPr lang="en-US" dirty="0"/>
              <a:t>Figure 16.5 </a:t>
            </a:r>
            <a:br>
              <a:rPr lang="en-US" dirty="0"/>
            </a:br>
            <a:r>
              <a:rPr lang="en-US" dirty="0"/>
              <a:t>Data Flow, Fetch Cycle</a:t>
            </a:r>
          </a:p>
        </p:txBody>
      </p:sp>
      <p:pic>
        <p:nvPicPr>
          <p:cNvPr id="4" name="Picture 3" descr="The C P U contains the program counter, memory address register, control unit, instruction register and the memory buffer register. The data from the program counter flows to the memory address register and then moves to the address bus which further forwards it to the memory through the control bus. The input from the memory are sent to the data bus. The data bus carries information to the memory buffer register and from there the data is forwarded to the instruction register. Meanwhile the control unit sends data to the program counter and the control bus." title="A diagrammatic representation of data flow with reference to the fetch cycle."/>
          <p:cNvPicPr>
            <a:picLocks noChangeAspect="1"/>
          </p:cNvPicPr>
          <p:nvPr/>
        </p:nvPicPr>
        <p:blipFill rotWithShape="1">
          <a:blip r:embed="rId3">
            <a:extLst>
              <a:ext uri="{28A0092B-C50C-407E-A947-70E740481C1C}">
                <a14:useLocalDpi xmlns:a14="http://schemas.microsoft.com/office/drawing/2010/main" val="0"/>
              </a:ext>
            </a:extLst>
          </a:blip>
          <a:srcRect l="8043" t="24137" r="6151" b="24755"/>
          <a:stretch/>
        </p:blipFill>
        <p:spPr>
          <a:xfrm>
            <a:off x="1250483" y="1290319"/>
            <a:ext cx="6643034" cy="5120672"/>
          </a:xfrm>
          <a:prstGeom prst="rect">
            <a:avLst/>
          </a:prstGeom>
        </p:spPr>
      </p:pic>
    </p:spTree>
  </p:cSld>
  <p:clrMapOvr>
    <a:masterClrMapping/>
  </p:clrMapOvr>
  <p:transition spd="med">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0168"/>
            <a:ext cx="8229600" cy="1097279"/>
          </a:xfrm>
          <a:noFill/>
          <a:ln/>
        </p:spPr>
        <p:txBody>
          <a:bodyPr lIns="90488" tIns="44450" rIns="90488" bIns="44450"/>
          <a:lstStyle/>
          <a:p>
            <a:r>
              <a:rPr lang="en-US" dirty="0"/>
              <a:t>Figure 16.6 </a:t>
            </a:r>
            <a:br>
              <a:rPr lang="en-US" dirty="0"/>
            </a:br>
            <a:r>
              <a:rPr lang="en-US" dirty="0"/>
              <a:t>Data Flow, Indirect Cycle</a:t>
            </a:r>
          </a:p>
        </p:txBody>
      </p:sp>
      <p:pic>
        <p:nvPicPr>
          <p:cNvPr id="4" name="Picture 3" descr="The bits of the memory buffer register are transferred to the memory address register. The memory address register sends data to the address bus. The address bus sends data to the memory. The control unit sends data to the control bus. the control bus sends data to the memory. The memory sends data to the data bus. The data bus sends data to the memory buffer register which in turn transfers the bits to the memory address register." title="A diagrammatic representation of data flow with reference to the indirect cycle."/>
          <p:cNvPicPr>
            <a:picLocks noChangeAspect="1"/>
          </p:cNvPicPr>
          <p:nvPr/>
        </p:nvPicPr>
        <p:blipFill rotWithShape="1">
          <a:blip r:embed="rId3">
            <a:extLst>
              <a:ext uri="{28A0092B-C50C-407E-A947-70E740481C1C}">
                <a14:useLocalDpi xmlns:a14="http://schemas.microsoft.com/office/drawing/2010/main" val="0"/>
              </a:ext>
            </a:extLst>
          </a:blip>
          <a:srcRect l="8444" t="24911" r="5450" b="34048"/>
          <a:stretch/>
        </p:blipFill>
        <p:spPr>
          <a:xfrm>
            <a:off x="719572" y="1484784"/>
            <a:ext cx="7704856" cy="4752528"/>
          </a:xfrm>
          <a:prstGeom prst="rect">
            <a:avLst/>
          </a:prstGeom>
        </p:spPr>
      </p:pic>
    </p:spTree>
  </p:cSld>
  <p:clrMapOvr>
    <a:masterClrMapping/>
  </p:clrMapOvr>
  <p:transition spd="med">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0168"/>
            <a:ext cx="8229600" cy="1097279"/>
          </a:xfrm>
          <a:noFill/>
          <a:ln/>
        </p:spPr>
        <p:txBody>
          <a:bodyPr lIns="90488" tIns="44450" rIns="90488" bIns="44450"/>
          <a:lstStyle/>
          <a:p>
            <a:r>
              <a:rPr lang="en-US" dirty="0"/>
              <a:t>Figure 16.7</a:t>
            </a:r>
            <a:br>
              <a:rPr lang="en-US" dirty="0"/>
            </a:br>
            <a:r>
              <a:rPr lang="en-US" dirty="0"/>
              <a:t>Data Flow, Interrupt Cycle</a:t>
            </a:r>
          </a:p>
        </p:txBody>
      </p:sp>
      <p:pic>
        <p:nvPicPr>
          <p:cNvPr id="4" name="Picture 3" descr="The data from the program counter is transferred to the memory buffer register. The memory buffer register sends data to the data bus. The data bus sends data to the memory. The memory address register sends data to the address bus. The address bus sends data to the memory. The control unit sends data to the program counter, memory address register and the control bus. The control bus forwards the data to the memory." title="A diagrammatic representation of data flow with reference to the interrupt cycle."/>
          <p:cNvPicPr>
            <a:picLocks noChangeAspect="1"/>
          </p:cNvPicPr>
          <p:nvPr/>
        </p:nvPicPr>
        <p:blipFill rotWithShape="1">
          <a:blip r:embed="rId3">
            <a:extLst>
              <a:ext uri="{28A0092B-C50C-407E-A947-70E740481C1C}">
                <a14:useLocalDpi xmlns:a14="http://schemas.microsoft.com/office/drawing/2010/main" val="0"/>
              </a:ext>
            </a:extLst>
          </a:blip>
          <a:srcRect l="7977" t="24693" r="6137" b="33449"/>
          <a:stretch/>
        </p:blipFill>
        <p:spPr>
          <a:xfrm>
            <a:off x="1007248" y="1484784"/>
            <a:ext cx="7129505" cy="4496776"/>
          </a:xfrm>
          <a:prstGeom prst="rect">
            <a:avLst/>
          </a:prstGeom>
        </p:spPr>
      </p:pic>
    </p:spTree>
  </p:cSld>
  <p:clrMapOvr>
    <a:masterClrMapping/>
  </p:clrMapOvr>
  <p:transition spd="med">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6" name="Rectangle 4"/>
          <p:cNvSpPr>
            <a:spLocks noGrp="1" noChangeArrowheads="1"/>
          </p:cNvSpPr>
          <p:nvPr>
            <p:ph type="title"/>
          </p:nvPr>
        </p:nvSpPr>
        <p:spPr>
          <a:xfrm>
            <a:off x="457200" y="255442"/>
            <a:ext cx="8229600" cy="1013318"/>
          </a:xfrm>
          <a:noFill/>
          <a:ln/>
        </p:spPr>
        <p:txBody>
          <a:bodyPr lIns="90488" tIns="44450" rIns="90488" bIns="44450"/>
          <a:lstStyle/>
          <a:p>
            <a:r>
              <a:rPr lang="en-US" dirty="0"/>
              <a:t>Pipelining Strategy</a:t>
            </a:r>
          </a:p>
        </p:txBody>
      </p:sp>
      <p:graphicFrame>
        <p:nvGraphicFramePr>
          <p:cNvPr id="9" name="Content Placeholder 5"/>
          <p:cNvGraphicFramePr>
            <a:graphicFrameLocks/>
          </p:cNvGraphicFramePr>
          <p:nvPr>
            <p:extLst>
              <p:ext uri="{D42A27DB-BD31-4B8C-83A1-F6EECF244321}">
                <p14:modId xmlns:p14="http://schemas.microsoft.com/office/powerpoint/2010/main" val="3485992109"/>
              </p:ext>
            </p:extLst>
          </p:nvPr>
        </p:nvGraphicFramePr>
        <p:xfrm>
          <a:off x="179512" y="1412776"/>
          <a:ext cx="8784976" cy="4896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0168"/>
            <a:ext cx="8229600" cy="1097279"/>
          </a:xfrm>
          <a:noFill/>
          <a:ln/>
        </p:spPr>
        <p:txBody>
          <a:bodyPr lIns="90488" tIns="44450" rIns="90488" bIns="44450"/>
          <a:lstStyle/>
          <a:p>
            <a:r>
              <a:rPr lang="en-US" dirty="0"/>
              <a:t>Figure 16.8 </a:t>
            </a:r>
            <a:br>
              <a:rPr lang="en-US" dirty="0"/>
            </a:br>
            <a:r>
              <a:rPr lang="en-US" dirty="0"/>
              <a:t>Two-Stage Instruction Pipeline</a:t>
            </a:r>
          </a:p>
        </p:txBody>
      </p:sp>
      <p:pic>
        <p:nvPicPr>
          <p:cNvPr id="5" name="Picture 4" descr="Diagram A, Simplified view. The instructions are sent for fetching. After fetching, the instructions are sent for execution. After execution, the results are generated. Diagram B, Expanded view. The instructions are sent for fetching. After fetching, the instructions will be sent for execution. If the instruction waits while fetching the process will be repeated again. Also, there's a probability of the instruction to be discarded after fetching. While execution, presence of new address reverts the instruction to the fetching process again. If the instruction waits while fetching, the instruction needs to initiate again for execution." title="A diagrammatic representation of the two-stage instruction pipeline has two parts."/>
          <p:cNvPicPr>
            <a:picLocks noChangeAspect="1"/>
          </p:cNvPicPr>
          <p:nvPr/>
        </p:nvPicPr>
        <p:blipFill rotWithShape="1">
          <a:blip r:embed="rId3">
            <a:extLst>
              <a:ext uri="{28A0092B-C50C-407E-A947-70E740481C1C}">
                <a14:useLocalDpi xmlns:a14="http://schemas.microsoft.com/office/drawing/2010/main" val="0"/>
              </a:ext>
            </a:extLst>
          </a:blip>
          <a:srcRect l="4851" t="26892" r="19790" b="35887"/>
          <a:stretch/>
        </p:blipFill>
        <p:spPr>
          <a:xfrm>
            <a:off x="1079612" y="1412776"/>
            <a:ext cx="6984777" cy="4464496"/>
          </a:xfrm>
          <a:prstGeom prst="rect">
            <a:avLst/>
          </a:prstGeom>
        </p:spPr>
      </p:pic>
    </p:spTree>
  </p:cSld>
  <p:clrMapOvr>
    <a:masterClrMapping/>
  </p:clrMapOvr>
  <p:transition spd="med">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architecture displays a clock connected with 3 latches and 3 Logic for stage 1 in the sequence of latch, logic for stage, the 2 and 3 laches are labeled as Intermediate results. " title="An illustration presents a Simplified Pipeline Architecture. "/>
          <p:cNvPicPr>
            <a:picLocks noChangeAspect="1"/>
          </p:cNvPicPr>
          <p:nvPr/>
        </p:nvPicPr>
        <p:blipFill rotWithShape="1">
          <a:blip r:embed="rId3">
            <a:extLst>
              <a:ext uri="{28A0092B-C50C-407E-A947-70E740481C1C}">
                <a14:useLocalDpi xmlns:a14="http://schemas.microsoft.com/office/drawing/2010/main" val="0"/>
              </a:ext>
            </a:extLst>
          </a:blip>
          <a:srcRect l="6742" t="26173" r="4116" b="51252"/>
          <a:stretch/>
        </p:blipFill>
        <p:spPr>
          <a:xfrm>
            <a:off x="287524" y="2060848"/>
            <a:ext cx="8568952" cy="2808312"/>
          </a:xfrm>
          <a:prstGeom prst="rect">
            <a:avLst/>
          </a:prstGeom>
        </p:spPr>
      </p:pic>
      <p:sp>
        <p:nvSpPr>
          <p:cNvPr id="4" name="Rectangle 4"/>
          <p:cNvSpPr>
            <a:spLocks noGrp="1" noChangeArrowheads="1"/>
          </p:cNvSpPr>
          <p:nvPr>
            <p:ph type="title"/>
          </p:nvPr>
        </p:nvSpPr>
        <p:spPr>
          <a:xfrm>
            <a:off x="457200" y="170168"/>
            <a:ext cx="8229600" cy="1097279"/>
          </a:xfrm>
          <a:noFill/>
          <a:ln/>
        </p:spPr>
        <p:txBody>
          <a:bodyPr lIns="90488" tIns="44450" rIns="90488" bIns="44450"/>
          <a:lstStyle/>
          <a:p>
            <a:r>
              <a:rPr lang="en-US" dirty="0"/>
              <a:t>Figure 16.9</a:t>
            </a:r>
            <a:br>
              <a:rPr lang="en-US" dirty="0"/>
            </a:br>
            <a:r>
              <a:rPr lang="en-US" dirty="0"/>
              <a:t>Simplified Pipeline Architecture</a:t>
            </a:r>
          </a:p>
        </p:txBody>
      </p:sp>
    </p:spTree>
    <p:extLst>
      <p:ext uri="{BB962C8B-B14F-4D97-AF65-F5344CB8AC3E}">
        <p14:creationId xmlns:p14="http://schemas.microsoft.com/office/powerpoint/2010/main" val="323453669"/>
      </p:ext>
    </p:extLst>
  </p:cSld>
  <p:clrMapOvr>
    <a:masterClrMapping/>
  </p:clrMapOvr>
  <p:transition spd="med">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Additional Stages</a:t>
            </a:r>
          </a:p>
        </p:txBody>
      </p:sp>
      <p:sp>
        <p:nvSpPr>
          <p:cNvPr id="5" name="Content Placeholder 4"/>
          <p:cNvSpPr>
            <a:spLocks noGrp="1"/>
          </p:cNvSpPr>
          <p:nvPr>
            <p:ph type="body" idx="1"/>
          </p:nvPr>
        </p:nvSpPr>
        <p:spPr>
          <a:xfrm>
            <a:off x="358253" y="1623350"/>
            <a:ext cx="4213747" cy="4525963"/>
          </a:xfrm>
        </p:spPr>
        <p:txBody>
          <a:bodyPr>
            <a:normAutofit/>
          </a:bodyPr>
          <a:lstStyle/>
          <a:p>
            <a:pPr marL="450850" indent="-349250"/>
            <a:r>
              <a:rPr lang="en-US" sz="2200" dirty="0"/>
              <a:t>Fetch instruction (FI)</a:t>
            </a:r>
          </a:p>
          <a:p>
            <a:pPr marL="809625" lvl="1" indent="-346075"/>
            <a:r>
              <a:rPr lang="en-US" dirty="0"/>
              <a:t>Read the next expected instruction into a buffer</a:t>
            </a:r>
          </a:p>
          <a:p>
            <a:pPr marL="450850" indent="-349250"/>
            <a:r>
              <a:rPr lang="en-US" sz="2200" dirty="0"/>
              <a:t>Decode instruction (DI)</a:t>
            </a:r>
          </a:p>
          <a:p>
            <a:pPr marL="809625" lvl="1" indent="-346075"/>
            <a:r>
              <a:rPr lang="en-US" dirty="0"/>
              <a:t>Determine the opcode and the operand specifiers</a:t>
            </a:r>
          </a:p>
          <a:p>
            <a:pPr marL="450850" indent="-349250"/>
            <a:r>
              <a:rPr lang="en-US" sz="2200" dirty="0"/>
              <a:t>Calculate operands (CO)</a:t>
            </a:r>
          </a:p>
          <a:p>
            <a:pPr marL="809625" lvl="1" indent="-346075"/>
            <a:r>
              <a:rPr lang="en-US" dirty="0"/>
              <a:t>Calculate the effective address of each source operand</a:t>
            </a:r>
          </a:p>
          <a:p>
            <a:pPr marL="809625" lvl="1" indent="-346075"/>
            <a:r>
              <a:rPr lang="en-US" dirty="0"/>
              <a:t>This may involve displacement, register indirect, indirect, or other forms of address calculation</a:t>
            </a:r>
          </a:p>
        </p:txBody>
      </p:sp>
      <p:sp>
        <p:nvSpPr>
          <p:cNvPr id="6" name="Content Placeholder 5"/>
          <p:cNvSpPr>
            <a:spLocks noGrp="1"/>
          </p:cNvSpPr>
          <p:nvPr>
            <p:ph sz="half" idx="4294967295"/>
          </p:nvPr>
        </p:nvSpPr>
        <p:spPr>
          <a:xfrm>
            <a:off x="5076056" y="1641201"/>
            <a:ext cx="3456384" cy="3900526"/>
          </a:xfrm>
        </p:spPr>
        <p:txBody>
          <a:bodyPr>
            <a:normAutofit/>
          </a:bodyPr>
          <a:lstStyle/>
          <a:p>
            <a:pPr marL="285750" indent="-285750">
              <a:spcBef>
                <a:spcPts val="1500"/>
              </a:spcBef>
              <a:buClr>
                <a:schemeClr val="tx2"/>
              </a:buClr>
              <a:buFont typeface="Arial" panose="020B0604020202020204" pitchFamily="34" charset="0"/>
              <a:buChar char="•"/>
            </a:pPr>
            <a:r>
              <a:rPr lang="en-US" sz="2200" dirty="0"/>
              <a:t>Fetch operands (FO)</a:t>
            </a:r>
          </a:p>
          <a:p>
            <a:pPr marL="601663" lvl="1" indent="-288925">
              <a:spcBef>
                <a:spcPts val="600"/>
              </a:spcBef>
              <a:buClr>
                <a:schemeClr val="tx2"/>
              </a:buClr>
              <a:buFont typeface="Arial" panose="020B0604020202020204" pitchFamily="34" charset="0"/>
              <a:buChar char="–"/>
            </a:pPr>
            <a:r>
              <a:rPr lang="en-US" sz="1600" dirty="0"/>
              <a:t>Fetch each operand from memory</a:t>
            </a:r>
          </a:p>
          <a:p>
            <a:pPr marL="601663" lvl="1" indent="-288925">
              <a:spcBef>
                <a:spcPts val="600"/>
              </a:spcBef>
              <a:buClr>
                <a:schemeClr val="tx2"/>
              </a:buClr>
              <a:buFont typeface="Arial" panose="020B0604020202020204" pitchFamily="34" charset="0"/>
              <a:buChar char="–"/>
            </a:pPr>
            <a:r>
              <a:rPr lang="en-US" sz="1600" dirty="0"/>
              <a:t>Operands in registers need not be fetched</a:t>
            </a:r>
          </a:p>
          <a:p>
            <a:pPr marL="285750" indent="-285750">
              <a:spcBef>
                <a:spcPts val="600"/>
              </a:spcBef>
              <a:buClr>
                <a:schemeClr val="tx2"/>
              </a:buClr>
              <a:buFont typeface="Arial" panose="020B0604020202020204" pitchFamily="34" charset="0"/>
              <a:buChar char="•"/>
            </a:pPr>
            <a:r>
              <a:rPr lang="en-US" sz="2200" dirty="0"/>
              <a:t>Execute instruction (EI)</a:t>
            </a:r>
          </a:p>
          <a:p>
            <a:pPr marL="601663" lvl="1" indent="-288925">
              <a:spcBef>
                <a:spcPts val="600"/>
              </a:spcBef>
              <a:buClr>
                <a:schemeClr val="tx2"/>
              </a:buClr>
              <a:buFont typeface="Arial" panose="020B0604020202020204" pitchFamily="34" charset="0"/>
              <a:buChar char="–"/>
            </a:pPr>
            <a:r>
              <a:rPr lang="en-US" sz="1600" dirty="0"/>
              <a:t>Perform the indicated operation and store the result, if any, in the specified destination operand location</a:t>
            </a:r>
          </a:p>
          <a:p>
            <a:pPr marL="285750" indent="-285750">
              <a:spcBef>
                <a:spcPts val="600"/>
              </a:spcBef>
              <a:buClr>
                <a:schemeClr val="tx2"/>
              </a:buClr>
              <a:buFont typeface="Arial" panose="020B0604020202020204" pitchFamily="34" charset="0"/>
              <a:buChar char="•"/>
            </a:pPr>
            <a:r>
              <a:rPr lang="en-US" sz="2200" dirty="0"/>
              <a:t>Write operand (WO)</a:t>
            </a:r>
          </a:p>
          <a:p>
            <a:pPr marL="601663" lvl="1" indent="-288925">
              <a:spcBef>
                <a:spcPts val="600"/>
              </a:spcBef>
              <a:buClr>
                <a:schemeClr val="tx2"/>
              </a:buClr>
              <a:buFont typeface="Arial" panose="020B0604020202020204" pitchFamily="34" charset="0"/>
              <a:buChar char="–"/>
            </a:pPr>
            <a:r>
              <a:rPr lang="en-US" sz="1600" dirty="0"/>
              <a:t>Store the result in memory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Grp="1" noChangeArrowheads="1"/>
          </p:cNvSpPr>
          <p:nvPr>
            <p:ph type="title"/>
          </p:nvPr>
        </p:nvSpPr>
        <p:spPr>
          <a:xfrm>
            <a:off x="457200" y="210049"/>
            <a:ext cx="8229600" cy="1582863"/>
          </a:xfrm>
          <a:noFill/>
          <a:ln/>
        </p:spPr>
        <p:txBody>
          <a:bodyPr lIns="90488" tIns="44450" rIns="90488" bIns="44450"/>
          <a:lstStyle/>
          <a:p>
            <a:r>
              <a:rPr lang="en-US" dirty="0"/>
              <a:t>Figure 16.10 </a:t>
            </a:r>
            <a:br>
              <a:rPr lang="en-US" dirty="0"/>
            </a:br>
            <a:r>
              <a:rPr lang="en-US" dirty="0"/>
              <a:t>Timing Diagram for Instruction Pipeline Operation</a:t>
            </a:r>
          </a:p>
        </p:txBody>
      </p:sp>
      <p:pic>
        <p:nvPicPr>
          <p:cNvPr id="4" name="Picture 3" descr="The diagram contains 14 columns corresponding to time and 9 instructions. The instructions are as follows. F I, D I, C O, F O, E I, W O. Every instruction starts from the next column with time. Instruction 1 starts from column 1, whereas instruction 2 starts from column 2 and so on. Instruction 9 starts from column 8 and ends at column 14." title="A diagrammatic representation of the instruction pipeline operation with reference to the timing."/>
          <p:cNvPicPr>
            <a:picLocks noChangeAspect="1"/>
          </p:cNvPicPr>
          <p:nvPr/>
        </p:nvPicPr>
        <p:blipFill rotWithShape="1">
          <a:blip r:embed="rId3">
            <a:extLst>
              <a:ext uri="{28A0092B-C50C-407E-A947-70E740481C1C}">
                <a14:useLocalDpi xmlns:a14="http://schemas.microsoft.com/office/drawing/2010/main" val="0"/>
              </a:ext>
            </a:extLst>
          </a:blip>
          <a:srcRect l="12137" t="5324" r="8801" b="29308"/>
          <a:stretch/>
        </p:blipFill>
        <p:spPr>
          <a:xfrm>
            <a:off x="1010884" y="1771757"/>
            <a:ext cx="7122232" cy="4550315"/>
          </a:xfrm>
          <a:prstGeom prst="rect">
            <a:avLst/>
          </a:prstGeom>
        </p:spPr>
      </p:pic>
    </p:spTree>
  </p:cSld>
  <p:clrMapOvr>
    <a:masterClrMapping/>
  </p:clrMapOvr>
  <p:transition spd="med">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title"/>
          </p:nvPr>
        </p:nvSpPr>
        <p:spPr>
          <a:xfrm>
            <a:off x="457200" y="200001"/>
            <a:ext cx="8229600" cy="1582863"/>
          </a:xfrm>
          <a:noFill/>
          <a:ln/>
        </p:spPr>
        <p:txBody>
          <a:bodyPr lIns="90488" tIns="44450" rIns="90488" bIns="44450"/>
          <a:lstStyle/>
          <a:p>
            <a:r>
              <a:rPr lang="en-US" dirty="0"/>
              <a:t>Figure 16.11 </a:t>
            </a:r>
            <a:br>
              <a:rPr lang="en-US" dirty="0"/>
            </a:br>
            <a:r>
              <a:rPr lang="en-US" dirty="0"/>
              <a:t>The Effect of a Conditional Branch on Instruction Pipeline Operation</a:t>
            </a:r>
          </a:p>
        </p:txBody>
      </p:sp>
      <p:pic>
        <p:nvPicPr>
          <p:cNvPr id="3" name="Picture 2" descr="The instructions are as follows. F I, D I, C O, F O, E I and W O. The diagram contains 14 columns corresponding to the increase in time and 9 instructions say instructions 1, 2, 3, 4, 5, 6, 7, 15 and6. Instruction 1 starts from column 1, 2 from column 2 and 3 from column 3. Instruction four starts from column 4 and it has only F I, D I, C O and F O. Instruction 5 starts from column 5 and has F I, D I and C O. Instruction 6 starts from column 6 and has only F I and D I. Instruction 7 starts from column 7 and has only F I. Instruction 15 starts from column 7 and has all the values. Similarly, instruction 17 starts from column 8 and ends at column 14 with all the values say F I, DI, C O, F O, E I and W O. The 15 and 16 are labeled as branch penalty." title="A diagram represents the effect of a conditional branch on instruction pipeline operation."/>
          <p:cNvPicPr>
            <a:picLocks noChangeAspect="1"/>
          </p:cNvPicPr>
          <p:nvPr/>
        </p:nvPicPr>
        <p:blipFill rotWithShape="1">
          <a:blip r:embed="rId3">
            <a:extLst>
              <a:ext uri="{28A0092B-C50C-407E-A947-70E740481C1C}">
                <a14:useLocalDpi xmlns:a14="http://schemas.microsoft.com/office/drawing/2010/main" val="0"/>
              </a:ext>
            </a:extLst>
          </a:blip>
          <a:srcRect l="10765" t="5082" r="8709" b="28603"/>
          <a:stretch/>
        </p:blipFill>
        <p:spPr>
          <a:xfrm>
            <a:off x="907206" y="1783294"/>
            <a:ext cx="7329589" cy="4664283"/>
          </a:xfrm>
          <a:prstGeom prst="rect">
            <a:avLst/>
          </a:prstGeom>
        </p:spPr>
      </p:pic>
    </p:spTree>
    <p:extLst>
      <p:ext uri="{BB962C8B-B14F-4D97-AF65-F5344CB8AC3E}">
        <p14:creationId xmlns:p14="http://schemas.microsoft.com/office/powerpoint/2010/main" val="17895696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0168"/>
            <a:ext cx="8229600" cy="1097279"/>
          </a:xfrm>
          <a:noFill/>
          <a:ln/>
        </p:spPr>
        <p:txBody>
          <a:bodyPr lIns="90488" tIns="44450" rIns="90488" bIns="44450"/>
          <a:lstStyle/>
          <a:p>
            <a:r>
              <a:rPr lang="en-US" dirty="0"/>
              <a:t>Figure 16.12 </a:t>
            </a:r>
            <a:br>
              <a:rPr lang="en-US" dirty="0"/>
            </a:br>
            <a:r>
              <a:rPr lang="en-US" dirty="0"/>
              <a:t>Six-Stage CPU Instruction Pipeline</a:t>
            </a:r>
          </a:p>
        </p:txBody>
      </p:sp>
      <p:pic>
        <p:nvPicPr>
          <p:cNvPr id="4" name="Picture 3" descr="After fetching the instructions are decoded and the operands are calculated. After calculation of operands, if the branch is conditional P C will be updated and the pipe will be emptied, which will eventually lead to the start, that is instruction fetching. If not, the operands need to be fetched and instructions need to be executed. After execution, the operands are to be written. After writing the operands, if there is branch or interrupt the p c will be updated and the pipe will be emptied, which will eventually lead to fetching of instructions. If not, the process will directly lead to fetching of instructions." title="A diagrammatic representation of the six stage C P U instruction pipeline."/>
          <p:cNvPicPr>
            <a:picLocks noChangeAspect="1"/>
          </p:cNvPicPr>
          <p:nvPr/>
        </p:nvPicPr>
        <p:blipFill rotWithShape="1">
          <a:blip r:embed="rId3">
            <a:extLst>
              <a:ext uri="{28A0092B-C50C-407E-A947-70E740481C1C}">
                <a14:useLocalDpi xmlns:a14="http://schemas.microsoft.com/office/drawing/2010/main" val="0"/>
              </a:ext>
            </a:extLst>
          </a:blip>
          <a:srcRect l="12230" t="2711" r="7601" b="8041"/>
          <a:stretch/>
        </p:blipFill>
        <p:spPr>
          <a:xfrm>
            <a:off x="2759696" y="1238616"/>
            <a:ext cx="3624608" cy="5221893"/>
          </a:xfrm>
          <a:prstGeom prst="rect">
            <a:avLst/>
          </a:prstGeom>
        </p:spPr>
      </p:pic>
    </p:spTree>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0168"/>
            <a:ext cx="8229600" cy="1097279"/>
          </a:xfrm>
          <a:noFill/>
          <a:ln/>
        </p:spPr>
        <p:txBody>
          <a:bodyPr lIns="90488" tIns="44450" rIns="90488" bIns="44450"/>
          <a:lstStyle/>
          <a:p>
            <a:r>
              <a:rPr lang="en-US" dirty="0"/>
              <a:t>Figure 16.13 </a:t>
            </a:r>
            <a:br>
              <a:rPr lang="en-US" dirty="0"/>
            </a:br>
            <a:r>
              <a:rPr lang="en-US" dirty="0"/>
              <a:t>An Alternative Pipeline Depiction</a:t>
            </a:r>
          </a:p>
        </p:txBody>
      </p:sp>
      <p:pic>
        <p:nvPicPr>
          <p:cNvPr id="4" name="Picture 3" descr="Diagram A, No branches. The alternative pipeline with no branches has 14 rows and 6 columns. The columns have the following headings from left to right. F I, D I, C O, F O, E I, W O. The ROW entries are as follows. Row 1, indented once. F I, I 1. D I, blank. C O, blank. F O, blank. E I, blank. W O, blank. Row 2, indented twice. F I, I 2. D I, I 1. C O, blank. F O, blank. E I, blank. W O, blank. Row 3, indented 3 times. F I, I 3. D I, I 2. C O, I 1. F O, blank. E I, blank. W O, blank. Row 4, indented 4 times. F I, I 4. D I, I 3. C O, I 2. F O, I 1. E I, blank. W O, blank. Row 5, indented 5 times. F I, I 5. D I, I 4. C O, I 3. F O, I 2. E I, I 1. W O. Row 6, indented 6 times. F I, I 6. D I, I 5. C O, I 4. F O, I 3. E I, I 2. W O, I 1. Row 7, indented 7 times. F I, I 7. D I, I 6. C O, I 5. F O, I 4. E I, I 3. W O, I 2. Row 8, indented 8 times. F I, I 8. D I, I 7. C O, I 6. F O, I 5. E I, I 4. W O, I 3. Row 9, indented 9 times. F I, I 9. D I, I 8. C O, I 7. F O, I 6. E I, I 5. W O, I 4. Row 10, indented 10 times. F I, blank. D I, I 9. C O, I 8. F O, I 7. E I, I 6. W O, I 5. Row 11. F I, blank. D I, blank. C O, I 9. F O, I 8. E I, I 7. W O, I 6. Row 12. F I, blank. D I, blank. C O, blank. F O, I 9. E I, I 8. W O, I 7. Row 13. F I, blank. D I, blank. C O, blank. F O, blank. E I, I 9. W O, I 8. Row 14. F I, blank. D I, blank. C O, blank. F O, blank. E I, blank. W O, I 9. Diagram B, with conditional branch. A table has 14 rows and 6 columns. The columns have the following headings from left to right. F I, D I, C O, F O, E I, W O. The row entries are as follows. Row 1, indented once. F I, I 1. D I, blank. C O, blank. F O, blank. E I, blank. W O, blank. Row 2, indented twice. F I, I 2. D I, I 1. C O, blank. F O, blank. E I, blank. W O, blank. Row 3, indented 3 times. F I, I 3. D I, I 2. C O, I 1. F O, blank. E I, blank. W O, blank. Row 4, indented 4 times. F I, I 4. D I, I 3. C O, I 2. F O, I 1. E I, blank. W O, blank. Row 5, indented 5 times. F I, I 5. D I, I 4. C O, I 3. F O, I 2. E I, I 1. W O. Row 6, indented 6 times. F I, I 6. D I, I 5. C O, I 4. F O, I 3. E I, I 2. W O, I 1. Row 7, indented 7 times. F I, I 7. D I, I 6. C O, I 5. F O, I 4. E I, I 3. W O, I 2. Row 8, indented 8 times. F I, I 15. D I, blank. C O, blank. F O, blank. E I, blank. W O, I 3. Row 9, indented 9 times. F I, I 16. D I, I 15. C O, blank. F O, blank. E I, blank. W O, blank. Row 10, indented 10 times. F I, Blank. D I, I 16. C O, I 15. F O, blank. E I, blank. W O, blank. Row 11. F I, Blank. D I, blank. C O, I 16. F O, I 15. E I, blank. W O, blank. Row 12. F I, Blank. D I, blank. C O, blank. F O, I 16. E I, I 15. W O, blank. Row 13. F I, Blank. D I, blank. C O, blank. F O, blank. E I, I 16. W O, I 15. Row 14. F I, Blank. D I, blank. C O, blank. F O, blank. E I, blank. W O, I 16." title="A diagram with two parts labeled a and b displays alternative pipeline structures."/>
          <p:cNvPicPr>
            <a:picLocks noChangeAspect="1"/>
          </p:cNvPicPr>
          <p:nvPr/>
        </p:nvPicPr>
        <p:blipFill rotWithShape="1">
          <a:blip r:embed="rId3">
            <a:extLst>
              <a:ext uri="{28A0092B-C50C-407E-A947-70E740481C1C}">
                <a14:useLocalDpi xmlns:a14="http://schemas.microsoft.com/office/drawing/2010/main" val="0"/>
              </a:ext>
            </a:extLst>
          </a:blip>
          <a:srcRect l="4152" t="10890" r="7604" b="32953"/>
          <a:stretch/>
        </p:blipFill>
        <p:spPr>
          <a:xfrm>
            <a:off x="1511660" y="1268759"/>
            <a:ext cx="6120681" cy="5040561"/>
          </a:xfrm>
          <a:prstGeom prst="rect">
            <a:avLst/>
          </a:prstGeom>
        </p:spPr>
      </p:pic>
    </p:spTree>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84329-6338-4D43-9E32-33DB90AE294B}"/>
              </a:ext>
            </a:extLst>
          </p:cNvPr>
          <p:cNvSpPr>
            <a:spLocks noGrp="1"/>
          </p:cNvSpPr>
          <p:nvPr>
            <p:ph type="title"/>
          </p:nvPr>
        </p:nvSpPr>
        <p:spPr/>
        <p:txBody>
          <a:bodyPr/>
          <a:lstStyle/>
          <a:p>
            <a:r>
              <a:rPr lang="en-US" dirty="0"/>
              <a:t>Pipeline Performance	</a:t>
            </a:r>
            <a:endParaRPr lang="en-MY"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9ED7674-AC31-45F7-9414-C11D08BC977D}"/>
                  </a:ext>
                </a:extLst>
              </p:cNvPr>
              <p:cNvSpPr>
                <a:spLocks noGrp="1"/>
              </p:cNvSpPr>
              <p:nvPr>
                <p:ph type="body" idx="1"/>
              </p:nvPr>
            </p:nvSpPr>
            <p:spPr/>
            <p:txBody>
              <a:bodyPr>
                <a:normAutofit fontScale="85000" lnSpcReduction="20000"/>
              </a:bodyPr>
              <a:lstStyle/>
              <a:p>
                <a:pPr marL="101600" indent="0">
                  <a:spcBef>
                    <a:spcPts val="0"/>
                  </a:spcBef>
                  <a:buNone/>
                </a:pPr>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max</m:t>
                        </m:r>
                      </m:fName>
                      <m:e>
                        <m:d>
                          <m:dPr>
                            <m:begChr m:val="["/>
                            <m:endChr m:val="]"/>
                            <m:ctrlPr>
                              <a:rPr lang="en-US" b="0" i="1" smtClean="0">
                                <a:latin typeface="Cambria Math" panose="02040503050406030204" pitchFamily="18" charset="0"/>
                              </a:rPr>
                            </m:ctrlPr>
                          </m:dPr>
                          <m:e>
                            <m:sSub>
                              <m:sSubPr>
                                <m:ctrlPr>
                                  <a:rPr lang="en-MY" i="1" dirty="0" smtClean="0">
                                    <a:latin typeface="Cambria Math" panose="02040503050406030204" pitchFamily="18" charset="0"/>
                                  </a:rPr>
                                </m:ctrlPr>
                              </m:sSubPr>
                              <m:e>
                                <m:r>
                                  <a:rPr lang="en-MY" i="1" dirty="0">
                                    <a:latin typeface="Cambria Math" panose="02040503050406030204" pitchFamily="18" charset="0"/>
                                  </a:rPr>
                                  <m:t>𝑟</m:t>
                                </m:r>
                              </m:e>
                              <m:sub>
                                <m:r>
                                  <a:rPr lang="en-MY" i="1" dirty="0">
                                    <a:latin typeface="Cambria Math" panose="02040503050406030204" pitchFamily="18" charset="0"/>
                                  </a:rPr>
                                  <m:t>𝑖</m:t>
                                </m:r>
                              </m:sub>
                            </m:sSub>
                          </m:e>
                        </m:d>
                      </m:e>
                    </m:func>
                    <m:r>
                      <a:rPr lang="en-US" b="0" i="1" dirty="0" smtClean="0">
                        <a:latin typeface="Cambria Math" panose="02040503050406030204" pitchFamily="18" charset="0"/>
                      </a:rPr>
                      <m:t>+</m:t>
                    </m:r>
                    <m:r>
                      <a:rPr lang="en-US" b="0" i="1" dirty="0" smtClean="0">
                        <a:latin typeface="Cambria Math" panose="02040503050406030204" pitchFamily="18" charset="0"/>
                      </a:rPr>
                      <m:t>𝑑</m:t>
                    </m:r>
                    <m:r>
                      <a:rPr lang="en-US" b="0" i="1" dirty="0" smtClean="0">
                        <a:latin typeface="Cambria Math" panose="02040503050406030204" pitchFamily="18" charset="0"/>
                      </a:rPr>
                      <m:t>            ; </m:t>
                    </m:r>
                    <m:r>
                      <a:rPr lang="en-US" b="0" dirty="0" smtClean="0">
                        <a:latin typeface="Cambria Math" panose="02040503050406030204" pitchFamily="18" charset="0"/>
                      </a:rPr>
                      <m:t>1</m:t>
                    </m:r>
                    <m:r>
                      <a:rPr lang="en-US" b="0" i="0" dirty="0" smtClean="0">
                        <a:latin typeface="Cambria Math" panose="02040503050406030204" pitchFamily="18" charset="0"/>
                      </a:rPr>
                      <m:t>≤ⅈ≤</m:t>
                    </m:r>
                    <m:r>
                      <a:rPr lang="en-US" b="0" i="1" dirty="0" smtClean="0">
                        <a:latin typeface="Cambria Math" panose="02040503050406030204" pitchFamily="18" charset="0"/>
                      </a:rPr>
                      <m:t>𝑘</m:t>
                    </m:r>
                  </m:oMath>
                </a14:m>
                <a:r>
                  <a:rPr lang="en-US" b="0" dirty="0"/>
                  <a:t> </a:t>
                </a:r>
              </a:p>
              <a:p>
                <a:pPr marL="101600" indent="0">
                  <a:spcBef>
                    <a:spcPts val="0"/>
                  </a:spcBef>
                  <a:buNone/>
                </a:pPr>
                <a14:m>
                  <m:oMath xmlns:m="http://schemas.openxmlformats.org/officeDocument/2006/math">
                    <m:r>
                      <a:rPr lang="en-US" i="1">
                        <a:latin typeface="Cambria Math" panose="02040503050406030204" pitchFamily="18" charset="0"/>
                      </a:rPr>
                      <m:t>𝑟</m:t>
                    </m:r>
                    <m:r>
                      <a:rPr lang="en-US" i="1">
                        <a:latin typeface="Cambria Math" panose="02040503050406030204" pitchFamily="18" charset="0"/>
                      </a:rPr>
                      <m:t>=</m:t>
                    </m:r>
                    <m:sSub>
                      <m:sSubPr>
                        <m:ctrlPr>
                          <a:rPr lang="en-US" i="1" dirty="0" smtClean="0">
                            <a:latin typeface="Cambria Math" panose="02040503050406030204" pitchFamily="18" charset="0"/>
                          </a:rPr>
                        </m:ctrlPr>
                      </m:sSubPr>
                      <m:e>
                        <m:r>
                          <a:rPr lang="en-US" i="1" dirty="0">
                            <a:latin typeface="Cambria Math" panose="02040503050406030204" pitchFamily="18" charset="0"/>
                          </a:rPr>
                          <m:t>𝑟</m:t>
                        </m:r>
                      </m:e>
                      <m:sub>
                        <m:r>
                          <a:rPr lang="en-US" i="1" dirty="0">
                            <a:latin typeface="Cambria Math" panose="02040503050406030204" pitchFamily="18" charset="0"/>
                          </a:rPr>
                          <m:t>𝑚</m:t>
                        </m:r>
                      </m:sub>
                    </m:sSub>
                    <m:r>
                      <a:rPr lang="en-US" i="1" dirty="0">
                        <a:latin typeface="Cambria Math" panose="02040503050406030204" pitchFamily="18" charset="0"/>
                      </a:rPr>
                      <m:t>+</m:t>
                    </m:r>
                    <m:r>
                      <a:rPr lang="en-US" i="1" dirty="0">
                        <a:latin typeface="Cambria Math" panose="02040503050406030204" pitchFamily="18" charset="0"/>
                      </a:rPr>
                      <m:t>𝑑</m:t>
                    </m:r>
                  </m:oMath>
                </a14:m>
                <a:r>
                  <a:rPr lang="en-MY" dirty="0"/>
                  <a:t> </a:t>
                </a:r>
              </a:p>
              <a:p>
                <a:pPr marL="101600" indent="0">
                  <a:spcBef>
                    <a:spcPts val="0"/>
                  </a:spcBef>
                  <a:buNone/>
                </a:pP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𝑟</m:t>
                        </m:r>
                      </m:e>
                      <m:sub>
                        <m:r>
                          <a:rPr lang="en-US" i="1" dirty="0">
                            <a:latin typeface="Cambria Math" panose="02040503050406030204" pitchFamily="18" charset="0"/>
                          </a:rPr>
                          <m:t>𝑚</m:t>
                        </m:r>
                      </m:sub>
                    </m:sSub>
                    <m:r>
                      <a:rPr lang="en-US" i="1" dirty="0">
                        <a:latin typeface="Cambria Math" panose="02040503050406030204" pitchFamily="18" charset="0"/>
                        <a:ea typeface="Cambria Math" panose="02040503050406030204" pitchFamily="18" charset="0"/>
                      </a:rPr>
                      <m:t>≫</m:t>
                    </m:r>
                    <m:r>
                      <a:rPr lang="en-US" i="1" dirty="0">
                        <a:latin typeface="Cambria Math" panose="02040503050406030204" pitchFamily="18" charset="0"/>
                      </a:rPr>
                      <m:t>𝑑</m:t>
                    </m:r>
                  </m:oMath>
                </a14:m>
                <a:r>
                  <a:rPr lang="en-MY" dirty="0"/>
                  <a:t> </a:t>
                </a:r>
              </a:p>
              <a:p>
                <a:pPr marL="101600" indent="0">
                  <a:spcBef>
                    <a:spcPts val="0"/>
                  </a:spcBef>
                  <a:buNone/>
                </a:pPr>
                <a14:m>
                  <m:oMath xmlns:m="http://schemas.openxmlformats.org/officeDocument/2006/math">
                    <m:sSub>
                      <m:sSubPr>
                        <m:ctrlPr>
                          <a:rPr lang="en-US" i="1" dirty="0">
                            <a:latin typeface="Cambria Math" panose="02040503050406030204" pitchFamily="18" charset="0"/>
                          </a:rPr>
                        </m:ctrlPr>
                      </m:sSubPr>
                      <m:e>
                        <m:r>
                          <a:rPr lang="en-US" b="0" i="1" dirty="0" smtClean="0">
                            <a:latin typeface="Cambria Math" panose="02040503050406030204" pitchFamily="18" charset="0"/>
                          </a:rPr>
                          <m:t>𝑟</m:t>
                        </m:r>
                        <m:r>
                          <a:rPr lang="en-US" b="0" i="1" dirty="0" smtClean="0">
                            <a:latin typeface="Cambria Math" panose="02040503050406030204" pitchFamily="18" charset="0"/>
                          </a:rPr>
                          <m:t>=</m:t>
                        </m:r>
                        <m:r>
                          <a:rPr lang="en-US" i="1" dirty="0">
                            <a:latin typeface="Cambria Math" panose="02040503050406030204" pitchFamily="18" charset="0"/>
                          </a:rPr>
                          <m:t>𝑟</m:t>
                        </m:r>
                      </m:e>
                      <m:sub>
                        <m:r>
                          <a:rPr lang="en-US" i="1" dirty="0">
                            <a:latin typeface="Cambria Math" panose="02040503050406030204" pitchFamily="18" charset="0"/>
                          </a:rPr>
                          <m:t>𝑚</m:t>
                        </m:r>
                      </m:sub>
                    </m:sSub>
                  </m:oMath>
                </a14:m>
                <a:r>
                  <a:rPr lang="en-MY" dirty="0"/>
                  <a:t> </a:t>
                </a:r>
              </a:p>
              <a:p>
                <a:pPr marL="101600" indent="0">
                  <a:spcBef>
                    <a:spcPts val="0"/>
                  </a:spcBef>
                  <a:buNone/>
                </a:pPr>
                <a14:m>
                  <m:oMath xmlns:m="http://schemas.openxmlformats.org/officeDocument/2006/math">
                    <m:r>
                      <a:rPr lang="en-US" i="1">
                        <a:latin typeface="Cambria Math" panose="02040503050406030204" pitchFamily="18" charset="0"/>
                      </a:rPr>
                      <m:t>𝑟</m:t>
                    </m:r>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max</m:t>
                        </m:r>
                      </m:fName>
                      <m:e>
                        <m:d>
                          <m:dPr>
                            <m:begChr m:val="["/>
                            <m:endChr m:val="]"/>
                            <m:ctrlPr>
                              <a:rPr lang="en-US" i="1">
                                <a:latin typeface="Cambria Math" panose="02040503050406030204" pitchFamily="18" charset="0"/>
                              </a:rPr>
                            </m:ctrlPr>
                          </m:dPr>
                          <m:e>
                            <m:sSub>
                              <m:sSubPr>
                                <m:ctrlPr>
                                  <a:rPr lang="en-MY" i="1" dirty="0">
                                    <a:latin typeface="Cambria Math" panose="02040503050406030204" pitchFamily="18" charset="0"/>
                                  </a:rPr>
                                </m:ctrlPr>
                              </m:sSubPr>
                              <m:e>
                                <m:r>
                                  <a:rPr lang="en-MY" i="1" dirty="0">
                                    <a:latin typeface="Cambria Math" panose="02040503050406030204" pitchFamily="18" charset="0"/>
                                  </a:rPr>
                                  <m:t>𝑟</m:t>
                                </m:r>
                              </m:e>
                              <m:sub>
                                <m:r>
                                  <a:rPr lang="en-MY" i="1" dirty="0">
                                    <a:latin typeface="Cambria Math" panose="02040503050406030204" pitchFamily="18" charset="0"/>
                                  </a:rPr>
                                  <m:t>𝑖</m:t>
                                </m:r>
                              </m:sub>
                            </m:sSub>
                          </m:e>
                        </m:d>
                      </m:e>
                    </m:func>
                    <m:r>
                      <a:rPr lang="en-US" i="1" dirty="0">
                        <a:latin typeface="Cambria Math" panose="02040503050406030204" pitchFamily="18" charset="0"/>
                      </a:rPr>
                      <m:t>+</m:t>
                    </m:r>
                    <m:r>
                      <a:rPr lang="en-US" i="1" dirty="0">
                        <a:latin typeface="Cambria Math" panose="02040503050406030204" pitchFamily="18" charset="0"/>
                      </a:rPr>
                      <m:t>𝑑</m:t>
                    </m:r>
                  </m:oMath>
                </a14:m>
                <a:r>
                  <a:rPr lang="en-MY" dirty="0"/>
                  <a:t> </a:t>
                </a:r>
              </a:p>
              <a:p>
                <a:pPr marL="101600" indent="0">
                  <a:spcBef>
                    <a:spcPts val="0"/>
                  </a:spcBef>
                  <a:buNone/>
                </a:pPr>
                <a:endParaRPr lang="en-US" dirty="0"/>
              </a:p>
              <a:p>
                <a14:m>
                  <m:oMath xmlns:m="http://schemas.openxmlformats.org/officeDocument/2006/math">
                    <m:r>
                      <a:rPr lang="en-US" i="1">
                        <a:latin typeface="Cambria Math" panose="02040503050406030204" pitchFamily="18" charset="0"/>
                      </a:rPr>
                      <m:t>𝑟</m:t>
                    </m:r>
                    <m:r>
                      <a:rPr lang="en-US" i="1">
                        <a:latin typeface="Cambria Math" panose="02040503050406030204" pitchFamily="18" charset="0"/>
                      </a:rPr>
                      <m:t> </m:t>
                    </m:r>
                  </m:oMath>
                </a14:m>
                <a:r>
                  <a:rPr lang="en-US" dirty="0"/>
                  <a:t>: cycle time of an instruction pipeline</a:t>
                </a:r>
              </a:p>
              <a:p>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𝑚</m:t>
                        </m:r>
                      </m:sub>
                    </m:sSub>
                    <m:r>
                      <a:rPr lang="en-US" i="1">
                        <a:latin typeface="Cambria Math" panose="02040503050406030204" pitchFamily="18" charset="0"/>
                      </a:rPr>
                      <m:t> </m:t>
                    </m:r>
                  </m:oMath>
                </a14:m>
                <a:r>
                  <a:rPr lang="en-US" dirty="0"/>
                  <a:t>: maximum stage delay/latency</a:t>
                </a:r>
              </a:p>
              <a:p>
                <a14:m>
                  <m:oMath xmlns:m="http://schemas.openxmlformats.org/officeDocument/2006/math">
                    <m:r>
                      <a:rPr lang="en-US" b="0" i="1" smtClean="0">
                        <a:latin typeface="Cambria Math" panose="02040503050406030204" pitchFamily="18" charset="0"/>
                      </a:rPr>
                      <m:t>𝑑</m:t>
                    </m:r>
                    <m:r>
                      <a:rPr lang="en-US" i="1">
                        <a:latin typeface="Cambria Math" panose="02040503050406030204" pitchFamily="18" charset="0"/>
                      </a:rPr>
                      <m:t> </m:t>
                    </m:r>
                  </m:oMath>
                </a14:m>
                <a:r>
                  <a:rPr lang="en-US" dirty="0"/>
                  <a:t>: time delay/ latency of a latch (time needed to advance </a:t>
                </a:r>
                <a:r>
                  <a:rPr lang="en-US" dirty="0" err="1"/>
                  <a:t>singals</a:t>
                </a:r>
                <a:r>
                  <a:rPr lang="en-US" dirty="0"/>
                  <a:t> and data from one stage to the next stage)</a:t>
                </a:r>
              </a:p>
              <a:p>
                <a14:m>
                  <m:oMath xmlns:m="http://schemas.openxmlformats.org/officeDocument/2006/math">
                    <m:r>
                      <a:rPr lang="en-US" b="0" i="1" smtClean="0">
                        <a:latin typeface="Cambria Math" panose="02040503050406030204" pitchFamily="18" charset="0"/>
                      </a:rPr>
                      <m:t>𝑘</m:t>
                    </m:r>
                    <m:r>
                      <a:rPr lang="en-US" i="1">
                        <a:latin typeface="Cambria Math" panose="02040503050406030204" pitchFamily="18" charset="0"/>
                      </a:rPr>
                      <m:t> </m:t>
                    </m:r>
                  </m:oMath>
                </a14:m>
                <a:r>
                  <a:rPr lang="en-US" dirty="0"/>
                  <a:t>: number of stages in the instruction pipeline</a:t>
                </a:r>
              </a:p>
              <a:p>
                <a:r>
                  <a:rPr lang="en-US" dirty="0"/>
                  <a:t>Total time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𝑇</m:t>
                        </m:r>
                      </m:e>
                      <m:sub>
                        <m:r>
                          <a:rPr lang="en-US" i="1" dirty="0" smtClean="0">
                            <a:latin typeface="Cambria Math" panose="02040503050406030204" pitchFamily="18" charset="0"/>
                          </a:rPr>
                          <m:t>𝑘</m:t>
                        </m:r>
                      </m:sub>
                    </m:sSub>
                  </m:oMath>
                </a14:m>
                <a:r>
                  <a:rPr lang="en-US" dirty="0"/>
                  <a:t>) required to execute all n instructions (with no branch)</a:t>
                </a:r>
              </a:p>
              <a:p>
                <a:pPr marL="10160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𝑇</m:t>
                          </m:r>
                        </m:e>
                        <m:sub>
                          <m:r>
                            <a:rPr lang="en-US" i="1" smtClean="0">
                              <a:latin typeface="Cambria Math" panose="02040503050406030204" pitchFamily="18" charset="0"/>
                            </a:rPr>
                            <m:t>𝑘</m:t>
                          </m:r>
                        </m:sub>
                      </m:sSub>
                      <m:r>
                        <a:rPr lang="en-US" i="1" smtClean="0">
                          <a:latin typeface="Cambria Math" panose="02040503050406030204" pitchFamily="18" charset="0"/>
                        </a:rPr>
                        <m:t>=</m:t>
                      </m:r>
                      <m:d>
                        <m:dPr>
                          <m:begChr m:val="["/>
                          <m:endChr m:val="]"/>
                          <m:ctrlPr>
                            <a:rPr lang="en-US" i="1" smtClean="0">
                              <a:latin typeface="Cambria Math" panose="02040503050406030204" pitchFamily="18" charset="0"/>
                            </a:rPr>
                          </m:ctrlPr>
                        </m:dPr>
                        <m:e>
                          <m:r>
                            <a:rPr lang="en-US" i="1" smtClean="0">
                              <a:latin typeface="Cambria Math" panose="02040503050406030204" pitchFamily="18" charset="0"/>
                            </a:rPr>
                            <m:t>𝑘</m:t>
                          </m:r>
                          <m:r>
                            <a:rPr lang="en-US" i="1" smtClean="0">
                              <a:latin typeface="Cambria Math" panose="02040503050406030204" pitchFamily="18" charset="0"/>
                            </a:rPr>
                            <m:t>+</m:t>
                          </m:r>
                          <m:d>
                            <m:dPr>
                              <m:ctrlPr>
                                <a:rPr lang="en-US" i="1" smtClean="0">
                                  <a:latin typeface="Cambria Math" panose="02040503050406030204" pitchFamily="18" charset="0"/>
                                </a:rPr>
                              </m:ctrlPr>
                            </m:dPr>
                            <m:e>
                              <m:r>
                                <a:rPr lang="en-US" i="1" smtClean="0">
                                  <a:latin typeface="Cambria Math" panose="02040503050406030204" pitchFamily="18" charset="0"/>
                                </a:rPr>
                                <m:t>𝑛</m:t>
                              </m:r>
                              <m:r>
                                <a:rPr lang="en-US" i="1" smtClean="0">
                                  <a:latin typeface="Cambria Math" panose="02040503050406030204" pitchFamily="18" charset="0"/>
                                </a:rPr>
                                <m:t>−1</m:t>
                              </m:r>
                            </m:e>
                          </m:d>
                        </m:e>
                      </m:d>
                      <m:r>
                        <a:rPr lang="en-US" i="1" smtClean="0">
                          <a:latin typeface="Cambria Math" panose="02040503050406030204" pitchFamily="18" charset="0"/>
                        </a:rPr>
                        <m:t>𝑟</m:t>
                      </m:r>
                    </m:oMath>
                  </m:oMathPara>
                </a14:m>
                <a:endParaRPr lang="en-MY" dirty="0"/>
              </a:p>
              <a:p>
                <a:pPr marL="101600" indent="0">
                  <a:spcBef>
                    <a:spcPts val="0"/>
                  </a:spcBef>
                  <a:buNone/>
                </a:pPr>
                <a:endParaRPr lang="en-MY" dirty="0"/>
              </a:p>
              <a:p>
                <a:pPr marL="101600" indent="0">
                  <a:spcBef>
                    <a:spcPts val="0"/>
                  </a:spcBef>
                  <a:buNone/>
                </a:pPr>
                <a:endParaRPr lang="en-MY" dirty="0"/>
              </a:p>
            </p:txBody>
          </p:sp>
        </mc:Choice>
        <mc:Fallback xmlns="">
          <p:sp>
            <p:nvSpPr>
              <p:cNvPr id="3" name="Text Placeholder 2">
                <a:extLst>
                  <a:ext uri="{FF2B5EF4-FFF2-40B4-BE49-F238E27FC236}">
                    <a16:creationId xmlns:a16="http://schemas.microsoft.com/office/drawing/2014/main" id="{79ED7674-AC31-45F7-9414-C11D08BC977D}"/>
                  </a:ext>
                </a:extLst>
              </p:cNvPr>
              <p:cNvSpPr>
                <a:spLocks noGrp="1" noRot="1" noChangeAspect="1" noMove="1" noResize="1" noEditPoints="1" noAdjustHandles="1" noChangeArrowheads="1" noChangeShapeType="1" noTextEdit="1"/>
              </p:cNvSpPr>
              <p:nvPr>
                <p:ph type="body" idx="1"/>
              </p:nvPr>
            </p:nvSpPr>
            <p:spPr>
              <a:blipFill>
                <a:blip r:embed="rId4"/>
                <a:stretch>
                  <a:fillRect r="-1333"/>
                </a:stretch>
              </a:blipFill>
            </p:spPr>
            <p:txBody>
              <a:bodyPr/>
              <a:lstStyle/>
              <a:p>
                <a:r>
                  <a:rPr lang="en-MY">
                    <a:noFill/>
                  </a:rPr>
                  <a:t> </a:t>
                </a:r>
              </a:p>
            </p:txBody>
          </p:sp>
        </mc:Fallback>
      </mc:AlternateContent>
    </p:spTree>
    <p:extLst>
      <p:ext uri="{BB962C8B-B14F-4D97-AF65-F5344CB8AC3E}">
        <p14:creationId xmlns:p14="http://schemas.microsoft.com/office/powerpoint/2010/main" val="7079455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504C1-B440-4AA4-B42D-F26CF863D931}"/>
              </a:ext>
            </a:extLst>
          </p:cNvPr>
          <p:cNvSpPr>
            <a:spLocks noGrp="1"/>
          </p:cNvSpPr>
          <p:nvPr>
            <p:ph type="title"/>
          </p:nvPr>
        </p:nvSpPr>
        <p:spPr/>
        <p:txBody>
          <a:bodyPr/>
          <a:lstStyle/>
          <a:p>
            <a:r>
              <a:rPr lang="en-US" dirty="0"/>
              <a:t>Speed Up	</a:t>
            </a:r>
            <a:endParaRPr lang="en-MY"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A534042-4831-4330-9B61-9DD797128197}"/>
                  </a:ext>
                </a:extLst>
              </p:cNvPr>
              <p:cNvSpPr txBox="1"/>
              <p:nvPr/>
            </p:nvSpPr>
            <p:spPr>
              <a:xfrm>
                <a:off x="15078" y="2483100"/>
                <a:ext cx="5328592" cy="398077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MY" sz="2800" i="1" smtClean="0">
                              <a:latin typeface="Cambria Math" panose="02040503050406030204" pitchFamily="18" charset="0"/>
                            </a:rPr>
                          </m:ctrlPr>
                        </m:sSubPr>
                        <m:e>
                          <m:r>
                            <a:rPr lang="en-US" sz="2800" b="0" i="1" smtClean="0">
                              <a:latin typeface="Cambria Math" panose="02040503050406030204" pitchFamily="18" charset="0"/>
                            </a:rPr>
                            <m:t>𝑆</m:t>
                          </m:r>
                        </m:e>
                        <m:sub>
                          <m:r>
                            <a:rPr lang="en-MY" sz="2800" i="1">
                              <a:latin typeface="Cambria Math" panose="02040503050406030204" pitchFamily="18" charset="0"/>
                            </a:rPr>
                            <m:t>𝑘</m:t>
                          </m:r>
                        </m:sub>
                      </m:sSub>
                      <m:r>
                        <a:rPr lang="en-MY" sz="2800" i="0">
                          <a:latin typeface="Cambria Math" panose="02040503050406030204" pitchFamily="18" charset="0"/>
                        </a:rPr>
                        <m:t>=</m:t>
                      </m:r>
                      <m:f>
                        <m:fPr>
                          <m:ctrlPr>
                            <a:rPr lang="en-MY" sz="2800" i="1">
                              <a:latin typeface="Cambria Math" panose="02040503050406030204" pitchFamily="18" charset="0"/>
                            </a:rPr>
                          </m:ctrlPr>
                        </m:fPr>
                        <m:num>
                          <m:r>
                            <a:rPr lang="en-US" sz="2800" b="0" i="1" smtClean="0">
                              <a:latin typeface="Cambria Math" panose="02040503050406030204" pitchFamily="18" charset="0"/>
                            </a:rPr>
                            <m:t>𝑆𝑒𝑞𝑢𝑒𝑛𝑡𝑖𝑎𝑙</m:t>
                          </m:r>
                          <m:r>
                            <a:rPr lang="en-US" sz="2800" b="0" i="1" smtClean="0">
                              <a:latin typeface="Cambria Math" panose="02040503050406030204" pitchFamily="18" charset="0"/>
                            </a:rPr>
                            <m:t> (</m:t>
                          </m:r>
                          <m:r>
                            <a:rPr lang="en-US" sz="2800" b="0" i="1" smtClean="0">
                              <a:latin typeface="Cambria Math" panose="02040503050406030204" pitchFamily="18" charset="0"/>
                            </a:rPr>
                            <m:t>𝑇𝑖𝑚𝑒</m:t>
                          </m:r>
                          <m:r>
                            <a:rPr lang="en-US" sz="2800" b="0" i="1" smtClean="0">
                              <a:latin typeface="Cambria Math" panose="02040503050406030204" pitchFamily="18" charset="0"/>
                            </a:rPr>
                            <m:t>) </m:t>
                          </m:r>
                        </m:num>
                        <m:den>
                          <m:r>
                            <a:rPr lang="en-US" sz="2800" b="0" i="1" smtClean="0">
                              <a:latin typeface="Cambria Math" panose="02040503050406030204" pitchFamily="18" charset="0"/>
                            </a:rPr>
                            <m:t>𝑃𝑖𝑝𝑒𝑙𝑖𝑛𝑒</m:t>
                          </m:r>
                          <m:r>
                            <a:rPr lang="en-US" sz="2800" b="0" i="1" smtClean="0">
                              <a:latin typeface="Cambria Math" panose="02040503050406030204" pitchFamily="18" charset="0"/>
                            </a:rPr>
                            <m:t> (</m:t>
                          </m:r>
                          <m:r>
                            <a:rPr lang="en-US" sz="2800" b="0" i="1" smtClean="0">
                              <a:latin typeface="Cambria Math" panose="02040503050406030204" pitchFamily="18" charset="0"/>
                            </a:rPr>
                            <m:t>𝑇𝑖𝑚𝑒</m:t>
                          </m:r>
                          <m:r>
                            <a:rPr lang="en-US" sz="2800" b="0" i="1" smtClean="0">
                              <a:latin typeface="Cambria Math" panose="02040503050406030204" pitchFamily="18" charset="0"/>
                            </a:rPr>
                            <m:t>)</m:t>
                          </m:r>
                        </m:den>
                      </m:f>
                    </m:oMath>
                  </m:oMathPara>
                </a14:m>
                <a:endParaRPr lang="en-MY" sz="2800" dirty="0"/>
              </a:p>
              <a:p>
                <a:endParaRPr lang="en-MY" sz="2800" dirty="0"/>
              </a:p>
              <a:p>
                <a:pPr/>
                <a14:m>
                  <m:oMathPara xmlns:m="http://schemas.openxmlformats.org/officeDocument/2006/math">
                    <m:oMathParaPr>
                      <m:jc m:val="centerGroup"/>
                    </m:oMathParaPr>
                    <m:oMath xmlns:m="http://schemas.openxmlformats.org/officeDocument/2006/math">
                      <m:r>
                        <a:rPr lang="en-US" sz="2800" b="0" i="0" dirty="0" smtClean="0">
                          <a:latin typeface="Cambria Math" panose="02040503050406030204" pitchFamily="18" charset="0"/>
                        </a:rPr>
                        <m:t>=</m:t>
                      </m:r>
                      <m:f>
                        <m:fPr>
                          <m:ctrlPr>
                            <a:rPr lang="en-MY" sz="2800" i="1" dirty="0" smtClean="0">
                              <a:latin typeface="Cambria Math" panose="02040503050406030204" pitchFamily="18" charset="0"/>
                            </a:rPr>
                          </m:ctrlPr>
                        </m:fPr>
                        <m:num>
                          <m:r>
                            <a:rPr lang="en-MY" sz="2800" i="1" dirty="0">
                              <a:latin typeface="Cambria Math" panose="02040503050406030204" pitchFamily="18" charset="0"/>
                            </a:rPr>
                            <m:t>𝑛𝑘𝑟</m:t>
                          </m:r>
                        </m:num>
                        <m:den>
                          <m:r>
                            <a:rPr lang="en-US" sz="2800" b="0" i="1" dirty="0" smtClean="0">
                              <a:latin typeface="Cambria Math" panose="02040503050406030204" pitchFamily="18" charset="0"/>
                            </a:rPr>
                            <m:t>[</m:t>
                          </m:r>
                          <m:r>
                            <a:rPr lang="en-MY" sz="2800" i="1" dirty="0">
                              <a:latin typeface="Cambria Math" panose="02040503050406030204" pitchFamily="18" charset="0"/>
                            </a:rPr>
                            <m:t>𝑘</m:t>
                          </m:r>
                          <m:r>
                            <a:rPr lang="en-MY" sz="2800" i="0" dirty="0">
                              <a:latin typeface="Cambria Math" panose="02040503050406030204" pitchFamily="18" charset="0"/>
                            </a:rPr>
                            <m:t>+</m:t>
                          </m:r>
                          <m:d>
                            <m:dPr>
                              <m:ctrlPr>
                                <a:rPr lang="en-MY" sz="2800" i="1" dirty="0">
                                  <a:latin typeface="Cambria Math" panose="02040503050406030204" pitchFamily="18" charset="0"/>
                                </a:rPr>
                              </m:ctrlPr>
                            </m:dPr>
                            <m:e>
                              <m:r>
                                <a:rPr lang="en-MY" sz="2800" i="1" dirty="0">
                                  <a:latin typeface="Cambria Math" panose="02040503050406030204" pitchFamily="18" charset="0"/>
                                </a:rPr>
                                <m:t>𝑛</m:t>
                              </m:r>
                              <m:r>
                                <a:rPr lang="en-MY" sz="2800" i="0" dirty="0">
                                  <a:latin typeface="Cambria Math" panose="02040503050406030204" pitchFamily="18" charset="0"/>
                                </a:rPr>
                                <m:t>−1</m:t>
                              </m:r>
                            </m:e>
                          </m:d>
                          <m:r>
                            <a:rPr lang="en-US" sz="2800" b="0" i="1" dirty="0" smtClean="0">
                              <a:latin typeface="Cambria Math" panose="02040503050406030204" pitchFamily="18" charset="0"/>
                            </a:rPr>
                            <m:t>]</m:t>
                          </m:r>
                          <m:r>
                            <a:rPr lang="en-MY" sz="2800" i="1" dirty="0">
                              <a:latin typeface="Cambria Math" panose="02040503050406030204" pitchFamily="18" charset="0"/>
                            </a:rPr>
                            <m:t>𝑟</m:t>
                          </m:r>
                        </m:den>
                      </m:f>
                      <m:r>
                        <a:rPr lang="en-US" sz="2800" b="0" i="1" dirty="0" smtClean="0">
                          <a:latin typeface="Cambria Math" panose="02040503050406030204" pitchFamily="18" charset="0"/>
                        </a:rPr>
                        <m:t>   </m:t>
                      </m:r>
                    </m:oMath>
                  </m:oMathPara>
                </a14:m>
                <a:endParaRPr lang="en-US" sz="28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800" dirty="0">
                          <a:latin typeface="Cambria Math" panose="02040503050406030204" pitchFamily="18" charset="0"/>
                        </a:rPr>
                        <m:t>=</m:t>
                      </m:r>
                      <m:f>
                        <m:fPr>
                          <m:ctrlPr>
                            <a:rPr lang="en-MY" sz="2800" i="1" dirty="0">
                              <a:latin typeface="Cambria Math" panose="02040503050406030204" pitchFamily="18" charset="0"/>
                            </a:rPr>
                          </m:ctrlPr>
                        </m:fPr>
                        <m:num>
                          <m:r>
                            <a:rPr lang="en-MY" sz="2800" i="1" dirty="0">
                              <a:latin typeface="Cambria Math" panose="02040503050406030204" pitchFamily="18" charset="0"/>
                            </a:rPr>
                            <m:t>𝑛𝑘</m:t>
                          </m:r>
                        </m:num>
                        <m:den>
                          <m:r>
                            <a:rPr lang="en-MY" sz="2800" i="1" dirty="0">
                              <a:latin typeface="Cambria Math" panose="02040503050406030204" pitchFamily="18" charset="0"/>
                            </a:rPr>
                            <m:t>𝑘</m:t>
                          </m:r>
                          <m:r>
                            <a:rPr lang="en-MY" sz="2800" dirty="0">
                              <a:latin typeface="Cambria Math" panose="02040503050406030204" pitchFamily="18" charset="0"/>
                            </a:rPr>
                            <m:t>+</m:t>
                          </m:r>
                          <m:d>
                            <m:dPr>
                              <m:ctrlPr>
                                <a:rPr lang="en-MY" sz="2800" i="1" dirty="0">
                                  <a:latin typeface="Cambria Math" panose="02040503050406030204" pitchFamily="18" charset="0"/>
                                </a:rPr>
                              </m:ctrlPr>
                            </m:dPr>
                            <m:e>
                              <m:r>
                                <a:rPr lang="en-MY" sz="2800" i="1" dirty="0">
                                  <a:latin typeface="Cambria Math" panose="02040503050406030204" pitchFamily="18" charset="0"/>
                                </a:rPr>
                                <m:t>𝑛</m:t>
                              </m:r>
                              <m:r>
                                <a:rPr lang="en-MY" sz="2800" dirty="0">
                                  <a:latin typeface="Cambria Math" panose="02040503050406030204" pitchFamily="18" charset="0"/>
                                </a:rPr>
                                <m:t>−1</m:t>
                              </m:r>
                            </m:e>
                          </m:d>
                        </m:den>
                      </m:f>
                      <m:r>
                        <a:rPr lang="en-US" sz="2800" i="1" dirty="0">
                          <a:latin typeface="Cambria Math" panose="02040503050406030204" pitchFamily="18" charset="0"/>
                        </a:rPr>
                        <m:t> </m:t>
                      </m:r>
                      <m:r>
                        <a:rPr lang="en-US" sz="2800" b="0" i="1" dirty="0" smtClean="0">
                          <a:latin typeface="Cambria Math" panose="02040503050406030204" pitchFamily="18" charset="0"/>
                        </a:rPr>
                        <m:t>      </m:t>
                      </m:r>
                      <m:r>
                        <a:rPr lang="en-US" sz="2800" i="1" dirty="0">
                          <a:latin typeface="Cambria Math" panose="02040503050406030204" pitchFamily="18" charset="0"/>
                        </a:rPr>
                        <m:t>  </m:t>
                      </m:r>
                    </m:oMath>
                  </m:oMathPara>
                </a14:m>
                <a:endParaRPr lang="en-US" sz="2800" i="1" dirty="0">
                  <a:latin typeface="Cambria Math" panose="02040503050406030204" pitchFamily="18" charset="0"/>
                </a:endParaRPr>
              </a:p>
              <a:p>
                <a:endParaRPr lang="en-US" sz="28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800" b="0" i="1" dirty="0" smtClean="0">
                          <a:latin typeface="Cambria Math" panose="02040503050406030204" pitchFamily="18" charset="0"/>
                        </a:rPr>
                        <m:t>      </m:t>
                      </m:r>
                    </m:oMath>
                  </m:oMathPara>
                </a14:m>
                <a:endParaRPr lang="en-MY" sz="2800" dirty="0"/>
              </a:p>
            </p:txBody>
          </p:sp>
        </mc:Choice>
        <mc:Fallback xmlns="">
          <p:sp>
            <p:nvSpPr>
              <p:cNvPr id="8" name="TextBox 7">
                <a:extLst>
                  <a:ext uri="{FF2B5EF4-FFF2-40B4-BE49-F238E27FC236}">
                    <a16:creationId xmlns:a16="http://schemas.microsoft.com/office/drawing/2014/main" id="{FA534042-4831-4330-9B61-9DD797128197}"/>
                  </a:ext>
                </a:extLst>
              </p:cNvPr>
              <p:cNvSpPr txBox="1">
                <a:spLocks noRot="1" noChangeAspect="1" noMove="1" noResize="1" noEditPoints="1" noAdjustHandles="1" noChangeArrowheads="1" noChangeShapeType="1" noTextEdit="1"/>
              </p:cNvSpPr>
              <p:nvPr/>
            </p:nvSpPr>
            <p:spPr>
              <a:xfrm>
                <a:off x="15078" y="2483100"/>
                <a:ext cx="5328592" cy="3980770"/>
              </a:xfrm>
              <a:prstGeom prst="rect">
                <a:avLst/>
              </a:prstGeom>
              <a:blipFill>
                <a:blip r:embed="rId4"/>
                <a:stretch>
                  <a:fillRect/>
                </a:stretch>
              </a:blipFill>
            </p:spPr>
            <p:txBody>
              <a:bodyPr/>
              <a:lstStyle/>
              <a:p>
                <a:r>
                  <a:rPr lang="en-MY">
                    <a:noFill/>
                  </a:rPr>
                  <a:t> </a:t>
                </a:r>
              </a:p>
            </p:txBody>
          </p:sp>
        </mc:Fallback>
      </mc:AlternateContent>
    </p:spTree>
    <p:extLst>
      <p:ext uri="{BB962C8B-B14F-4D97-AF65-F5344CB8AC3E}">
        <p14:creationId xmlns:p14="http://schemas.microsoft.com/office/powerpoint/2010/main" val="35726881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Grp="1" noChangeArrowheads="1"/>
          </p:cNvSpPr>
          <p:nvPr>
            <p:ph type="title"/>
          </p:nvPr>
        </p:nvSpPr>
        <p:spPr>
          <a:xfrm>
            <a:off x="457200" y="210049"/>
            <a:ext cx="8229600" cy="1130719"/>
          </a:xfrm>
          <a:noFill/>
          <a:ln/>
        </p:spPr>
        <p:txBody>
          <a:bodyPr lIns="90488" tIns="44450" rIns="90488" bIns="44450"/>
          <a:lstStyle/>
          <a:p>
            <a:r>
              <a:rPr lang="en-US" dirty="0"/>
              <a:t>Example</a:t>
            </a:r>
          </a:p>
        </p:txBody>
      </p:sp>
      <p:pic>
        <p:nvPicPr>
          <p:cNvPr id="4" name="Picture 3" descr="The diagram contains 14 columns corresponding to time and 9 instructions. The instructions are as follows. F I, D I, C O, F O, E I, W O. Every instruction starts from the next column with time. Instruction 1 starts from column 1, whereas instruction 2 starts from column 2 and so on. Instruction 9 starts from column 8 and ends at column 14." title="A diagrammatic representation of the instruction pipeline operation with reference to the timing."/>
          <p:cNvPicPr>
            <a:picLocks noChangeAspect="1"/>
          </p:cNvPicPr>
          <p:nvPr/>
        </p:nvPicPr>
        <p:blipFill rotWithShape="1">
          <a:blip r:embed="rId3">
            <a:extLst>
              <a:ext uri="{28A0092B-C50C-407E-A947-70E740481C1C}">
                <a14:useLocalDpi xmlns:a14="http://schemas.microsoft.com/office/drawing/2010/main" val="0"/>
              </a:ext>
            </a:extLst>
          </a:blip>
          <a:srcRect l="12137" t="5324" r="8801" b="29308"/>
          <a:stretch/>
        </p:blipFill>
        <p:spPr>
          <a:xfrm>
            <a:off x="251520" y="1916832"/>
            <a:ext cx="5256584" cy="3358373"/>
          </a:xfrm>
          <a:prstGeom prst="rect">
            <a:avLst/>
          </a:prstGeom>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6009A65C-00ED-43AF-A155-20AB71F9A7A1}"/>
                  </a:ext>
                </a:extLst>
              </p:cNvPr>
              <p:cNvSpPr/>
              <p:nvPr/>
            </p:nvSpPr>
            <p:spPr>
              <a:xfrm>
                <a:off x="5580112" y="2348880"/>
                <a:ext cx="3424214" cy="268868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𝑆</m:t>
                          </m:r>
                        </m:e>
                        <m:sub>
                          <m:r>
                            <a:rPr lang="en-US" i="1" dirty="0">
                              <a:latin typeface="Cambria Math" panose="02040503050406030204" pitchFamily="18" charset="0"/>
                            </a:rPr>
                            <m:t>𝑘</m:t>
                          </m:r>
                        </m:sub>
                      </m:sSub>
                      <m:r>
                        <a:rPr lang="en-US" dirty="0">
                          <a:latin typeface="Cambria Math" panose="02040503050406030204" pitchFamily="18" charset="0"/>
                        </a:rPr>
                        <m:t>=</m:t>
                      </m:r>
                      <m:f>
                        <m:fPr>
                          <m:ctrlPr>
                            <a:rPr lang="en-MY" i="1" dirty="0">
                              <a:latin typeface="Cambria Math" panose="02040503050406030204" pitchFamily="18" charset="0"/>
                            </a:rPr>
                          </m:ctrlPr>
                        </m:fPr>
                        <m:num>
                          <m:r>
                            <a:rPr lang="en-MY" i="1" dirty="0">
                              <a:latin typeface="Cambria Math" panose="02040503050406030204" pitchFamily="18" charset="0"/>
                            </a:rPr>
                            <m:t>𝑛𝑘𝑟</m:t>
                          </m:r>
                        </m:num>
                        <m:den>
                          <m:r>
                            <a:rPr lang="en-US" b="0" i="1" dirty="0" smtClean="0">
                              <a:latin typeface="Cambria Math" panose="02040503050406030204" pitchFamily="18" charset="0"/>
                            </a:rPr>
                            <m:t>[</m:t>
                          </m:r>
                          <m:r>
                            <a:rPr lang="en-MY" i="1" dirty="0">
                              <a:latin typeface="Cambria Math" panose="02040503050406030204" pitchFamily="18" charset="0"/>
                            </a:rPr>
                            <m:t>𝑘</m:t>
                          </m:r>
                          <m:r>
                            <a:rPr lang="en-MY" dirty="0">
                              <a:latin typeface="Cambria Math" panose="02040503050406030204" pitchFamily="18" charset="0"/>
                            </a:rPr>
                            <m:t>+</m:t>
                          </m:r>
                          <m:d>
                            <m:dPr>
                              <m:ctrlPr>
                                <a:rPr lang="en-MY" i="1" dirty="0">
                                  <a:latin typeface="Cambria Math" panose="02040503050406030204" pitchFamily="18" charset="0"/>
                                </a:rPr>
                              </m:ctrlPr>
                            </m:dPr>
                            <m:e>
                              <m:r>
                                <a:rPr lang="en-MY" i="1" dirty="0">
                                  <a:latin typeface="Cambria Math" panose="02040503050406030204" pitchFamily="18" charset="0"/>
                                </a:rPr>
                                <m:t>𝑛</m:t>
                              </m:r>
                              <m:r>
                                <a:rPr lang="en-MY" dirty="0">
                                  <a:latin typeface="Cambria Math" panose="02040503050406030204" pitchFamily="18" charset="0"/>
                                </a:rPr>
                                <m:t>−1</m:t>
                              </m:r>
                            </m:e>
                          </m:d>
                          <m:r>
                            <a:rPr lang="en-US" b="0" i="1" dirty="0" smtClean="0">
                              <a:latin typeface="Cambria Math" panose="02040503050406030204" pitchFamily="18" charset="0"/>
                            </a:rPr>
                            <m:t>]</m:t>
                          </m:r>
                          <m:r>
                            <a:rPr lang="en-MY" i="1" dirty="0">
                              <a:latin typeface="Cambria Math" panose="02040503050406030204" pitchFamily="18" charset="0"/>
                            </a:rPr>
                            <m:t>𝑟</m:t>
                          </m:r>
                        </m:den>
                      </m:f>
                      <m:r>
                        <a:rPr lang="en-US" b="0" i="1" dirty="0" smtClean="0">
                          <a:latin typeface="Cambria Math" panose="02040503050406030204" pitchFamily="18" charset="0"/>
                        </a:rPr>
                        <m:t>    </m:t>
                      </m:r>
                      <m:r>
                        <a:rPr lang="en-US" i="1" dirty="0">
                          <a:latin typeface="Cambria Math" panose="02040503050406030204" pitchFamily="18" charset="0"/>
                        </a:rPr>
                        <m:t> </m:t>
                      </m:r>
                    </m:oMath>
                  </m:oMathPara>
                </a14:m>
                <a:endParaRPr lang="en-MY" dirty="0"/>
              </a:p>
              <a:p>
                <a:pPr/>
                <a14:m>
                  <m:oMathPara xmlns:m="http://schemas.openxmlformats.org/officeDocument/2006/math">
                    <m:oMathParaPr>
                      <m:jc m:val="centerGroup"/>
                    </m:oMathParaPr>
                    <m:oMath xmlns:m="http://schemas.openxmlformats.org/officeDocument/2006/math">
                      <m:r>
                        <a:rPr lang="en-US" dirty="0">
                          <a:latin typeface="Cambria Math" panose="02040503050406030204" pitchFamily="18" charset="0"/>
                        </a:rPr>
                        <m:t>=</m:t>
                      </m:r>
                      <m:f>
                        <m:fPr>
                          <m:ctrlPr>
                            <a:rPr lang="en-MY" i="1" dirty="0">
                              <a:latin typeface="Cambria Math" panose="02040503050406030204" pitchFamily="18" charset="0"/>
                            </a:rPr>
                          </m:ctrlPr>
                        </m:fPr>
                        <m:num>
                          <m:r>
                            <a:rPr lang="en-US" b="0" i="1" dirty="0" smtClean="0">
                              <a:latin typeface="Cambria Math" panose="02040503050406030204" pitchFamily="18" charset="0"/>
                            </a:rPr>
                            <m:t>9∗6∗</m:t>
                          </m:r>
                          <m:r>
                            <a:rPr lang="en-MY" i="1" dirty="0">
                              <a:latin typeface="Cambria Math" panose="02040503050406030204" pitchFamily="18" charset="0"/>
                            </a:rPr>
                            <m:t>𝑟</m:t>
                          </m:r>
                        </m:num>
                        <m:den>
                          <m:r>
                            <a:rPr lang="en-US" b="0" i="1" dirty="0" smtClean="0">
                              <a:latin typeface="Cambria Math" panose="02040503050406030204" pitchFamily="18" charset="0"/>
                            </a:rPr>
                            <m:t>[6</m:t>
                          </m:r>
                          <m:r>
                            <a:rPr lang="en-MY" dirty="0">
                              <a:latin typeface="Cambria Math" panose="02040503050406030204" pitchFamily="18" charset="0"/>
                            </a:rPr>
                            <m:t>+</m:t>
                          </m:r>
                          <m:d>
                            <m:dPr>
                              <m:ctrlPr>
                                <a:rPr lang="en-MY" i="1" dirty="0">
                                  <a:latin typeface="Cambria Math" panose="02040503050406030204" pitchFamily="18" charset="0"/>
                                </a:rPr>
                              </m:ctrlPr>
                            </m:dPr>
                            <m:e>
                              <m:r>
                                <a:rPr lang="en-US" b="0" i="0" dirty="0" smtClean="0">
                                  <a:latin typeface="Cambria Math" panose="02040503050406030204" pitchFamily="18" charset="0"/>
                                </a:rPr>
                                <m:t>9</m:t>
                              </m:r>
                              <m:r>
                                <a:rPr lang="en-MY" dirty="0">
                                  <a:latin typeface="Cambria Math" panose="02040503050406030204" pitchFamily="18" charset="0"/>
                                </a:rPr>
                                <m:t>−1</m:t>
                              </m:r>
                            </m:e>
                          </m:d>
                          <m:r>
                            <a:rPr lang="en-US" b="0" i="1" dirty="0" smtClean="0">
                              <a:latin typeface="Cambria Math" panose="02040503050406030204" pitchFamily="18" charset="0"/>
                            </a:rPr>
                            <m:t>]</m:t>
                          </m:r>
                          <m:r>
                            <a:rPr lang="en-MY" i="1" dirty="0">
                              <a:latin typeface="Cambria Math" panose="02040503050406030204" pitchFamily="18" charset="0"/>
                            </a:rPr>
                            <m:t>𝑟</m:t>
                          </m:r>
                        </m:den>
                      </m:f>
                    </m:oMath>
                  </m:oMathPara>
                </a14:m>
                <a:endParaRPr lang="en-US" dirty="0"/>
              </a:p>
              <a:p>
                <a:pPr/>
                <a14:m>
                  <m:oMathPara xmlns:m="http://schemas.openxmlformats.org/officeDocument/2006/math">
                    <m:oMathParaPr>
                      <m:jc m:val="centerGroup"/>
                    </m:oMathParaPr>
                    <m:oMath xmlns:m="http://schemas.openxmlformats.org/officeDocument/2006/math">
                      <m:r>
                        <a:rPr lang="en-US" dirty="0">
                          <a:latin typeface="Cambria Math" panose="02040503050406030204" pitchFamily="18" charset="0"/>
                        </a:rPr>
                        <m:t>=</m:t>
                      </m:r>
                      <m:f>
                        <m:fPr>
                          <m:ctrlPr>
                            <a:rPr lang="en-MY" i="1" dirty="0">
                              <a:latin typeface="Cambria Math" panose="02040503050406030204" pitchFamily="18" charset="0"/>
                            </a:rPr>
                          </m:ctrlPr>
                        </m:fPr>
                        <m:num>
                          <m:r>
                            <a:rPr lang="en-US" b="0" i="1" dirty="0" smtClean="0">
                              <a:latin typeface="Cambria Math" panose="02040503050406030204" pitchFamily="18" charset="0"/>
                            </a:rPr>
                            <m:t>54</m:t>
                          </m:r>
                        </m:num>
                        <m:den>
                          <m:r>
                            <a:rPr lang="en-US" b="0" i="1" dirty="0" smtClean="0">
                              <a:latin typeface="Cambria Math" panose="02040503050406030204" pitchFamily="18" charset="0"/>
                            </a:rPr>
                            <m:t>14</m:t>
                          </m:r>
                        </m:den>
                      </m:f>
                      <m:r>
                        <a:rPr lang="en-US" b="0" i="1" dirty="0" smtClean="0">
                          <a:latin typeface="Cambria Math" panose="02040503050406030204" pitchFamily="18" charset="0"/>
                        </a:rPr>
                        <m:t>                       </m:t>
                      </m:r>
                    </m:oMath>
                  </m:oMathPara>
                </a14:m>
                <a:endParaRPr lang="en-MY" dirty="0"/>
              </a:p>
              <a:p>
                <a:pPr/>
                <a14:m>
                  <m:oMathPara xmlns:m="http://schemas.openxmlformats.org/officeDocument/2006/math">
                    <m:oMathParaPr>
                      <m:jc m:val="centerGroup"/>
                    </m:oMathParaPr>
                    <m:oMath xmlns:m="http://schemas.openxmlformats.org/officeDocument/2006/math">
                      <m:r>
                        <a:rPr lang="en-US" dirty="0">
                          <a:latin typeface="Cambria Math" panose="02040503050406030204" pitchFamily="18" charset="0"/>
                        </a:rPr>
                        <m:t>=</m:t>
                      </m:r>
                      <m:r>
                        <a:rPr lang="en-US" b="0" i="0" dirty="0" smtClean="0">
                          <a:latin typeface="Cambria Math" panose="02040503050406030204" pitchFamily="18" charset="0"/>
                        </a:rPr>
                        <m:t>3.86                    </m:t>
                      </m:r>
                    </m:oMath>
                  </m:oMathPara>
                </a14:m>
                <a:endParaRPr lang="en-MY" dirty="0"/>
              </a:p>
            </p:txBody>
          </p:sp>
        </mc:Choice>
        <mc:Fallback xmlns="">
          <p:sp>
            <p:nvSpPr>
              <p:cNvPr id="2" name="Rectangle 1">
                <a:extLst>
                  <a:ext uri="{FF2B5EF4-FFF2-40B4-BE49-F238E27FC236}">
                    <a16:creationId xmlns:a16="http://schemas.microsoft.com/office/drawing/2014/main" id="{6009A65C-00ED-43AF-A155-20AB71F9A7A1}"/>
                  </a:ext>
                </a:extLst>
              </p:cNvPr>
              <p:cNvSpPr>
                <a:spLocks noRot="1" noChangeAspect="1" noMove="1" noResize="1" noEditPoints="1" noAdjustHandles="1" noChangeArrowheads="1" noChangeShapeType="1" noTextEdit="1"/>
              </p:cNvSpPr>
              <p:nvPr/>
            </p:nvSpPr>
            <p:spPr>
              <a:xfrm>
                <a:off x="5580112" y="2348880"/>
                <a:ext cx="3424214" cy="2688685"/>
              </a:xfrm>
              <a:prstGeom prst="rect">
                <a:avLst/>
              </a:prstGeom>
              <a:blipFill>
                <a:blip r:embed="rId6"/>
                <a:stretch>
                  <a:fillRect/>
                </a:stretch>
              </a:blipFill>
            </p:spPr>
            <p:txBody>
              <a:bodyPr/>
              <a:lstStyle/>
              <a:p>
                <a:r>
                  <a:rPr lang="en-MY">
                    <a:noFill/>
                  </a:rPr>
                  <a:t> </a:t>
                </a:r>
              </a:p>
            </p:txBody>
          </p:sp>
        </mc:Fallback>
      </mc:AlternateContent>
    </p:spTree>
    <p:extLst>
      <p:ext uri="{BB962C8B-B14F-4D97-AF65-F5344CB8AC3E}">
        <p14:creationId xmlns:p14="http://schemas.microsoft.com/office/powerpoint/2010/main" val="832768441"/>
      </p:ext>
    </p:extLst>
  </p:cSld>
  <p:clrMapOvr>
    <a:masterClrMapping/>
  </p:clrMapOvr>
  <p:transition spd="med">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91444"/>
            <a:ext cx="8458200" cy="1080120"/>
          </a:xfrm>
          <a:noFill/>
          <a:ln/>
        </p:spPr>
        <p:txBody>
          <a:bodyPr lIns="90488" tIns="44450" rIns="90488" bIns="44450"/>
          <a:lstStyle/>
          <a:p>
            <a:r>
              <a:rPr lang="en-US" dirty="0"/>
              <a:t>Figure 16.14 </a:t>
            </a:r>
            <a:br>
              <a:rPr lang="en-US" dirty="0"/>
            </a:br>
            <a:r>
              <a:rPr lang="en-US" dirty="0"/>
              <a:t>Speedup Factors with Instruction Pipelining</a:t>
            </a:r>
          </a:p>
        </p:txBody>
      </p:sp>
      <p:pic>
        <p:nvPicPr>
          <p:cNvPr id="4" name="Picture 3" descr="Graph A, Number of instructions in log scale, is plotted against speedup factor. Three increasing lines corresponding to k equals 12 stages, 9 stages and 6 stages originate from the common approximate coordinates 0, 1 and end at coordinates 128 comma 10.5, 128 comma 8 and 128 comma 4.5 respectively. Graph B, Number of stages, is plotted against speedup factor. Three increasing lines corresponding to n equals 30 instructions, 20 instructions and 10 instructions originate from the common coordinates 0 comma 0 and end at coordinates 20 comma 12, 20 comma 8 and 20 comma 6 respectively." title="A graph plots number of instructions and stages with the speedup factor."/>
          <p:cNvPicPr>
            <a:picLocks noChangeAspect="1"/>
          </p:cNvPicPr>
          <p:nvPr/>
        </p:nvPicPr>
        <p:blipFill rotWithShape="1">
          <a:blip r:embed="rId3">
            <a:extLst>
              <a:ext uri="{28A0092B-C50C-407E-A947-70E740481C1C}">
                <a14:useLocalDpi xmlns:a14="http://schemas.microsoft.com/office/drawing/2010/main" val="0"/>
              </a:ext>
            </a:extLst>
          </a:blip>
          <a:srcRect l="9575" t="10434" r="14894" b="25447"/>
          <a:stretch/>
        </p:blipFill>
        <p:spPr>
          <a:xfrm>
            <a:off x="2699792" y="1295628"/>
            <a:ext cx="4674625" cy="5135503"/>
          </a:xfrm>
          <a:prstGeom prst="rect">
            <a:avLst/>
          </a:prstGeom>
        </p:spPr>
      </p:pic>
    </p:spTree>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r>
              <a:rPr lang="en-GB" dirty="0"/>
              <a:t>Pipeline Hazards</a:t>
            </a:r>
          </a:p>
        </p:txBody>
      </p:sp>
      <p:graphicFrame>
        <p:nvGraphicFramePr>
          <p:cNvPr id="11" name="Content Placeholder 10"/>
          <p:cNvGraphicFramePr>
            <a:graphicFrameLocks noGrp="1"/>
          </p:cNvGraphicFramePr>
          <p:nvPr>
            <p:ph idx="4294967295"/>
            <p:extLst>
              <p:ext uri="{D42A27DB-BD31-4B8C-83A1-F6EECF244321}">
                <p14:modId xmlns:p14="http://schemas.microsoft.com/office/powerpoint/2010/main" val="4012488456"/>
              </p:ext>
            </p:extLst>
          </p:nvPr>
        </p:nvGraphicFramePr>
        <p:xfrm>
          <a:off x="179388" y="1556593"/>
          <a:ext cx="8785225" cy="51847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0168"/>
            <a:ext cx="8229600" cy="1097279"/>
          </a:xfrm>
          <a:noFill/>
          <a:ln/>
        </p:spPr>
        <p:txBody>
          <a:bodyPr lIns="90488" tIns="44450" rIns="90488" bIns="44450"/>
          <a:lstStyle/>
          <a:p>
            <a:r>
              <a:rPr lang="en-US" dirty="0"/>
              <a:t>Figure 16.15 </a:t>
            </a:r>
            <a:br>
              <a:rPr lang="en-US" dirty="0"/>
            </a:br>
            <a:r>
              <a:rPr lang="en-US" dirty="0"/>
              <a:t>Example of Resource Hazard</a:t>
            </a:r>
          </a:p>
        </p:txBody>
      </p:sp>
      <p:pic>
        <p:nvPicPr>
          <p:cNvPr id="4" name="Picture 3" descr="Diagram A, Five stage pipeline ideal case. The five stage pipeline has 4 instructions and 9 clock cycles. Clock cycle 1, Clock cycle 2, Clock cycle 3, Clock cycle 4, Clock cycle 5, Clock cycle 6, Clock cycle 7, Clock cycle 8, Clock cycle 9. Instruction 1. Clock cycle 1, F I. Clock cycle 2, D I. Clock cycle 3, F O. Clock cycle 4, E I. Clock cycle 5, W O. Clock cycle 6, Blank. Clock cycle 7, Blank. Clock cycle 8, Blank. Clock cycle 9, Blank. Instruction 2. Clock cycle 1, Blank. Clock cycle 2, F I. Clock cycle 3, D I. Clock cycle 4, F O. Clock cycle 5, E I. Clock cycle 6, W O. Clock cycle 7, Blank. Clock cycle 8, Blank. Clock cycle 9, Blank. Instruction 3. Clock cycle 1, Blank. Clock cycle 2, Blank. Clock cycle 3, F I. Clock cycle 4, D I. Clock cycle 5, F O. Clock cycle 6, E I. Clock cycle 7, W O. Clock cycle 8, Blank. Clock cycle 9, Blank. Instruction 4. Clock cycle 1, Blank. Clock cycle 2, Blank. Clock cycle 3, Blank. Clock cycle 4, F I. Clock cycle 5, D I. Clock cycle 6, F O. Clock cycle 7, E I. Clock cycle 8, W O. Clock cycle 9, Blank. Diagram B, I 1 source operand memory. The illustration has 4 instructions and 9 clock cycles. Clock cycle 1, Clock cycle 2, Clock cycle 3, Clock cycle 4, Clock cycle 5, Clock cycle 6, Clock cycle 7, Clock cycle 8, Clock cycle 9. The row entries are as follows. Row 1. Clock cycle 1, F I. Clock cycle 2, D I. Clock cycle 3, F O. Clock cycle 4, E I. Clock cycle 5, W O. Clock cycle 6, Blank. Clock cycle 7, Blank. Clock cycle 8, Blank. Clock cycle 9, Blank. Row 2. Clock cycle 1, Blank. Clock cycle 2, F I. Clock cycle 3, D I. Clock cycle 4, F O. Clock cycle 5, E I. Clock cycle 6, W O. Clock cycle 7, Blank. Clock cycle 8, Blank. Clock cycle 9, Blank. Row 3. Clock cycle 1, Blank. Clock cycle 2, Blank. Clock cycle 3, Idle. Clock cycle 4, F I. Clock cycle 5, D I. Clock cycle 6, F O. Clock cycle 7, E I. Clock cycle 8, W O. Clock cycle 9, Blank. Row 4. Clock cycle 1, Blank. Clock cycle 2, Blank. Clock cycle 3, blank. Clock cycle 4, Blank. Clock cycle 5, F I. Clock cycle 6, D I. Clock cycle 7, F O. Clock cycle 8, E I. Clock cycle 9, W O." title="Diagrammatic representations of the five stage pipeline and I 1 source operand in memory."/>
          <p:cNvPicPr>
            <a:picLocks noChangeAspect="1"/>
          </p:cNvPicPr>
          <p:nvPr/>
        </p:nvPicPr>
        <p:blipFill rotWithShape="1">
          <a:blip r:embed="rId3">
            <a:extLst>
              <a:ext uri="{28A0092B-C50C-407E-A947-70E740481C1C}">
                <a14:useLocalDpi xmlns:a14="http://schemas.microsoft.com/office/drawing/2010/main" val="0"/>
              </a:ext>
            </a:extLst>
          </a:blip>
          <a:srcRect l="13071" t="7921" r="21118" b="26948"/>
          <a:stretch/>
        </p:blipFill>
        <p:spPr>
          <a:xfrm>
            <a:off x="4716016" y="1196752"/>
            <a:ext cx="4104456" cy="5256584"/>
          </a:xfrm>
          <a:prstGeom prst="rect">
            <a:avLst/>
          </a:prstGeom>
        </p:spPr>
      </p:pic>
      <p:sp>
        <p:nvSpPr>
          <p:cNvPr id="2" name="Rectangle 1">
            <a:extLst>
              <a:ext uri="{FF2B5EF4-FFF2-40B4-BE49-F238E27FC236}">
                <a16:creationId xmlns:a16="http://schemas.microsoft.com/office/drawing/2014/main" id="{4FA9953B-2924-4E5E-9307-36C38E4F81B9}"/>
              </a:ext>
            </a:extLst>
          </p:cNvPr>
          <p:cNvSpPr/>
          <p:nvPr/>
        </p:nvSpPr>
        <p:spPr>
          <a:xfrm>
            <a:off x="323528" y="1700808"/>
            <a:ext cx="3960440" cy="2308324"/>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just"/>
            <a:r>
              <a:rPr lang="en-US" dirty="0"/>
              <a:t>They arise from resource conflicts when the hardware cannot support all possible combinations of instructions in simultaneous overlapped execution. </a:t>
            </a:r>
            <a:endParaRPr lang="en-MY" dirty="0"/>
          </a:p>
        </p:txBody>
      </p:sp>
    </p:spTree>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0168"/>
            <a:ext cx="8229600" cy="1097279"/>
          </a:xfrm>
          <a:noFill/>
          <a:ln/>
        </p:spPr>
        <p:txBody>
          <a:bodyPr lIns="90488" tIns="44450" rIns="90488" bIns="44450"/>
          <a:lstStyle/>
          <a:p>
            <a:r>
              <a:rPr lang="en-US" dirty="0"/>
              <a:t>Figure 16.16</a:t>
            </a:r>
            <a:br>
              <a:rPr lang="en-US" dirty="0"/>
            </a:br>
            <a:r>
              <a:rPr lang="en-US" dirty="0"/>
              <a:t>Example of Data Hazard</a:t>
            </a:r>
          </a:p>
        </p:txBody>
      </p:sp>
      <p:pic>
        <p:nvPicPr>
          <p:cNvPr id="4" name="Picture 3" descr="The data hazard has 4 instructions and 10 clock cycles. Clock cycle 1, Clock cycle 2, Clock cycle 3, Clock cycle 4, Clock cycle 5, Clock cycle 6, Clock cycle 7, Clock cycle 8, Clock cycle 9, Clock cycle 10. The row entries are as follows. Instruction 1. Clock cycle 1, F I. Clock cycle 2, D I. Clock cycle 3, F O. Clock cycle 4, E I. Clock cycle 5, W O. Clock cycle 6, Blank. Clock cycle 7, blank. Clock cycle 8, blank. Clock cycle 9, blank. Clock cycle 10, blank. Instruction 2. Clock cycle 1, Blank. Clock cycle 2, F I. Clock cycle 3, D I. Clock cycle 4, Idle. Clock cycle 5, idle. Clock cycle 6, F O. Clock cycle 7, E I. Clock cycle 8, W O. Clock cycle 9, blank. Clock cycle 10, blank. Instruction 3. Clock cycle 1, Blank. Clock cycle 2, Blank. Clock cycle 3, F I. Clock cycle 4, Blank. Clock cycle 5, Blank. Clock cycle 6, D I. Clock cycle 7, F O. Clock cycle 8, E I. Clock cycle 9, W O. Clock cycle 10, blank. Instruction 4. Clock cycle 1, Blank. Clock cycle 2, Blank. Clock cycle 3, Blank. Clock cycle 4, Blank. Clock cycle 5, Blank. Clock cycle 6, F I. Clock cycle 7, D I. Clock cycle 8, F O. Clock cycle 9, E I. Clock cycle 10, W O. " title="A diagram displays an example of a data hazard."/>
          <p:cNvPicPr>
            <a:picLocks noChangeAspect="1"/>
          </p:cNvPicPr>
          <p:nvPr/>
        </p:nvPicPr>
        <p:blipFill rotWithShape="1">
          <a:blip r:embed="rId3">
            <a:extLst>
              <a:ext uri="{28A0092B-C50C-407E-A947-70E740481C1C}">
                <a14:useLocalDpi xmlns:a14="http://schemas.microsoft.com/office/drawing/2010/main" val="0"/>
              </a:ext>
            </a:extLst>
          </a:blip>
          <a:srcRect l="5397" t="8491" r="17025" b="67009"/>
          <a:stretch/>
        </p:blipFill>
        <p:spPr>
          <a:xfrm>
            <a:off x="460378" y="1444867"/>
            <a:ext cx="8280920" cy="3384376"/>
          </a:xfrm>
          <a:prstGeom prst="rect">
            <a:avLst/>
          </a:prstGeom>
        </p:spPr>
      </p:pic>
      <p:sp>
        <p:nvSpPr>
          <p:cNvPr id="5" name="Rectangle 4">
            <a:extLst>
              <a:ext uri="{FF2B5EF4-FFF2-40B4-BE49-F238E27FC236}">
                <a16:creationId xmlns:a16="http://schemas.microsoft.com/office/drawing/2014/main" id="{4110F961-AB2E-4236-8474-40044F04B04C}"/>
              </a:ext>
            </a:extLst>
          </p:cNvPr>
          <p:cNvSpPr/>
          <p:nvPr/>
        </p:nvSpPr>
        <p:spPr>
          <a:xfrm>
            <a:off x="457200" y="5012793"/>
            <a:ext cx="8229600"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just"/>
            <a:r>
              <a:rPr lang="en-US" dirty="0"/>
              <a:t>They arise when an instruction depends on the result of a previous instruction in a way that is exposed by the overlapping of instructions in the pipeline. </a:t>
            </a:r>
            <a:endParaRPr lang="en-MY" dirty="0"/>
          </a:p>
        </p:txBody>
      </p:sp>
    </p:spTree>
  </p:cSld>
  <p:clrMapOvr>
    <a:masterClrMapping/>
  </p:clrMapOvr>
  <p:transition spd="med">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p:txBody>
          <a:bodyPr/>
          <a:lstStyle/>
          <a:p>
            <a:r>
              <a:rPr lang="en-GB" dirty="0"/>
              <a:t>Types of Data Hazard</a:t>
            </a:r>
          </a:p>
        </p:txBody>
      </p:sp>
      <p:sp>
        <p:nvSpPr>
          <p:cNvPr id="196611" name="Rectangle 3"/>
          <p:cNvSpPr>
            <a:spLocks noGrp="1" noChangeArrowheads="1"/>
          </p:cNvSpPr>
          <p:nvPr>
            <p:ph type="body" idx="1"/>
          </p:nvPr>
        </p:nvSpPr>
        <p:spPr>
          <a:xfrm>
            <a:off x="374493" y="1658075"/>
            <a:ext cx="8395015" cy="4795261"/>
          </a:xfrm>
        </p:spPr>
        <p:txBody>
          <a:bodyPr>
            <a:normAutofit fontScale="92500" lnSpcReduction="20000"/>
          </a:bodyPr>
          <a:lstStyle/>
          <a:p>
            <a:pPr marL="428625" indent="-327025"/>
            <a:r>
              <a:rPr lang="en-GB" sz="2400" dirty="0"/>
              <a:t>Read after write (RAW), or true dependency</a:t>
            </a:r>
          </a:p>
          <a:p>
            <a:pPr marL="787400" lvl="1" indent="-347663"/>
            <a:r>
              <a:rPr lang="en-GB" sz="2100" dirty="0"/>
              <a:t>An instruction modifies a register or memory location</a:t>
            </a:r>
          </a:p>
          <a:p>
            <a:pPr marL="787400" lvl="1" indent="-347663"/>
            <a:r>
              <a:rPr lang="en-GB" sz="2100" dirty="0"/>
              <a:t>Succeeding instruction reads data in memory or register location</a:t>
            </a:r>
          </a:p>
          <a:p>
            <a:pPr marL="787400" lvl="1" indent="-347663"/>
            <a:r>
              <a:rPr lang="en-GB" sz="2100" dirty="0"/>
              <a:t>Hazard occurs if the read takes place before write operation is complete</a:t>
            </a:r>
          </a:p>
          <a:p>
            <a:pPr marL="428625" indent="-327025"/>
            <a:r>
              <a:rPr lang="en-GB" sz="2400" dirty="0"/>
              <a:t>Write after read (WAR), or antidependency</a:t>
            </a:r>
          </a:p>
          <a:p>
            <a:pPr marL="787400" lvl="1" indent="-347663"/>
            <a:r>
              <a:rPr lang="en-GB" sz="2100" dirty="0"/>
              <a:t>An instruction reads a register or memory location </a:t>
            </a:r>
          </a:p>
          <a:p>
            <a:pPr marL="787400" lvl="1" indent="-347663"/>
            <a:r>
              <a:rPr lang="en-GB" sz="2100" dirty="0"/>
              <a:t>Succeeding instruction writes to the location</a:t>
            </a:r>
          </a:p>
          <a:p>
            <a:pPr marL="787400" lvl="1" indent="-347663"/>
            <a:r>
              <a:rPr lang="en-GB" sz="2100" dirty="0"/>
              <a:t>Hazard occurs if the write operation completes before the read operation takes place</a:t>
            </a:r>
          </a:p>
          <a:p>
            <a:pPr marL="428625" indent="-327025"/>
            <a:r>
              <a:rPr lang="en-GB" sz="2400" dirty="0"/>
              <a:t>Write after write (WAW), or output dependency</a:t>
            </a:r>
          </a:p>
          <a:p>
            <a:pPr marL="787400" lvl="1" indent="-347663"/>
            <a:r>
              <a:rPr lang="en-GB" sz="2100" dirty="0"/>
              <a:t>Two instructions both write to the same location</a:t>
            </a:r>
          </a:p>
          <a:p>
            <a:pPr marL="787400" lvl="1" indent="-347663"/>
            <a:r>
              <a:rPr lang="en-GB" sz="2100" dirty="0"/>
              <a:t>Hazard occurs if the write operations take place in the reverse order of the intended sequence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lstStyle/>
          <a:p>
            <a:r>
              <a:rPr lang="en-GB" dirty="0"/>
              <a:t>Control Hazard</a:t>
            </a:r>
          </a:p>
        </p:txBody>
      </p:sp>
      <p:sp>
        <p:nvSpPr>
          <p:cNvPr id="197635" name="Rectangle 3"/>
          <p:cNvSpPr>
            <a:spLocks noGrp="1" noChangeArrowheads="1"/>
          </p:cNvSpPr>
          <p:nvPr>
            <p:ph type="body" idx="1"/>
          </p:nvPr>
        </p:nvSpPr>
        <p:spPr>
          <a:xfrm>
            <a:off x="457200" y="1650916"/>
            <a:ext cx="8229600" cy="4525963"/>
          </a:xfrm>
        </p:spPr>
        <p:txBody>
          <a:bodyPr>
            <a:normAutofit lnSpcReduction="10000"/>
          </a:bodyPr>
          <a:lstStyle/>
          <a:p>
            <a:pPr marL="358775" indent="-358775"/>
            <a:r>
              <a:rPr lang="en-GB" dirty="0"/>
              <a:t>Also known as a </a:t>
            </a:r>
            <a:r>
              <a:rPr lang="en-GB" i="1" dirty="0"/>
              <a:t>branch hazard</a:t>
            </a:r>
            <a:endParaRPr lang="en-GB" dirty="0"/>
          </a:p>
          <a:p>
            <a:pPr marL="358775" indent="-358775"/>
            <a:r>
              <a:rPr lang="en-GB" dirty="0"/>
              <a:t>Occurs when the pipeline makes the wrong decision on a branch prediction</a:t>
            </a:r>
          </a:p>
          <a:p>
            <a:pPr marL="358775" indent="-358775"/>
            <a:r>
              <a:rPr lang="en-GB" dirty="0"/>
              <a:t>Brings instructions into the pipeline that must subsequently be discarded</a:t>
            </a:r>
          </a:p>
          <a:p>
            <a:pPr marL="358775" indent="-358775"/>
            <a:r>
              <a:rPr lang="en-GB" dirty="0"/>
              <a:t>Dealing with Branches:</a:t>
            </a:r>
          </a:p>
          <a:p>
            <a:pPr marL="706438" lvl="1" indent="-347663"/>
            <a:r>
              <a:rPr lang="en-GB" sz="2000" dirty="0"/>
              <a:t>Multiple streams</a:t>
            </a:r>
          </a:p>
          <a:p>
            <a:pPr marL="706438" lvl="1" indent="-347663"/>
            <a:r>
              <a:rPr lang="en-GB" sz="2000" dirty="0"/>
              <a:t>Prefetch branch target</a:t>
            </a:r>
          </a:p>
          <a:p>
            <a:pPr marL="706438" lvl="1" indent="-347663"/>
            <a:r>
              <a:rPr lang="en-GB" sz="2000" dirty="0"/>
              <a:t>Loop buffer</a:t>
            </a:r>
          </a:p>
          <a:p>
            <a:pPr marL="706438" lvl="1" indent="-347663"/>
            <a:r>
              <a:rPr lang="en-GB" sz="2000" dirty="0"/>
              <a:t>Branch prediction</a:t>
            </a:r>
          </a:p>
          <a:p>
            <a:pPr marL="706438" lvl="1" indent="-347663"/>
            <a:r>
              <a:rPr lang="en-GB" sz="2000" dirty="0"/>
              <a:t>Delayed branch</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8" name="Rectangle 4"/>
          <p:cNvSpPr>
            <a:spLocks noGrp="1" noChangeArrowheads="1"/>
          </p:cNvSpPr>
          <p:nvPr>
            <p:ph type="title"/>
          </p:nvPr>
        </p:nvSpPr>
        <p:spPr>
          <a:xfrm>
            <a:off x="457200" y="188640"/>
            <a:ext cx="8229600" cy="1097279"/>
          </a:xfrm>
          <a:noFill/>
          <a:ln/>
        </p:spPr>
        <p:txBody>
          <a:bodyPr lIns="90488" tIns="44450" rIns="90488" bIns="44450"/>
          <a:lstStyle/>
          <a:p>
            <a:r>
              <a:rPr lang="en-US" dirty="0"/>
              <a:t>Multiple Streams</a:t>
            </a:r>
          </a:p>
        </p:txBody>
      </p:sp>
      <p:graphicFrame>
        <p:nvGraphicFramePr>
          <p:cNvPr id="9" name="Content Placeholder 6"/>
          <p:cNvGraphicFramePr>
            <a:graphicFrameLocks/>
          </p:cNvGraphicFramePr>
          <p:nvPr>
            <p:extLst>
              <p:ext uri="{D42A27DB-BD31-4B8C-83A1-F6EECF244321}">
                <p14:modId xmlns:p14="http://schemas.microsoft.com/office/powerpoint/2010/main" val="4242074278"/>
              </p:ext>
            </p:extLst>
          </p:nvPr>
        </p:nvGraphicFramePr>
        <p:xfrm>
          <a:off x="503548" y="1415956"/>
          <a:ext cx="8136904" cy="49540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6" name="Rectangle 4"/>
          <p:cNvSpPr>
            <a:spLocks noGrp="1" noChangeArrowheads="1"/>
          </p:cNvSpPr>
          <p:nvPr>
            <p:ph type="title"/>
          </p:nvPr>
        </p:nvSpPr>
        <p:spPr>
          <a:xfrm>
            <a:off x="457200" y="177065"/>
            <a:ext cx="8229600" cy="1097279"/>
          </a:xfrm>
          <a:noFill/>
          <a:ln/>
        </p:spPr>
        <p:txBody>
          <a:bodyPr lIns="90488" tIns="44450" rIns="90488" bIns="44450"/>
          <a:lstStyle/>
          <a:p>
            <a:r>
              <a:rPr lang="en-US" dirty="0"/>
              <a:t>Prefetch Branch Target</a:t>
            </a:r>
          </a:p>
        </p:txBody>
      </p:sp>
      <p:sp>
        <p:nvSpPr>
          <p:cNvPr id="90117" name="Rectangle 5"/>
          <p:cNvSpPr>
            <a:spLocks noGrp="1" noChangeArrowheads="1"/>
          </p:cNvSpPr>
          <p:nvPr>
            <p:ph type="body" idx="1"/>
          </p:nvPr>
        </p:nvSpPr>
        <p:spPr>
          <a:xfrm>
            <a:off x="457200" y="1674066"/>
            <a:ext cx="8229600" cy="4525963"/>
          </a:xfrm>
          <a:noFill/>
          <a:ln/>
        </p:spPr>
        <p:txBody>
          <a:bodyPr lIns="90488" tIns="44450" rIns="90488" bIns="44450">
            <a:normAutofit/>
          </a:bodyPr>
          <a:lstStyle/>
          <a:p>
            <a:pPr marL="347663" indent="-347663">
              <a:spcBef>
                <a:spcPts val="2000"/>
              </a:spcBef>
              <a:buFont typeface="Arial" panose="020B0604020202020204" pitchFamily="34" charset="0"/>
              <a:buChar char="•"/>
            </a:pPr>
            <a:r>
              <a:rPr lang="en-US" sz="2200" dirty="0"/>
              <a:t>When a conditional branch is recognized, the target of the branch is prefetched, in addition to the instruction following the branch</a:t>
            </a:r>
          </a:p>
          <a:p>
            <a:pPr marL="347663" indent="-347663">
              <a:spcBef>
                <a:spcPts val="2000"/>
              </a:spcBef>
              <a:buFont typeface="Arial" panose="020B0604020202020204" pitchFamily="34" charset="0"/>
              <a:buChar char="•"/>
            </a:pPr>
            <a:r>
              <a:rPr lang="en-US" sz="2200" dirty="0"/>
              <a:t>Target is then saved until the branch instruction is executed</a:t>
            </a:r>
          </a:p>
          <a:p>
            <a:pPr marL="347663" indent="-347663">
              <a:spcBef>
                <a:spcPts val="2000"/>
              </a:spcBef>
              <a:buFont typeface="Arial" panose="020B0604020202020204" pitchFamily="34" charset="0"/>
              <a:buChar char="•"/>
            </a:pPr>
            <a:r>
              <a:rPr lang="en-US" sz="2200" dirty="0"/>
              <a:t>If the branch is taken, the target has already been </a:t>
            </a:r>
            <a:r>
              <a:rPr lang="en-US" sz="2200" dirty="0" err="1"/>
              <a:t>prefetched</a:t>
            </a:r>
            <a:endParaRPr lang="en-US" sz="2200" dirty="0"/>
          </a:p>
          <a:p>
            <a:pPr marL="347663" indent="-347663">
              <a:spcBef>
                <a:spcPts val="2000"/>
              </a:spcBef>
              <a:buFont typeface="Arial" panose="020B0604020202020204" pitchFamily="34" charset="0"/>
              <a:buChar char="•"/>
            </a:pPr>
            <a:r>
              <a:rPr lang="en-US" sz="2200" dirty="0"/>
              <a:t>IBM 360/91 uses this approach</a:t>
            </a: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4" name="Rectangle 4"/>
          <p:cNvSpPr>
            <a:spLocks noGrp="1" noChangeArrowheads="1"/>
          </p:cNvSpPr>
          <p:nvPr>
            <p:ph type="title"/>
          </p:nvPr>
        </p:nvSpPr>
        <p:spPr>
          <a:xfrm>
            <a:off x="457200" y="177065"/>
            <a:ext cx="8229600" cy="1097279"/>
          </a:xfrm>
          <a:noFill/>
          <a:ln/>
        </p:spPr>
        <p:txBody>
          <a:bodyPr lIns="90488" tIns="44450" rIns="90488" bIns="44450"/>
          <a:lstStyle/>
          <a:p>
            <a:r>
              <a:rPr lang="en-US" dirty="0"/>
              <a:t>Loop Buffer</a:t>
            </a:r>
          </a:p>
        </p:txBody>
      </p:sp>
      <p:sp>
        <p:nvSpPr>
          <p:cNvPr id="92165" name="Rectangle 5"/>
          <p:cNvSpPr>
            <a:spLocks noGrp="1" noChangeArrowheads="1"/>
          </p:cNvSpPr>
          <p:nvPr>
            <p:ph type="body" idx="1"/>
          </p:nvPr>
        </p:nvSpPr>
        <p:spPr>
          <a:xfrm>
            <a:off x="457200" y="1688199"/>
            <a:ext cx="8229600" cy="4525963"/>
          </a:xfrm>
          <a:noFill/>
          <a:ln/>
        </p:spPr>
        <p:txBody>
          <a:bodyPr lIns="90488" tIns="44450" rIns="90488" bIns="44450">
            <a:normAutofit lnSpcReduction="10000"/>
          </a:bodyPr>
          <a:lstStyle/>
          <a:p>
            <a:pPr marL="358775" indent="-358775">
              <a:buClr>
                <a:schemeClr val="tx2"/>
              </a:buClr>
              <a:buFont typeface="Arial" panose="020B0604020202020204" pitchFamily="34" charset="0"/>
              <a:buChar char="•"/>
            </a:pPr>
            <a:r>
              <a:rPr lang="en-US" sz="2200" dirty="0"/>
              <a:t>Small, very-high speed memory maintained by the instruction fetch stage of the pipeline and containing the </a:t>
            </a:r>
            <a:r>
              <a:rPr lang="en-US" sz="2200" i="1" dirty="0"/>
              <a:t>n </a:t>
            </a:r>
            <a:r>
              <a:rPr lang="en-US" sz="2200" dirty="0"/>
              <a:t>most recently fetched instructions, in sequence</a:t>
            </a:r>
          </a:p>
          <a:p>
            <a:pPr marL="358775" indent="-358775">
              <a:buClr>
                <a:schemeClr val="tx2"/>
              </a:buClr>
              <a:buFont typeface="Arial" panose="020B0604020202020204" pitchFamily="34" charset="0"/>
              <a:buChar char="•"/>
            </a:pPr>
            <a:r>
              <a:rPr lang="en-US" sz="2200" dirty="0"/>
              <a:t>Benefits:</a:t>
            </a:r>
          </a:p>
          <a:p>
            <a:pPr marL="693738" lvl="1" indent="-346075"/>
            <a:r>
              <a:rPr lang="en-US" sz="1800" dirty="0"/>
              <a:t>Instructions fetched in sequence will be available without the usual memory access time</a:t>
            </a:r>
          </a:p>
          <a:p>
            <a:pPr marL="693738" lvl="1" indent="-346075"/>
            <a:r>
              <a:rPr lang="en-US" sz="1800" dirty="0"/>
              <a:t>If a branch occurs to a target just a few locations ahead of the address of the branch instruction, the target will already be in the buffer</a:t>
            </a:r>
          </a:p>
          <a:p>
            <a:pPr marL="693738" lvl="1" indent="-346075"/>
            <a:r>
              <a:rPr lang="en-US" sz="1800" dirty="0"/>
              <a:t>This strategy is particularly well suited to dealing with loops</a:t>
            </a:r>
          </a:p>
          <a:p>
            <a:pPr marL="358775" lvl="1" indent="-358775">
              <a:spcBef>
                <a:spcPts val="2000"/>
              </a:spcBef>
              <a:buClr>
                <a:schemeClr val="tx2"/>
              </a:buClr>
              <a:buFont typeface="Arial" panose="020B0604020202020204" pitchFamily="34" charset="0"/>
              <a:buChar char="•"/>
            </a:pPr>
            <a:r>
              <a:rPr lang="en-US" sz="2200" dirty="0"/>
              <a:t>Similar in principle to a cache dedicated to instructions</a:t>
            </a:r>
          </a:p>
          <a:p>
            <a:pPr marL="693738" lvl="1" indent="-346075"/>
            <a:r>
              <a:rPr lang="en-US" sz="1838" dirty="0"/>
              <a:t>Differences: </a:t>
            </a:r>
          </a:p>
          <a:p>
            <a:pPr marL="1052513" lvl="2" indent="-346075"/>
            <a:r>
              <a:rPr lang="en-US" sz="1800" dirty="0"/>
              <a:t>The loop buffer only retains instructions in sequence</a:t>
            </a:r>
          </a:p>
          <a:p>
            <a:pPr marL="1052513" lvl="2" indent="-346075"/>
            <a:r>
              <a:rPr lang="en-US" sz="1800" dirty="0"/>
              <a:t>Is much smaller in size and hence lower in cost</a:t>
            </a:r>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0168"/>
            <a:ext cx="8229600" cy="1097279"/>
          </a:xfrm>
          <a:noFill/>
          <a:ln/>
        </p:spPr>
        <p:txBody>
          <a:bodyPr lIns="90488" tIns="44450" rIns="90488" bIns="44450"/>
          <a:lstStyle/>
          <a:p>
            <a:r>
              <a:rPr lang="en-US" dirty="0"/>
              <a:t>Figure 16.17</a:t>
            </a:r>
            <a:br>
              <a:rPr lang="en-US" dirty="0"/>
            </a:br>
            <a:r>
              <a:rPr lang="en-US" dirty="0"/>
              <a:t>Loop Buffer</a:t>
            </a:r>
          </a:p>
        </p:txBody>
      </p:sp>
      <p:pic>
        <p:nvPicPr>
          <p:cNvPr id="4" name="Picture 3" descr="The loop buffer contains 256 bytes and it is indexed by 8 bits from the branch address. The instruction to be decoded in case of hit are generated by the loop buffer. The most significant address bits that are compared to determine a hit are directly generated by the branch address." title="A diagram offers an example of a loop buffer."/>
          <p:cNvPicPr>
            <a:picLocks noChangeAspect="1"/>
          </p:cNvPicPr>
          <p:nvPr/>
        </p:nvPicPr>
        <p:blipFill rotWithShape="1">
          <a:blip r:embed="rId3">
            <a:extLst>
              <a:ext uri="{28A0092B-C50C-407E-A947-70E740481C1C}">
                <a14:useLocalDpi xmlns:a14="http://schemas.microsoft.com/office/drawing/2010/main" val="0"/>
              </a:ext>
            </a:extLst>
          </a:blip>
          <a:srcRect l="19851" t="23311" r="15495" b="47790"/>
          <a:stretch/>
        </p:blipFill>
        <p:spPr>
          <a:xfrm>
            <a:off x="750478" y="1758571"/>
            <a:ext cx="7643045" cy="4420978"/>
          </a:xfrm>
          <a:prstGeom prst="rect">
            <a:avLst/>
          </a:prstGeom>
        </p:spPr>
      </p:pic>
    </p:spTree>
  </p:cSld>
  <p:clrMapOvr>
    <a:masterClrMapping/>
  </p:clrMapOvr>
  <p:transition spd="med">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2" name="Rectangle 4"/>
          <p:cNvSpPr>
            <a:spLocks noGrp="1" noChangeArrowheads="1"/>
          </p:cNvSpPr>
          <p:nvPr>
            <p:ph type="title"/>
          </p:nvPr>
        </p:nvSpPr>
        <p:spPr/>
        <p:txBody>
          <a:bodyPr/>
          <a:lstStyle/>
          <a:p>
            <a:r>
              <a:rPr lang="en-US" dirty="0"/>
              <a:t>Branch Prediction</a:t>
            </a:r>
          </a:p>
        </p:txBody>
      </p:sp>
      <p:sp>
        <p:nvSpPr>
          <p:cNvPr id="94213" name="Rectangle 5"/>
          <p:cNvSpPr>
            <a:spLocks noGrp="1" noChangeArrowheads="1"/>
          </p:cNvSpPr>
          <p:nvPr>
            <p:ph type="body" idx="1"/>
          </p:nvPr>
        </p:nvSpPr>
        <p:spPr/>
        <p:txBody>
          <a:bodyPr/>
          <a:lstStyle/>
          <a:p>
            <a:pPr marL="347663" indent="-347663"/>
            <a:r>
              <a:rPr lang="en-US" dirty="0"/>
              <a:t>Various techniques can be used to predict whether a branch will be taken:</a:t>
            </a:r>
          </a:p>
          <a:p>
            <a:pPr>
              <a:buNone/>
            </a:pPr>
            <a:endParaRPr lang="en-US" sz="1000" dirty="0"/>
          </a:p>
          <a:p>
            <a:pPr marL="717550" lvl="1" indent="-369888">
              <a:buClr>
                <a:schemeClr val="tx2"/>
              </a:buClr>
              <a:buSzPct val="100000"/>
              <a:buFont typeface="+mj-lt"/>
              <a:buAutoNum type="arabicPeriod"/>
            </a:pPr>
            <a:r>
              <a:rPr lang="en-US" sz="1800" dirty="0"/>
              <a:t>Predict never taken</a:t>
            </a:r>
          </a:p>
          <a:p>
            <a:pPr marL="717550" lvl="1" indent="-369888">
              <a:buClr>
                <a:schemeClr val="tx2"/>
              </a:buClr>
              <a:buSzPct val="100000"/>
              <a:buFont typeface="+mj-lt"/>
              <a:buAutoNum type="arabicPeriod"/>
            </a:pPr>
            <a:r>
              <a:rPr lang="en-US" sz="1800" dirty="0"/>
              <a:t>Predict always taken</a:t>
            </a:r>
          </a:p>
          <a:p>
            <a:pPr marL="717550" lvl="1" indent="-369888">
              <a:buClr>
                <a:schemeClr val="tx2"/>
              </a:buClr>
              <a:buSzPct val="100000"/>
              <a:buFont typeface="+mj-lt"/>
              <a:buAutoNum type="arabicPeriod"/>
            </a:pPr>
            <a:r>
              <a:rPr lang="en-US" sz="1800" dirty="0"/>
              <a:t>Predict by opcode</a:t>
            </a:r>
          </a:p>
          <a:p>
            <a:pPr marL="571500" lvl="1" indent="-342900">
              <a:buClr>
                <a:schemeClr val="accent1"/>
              </a:buClr>
              <a:buSzPct val="100000"/>
              <a:buFont typeface="+mj-lt"/>
              <a:buAutoNum type="arabicPeriod"/>
            </a:pPr>
            <a:endParaRPr lang="en-US" sz="1800" dirty="0"/>
          </a:p>
          <a:p>
            <a:pPr marL="571500" lvl="1" indent="-342900">
              <a:buClr>
                <a:schemeClr val="accent1"/>
              </a:buClr>
              <a:buSzPct val="100000"/>
              <a:buNone/>
            </a:pPr>
            <a:endParaRPr lang="en-US" sz="1000" dirty="0"/>
          </a:p>
          <a:p>
            <a:pPr marL="717550" lvl="1" indent="-369888">
              <a:buClr>
                <a:schemeClr val="tx2"/>
              </a:buClr>
              <a:buSzPct val="100000"/>
              <a:buFont typeface="+mj-lt"/>
              <a:buAutoNum type="arabicPeriod"/>
            </a:pPr>
            <a:r>
              <a:rPr lang="en-US" sz="1800" dirty="0"/>
              <a:t>Taken/not taken switch</a:t>
            </a:r>
          </a:p>
          <a:p>
            <a:pPr marL="717550" lvl="1" indent="-369888">
              <a:buClr>
                <a:schemeClr val="tx2"/>
              </a:buClr>
              <a:buSzPct val="100000"/>
              <a:buFont typeface="+mj-lt"/>
              <a:buAutoNum type="arabicPeriod"/>
            </a:pPr>
            <a:r>
              <a:rPr lang="en-US" sz="1800" dirty="0"/>
              <a:t>Branch history table</a:t>
            </a:r>
          </a:p>
        </p:txBody>
      </p:sp>
      <p:sp>
        <p:nvSpPr>
          <p:cNvPr id="9" name="Right Brace 8"/>
          <p:cNvSpPr/>
          <p:nvPr/>
        </p:nvSpPr>
        <p:spPr>
          <a:xfrm>
            <a:off x="3305944" y="2746203"/>
            <a:ext cx="609600" cy="11430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10" name="Right Brace 9"/>
          <p:cNvSpPr/>
          <p:nvPr/>
        </p:nvSpPr>
        <p:spPr>
          <a:xfrm>
            <a:off x="3610744" y="4344700"/>
            <a:ext cx="457200" cy="8382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11" name="TextBox 10"/>
          <p:cNvSpPr txBox="1"/>
          <p:nvPr/>
        </p:nvSpPr>
        <p:spPr>
          <a:xfrm>
            <a:off x="3904995" y="2636912"/>
            <a:ext cx="4339414" cy="1277273"/>
          </a:xfrm>
          <a:prstGeom prst="rect">
            <a:avLst/>
          </a:prstGeom>
          <a:noFill/>
        </p:spPr>
        <p:txBody>
          <a:bodyPr wrap="square" rtlCol="0">
            <a:spAutoFit/>
          </a:bodyPr>
          <a:lstStyle/>
          <a:p>
            <a:pPr marL="514350" lvl="1" indent="-285750" eaLnBrk="1" hangingPunct="1">
              <a:spcBef>
                <a:spcPts val="600"/>
              </a:spcBef>
              <a:buClr>
                <a:schemeClr val="tx2"/>
              </a:buClr>
              <a:buSzPct val="75000"/>
              <a:buFont typeface="Arial" panose="020B0604020202020204" pitchFamily="34" charset="0"/>
              <a:buChar char="•"/>
            </a:pPr>
            <a:r>
              <a:rPr lang="en-US" sz="1800" dirty="0">
                <a:latin typeface="+mn-lt"/>
              </a:rPr>
              <a:t>These approaches are static</a:t>
            </a:r>
          </a:p>
          <a:p>
            <a:pPr marL="514350" lvl="1" indent="-285750" eaLnBrk="1" hangingPunct="1">
              <a:spcBef>
                <a:spcPts val="600"/>
              </a:spcBef>
              <a:buClr>
                <a:schemeClr val="tx2"/>
              </a:buClr>
              <a:buSzPct val="75000"/>
              <a:buFont typeface="Arial" panose="020B0604020202020204" pitchFamily="34" charset="0"/>
              <a:buChar char="•"/>
            </a:pPr>
            <a:r>
              <a:rPr lang="en-US" sz="1800" dirty="0">
                <a:latin typeface="+mn-lt"/>
              </a:rPr>
              <a:t>They do not depend on the execution history up to the time of the conditional branch instruction</a:t>
            </a:r>
          </a:p>
        </p:txBody>
      </p:sp>
      <p:sp>
        <p:nvSpPr>
          <p:cNvPr id="12" name="TextBox 11"/>
          <p:cNvSpPr txBox="1"/>
          <p:nvPr/>
        </p:nvSpPr>
        <p:spPr>
          <a:xfrm>
            <a:off x="3981194" y="4389512"/>
            <a:ext cx="4551246" cy="723275"/>
          </a:xfrm>
          <a:prstGeom prst="rect">
            <a:avLst/>
          </a:prstGeom>
          <a:noFill/>
        </p:spPr>
        <p:txBody>
          <a:bodyPr wrap="none" rtlCol="0">
            <a:spAutoFit/>
          </a:bodyPr>
          <a:lstStyle/>
          <a:p>
            <a:pPr marL="514350" lvl="1" indent="-285750" eaLnBrk="1" hangingPunct="1">
              <a:spcBef>
                <a:spcPts val="600"/>
              </a:spcBef>
              <a:buClr>
                <a:schemeClr val="tx2"/>
              </a:buClr>
              <a:buSzPct val="75000"/>
              <a:buFont typeface="Arial" panose="020B0604020202020204" pitchFamily="34" charset="0"/>
              <a:buChar char="•"/>
            </a:pPr>
            <a:r>
              <a:rPr lang="en-US" sz="1800" dirty="0">
                <a:latin typeface="+mn-lt"/>
              </a:rPr>
              <a:t>These approaches are dynamic</a:t>
            </a:r>
          </a:p>
          <a:p>
            <a:pPr marL="514350" lvl="1" indent="-285750" eaLnBrk="1" hangingPunct="1">
              <a:spcBef>
                <a:spcPts val="600"/>
              </a:spcBef>
              <a:buClr>
                <a:schemeClr val="tx2"/>
              </a:buClr>
              <a:buSzPct val="75000"/>
              <a:buFont typeface="Arial" panose="020B0604020202020204" pitchFamily="34" charset="0"/>
              <a:buChar char="•"/>
            </a:pPr>
            <a:r>
              <a:rPr lang="en-US" sz="1800" dirty="0">
                <a:latin typeface="+mn-lt"/>
              </a:rPr>
              <a:t>They depend on the execution history</a:t>
            </a: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0168"/>
            <a:ext cx="8229600" cy="1097279"/>
          </a:xfrm>
          <a:noFill/>
          <a:ln/>
        </p:spPr>
        <p:txBody>
          <a:bodyPr lIns="90488" tIns="44450" rIns="90488" bIns="44450"/>
          <a:lstStyle/>
          <a:p>
            <a:r>
              <a:rPr lang="en-US" dirty="0"/>
              <a:t>Figure 16.18 </a:t>
            </a:r>
            <a:br>
              <a:rPr lang="en-US" dirty="0"/>
            </a:br>
            <a:r>
              <a:rPr lang="en-US" dirty="0"/>
              <a:t>Branch Prediction Flowchart</a:t>
            </a:r>
          </a:p>
        </p:txBody>
      </p:sp>
      <p:pic>
        <p:nvPicPr>
          <p:cNvPr id="4" name="Picture 3" descr="The predict is taken after the read next conditional branch instruction is admitted. After the predict is taken, check whether the branch is taken If it is, then the program will return to the initial state. If not, then admit the read next conditional branch instruction. After the predict is take, again check whether the branch is taken. If yes, the program will return to the initial state. If not the process needs to be repeated." title="A block diagram explains a typical branch prediction flowchart."/>
          <p:cNvPicPr>
            <a:picLocks noChangeAspect="1"/>
          </p:cNvPicPr>
          <p:nvPr/>
        </p:nvPicPr>
        <p:blipFill rotWithShape="1">
          <a:blip r:embed="rId3">
            <a:extLst>
              <a:ext uri="{28A0092B-C50C-407E-A947-70E740481C1C}">
                <a14:useLocalDpi xmlns:a14="http://schemas.microsoft.com/office/drawing/2010/main" val="0"/>
              </a:ext>
            </a:extLst>
          </a:blip>
          <a:srcRect l="16470" t="7716" r="22353" b="24568"/>
          <a:stretch/>
        </p:blipFill>
        <p:spPr>
          <a:xfrm>
            <a:off x="2772845" y="1252410"/>
            <a:ext cx="3598311" cy="5154435"/>
          </a:xfrm>
          <a:prstGeom prst="rect">
            <a:avLst/>
          </a:prstGeom>
        </p:spPr>
      </p:pic>
    </p:spTree>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0168"/>
            <a:ext cx="8229600" cy="1097279"/>
          </a:xfrm>
          <a:noFill/>
          <a:ln/>
        </p:spPr>
        <p:txBody>
          <a:bodyPr lIns="90488" tIns="44450" rIns="90488" bIns="44450"/>
          <a:lstStyle/>
          <a:p>
            <a:r>
              <a:rPr lang="en-US" dirty="0"/>
              <a:t>Figure 16.19</a:t>
            </a:r>
            <a:br>
              <a:rPr lang="en-US" dirty="0"/>
            </a:br>
            <a:r>
              <a:rPr lang="en-US" dirty="0"/>
              <a:t>Branch Prediction State Diagram</a:t>
            </a:r>
          </a:p>
        </p:txBody>
      </p:sp>
      <p:pic>
        <p:nvPicPr>
          <p:cNvPr id="4" name="Picture 3" descr="If the predict is taken, the instruction will return to itself. If not, then the instruction must be admitted again so that the predict is taken. In the third state, the program instruction will return to itself, if the predict is not taken. In the fourth state, the program instruction will return to state 1 if the predict is taken and will return to state 3 if the predict is not taken." title="A diagrammatic representation of a branch prediction state. "/>
          <p:cNvPicPr>
            <a:picLocks noChangeAspect="1"/>
          </p:cNvPicPr>
          <p:nvPr/>
        </p:nvPicPr>
        <p:blipFill rotWithShape="1">
          <a:blip r:embed="rId3">
            <a:extLst>
              <a:ext uri="{28A0092B-C50C-407E-A947-70E740481C1C}">
                <a14:useLocalDpi xmlns:a14="http://schemas.microsoft.com/office/drawing/2010/main" val="0"/>
              </a:ext>
            </a:extLst>
          </a:blip>
          <a:srcRect l="9402" t="15293" r="15260" b="17797"/>
          <a:stretch/>
        </p:blipFill>
        <p:spPr>
          <a:xfrm>
            <a:off x="899592" y="1264950"/>
            <a:ext cx="7344817" cy="5040560"/>
          </a:xfrm>
          <a:prstGeom prst="rect">
            <a:avLst/>
          </a:prstGeom>
        </p:spPr>
      </p:pic>
    </p:spTree>
  </p:cSld>
  <p:clrMapOvr>
    <a:masterClrMapping/>
  </p:clrMapOvr>
  <p:transition spd="med">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0168"/>
            <a:ext cx="8229600" cy="1097279"/>
          </a:xfrm>
          <a:noFill/>
          <a:ln/>
        </p:spPr>
        <p:txBody>
          <a:bodyPr lIns="90488" tIns="44450" rIns="90488" bIns="44450"/>
          <a:lstStyle/>
          <a:p>
            <a:r>
              <a:rPr lang="en-US" dirty="0"/>
              <a:t>Figure 16.20</a:t>
            </a:r>
            <a:br>
              <a:rPr lang="en-US" dirty="0"/>
            </a:br>
            <a:r>
              <a:rPr lang="en-US" dirty="0"/>
              <a:t>Dealing with Branches</a:t>
            </a:r>
          </a:p>
        </p:txBody>
      </p:sp>
      <p:pic>
        <p:nvPicPr>
          <p:cNvPr id="4" name="Picture 3" descr="Diagram A. Next sequential address and branch miss handling are sent to the select block. Branch handling receives an input E. After selection, memory is generated. Diagram B. the branch history table contains 6 rows and 7 columns. The sixth row contains unspecified values, whereas all the other rows are blank. The three columns correspond to branch instruction address, target address and state. I P F A R sends the lookup address to the first row first column of the branch history table. Data from the second row sixth column are sent to the select block. The selection block also receives input from the next sequential address and instruction to redirect from the branch miss handing, which further receives the input E. The selection block generates memory and a copy of the output from the selection block is forwarded to the I P F A R. The branch miss handling also sends the update state to the first column of the sixth row and add new entry instruction to the first column of the fourth row." title="A block diagram explains the concepts in dealing with branches."/>
          <p:cNvPicPr>
            <a:picLocks noChangeAspect="1"/>
          </p:cNvPicPr>
          <p:nvPr/>
        </p:nvPicPr>
        <p:blipFill rotWithShape="1">
          <a:blip r:embed="rId3">
            <a:extLst>
              <a:ext uri="{28A0092B-C50C-407E-A947-70E740481C1C}">
                <a14:useLocalDpi xmlns:a14="http://schemas.microsoft.com/office/drawing/2010/main" val="0"/>
              </a:ext>
            </a:extLst>
          </a:blip>
          <a:srcRect l="20193" t="6951" r="10508" b="18500"/>
          <a:stretch/>
        </p:blipFill>
        <p:spPr>
          <a:xfrm>
            <a:off x="2735796" y="1267447"/>
            <a:ext cx="3672408" cy="5112568"/>
          </a:xfrm>
          <a:prstGeom prst="rect">
            <a:avLst/>
          </a:prstGeom>
        </p:spPr>
      </p:pic>
    </p:spTree>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457200" y="214914"/>
            <a:ext cx="8229600" cy="1097279"/>
          </a:xfrm>
        </p:spPr>
        <p:txBody>
          <a:bodyPr>
            <a:normAutofit/>
          </a:bodyPr>
          <a:lstStyle/>
          <a:p>
            <a:r>
              <a:rPr lang="en-US" dirty="0"/>
              <a:t>Summary</a:t>
            </a:r>
          </a:p>
        </p:txBody>
      </p:sp>
      <p:sp>
        <p:nvSpPr>
          <p:cNvPr id="44035" name="Rectangle 3"/>
          <p:cNvSpPr>
            <a:spLocks noGrp="1" noChangeArrowheads="1"/>
          </p:cNvSpPr>
          <p:nvPr>
            <p:ph type="body" idx="1"/>
          </p:nvPr>
        </p:nvSpPr>
        <p:spPr>
          <a:xfrm>
            <a:off x="332518" y="1588625"/>
            <a:ext cx="8478965" cy="4525963"/>
          </a:xfrm>
        </p:spPr>
        <p:txBody>
          <a:bodyPr>
            <a:normAutofit/>
          </a:bodyPr>
          <a:lstStyle/>
          <a:p>
            <a:pPr marL="101600" indent="0">
              <a:buNone/>
            </a:pPr>
            <a:r>
              <a:rPr lang="en-US" sz="3200" dirty="0">
                <a:solidFill>
                  <a:srgbClr val="007FA3"/>
                </a:solidFill>
              </a:rPr>
              <a:t>Chapter 16</a:t>
            </a:r>
            <a:r>
              <a:rPr lang="en-US" sz="3200" dirty="0"/>
              <a:t>     </a:t>
            </a:r>
          </a:p>
          <a:p>
            <a:endParaRPr lang="en-US" sz="3200" dirty="0"/>
          </a:p>
        </p:txBody>
      </p:sp>
      <p:sp>
        <p:nvSpPr>
          <p:cNvPr id="30" name="Content Placeholder 29"/>
          <p:cNvSpPr>
            <a:spLocks noGrp="1"/>
          </p:cNvSpPr>
          <p:nvPr>
            <p:ph sz="half" idx="4294967295"/>
          </p:nvPr>
        </p:nvSpPr>
        <p:spPr>
          <a:xfrm>
            <a:off x="482352" y="2276475"/>
            <a:ext cx="3657600" cy="3739314"/>
          </a:xfrm>
        </p:spPr>
        <p:txBody>
          <a:bodyPr>
            <a:normAutofit/>
          </a:bodyPr>
          <a:lstStyle/>
          <a:p>
            <a:pPr marL="323850" indent="-323850">
              <a:buClr>
                <a:schemeClr val="tx2"/>
              </a:buClr>
              <a:buFont typeface="Arial" panose="020B0604020202020204" pitchFamily="34" charset="0"/>
              <a:buChar char="•"/>
            </a:pPr>
            <a:r>
              <a:rPr lang="en-US" sz="2200" dirty="0"/>
              <a:t>Processor organization</a:t>
            </a:r>
          </a:p>
          <a:p>
            <a:pPr marL="323850" indent="-323850">
              <a:buClr>
                <a:schemeClr val="tx2"/>
              </a:buClr>
              <a:buFont typeface="Arial" panose="020B0604020202020204" pitchFamily="34" charset="0"/>
              <a:buChar char="•"/>
            </a:pPr>
            <a:r>
              <a:rPr lang="en-US" sz="2200" dirty="0"/>
              <a:t>Register organization</a:t>
            </a:r>
          </a:p>
          <a:p>
            <a:pPr marL="682625" lvl="1" indent="-334963">
              <a:buClr>
                <a:schemeClr val="tx2"/>
              </a:buClr>
              <a:buFont typeface="Arial" panose="020B0604020202020204" pitchFamily="34" charset="0"/>
              <a:buChar char="–"/>
            </a:pPr>
            <a:r>
              <a:rPr lang="en-US" sz="2000" dirty="0"/>
              <a:t>User-visible registers</a:t>
            </a:r>
          </a:p>
          <a:p>
            <a:pPr marL="682625" lvl="1" indent="-334963">
              <a:buClr>
                <a:schemeClr val="tx2"/>
              </a:buClr>
              <a:buFont typeface="Arial" panose="020B0604020202020204" pitchFamily="34" charset="0"/>
              <a:buChar char="–"/>
            </a:pPr>
            <a:r>
              <a:rPr lang="en-US" sz="2000" dirty="0"/>
              <a:t>Control and status registers</a:t>
            </a:r>
          </a:p>
          <a:p>
            <a:pPr marL="323850" indent="-323850">
              <a:buClr>
                <a:schemeClr val="tx2"/>
              </a:buClr>
              <a:buFont typeface="Arial" panose="020B0604020202020204" pitchFamily="34" charset="0"/>
              <a:buChar char="•"/>
            </a:pPr>
            <a:r>
              <a:rPr lang="en-US" sz="2200" dirty="0"/>
              <a:t>Instruction cycle</a:t>
            </a:r>
          </a:p>
          <a:p>
            <a:pPr marL="682625" lvl="1" indent="-334963">
              <a:buClr>
                <a:schemeClr val="tx2"/>
              </a:buClr>
              <a:buFont typeface="Arial" panose="020B0604020202020204" pitchFamily="34" charset="0"/>
              <a:buChar char="–"/>
            </a:pPr>
            <a:r>
              <a:rPr lang="en-US" sz="2000" dirty="0"/>
              <a:t>The indirect cycle</a:t>
            </a:r>
          </a:p>
          <a:p>
            <a:pPr marL="682625" lvl="1" indent="-334963">
              <a:buClr>
                <a:schemeClr val="tx2"/>
              </a:buClr>
              <a:buFont typeface="Arial" panose="020B0604020202020204" pitchFamily="34" charset="0"/>
              <a:buChar char="–"/>
            </a:pPr>
            <a:r>
              <a:rPr lang="en-US" sz="2000" dirty="0"/>
              <a:t>Data flow</a:t>
            </a:r>
          </a:p>
          <a:p>
            <a:pPr marL="323850" indent="-323850">
              <a:buClr>
                <a:schemeClr val="tx2"/>
              </a:buClr>
              <a:buFont typeface="Arial" panose="020B0604020202020204" pitchFamily="34" charset="0"/>
              <a:buChar char="•"/>
            </a:pPr>
            <a:r>
              <a:rPr lang="en-US" sz="2200" dirty="0"/>
              <a:t>The x86 processor family</a:t>
            </a:r>
          </a:p>
          <a:p>
            <a:pPr marL="682625" lvl="1" indent="-334963">
              <a:buClr>
                <a:schemeClr val="tx2"/>
              </a:buClr>
              <a:buFont typeface="Arial" panose="020B0604020202020204" pitchFamily="34" charset="0"/>
              <a:buChar char="–"/>
            </a:pPr>
            <a:r>
              <a:rPr lang="en-US" sz="2000" dirty="0"/>
              <a:t>Register organization</a:t>
            </a:r>
          </a:p>
          <a:p>
            <a:pPr marL="682625" lvl="1" indent="-334963">
              <a:buClr>
                <a:schemeClr val="tx2"/>
              </a:buClr>
              <a:buFont typeface="Arial" panose="020B0604020202020204" pitchFamily="34" charset="0"/>
              <a:buChar char="–"/>
            </a:pPr>
            <a:r>
              <a:rPr lang="en-US" sz="2000" dirty="0"/>
              <a:t>Interrupt processing</a:t>
            </a:r>
          </a:p>
        </p:txBody>
      </p:sp>
      <p:sp>
        <p:nvSpPr>
          <p:cNvPr id="31" name="Text Placeholder 30"/>
          <p:cNvSpPr>
            <a:spLocks noGrp="1"/>
          </p:cNvSpPr>
          <p:nvPr>
            <p:ph type="body" sz="quarter" idx="4294967295"/>
          </p:nvPr>
        </p:nvSpPr>
        <p:spPr>
          <a:xfrm>
            <a:off x="4644008" y="905063"/>
            <a:ext cx="3657600" cy="1060627"/>
          </a:xfrm>
        </p:spPr>
        <p:txBody>
          <a:bodyPr/>
          <a:lstStyle/>
          <a:p>
            <a:pPr algn="ctr"/>
            <a:r>
              <a:rPr lang="en-US" sz="2800" dirty="0">
                <a:solidFill>
                  <a:srgbClr val="007FA3"/>
                </a:solidFill>
              </a:rPr>
              <a:t>Processor Structure and Function</a:t>
            </a:r>
            <a:endParaRPr lang="en-US" dirty="0">
              <a:solidFill>
                <a:srgbClr val="007FA3"/>
              </a:solidFill>
            </a:endParaRPr>
          </a:p>
        </p:txBody>
      </p:sp>
      <p:sp>
        <p:nvSpPr>
          <p:cNvPr id="32" name="Content Placeholder 31"/>
          <p:cNvSpPr>
            <a:spLocks noGrp="1"/>
          </p:cNvSpPr>
          <p:nvPr>
            <p:ph sz="quarter" idx="4294967295"/>
          </p:nvPr>
        </p:nvSpPr>
        <p:spPr>
          <a:xfrm>
            <a:off x="4644008" y="2266528"/>
            <a:ext cx="3657600" cy="3761293"/>
          </a:xfrm>
        </p:spPr>
        <p:txBody>
          <a:bodyPr>
            <a:normAutofit/>
          </a:bodyPr>
          <a:lstStyle/>
          <a:p>
            <a:pPr marL="285750" indent="-285750">
              <a:buClr>
                <a:schemeClr val="tx2"/>
              </a:buClr>
              <a:buFont typeface="Arial" panose="020B0604020202020204" pitchFamily="34" charset="0"/>
              <a:buChar char="•"/>
            </a:pPr>
            <a:r>
              <a:rPr lang="en-US" sz="2200" dirty="0"/>
              <a:t>Instruction pipelining</a:t>
            </a:r>
          </a:p>
          <a:p>
            <a:pPr marL="636588" lvl="1" indent="-312738">
              <a:buClr>
                <a:schemeClr val="tx2"/>
              </a:buClr>
              <a:buFont typeface="Arial" panose="020B0604020202020204" pitchFamily="34" charset="0"/>
              <a:buChar char="–"/>
            </a:pPr>
            <a:r>
              <a:rPr lang="en-US" sz="2000" dirty="0"/>
              <a:t>Pipelining strategy</a:t>
            </a:r>
          </a:p>
          <a:p>
            <a:pPr marL="636588" lvl="1" indent="-312738">
              <a:buClr>
                <a:schemeClr val="tx2"/>
              </a:buClr>
              <a:buFont typeface="Arial" panose="020B0604020202020204" pitchFamily="34" charset="0"/>
              <a:buChar char="–"/>
            </a:pPr>
            <a:r>
              <a:rPr lang="en-US" sz="2000" dirty="0"/>
              <a:t>Pipeline performance</a:t>
            </a:r>
          </a:p>
          <a:p>
            <a:pPr marL="636588" lvl="1" indent="-312738">
              <a:buClr>
                <a:schemeClr val="tx2"/>
              </a:buClr>
              <a:buFont typeface="Arial" panose="020B0604020202020204" pitchFamily="34" charset="0"/>
              <a:buChar char="–"/>
            </a:pPr>
            <a:r>
              <a:rPr lang="en-US" sz="2000" dirty="0"/>
              <a:t>Pipeline hazards</a:t>
            </a:r>
          </a:p>
          <a:p>
            <a:pPr marL="636588" lvl="1" indent="-312738">
              <a:buClr>
                <a:schemeClr val="tx2"/>
              </a:buClr>
              <a:buFont typeface="Arial" panose="020B0604020202020204" pitchFamily="34" charset="0"/>
              <a:buChar char="–"/>
            </a:pPr>
            <a:r>
              <a:rPr lang="en-US" sz="2000" dirty="0"/>
              <a:t>Dealing with branches</a:t>
            </a:r>
          </a:p>
          <a:p>
            <a:pPr marL="636588" lvl="1" indent="-312738">
              <a:buClr>
                <a:schemeClr val="tx2"/>
              </a:buClr>
              <a:buFont typeface="Arial" panose="020B0604020202020204" pitchFamily="34" charset="0"/>
              <a:buChar char="–"/>
            </a:pPr>
            <a:r>
              <a:rPr lang="en-US" sz="2000" dirty="0"/>
              <a:t>Intel 80486 pipelining</a:t>
            </a:r>
          </a:p>
          <a:p>
            <a:pPr marL="285750" indent="-285750">
              <a:buClr>
                <a:schemeClr val="tx2"/>
              </a:buClr>
              <a:buFont typeface="Arial" panose="020B0604020202020204" pitchFamily="34" charset="0"/>
              <a:buChar char="•"/>
            </a:pPr>
            <a:r>
              <a:rPr lang="en-US" sz="2200" dirty="0"/>
              <a:t>The Arm processor</a:t>
            </a:r>
          </a:p>
          <a:p>
            <a:pPr marL="636588" lvl="1" indent="-312738">
              <a:buClr>
                <a:schemeClr val="tx2"/>
              </a:buClr>
              <a:buFont typeface="Arial" panose="020B0604020202020204" pitchFamily="34" charset="0"/>
              <a:buChar char="–"/>
            </a:pPr>
            <a:r>
              <a:rPr lang="en-US" sz="2000" dirty="0"/>
              <a:t>Processor organization</a:t>
            </a:r>
          </a:p>
          <a:p>
            <a:pPr marL="636588" lvl="1" indent="-312738">
              <a:buClr>
                <a:schemeClr val="tx2"/>
              </a:buClr>
              <a:buFont typeface="Arial" panose="020B0604020202020204" pitchFamily="34" charset="0"/>
              <a:buChar char="–"/>
            </a:pPr>
            <a:r>
              <a:rPr lang="en-US" sz="2000" dirty="0"/>
              <a:t>Processor modes</a:t>
            </a:r>
          </a:p>
          <a:p>
            <a:pPr marL="636588" lvl="1" indent="-312738">
              <a:buClr>
                <a:schemeClr val="tx2"/>
              </a:buClr>
              <a:buFont typeface="Arial" panose="020B0604020202020204" pitchFamily="34" charset="0"/>
              <a:buChar char="–"/>
            </a:pPr>
            <a:r>
              <a:rPr lang="en-US" sz="2000" dirty="0"/>
              <a:t>Register organization</a:t>
            </a:r>
          </a:p>
          <a:p>
            <a:pPr marL="636588" lvl="1" indent="-312738">
              <a:buClr>
                <a:schemeClr val="tx2"/>
              </a:buClr>
              <a:buFont typeface="Arial" panose="020B0604020202020204" pitchFamily="34" charset="0"/>
              <a:buChar char="–"/>
            </a:pPr>
            <a:r>
              <a:rPr lang="en-US" sz="2000" dirty="0"/>
              <a:t>Interrupt processing</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r>
              <a:rPr lang="en-GB" dirty="0"/>
              <a:t>Intel 80486 Pipelining</a:t>
            </a:r>
          </a:p>
        </p:txBody>
      </p:sp>
      <p:sp>
        <p:nvSpPr>
          <p:cNvPr id="3" name="Text Placeholder 2"/>
          <p:cNvSpPr>
            <a:spLocks noGrp="1"/>
          </p:cNvSpPr>
          <p:nvPr>
            <p:ph type="body" idx="1"/>
          </p:nvPr>
        </p:nvSpPr>
        <p:spPr/>
        <p:txBody>
          <a:bodyPr/>
          <a:lstStyle/>
          <a:p>
            <a:endParaRPr lang="en-IN"/>
          </a:p>
        </p:txBody>
      </p:sp>
      <p:graphicFrame>
        <p:nvGraphicFramePr>
          <p:cNvPr id="4" name="Content Placeholder 3"/>
          <p:cNvGraphicFramePr>
            <a:graphicFrameLocks noGrp="1"/>
          </p:cNvGraphicFramePr>
          <p:nvPr>
            <p:ph idx="4294967295"/>
          </p:nvPr>
        </p:nvGraphicFramePr>
        <p:xfrm>
          <a:off x="593232" y="1341115"/>
          <a:ext cx="7957536" cy="49682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041720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0168"/>
            <a:ext cx="8229600" cy="1097279"/>
          </a:xfrm>
          <a:noFill/>
          <a:ln/>
        </p:spPr>
        <p:txBody>
          <a:bodyPr lIns="90488" tIns="44450" rIns="90488" bIns="44450"/>
          <a:lstStyle/>
          <a:p>
            <a:r>
              <a:rPr lang="en-US" dirty="0"/>
              <a:t>Figure 16.21 </a:t>
            </a:r>
            <a:br>
              <a:rPr lang="en-US" dirty="0"/>
            </a:br>
            <a:r>
              <a:rPr lang="en-US" dirty="0"/>
              <a:t>80486 Instruction Pipeline Examples</a:t>
            </a:r>
          </a:p>
        </p:txBody>
      </p:sp>
      <p:pic>
        <p:nvPicPr>
          <p:cNvPr id="4" name="Picture 3" descr="Diagram A, No data delay in the pipeline. Row 1. Instruction fetch, D 1, D 2, D 3 and W B. Command. M O V, R e g 1 comma M e m 1. Row 2, indented once. Instruction Fetch, D 1, D 2, E X and W B. Command. M O V, R e g 1 comma R e g 2. Row 3, indented twice. Instruction fetch. D 1, D 2, E X, W B. Command. M O V, M e m 2 comma R e g 1. Diagram B, Pointer load delay. Row 1. Fetch instruction. D 1, D 2, E X, W B. Command, M O V, R e g 1 comma M e m 1. Row 2, indented once. Instruction fetch. D 1, missing block, D 2, E X. Command, M O V, R e g 2 comma left parenthesis R e g 1 right parenthesis. Diagram C, Row 1. Fetch instruction. D 1, D 2, E X, W B. Command, C M P, R e g 1, 1 m m. Row 2, indented once. Fetch instruction. D 1, D 2, E X. Command, J c c target. Row 3, indented 4 times. Fetch instruction. d 1, d 2, e x. Command, target. " title="A diagrammatic representation of the instruction pipeline for 80486 processor."/>
          <p:cNvPicPr>
            <a:picLocks noChangeAspect="1"/>
          </p:cNvPicPr>
          <p:nvPr/>
        </p:nvPicPr>
        <p:blipFill rotWithShape="1">
          <a:blip r:embed="rId3">
            <a:extLst>
              <a:ext uri="{28A0092B-C50C-407E-A947-70E740481C1C}">
                <a14:useLocalDpi xmlns:a14="http://schemas.microsoft.com/office/drawing/2010/main" val="0"/>
              </a:ext>
            </a:extLst>
          </a:blip>
          <a:srcRect l="7317" t="9352" r="6098" b="20986"/>
          <a:stretch/>
        </p:blipFill>
        <p:spPr>
          <a:xfrm>
            <a:off x="2163865" y="1351359"/>
            <a:ext cx="4816271" cy="5014608"/>
          </a:xfrm>
          <a:prstGeom prst="rect">
            <a:avLst/>
          </a:prstGeom>
        </p:spPr>
      </p:pic>
    </p:spTree>
    <p:extLst>
      <p:ext uri="{BB962C8B-B14F-4D97-AF65-F5344CB8AC3E}">
        <p14:creationId xmlns:p14="http://schemas.microsoft.com/office/powerpoint/2010/main" val="2727425206"/>
      </p:ext>
    </p:extLst>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title"/>
          </p:nvPr>
        </p:nvSpPr>
        <p:spPr>
          <a:xfrm>
            <a:off x="457200" y="170168"/>
            <a:ext cx="8229600" cy="1097279"/>
          </a:xfrm>
          <a:noFill/>
          <a:ln/>
        </p:spPr>
        <p:txBody>
          <a:bodyPr lIns="90488" tIns="44450" rIns="90488" bIns="44450"/>
          <a:lstStyle/>
          <a:p>
            <a:r>
              <a:rPr lang="en-US" dirty="0"/>
              <a:t>Figure 16.22 </a:t>
            </a:r>
            <a:br>
              <a:rPr lang="en-US" dirty="0"/>
            </a:br>
            <a:r>
              <a:rPr lang="en-US" dirty="0"/>
              <a:t>Approaches to Pipeline Organization</a:t>
            </a:r>
          </a:p>
        </p:txBody>
      </p:sp>
      <p:pic>
        <p:nvPicPr>
          <p:cNvPr id="3" name="Picture 2" descr="Diagram A A, Simple Pipeline Organization, displays a five-stage pipeline that consists of stages. Instruction fetch, I F, , Instruction decode, I D, , Operand fetch, O F, , Execute, E X, , and Write back, W B. The write back and operand fetch are connected with Register file. Instruction fetch, and execute are connected with L 1 cache. The diagram B, Performance Enhancements displays the same pipeline and the W B, and O F connected with Register file, O F has double arrows from the register file. I cache is connected with I F, and D code is connected with ex bi directionally." title="An illustration presents Approaches to Pipeline Organization using 2 diagrams. They are, A, Simple Pipeline Organization, and B, Performance Enhancements."/>
          <p:cNvPicPr>
            <a:picLocks noChangeAspect="1"/>
          </p:cNvPicPr>
          <p:nvPr/>
        </p:nvPicPr>
        <p:blipFill rotWithShape="1">
          <a:blip r:embed="rId3">
            <a:extLst>
              <a:ext uri="{28A0092B-C50C-407E-A947-70E740481C1C}">
                <a14:useLocalDpi xmlns:a14="http://schemas.microsoft.com/office/drawing/2010/main" val="0"/>
              </a:ext>
            </a:extLst>
          </a:blip>
          <a:srcRect l="9246" t="24440" r="7550" b="50281"/>
          <a:stretch/>
        </p:blipFill>
        <p:spPr>
          <a:xfrm>
            <a:off x="359532" y="1772816"/>
            <a:ext cx="8424936" cy="3312368"/>
          </a:xfrm>
          <a:prstGeom prst="rect">
            <a:avLst/>
          </a:prstGeom>
        </p:spPr>
      </p:pic>
    </p:spTree>
    <p:extLst>
      <p:ext uri="{BB962C8B-B14F-4D97-AF65-F5344CB8AC3E}">
        <p14:creationId xmlns:p14="http://schemas.microsoft.com/office/powerpoint/2010/main" val="3822983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title"/>
          </p:nvPr>
        </p:nvSpPr>
        <p:spPr>
          <a:xfrm>
            <a:off x="457200" y="170168"/>
            <a:ext cx="8229600" cy="1097279"/>
          </a:xfrm>
          <a:noFill/>
          <a:ln/>
        </p:spPr>
        <p:txBody>
          <a:bodyPr lIns="90488" tIns="44450" rIns="90488" bIns="44450"/>
          <a:lstStyle/>
          <a:p>
            <a:r>
              <a:rPr lang="en-US" dirty="0"/>
              <a:t>Figure 16.23 </a:t>
            </a:r>
            <a:br>
              <a:rPr lang="en-US" dirty="0"/>
            </a:br>
            <a:r>
              <a:rPr lang="en-US" dirty="0"/>
              <a:t>Improved Pipeline Organization</a:t>
            </a:r>
          </a:p>
        </p:txBody>
      </p:sp>
      <p:pic>
        <p:nvPicPr>
          <p:cNvPr id="3" name="Picture 2" descr="The block diagram consists of L 2 Cache connected with I dash cache that is connected to a 3-stage pipeline. I F, I D, and O F. The pipe line is connected with Reservation station that sends the instructions to multiply units, A L U, C T U, and L S U, all these together finish the process and sends to write back, which completes and sends to register file that sends the instructions to reservation station. L S U is connected with D cache, which is displayed under it. D cache is connected with L 2 cache. " title="A diagram describes Improved Pipeline Organization. "/>
          <p:cNvPicPr>
            <a:picLocks noChangeAspect="1"/>
          </p:cNvPicPr>
          <p:nvPr/>
        </p:nvPicPr>
        <p:blipFill rotWithShape="1">
          <a:blip r:embed="rId3">
            <a:extLst>
              <a:ext uri="{28A0092B-C50C-407E-A947-70E740481C1C}">
                <a14:useLocalDpi xmlns:a14="http://schemas.microsoft.com/office/drawing/2010/main" val="0"/>
              </a:ext>
            </a:extLst>
          </a:blip>
          <a:srcRect l="7923" t="23464" r="4845" b="34094"/>
          <a:stretch/>
        </p:blipFill>
        <p:spPr>
          <a:xfrm>
            <a:off x="683568" y="1267447"/>
            <a:ext cx="7776864" cy="4896544"/>
          </a:xfrm>
          <a:prstGeom prst="rect">
            <a:avLst/>
          </a:prstGeom>
        </p:spPr>
      </p:pic>
    </p:spTree>
    <p:extLst>
      <p:ext uri="{BB962C8B-B14F-4D97-AF65-F5344CB8AC3E}">
        <p14:creationId xmlns:p14="http://schemas.microsoft.com/office/powerpoint/2010/main" val="41360947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title"/>
          </p:nvPr>
        </p:nvSpPr>
        <p:spPr>
          <a:xfrm>
            <a:off x="457200" y="170168"/>
            <a:ext cx="8229600" cy="1097279"/>
          </a:xfrm>
          <a:noFill/>
          <a:ln/>
        </p:spPr>
        <p:txBody>
          <a:bodyPr lIns="90488" tIns="44450" rIns="90488" bIns="44450"/>
          <a:lstStyle/>
          <a:p>
            <a:r>
              <a:rPr lang="fr-FR" dirty="0"/>
              <a:t>Figure 16.24</a:t>
            </a:r>
            <a:br>
              <a:rPr lang="fr-FR" dirty="0"/>
            </a:br>
            <a:r>
              <a:rPr lang="fr-FR" dirty="0" err="1"/>
              <a:t>Reservation</a:t>
            </a:r>
            <a:r>
              <a:rPr lang="fr-FR" dirty="0"/>
              <a:t> Station Contents</a:t>
            </a:r>
            <a:endParaRPr lang="en-US" dirty="0"/>
          </a:p>
        </p:txBody>
      </p:sp>
      <p:pic>
        <p:nvPicPr>
          <p:cNvPr id="3" name="Picture 2" descr="There are 5 stages. O P, Value 1, Tag 1, Value 2, and Tag 2 in 4 rows 5 columns The column O P is labeled as operation command, gets instructions From registers. The columns of value 1, and 2 are labeled as Data, gets instructions from registers. The O P Value 1, and Value 2 columns are connected with Real E X units." title="An illustration displays Reservation Station Contents. "/>
          <p:cNvPicPr>
            <a:picLocks noChangeAspect="1"/>
          </p:cNvPicPr>
          <p:nvPr/>
        </p:nvPicPr>
        <p:blipFill rotWithShape="1">
          <a:blip r:embed="rId3">
            <a:extLst>
              <a:ext uri="{28A0092B-C50C-407E-A947-70E740481C1C}">
                <a14:useLocalDpi xmlns:a14="http://schemas.microsoft.com/office/drawing/2010/main" val="0"/>
              </a:ext>
            </a:extLst>
          </a:blip>
          <a:srcRect l="6867" t="26780" r="4715" b="25460"/>
          <a:stretch/>
        </p:blipFill>
        <p:spPr>
          <a:xfrm>
            <a:off x="863588" y="1267447"/>
            <a:ext cx="7416824" cy="5184575"/>
          </a:xfrm>
          <a:prstGeom prst="rect">
            <a:avLst/>
          </a:prstGeom>
        </p:spPr>
      </p:pic>
    </p:spTree>
    <p:extLst>
      <p:ext uri="{BB962C8B-B14F-4D97-AF65-F5344CB8AC3E}">
        <p14:creationId xmlns:p14="http://schemas.microsoft.com/office/powerpoint/2010/main" val="40457380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47894" y="67116"/>
            <a:ext cx="2547429" cy="307777"/>
          </a:xfrm>
          <a:prstGeom prst="rect">
            <a:avLst/>
          </a:prstGeom>
          <a:noFill/>
        </p:spPr>
        <p:txBody>
          <a:bodyPr wrap="none" rtlCol="0">
            <a:spAutoFit/>
          </a:bodyPr>
          <a:lstStyle/>
          <a:p>
            <a:r>
              <a:rPr lang="en-IN" sz="1400" b="1" dirty="0"/>
              <a:t>(a) Integer Unit in 32-bit Mode</a:t>
            </a:r>
          </a:p>
        </p:txBody>
      </p:sp>
      <p:graphicFrame>
        <p:nvGraphicFramePr>
          <p:cNvPr id="12" name="Table 11" descr="Each table has the following column titles. Type, number, length in bits, and purpose. The rows of the first table read as follows from left to right. 1. General, 8, 32, General-purpose user registers. 2.  Segment 6, 16, Contain segment selectors. E F L A G S, 1, 32, Status and control bits. Instruction Pointer, 1, 32, Instruction pointer. The rows of the second table read as follows from left to right. General, 16, 32, General-purpose user registers. Segment, 6, 16, Contain segment selectors. R F L A G S, 1, 64, Status and control bits. Instruction Pointer, 1, 64, Instruction pointer. The rows of the third table read as follows from left to right. Numeric, 8, 80, Hold floating-point numbers. Control, 1, 16, Control bits. Status, 1, 16, Status bits. Tag Word, 1, 16, Specifies contents of numeric registers. Instruction Pointer, 1, 48, Points to instruction interrupted by exception. Data Pointer, 1, 48, Points to operand interrupted by exception." title="3 tables, a, b, and c, that relate to x 86 processor registers."/>
          <p:cNvGraphicFramePr>
            <a:graphicFrameLocks noGrp="1"/>
          </p:cNvGraphicFramePr>
          <p:nvPr/>
        </p:nvGraphicFramePr>
        <p:xfrm>
          <a:off x="449317" y="502627"/>
          <a:ext cx="5238049" cy="1328351"/>
        </p:xfrm>
        <a:graphic>
          <a:graphicData uri="http://schemas.openxmlformats.org/drawingml/2006/table">
            <a:tbl>
              <a:tblPr firstRow="1" bandRow="1">
                <a:tableStyleId>{5C22544A-7EE6-4342-B048-85BDC9FD1C3A}</a:tableStyleId>
              </a:tblPr>
              <a:tblGrid>
                <a:gridCol w="1314371">
                  <a:extLst>
                    <a:ext uri="{9D8B030D-6E8A-4147-A177-3AD203B41FA5}">
                      <a16:colId xmlns:a16="http://schemas.microsoft.com/office/drawing/2014/main" val="528802535"/>
                    </a:ext>
                  </a:extLst>
                </a:gridCol>
                <a:gridCol w="720080">
                  <a:extLst>
                    <a:ext uri="{9D8B030D-6E8A-4147-A177-3AD203B41FA5}">
                      <a16:colId xmlns:a16="http://schemas.microsoft.com/office/drawing/2014/main" val="3102758518"/>
                    </a:ext>
                  </a:extLst>
                </a:gridCol>
                <a:gridCol w="1008112">
                  <a:extLst>
                    <a:ext uri="{9D8B030D-6E8A-4147-A177-3AD203B41FA5}">
                      <a16:colId xmlns:a16="http://schemas.microsoft.com/office/drawing/2014/main" val="2543019389"/>
                    </a:ext>
                  </a:extLst>
                </a:gridCol>
                <a:gridCol w="2195486">
                  <a:extLst>
                    <a:ext uri="{9D8B030D-6E8A-4147-A177-3AD203B41FA5}">
                      <a16:colId xmlns:a16="http://schemas.microsoft.com/office/drawing/2014/main" val="2506092004"/>
                    </a:ext>
                  </a:extLst>
                </a:gridCol>
              </a:tblGrid>
              <a:tr h="322511">
                <a:tc>
                  <a:txBody>
                    <a:bodyPr/>
                    <a:lstStyle/>
                    <a:p>
                      <a:pPr algn="l"/>
                      <a:r>
                        <a:rPr lang="en-IN" sz="1050" b="1" i="0" u="none" strike="noStrike" cap="none" baseline="0" dirty="0">
                          <a:solidFill>
                            <a:schemeClr val="tx1"/>
                          </a:solidFill>
                          <a:latin typeface="+mn-lt"/>
                          <a:ea typeface="+mn-ea"/>
                          <a:cs typeface="+mn-cs"/>
                          <a:sym typeface="Arial"/>
                        </a:rPr>
                        <a:t>Type</a:t>
                      </a:r>
                      <a:endParaRPr lang="en-IN" sz="105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50" b="1" i="0" u="none" strike="noStrike" cap="none" baseline="0" dirty="0">
                          <a:solidFill>
                            <a:schemeClr val="tx1"/>
                          </a:solidFill>
                          <a:latin typeface="+mn-lt"/>
                          <a:ea typeface="+mn-ea"/>
                          <a:cs typeface="+mn-cs"/>
                          <a:sym typeface="Arial"/>
                        </a:rPr>
                        <a:t>Number</a:t>
                      </a:r>
                      <a:endParaRPr lang="en-IN" sz="105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050" b="1" i="0" u="none" strike="noStrike" cap="none" baseline="0" dirty="0">
                          <a:solidFill>
                            <a:schemeClr val="tx1"/>
                          </a:solidFill>
                          <a:latin typeface="+mn-lt"/>
                          <a:ea typeface="+mn-ea"/>
                          <a:cs typeface="+mn-cs"/>
                          <a:sym typeface="Arial"/>
                        </a:rPr>
                        <a:t>Length (bits)</a:t>
                      </a:r>
                      <a:endParaRPr lang="en-IN" sz="105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050" b="1" dirty="0">
                          <a:solidFill>
                            <a:schemeClr val="tx1"/>
                          </a:solidFill>
                        </a:rPr>
                        <a:t>Purpose</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801756320"/>
                  </a:ext>
                </a:extLst>
              </a:tr>
              <a:tr h="247598">
                <a:tc>
                  <a:txBody>
                    <a:bodyPr/>
                    <a:lstStyle/>
                    <a:p>
                      <a:pPr algn="l"/>
                      <a:r>
                        <a:rPr lang="en-IN" sz="1000" b="0" i="0" u="none" strike="noStrike" cap="none" baseline="0" dirty="0">
                          <a:solidFill>
                            <a:schemeClr val="dk1"/>
                          </a:solidFill>
                          <a:latin typeface="+mn-lt"/>
                          <a:ea typeface="+mn-ea"/>
                          <a:cs typeface="+mn-cs"/>
                          <a:sym typeface="Arial"/>
                        </a:rPr>
                        <a:t>General</a:t>
                      </a:r>
                      <a:endParaRPr lang="en-IN" sz="105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1000" b="0" i="0" u="none" strike="noStrike" cap="none" baseline="0" dirty="0">
                          <a:solidFill>
                            <a:schemeClr val="dk1"/>
                          </a:solidFill>
                          <a:latin typeface="+mn-lt"/>
                          <a:ea typeface="+mn-ea"/>
                          <a:cs typeface="+mn-cs"/>
                          <a:sym typeface="Arial"/>
                        </a:rPr>
                        <a:t>8</a:t>
                      </a:r>
                      <a:endParaRPr lang="en-IN" sz="105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00" b="0" i="0" u="none" strike="noStrike" cap="none" baseline="0" dirty="0">
                          <a:solidFill>
                            <a:schemeClr val="dk1"/>
                          </a:solidFill>
                          <a:latin typeface="+mn-lt"/>
                          <a:ea typeface="+mn-ea"/>
                          <a:cs typeface="+mn-cs"/>
                          <a:sym typeface="Arial"/>
                        </a:rPr>
                        <a:t>32</a:t>
                      </a:r>
                      <a:endParaRPr lang="en-IN" sz="105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IN" sz="1050" dirty="0"/>
                        <a:t>General-purpose user registers</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007438362"/>
                  </a:ext>
                </a:extLst>
              </a:tr>
              <a:tr h="247598">
                <a:tc>
                  <a:txBody>
                    <a:bodyPr/>
                    <a:lstStyle/>
                    <a:p>
                      <a:pPr algn="l"/>
                      <a:r>
                        <a:rPr lang="en-IN" sz="1000" b="0" i="0" u="none" strike="noStrike" cap="none" baseline="0" dirty="0">
                          <a:solidFill>
                            <a:schemeClr val="dk1"/>
                          </a:solidFill>
                          <a:latin typeface="+mn-lt"/>
                          <a:ea typeface="+mn-ea"/>
                          <a:cs typeface="+mn-cs"/>
                          <a:sym typeface="Arial"/>
                        </a:rPr>
                        <a:t>Segment</a:t>
                      </a:r>
                      <a:endParaRPr lang="en-IN" sz="105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1000" b="0" i="0" u="none" strike="noStrike" cap="none" baseline="0" dirty="0">
                          <a:solidFill>
                            <a:schemeClr val="dk1"/>
                          </a:solidFill>
                          <a:latin typeface="+mn-lt"/>
                          <a:ea typeface="+mn-ea"/>
                          <a:cs typeface="+mn-cs"/>
                          <a:sym typeface="Arial"/>
                        </a:rPr>
                        <a:t>6</a:t>
                      </a:r>
                      <a:endParaRPr lang="en-IN" sz="105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00" b="0" i="0" u="none" strike="noStrike" cap="none" baseline="0" dirty="0">
                          <a:solidFill>
                            <a:schemeClr val="dk1"/>
                          </a:solidFill>
                          <a:latin typeface="+mn-lt"/>
                          <a:ea typeface="+mn-ea"/>
                          <a:cs typeface="+mn-cs"/>
                          <a:sym typeface="Arial"/>
                        </a:rPr>
                        <a:t>16</a:t>
                      </a:r>
                      <a:endParaRPr lang="en-IN" sz="105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IN" sz="1050" dirty="0"/>
                        <a:t>Contain segment selectors</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794824530"/>
                  </a:ext>
                </a:extLst>
              </a:tr>
              <a:tr h="247598">
                <a:tc>
                  <a:txBody>
                    <a:bodyPr/>
                    <a:lstStyle/>
                    <a:p>
                      <a:pPr algn="l"/>
                      <a:r>
                        <a:rPr lang="en-IN" sz="1000" b="0" i="0" u="none" strike="noStrike" cap="none" baseline="0" dirty="0">
                          <a:solidFill>
                            <a:schemeClr val="dk1"/>
                          </a:solidFill>
                          <a:latin typeface="+mn-lt"/>
                          <a:ea typeface="+mn-ea"/>
                          <a:cs typeface="+mn-cs"/>
                          <a:sym typeface="Arial"/>
                        </a:rPr>
                        <a:t>EFLAGS</a:t>
                      </a:r>
                      <a:endParaRPr lang="en-IN" sz="105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50"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00" b="0" i="0" u="none" strike="noStrike" cap="none" baseline="0" dirty="0">
                          <a:solidFill>
                            <a:schemeClr val="dk1"/>
                          </a:solidFill>
                          <a:latin typeface="+mn-lt"/>
                          <a:ea typeface="+mn-ea"/>
                          <a:cs typeface="+mn-cs"/>
                          <a:sym typeface="Arial"/>
                        </a:rPr>
                        <a:t>32</a:t>
                      </a:r>
                      <a:endParaRPr lang="en-IN" sz="105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IN" sz="1050" dirty="0"/>
                        <a:t>Status and control bits</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4149877881"/>
                  </a:ext>
                </a:extLst>
              </a:tr>
              <a:tr h="247598">
                <a:tc>
                  <a:txBody>
                    <a:bodyPr/>
                    <a:lstStyle/>
                    <a:p>
                      <a:pPr algn="l"/>
                      <a:r>
                        <a:rPr lang="en-IN" sz="1050" dirty="0"/>
                        <a:t>Instruction Pointer</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50"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50" dirty="0"/>
                        <a:t>32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IN" sz="1050" dirty="0"/>
                        <a:t>Instruction pointer</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2384104649"/>
                  </a:ext>
                </a:extLst>
              </a:tr>
            </a:tbl>
          </a:graphicData>
        </a:graphic>
      </p:graphicFrame>
      <p:sp>
        <p:nvSpPr>
          <p:cNvPr id="10" name="TextBox 9"/>
          <p:cNvSpPr txBox="1"/>
          <p:nvPr/>
        </p:nvSpPr>
        <p:spPr>
          <a:xfrm>
            <a:off x="2047894" y="1955166"/>
            <a:ext cx="2547429" cy="307777"/>
          </a:xfrm>
          <a:prstGeom prst="rect">
            <a:avLst/>
          </a:prstGeom>
          <a:noFill/>
        </p:spPr>
        <p:txBody>
          <a:bodyPr wrap="none" rtlCol="0">
            <a:spAutoFit/>
          </a:bodyPr>
          <a:lstStyle/>
          <a:p>
            <a:r>
              <a:rPr lang="en-IN" sz="1400" b="1" dirty="0"/>
              <a:t>(b) Integer Unit in 64-bit Mode</a:t>
            </a:r>
          </a:p>
        </p:txBody>
      </p:sp>
      <p:graphicFrame>
        <p:nvGraphicFramePr>
          <p:cNvPr id="5" name="Table 4" descr="Each table has the following column titles. Type, number, length in bits, and purpose. The rows of the first table read as follows from left to right. 1. General, 8, 32, General-purpose user registers. 2.  Segment 6, 16, Contain segment selectors. E F L A G S, 1, 32, Status and control bits. Instruction Pointer, 1, 32, Instruction pointer. The rows of the second table read as follows from left to right. General, 16, 32, General-purpose user registers. Segment, 6, 16, Contain segment selectors. R F L A G S, 1, 64, Status and control bits. Instruction Pointer, 1, 64, Instruction pointer. The rows of the third table read as follows from left to right. Numeric, 8, 80, Hold floating-point numbers. Control, 1, 16, Control bits. Status, 1, 16, Status bits. Tag Word, 1, 16, Specifies contents of numeric registers. Instruction Pointer, 1, 48, Points to instruction interrupted by exception. Data Pointer, 1, 48, Points to operand interrupted by exception." title="3 tables, a, b, and c, that relate to x 86 processor registers."/>
          <p:cNvGraphicFramePr>
            <a:graphicFrameLocks noGrp="1"/>
          </p:cNvGraphicFramePr>
          <p:nvPr/>
        </p:nvGraphicFramePr>
        <p:xfrm>
          <a:off x="449317" y="2348880"/>
          <a:ext cx="5238049" cy="1328351"/>
        </p:xfrm>
        <a:graphic>
          <a:graphicData uri="http://schemas.openxmlformats.org/drawingml/2006/table">
            <a:tbl>
              <a:tblPr firstRow="1" bandRow="1">
                <a:tableStyleId>{5C22544A-7EE6-4342-B048-85BDC9FD1C3A}</a:tableStyleId>
              </a:tblPr>
              <a:tblGrid>
                <a:gridCol w="1314371">
                  <a:extLst>
                    <a:ext uri="{9D8B030D-6E8A-4147-A177-3AD203B41FA5}">
                      <a16:colId xmlns:a16="http://schemas.microsoft.com/office/drawing/2014/main" val="528802535"/>
                    </a:ext>
                  </a:extLst>
                </a:gridCol>
                <a:gridCol w="720080">
                  <a:extLst>
                    <a:ext uri="{9D8B030D-6E8A-4147-A177-3AD203B41FA5}">
                      <a16:colId xmlns:a16="http://schemas.microsoft.com/office/drawing/2014/main" val="3102758518"/>
                    </a:ext>
                  </a:extLst>
                </a:gridCol>
                <a:gridCol w="1008112">
                  <a:extLst>
                    <a:ext uri="{9D8B030D-6E8A-4147-A177-3AD203B41FA5}">
                      <a16:colId xmlns:a16="http://schemas.microsoft.com/office/drawing/2014/main" val="2543019389"/>
                    </a:ext>
                  </a:extLst>
                </a:gridCol>
                <a:gridCol w="2195486">
                  <a:extLst>
                    <a:ext uri="{9D8B030D-6E8A-4147-A177-3AD203B41FA5}">
                      <a16:colId xmlns:a16="http://schemas.microsoft.com/office/drawing/2014/main" val="2506092004"/>
                    </a:ext>
                  </a:extLst>
                </a:gridCol>
              </a:tblGrid>
              <a:tr h="322511">
                <a:tc>
                  <a:txBody>
                    <a:bodyPr/>
                    <a:lstStyle/>
                    <a:p>
                      <a:pPr algn="l"/>
                      <a:r>
                        <a:rPr lang="en-IN" sz="1050" b="1" i="0" u="none" strike="noStrike" cap="none" baseline="0" dirty="0">
                          <a:solidFill>
                            <a:schemeClr val="tx1"/>
                          </a:solidFill>
                          <a:latin typeface="+mn-lt"/>
                          <a:ea typeface="+mn-ea"/>
                          <a:cs typeface="+mn-cs"/>
                          <a:sym typeface="Arial"/>
                        </a:rPr>
                        <a:t>Type</a:t>
                      </a:r>
                      <a:endParaRPr lang="en-IN" sz="105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50" b="1" i="0" u="none" strike="noStrike" cap="none" baseline="0" dirty="0">
                          <a:solidFill>
                            <a:schemeClr val="tx1"/>
                          </a:solidFill>
                          <a:latin typeface="+mn-lt"/>
                          <a:ea typeface="+mn-ea"/>
                          <a:cs typeface="+mn-cs"/>
                          <a:sym typeface="Arial"/>
                        </a:rPr>
                        <a:t>Number</a:t>
                      </a:r>
                      <a:endParaRPr lang="en-IN" sz="105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050" b="1" i="0" u="none" strike="noStrike" cap="none" baseline="0" dirty="0">
                          <a:solidFill>
                            <a:schemeClr val="tx1"/>
                          </a:solidFill>
                          <a:latin typeface="+mn-lt"/>
                          <a:ea typeface="+mn-ea"/>
                          <a:cs typeface="+mn-cs"/>
                          <a:sym typeface="Arial"/>
                        </a:rPr>
                        <a:t>Length (bits)</a:t>
                      </a:r>
                      <a:endParaRPr lang="en-IN" sz="105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050" b="1" dirty="0">
                          <a:solidFill>
                            <a:schemeClr val="tx1"/>
                          </a:solidFill>
                        </a:rPr>
                        <a:t>Purpose</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801756320"/>
                  </a:ext>
                </a:extLst>
              </a:tr>
              <a:tr h="247598">
                <a:tc>
                  <a:txBody>
                    <a:bodyPr/>
                    <a:lstStyle/>
                    <a:p>
                      <a:pPr algn="l"/>
                      <a:r>
                        <a:rPr lang="en-IN" sz="1000" b="0" i="0" u="none" strike="noStrike" cap="none" baseline="0" dirty="0">
                          <a:solidFill>
                            <a:schemeClr val="dk1"/>
                          </a:solidFill>
                          <a:latin typeface="+mn-lt"/>
                          <a:ea typeface="+mn-ea"/>
                          <a:cs typeface="+mn-cs"/>
                          <a:sym typeface="Arial"/>
                        </a:rPr>
                        <a:t>General</a:t>
                      </a:r>
                      <a:endParaRPr lang="en-IN" sz="105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1000" b="0" i="0" u="none" strike="noStrike" cap="none" baseline="0" dirty="0">
                          <a:solidFill>
                            <a:schemeClr val="dk1"/>
                          </a:solidFill>
                          <a:latin typeface="+mn-lt"/>
                          <a:ea typeface="+mn-ea"/>
                          <a:cs typeface="+mn-cs"/>
                          <a:sym typeface="Arial"/>
                        </a:rPr>
                        <a:t>16</a:t>
                      </a:r>
                      <a:endParaRPr lang="en-IN" sz="105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00" b="0" i="0" u="none" strike="noStrike" cap="none" baseline="0" dirty="0">
                          <a:solidFill>
                            <a:schemeClr val="dk1"/>
                          </a:solidFill>
                          <a:latin typeface="+mn-lt"/>
                          <a:ea typeface="+mn-ea"/>
                          <a:cs typeface="+mn-cs"/>
                          <a:sym typeface="Arial"/>
                        </a:rPr>
                        <a:t>32</a:t>
                      </a:r>
                      <a:endParaRPr lang="en-IN" sz="105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IN" sz="1050" dirty="0"/>
                        <a:t>General-purpose user registers</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007438362"/>
                  </a:ext>
                </a:extLst>
              </a:tr>
              <a:tr h="247598">
                <a:tc>
                  <a:txBody>
                    <a:bodyPr/>
                    <a:lstStyle/>
                    <a:p>
                      <a:pPr algn="l"/>
                      <a:r>
                        <a:rPr lang="en-IN" sz="1000" b="0" i="0" u="none" strike="noStrike" cap="none" baseline="0" dirty="0">
                          <a:solidFill>
                            <a:schemeClr val="dk1"/>
                          </a:solidFill>
                          <a:latin typeface="+mn-lt"/>
                          <a:ea typeface="+mn-ea"/>
                          <a:cs typeface="+mn-cs"/>
                          <a:sym typeface="Arial"/>
                        </a:rPr>
                        <a:t>Segment</a:t>
                      </a:r>
                      <a:endParaRPr lang="en-IN" sz="105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1000" b="0" i="0" u="none" strike="noStrike" cap="none" baseline="0" dirty="0">
                          <a:solidFill>
                            <a:schemeClr val="dk1"/>
                          </a:solidFill>
                          <a:latin typeface="+mn-lt"/>
                          <a:ea typeface="+mn-ea"/>
                          <a:cs typeface="+mn-cs"/>
                          <a:sym typeface="Arial"/>
                        </a:rPr>
                        <a:t>6</a:t>
                      </a:r>
                      <a:endParaRPr lang="en-IN" sz="105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00" b="0" i="0" u="none" strike="noStrike" cap="none" baseline="0" dirty="0">
                          <a:solidFill>
                            <a:schemeClr val="dk1"/>
                          </a:solidFill>
                          <a:latin typeface="+mn-lt"/>
                          <a:ea typeface="+mn-ea"/>
                          <a:cs typeface="+mn-cs"/>
                          <a:sym typeface="Arial"/>
                        </a:rPr>
                        <a:t>16</a:t>
                      </a:r>
                      <a:endParaRPr lang="en-IN" sz="105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IN" sz="1050" dirty="0"/>
                        <a:t>Contain segment selectors</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794824530"/>
                  </a:ext>
                </a:extLst>
              </a:tr>
              <a:tr h="247598">
                <a:tc>
                  <a:txBody>
                    <a:bodyPr/>
                    <a:lstStyle/>
                    <a:p>
                      <a:pPr algn="l"/>
                      <a:r>
                        <a:rPr lang="en-IN" sz="1000" b="0" i="0" u="none" strike="noStrike" cap="none" baseline="0" dirty="0">
                          <a:solidFill>
                            <a:schemeClr val="dk1"/>
                          </a:solidFill>
                          <a:latin typeface="+mn-lt"/>
                          <a:ea typeface="+mn-ea"/>
                          <a:cs typeface="+mn-cs"/>
                          <a:sym typeface="Arial"/>
                        </a:rPr>
                        <a:t>RFLAGS</a:t>
                      </a:r>
                      <a:endParaRPr lang="en-IN" sz="105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50"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00" b="0" i="0" u="none" strike="noStrike" cap="none" baseline="0" dirty="0">
                          <a:solidFill>
                            <a:schemeClr val="dk1"/>
                          </a:solidFill>
                          <a:latin typeface="+mn-lt"/>
                          <a:ea typeface="+mn-ea"/>
                          <a:cs typeface="+mn-cs"/>
                          <a:sym typeface="Arial"/>
                        </a:rPr>
                        <a:t>64</a:t>
                      </a:r>
                      <a:endParaRPr lang="en-IN" sz="105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IN" sz="1050" dirty="0"/>
                        <a:t>Status and control bits</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4149877881"/>
                  </a:ext>
                </a:extLst>
              </a:tr>
              <a:tr h="247598">
                <a:tc>
                  <a:txBody>
                    <a:bodyPr/>
                    <a:lstStyle/>
                    <a:p>
                      <a:pPr algn="l"/>
                      <a:r>
                        <a:rPr lang="en-IN" sz="1050" dirty="0"/>
                        <a:t>Instruction Pointer</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50"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50" dirty="0"/>
                        <a:t>64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IN" sz="1050" dirty="0"/>
                        <a:t>Instruction pointer</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2384104649"/>
                  </a:ext>
                </a:extLst>
              </a:tr>
            </a:tbl>
          </a:graphicData>
        </a:graphic>
      </p:graphicFrame>
      <p:sp>
        <p:nvSpPr>
          <p:cNvPr id="11" name="TextBox 10"/>
          <p:cNvSpPr txBox="1"/>
          <p:nvPr/>
        </p:nvSpPr>
        <p:spPr>
          <a:xfrm>
            <a:off x="2258908" y="3751179"/>
            <a:ext cx="3244186" cy="307777"/>
          </a:xfrm>
          <a:prstGeom prst="rect">
            <a:avLst/>
          </a:prstGeom>
          <a:noFill/>
        </p:spPr>
        <p:txBody>
          <a:bodyPr wrap="square" rtlCol="0">
            <a:spAutoFit/>
          </a:bodyPr>
          <a:lstStyle/>
          <a:p>
            <a:r>
              <a:rPr lang="en-IN" sz="1400" b="1" dirty="0"/>
              <a:t>(c) Floating-Point Unit</a:t>
            </a:r>
          </a:p>
        </p:txBody>
      </p:sp>
      <p:graphicFrame>
        <p:nvGraphicFramePr>
          <p:cNvPr id="7" name="Table 6" descr="Each table has the following column titles. Type, number, length in bits, and purpose. The rows of the first table read as follows from left to right. 1. General, 8, 32, General-purpose user registers. 2.  Segment 6, 16, Contain segment selectors. E F L A G S, 1, 32, Status and control bits. Instruction Pointer, 1, 32, Instruction pointer. The rows of the second table read as follows from left to right. General, 16, 32, General-purpose user registers. Segment, 6, 16, Contain segment selectors. R F L A G S, 1, 64, Status and control bits. Instruction Pointer, 1, 64, Instruction pointer. The rows of the third table read as follows from left to right. Numeric, 8, 80, Hold floating-point numbers. Control, 1, 16, Control bits. Status, 1, 16, Status bits. Tag Word, 1, 16, Specifies contents of numeric registers. Instruction Pointer, 1, 48, Points to instruction interrupted by exception. Data Pointer, 1, 48, Points to operand interrupted by exception." title="3 tables, a, b, and c, that relate to x 86 processor registers."/>
          <p:cNvGraphicFramePr>
            <a:graphicFrameLocks noGrp="1"/>
          </p:cNvGraphicFramePr>
          <p:nvPr/>
        </p:nvGraphicFramePr>
        <p:xfrm>
          <a:off x="449317" y="4120606"/>
          <a:ext cx="5238049" cy="2240280"/>
        </p:xfrm>
        <a:graphic>
          <a:graphicData uri="http://schemas.openxmlformats.org/drawingml/2006/table">
            <a:tbl>
              <a:tblPr firstRow="1" bandRow="1">
                <a:tableStyleId>{5C22544A-7EE6-4342-B048-85BDC9FD1C3A}</a:tableStyleId>
              </a:tblPr>
              <a:tblGrid>
                <a:gridCol w="1314371">
                  <a:extLst>
                    <a:ext uri="{9D8B030D-6E8A-4147-A177-3AD203B41FA5}">
                      <a16:colId xmlns:a16="http://schemas.microsoft.com/office/drawing/2014/main" val="528802535"/>
                    </a:ext>
                  </a:extLst>
                </a:gridCol>
                <a:gridCol w="720080">
                  <a:extLst>
                    <a:ext uri="{9D8B030D-6E8A-4147-A177-3AD203B41FA5}">
                      <a16:colId xmlns:a16="http://schemas.microsoft.com/office/drawing/2014/main" val="3102758518"/>
                    </a:ext>
                  </a:extLst>
                </a:gridCol>
                <a:gridCol w="1008112">
                  <a:extLst>
                    <a:ext uri="{9D8B030D-6E8A-4147-A177-3AD203B41FA5}">
                      <a16:colId xmlns:a16="http://schemas.microsoft.com/office/drawing/2014/main" val="2543019389"/>
                    </a:ext>
                  </a:extLst>
                </a:gridCol>
                <a:gridCol w="2195486">
                  <a:extLst>
                    <a:ext uri="{9D8B030D-6E8A-4147-A177-3AD203B41FA5}">
                      <a16:colId xmlns:a16="http://schemas.microsoft.com/office/drawing/2014/main" val="2506092004"/>
                    </a:ext>
                  </a:extLst>
                </a:gridCol>
              </a:tblGrid>
              <a:tr h="177816">
                <a:tc>
                  <a:txBody>
                    <a:bodyPr/>
                    <a:lstStyle/>
                    <a:p>
                      <a:pPr algn="l"/>
                      <a:r>
                        <a:rPr lang="en-IN" sz="1050" b="1" i="0" u="none" strike="noStrike" cap="none" baseline="0" dirty="0">
                          <a:solidFill>
                            <a:schemeClr val="tx1"/>
                          </a:solidFill>
                          <a:latin typeface="+mn-lt"/>
                          <a:ea typeface="+mn-ea"/>
                          <a:cs typeface="+mn-cs"/>
                          <a:sym typeface="Arial"/>
                        </a:rPr>
                        <a:t>Type</a:t>
                      </a:r>
                      <a:endParaRPr lang="en-IN" sz="105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50" b="1" i="0" u="none" strike="noStrike" cap="none" baseline="0" dirty="0">
                          <a:solidFill>
                            <a:schemeClr val="tx1"/>
                          </a:solidFill>
                          <a:latin typeface="+mn-lt"/>
                          <a:ea typeface="+mn-ea"/>
                          <a:cs typeface="+mn-cs"/>
                          <a:sym typeface="Arial"/>
                        </a:rPr>
                        <a:t>Number</a:t>
                      </a:r>
                      <a:endParaRPr lang="en-IN" sz="105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050" b="1" i="0" u="none" strike="noStrike" cap="none" baseline="0" dirty="0">
                          <a:solidFill>
                            <a:schemeClr val="tx1"/>
                          </a:solidFill>
                          <a:latin typeface="+mn-lt"/>
                          <a:ea typeface="+mn-ea"/>
                          <a:cs typeface="+mn-cs"/>
                          <a:sym typeface="Arial"/>
                        </a:rPr>
                        <a:t>Length (bits)</a:t>
                      </a:r>
                      <a:endParaRPr lang="en-IN" sz="105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050" b="1" dirty="0">
                          <a:solidFill>
                            <a:schemeClr val="tx1"/>
                          </a:solidFill>
                        </a:rPr>
                        <a:t>Purpose</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801756320"/>
                  </a:ext>
                </a:extLst>
              </a:tr>
              <a:tr h="230080">
                <a:tc>
                  <a:txBody>
                    <a:bodyPr/>
                    <a:lstStyle/>
                    <a:p>
                      <a:pPr algn="l"/>
                      <a:r>
                        <a:rPr lang="en-IN" sz="1000" b="0" i="0" u="none" strike="noStrike" cap="none" baseline="0" dirty="0">
                          <a:solidFill>
                            <a:schemeClr val="dk1"/>
                          </a:solidFill>
                          <a:latin typeface="+mn-lt"/>
                          <a:ea typeface="+mn-ea"/>
                          <a:cs typeface="+mn-cs"/>
                          <a:sym typeface="Arial"/>
                        </a:rPr>
                        <a:t>Numeric</a:t>
                      </a:r>
                      <a:endParaRPr lang="en-IN" sz="105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1000" b="0" i="0" u="none" strike="noStrike" cap="none" baseline="0" dirty="0">
                          <a:solidFill>
                            <a:schemeClr val="dk1"/>
                          </a:solidFill>
                          <a:latin typeface="+mn-lt"/>
                          <a:ea typeface="+mn-ea"/>
                          <a:cs typeface="+mn-cs"/>
                          <a:sym typeface="Arial"/>
                        </a:rPr>
                        <a:t>8</a:t>
                      </a:r>
                      <a:endParaRPr lang="en-IN" sz="105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00" b="0" i="0" u="none" strike="noStrike" cap="none" baseline="0" dirty="0">
                          <a:solidFill>
                            <a:schemeClr val="dk1"/>
                          </a:solidFill>
                          <a:latin typeface="+mn-lt"/>
                          <a:ea typeface="+mn-ea"/>
                          <a:cs typeface="+mn-cs"/>
                          <a:sym typeface="Arial"/>
                        </a:rPr>
                        <a:t>80</a:t>
                      </a:r>
                      <a:endParaRPr lang="en-IN" sz="105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IN" sz="1050" dirty="0"/>
                        <a:t>Hold floating-point numbers</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007438362"/>
                  </a:ext>
                </a:extLst>
              </a:tr>
              <a:tr h="209732">
                <a:tc>
                  <a:txBody>
                    <a:bodyPr/>
                    <a:lstStyle/>
                    <a:p>
                      <a:pPr algn="l"/>
                      <a:r>
                        <a:rPr lang="en-IN" sz="1000" b="0" i="0" u="none" strike="noStrike" cap="none" baseline="0" dirty="0">
                          <a:solidFill>
                            <a:schemeClr val="dk1"/>
                          </a:solidFill>
                          <a:latin typeface="+mn-lt"/>
                          <a:ea typeface="+mn-ea"/>
                          <a:cs typeface="+mn-cs"/>
                          <a:sym typeface="Arial"/>
                        </a:rPr>
                        <a:t>Control</a:t>
                      </a:r>
                      <a:endParaRPr lang="en-IN" sz="105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1000" b="0" i="0" u="none" strike="noStrike" cap="none" baseline="0" dirty="0">
                          <a:solidFill>
                            <a:schemeClr val="dk1"/>
                          </a:solidFill>
                          <a:latin typeface="+mn-lt"/>
                          <a:ea typeface="+mn-ea"/>
                          <a:cs typeface="+mn-cs"/>
                          <a:sym typeface="Arial"/>
                        </a:rPr>
                        <a:t>1</a:t>
                      </a:r>
                      <a:endParaRPr lang="en-IN" sz="105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00" b="0" i="0" u="none" strike="noStrike" cap="none" baseline="0" dirty="0">
                          <a:solidFill>
                            <a:schemeClr val="dk1"/>
                          </a:solidFill>
                          <a:latin typeface="+mn-lt"/>
                          <a:ea typeface="+mn-ea"/>
                          <a:cs typeface="+mn-cs"/>
                          <a:sym typeface="Arial"/>
                        </a:rPr>
                        <a:t>16</a:t>
                      </a:r>
                      <a:endParaRPr lang="en-IN" sz="105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IN" sz="1050" dirty="0"/>
                        <a:t>Control bits</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794824530"/>
                  </a:ext>
                </a:extLst>
              </a:tr>
              <a:tr h="177816">
                <a:tc>
                  <a:txBody>
                    <a:bodyPr/>
                    <a:lstStyle/>
                    <a:p>
                      <a:pPr algn="l"/>
                      <a:r>
                        <a:rPr lang="en-IN" sz="1000" b="0" i="0" u="none" strike="noStrike" cap="none" baseline="0" dirty="0">
                          <a:solidFill>
                            <a:schemeClr val="dk1"/>
                          </a:solidFill>
                          <a:latin typeface="+mn-lt"/>
                          <a:ea typeface="+mn-ea"/>
                          <a:cs typeface="+mn-cs"/>
                          <a:sym typeface="Arial"/>
                        </a:rPr>
                        <a:t>Status</a:t>
                      </a:r>
                      <a:endParaRPr lang="en-IN" sz="105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50"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00" b="0" i="0" u="none" strike="noStrike" cap="none" baseline="0" dirty="0">
                          <a:solidFill>
                            <a:schemeClr val="dk1"/>
                          </a:solidFill>
                          <a:latin typeface="+mn-lt"/>
                          <a:ea typeface="+mn-ea"/>
                          <a:cs typeface="+mn-cs"/>
                          <a:sym typeface="Arial"/>
                        </a:rPr>
                        <a:t>16</a:t>
                      </a:r>
                      <a:endParaRPr lang="en-IN" sz="105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IN" sz="1050" dirty="0"/>
                        <a:t>Status bits</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4149877881"/>
                  </a:ext>
                </a:extLst>
              </a:tr>
              <a:tr h="290971">
                <a:tc>
                  <a:txBody>
                    <a:bodyPr/>
                    <a:lstStyle/>
                    <a:p>
                      <a:pPr algn="l"/>
                      <a:r>
                        <a:rPr lang="en-IN" sz="1050" dirty="0"/>
                        <a:t>Tag Word</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50"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50" dirty="0"/>
                        <a:t>16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US" sz="1050" dirty="0"/>
                        <a:t>Specifies contents of numeric registers</a:t>
                      </a:r>
                      <a:endParaRPr lang="en-IN" sz="105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2384104649"/>
                  </a:ext>
                </a:extLst>
              </a:tr>
              <a:tr h="290971">
                <a:tc>
                  <a:txBody>
                    <a:bodyPr/>
                    <a:lstStyle/>
                    <a:p>
                      <a:pPr algn="l"/>
                      <a:r>
                        <a:rPr lang="en-IN" sz="1050" dirty="0"/>
                        <a:t>Instruction Pointer</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50"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50" dirty="0"/>
                        <a:t>48</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US" sz="1050" dirty="0"/>
                        <a:t>Points to instruction interrupted by exception</a:t>
                      </a:r>
                      <a:endParaRPr lang="en-IN" sz="105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467740311"/>
                  </a:ext>
                </a:extLst>
              </a:tr>
              <a:tr h="290971">
                <a:tc>
                  <a:txBody>
                    <a:bodyPr/>
                    <a:lstStyle/>
                    <a:p>
                      <a:pPr algn="l"/>
                      <a:r>
                        <a:rPr lang="en-IN" sz="1050" dirty="0"/>
                        <a:t>Data Pointer</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50"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50" dirty="0"/>
                        <a:t>48</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US" sz="1050" dirty="0"/>
                        <a:t>Points to operand interrupted by exception</a:t>
                      </a:r>
                      <a:endParaRPr lang="en-IN" sz="105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890043812"/>
                  </a:ext>
                </a:extLst>
              </a:tr>
            </a:tbl>
          </a:graphicData>
        </a:graphic>
      </p:graphicFrame>
      <p:sp>
        <p:nvSpPr>
          <p:cNvPr id="3" name="Title 2">
            <a:extLst>
              <a:ext uri="{FF2B5EF4-FFF2-40B4-BE49-F238E27FC236}">
                <a16:creationId xmlns:a16="http://schemas.microsoft.com/office/drawing/2014/main" id="{65763310-8D39-46B4-AF4E-8265B0193925}"/>
              </a:ext>
            </a:extLst>
          </p:cNvPr>
          <p:cNvSpPr>
            <a:spLocks noGrp="1"/>
          </p:cNvSpPr>
          <p:nvPr>
            <p:ph type="title"/>
          </p:nvPr>
        </p:nvSpPr>
        <p:spPr>
          <a:xfrm>
            <a:off x="6228184" y="2117964"/>
            <a:ext cx="2674640" cy="2565557"/>
          </a:xfrm>
        </p:spPr>
        <p:txBody>
          <a:bodyPr/>
          <a:lstStyle/>
          <a:p>
            <a:r>
              <a:rPr lang="en-US" dirty="0">
                <a:latin typeface="Times New Roman" panose="02020603050405020304" pitchFamily="18" charset="0"/>
                <a:cs typeface="Times New Roman" panose="02020603050405020304" pitchFamily="18" charset="0"/>
              </a:rPr>
              <a:t>Table 16.2  </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x86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Processor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Registers </a:t>
            </a:r>
            <a:br>
              <a:rPr lang="en-US" dirty="0">
                <a:latin typeface="Times New Roman" panose="02020603050405020304" pitchFamily="18" charset="0"/>
                <a:cs typeface="Times New Roman" panose="02020603050405020304" pitchFamily="18" charset="0"/>
              </a:rPr>
            </a:br>
            <a:endParaRPr lang="en-US" dirty="0"/>
          </a:p>
        </p:txBody>
      </p:sp>
    </p:spTree>
    <p:extLst>
      <p:ext uri="{BB962C8B-B14F-4D97-AF65-F5344CB8AC3E}">
        <p14:creationId xmlns:p14="http://schemas.microsoft.com/office/powerpoint/2010/main" val="277846231"/>
      </p:ext>
    </p:extLst>
  </p:cSld>
  <p:clrMapOvr>
    <a:masterClrMapping/>
  </p:clrMapOvr>
  <p:transition spd="med">
    <p:wipe dir="d"/>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0168"/>
            <a:ext cx="8229600" cy="1097279"/>
          </a:xfrm>
          <a:noFill/>
          <a:ln/>
        </p:spPr>
        <p:txBody>
          <a:bodyPr lIns="90488" tIns="44450" rIns="90488" bIns="44450"/>
          <a:lstStyle/>
          <a:p>
            <a:r>
              <a:rPr lang="en-US" dirty="0"/>
              <a:t>Figure 16.25</a:t>
            </a:r>
            <a:br>
              <a:rPr lang="en-US" dirty="0"/>
            </a:br>
            <a:r>
              <a:rPr lang="en-US" dirty="0"/>
              <a:t>x86 EFLAGS Register</a:t>
            </a:r>
          </a:p>
        </p:txBody>
      </p:sp>
      <p:pic>
        <p:nvPicPr>
          <p:cNvPr id="4" name="Picture 3" title="A diagrammatic representation of x 86 EFLAGS registers."/>
          <p:cNvPicPr>
            <a:picLocks noChangeAspect="1"/>
          </p:cNvPicPr>
          <p:nvPr/>
        </p:nvPicPr>
        <p:blipFill rotWithShape="1">
          <a:blip r:embed="rId3">
            <a:extLst>
              <a:ext uri="{28A0092B-C50C-407E-A947-70E740481C1C}">
                <a14:useLocalDpi xmlns:a14="http://schemas.microsoft.com/office/drawing/2010/main" val="0"/>
              </a:ext>
            </a:extLst>
          </a:blip>
          <a:srcRect l="6055" t="11381" r="5732" b="45849"/>
          <a:stretch/>
        </p:blipFill>
        <p:spPr>
          <a:xfrm>
            <a:off x="899592" y="1556792"/>
            <a:ext cx="7344816" cy="4608512"/>
          </a:xfrm>
          <a:prstGeom prst="rect">
            <a:avLst/>
          </a:prstGeom>
        </p:spPr>
      </p:pic>
    </p:spTree>
    <p:extLst>
      <p:ext uri="{BB962C8B-B14F-4D97-AF65-F5344CB8AC3E}">
        <p14:creationId xmlns:p14="http://schemas.microsoft.com/office/powerpoint/2010/main" val="3134571359"/>
      </p:ext>
    </p:extLst>
  </p:cSld>
  <p:clrMapOvr>
    <a:masterClrMapping/>
  </p:clrMapOvr>
  <p:transition spd="med">
    <p:zo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0168"/>
            <a:ext cx="8229600" cy="1097279"/>
          </a:xfrm>
          <a:noFill/>
          <a:ln/>
        </p:spPr>
        <p:txBody>
          <a:bodyPr lIns="90488" tIns="44450" rIns="90488" bIns="44450"/>
          <a:lstStyle/>
          <a:p>
            <a:r>
              <a:rPr lang="en-US" dirty="0"/>
              <a:t>Figure 16.26</a:t>
            </a:r>
            <a:br>
              <a:rPr lang="en-US" dirty="0"/>
            </a:br>
            <a:r>
              <a:rPr lang="en-US" dirty="0"/>
              <a:t>x86 Control Registers</a:t>
            </a:r>
          </a:p>
        </p:txBody>
      </p:sp>
      <p:pic>
        <p:nvPicPr>
          <p:cNvPr id="4" name="Picture 3" descr="The control register contains three sections. C R 4, C R 3, P D B R, and C R 2. C R 4 contains array indices from 31 to 0. 31 to 21 are reserved. 20, S M E P. 19 reserved. 18, O S X SAVE. 17, P C I D EM. 16, F S G S base. 15, reserved. 14, S M X E. 13, V M X E. 12 and 11, reserved. 10, o s X M M E X C P T. 9, O S F X R. 8, P C E. 7, P G E, 6, M C E. 5, P A E. 4, P S E. 3, D E. 2 T S D. 1 P V I. 0, V M E. C R 3, PDBR, contains a page directory base, indices 31 to 12. Indices 11 to 5, reserves. 4, P C D, 3, P W T. 2, 1 and 0 are reserved. C R 2 contains page fault linear address. C R 0. 31, P G. 30 C D. 29 N W. 28 to 19 reserved. 18, A M. 17, reserved. 16, W P. 15 to 6 reserved. 5, N E. 4, E T. 3, T S. 2, E M. 1, M P. 0, P E. O S X SAVE = X SAVE enable bit, P C I D E = Enables process dash context identifiers, O S X M M E X C P T = Support unmasked S I M D F P exceptions, V M E = Virtual 8086 mode extensions, P C D = Page dash level cache disable, P W T = Page dash level writes transparent, P G = Paging, C D = Cache disable, N W = Not write through, A M = Alignment mask, W P = Write protect, N E = Numeric error, E T = Extension type, T S = Task switched, E M = Emulation, M P = Monitor coprocessor, P E = Protection enable, F S G S BASE = Enables segment base instructions. S M X E = Enable safer mode extensions, V M X E = Enable virtual machine extensions, O S F X S R = Support F X SAVE, F X S T O R, P C E = Performance counter enable, P G E = Page global enable, M C E = Machine check enable, P A E = Physical address extension, P S E = Page size extensions, D E = Debug extensions, T S D = Time stamp disable, P V I = Protected mode. virtual interrupt." title="A diagrammatic representation of x 86 control registers."/>
          <p:cNvPicPr>
            <a:picLocks noChangeAspect="1"/>
          </p:cNvPicPr>
          <p:nvPr/>
        </p:nvPicPr>
        <p:blipFill rotWithShape="1">
          <a:blip r:embed="rId3">
            <a:extLst>
              <a:ext uri="{28A0092B-C50C-407E-A947-70E740481C1C}">
                <a14:useLocalDpi xmlns:a14="http://schemas.microsoft.com/office/drawing/2010/main" val="0"/>
              </a:ext>
            </a:extLst>
          </a:blip>
          <a:srcRect l="4545" t="8200" r="6820" b="24185"/>
          <a:stretch/>
        </p:blipFill>
        <p:spPr>
          <a:xfrm>
            <a:off x="1978571" y="1260969"/>
            <a:ext cx="5186858" cy="5120359"/>
          </a:xfrm>
          <a:prstGeom prst="rect">
            <a:avLst/>
          </a:prstGeom>
        </p:spPr>
      </p:pic>
    </p:spTree>
    <p:extLst>
      <p:ext uri="{BB962C8B-B14F-4D97-AF65-F5344CB8AC3E}">
        <p14:creationId xmlns:p14="http://schemas.microsoft.com/office/powerpoint/2010/main" val="476126984"/>
      </p:ext>
    </p:extLst>
  </p:cSld>
  <p:clrMapOvr>
    <a:masterClrMapping/>
  </p:clrMapOvr>
  <p:transition spd="med">
    <p:zo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200001"/>
            <a:ext cx="8229600" cy="1582863"/>
          </a:xfrm>
          <a:noFill/>
          <a:ln/>
        </p:spPr>
        <p:txBody>
          <a:bodyPr lIns="90488" tIns="44450" rIns="90488" bIns="44450"/>
          <a:lstStyle/>
          <a:p>
            <a:r>
              <a:rPr lang="en-US" dirty="0"/>
              <a:t>Figure 16.27 </a:t>
            </a:r>
            <a:br>
              <a:rPr lang="en-US" dirty="0"/>
            </a:br>
            <a:r>
              <a:rPr lang="en-US" dirty="0"/>
              <a:t>Mapping of MMX Registers to Floating- Point Registers</a:t>
            </a:r>
          </a:p>
        </p:txBody>
      </p:sp>
      <p:pic>
        <p:nvPicPr>
          <p:cNvPr id="4" name="Picture 3" descr="The floating point tag contains 8 blocks with numerals 0 0. The M M X register contains M M 7, M M 6, M M 5, M M 4, M M 3, M M 2, M M 1 and M M 0. The indices of the M M X register are from 63 to 0. The floating point register contains indices from 73 to 0. However, the M M X registers are mapped to indices 63 and 0 of the floating point register." title="A diagram explains the mapping process of M M X registers to floating point registers."/>
          <p:cNvPicPr>
            <a:picLocks noChangeAspect="1"/>
          </p:cNvPicPr>
          <p:nvPr/>
        </p:nvPicPr>
        <p:blipFill rotWithShape="1">
          <a:blip r:embed="rId3">
            <a:extLst>
              <a:ext uri="{28A0092B-C50C-407E-A947-70E740481C1C}">
                <a14:useLocalDpi xmlns:a14="http://schemas.microsoft.com/office/drawing/2010/main" val="0"/>
              </a:ext>
            </a:extLst>
          </a:blip>
          <a:srcRect l="17408" t="12214" r="28098" b="43703"/>
          <a:stretch/>
        </p:blipFill>
        <p:spPr>
          <a:xfrm>
            <a:off x="2335512" y="1735841"/>
            <a:ext cx="4472976" cy="4682647"/>
          </a:xfrm>
          <a:prstGeom prst="rect">
            <a:avLst/>
          </a:prstGeom>
        </p:spPr>
      </p:pic>
    </p:spTree>
    <p:extLst>
      <p:ext uri="{BB962C8B-B14F-4D97-AF65-F5344CB8AC3E}">
        <p14:creationId xmlns:p14="http://schemas.microsoft.com/office/powerpoint/2010/main" val="1516618035"/>
      </p:ext>
    </p:extLst>
  </p:cSld>
  <p:clrMapOvr>
    <a:masterClrMapping/>
  </p:clrMapOvr>
  <p:transition spd="med">
    <p:zo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p:txBody>
          <a:bodyPr/>
          <a:lstStyle/>
          <a:p>
            <a:r>
              <a:rPr lang="en-GB" dirty="0"/>
              <a:t>Interrupt Processing</a:t>
            </a:r>
          </a:p>
        </p:txBody>
      </p:sp>
      <p:sp>
        <p:nvSpPr>
          <p:cNvPr id="4" name="Text Placeholder 3"/>
          <p:cNvSpPr>
            <a:spLocks noGrp="1"/>
          </p:cNvSpPr>
          <p:nvPr>
            <p:ph type="body" idx="1"/>
          </p:nvPr>
        </p:nvSpPr>
        <p:spPr>
          <a:xfrm>
            <a:off x="332518" y="1600200"/>
            <a:ext cx="8478965" cy="4525963"/>
          </a:xfrm>
        </p:spPr>
        <p:txBody>
          <a:bodyPr/>
          <a:lstStyle/>
          <a:p>
            <a:pPr marL="101600" indent="0">
              <a:buNone/>
            </a:pPr>
            <a:r>
              <a:rPr lang="en-US" sz="2600" dirty="0"/>
              <a:t>Interrupts and Exceptions</a:t>
            </a:r>
          </a:p>
        </p:txBody>
      </p:sp>
      <p:sp>
        <p:nvSpPr>
          <p:cNvPr id="151555" name="Rectangle 3"/>
          <p:cNvSpPr>
            <a:spLocks noGrp="1" noChangeArrowheads="1"/>
          </p:cNvSpPr>
          <p:nvPr>
            <p:ph idx="4294967295"/>
          </p:nvPr>
        </p:nvSpPr>
        <p:spPr>
          <a:xfrm>
            <a:off x="467544" y="2173560"/>
            <a:ext cx="7556500" cy="4495800"/>
          </a:xfrm>
        </p:spPr>
        <p:txBody>
          <a:bodyPr>
            <a:normAutofit/>
          </a:bodyPr>
          <a:lstStyle/>
          <a:p>
            <a:pPr marL="285750" indent="-285750">
              <a:buClr>
                <a:schemeClr val="tx2"/>
              </a:buClr>
              <a:buFont typeface="Arial" panose="020B0604020202020204" pitchFamily="34" charset="0"/>
              <a:buChar char="•"/>
            </a:pPr>
            <a:r>
              <a:rPr lang="en-GB" sz="2200" dirty="0"/>
              <a:t>Interrupts</a:t>
            </a:r>
          </a:p>
          <a:p>
            <a:pPr marL="682625" lvl="1" indent="-334963">
              <a:buClr>
                <a:schemeClr val="tx2"/>
              </a:buClr>
              <a:buFont typeface="Arial" panose="020B0604020202020204" pitchFamily="34" charset="0"/>
              <a:buChar char="–"/>
            </a:pPr>
            <a:r>
              <a:rPr lang="en-GB" sz="1800" dirty="0"/>
              <a:t>Generated by a signal from hardware and it may occur at random times during the execution of a program</a:t>
            </a:r>
          </a:p>
          <a:p>
            <a:pPr marL="682625" lvl="1" indent="-334963">
              <a:buClr>
                <a:schemeClr val="tx2"/>
              </a:buClr>
              <a:buFont typeface="Arial" panose="020B0604020202020204" pitchFamily="34" charset="0"/>
              <a:buChar char="–"/>
            </a:pPr>
            <a:r>
              <a:rPr lang="en-GB" sz="1800" dirty="0"/>
              <a:t>Maskable</a:t>
            </a:r>
          </a:p>
          <a:p>
            <a:pPr marL="682625" lvl="1" indent="-334963">
              <a:buClr>
                <a:schemeClr val="tx2"/>
              </a:buClr>
              <a:buFont typeface="Arial" panose="020B0604020202020204" pitchFamily="34" charset="0"/>
              <a:buChar char="–"/>
            </a:pPr>
            <a:r>
              <a:rPr lang="en-GB" sz="1800" dirty="0"/>
              <a:t>Nonmaskable</a:t>
            </a:r>
          </a:p>
          <a:p>
            <a:pPr marL="285750" indent="-285750">
              <a:buClr>
                <a:schemeClr val="tx2"/>
              </a:buClr>
              <a:buFont typeface="Arial" panose="020B0604020202020204" pitchFamily="34" charset="0"/>
              <a:buChar char="•"/>
            </a:pPr>
            <a:r>
              <a:rPr lang="en-GB" sz="2200" dirty="0"/>
              <a:t>Exceptions</a:t>
            </a:r>
          </a:p>
          <a:p>
            <a:pPr marL="682625" lvl="1" indent="-334963">
              <a:buClr>
                <a:schemeClr val="tx2"/>
              </a:buClr>
              <a:buFont typeface="Arial" panose="020B0604020202020204" pitchFamily="34" charset="0"/>
              <a:buChar char="–"/>
            </a:pPr>
            <a:r>
              <a:rPr lang="en-GB" sz="1800" dirty="0"/>
              <a:t>Generated from software and is provoked by the execution of an instruction</a:t>
            </a:r>
          </a:p>
          <a:p>
            <a:pPr marL="682625" lvl="1" indent="-334963">
              <a:buClr>
                <a:schemeClr val="tx2"/>
              </a:buClr>
              <a:buFont typeface="Arial" panose="020B0604020202020204" pitchFamily="34" charset="0"/>
              <a:buChar char="–"/>
            </a:pPr>
            <a:r>
              <a:rPr lang="en-GB" sz="1800" dirty="0"/>
              <a:t>Processor detected</a:t>
            </a:r>
          </a:p>
          <a:p>
            <a:pPr marL="682625" lvl="1" indent="-334963">
              <a:buClr>
                <a:schemeClr val="tx2"/>
              </a:buClr>
              <a:buFont typeface="Arial" panose="020B0604020202020204" pitchFamily="34" charset="0"/>
              <a:buChar char="–"/>
            </a:pPr>
            <a:r>
              <a:rPr lang="en-GB" sz="1800" dirty="0"/>
              <a:t>Programmed</a:t>
            </a:r>
          </a:p>
          <a:p>
            <a:pPr marL="285750" indent="-285750">
              <a:buClr>
                <a:schemeClr val="tx2"/>
              </a:buClr>
              <a:buFont typeface="Arial" panose="020B0604020202020204" pitchFamily="34" charset="0"/>
              <a:buChar char="•"/>
            </a:pPr>
            <a:r>
              <a:rPr lang="en-GB" sz="2200" dirty="0"/>
              <a:t>Interrupt vector table</a:t>
            </a:r>
          </a:p>
          <a:p>
            <a:pPr marL="682625" lvl="1" indent="-334963">
              <a:buClr>
                <a:schemeClr val="tx2"/>
              </a:buClr>
              <a:buFont typeface="Arial" panose="020B0604020202020204" pitchFamily="34" charset="0"/>
              <a:buChar char="–"/>
            </a:pPr>
            <a:r>
              <a:rPr lang="en-GB" sz="1800" dirty="0"/>
              <a:t>Every type of interrupt is assigned a number</a:t>
            </a:r>
          </a:p>
          <a:p>
            <a:pPr marL="682625" lvl="1" indent="-334963">
              <a:buClr>
                <a:schemeClr val="tx2"/>
              </a:buClr>
              <a:buFont typeface="Arial" panose="020B0604020202020204" pitchFamily="34" charset="0"/>
              <a:buChar char="–"/>
            </a:pPr>
            <a:r>
              <a:rPr lang="en-GB" sz="1800" dirty="0"/>
              <a:t>Number is used to index into the interrupt vector table</a:t>
            </a:r>
          </a:p>
        </p:txBody>
      </p:sp>
    </p:spTree>
    <p:extLst>
      <p:ext uri="{BB962C8B-B14F-4D97-AF65-F5344CB8AC3E}">
        <p14:creationId xmlns:p14="http://schemas.microsoft.com/office/powerpoint/2010/main" val="35134925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descr="Long Description: [DO NOT DELETE THIS LINE]&#10;The information offered in the list is presented in the order, vector number, description. The list reads as follows. 0. Divide error, division overflow or division by zero 1. Debug exception, includes various faults and traps related to debugging 2 N M I pin interrupt, signal on N M I pin 3. Breakpoint, caused by I N T 3 instruction, which is a 1-byte instruction useful for debugging 4. INTO-detected overflow, occurs when the processor executes I N T O with the OF flag set 5. BOUND range exceeded, the BOUND instruction compares a register with boundaries stored in memory and generates an interrupt if the contents of the register is out of bounds 6. Undefined opcode 7. Device not available, attempt to use E S C or WAIT instruction fails due to lack of external device 8. Double fault, two interrupts occur during the same instruction and cannot be handled serially 9. Reserved 10. Invalid task state segment, segment describing a requested task is not initialized or not valid 11. Segment not present, required segment not present 12. Stack fault, limit of stack segment exceeded or stack segment not present 13. General protection, protection violation that does not cause another exception (e g, writing to a read-only segment) 14. Page fault 15. Reserved 16. Floating- point error, generated by a floating-point arithmetic instruction 17. Alignment check, access to a word stored at an odd byte address or a doubleword stored at an address not a multiple of 4 18. Machine check, model specific 19 through 31. Reserved 32 through 255. User interrupt vectors, provided when I N T R signal is activate&#10;" title="A list with the title, x 86 exception and interrupt vector table."/>
          <p:cNvGraphicFramePr>
            <a:graphicFrameLocks noGrp="1"/>
          </p:cNvGraphicFramePr>
          <p:nvPr/>
        </p:nvGraphicFramePr>
        <p:xfrm>
          <a:off x="260056" y="137269"/>
          <a:ext cx="6976240" cy="5837708"/>
        </p:xfrm>
        <a:graphic>
          <a:graphicData uri="http://schemas.openxmlformats.org/drawingml/2006/table">
            <a:tbl>
              <a:tblPr firstRow="1" bandRow="1">
                <a:tableStyleId>{5C22544A-7EE6-4342-B048-85BDC9FD1C3A}</a:tableStyleId>
              </a:tblPr>
              <a:tblGrid>
                <a:gridCol w="1023261">
                  <a:extLst>
                    <a:ext uri="{9D8B030D-6E8A-4147-A177-3AD203B41FA5}">
                      <a16:colId xmlns:a16="http://schemas.microsoft.com/office/drawing/2014/main" val="2543019389"/>
                    </a:ext>
                  </a:extLst>
                </a:gridCol>
                <a:gridCol w="5952979">
                  <a:extLst>
                    <a:ext uri="{9D8B030D-6E8A-4147-A177-3AD203B41FA5}">
                      <a16:colId xmlns:a16="http://schemas.microsoft.com/office/drawing/2014/main" val="3168231750"/>
                    </a:ext>
                  </a:extLst>
                </a:gridCol>
              </a:tblGrid>
              <a:tr h="212102">
                <a:tc>
                  <a:txBody>
                    <a:bodyPr/>
                    <a:lstStyle/>
                    <a:p>
                      <a:pPr algn="ctr"/>
                      <a:r>
                        <a:rPr lang="en-IN" sz="800" b="1" i="0" u="none" strike="noStrike" cap="none" baseline="0" dirty="0">
                          <a:solidFill>
                            <a:schemeClr val="tx1"/>
                          </a:solidFill>
                          <a:latin typeface="+mn-lt"/>
                          <a:ea typeface="+mn-ea"/>
                          <a:cs typeface="+mn-cs"/>
                          <a:sym typeface="Arial"/>
                        </a:rPr>
                        <a:t>Vector Number</a:t>
                      </a:r>
                      <a:endParaRPr lang="en-IN" sz="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800" b="1" dirty="0">
                          <a:solidFill>
                            <a:schemeClr val="tx1"/>
                          </a:solidFill>
                        </a:rPr>
                        <a:t>Description</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9986812"/>
                  </a:ext>
                </a:extLst>
              </a:tr>
              <a:tr h="212102">
                <a:tc>
                  <a:txBody>
                    <a:bodyPr/>
                    <a:lstStyle/>
                    <a:p>
                      <a:pPr algn="ctr"/>
                      <a:r>
                        <a:rPr lang="en-IN" sz="800" dirty="0"/>
                        <a:t>0</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00" dirty="0"/>
                        <a:t>Divide error; division overflow or division by zero</a:t>
                      </a:r>
                      <a:endParaRPr lang="en-IN" sz="8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7666487"/>
                  </a:ext>
                </a:extLst>
              </a:tr>
              <a:tr h="212102">
                <a:tc>
                  <a:txBody>
                    <a:bodyPr/>
                    <a:lstStyle/>
                    <a:p>
                      <a:pPr algn="ctr"/>
                      <a:r>
                        <a:rPr lang="en-IN" sz="800" dirty="0"/>
                        <a:t>1</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00" dirty="0"/>
                        <a:t>Debug exception; includes various faults and traps related to debugging</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2764516"/>
                  </a:ext>
                </a:extLst>
              </a:tr>
              <a:tr h="212102">
                <a:tc>
                  <a:txBody>
                    <a:bodyPr/>
                    <a:lstStyle/>
                    <a:p>
                      <a:pPr algn="ctr"/>
                      <a:r>
                        <a:rPr lang="en-IN" sz="800" dirty="0"/>
                        <a:t>2</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fi-FI" sz="800" dirty="0"/>
                        <a:t>NMI pin interrupt; signal on NMI pin</a:t>
                      </a:r>
                      <a:endParaRPr lang="en-US" sz="8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801756320"/>
                  </a:ext>
                </a:extLst>
              </a:tr>
              <a:tr h="333303">
                <a:tc>
                  <a:txBody>
                    <a:bodyPr/>
                    <a:lstStyle/>
                    <a:p>
                      <a:pPr algn="ctr"/>
                      <a:r>
                        <a:rPr lang="en-IN" sz="800" dirty="0"/>
                        <a:t>3</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00" dirty="0"/>
                        <a:t>Breakpoint; caused by INT 3 instruction, which is a 1-byte instruction useful for</a:t>
                      </a:r>
                    </a:p>
                    <a:p>
                      <a:r>
                        <a:rPr lang="en-US" sz="800" dirty="0"/>
                        <a:t>debugging</a:t>
                      </a:r>
                      <a:endParaRPr lang="en-IN" sz="8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7438362"/>
                  </a:ext>
                </a:extLst>
              </a:tr>
              <a:tr h="212102">
                <a:tc>
                  <a:txBody>
                    <a:bodyPr/>
                    <a:lstStyle/>
                    <a:p>
                      <a:pPr algn="ctr"/>
                      <a:r>
                        <a:rPr lang="en-IN" sz="800" dirty="0"/>
                        <a:t>4</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00" dirty="0"/>
                        <a:t>INTO-detected overflow; occurs when the processor executes INTO with the OF flag set</a:t>
                      </a:r>
                      <a:endParaRPr lang="en-IN" sz="8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94824530"/>
                  </a:ext>
                </a:extLst>
              </a:tr>
              <a:tr h="454504">
                <a:tc>
                  <a:txBody>
                    <a:bodyPr/>
                    <a:lstStyle/>
                    <a:p>
                      <a:pPr algn="ctr"/>
                      <a:r>
                        <a:rPr lang="en-IN" sz="800" dirty="0"/>
                        <a:t>5</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00" dirty="0"/>
                        <a:t>BOUND range exceeded; the BOUND instruction compares a register with boundaries</a:t>
                      </a:r>
                    </a:p>
                    <a:p>
                      <a:r>
                        <a:rPr lang="en-US" sz="800" dirty="0"/>
                        <a:t>stored in memory and generates an interrupt if the contents of the register is out</a:t>
                      </a:r>
                    </a:p>
                    <a:p>
                      <a:r>
                        <a:rPr lang="en-US" sz="800" dirty="0"/>
                        <a:t>of bounds</a:t>
                      </a:r>
                      <a:endParaRPr lang="en-IN" sz="8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49877881"/>
                  </a:ext>
                </a:extLst>
              </a:tr>
              <a:tr h="297574">
                <a:tc>
                  <a:txBody>
                    <a:bodyPr/>
                    <a:lstStyle/>
                    <a:p>
                      <a:pPr algn="ctr"/>
                      <a:r>
                        <a:rPr lang="en-IN" sz="800" dirty="0"/>
                        <a:t>6</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800" dirty="0"/>
                        <a:t>Undefined opcode</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95417200"/>
                  </a:ext>
                </a:extLst>
              </a:tr>
              <a:tr h="333303">
                <a:tc>
                  <a:txBody>
                    <a:bodyPr/>
                    <a:lstStyle/>
                    <a:p>
                      <a:pPr algn="ctr"/>
                      <a:r>
                        <a:rPr lang="en-IN" sz="800" dirty="0"/>
                        <a:t>7</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00" dirty="0"/>
                        <a:t>Device not available; attempt to use ESC or WAIT instruction fails due to lack of</a:t>
                      </a:r>
                    </a:p>
                    <a:p>
                      <a:r>
                        <a:rPr lang="en-US" sz="800" dirty="0"/>
                        <a:t>external device</a:t>
                      </a:r>
                      <a:endParaRPr lang="en-IN" sz="8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88829845"/>
                  </a:ext>
                </a:extLst>
              </a:tr>
              <a:tr h="333303">
                <a:tc>
                  <a:txBody>
                    <a:bodyPr/>
                    <a:lstStyle/>
                    <a:p>
                      <a:pPr algn="ctr"/>
                      <a:r>
                        <a:rPr lang="en-IN" sz="800" dirty="0"/>
                        <a:t>8</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00" dirty="0"/>
                        <a:t>Double fault; two interrupts occur during the same instruction and cannot be handled</a:t>
                      </a:r>
                    </a:p>
                    <a:p>
                      <a:r>
                        <a:rPr lang="en-US" sz="800" dirty="0"/>
                        <a:t>serially</a:t>
                      </a:r>
                      <a:endParaRPr lang="en-IN" sz="8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0603847"/>
                  </a:ext>
                </a:extLst>
              </a:tr>
              <a:tr h="212102">
                <a:tc>
                  <a:txBody>
                    <a:bodyPr/>
                    <a:lstStyle/>
                    <a:p>
                      <a:pPr algn="ctr"/>
                      <a:r>
                        <a:rPr lang="en-IN" sz="800" dirty="0"/>
                        <a:t>9</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00" dirty="0"/>
                        <a:t>Reserved</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3729218"/>
                  </a:ext>
                </a:extLst>
              </a:tr>
              <a:tr h="333303">
                <a:tc>
                  <a:txBody>
                    <a:bodyPr/>
                    <a:lstStyle/>
                    <a:p>
                      <a:pPr algn="ctr"/>
                      <a:r>
                        <a:rPr lang="en-IN" sz="800" dirty="0"/>
                        <a:t>10</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00" dirty="0"/>
                        <a:t>Invalid task state segment; segment describing a requested task is not initialized or</a:t>
                      </a:r>
                    </a:p>
                    <a:p>
                      <a:r>
                        <a:rPr lang="en-US" sz="800" dirty="0"/>
                        <a:t>not valid</a:t>
                      </a:r>
                      <a:endParaRPr lang="en-IN" sz="8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8297481"/>
                  </a:ext>
                </a:extLst>
              </a:tr>
              <a:tr h="212102">
                <a:tc>
                  <a:txBody>
                    <a:bodyPr/>
                    <a:lstStyle/>
                    <a:p>
                      <a:pPr algn="ctr"/>
                      <a:r>
                        <a:rPr lang="en-IN" sz="800" dirty="0"/>
                        <a:t>11</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00" dirty="0"/>
                        <a:t>Segment not present; required segment not present</a:t>
                      </a:r>
                      <a:endParaRPr lang="en-IN" sz="8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3169786"/>
                  </a:ext>
                </a:extLst>
              </a:tr>
              <a:tr h="212102">
                <a:tc>
                  <a:txBody>
                    <a:bodyPr/>
                    <a:lstStyle/>
                    <a:p>
                      <a:pPr algn="ctr"/>
                      <a:r>
                        <a:rPr lang="en-IN" sz="800" dirty="0"/>
                        <a:t>12</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00" dirty="0"/>
                        <a:t>Stack fault; limit of stack segment exceeded or stack segment not present</a:t>
                      </a:r>
                      <a:endParaRPr lang="en-IN" sz="8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6931147"/>
                  </a:ext>
                </a:extLst>
              </a:tr>
              <a:tr h="333303">
                <a:tc>
                  <a:txBody>
                    <a:bodyPr/>
                    <a:lstStyle/>
                    <a:p>
                      <a:pPr algn="ctr"/>
                      <a:r>
                        <a:rPr lang="en-IN" sz="800" dirty="0"/>
                        <a:t>13</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00" dirty="0"/>
                        <a:t>General protection; protection violation that does not cause another exception (e.g.,</a:t>
                      </a:r>
                    </a:p>
                    <a:p>
                      <a:r>
                        <a:rPr lang="en-US" sz="800" dirty="0"/>
                        <a:t>writing to a read-only segment)</a:t>
                      </a:r>
                      <a:endParaRPr lang="en-IN" sz="8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502401"/>
                  </a:ext>
                </a:extLst>
              </a:tr>
              <a:tr h="297574">
                <a:tc>
                  <a:txBody>
                    <a:bodyPr/>
                    <a:lstStyle/>
                    <a:p>
                      <a:pPr algn="ctr"/>
                      <a:r>
                        <a:rPr lang="en-IN" sz="800" dirty="0"/>
                        <a:t>14</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800" dirty="0"/>
                        <a:t>Page fault</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3527841"/>
                  </a:ext>
                </a:extLst>
              </a:tr>
              <a:tr h="212102">
                <a:tc>
                  <a:txBody>
                    <a:bodyPr/>
                    <a:lstStyle/>
                    <a:p>
                      <a:pPr algn="ctr"/>
                      <a:r>
                        <a:rPr lang="en-IN" sz="800" dirty="0"/>
                        <a:t>15</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800" dirty="0"/>
                        <a:t>Reserved</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2541268"/>
                  </a:ext>
                </a:extLst>
              </a:tr>
              <a:tr h="212102">
                <a:tc>
                  <a:txBody>
                    <a:bodyPr/>
                    <a:lstStyle/>
                    <a:p>
                      <a:pPr algn="ctr"/>
                      <a:r>
                        <a:rPr lang="en-IN" sz="800" dirty="0"/>
                        <a:t>16</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00" dirty="0"/>
                        <a:t>Floating-point error; generated by a floating-point arithmetic instruction</a:t>
                      </a:r>
                      <a:endParaRPr lang="en-IN" sz="8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2709782"/>
                  </a:ext>
                </a:extLst>
              </a:tr>
              <a:tr h="333303">
                <a:tc>
                  <a:txBody>
                    <a:bodyPr/>
                    <a:lstStyle/>
                    <a:p>
                      <a:pPr algn="ctr"/>
                      <a:r>
                        <a:rPr lang="en-IN" sz="800" dirty="0"/>
                        <a:t>17</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00" dirty="0"/>
                        <a:t>Alignment check; access to a word stored at an odd byte address or a </a:t>
                      </a:r>
                      <a:r>
                        <a:rPr lang="en-US" sz="800" dirty="0" err="1"/>
                        <a:t>doubleword</a:t>
                      </a:r>
                      <a:endParaRPr lang="en-US" sz="800" dirty="0"/>
                    </a:p>
                    <a:p>
                      <a:r>
                        <a:rPr lang="en-US" sz="800" dirty="0"/>
                        <a:t>stored at an address not a multiple of 4</a:t>
                      </a:r>
                      <a:endParaRPr lang="en-IN" sz="8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8514044"/>
                  </a:ext>
                </a:extLst>
              </a:tr>
              <a:tr h="212102">
                <a:tc>
                  <a:txBody>
                    <a:bodyPr/>
                    <a:lstStyle/>
                    <a:p>
                      <a:pPr algn="ctr"/>
                      <a:r>
                        <a:rPr lang="en-IN" sz="800" dirty="0"/>
                        <a:t>18</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800" dirty="0"/>
                        <a:t>Machine check; model specific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4617872"/>
                  </a:ext>
                </a:extLst>
              </a:tr>
              <a:tr h="212102">
                <a:tc>
                  <a:txBody>
                    <a:bodyPr/>
                    <a:lstStyle/>
                    <a:p>
                      <a:pPr algn="ctr"/>
                      <a:r>
                        <a:rPr lang="en-IN" sz="800" dirty="0"/>
                        <a:t>19–31</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800" dirty="0"/>
                        <a:t>Reserved</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5377485"/>
                  </a:ext>
                </a:extLst>
              </a:tr>
              <a:tr h="212102">
                <a:tc>
                  <a:txBody>
                    <a:bodyPr/>
                    <a:lstStyle/>
                    <a:p>
                      <a:pPr algn="ctr"/>
                      <a:r>
                        <a:rPr lang="en-IN" sz="800" dirty="0"/>
                        <a:t>32–255</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800" dirty="0"/>
                        <a:t>User interrupt vectors; provided when INTR signal is activated</a:t>
                      </a:r>
                      <a:endParaRPr lang="en-IN" sz="8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92066270"/>
                  </a:ext>
                </a:extLst>
              </a:tr>
            </a:tbl>
          </a:graphicData>
        </a:graphic>
      </p:graphicFrame>
      <p:sp>
        <p:nvSpPr>
          <p:cNvPr id="7" name="TextBox 6"/>
          <p:cNvSpPr txBox="1"/>
          <p:nvPr/>
        </p:nvSpPr>
        <p:spPr>
          <a:xfrm>
            <a:off x="179512" y="5944068"/>
            <a:ext cx="1701107" cy="461665"/>
          </a:xfrm>
          <a:prstGeom prst="rect">
            <a:avLst/>
          </a:prstGeom>
          <a:noFill/>
        </p:spPr>
        <p:txBody>
          <a:bodyPr wrap="none" rtlCol="0">
            <a:spAutoFit/>
          </a:bodyPr>
          <a:lstStyle/>
          <a:p>
            <a:r>
              <a:rPr lang="en-US" sz="1200" dirty="0" err="1">
                <a:latin typeface="+mn-lt"/>
              </a:rPr>
              <a:t>Unshaded</a:t>
            </a:r>
            <a:r>
              <a:rPr lang="en-US" sz="1200" dirty="0">
                <a:latin typeface="+mn-lt"/>
              </a:rPr>
              <a:t>: exceptions</a:t>
            </a:r>
          </a:p>
          <a:p>
            <a:r>
              <a:rPr lang="en-US" sz="1200" dirty="0">
                <a:latin typeface="+mn-lt"/>
              </a:rPr>
              <a:t>Shaded: interrupts</a:t>
            </a:r>
            <a:endParaRPr lang="en-US" dirty="0"/>
          </a:p>
        </p:txBody>
      </p:sp>
      <p:sp>
        <p:nvSpPr>
          <p:cNvPr id="2" name="Title 1">
            <a:extLst>
              <a:ext uri="{FF2B5EF4-FFF2-40B4-BE49-F238E27FC236}">
                <a16:creationId xmlns:a16="http://schemas.microsoft.com/office/drawing/2014/main" id="{59CB1D27-C613-42C4-B920-F1D933F558B5}"/>
              </a:ext>
            </a:extLst>
          </p:cNvPr>
          <p:cNvSpPr>
            <a:spLocks noGrp="1"/>
          </p:cNvSpPr>
          <p:nvPr>
            <p:ph type="title"/>
          </p:nvPr>
        </p:nvSpPr>
        <p:spPr>
          <a:xfrm>
            <a:off x="7236296" y="620688"/>
            <a:ext cx="2051720" cy="4344884"/>
          </a:xfrm>
        </p:spPr>
        <p:txBody>
          <a:bodyPr/>
          <a:lstStyle/>
          <a:p>
            <a:pPr algn="ctr"/>
            <a:r>
              <a:rPr lang="en-US" dirty="0"/>
              <a:t>Table 16.3</a:t>
            </a:r>
            <a:br>
              <a:rPr lang="en-US" dirty="0"/>
            </a:br>
            <a:r>
              <a:rPr lang="en-US" dirty="0"/>
              <a:t>x86 Exception and Interrupt Vector Table</a:t>
            </a:r>
          </a:p>
        </p:txBody>
      </p:sp>
    </p:spTree>
    <p:extLst>
      <p:ext uri="{BB962C8B-B14F-4D97-AF65-F5344CB8AC3E}">
        <p14:creationId xmlns:p14="http://schemas.microsoft.com/office/powerpoint/2010/main" val="2092880618"/>
      </p:ext>
    </p:extLst>
  </p:cSld>
  <p:clrMapOvr>
    <a:masterClrMapping/>
  </p:clrMapOvr>
  <p:transition spd="med">
    <p:wipe dir="d"/>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p:txBody>
          <a:bodyPr/>
          <a:lstStyle/>
          <a:p>
            <a:r>
              <a:rPr lang="en-GB" dirty="0"/>
              <a:t>The ARM Processor</a:t>
            </a:r>
          </a:p>
        </p:txBody>
      </p:sp>
      <p:sp>
        <p:nvSpPr>
          <p:cNvPr id="5" name="Text Placeholder 4"/>
          <p:cNvSpPr>
            <a:spLocks noGrp="1"/>
          </p:cNvSpPr>
          <p:nvPr>
            <p:ph type="body" idx="1"/>
          </p:nvPr>
        </p:nvSpPr>
        <p:spPr>
          <a:xfrm>
            <a:off x="374493" y="1605650"/>
            <a:ext cx="8395015" cy="4137925"/>
          </a:xfrm>
        </p:spPr>
        <p:txBody>
          <a:bodyPr/>
          <a:lstStyle/>
          <a:p>
            <a:pPr marL="101600" indent="0">
              <a:buNone/>
            </a:pPr>
            <a:r>
              <a:rPr lang="en-US" dirty="0"/>
              <a:t>ARM is primarily a RISC system with the following attributes:</a:t>
            </a:r>
          </a:p>
        </p:txBody>
      </p:sp>
      <p:sp>
        <p:nvSpPr>
          <p:cNvPr id="4" name="Content Placeholder 3"/>
          <p:cNvSpPr>
            <a:spLocks noGrp="1"/>
          </p:cNvSpPr>
          <p:nvPr>
            <p:ph idx="4294967295"/>
          </p:nvPr>
        </p:nvSpPr>
        <p:spPr>
          <a:xfrm>
            <a:off x="471884" y="2432720"/>
            <a:ext cx="7844532" cy="3825205"/>
          </a:xfrm>
        </p:spPr>
        <p:txBody>
          <a:bodyPr>
            <a:noAutofit/>
          </a:bodyPr>
          <a:lstStyle/>
          <a:p>
            <a:pPr marL="347663" indent="-347663">
              <a:spcAft>
                <a:spcPts val="600"/>
              </a:spcAft>
              <a:buClr>
                <a:schemeClr val="tx2"/>
              </a:buClr>
              <a:buFont typeface="Arial" panose="020B0604020202020204" pitchFamily="34" charset="0"/>
              <a:buChar char="•"/>
            </a:pPr>
            <a:r>
              <a:rPr lang="en-US" sz="1600" dirty="0"/>
              <a:t>Moderate array of uniform registers</a:t>
            </a:r>
          </a:p>
          <a:p>
            <a:pPr marL="347663" indent="-347663">
              <a:spcAft>
                <a:spcPts val="600"/>
              </a:spcAft>
              <a:buClr>
                <a:schemeClr val="tx2"/>
              </a:buClr>
              <a:buFont typeface="Arial" panose="020B0604020202020204" pitchFamily="34" charset="0"/>
              <a:buChar char="•"/>
            </a:pPr>
            <a:r>
              <a:rPr lang="en-US" sz="1600" dirty="0"/>
              <a:t>A load/store model of data processing in which operations only perform on operands in registers and not directly in memory</a:t>
            </a:r>
          </a:p>
          <a:p>
            <a:pPr marL="347663" indent="-347663">
              <a:spcAft>
                <a:spcPts val="600"/>
              </a:spcAft>
              <a:buClr>
                <a:schemeClr val="tx2"/>
              </a:buClr>
              <a:buFont typeface="Arial" panose="020B0604020202020204" pitchFamily="34" charset="0"/>
              <a:buChar char="•"/>
            </a:pPr>
            <a:r>
              <a:rPr lang="en-US" sz="1600" dirty="0"/>
              <a:t>A uniform fixed-length instruction of 32 bits for the standard set and 16 bits for the Thumb instruction set</a:t>
            </a:r>
          </a:p>
          <a:p>
            <a:pPr marL="347663" indent="-347663">
              <a:spcAft>
                <a:spcPts val="600"/>
              </a:spcAft>
              <a:buClr>
                <a:schemeClr val="tx2"/>
              </a:buClr>
              <a:buFont typeface="Arial" panose="020B0604020202020204" pitchFamily="34" charset="0"/>
              <a:buChar char="•"/>
            </a:pPr>
            <a:r>
              <a:rPr lang="en-US" sz="1600" dirty="0"/>
              <a:t>Separate arithmetic logic unit (ALU) and shifter units</a:t>
            </a:r>
          </a:p>
          <a:p>
            <a:pPr marL="347663" indent="-347663">
              <a:spcAft>
                <a:spcPts val="600"/>
              </a:spcAft>
              <a:buClr>
                <a:schemeClr val="tx2"/>
              </a:buClr>
              <a:buFont typeface="Arial" panose="020B0604020202020204" pitchFamily="34" charset="0"/>
              <a:buChar char="•"/>
            </a:pPr>
            <a:r>
              <a:rPr lang="en-US" sz="1600" dirty="0"/>
              <a:t>A small number of addressing modes with all load/store addresses determined from registers and instruction fields</a:t>
            </a:r>
          </a:p>
          <a:p>
            <a:pPr marL="347663" indent="-347663">
              <a:spcAft>
                <a:spcPts val="600"/>
              </a:spcAft>
              <a:buClr>
                <a:schemeClr val="tx2"/>
              </a:buClr>
              <a:buFont typeface="Arial" panose="020B0604020202020204" pitchFamily="34" charset="0"/>
              <a:buChar char="•"/>
            </a:pPr>
            <a:r>
              <a:rPr lang="en-US" sz="1600" dirty="0"/>
              <a:t>Auto-increment and auto-decrement addressing modes are used to improve the operation of program loops</a:t>
            </a:r>
          </a:p>
          <a:p>
            <a:pPr marL="347663" indent="-347663">
              <a:buClr>
                <a:schemeClr val="tx2"/>
              </a:buClr>
              <a:buFont typeface="Arial" panose="020B0604020202020204" pitchFamily="34" charset="0"/>
              <a:buChar char="•"/>
            </a:pPr>
            <a:r>
              <a:rPr lang="en-US" sz="1600" dirty="0"/>
              <a:t>Conditional execution of instructions minimizes the need for conditional branch instructions, thereby improving pipeline efficiency, because pipeline flushing is reduced</a:t>
            </a:r>
          </a:p>
        </p:txBody>
      </p:sp>
    </p:spTree>
    <p:extLst>
      <p:ext uri="{BB962C8B-B14F-4D97-AF65-F5344CB8AC3E}">
        <p14:creationId xmlns:p14="http://schemas.microsoft.com/office/powerpoint/2010/main" val="6473812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0168"/>
            <a:ext cx="8229600" cy="1097279"/>
          </a:xfrm>
          <a:noFill/>
          <a:ln/>
        </p:spPr>
        <p:txBody>
          <a:bodyPr lIns="90488" tIns="44450" rIns="90488" bIns="44450"/>
          <a:lstStyle/>
          <a:p>
            <a:r>
              <a:rPr lang="en-US" dirty="0"/>
              <a:t>Figure 16.28</a:t>
            </a:r>
            <a:br>
              <a:rPr lang="en-US" dirty="0"/>
            </a:br>
            <a:r>
              <a:rPr lang="en-US" dirty="0"/>
              <a:t>Simplified ARM Organization</a:t>
            </a:r>
          </a:p>
        </p:txBody>
      </p:sp>
      <p:pic>
        <p:nvPicPr>
          <p:cNvPr id="4" name="Picture 3" title="A diagrammatic representation of simplified ARM Organization."/>
          <p:cNvPicPr>
            <a:picLocks noChangeAspect="1"/>
          </p:cNvPicPr>
          <p:nvPr/>
        </p:nvPicPr>
        <p:blipFill rotWithShape="1">
          <a:blip r:embed="rId3">
            <a:extLst>
              <a:ext uri="{28A0092B-C50C-407E-A947-70E740481C1C}">
                <a14:useLocalDpi xmlns:a14="http://schemas.microsoft.com/office/drawing/2010/main" val="0"/>
              </a:ext>
            </a:extLst>
          </a:blip>
          <a:srcRect l="14117" t="11840" r="8235" b="20887"/>
          <a:stretch/>
        </p:blipFill>
        <p:spPr>
          <a:xfrm>
            <a:off x="2288458" y="1266820"/>
            <a:ext cx="4567085" cy="5120672"/>
          </a:xfrm>
          <a:prstGeom prst="rect">
            <a:avLst/>
          </a:prstGeom>
        </p:spPr>
      </p:pic>
    </p:spTree>
    <p:extLst>
      <p:ext uri="{BB962C8B-B14F-4D97-AF65-F5344CB8AC3E}">
        <p14:creationId xmlns:p14="http://schemas.microsoft.com/office/powerpoint/2010/main" val="1286212892"/>
      </p:ext>
    </p:extLst>
  </p:cSld>
  <p:clrMapOvr>
    <a:masterClrMapping/>
  </p:clrMapOvr>
  <p:transition spd="med">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a:xfrm>
            <a:off x="457200" y="216565"/>
            <a:ext cx="8229600" cy="674974"/>
          </a:xfrm>
        </p:spPr>
        <p:txBody>
          <a:bodyPr/>
          <a:lstStyle/>
          <a:p>
            <a:r>
              <a:rPr lang="en-GB" dirty="0"/>
              <a:t>Processor Modes</a:t>
            </a:r>
          </a:p>
        </p:txBody>
      </p:sp>
      <p:graphicFrame>
        <p:nvGraphicFramePr>
          <p:cNvPr id="7" name="Content Placeholder 3"/>
          <p:cNvGraphicFramePr>
            <a:graphicFrameLocks/>
          </p:cNvGraphicFramePr>
          <p:nvPr/>
        </p:nvGraphicFramePr>
        <p:xfrm>
          <a:off x="0" y="828097"/>
          <a:ext cx="9144000" cy="5668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18368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654739"/>
          </a:xfrm>
        </p:spPr>
        <p:txBody>
          <a:bodyPr/>
          <a:lstStyle/>
          <a:p>
            <a:r>
              <a:rPr lang="en-US" dirty="0"/>
              <a:t>Exception Modes</a:t>
            </a:r>
          </a:p>
        </p:txBody>
      </p:sp>
      <p:graphicFrame>
        <p:nvGraphicFramePr>
          <p:cNvPr id="7" name="Content Placeholder 3"/>
          <p:cNvGraphicFramePr>
            <a:graphicFrameLocks/>
          </p:cNvGraphicFramePr>
          <p:nvPr/>
        </p:nvGraphicFramePr>
        <p:xfrm>
          <a:off x="497260" y="670563"/>
          <a:ext cx="8149480" cy="57596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764669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title"/>
          </p:nvPr>
        </p:nvSpPr>
        <p:spPr>
          <a:xfrm>
            <a:off x="457200" y="170168"/>
            <a:ext cx="8229600" cy="1097279"/>
          </a:xfrm>
          <a:noFill/>
          <a:ln/>
        </p:spPr>
        <p:txBody>
          <a:bodyPr lIns="90488" tIns="44450" rIns="90488" bIns="44450"/>
          <a:lstStyle/>
          <a:p>
            <a:r>
              <a:rPr lang="en-US" dirty="0"/>
              <a:t>Figure 16.29</a:t>
            </a:r>
            <a:br>
              <a:rPr lang="en-US" dirty="0"/>
            </a:br>
            <a:r>
              <a:rPr lang="en-US" dirty="0"/>
              <a:t>ARM Register Organization</a:t>
            </a:r>
          </a:p>
        </p:txBody>
      </p:sp>
      <p:pic>
        <p:nvPicPr>
          <p:cNvPr id="7" name="Picture 6" descr="User, System, Supervisor, Abort, Interrupt, and Fast interrupt are collectively labeled as modes. System, Supervisor, Abort, Interrupt, and Fast interrupt are collectively labeled as privileged modes. Supervisor, Abort, Interrupt, and Fast interrupt are collectively labeled as exception modes. The table has 16 rows and 7 columns. The columns have the following headings from left to right. user, system, supervisor, abort, interrupt, fast interrupt. The row entries are as follows. Row 1. user, R 0. system, R 0. supervisor, R 0. abort, R 0, R 0. interrupt, R 0. fast interrupt, R 0. Row 2. user, R 1. system, R 1. supervisor, R 1. abort, R 1, R 1. interrupt, R 1. fast interrupt, R 1. Row 3. user, R 2. system, R 2. supervisor, R 2. abort, R 2, R 2. interrupt, R 2. fast interrupt, R 2. Row 4. user, R 3. system, R 3. supervisor, R 3. abort, R 3, R 3. interrupt, R 3. fast interrupt, R 3. Row 5. user, R 4. system, R 4. supervisor, R 4. abort, R 4, R 4. interrupt, R 4. fast interrupt, R 4. Row 6. user, R 5. system, R 5. supervisor, R 5. abort, R 5, R 5. interrupt, R 5. fast interrupt, R 5. Row 7. user, R 6. system, R 6. supervisor, R 6. abort, R 6, R 6. interrupt, R 6. fast interrupt, R 6. Row 8. user, R 7. system, R 7. supervisor, R 7. abort, R 7, R 7. interrupt, R 7. fast interrupt, R 7. Row 9. user, R 8. system, R 8. supervisor, R 8. abort, R 8, R 8. interrupt, R 8. fast interrupt, R 8 f I q. Row 10. user, R 9. system, R 9. supervisor, R 9. abort, R 9, R 9. interrupt, R 9. fast interrupt, R 9 f I q. Row 11. user, R 10. system, R 10. supervisor, R 10. abort, R 10, R 10. interrupt, R 10. fast interrupt, R 10_fiq. Row 12. user, R 11. system, R 11. supervisor, R 11. abort, R 11, R 11. interrupt, R 11. fast interrupt, R 11 underscore f I q. Row 13. user, R 12. system, R 12. supervisor, R 12. abort, R 12, R 12. interrupt, R 12. fast interrupt, R 12 underscore f I q. Row 14. user, R 13, S P. system, R 13, S P. supervisor, R 13 underscore svc. abort, R 13 underscore a b t, R 13 underscore und. interrupt, R 13 underscore I r q. fast interrupt, R 13 underscore f i q. Row 15. user, R 14, L R. system, R 14, L R. supervisor, R 14 underscore svc. abort, R 14 underscore a b t, R 14 underscore und. interrupt, R 14 underscore i r q. fast interrupt, R 14 underscore f i q. Row 16. user, R 15, P C. system, R 15, P C. supervisor, R 15, P C. abort, R 15, P C, R 15, P C. interrupt, R 15, P C. fast interrupt, R 15, P C. Below is another register. Row 1. user, C P S R. system, C P S R. supervisor, C P S R. abort, C P S R. undefined, C P S R. interrupt, C P S R. fast interrupt, C P S R. Row 2. user, blank. system, blank. supervisor, S P S R underscore s v c. abort, S P S R underscore a b t. undefined, S P S R underscore u n d. interrupt, S P S R underscore I r q. fast interrupt, S P S R underscore f I q. Row 2 is shaded. Shading indicates that the normal register used by User or System mode has been replaced by an alternative register specific to the exception mode Below are the list of abbreviations for the acronyms. S P = stack pointer C P S R = current program status register, L R = link register S P S R = saved program status register P C = program counter." title="A table represent elements of the A R M organization structure."/>
          <p:cNvPicPr>
            <a:picLocks noChangeAspect="1"/>
          </p:cNvPicPr>
          <p:nvPr/>
        </p:nvPicPr>
        <p:blipFill rotWithShape="1">
          <a:blip r:embed="rId3">
            <a:extLst>
              <a:ext uri="{28A0092B-C50C-407E-A947-70E740481C1C}">
                <a14:useLocalDpi xmlns:a14="http://schemas.microsoft.com/office/drawing/2010/main" val="0"/>
              </a:ext>
            </a:extLst>
          </a:blip>
          <a:srcRect l="6876" t="9709" r="8943" b="15534"/>
          <a:stretch/>
        </p:blipFill>
        <p:spPr>
          <a:xfrm>
            <a:off x="2322034" y="1251629"/>
            <a:ext cx="4499932" cy="5171563"/>
          </a:xfrm>
          <a:prstGeom prst="rect">
            <a:avLst/>
          </a:prstGeom>
          <a:solidFill>
            <a:schemeClr val="accent4">
              <a:lumMod val="40000"/>
              <a:lumOff val="60000"/>
            </a:schemeClr>
          </a:solidFill>
          <a:ln w="15875">
            <a:solidFill>
              <a:schemeClr val="accent4">
                <a:lumMod val="50000"/>
              </a:schemeClr>
            </a:solidFill>
          </a:ln>
        </p:spPr>
      </p:pic>
    </p:spTree>
    <p:extLst>
      <p:ext uri="{BB962C8B-B14F-4D97-AF65-F5344CB8AC3E}">
        <p14:creationId xmlns:p14="http://schemas.microsoft.com/office/powerpoint/2010/main" val="3447996144"/>
      </p:ext>
    </p:extLst>
  </p:cSld>
  <p:clrMapOvr>
    <a:masterClrMapping/>
  </p:clrMapOvr>
  <p:transition spd="med">
    <p:zo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0168"/>
            <a:ext cx="8229600" cy="1097279"/>
          </a:xfrm>
          <a:noFill/>
          <a:ln/>
        </p:spPr>
        <p:txBody>
          <a:bodyPr lIns="90488" tIns="44450" rIns="90488" bIns="44450"/>
          <a:lstStyle/>
          <a:p>
            <a:r>
              <a:rPr lang="en-US" dirty="0"/>
              <a:t>Figure 16.30</a:t>
            </a:r>
            <a:br>
              <a:rPr lang="en-US" dirty="0"/>
            </a:br>
            <a:r>
              <a:rPr lang="en-US" dirty="0"/>
              <a:t>Format of ARM CPSR and SPSR</a:t>
            </a:r>
          </a:p>
        </p:txBody>
      </p:sp>
      <p:pic>
        <p:nvPicPr>
          <p:cNvPr id="4" name="Picture 3" descr="The indices of the register are from 31 to 0. 31, N. 30, Z. 29, C. 28, V. 27, Q. 26 and 25, Reserved. 24, J. 23, 22, 21 and 20, reserved. 19 to 16, G E left bracket 3 colon 0. 15 to 10, reserved. 9, e. 8, A. 7, I. 6, F. 5, T. 4 to 0, M left bracket 4 colon 0 right bracket. 31 to 16 are labeled as user flags. 15 to 0 are labeled as system control flags." title="A diagram explains the format of A R M, C P S R, and S P S R registers."/>
          <p:cNvPicPr>
            <a:picLocks noChangeAspect="1"/>
          </p:cNvPicPr>
          <p:nvPr/>
        </p:nvPicPr>
        <p:blipFill rotWithShape="1">
          <a:blip r:embed="rId3">
            <a:extLst>
              <a:ext uri="{28A0092B-C50C-407E-A947-70E740481C1C}">
                <a14:useLocalDpi xmlns:a14="http://schemas.microsoft.com/office/drawing/2010/main" val="0"/>
              </a:ext>
            </a:extLst>
          </a:blip>
          <a:srcRect l="11264" t="10535" r="12540" b="75642"/>
          <a:stretch/>
        </p:blipFill>
        <p:spPr>
          <a:xfrm>
            <a:off x="431540" y="1844823"/>
            <a:ext cx="8280920" cy="1944217"/>
          </a:xfrm>
          <a:prstGeom prst="rect">
            <a:avLst/>
          </a:prstGeom>
        </p:spPr>
      </p:pic>
    </p:spTree>
    <p:extLst>
      <p:ext uri="{BB962C8B-B14F-4D97-AF65-F5344CB8AC3E}">
        <p14:creationId xmlns:p14="http://schemas.microsoft.com/office/powerpoint/2010/main" val="3517594382"/>
      </p:ext>
    </p:extLst>
  </p:cSld>
  <p:clrMapOvr>
    <a:masterClrMapping/>
  </p:clrMapOvr>
  <p:transition spd="med">
    <p:zo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descr="The table has the column headings, exception type, mode, normal entry address, and description. The rows read as follows from left to right. 1. Reset, Supervisor, 0 x 0 0 0 0 0 0 0 0, Occurs when the system is initialized. 2. Data abort, Abort, 0 x 0 0 0 0 0 0 1 0, Occurs when an invalid memory address has been accessed, such as if there is no physical memory for an address or the correct access permission is lacking. 3. F I Q (fast interrupt) F I Q, 0 x 0 0 0 0 0 0 1 C, Occurs when an external device asserts the F I Q pin on the processor. An interrupt cannot be interrupted except by an F I Q. F I Q is designed to support a data transfer or channel process, and has sufficient private registers to remove the need for register saving in such applications, therefore minimizing the overhead of context switching. A fast interrupt cannot be interrupted. 4. I R Q (interrupt), I R Q, 0 x 0 0 0 0 0 0 1 8, Occurs when an external device asserts the I R Q pin on the processor. An interrupt cannot be interrupted except by an F I Q. 5. Prefetch abort, Abort, 0 x 0 0 0 0 0 0 0 C, Occurs when an attempt to fetch an instruction results in a memory fault. The exception is raised when the instruction enters the execute stage of the pipeline. 6. Undefined instructions, Undefined, 0 x 0 0 0 0 0 0 0 4, Occurs when an instruction not in the instruction set reaches the execute stage of the pipeline. 7. Software interrupt, Supervisor, 0 x 0 0 0 0 0 0 0 8, Generally used to allow user mode programs to call the OS. The user program executes a S W I instruction with an argument that identifies the function the user wishes to perform." title="A table is titled, A R M interrupt vector."/>
          <p:cNvGraphicFramePr>
            <a:graphicFrameLocks noGrp="1"/>
          </p:cNvGraphicFramePr>
          <p:nvPr/>
        </p:nvGraphicFramePr>
        <p:xfrm>
          <a:off x="108986" y="129045"/>
          <a:ext cx="6342056" cy="6180276"/>
        </p:xfrm>
        <a:graphic>
          <a:graphicData uri="http://schemas.openxmlformats.org/drawingml/2006/table">
            <a:tbl>
              <a:tblPr firstRow="1" bandRow="1">
                <a:tableStyleId>{5C22544A-7EE6-4342-B048-85BDC9FD1C3A}</a:tableStyleId>
              </a:tblPr>
              <a:tblGrid>
                <a:gridCol w="1458557">
                  <a:extLst>
                    <a:ext uri="{9D8B030D-6E8A-4147-A177-3AD203B41FA5}">
                      <a16:colId xmlns:a16="http://schemas.microsoft.com/office/drawing/2014/main" val="2543019389"/>
                    </a:ext>
                  </a:extLst>
                </a:gridCol>
                <a:gridCol w="944545">
                  <a:extLst>
                    <a:ext uri="{9D8B030D-6E8A-4147-A177-3AD203B41FA5}">
                      <a16:colId xmlns:a16="http://schemas.microsoft.com/office/drawing/2014/main" val="1443014287"/>
                    </a:ext>
                  </a:extLst>
                </a:gridCol>
                <a:gridCol w="1004835">
                  <a:extLst>
                    <a:ext uri="{9D8B030D-6E8A-4147-A177-3AD203B41FA5}">
                      <a16:colId xmlns:a16="http://schemas.microsoft.com/office/drawing/2014/main" val="3168231750"/>
                    </a:ext>
                  </a:extLst>
                </a:gridCol>
                <a:gridCol w="2934119">
                  <a:extLst>
                    <a:ext uri="{9D8B030D-6E8A-4147-A177-3AD203B41FA5}">
                      <a16:colId xmlns:a16="http://schemas.microsoft.com/office/drawing/2014/main" val="1618302591"/>
                    </a:ext>
                  </a:extLst>
                </a:gridCol>
              </a:tblGrid>
              <a:tr h="427920">
                <a:tc>
                  <a:txBody>
                    <a:bodyPr/>
                    <a:lstStyle/>
                    <a:p>
                      <a:pPr algn="ctr"/>
                      <a:r>
                        <a:rPr lang="en-IN" sz="1000" b="1" i="0" u="none" strike="noStrike" cap="none" baseline="0" dirty="0">
                          <a:solidFill>
                            <a:schemeClr val="tx1"/>
                          </a:solidFill>
                          <a:latin typeface="+mn-lt"/>
                          <a:ea typeface="+mn-ea"/>
                          <a:cs typeface="+mn-cs"/>
                          <a:sym typeface="Arial"/>
                        </a:rPr>
                        <a:t>Exception type</a:t>
                      </a:r>
                      <a:endParaRPr lang="en-IN" sz="1000" b="1" dirty="0">
                        <a:solidFill>
                          <a:schemeClr val="tx1"/>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1" dirty="0">
                          <a:solidFill>
                            <a:schemeClr val="tx1"/>
                          </a:solidFill>
                        </a:rPr>
                        <a:t>Mode</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1" dirty="0">
                          <a:solidFill>
                            <a:schemeClr val="tx1"/>
                          </a:solidFill>
                        </a:rPr>
                        <a:t>Normal entry</a:t>
                      </a:r>
                    </a:p>
                    <a:p>
                      <a:pPr algn="ctr"/>
                      <a:r>
                        <a:rPr lang="en-IN" sz="1000" b="1" dirty="0">
                          <a:solidFill>
                            <a:schemeClr val="tx1"/>
                          </a:solidFill>
                        </a:rPr>
                        <a:t>address</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1" dirty="0">
                          <a:solidFill>
                            <a:schemeClr val="tx1"/>
                          </a:solidFill>
                        </a:rPr>
                        <a:t>Description</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659986812"/>
                  </a:ext>
                </a:extLst>
              </a:tr>
              <a:tr h="366572">
                <a:tc>
                  <a:txBody>
                    <a:bodyPr/>
                    <a:lstStyle/>
                    <a:p>
                      <a:r>
                        <a:rPr lang="en-US" sz="1000" b="0" i="0" u="none" strike="noStrike" cap="none" baseline="0" dirty="0">
                          <a:solidFill>
                            <a:schemeClr val="dk1"/>
                          </a:solidFill>
                          <a:latin typeface="+mn-lt"/>
                          <a:ea typeface="+mn-ea"/>
                          <a:cs typeface="+mn-cs"/>
                          <a:sym typeface="Arial"/>
                        </a:rPr>
                        <a:t>Reset</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000" dirty="0"/>
                        <a:t>Supervisor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dirty="0"/>
                        <a:t>0x00000000</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dirty="0"/>
                        <a:t>Occurs when the system is initialized.</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717666487"/>
                  </a:ext>
                </a:extLst>
              </a:tr>
              <a:tr h="870142">
                <a:tc>
                  <a:txBody>
                    <a:bodyPr/>
                    <a:lstStyle/>
                    <a:p>
                      <a:r>
                        <a:rPr lang="en-US" sz="1000" b="0" i="0" u="none" strike="noStrike" cap="none" baseline="0" dirty="0">
                          <a:solidFill>
                            <a:schemeClr val="dk1"/>
                          </a:solidFill>
                          <a:latin typeface="+mn-lt"/>
                          <a:ea typeface="+mn-ea"/>
                          <a:cs typeface="+mn-cs"/>
                          <a:sym typeface="Arial"/>
                        </a:rPr>
                        <a:t>Data abort</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000" dirty="0"/>
                        <a:t>Abort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dirty="0"/>
                        <a:t>0x00000010</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dirty="0"/>
                        <a:t>Occurs when an invalid memory address</a:t>
                      </a:r>
                    </a:p>
                    <a:p>
                      <a:r>
                        <a:rPr lang="en-US" sz="1000" dirty="0"/>
                        <a:t>has been accessed, such as if there is no</a:t>
                      </a:r>
                    </a:p>
                    <a:p>
                      <a:r>
                        <a:rPr lang="en-US" sz="1000" dirty="0"/>
                        <a:t>physical memory for an address or the</a:t>
                      </a:r>
                    </a:p>
                    <a:p>
                      <a:r>
                        <a:rPr lang="en-US" sz="1000" dirty="0"/>
                        <a:t>correct access permission is lacking.</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062764516"/>
                  </a:ext>
                </a:extLst>
              </a:tr>
              <a:tr h="1580009">
                <a:tc>
                  <a:txBody>
                    <a:bodyPr/>
                    <a:lstStyle/>
                    <a:p>
                      <a:r>
                        <a:rPr lang="en-US" sz="1000" b="0" i="0" u="none" strike="noStrike" cap="none" baseline="0" dirty="0">
                          <a:solidFill>
                            <a:schemeClr val="dk1"/>
                          </a:solidFill>
                          <a:latin typeface="+mn-lt"/>
                          <a:ea typeface="+mn-ea"/>
                          <a:cs typeface="+mn-cs"/>
                          <a:sym typeface="Arial"/>
                        </a:rPr>
                        <a:t>FIQ (fast interrupt)</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000" dirty="0"/>
                        <a:t>FIQ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dirty="0"/>
                        <a:t>0x0000001C</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dirty="0"/>
                        <a:t>Occurs when an external device asserts the</a:t>
                      </a:r>
                    </a:p>
                    <a:p>
                      <a:r>
                        <a:rPr lang="en-US" sz="1000" dirty="0"/>
                        <a:t>FIQ pin on the processor. An interrupt cannot</a:t>
                      </a:r>
                    </a:p>
                    <a:p>
                      <a:r>
                        <a:rPr lang="en-US" sz="1000" dirty="0"/>
                        <a:t>be interrupted except by an FIQ. FIQ</a:t>
                      </a:r>
                    </a:p>
                    <a:p>
                      <a:r>
                        <a:rPr lang="en-US" sz="1000" dirty="0"/>
                        <a:t>is designed to support a data transfer or</a:t>
                      </a:r>
                    </a:p>
                    <a:p>
                      <a:r>
                        <a:rPr lang="en-US" sz="1000" dirty="0"/>
                        <a:t>channel process, and has sufficient private</a:t>
                      </a:r>
                    </a:p>
                    <a:p>
                      <a:r>
                        <a:rPr lang="en-US" sz="1000" dirty="0"/>
                        <a:t>registers to remove the need for register</a:t>
                      </a:r>
                    </a:p>
                    <a:p>
                      <a:r>
                        <a:rPr lang="en-US" sz="1000" dirty="0"/>
                        <a:t>saving in such applications, therefore minimizing</a:t>
                      </a:r>
                    </a:p>
                    <a:p>
                      <a:r>
                        <a:rPr lang="en-US" sz="1000" dirty="0"/>
                        <a:t>the overhead of context switching.</a:t>
                      </a:r>
                    </a:p>
                    <a:p>
                      <a:r>
                        <a:rPr lang="en-US" sz="1000" dirty="0"/>
                        <a:t>A fast interrupt cannot be interrupted.</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801756320"/>
                  </a:ext>
                </a:extLst>
              </a:tr>
              <a:tr h="628437">
                <a:tc>
                  <a:txBody>
                    <a:bodyPr/>
                    <a:lstStyle/>
                    <a:p>
                      <a:r>
                        <a:rPr lang="pl-PL" sz="1000" b="0" i="0" u="none" strike="noStrike" cap="none" baseline="0" dirty="0">
                          <a:solidFill>
                            <a:schemeClr val="dk1"/>
                          </a:solidFill>
                          <a:latin typeface="+mn-lt"/>
                          <a:ea typeface="+mn-ea"/>
                          <a:cs typeface="+mn-cs"/>
                          <a:sym typeface="Arial"/>
                        </a:rPr>
                        <a:t>IRQ (interrupt)</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000" dirty="0"/>
                        <a:t>IRQ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dirty="0"/>
                        <a:t>0x00000018</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dirty="0"/>
                        <a:t>Occurs when an external device asserts the</a:t>
                      </a:r>
                    </a:p>
                    <a:p>
                      <a:r>
                        <a:rPr lang="en-US" sz="1000" dirty="0"/>
                        <a:t>IRQ pin on the processor. An interrupt</a:t>
                      </a:r>
                    </a:p>
                    <a:p>
                      <a:r>
                        <a:rPr lang="en-US" sz="1000" dirty="0"/>
                        <a:t>cannot be interrupted except by an FIQ.</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07438362"/>
                  </a:ext>
                </a:extLst>
              </a:tr>
              <a:tr h="757087">
                <a:tc>
                  <a:txBody>
                    <a:bodyPr/>
                    <a:lstStyle/>
                    <a:p>
                      <a:r>
                        <a:rPr lang="en-US" sz="1000" b="0" i="0" u="none" strike="noStrike" cap="none" baseline="0" dirty="0" err="1">
                          <a:solidFill>
                            <a:schemeClr val="dk1"/>
                          </a:solidFill>
                          <a:latin typeface="+mn-lt"/>
                          <a:ea typeface="+mn-ea"/>
                          <a:cs typeface="+mn-cs"/>
                          <a:sym typeface="Arial"/>
                        </a:rPr>
                        <a:t>Prefetch</a:t>
                      </a:r>
                      <a:r>
                        <a:rPr lang="en-US" sz="1000" b="0" i="0" u="none" strike="noStrike" cap="none" baseline="0" dirty="0">
                          <a:solidFill>
                            <a:schemeClr val="dk1"/>
                          </a:solidFill>
                          <a:latin typeface="+mn-lt"/>
                          <a:ea typeface="+mn-ea"/>
                          <a:cs typeface="+mn-cs"/>
                          <a:sym typeface="Arial"/>
                        </a:rPr>
                        <a:t> abort</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000" dirty="0"/>
                        <a:t>Abort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dirty="0"/>
                        <a:t>0x0000000C</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dirty="0"/>
                        <a:t>Occurs when an attempt to fetch an</a:t>
                      </a:r>
                    </a:p>
                    <a:p>
                      <a:r>
                        <a:rPr lang="en-US" sz="1000" dirty="0"/>
                        <a:t>instruction results in a memory fault. The</a:t>
                      </a:r>
                    </a:p>
                    <a:p>
                      <a:r>
                        <a:rPr lang="en-US" sz="1000" dirty="0"/>
                        <a:t>exception is raised when the instruction</a:t>
                      </a:r>
                    </a:p>
                    <a:p>
                      <a:r>
                        <a:rPr lang="en-US" sz="1000" dirty="0"/>
                        <a:t>enters the execute stage of the pipeline.</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794824530"/>
                  </a:ext>
                </a:extLst>
              </a:tr>
              <a:tr h="628437">
                <a:tc>
                  <a:txBody>
                    <a:bodyPr/>
                    <a:lstStyle/>
                    <a:p>
                      <a:r>
                        <a:rPr lang="en-US" sz="1000" b="0" i="0" u="none" strike="noStrike" cap="none" baseline="0" dirty="0">
                          <a:solidFill>
                            <a:schemeClr val="dk1"/>
                          </a:solidFill>
                          <a:latin typeface="+mn-lt"/>
                          <a:ea typeface="+mn-ea"/>
                          <a:cs typeface="+mn-cs"/>
                          <a:sym typeface="Arial"/>
                        </a:rPr>
                        <a:t>Undefined instructions</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000" dirty="0"/>
                        <a:t>Undefined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dirty="0"/>
                        <a:t>0x00000004</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dirty="0"/>
                        <a:t>Occurs when an instruction not in the</a:t>
                      </a:r>
                    </a:p>
                    <a:p>
                      <a:r>
                        <a:rPr lang="en-US" sz="1000" dirty="0"/>
                        <a:t>instruction set reaches the execute stage of</a:t>
                      </a:r>
                    </a:p>
                    <a:p>
                      <a:r>
                        <a:rPr lang="en-US" sz="1000" dirty="0"/>
                        <a:t>the pipeline.</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9877881"/>
                  </a:ext>
                </a:extLst>
              </a:tr>
              <a:tr h="921672">
                <a:tc>
                  <a:txBody>
                    <a:bodyPr/>
                    <a:lstStyle/>
                    <a:p>
                      <a:r>
                        <a:rPr lang="en-US" sz="1000" dirty="0"/>
                        <a:t>Software interrupt</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000" dirty="0"/>
                        <a:t>Supervisor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dirty="0"/>
                        <a:t>0x00000008</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dirty="0"/>
                        <a:t>Generally used to allow user mode programs</a:t>
                      </a:r>
                    </a:p>
                    <a:p>
                      <a:r>
                        <a:rPr lang="en-US" sz="1000" dirty="0"/>
                        <a:t>to call the OS. The user program</a:t>
                      </a:r>
                    </a:p>
                    <a:p>
                      <a:r>
                        <a:rPr lang="en-US" sz="1000" dirty="0"/>
                        <a:t>executes a SWI instruction with an argument</a:t>
                      </a:r>
                    </a:p>
                    <a:p>
                      <a:r>
                        <a:rPr lang="en-US" sz="1000" dirty="0"/>
                        <a:t>that identifies the function the user</a:t>
                      </a:r>
                    </a:p>
                    <a:p>
                      <a:r>
                        <a:rPr lang="en-US" sz="1000" dirty="0"/>
                        <a:t>wishes to perform.</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495417200"/>
                  </a:ext>
                </a:extLst>
              </a:tr>
            </a:tbl>
          </a:graphicData>
        </a:graphic>
      </p:graphicFrame>
      <p:sp>
        <p:nvSpPr>
          <p:cNvPr id="2" name="Title 1">
            <a:extLst>
              <a:ext uri="{FF2B5EF4-FFF2-40B4-BE49-F238E27FC236}">
                <a16:creationId xmlns:a16="http://schemas.microsoft.com/office/drawing/2014/main" id="{35191D91-5152-4383-9675-9BAF45D8FDB2}"/>
              </a:ext>
            </a:extLst>
          </p:cNvPr>
          <p:cNvSpPr>
            <a:spLocks noGrp="1"/>
          </p:cNvSpPr>
          <p:nvPr>
            <p:ph type="title"/>
          </p:nvPr>
        </p:nvSpPr>
        <p:spPr>
          <a:xfrm>
            <a:off x="6876256" y="1526995"/>
            <a:ext cx="1954560" cy="3384376"/>
          </a:xfrm>
        </p:spPr>
        <p:txBody>
          <a:bodyPr/>
          <a:lstStyle/>
          <a:p>
            <a:pPr algn="ctr"/>
            <a:r>
              <a:rPr lang="en-US" dirty="0"/>
              <a:t>Table 16.4</a:t>
            </a:r>
            <a:br>
              <a:rPr lang="en-US" dirty="0"/>
            </a:br>
            <a:br>
              <a:rPr lang="en-US" dirty="0"/>
            </a:br>
            <a:r>
              <a:rPr lang="en-US" dirty="0"/>
              <a:t>ARM Interrupt Vector</a:t>
            </a:r>
          </a:p>
        </p:txBody>
      </p:sp>
    </p:spTree>
    <p:extLst>
      <p:ext uri="{BB962C8B-B14F-4D97-AF65-F5344CB8AC3E}">
        <p14:creationId xmlns:p14="http://schemas.microsoft.com/office/powerpoint/2010/main" val="159746737"/>
      </p:ext>
    </p:extLst>
  </p:cSld>
  <p:clrMapOvr>
    <a:masterClrMapping/>
  </p:clrMapOvr>
  <p:transition spd="med">
    <p:wipe dir="d"/>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itle 4"/>
          <p:cNvSpPr txBox="1">
            <a:spLocks noGrp="1"/>
          </p:cNvSpPr>
          <p:nvPr>
            <p:ph type="title"/>
          </p:nvPr>
        </p:nvSpPr>
        <p:spPr>
          <a:xfrm>
            <a:off x="457200" y="215900"/>
            <a:ext cx="8229600" cy="1096963"/>
          </a:xfrm>
        </p:spPr>
        <p:txBody>
          <a:bodyPr/>
          <a:lstStyle/>
          <a:p>
            <a:pPr>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Copyright</a:t>
            </a:r>
          </a:p>
        </p:txBody>
      </p:sp>
      <p:pic>
        <p:nvPicPr>
          <p:cNvPr id="12185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675" y="2319338"/>
            <a:ext cx="8248650" cy="269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60" name="TextBox 6"/>
          <p:cNvSpPr txBox="1">
            <a:spLocks noChangeArrowheads="1"/>
          </p:cNvSpPr>
          <p:nvPr/>
        </p:nvSpPr>
        <p:spPr bwMode="auto">
          <a:xfrm>
            <a:off x="1430338" y="2625725"/>
            <a:ext cx="6826250" cy="203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This work is protected by United States copyright laws and is provided solely</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for the use of instructions in teaching their courses and assessing student</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learning. dissemination or sale of any part of this work (including on the</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World Wide Web) will destroy the integrity of the work and is not permit-</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ted. The work and materials from it should never be made available to</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students except by instructors using the accompanying text in their</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classes. All recipients of this work are expected to abide by these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restrictions and to honor the intended pedagogical purposes and the needs of</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other instructors who rely on these materials.</a:t>
            </a:r>
            <a:endParaRPr kumimoji="0" lang="en-IN"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endParaRPr>
          </a:p>
        </p:txBody>
      </p:sp>
    </p:spTree>
    <p:extLst>
      <p:ext uri="{BB962C8B-B14F-4D97-AF65-F5344CB8AC3E}">
        <p14:creationId xmlns:p14="http://schemas.microsoft.com/office/powerpoint/2010/main" val="2209714806"/>
      </p:ext>
    </p:extLst>
  </p:cSld>
  <p:clrMapOvr>
    <a:masterClrMapping/>
  </p:clrMapOvr>
</p:sld>
</file>

<file path=ppt/theme/theme1.xml><?xml version="1.0" encoding="utf-8"?>
<a:theme xmlns:a="http://schemas.openxmlformats.org/drawingml/2006/main" name="2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11673</TotalTime>
  <Words>13608</Words>
  <Application>Microsoft Office PowerPoint</Application>
  <PresentationFormat>On-screen Show (4:3)</PresentationFormat>
  <Paragraphs>1147</Paragraphs>
  <Slides>59</Slides>
  <Notes>56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59</vt:i4>
      </vt:variant>
    </vt:vector>
  </HeadingPairs>
  <TitlesOfParts>
    <vt:vector size="66" baseType="lpstr">
      <vt:lpstr>Noto Sans Symbols</vt:lpstr>
      <vt:lpstr>Arial</vt:lpstr>
      <vt:lpstr>Cambria Math</vt:lpstr>
      <vt:lpstr>Rockwell</vt:lpstr>
      <vt:lpstr>Times New Roman</vt:lpstr>
      <vt:lpstr>Verdana</vt:lpstr>
      <vt:lpstr>2_508 Lecture</vt:lpstr>
      <vt:lpstr>Computer Organization and Architecture Designing for Performance</vt:lpstr>
      <vt:lpstr>Processor Organization</vt:lpstr>
      <vt:lpstr>Figure 16.1  Internal Structure of the CPU</vt:lpstr>
      <vt:lpstr>Register Organization</vt:lpstr>
      <vt:lpstr>User-Visible Registers</vt:lpstr>
      <vt:lpstr>Control and Status Registers</vt:lpstr>
      <vt:lpstr>Program Status Word (PSW)</vt:lpstr>
      <vt:lpstr>Figure 16.2  Example Microprocessor Register Organizations</vt:lpstr>
      <vt:lpstr>Instruction  Cycle</vt:lpstr>
      <vt:lpstr>Figure 16.3  The Instruction Cycle</vt:lpstr>
      <vt:lpstr>Figure 16.4  Instruction Cycle State Diagram</vt:lpstr>
      <vt:lpstr>Figure 16.5  Data Flow, Fetch Cycle</vt:lpstr>
      <vt:lpstr>Figure 16.6  Data Flow, Indirect Cycle</vt:lpstr>
      <vt:lpstr>Figure 16.7 Data Flow, Interrupt Cycle</vt:lpstr>
      <vt:lpstr>Pipelining Strategy</vt:lpstr>
      <vt:lpstr>Figure 16.8  Two-Stage Instruction Pipeline</vt:lpstr>
      <vt:lpstr>Figure 16.9 Simplified Pipeline Architecture</vt:lpstr>
      <vt:lpstr>Additional Stages</vt:lpstr>
      <vt:lpstr>Figure 16.10  Timing Diagram for Instruction Pipeline Operation</vt:lpstr>
      <vt:lpstr>Figure 16.11  The Effect of a Conditional Branch on Instruction Pipeline Operation</vt:lpstr>
      <vt:lpstr>Figure 16.12  Six-Stage CPU Instruction Pipeline</vt:lpstr>
      <vt:lpstr>Figure 16.13  An Alternative Pipeline Depiction</vt:lpstr>
      <vt:lpstr>Pipeline Performance </vt:lpstr>
      <vt:lpstr>Speed Up </vt:lpstr>
      <vt:lpstr>Example</vt:lpstr>
      <vt:lpstr>Figure 16.14  Speedup Factors with Instruction Pipelining</vt:lpstr>
      <vt:lpstr>Pipeline Hazards</vt:lpstr>
      <vt:lpstr>Figure 16.15  Example of Resource Hazard</vt:lpstr>
      <vt:lpstr>Figure 16.16 Example of Data Hazard</vt:lpstr>
      <vt:lpstr>Types of Data Hazard</vt:lpstr>
      <vt:lpstr>Control Hazard</vt:lpstr>
      <vt:lpstr>Multiple Streams</vt:lpstr>
      <vt:lpstr>Prefetch Branch Target</vt:lpstr>
      <vt:lpstr>Loop Buffer</vt:lpstr>
      <vt:lpstr>Figure 16.17 Loop Buffer</vt:lpstr>
      <vt:lpstr>Branch Prediction</vt:lpstr>
      <vt:lpstr>Figure 16.18  Branch Prediction Flowchart</vt:lpstr>
      <vt:lpstr>Figure 16.19 Branch Prediction State Diagram</vt:lpstr>
      <vt:lpstr>Figure 16.20 Dealing with Branches</vt:lpstr>
      <vt:lpstr>Summary</vt:lpstr>
      <vt:lpstr>Intel 80486 Pipelining</vt:lpstr>
      <vt:lpstr>Figure 16.21  80486 Instruction Pipeline Examples</vt:lpstr>
      <vt:lpstr>Figure 16.22  Approaches to Pipeline Organization</vt:lpstr>
      <vt:lpstr>Figure 16.23  Improved Pipeline Organization</vt:lpstr>
      <vt:lpstr>Figure 16.24 Reservation Station Contents</vt:lpstr>
      <vt:lpstr>Table 16.2    x86  Processor  Registers  </vt:lpstr>
      <vt:lpstr>Figure 16.25 x86 EFLAGS Register</vt:lpstr>
      <vt:lpstr>Figure 16.26 x86 Control Registers</vt:lpstr>
      <vt:lpstr>Figure 16.27  Mapping of MMX Registers to Floating- Point Registers</vt:lpstr>
      <vt:lpstr>Interrupt Processing</vt:lpstr>
      <vt:lpstr>Table 16.3 x86 Exception and Interrupt Vector Table</vt:lpstr>
      <vt:lpstr>The ARM Processor</vt:lpstr>
      <vt:lpstr>Figure 16.28 Simplified ARM Organization</vt:lpstr>
      <vt:lpstr>Processor Modes</vt:lpstr>
      <vt:lpstr>Exception Modes</vt:lpstr>
      <vt:lpstr>Figure 16.29 ARM Register Organization</vt:lpstr>
      <vt:lpstr>Figure 16.30 Format of ARM CPSR and SPSR</vt:lpstr>
      <vt:lpstr>Table 16.4  ARM Interrupt Vector</vt:lpstr>
      <vt:lpstr>Copyright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12 Processor Structure and Function</dc:title>
  <dc:creator>Adrian J Pullin</dc:creator>
  <cp:lastModifiedBy>TEY KOK SOON</cp:lastModifiedBy>
  <cp:revision>204</cp:revision>
  <dcterms:created xsi:type="dcterms:W3CDTF">2012-07-22T02:20:50Z</dcterms:created>
  <dcterms:modified xsi:type="dcterms:W3CDTF">2020-06-15T02:50:56Z</dcterms:modified>
</cp:coreProperties>
</file>