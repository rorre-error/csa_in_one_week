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ink/ink2.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ink/ink3.xml" ContentType="application/inkml+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ink/ink4.xml" ContentType="application/inkml+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2" r:id="rId1"/>
  </p:sldMasterIdLst>
  <p:notesMasterIdLst>
    <p:notesMasterId r:id="rId88"/>
  </p:notesMasterIdLst>
  <p:handoutMasterIdLst>
    <p:handoutMasterId r:id="rId89"/>
  </p:handoutMasterIdLst>
  <p:sldIdLst>
    <p:sldId id="323" r:id="rId2"/>
    <p:sldId id="257" r:id="rId3"/>
    <p:sldId id="321" r:id="rId4"/>
    <p:sldId id="259" r:id="rId5"/>
    <p:sldId id="260" r:id="rId6"/>
    <p:sldId id="318" r:id="rId7"/>
    <p:sldId id="261" r:id="rId8"/>
    <p:sldId id="262" r:id="rId9"/>
    <p:sldId id="263" r:id="rId10"/>
    <p:sldId id="264" r:id="rId11"/>
    <p:sldId id="269" r:id="rId12"/>
    <p:sldId id="303" r:id="rId13"/>
    <p:sldId id="304" r:id="rId14"/>
    <p:sldId id="305" r:id="rId15"/>
    <p:sldId id="325" r:id="rId16"/>
    <p:sldId id="326" r:id="rId17"/>
    <p:sldId id="274" r:id="rId18"/>
    <p:sldId id="310" r:id="rId19"/>
    <p:sldId id="275" r:id="rId20"/>
    <p:sldId id="276" r:id="rId21"/>
    <p:sldId id="290" r:id="rId22"/>
    <p:sldId id="311" r:id="rId23"/>
    <p:sldId id="277" r:id="rId24"/>
    <p:sldId id="278" r:id="rId25"/>
    <p:sldId id="279" r:id="rId26"/>
    <p:sldId id="366" r:id="rId27"/>
    <p:sldId id="291" r:id="rId28"/>
    <p:sldId id="313" r:id="rId29"/>
    <p:sldId id="292" r:id="rId30"/>
    <p:sldId id="293" r:id="rId31"/>
    <p:sldId id="297" r:id="rId32"/>
    <p:sldId id="328" r:id="rId33"/>
    <p:sldId id="337" r:id="rId34"/>
    <p:sldId id="258" r:id="rId35"/>
    <p:sldId id="340" r:id="rId36"/>
    <p:sldId id="341" r:id="rId37"/>
    <p:sldId id="265" r:id="rId38"/>
    <p:sldId id="268" r:id="rId39"/>
    <p:sldId id="270" r:id="rId40"/>
    <p:sldId id="272" r:id="rId41"/>
    <p:sldId id="342" r:id="rId42"/>
    <p:sldId id="343" r:id="rId43"/>
    <p:sldId id="344" r:id="rId44"/>
    <p:sldId id="338" r:id="rId45"/>
    <p:sldId id="339" r:id="rId46"/>
    <p:sldId id="364" r:id="rId47"/>
    <p:sldId id="350" r:id="rId48"/>
    <p:sldId id="351" r:id="rId49"/>
    <p:sldId id="352" r:id="rId50"/>
    <p:sldId id="365" r:id="rId51"/>
    <p:sldId id="327" r:id="rId52"/>
    <p:sldId id="306" r:id="rId53"/>
    <p:sldId id="307" r:id="rId54"/>
    <p:sldId id="271" r:id="rId55"/>
    <p:sldId id="289" r:id="rId56"/>
    <p:sldId id="298" r:id="rId57"/>
    <p:sldId id="273" r:id="rId58"/>
    <p:sldId id="308" r:id="rId59"/>
    <p:sldId id="322" r:id="rId60"/>
    <p:sldId id="319" r:id="rId61"/>
    <p:sldId id="282" r:id="rId62"/>
    <p:sldId id="320" r:id="rId63"/>
    <p:sldId id="285" r:id="rId64"/>
    <p:sldId id="296" r:id="rId65"/>
    <p:sldId id="315" r:id="rId66"/>
    <p:sldId id="316" r:id="rId67"/>
    <p:sldId id="317" r:id="rId68"/>
    <p:sldId id="345" r:id="rId69"/>
    <p:sldId id="346" r:id="rId70"/>
    <p:sldId id="347" r:id="rId71"/>
    <p:sldId id="348" r:id="rId72"/>
    <p:sldId id="349" r:id="rId73"/>
    <p:sldId id="353" r:id="rId74"/>
    <p:sldId id="314" r:id="rId75"/>
    <p:sldId id="354" r:id="rId76"/>
    <p:sldId id="355" r:id="rId77"/>
    <p:sldId id="356" r:id="rId78"/>
    <p:sldId id="357" r:id="rId79"/>
    <p:sldId id="358" r:id="rId80"/>
    <p:sldId id="359" r:id="rId81"/>
    <p:sldId id="360" r:id="rId82"/>
    <p:sldId id="361" r:id="rId83"/>
    <p:sldId id="362" r:id="rId84"/>
    <p:sldId id="301" r:id="rId85"/>
    <p:sldId id="336" r:id="rId86"/>
    <p:sldId id="324" r:id="rId87"/>
  </p:sldIdLst>
  <p:sldSz cx="9144000" cy="6858000" type="screen4x3"/>
  <p:notesSz cx="6858000" cy="91440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2400" kern="1200">
        <a:solidFill>
          <a:schemeClr val="tx1"/>
        </a:solidFill>
        <a:latin typeface="Times New Roman" pitchFamily="-1"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 charset="0"/>
        <a:ea typeface="+mn-ea"/>
        <a:cs typeface="+mn-cs"/>
      </a:defRPr>
    </a:lvl5pPr>
    <a:lvl6pPr marL="2286000" algn="l" defTabSz="457200" rtl="0" eaLnBrk="1" latinLnBrk="0" hangingPunct="1">
      <a:defRPr sz="2400" kern="1200">
        <a:solidFill>
          <a:schemeClr val="tx1"/>
        </a:solidFill>
        <a:latin typeface="Times New Roman" pitchFamily="-1" charset="0"/>
        <a:ea typeface="+mn-ea"/>
        <a:cs typeface="+mn-cs"/>
      </a:defRPr>
    </a:lvl6pPr>
    <a:lvl7pPr marL="2743200" algn="l" defTabSz="457200" rtl="0" eaLnBrk="1" latinLnBrk="0" hangingPunct="1">
      <a:defRPr sz="2400" kern="1200">
        <a:solidFill>
          <a:schemeClr val="tx1"/>
        </a:solidFill>
        <a:latin typeface="Times New Roman" pitchFamily="-1" charset="0"/>
        <a:ea typeface="+mn-ea"/>
        <a:cs typeface="+mn-cs"/>
      </a:defRPr>
    </a:lvl7pPr>
    <a:lvl8pPr marL="3200400" algn="l" defTabSz="457200" rtl="0" eaLnBrk="1" latinLnBrk="0" hangingPunct="1">
      <a:defRPr sz="2400" kern="1200">
        <a:solidFill>
          <a:schemeClr val="tx1"/>
        </a:solidFill>
        <a:latin typeface="Times New Roman" pitchFamily="-1" charset="0"/>
        <a:ea typeface="+mn-ea"/>
        <a:cs typeface="+mn-cs"/>
      </a:defRPr>
    </a:lvl8pPr>
    <a:lvl9pPr marL="3657600" algn="l" defTabSz="457200" rtl="0" eaLnBrk="1" latinLnBrk="0" hangingPunct="1">
      <a:defRPr sz="2400" kern="1200">
        <a:solidFill>
          <a:schemeClr val="tx1"/>
        </a:solidFill>
        <a:latin typeface="Times New Roman" pitchFamily="-1"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pos="340" userDrawn="1">
          <p15:clr>
            <a:srgbClr val="A4A3A4"/>
          </p15:clr>
        </p15:guide>
        <p15:guide id="4" pos="539" userDrawn="1">
          <p15:clr>
            <a:srgbClr val="A4A3A4"/>
          </p15:clr>
        </p15:guide>
        <p15:guide id="6" pos="935" userDrawn="1">
          <p15:clr>
            <a:srgbClr val="A4A3A4"/>
          </p15:clr>
        </p15:guide>
        <p15:guide id="7" orient="horz" pos="1071" userDrawn="1">
          <p15:clr>
            <a:srgbClr val="A4A3A4"/>
          </p15:clr>
        </p15:guide>
        <p15:guide id="8" orient="horz" pos="754" userDrawn="1">
          <p15:clr>
            <a:srgbClr val="A4A3A4"/>
          </p15:clr>
        </p15:guide>
        <p15:guide id="9" pos="741" userDrawn="1">
          <p15:clr>
            <a:srgbClr val="A4A3A4"/>
          </p15:clr>
        </p15:guide>
        <p15:guide id="10" pos="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CECECE"/>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301807-A877-44D2-B6AC-4FA14199CDC8}" v="1" dt="2020-06-01T02:46:52.9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77" autoAdjust="0"/>
    <p:restoredTop sz="66821" autoAdjust="0"/>
  </p:normalViewPr>
  <p:slideViewPr>
    <p:cSldViewPr>
      <p:cViewPr varScale="1">
        <p:scale>
          <a:sx n="76" d="100"/>
          <a:sy n="76" d="100"/>
        </p:scale>
        <p:origin x="96" y="84"/>
      </p:cViewPr>
      <p:guideLst>
        <p:guide orient="horz" pos="2160"/>
        <p:guide pos="2880"/>
        <p:guide pos="340"/>
        <p:guide pos="539"/>
        <p:guide pos="935"/>
        <p:guide orient="horz" pos="1071"/>
        <p:guide orient="horz" pos="754"/>
        <p:guide pos="741"/>
        <p:guide pos="748"/>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 r:id="rId31" collapse="1"/>
      <p:sld r:id="rId32" collapse="1"/>
      <p:sld r:id="rId33" collapse="1"/>
      <p:sld r:id="rId34" collapse="1"/>
      <p:sld r:id="rId35" collapse="1"/>
      <p:sld r:id="rId36" collapse="1"/>
      <p:sld r:id="rId37" collapse="1"/>
      <p:sld r:id="rId38" collapse="1"/>
    </p:sldLst>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presProps" Target="presProps.xml"/><Relationship Id="rId95"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s>
</file>

<file path=ppt/_rels/viewProps.xml.rels><?xml version="1.0" encoding="UTF-8" standalone="yes"?>
<Relationships xmlns="http://schemas.openxmlformats.org/package/2006/relationships"><Relationship Id="rId8" Type="http://schemas.openxmlformats.org/officeDocument/2006/relationships/slide" Target="slides/slide10.xml"/><Relationship Id="rId13" Type="http://schemas.openxmlformats.org/officeDocument/2006/relationships/slide" Target="slides/slide23.xml"/><Relationship Id="rId18" Type="http://schemas.openxmlformats.org/officeDocument/2006/relationships/slide" Target="slides/slide35.xml"/><Relationship Id="rId26" Type="http://schemas.openxmlformats.org/officeDocument/2006/relationships/slide" Target="slides/slide43.xml"/><Relationship Id="rId3" Type="http://schemas.openxmlformats.org/officeDocument/2006/relationships/slide" Target="slides/slide5.xml"/><Relationship Id="rId21" Type="http://schemas.openxmlformats.org/officeDocument/2006/relationships/slide" Target="slides/slide38.xml"/><Relationship Id="rId34" Type="http://schemas.openxmlformats.org/officeDocument/2006/relationships/slide" Target="slides/slide59.xml"/><Relationship Id="rId7" Type="http://schemas.openxmlformats.org/officeDocument/2006/relationships/slide" Target="slides/slide9.xml"/><Relationship Id="rId12" Type="http://schemas.openxmlformats.org/officeDocument/2006/relationships/slide" Target="slides/slide20.xml"/><Relationship Id="rId17" Type="http://schemas.openxmlformats.org/officeDocument/2006/relationships/slide" Target="slides/slide34.xml"/><Relationship Id="rId25" Type="http://schemas.openxmlformats.org/officeDocument/2006/relationships/slide" Target="slides/slide42.xml"/><Relationship Id="rId33" Type="http://schemas.openxmlformats.org/officeDocument/2006/relationships/slide" Target="slides/slide58.xml"/><Relationship Id="rId38" Type="http://schemas.openxmlformats.org/officeDocument/2006/relationships/slide" Target="slides/slide85.xml"/><Relationship Id="rId2" Type="http://schemas.openxmlformats.org/officeDocument/2006/relationships/slide" Target="slides/slide4.xml"/><Relationship Id="rId16" Type="http://schemas.openxmlformats.org/officeDocument/2006/relationships/slide" Target="slides/slide26.xml"/><Relationship Id="rId20" Type="http://schemas.openxmlformats.org/officeDocument/2006/relationships/slide" Target="slides/slide37.xml"/><Relationship Id="rId29" Type="http://schemas.openxmlformats.org/officeDocument/2006/relationships/slide" Target="slides/slide49.xml"/><Relationship Id="rId1" Type="http://schemas.openxmlformats.org/officeDocument/2006/relationships/slide" Target="slides/slide2.xml"/><Relationship Id="rId6" Type="http://schemas.openxmlformats.org/officeDocument/2006/relationships/slide" Target="slides/slide8.xml"/><Relationship Id="rId11" Type="http://schemas.openxmlformats.org/officeDocument/2006/relationships/slide" Target="slides/slide19.xml"/><Relationship Id="rId24" Type="http://schemas.openxmlformats.org/officeDocument/2006/relationships/slide" Target="slides/slide41.xml"/><Relationship Id="rId32" Type="http://schemas.openxmlformats.org/officeDocument/2006/relationships/slide" Target="slides/slide57.xml"/><Relationship Id="rId37" Type="http://schemas.openxmlformats.org/officeDocument/2006/relationships/slide" Target="slides/slide84.xml"/><Relationship Id="rId5" Type="http://schemas.openxmlformats.org/officeDocument/2006/relationships/slide" Target="slides/slide7.xml"/><Relationship Id="rId15" Type="http://schemas.openxmlformats.org/officeDocument/2006/relationships/slide" Target="slides/slide25.xml"/><Relationship Id="rId23" Type="http://schemas.openxmlformats.org/officeDocument/2006/relationships/slide" Target="slides/slide40.xml"/><Relationship Id="rId28" Type="http://schemas.openxmlformats.org/officeDocument/2006/relationships/slide" Target="slides/slide48.xml"/><Relationship Id="rId36" Type="http://schemas.openxmlformats.org/officeDocument/2006/relationships/slide" Target="slides/slide63.xml"/><Relationship Id="rId10" Type="http://schemas.openxmlformats.org/officeDocument/2006/relationships/slide" Target="slides/slide17.xml"/><Relationship Id="rId19" Type="http://schemas.openxmlformats.org/officeDocument/2006/relationships/slide" Target="slides/slide36.xml"/><Relationship Id="rId31" Type="http://schemas.openxmlformats.org/officeDocument/2006/relationships/slide" Target="slides/slide55.xml"/><Relationship Id="rId4" Type="http://schemas.openxmlformats.org/officeDocument/2006/relationships/slide" Target="slides/slide6.xml"/><Relationship Id="rId9" Type="http://schemas.openxmlformats.org/officeDocument/2006/relationships/slide" Target="slides/slide11.xml"/><Relationship Id="rId14" Type="http://schemas.openxmlformats.org/officeDocument/2006/relationships/slide" Target="slides/slide24.xml"/><Relationship Id="rId22" Type="http://schemas.openxmlformats.org/officeDocument/2006/relationships/slide" Target="slides/slide39.xml"/><Relationship Id="rId27" Type="http://schemas.openxmlformats.org/officeDocument/2006/relationships/slide" Target="slides/slide47.xml"/><Relationship Id="rId30" Type="http://schemas.openxmlformats.org/officeDocument/2006/relationships/slide" Target="slides/slide54.xml"/><Relationship Id="rId35" Type="http://schemas.openxmlformats.org/officeDocument/2006/relationships/slide" Target="slides/slide6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Y KOK SOON" userId="b38fed35-100c-4369-8b34-69adb96b726a" providerId="ADAL" clId="{D1301807-A877-44D2-B6AC-4FA14199CDC8}"/>
    <pc:docChg chg="modSld">
      <pc:chgData name="TEY KOK SOON" userId="b38fed35-100c-4369-8b34-69adb96b726a" providerId="ADAL" clId="{D1301807-A877-44D2-B6AC-4FA14199CDC8}" dt="2020-06-01T02:48:08.451" v="3" actId="20577"/>
      <pc:docMkLst>
        <pc:docMk/>
      </pc:docMkLst>
      <pc:sldChg chg="delSp modTransition modAnim">
        <pc:chgData name="TEY KOK SOON" userId="b38fed35-100c-4369-8b34-69adb96b726a" providerId="ADAL" clId="{D1301807-A877-44D2-B6AC-4FA14199CDC8}" dt="2020-06-01T02:46:52.931" v="0"/>
        <pc:sldMkLst>
          <pc:docMk/>
          <pc:sldMk cId="0" sldId="257"/>
        </pc:sldMkLst>
        <pc:picChg chg="del">
          <ac:chgData name="TEY KOK SOON" userId="b38fed35-100c-4369-8b34-69adb96b726a" providerId="ADAL" clId="{D1301807-A877-44D2-B6AC-4FA14199CDC8}" dt="2020-06-01T02:46:52.931" v="0"/>
          <ac:picMkLst>
            <pc:docMk/>
            <pc:sldMk cId="0" sldId="257"/>
            <ac:picMk id="3" creationId="{D6A26433-2D7B-4333-A289-8343FD3014C5}"/>
          </ac:picMkLst>
        </pc:picChg>
        <pc:inkChg chg="del">
          <ac:chgData name="TEY KOK SOON" userId="b38fed35-100c-4369-8b34-69adb96b726a" providerId="ADAL" clId="{D1301807-A877-44D2-B6AC-4FA14199CDC8}" dt="2020-06-01T02:46:52.931" v="0"/>
          <ac:inkMkLst>
            <pc:docMk/>
            <pc:sldMk cId="0" sldId="257"/>
            <ac:inkMk id="2" creationId="{44C1FC30-5A39-4A85-B397-15D22B9BD9A0}"/>
          </ac:inkMkLst>
        </pc:inkChg>
      </pc:sldChg>
      <pc:sldChg chg="delSp modTransition modAnim">
        <pc:chgData name="TEY KOK SOON" userId="b38fed35-100c-4369-8b34-69adb96b726a" providerId="ADAL" clId="{D1301807-A877-44D2-B6AC-4FA14199CDC8}" dt="2020-06-01T02:46:52.931" v="0"/>
        <pc:sldMkLst>
          <pc:docMk/>
          <pc:sldMk cId="0" sldId="258"/>
        </pc:sldMkLst>
        <pc:picChg chg="del">
          <ac:chgData name="TEY KOK SOON" userId="b38fed35-100c-4369-8b34-69adb96b726a" providerId="ADAL" clId="{D1301807-A877-44D2-B6AC-4FA14199CDC8}" dt="2020-06-01T02:46:52.931" v="0"/>
          <ac:picMkLst>
            <pc:docMk/>
            <pc:sldMk cId="0" sldId="258"/>
            <ac:picMk id="3" creationId="{D44AB189-9D8D-4003-89F8-AF8DEB84A964}"/>
          </ac:picMkLst>
        </pc:picChg>
        <pc:inkChg chg="del">
          <ac:chgData name="TEY KOK SOON" userId="b38fed35-100c-4369-8b34-69adb96b726a" providerId="ADAL" clId="{D1301807-A877-44D2-B6AC-4FA14199CDC8}" dt="2020-06-01T02:46:52.931" v="0"/>
          <ac:inkMkLst>
            <pc:docMk/>
            <pc:sldMk cId="0" sldId="258"/>
            <ac:inkMk id="2" creationId="{E14E21F0-7C4F-4B9D-99FF-B95705593B42}"/>
          </ac:inkMkLst>
        </pc:inkChg>
      </pc:sldChg>
      <pc:sldChg chg="delSp modTransition modAnim">
        <pc:chgData name="TEY KOK SOON" userId="b38fed35-100c-4369-8b34-69adb96b726a" providerId="ADAL" clId="{D1301807-A877-44D2-B6AC-4FA14199CDC8}" dt="2020-06-01T02:46:52.931" v="0"/>
        <pc:sldMkLst>
          <pc:docMk/>
          <pc:sldMk cId="0" sldId="259"/>
        </pc:sldMkLst>
        <pc:picChg chg="del">
          <ac:chgData name="TEY KOK SOON" userId="b38fed35-100c-4369-8b34-69adb96b726a" providerId="ADAL" clId="{D1301807-A877-44D2-B6AC-4FA14199CDC8}" dt="2020-06-01T02:46:52.931" v="0"/>
          <ac:picMkLst>
            <pc:docMk/>
            <pc:sldMk cId="0" sldId="259"/>
            <ac:picMk id="4" creationId="{9FFFB4E4-C9D7-43C2-896E-3DA46D26C32B}"/>
          </ac:picMkLst>
        </pc:picChg>
        <pc:inkChg chg="del">
          <ac:chgData name="TEY KOK SOON" userId="b38fed35-100c-4369-8b34-69adb96b726a" providerId="ADAL" clId="{D1301807-A877-44D2-B6AC-4FA14199CDC8}" dt="2020-06-01T02:46:52.931" v="0"/>
          <ac:inkMkLst>
            <pc:docMk/>
            <pc:sldMk cId="0" sldId="259"/>
            <ac:inkMk id="3" creationId="{6E4F2FAE-0FEC-4FE7-8164-20B35FAFC7B9}"/>
          </ac:inkMkLst>
        </pc:inkChg>
      </pc:sldChg>
      <pc:sldChg chg="delSp modTransition modAnim">
        <pc:chgData name="TEY KOK SOON" userId="b38fed35-100c-4369-8b34-69adb96b726a" providerId="ADAL" clId="{D1301807-A877-44D2-B6AC-4FA14199CDC8}" dt="2020-06-01T02:46:52.931" v="0"/>
        <pc:sldMkLst>
          <pc:docMk/>
          <pc:sldMk cId="0" sldId="260"/>
        </pc:sldMkLst>
        <pc:picChg chg="del">
          <ac:chgData name="TEY KOK SOON" userId="b38fed35-100c-4369-8b34-69adb96b726a" providerId="ADAL" clId="{D1301807-A877-44D2-B6AC-4FA14199CDC8}" dt="2020-06-01T02:46:52.931" v="0"/>
          <ac:picMkLst>
            <pc:docMk/>
            <pc:sldMk cId="0" sldId="260"/>
            <ac:picMk id="4" creationId="{B6A1A19E-4ECC-4DD8-B8CF-30A851C6B3F6}"/>
          </ac:picMkLst>
        </pc:picChg>
        <pc:inkChg chg="del">
          <ac:chgData name="TEY KOK SOON" userId="b38fed35-100c-4369-8b34-69adb96b726a" providerId="ADAL" clId="{D1301807-A877-44D2-B6AC-4FA14199CDC8}" dt="2020-06-01T02:46:52.931" v="0"/>
          <ac:inkMkLst>
            <pc:docMk/>
            <pc:sldMk cId="0" sldId="260"/>
            <ac:inkMk id="2" creationId="{8E966862-447A-4D53-8C49-73FDE948FC1D}"/>
          </ac:inkMkLst>
        </pc:inkChg>
      </pc:sldChg>
      <pc:sldChg chg="delSp modTransition modAnim">
        <pc:chgData name="TEY KOK SOON" userId="b38fed35-100c-4369-8b34-69adb96b726a" providerId="ADAL" clId="{D1301807-A877-44D2-B6AC-4FA14199CDC8}" dt="2020-06-01T02:46:52.931" v="0"/>
        <pc:sldMkLst>
          <pc:docMk/>
          <pc:sldMk cId="0" sldId="261"/>
        </pc:sldMkLst>
        <pc:picChg chg="del">
          <ac:chgData name="TEY KOK SOON" userId="b38fed35-100c-4369-8b34-69adb96b726a" providerId="ADAL" clId="{D1301807-A877-44D2-B6AC-4FA14199CDC8}" dt="2020-06-01T02:46:52.931" v="0"/>
          <ac:picMkLst>
            <pc:docMk/>
            <pc:sldMk cId="0" sldId="261"/>
            <ac:picMk id="4" creationId="{18E0D9A9-3F0C-4A9A-807C-7D269B5CB3A0}"/>
          </ac:picMkLst>
        </pc:picChg>
        <pc:inkChg chg="del">
          <ac:chgData name="TEY KOK SOON" userId="b38fed35-100c-4369-8b34-69adb96b726a" providerId="ADAL" clId="{D1301807-A877-44D2-B6AC-4FA14199CDC8}" dt="2020-06-01T02:46:52.931" v="0"/>
          <ac:inkMkLst>
            <pc:docMk/>
            <pc:sldMk cId="0" sldId="261"/>
            <ac:inkMk id="3" creationId="{402893AE-AF85-4C16-93A5-3E1970306655}"/>
          </ac:inkMkLst>
        </pc:inkChg>
      </pc:sldChg>
      <pc:sldChg chg="delSp modTransition modAnim">
        <pc:chgData name="TEY KOK SOON" userId="b38fed35-100c-4369-8b34-69adb96b726a" providerId="ADAL" clId="{D1301807-A877-44D2-B6AC-4FA14199CDC8}" dt="2020-06-01T02:46:52.931" v="0"/>
        <pc:sldMkLst>
          <pc:docMk/>
          <pc:sldMk cId="0" sldId="262"/>
        </pc:sldMkLst>
        <pc:picChg chg="del">
          <ac:chgData name="TEY KOK SOON" userId="b38fed35-100c-4369-8b34-69adb96b726a" providerId="ADAL" clId="{D1301807-A877-44D2-B6AC-4FA14199CDC8}" dt="2020-06-01T02:46:52.931" v="0"/>
          <ac:picMkLst>
            <pc:docMk/>
            <pc:sldMk cId="0" sldId="262"/>
            <ac:picMk id="7" creationId="{C4B7832D-1CF8-4D06-A80A-8F8B78416479}"/>
          </ac:picMkLst>
        </pc:picChg>
        <pc:inkChg chg="del">
          <ac:chgData name="TEY KOK SOON" userId="b38fed35-100c-4369-8b34-69adb96b726a" providerId="ADAL" clId="{D1301807-A877-44D2-B6AC-4FA14199CDC8}" dt="2020-06-01T02:46:52.931" v="0"/>
          <ac:inkMkLst>
            <pc:docMk/>
            <pc:sldMk cId="0" sldId="262"/>
            <ac:inkMk id="5" creationId="{2D7A1878-B745-43AC-969A-BFAA8F462A0D}"/>
          </ac:inkMkLst>
        </pc:inkChg>
      </pc:sldChg>
      <pc:sldChg chg="delSp modTransition modAnim">
        <pc:chgData name="TEY KOK SOON" userId="b38fed35-100c-4369-8b34-69adb96b726a" providerId="ADAL" clId="{D1301807-A877-44D2-B6AC-4FA14199CDC8}" dt="2020-06-01T02:46:52.931" v="0"/>
        <pc:sldMkLst>
          <pc:docMk/>
          <pc:sldMk cId="0" sldId="263"/>
        </pc:sldMkLst>
        <pc:picChg chg="del">
          <ac:chgData name="TEY KOK SOON" userId="b38fed35-100c-4369-8b34-69adb96b726a" providerId="ADAL" clId="{D1301807-A877-44D2-B6AC-4FA14199CDC8}" dt="2020-06-01T02:46:52.931" v="0"/>
          <ac:picMkLst>
            <pc:docMk/>
            <pc:sldMk cId="0" sldId="263"/>
            <ac:picMk id="5" creationId="{10CA99B9-F49B-4EEF-B884-4AFF1EB77A8C}"/>
          </ac:picMkLst>
        </pc:picChg>
        <pc:inkChg chg="del">
          <ac:chgData name="TEY KOK SOON" userId="b38fed35-100c-4369-8b34-69adb96b726a" providerId="ADAL" clId="{D1301807-A877-44D2-B6AC-4FA14199CDC8}" dt="2020-06-01T02:46:52.931" v="0"/>
          <ac:inkMkLst>
            <pc:docMk/>
            <pc:sldMk cId="0" sldId="263"/>
            <ac:inkMk id="4" creationId="{4616E04E-A68D-4871-9ECC-17DC94C34EAB}"/>
          </ac:inkMkLst>
        </pc:inkChg>
      </pc:sldChg>
      <pc:sldChg chg="delSp modTransition modAnim">
        <pc:chgData name="TEY KOK SOON" userId="b38fed35-100c-4369-8b34-69adb96b726a" providerId="ADAL" clId="{D1301807-A877-44D2-B6AC-4FA14199CDC8}" dt="2020-06-01T02:46:52.931" v="0"/>
        <pc:sldMkLst>
          <pc:docMk/>
          <pc:sldMk cId="0" sldId="264"/>
        </pc:sldMkLst>
        <pc:picChg chg="del">
          <ac:chgData name="TEY KOK SOON" userId="b38fed35-100c-4369-8b34-69adb96b726a" providerId="ADAL" clId="{D1301807-A877-44D2-B6AC-4FA14199CDC8}" dt="2020-06-01T02:46:52.931" v="0"/>
          <ac:picMkLst>
            <pc:docMk/>
            <pc:sldMk cId="0" sldId="264"/>
            <ac:picMk id="3" creationId="{7DF5C9C6-9AA0-411D-9CE5-80A7A7B2F803}"/>
          </ac:picMkLst>
        </pc:picChg>
        <pc:inkChg chg="del">
          <ac:chgData name="TEY KOK SOON" userId="b38fed35-100c-4369-8b34-69adb96b726a" providerId="ADAL" clId="{D1301807-A877-44D2-B6AC-4FA14199CDC8}" dt="2020-06-01T02:46:52.931" v="0"/>
          <ac:inkMkLst>
            <pc:docMk/>
            <pc:sldMk cId="0" sldId="264"/>
            <ac:inkMk id="2" creationId="{367787D5-AB6B-4AAD-91D9-ADA6A81CA7CA}"/>
          </ac:inkMkLst>
        </pc:inkChg>
      </pc:sldChg>
      <pc:sldChg chg="delSp modTransition modAnim">
        <pc:chgData name="TEY KOK SOON" userId="b38fed35-100c-4369-8b34-69adb96b726a" providerId="ADAL" clId="{D1301807-A877-44D2-B6AC-4FA14199CDC8}" dt="2020-06-01T02:46:52.931" v="0"/>
        <pc:sldMkLst>
          <pc:docMk/>
          <pc:sldMk cId="0" sldId="265"/>
        </pc:sldMkLst>
        <pc:picChg chg="del">
          <ac:chgData name="TEY KOK SOON" userId="b38fed35-100c-4369-8b34-69adb96b726a" providerId="ADAL" clId="{D1301807-A877-44D2-B6AC-4FA14199CDC8}" dt="2020-06-01T02:46:52.931" v="0"/>
          <ac:picMkLst>
            <pc:docMk/>
            <pc:sldMk cId="0" sldId="265"/>
            <ac:picMk id="6" creationId="{98BFC1C9-BD56-495F-9893-97D1DD7E9D3D}"/>
          </ac:picMkLst>
        </pc:picChg>
        <pc:inkChg chg="del">
          <ac:chgData name="TEY KOK SOON" userId="b38fed35-100c-4369-8b34-69adb96b726a" providerId="ADAL" clId="{D1301807-A877-44D2-B6AC-4FA14199CDC8}" dt="2020-06-01T02:46:52.931" v="0"/>
          <ac:inkMkLst>
            <pc:docMk/>
            <pc:sldMk cId="0" sldId="265"/>
            <ac:inkMk id="4" creationId="{7D609AA1-4068-482F-9E91-0EEBFF3C290A}"/>
          </ac:inkMkLst>
        </pc:inkChg>
      </pc:sldChg>
      <pc:sldChg chg="delSp modTransition modAnim">
        <pc:chgData name="TEY KOK SOON" userId="b38fed35-100c-4369-8b34-69adb96b726a" providerId="ADAL" clId="{D1301807-A877-44D2-B6AC-4FA14199CDC8}" dt="2020-06-01T02:46:52.931" v="0"/>
        <pc:sldMkLst>
          <pc:docMk/>
          <pc:sldMk cId="0" sldId="268"/>
        </pc:sldMkLst>
        <pc:picChg chg="del">
          <ac:chgData name="TEY KOK SOON" userId="b38fed35-100c-4369-8b34-69adb96b726a" providerId="ADAL" clId="{D1301807-A877-44D2-B6AC-4FA14199CDC8}" dt="2020-06-01T02:46:52.931" v="0"/>
          <ac:picMkLst>
            <pc:docMk/>
            <pc:sldMk cId="0" sldId="268"/>
            <ac:picMk id="6" creationId="{AAE640FA-AA08-4BF0-B9CF-331E6F965ABE}"/>
          </ac:picMkLst>
        </pc:picChg>
        <pc:inkChg chg="del">
          <ac:chgData name="TEY KOK SOON" userId="b38fed35-100c-4369-8b34-69adb96b726a" providerId="ADAL" clId="{D1301807-A877-44D2-B6AC-4FA14199CDC8}" dt="2020-06-01T02:46:52.931" v="0"/>
          <ac:inkMkLst>
            <pc:docMk/>
            <pc:sldMk cId="0" sldId="268"/>
            <ac:inkMk id="5" creationId="{769231E7-1F97-437E-A132-50BAECA231F9}"/>
          </ac:inkMkLst>
        </pc:inkChg>
      </pc:sldChg>
      <pc:sldChg chg="delSp modTransition modAnim">
        <pc:chgData name="TEY KOK SOON" userId="b38fed35-100c-4369-8b34-69adb96b726a" providerId="ADAL" clId="{D1301807-A877-44D2-B6AC-4FA14199CDC8}" dt="2020-06-01T02:46:52.931" v="0"/>
        <pc:sldMkLst>
          <pc:docMk/>
          <pc:sldMk cId="0" sldId="269"/>
        </pc:sldMkLst>
        <pc:picChg chg="del">
          <ac:chgData name="TEY KOK SOON" userId="b38fed35-100c-4369-8b34-69adb96b726a" providerId="ADAL" clId="{D1301807-A877-44D2-B6AC-4FA14199CDC8}" dt="2020-06-01T02:46:52.931" v="0"/>
          <ac:picMkLst>
            <pc:docMk/>
            <pc:sldMk cId="0" sldId="269"/>
            <ac:picMk id="3" creationId="{0EA54D05-FAFF-4973-9B4E-BFB80DB378DD}"/>
          </ac:picMkLst>
        </pc:picChg>
        <pc:inkChg chg="del">
          <ac:chgData name="TEY KOK SOON" userId="b38fed35-100c-4369-8b34-69adb96b726a" providerId="ADAL" clId="{D1301807-A877-44D2-B6AC-4FA14199CDC8}" dt="2020-06-01T02:46:52.931" v="0"/>
          <ac:inkMkLst>
            <pc:docMk/>
            <pc:sldMk cId="0" sldId="269"/>
            <ac:inkMk id="2" creationId="{F9FE422C-78B5-4E6F-B22E-A07C608FF16D}"/>
          </ac:inkMkLst>
        </pc:inkChg>
      </pc:sldChg>
      <pc:sldChg chg="delSp modTransition modAnim">
        <pc:chgData name="TEY KOK SOON" userId="b38fed35-100c-4369-8b34-69adb96b726a" providerId="ADAL" clId="{D1301807-A877-44D2-B6AC-4FA14199CDC8}" dt="2020-06-01T02:46:52.931" v="0"/>
        <pc:sldMkLst>
          <pc:docMk/>
          <pc:sldMk cId="0" sldId="270"/>
        </pc:sldMkLst>
        <pc:picChg chg="del">
          <ac:chgData name="TEY KOK SOON" userId="b38fed35-100c-4369-8b34-69adb96b726a" providerId="ADAL" clId="{D1301807-A877-44D2-B6AC-4FA14199CDC8}" dt="2020-06-01T02:46:52.931" v="0"/>
          <ac:picMkLst>
            <pc:docMk/>
            <pc:sldMk cId="0" sldId="270"/>
            <ac:picMk id="3" creationId="{B9E47754-AF05-4F09-8D23-C242E403A979}"/>
          </ac:picMkLst>
        </pc:picChg>
        <pc:inkChg chg="del">
          <ac:chgData name="TEY KOK SOON" userId="b38fed35-100c-4369-8b34-69adb96b726a" providerId="ADAL" clId="{D1301807-A877-44D2-B6AC-4FA14199CDC8}" dt="2020-06-01T02:46:52.931" v="0"/>
          <ac:inkMkLst>
            <pc:docMk/>
            <pc:sldMk cId="0" sldId="270"/>
            <ac:inkMk id="2" creationId="{2D93E40F-9EC6-48B1-ACDF-23AB13337449}"/>
          </ac:inkMkLst>
        </pc:inkChg>
      </pc:sldChg>
      <pc:sldChg chg="modTransition">
        <pc:chgData name="TEY KOK SOON" userId="b38fed35-100c-4369-8b34-69adb96b726a" providerId="ADAL" clId="{D1301807-A877-44D2-B6AC-4FA14199CDC8}" dt="2020-06-01T02:46:52.931" v="0"/>
        <pc:sldMkLst>
          <pc:docMk/>
          <pc:sldMk cId="2414343991" sldId="271"/>
        </pc:sldMkLst>
      </pc:sldChg>
      <pc:sldChg chg="delSp modTransition modAnim">
        <pc:chgData name="TEY KOK SOON" userId="b38fed35-100c-4369-8b34-69adb96b726a" providerId="ADAL" clId="{D1301807-A877-44D2-B6AC-4FA14199CDC8}" dt="2020-06-01T02:46:52.931" v="0"/>
        <pc:sldMkLst>
          <pc:docMk/>
          <pc:sldMk cId="0" sldId="272"/>
        </pc:sldMkLst>
        <pc:picChg chg="del">
          <ac:chgData name="TEY KOK SOON" userId="b38fed35-100c-4369-8b34-69adb96b726a" providerId="ADAL" clId="{D1301807-A877-44D2-B6AC-4FA14199CDC8}" dt="2020-06-01T02:46:52.931" v="0"/>
          <ac:picMkLst>
            <pc:docMk/>
            <pc:sldMk cId="0" sldId="272"/>
            <ac:picMk id="3" creationId="{FCE73B83-B535-4FC7-AFED-52355293C217}"/>
          </ac:picMkLst>
        </pc:picChg>
        <pc:inkChg chg="del">
          <ac:chgData name="TEY KOK SOON" userId="b38fed35-100c-4369-8b34-69adb96b726a" providerId="ADAL" clId="{D1301807-A877-44D2-B6AC-4FA14199CDC8}" dt="2020-06-01T02:46:52.931" v="0"/>
          <ac:inkMkLst>
            <pc:docMk/>
            <pc:sldMk cId="0" sldId="272"/>
            <ac:inkMk id="2" creationId="{6FCFC5F3-A623-4749-ACFD-076FECB5A700}"/>
          </ac:inkMkLst>
        </pc:inkChg>
      </pc:sldChg>
      <pc:sldChg chg="modTransition">
        <pc:chgData name="TEY KOK SOON" userId="b38fed35-100c-4369-8b34-69adb96b726a" providerId="ADAL" clId="{D1301807-A877-44D2-B6AC-4FA14199CDC8}" dt="2020-06-01T02:46:52.931" v="0"/>
        <pc:sldMkLst>
          <pc:docMk/>
          <pc:sldMk cId="2319840883" sldId="273"/>
        </pc:sldMkLst>
      </pc:sldChg>
      <pc:sldChg chg="delSp modTransition modAnim">
        <pc:chgData name="TEY KOK SOON" userId="b38fed35-100c-4369-8b34-69adb96b726a" providerId="ADAL" clId="{D1301807-A877-44D2-B6AC-4FA14199CDC8}" dt="2020-06-01T02:46:52.931" v="0"/>
        <pc:sldMkLst>
          <pc:docMk/>
          <pc:sldMk cId="0" sldId="274"/>
        </pc:sldMkLst>
        <pc:picChg chg="del">
          <ac:chgData name="TEY KOK SOON" userId="b38fed35-100c-4369-8b34-69adb96b726a" providerId="ADAL" clId="{D1301807-A877-44D2-B6AC-4FA14199CDC8}" dt="2020-06-01T02:46:52.931" v="0"/>
          <ac:picMkLst>
            <pc:docMk/>
            <pc:sldMk cId="0" sldId="274"/>
            <ac:picMk id="3" creationId="{CB83EE24-4CF7-426A-BD22-344D6FA5433F}"/>
          </ac:picMkLst>
        </pc:picChg>
        <pc:inkChg chg="del">
          <ac:chgData name="TEY KOK SOON" userId="b38fed35-100c-4369-8b34-69adb96b726a" providerId="ADAL" clId="{D1301807-A877-44D2-B6AC-4FA14199CDC8}" dt="2020-06-01T02:46:52.931" v="0"/>
          <ac:inkMkLst>
            <pc:docMk/>
            <pc:sldMk cId="0" sldId="274"/>
            <ac:inkMk id="2" creationId="{C2D1B40F-935A-4A78-A25E-56A50E2F9799}"/>
          </ac:inkMkLst>
        </pc:inkChg>
      </pc:sldChg>
      <pc:sldChg chg="delSp modTransition modAnim">
        <pc:chgData name="TEY KOK SOON" userId="b38fed35-100c-4369-8b34-69adb96b726a" providerId="ADAL" clId="{D1301807-A877-44D2-B6AC-4FA14199CDC8}" dt="2020-06-01T02:46:52.931" v="0"/>
        <pc:sldMkLst>
          <pc:docMk/>
          <pc:sldMk cId="0" sldId="275"/>
        </pc:sldMkLst>
        <pc:picChg chg="del">
          <ac:chgData name="TEY KOK SOON" userId="b38fed35-100c-4369-8b34-69adb96b726a" providerId="ADAL" clId="{D1301807-A877-44D2-B6AC-4FA14199CDC8}" dt="2020-06-01T02:46:52.931" v="0"/>
          <ac:picMkLst>
            <pc:docMk/>
            <pc:sldMk cId="0" sldId="275"/>
            <ac:picMk id="6" creationId="{1CC1AA08-AB99-4129-947A-0BD92FABFE2E}"/>
          </ac:picMkLst>
        </pc:picChg>
        <pc:inkChg chg="del">
          <ac:chgData name="TEY KOK SOON" userId="b38fed35-100c-4369-8b34-69adb96b726a" providerId="ADAL" clId="{D1301807-A877-44D2-B6AC-4FA14199CDC8}" dt="2020-06-01T02:46:52.931" v="0"/>
          <ac:inkMkLst>
            <pc:docMk/>
            <pc:sldMk cId="0" sldId="275"/>
            <ac:inkMk id="5" creationId="{7A95EF39-07D6-4242-866A-CB01AC0D55F3}"/>
          </ac:inkMkLst>
        </pc:inkChg>
      </pc:sldChg>
      <pc:sldChg chg="delSp modTransition modAnim">
        <pc:chgData name="TEY KOK SOON" userId="b38fed35-100c-4369-8b34-69adb96b726a" providerId="ADAL" clId="{D1301807-A877-44D2-B6AC-4FA14199CDC8}" dt="2020-06-01T02:46:52.931" v="0"/>
        <pc:sldMkLst>
          <pc:docMk/>
          <pc:sldMk cId="0" sldId="276"/>
        </pc:sldMkLst>
        <pc:picChg chg="del">
          <ac:chgData name="TEY KOK SOON" userId="b38fed35-100c-4369-8b34-69adb96b726a" providerId="ADAL" clId="{D1301807-A877-44D2-B6AC-4FA14199CDC8}" dt="2020-06-01T02:46:52.931" v="0"/>
          <ac:picMkLst>
            <pc:docMk/>
            <pc:sldMk cId="0" sldId="276"/>
            <ac:picMk id="7" creationId="{9E013E46-B253-4255-B2F3-60ADB0189037}"/>
          </ac:picMkLst>
        </pc:picChg>
        <pc:inkChg chg="del">
          <ac:chgData name="TEY KOK SOON" userId="b38fed35-100c-4369-8b34-69adb96b726a" providerId="ADAL" clId="{D1301807-A877-44D2-B6AC-4FA14199CDC8}" dt="2020-06-01T02:46:52.931" v="0"/>
          <ac:inkMkLst>
            <pc:docMk/>
            <pc:sldMk cId="0" sldId="276"/>
            <ac:inkMk id="3" creationId="{BA4CF605-D3C3-4B43-850B-6F226047C1E0}"/>
          </ac:inkMkLst>
        </pc:inkChg>
      </pc:sldChg>
      <pc:sldChg chg="delSp modTransition modAnim">
        <pc:chgData name="TEY KOK SOON" userId="b38fed35-100c-4369-8b34-69adb96b726a" providerId="ADAL" clId="{D1301807-A877-44D2-B6AC-4FA14199CDC8}" dt="2020-06-01T02:46:52.931" v="0"/>
        <pc:sldMkLst>
          <pc:docMk/>
          <pc:sldMk cId="0" sldId="277"/>
        </pc:sldMkLst>
        <pc:picChg chg="del">
          <ac:chgData name="TEY KOK SOON" userId="b38fed35-100c-4369-8b34-69adb96b726a" providerId="ADAL" clId="{D1301807-A877-44D2-B6AC-4FA14199CDC8}" dt="2020-06-01T02:46:52.931" v="0"/>
          <ac:picMkLst>
            <pc:docMk/>
            <pc:sldMk cId="0" sldId="277"/>
            <ac:picMk id="6" creationId="{3E118354-A5BE-41EE-A307-73F0B2C99B96}"/>
          </ac:picMkLst>
        </pc:picChg>
        <pc:inkChg chg="del">
          <ac:chgData name="TEY KOK SOON" userId="b38fed35-100c-4369-8b34-69adb96b726a" providerId="ADAL" clId="{D1301807-A877-44D2-B6AC-4FA14199CDC8}" dt="2020-06-01T02:46:52.931" v="0"/>
          <ac:inkMkLst>
            <pc:docMk/>
            <pc:sldMk cId="0" sldId="277"/>
            <ac:inkMk id="5" creationId="{2BFA5913-8905-4D0C-A083-80BF21C4F12D}"/>
          </ac:inkMkLst>
        </pc:inkChg>
      </pc:sldChg>
      <pc:sldChg chg="delSp modTransition modAnim">
        <pc:chgData name="TEY KOK SOON" userId="b38fed35-100c-4369-8b34-69adb96b726a" providerId="ADAL" clId="{D1301807-A877-44D2-B6AC-4FA14199CDC8}" dt="2020-06-01T02:46:52.931" v="0"/>
        <pc:sldMkLst>
          <pc:docMk/>
          <pc:sldMk cId="0" sldId="278"/>
        </pc:sldMkLst>
        <pc:picChg chg="del">
          <ac:chgData name="TEY KOK SOON" userId="b38fed35-100c-4369-8b34-69adb96b726a" providerId="ADAL" clId="{D1301807-A877-44D2-B6AC-4FA14199CDC8}" dt="2020-06-01T02:46:52.931" v="0"/>
          <ac:picMkLst>
            <pc:docMk/>
            <pc:sldMk cId="0" sldId="278"/>
            <ac:picMk id="3" creationId="{9CFE3A6C-F62D-4787-A04F-4B9B9159089F}"/>
          </ac:picMkLst>
        </pc:picChg>
        <pc:inkChg chg="del">
          <ac:chgData name="TEY KOK SOON" userId="b38fed35-100c-4369-8b34-69adb96b726a" providerId="ADAL" clId="{D1301807-A877-44D2-B6AC-4FA14199CDC8}" dt="2020-06-01T02:46:52.931" v="0"/>
          <ac:inkMkLst>
            <pc:docMk/>
            <pc:sldMk cId="0" sldId="278"/>
            <ac:inkMk id="2" creationId="{10B26183-5308-4324-9F58-466B869DAF1D}"/>
          </ac:inkMkLst>
        </pc:inkChg>
      </pc:sldChg>
      <pc:sldChg chg="delSp modTransition modAnim">
        <pc:chgData name="TEY KOK SOON" userId="b38fed35-100c-4369-8b34-69adb96b726a" providerId="ADAL" clId="{D1301807-A877-44D2-B6AC-4FA14199CDC8}" dt="2020-06-01T02:46:52.931" v="0"/>
        <pc:sldMkLst>
          <pc:docMk/>
          <pc:sldMk cId="0" sldId="279"/>
        </pc:sldMkLst>
        <pc:picChg chg="del">
          <ac:chgData name="TEY KOK SOON" userId="b38fed35-100c-4369-8b34-69adb96b726a" providerId="ADAL" clId="{D1301807-A877-44D2-B6AC-4FA14199CDC8}" dt="2020-06-01T02:46:52.931" v="0"/>
          <ac:picMkLst>
            <pc:docMk/>
            <pc:sldMk cId="0" sldId="279"/>
            <ac:picMk id="4" creationId="{D16836B3-E847-4F11-A325-5DDD3E2C74C2}"/>
          </ac:picMkLst>
        </pc:picChg>
        <pc:inkChg chg="del">
          <ac:chgData name="TEY KOK SOON" userId="b38fed35-100c-4369-8b34-69adb96b726a" providerId="ADAL" clId="{D1301807-A877-44D2-B6AC-4FA14199CDC8}" dt="2020-06-01T02:46:52.931" v="0"/>
          <ac:inkMkLst>
            <pc:docMk/>
            <pc:sldMk cId="0" sldId="279"/>
            <ac:inkMk id="3" creationId="{6DDEB691-6637-4A59-BB6C-93D488E0EC32}"/>
          </ac:inkMkLst>
        </pc:inkChg>
      </pc:sldChg>
      <pc:sldChg chg="modTransition">
        <pc:chgData name="TEY KOK SOON" userId="b38fed35-100c-4369-8b34-69adb96b726a" providerId="ADAL" clId="{D1301807-A877-44D2-B6AC-4FA14199CDC8}" dt="2020-06-01T02:46:52.931" v="0"/>
        <pc:sldMkLst>
          <pc:docMk/>
          <pc:sldMk cId="1202925494" sldId="282"/>
        </pc:sldMkLst>
      </pc:sldChg>
      <pc:sldChg chg="modTransition">
        <pc:chgData name="TEY KOK SOON" userId="b38fed35-100c-4369-8b34-69adb96b726a" providerId="ADAL" clId="{D1301807-A877-44D2-B6AC-4FA14199CDC8}" dt="2020-06-01T02:46:52.931" v="0"/>
        <pc:sldMkLst>
          <pc:docMk/>
          <pc:sldMk cId="1034456284" sldId="285"/>
        </pc:sldMkLst>
      </pc:sldChg>
      <pc:sldChg chg="modTransition">
        <pc:chgData name="TEY KOK SOON" userId="b38fed35-100c-4369-8b34-69adb96b726a" providerId="ADAL" clId="{D1301807-A877-44D2-B6AC-4FA14199CDC8}" dt="2020-06-01T02:46:52.931" v="0"/>
        <pc:sldMkLst>
          <pc:docMk/>
          <pc:sldMk cId="2411059376" sldId="289"/>
        </pc:sldMkLst>
      </pc:sldChg>
      <pc:sldChg chg="delSp modTransition modAnim">
        <pc:chgData name="TEY KOK SOON" userId="b38fed35-100c-4369-8b34-69adb96b726a" providerId="ADAL" clId="{D1301807-A877-44D2-B6AC-4FA14199CDC8}" dt="2020-06-01T02:46:52.931" v="0"/>
        <pc:sldMkLst>
          <pc:docMk/>
          <pc:sldMk cId="0" sldId="290"/>
        </pc:sldMkLst>
        <pc:picChg chg="del">
          <ac:chgData name="TEY KOK SOON" userId="b38fed35-100c-4369-8b34-69adb96b726a" providerId="ADAL" clId="{D1301807-A877-44D2-B6AC-4FA14199CDC8}" dt="2020-06-01T02:46:52.931" v="0"/>
          <ac:picMkLst>
            <pc:docMk/>
            <pc:sldMk cId="0" sldId="290"/>
            <ac:picMk id="6" creationId="{0DF07CB9-AF97-42FC-AC31-6832A78EAAB7}"/>
          </ac:picMkLst>
        </pc:picChg>
        <pc:inkChg chg="del">
          <ac:chgData name="TEY KOK SOON" userId="b38fed35-100c-4369-8b34-69adb96b726a" providerId="ADAL" clId="{D1301807-A877-44D2-B6AC-4FA14199CDC8}" dt="2020-06-01T02:46:52.931" v="0"/>
          <ac:inkMkLst>
            <pc:docMk/>
            <pc:sldMk cId="0" sldId="290"/>
            <ac:inkMk id="5" creationId="{64D3F6DB-AD4F-4728-9400-51C9648FB438}"/>
          </ac:inkMkLst>
        </pc:inkChg>
      </pc:sldChg>
      <pc:sldChg chg="delSp modTransition modAnim">
        <pc:chgData name="TEY KOK SOON" userId="b38fed35-100c-4369-8b34-69adb96b726a" providerId="ADAL" clId="{D1301807-A877-44D2-B6AC-4FA14199CDC8}" dt="2020-06-01T02:46:52.931" v="0"/>
        <pc:sldMkLst>
          <pc:docMk/>
          <pc:sldMk cId="0" sldId="291"/>
        </pc:sldMkLst>
        <pc:picChg chg="del">
          <ac:chgData name="TEY KOK SOON" userId="b38fed35-100c-4369-8b34-69adb96b726a" providerId="ADAL" clId="{D1301807-A877-44D2-B6AC-4FA14199CDC8}" dt="2020-06-01T02:46:52.931" v="0"/>
          <ac:picMkLst>
            <pc:docMk/>
            <pc:sldMk cId="0" sldId="291"/>
            <ac:picMk id="7" creationId="{F7C82541-9A99-49A3-B54A-5E1E4E2D2455}"/>
          </ac:picMkLst>
        </pc:picChg>
        <pc:inkChg chg="del">
          <ac:chgData name="TEY KOK SOON" userId="b38fed35-100c-4369-8b34-69adb96b726a" providerId="ADAL" clId="{D1301807-A877-44D2-B6AC-4FA14199CDC8}" dt="2020-06-01T02:46:52.931" v="0"/>
          <ac:inkMkLst>
            <pc:docMk/>
            <pc:sldMk cId="0" sldId="291"/>
            <ac:inkMk id="6" creationId="{ED3025FD-A555-4B5D-8183-5689F348CF51}"/>
          </ac:inkMkLst>
        </pc:inkChg>
      </pc:sldChg>
      <pc:sldChg chg="delSp modTransition modAnim">
        <pc:chgData name="TEY KOK SOON" userId="b38fed35-100c-4369-8b34-69adb96b726a" providerId="ADAL" clId="{D1301807-A877-44D2-B6AC-4FA14199CDC8}" dt="2020-06-01T02:46:52.931" v="0"/>
        <pc:sldMkLst>
          <pc:docMk/>
          <pc:sldMk cId="0" sldId="292"/>
        </pc:sldMkLst>
        <pc:picChg chg="del">
          <ac:chgData name="TEY KOK SOON" userId="b38fed35-100c-4369-8b34-69adb96b726a" providerId="ADAL" clId="{D1301807-A877-44D2-B6AC-4FA14199CDC8}" dt="2020-06-01T02:46:52.931" v="0"/>
          <ac:picMkLst>
            <pc:docMk/>
            <pc:sldMk cId="0" sldId="292"/>
            <ac:picMk id="5" creationId="{90CE4CC9-5868-40B3-8F13-F635B1E46689}"/>
          </ac:picMkLst>
        </pc:picChg>
        <pc:inkChg chg="del">
          <ac:chgData name="TEY KOK SOON" userId="b38fed35-100c-4369-8b34-69adb96b726a" providerId="ADAL" clId="{D1301807-A877-44D2-B6AC-4FA14199CDC8}" dt="2020-06-01T02:46:52.931" v="0"/>
          <ac:inkMkLst>
            <pc:docMk/>
            <pc:sldMk cId="0" sldId="292"/>
            <ac:inkMk id="2" creationId="{94362BA4-ADAA-44BE-A4B7-5AA0387F5DE0}"/>
          </ac:inkMkLst>
        </pc:inkChg>
      </pc:sldChg>
      <pc:sldChg chg="delSp modTransition modAnim">
        <pc:chgData name="TEY KOK SOON" userId="b38fed35-100c-4369-8b34-69adb96b726a" providerId="ADAL" clId="{D1301807-A877-44D2-B6AC-4FA14199CDC8}" dt="2020-06-01T02:46:52.931" v="0"/>
        <pc:sldMkLst>
          <pc:docMk/>
          <pc:sldMk cId="0" sldId="293"/>
        </pc:sldMkLst>
        <pc:picChg chg="del">
          <ac:chgData name="TEY KOK SOON" userId="b38fed35-100c-4369-8b34-69adb96b726a" providerId="ADAL" clId="{D1301807-A877-44D2-B6AC-4FA14199CDC8}" dt="2020-06-01T02:46:52.931" v="0"/>
          <ac:picMkLst>
            <pc:docMk/>
            <pc:sldMk cId="0" sldId="293"/>
            <ac:picMk id="6" creationId="{DA69D00A-9321-4FC4-B544-57302069078E}"/>
          </ac:picMkLst>
        </pc:picChg>
        <pc:inkChg chg="del">
          <ac:chgData name="TEY KOK SOON" userId="b38fed35-100c-4369-8b34-69adb96b726a" providerId="ADAL" clId="{D1301807-A877-44D2-B6AC-4FA14199CDC8}" dt="2020-06-01T02:46:52.931" v="0"/>
          <ac:inkMkLst>
            <pc:docMk/>
            <pc:sldMk cId="0" sldId="293"/>
            <ac:inkMk id="2" creationId="{4FF3E5D4-3EF3-41A6-A30F-A25B3A92AFEA}"/>
          </ac:inkMkLst>
        </pc:inkChg>
      </pc:sldChg>
      <pc:sldChg chg="modTransition">
        <pc:chgData name="TEY KOK SOON" userId="b38fed35-100c-4369-8b34-69adb96b726a" providerId="ADAL" clId="{D1301807-A877-44D2-B6AC-4FA14199CDC8}" dt="2020-06-01T02:46:52.931" v="0"/>
        <pc:sldMkLst>
          <pc:docMk/>
          <pc:sldMk cId="1249040723" sldId="296"/>
        </pc:sldMkLst>
      </pc:sldChg>
      <pc:sldChg chg="delSp modTransition modAnim">
        <pc:chgData name="TEY KOK SOON" userId="b38fed35-100c-4369-8b34-69adb96b726a" providerId="ADAL" clId="{D1301807-A877-44D2-B6AC-4FA14199CDC8}" dt="2020-06-01T02:46:52.931" v="0"/>
        <pc:sldMkLst>
          <pc:docMk/>
          <pc:sldMk cId="0" sldId="297"/>
        </pc:sldMkLst>
        <pc:picChg chg="del">
          <ac:chgData name="TEY KOK SOON" userId="b38fed35-100c-4369-8b34-69adb96b726a" providerId="ADAL" clId="{D1301807-A877-44D2-B6AC-4FA14199CDC8}" dt="2020-06-01T02:46:52.931" v="0"/>
          <ac:picMkLst>
            <pc:docMk/>
            <pc:sldMk cId="0" sldId="297"/>
            <ac:picMk id="5" creationId="{D332B205-CB25-492A-8971-E4A432E70F2D}"/>
          </ac:picMkLst>
        </pc:picChg>
        <pc:inkChg chg="del">
          <ac:chgData name="TEY KOK SOON" userId="b38fed35-100c-4369-8b34-69adb96b726a" providerId="ADAL" clId="{D1301807-A877-44D2-B6AC-4FA14199CDC8}" dt="2020-06-01T02:46:52.931" v="0"/>
          <ac:inkMkLst>
            <pc:docMk/>
            <pc:sldMk cId="0" sldId="297"/>
            <ac:inkMk id="2" creationId="{708A0301-EB66-475B-B1E8-0C533873ACE8}"/>
          </ac:inkMkLst>
        </pc:inkChg>
      </pc:sldChg>
      <pc:sldChg chg="modTransition">
        <pc:chgData name="TEY KOK SOON" userId="b38fed35-100c-4369-8b34-69adb96b726a" providerId="ADAL" clId="{D1301807-A877-44D2-B6AC-4FA14199CDC8}" dt="2020-06-01T02:46:52.931" v="0"/>
        <pc:sldMkLst>
          <pc:docMk/>
          <pc:sldMk cId="2727503637" sldId="298"/>
        </pc:sldMkLst>
      </pc:sldChg>
      <pc:sldChg chg="modTransition">
        <pc:chgData name="TEY KOK SOON" userId="b38fed35-100c-4369-8b34-69adb96b726a" providerId="ADAL" clId="{D1301807-A877-44D2-B6AC-4FA14199CDC8}" dt="2020-06-01T02:46:52.931" v="0"/>
        <pc:sldMkLst>
          <pc:docMk/>
          <pc:sldMk cId="521505607" sldId="301"/>
        </pc:sldMkLst>
      </pc:sldChg>
      <pc:sldChg chg="delSp modTransition modAnim">
        <pc:chgData name="TEY KOK SOON" userId="b38fed35-100c-4369-8b34-69adb96b726a" providerId="ADAL" clId="{D1301807-A877-44D2-B6AC-4FA14199CDC8}" dt="2020-06-01T02:46:52.931" v="0"/>
        <pc:sldMkLst>
          <pc:docMk/>
          <pc:sldMk cId="0" sldId="303"/>
        </pc:sldMkLst>
        <pc:picChg chg="del">
          <ac:chgData name="TEY KOK SOON" userId="b38fed35-100c-4369-8b34-69adb96b726a" providerId="ADAL" clId="{D1301807-A877-44D2-B6AC-4FA14199CDC8}" dt="2020-06-01T02:46:52.931" v="0"/>
          <ac:picMkLst>
            <pc:docMk/>
            <pc:sldMk cId="0" sldId="303"/>
            <ac:picMk id="7" creationId="{7BC393C5-1275-484E-BE6D-54C2B966C6F8}"/>
          </ac:picMkLst>
        </pc:picChg>
        <pc:inkChg chg="del">
          <ac:chgData name="TEY KOK SOON" userId="b38fed35-100c-4369-8b34-69adb96b726a" providerId="ADAL" clId="{D1301807-A877-44D2-B6AC-4FA14199CDC8}" dt="2020-06-01T02:46:52.931" v="0"/>
          <ac:inkMkLst>
            <pc:docMk/>
            <pc:sldMk cId="0" sldId="303"/>
            <ac:inkMk id="6" creationId="{5ECA355F-8A26-4F7D-872E-CDFBC9B738BC}"/>
          </ac:inkMkLst>
        </pc:inkChg>
      </pc:sldChg>
      <pc:sldChg chg="delSp modTransition modAnim">
        <pc:chgData name="TEY KOK SOON" userId="b38fed35-100c-4369-8b34-69adb96b726a" providerId="ADAL" clId="{D1301807-A877-44D2-B6AC-4FA14199CDC8}" dt="2020-06-01T02:46:52.931" v="0"/>
        <pc:sldMkLst>
          <pc:docMk/>
          <pc:sldMk cId="0" sldId="304"/>
        </pc:sldMkLst>
        <pc:picChg chg="del">
          <ac:chgData name="TEY KOK SOON" userId="b38fed35-100c-4369-8b34-69adb96b726a" providerId="ADAL" clId="{D1301807-A877-44D2-B6AC-4FA14199CDC8}" dt="2020-06-01T02:46:52.931" v="0"/>
          <ac:picMkLst>
            <pc:docMk/>
            <pc:sldMk cId="0" sldId="304"/>
            <ac:picMk id="5" creationId="{563DC723-2B59-4491-ADAB-06C60D0FAA46}"/>
          </ac:picMkLst>
        </pc:picChg>
        <pc:inkChg chg="del">
          <ac:chgData name="TEY KOK SOON" userId="b38fed35-100c-4369-8b34-69adb96b726a" providerId="ADAL" clId="{D1301807-A877-44D2-B6AC-4FA14199CDC8}" dt="2020-06-01T02:46:52.931" v="0"/>
          <ac:inkMkLst>
            <pc:docMk/>
            <pc:sldMk cId="0" sldId="304"/>
            <ac:inkMk id="4" creationId="{9DCD9AF4-0A7C-4DE2-AA80-F026BCDED7D7}"/>
          </ac:inkMkLst>
        </pc:inkChg>
      </pc:sldChg>
      <pc:sldChg chg="delSp modTransition modAnim">
        <pc:chgData name="TEY KOK SOON" userId="b38fed35-100c-4369-8b34-69adb96b726a" providerId="ADAL" clId="{D1301807-A877-44D2-B6AC-4FA14199CDC8}" dt="2020-06-01T02:46:52.931" v="0"/>
        <pc:sldMkLst>
          <pc:docMk/>
          <pc:sldMk cId="0" sldId="305"/>
        </pc:sldMkLst>
        <pc:picChg chg="del">
          <ac:chgData name="TEY KOK SOON" userId="b38fed35-100c-4369-8b34-69adb96b726a" providerId="ADAL" clId="{D1301807-A877-44D2-B6AC-4FA14199CDC8}" dt="2020-06-01T02:46:52.931" v="0"/>
          <ac:picMkLst>
            <pc:docMk/>
            <pc:sldMk cId="0" sldId="305"/>
            <ac:picMk id="5" creationId="{00FA0304-D8D3-4B28-9969-F26A942CF087}"/>
          </ac:picMkLst>
        </pc:picChg>
        <pc:inkChg chg="del">
          <ac:chgData name="TEY KOK SOON" userId="b38fed35-100c-4369-8b34-69adb96b726a" providerId="ADAL" clId="{D1301807-A877-44D2-B6AC-4FA14199CDC8}" dt="2020-06-01T02:46:52.931" v="0"/>
          <ac:inkMkLst>
            <pc:docMk/>
            <pc:sldMk cId="0" sldId="305"/>
            <ac:inkMk id="4" creationId="{185A9949-6621-450C-BB7F-E20EC0924930}"/>
          </ac:inkMkLst>
        </pc:inkChg>
      </pc:sldChg>
      <pc:sldChg chg="modTransition">
        <pc:chgData name="TEY KOK SOON" userId="b38fed35-100c-4369-8b34-69adb96b726a" providerId="ADAL" clId="{D1301807-A877-44D2-B6AC-4FA14199CDC8}" dt="2020-06-01T02:46:52.931" v="0"/>
        <pc:sldMkLst>
          <pc:docMk/>
          <pc:sldMk cId="3780120114" sldId="306"/>
        </pc:sldMkLst>
      </pc:sldChg>
      <pc:sldChg chg="modTransition">
        <pc:chgData name="TEY KOK SOON" userId="b38fed35-100c-4369-8b34-69adb96b726a" providerId="ADAL" clId="{D1301807-A877-44D2-B6AC-4FA14199CDC8}" dt="2020-06-01T02:46:52.931" v="0"/>
        <pc:sldMkLst>
          <pc:docMk/>
          <pc:sldMk cId="1972909976" sldId="307"/>
        </pc:sldMkLst>
      </pc:sldChg>
      <pc:sldChg chg="modTransition">
        <pc:chgData name="TEY KOK SOON" userId="b38fed35-100c-4369-8b34-69adb96b726a" providerId="ADAL" clId="{D1301807-A877-44D2-B6AC-4FA14199CDC8}" dt="2020-06-01T02:46:52.931" v="0"/>
        <pc:sldMkLst>
          <pc:docMk/>
          <pc:sldMk cId="2842490045" sldId="308"/>
        </pc:sldMkLst>
      </pc:sldChg>
      <pc:sldChg chg="delSp modTransition modAnim">
        <pc:chgData name="TEY KOK SOON" userId="b38fed35-100c-4369-8b34-69adb96b726a" providerId="ADAL" clId="{D1301807-A877-44D2-B6AC-4FA14199CDC8}" dt="2020-06-01T02:46:52.931" v="0"/>
        <pc:sldMkLst>
          <pc:docMk/>
          <pc:sldMk cId="0" sldId="310"/>
        </pc:sldMkLst>
        <pc:picChg chg="del">
          <ac:chgData name="TEY KOK SOON" userId="b38fed35-100c-4369-8b34-69adb96b726a" providerId="ADAL" clId="{D1301807-A877-44D2-B6AC-4FA14199CDC8}" dt="2020-06-01T02:46:52.931" v="0"/>
          <ac:picMkLst>
            <pc:docMk/>
            <pc:sldMk cId="0" sldId="310"/>
            <ac:picMk id="3" creationId="{88F3EDCD-D552-4C42-A173-DE3C85F030FD}"/>
          </ac:picMkLst>
        </pc:picChg>
        <pc:inkChg chg="del">
          <ac:chgData name="TEY KOK SOON" userId="b38fed35-100c-4369-8b34-69adb96b726a" providerId="ADAL" clId="{D1301807-A877-44D2-B6AC-4FA14199CDC8}" dt="2020-06-01T02:46:52.931" v="0"/>
          <ac:inkMkLst>
            <pc:docMk/>
            <pc:sldMk cId="0" sldId="310"/>
            <ac:inkMk id="2" creationId="{F0281C36-DA29-4EB6-9BF6-5A561ED7971A}"/>
          </ac:inkMkLst>
        </pc:inkChg>
      </pc:sldChg>
      <pc:sldChg chg="delSp modTransition modAnim">
        <pc:chgData name="TEY KOK SOON" userId="b38fed35-100c-4369-8b34-69adb96b726a" providerId="ADAL" clId="{D1301807-A877-44D2-B6AC-4FA14199CDC8}" dt="2020-06-01T02:46:52.931" v="0"/>
        <pc:sldMkLst>
          <pc:docMk/>
          <pc:sldMk cId="0" sldId="311"/>
        </pc:sldMkLst>
        <pc:picChg chg="del">
          <ac:chgData name="TEY KOK SOON" userId="b38fed35-100c-4369-8b34-69adb96b726a" providerId="ADAL" clId="{D1301807-A877-44D2-B6AC-4FA14199CDC8}" dt="2020-06-01T02:46:52.931" v="0"/>
          <ac:picMkLst>
            <pc:docMk/>
            <pc:sldMk cId="0" sldId="311"/>
            <ac:picMk id="2" creationId="{50B53211-AA95-4DC5-9CD6-2E13A995A19C}"/>
          </ac:picMkLst>
        </pc:picChg>
      </pc:sldChg>
      <pc:sldChg chg="delSp modTransition modAnim">
        <pc:chgData name="TEY KOK SOON" userId="b38fed35-100c-4369-8b34-69adb96b726a" providerId="ADAL" clId="{D1301807-A877-44D2-B6AC-4FA14199CDC8}" dt="2020-06-01T02:46:52.931" v="0"/>
        <pc:sldMkLst>
          <pc:docMk/>
          <pc:sldMk cId="0" sldId="313"/>
        </pc:sldMkLst>
        <pc:picChg chg="del">
          <ac:chgData name="TEY KOK SOON" userId="b38fed35-100c-4369-8b34-69adb96b726a" providerId="ADAL" clId="{D1301807-A877-44D2-B6AC-4FA14199CDC8}" dt="2020-06-01T02:46:52.931" v="0"/>
          <ac:picMkLst>
            <pc:docMk/>
            <pc:sldMk cId="0" sldId="313"/>
            <ac:picMk id="5" creationId="{C7CB9AB9-307C-465F-A5B0-AEA1BBD4BA26}"/>
          </ac:picMkLst>
        </pc:picChg>
        <pc:inkChg chg="del">
          <ac:chgData name="TEY KOK SOON" userId="b38fed35-100c-4369-8b34-69adb96b726a" providerId="ADAL" clId="{D1301807-A877-44D2-B6AC-4FA14199CDC8}" dt="2020-06-01T02:46:52.931" v="0"/>
          <ac:inkMkLst>
            <pc:docMk/>
            <pc:sldMk cId="0" sldId="313"/>
            <ac:inkMk id="4" creationId="{68D63AC1-4D2B-4F44-A995-A01C3093ADC0}"/>
          </ac:inkMkLst>
        </pc:inkChg>
      </pc:sldChg>
      <pc:sldChg chg="modTransition">
        <pc:chgData name="TEY KOK SOON" userId="b38fed35-100c-4369-8b34-69adb96b726a" providerId="ADAL" clId="{D1301807-A877-44D2-B6AC-4FA14199CDC8}" dt="2020-06-01T02:46:52.931" v="0"/>
        <pc:sldMkLst>
          <pc:docMk/>
          <pc:sldMk cId="3036055173" sldId="314"/>
        </pc:sldMkLst>
      </pc:sldChg>
      <pc:sldChg chg="modTransition">
        <pc:chgData name="TEY KOK SOON" userId="b38fed35-100c-4369-8b34-69adb96b726a" providerId="ADAL" clId="{D1301807-A877-44D2-B6AC-4FA14199CDC8}" dt="2020-06-01T02:46:52.931" v="0"/>
        <pc:sldMkLst>
          <pc:docMk/>
          <pc:sldMk cId="3784428426" sldId="315"/>
        </pc:sldMkLst>
      </pc:sldChg>
      <pc:sldChg chg="modTransition">
        <pc:chgData name="TEY KOK SOON" userId="b38fed35-100c-4369-8b34-69adb96b726a" providerId="ADAL" clId="{D1301807-A877-44D2-B6AC-4FA14199CDC8}" dt="2020-06-01T02:46:52.931" v="0"/>
        <pc:sldMkLst>
          <pc:docMk/>
          <pc:sldMk cId="3449213158" sldId="316"/>
        </pc:sldMkLst>
      </pc:sldChg>
      <pc:sldChg chg="modTransition">
        <pc:chgData name="TEY KOK SOON" userId="b38fed35-100c-4369-8b34-69adb96b726a" providerId="ADAL" clId="{D1301807-A877-44D2-B6AC-4FA14199CDC8}" dt="2020-06-01T02:46:52.931" v="0"/>
        <pc:sldMkLst>
          <pc:docMk/>
          <pc:sldMk cId="4237266122" sldId="317"/>
        </pc:sldMkLst>
      </pc:sldChg>
      <pc:sldChg chg="delSp modTransition modAnim">
        <pc:chgData name="TEY KOK SOON" userId="b38fed35-100c-4369-8b34-69adb96b726a" providerId="ADAL" clId="{D1301807-A877-44D2-B6AC-4FA14199CDC8}" dt="2020-06-01T02:46:52.931" v="0"/>
        <pc:sldMkLst>
          <pc:docMk/>
          <pc:sldMk cId="2769720677" sldId="318"/>
        </pc:sldMkLst>
        <pc:picChg chg="del">
          <ac:chgData name="TEY KOK SOON" userId="b38fed35-100c-4369-8b34-69adb96b726a" providerId="ADAL" clId="{D1301807-A877-44D2-B6AC-4FA14199CDC8}" dt="2020-06-01T02:46:52.931" v="0"/>
          <ac:picMkLst>
            <pc:docMk/>
            <pc:sldMk cId="2769720677" sldId="318"/>
            <ac:picMk id="5" creationId="{7D662705-27F7-455D-8EE6-8C87C4D57764}"/>
          </ac:picMkLst>
        </pc:picChg>
        <pc:inkChg chg="del">
          <ac:chgData name="TEY KOK SOON" userId="b38fed35-100c-4369-8b34-69adb96b726a" providerId="ADAL" clId="{D1301807-A877-44D2-B6AC-4FA14199CDC8}" dt="2020-06-01T02:46:52.931" v="0"/>
          <ac:inkMkLst>
            <pc:docMk/>
            <pc:sldMk cId="2769720677" sldId="318"/>
            <ac:inkMk id="4" creationId="{2DB204D4-0E4A-4998-BD27-524FEF360B31}"/>
          </ac:inkMkLst>
        </pc:inkChg>
      </pc:sldChg>
      <pc:sldChg chg="modTransition">
        <pc:chgData name="TEY KOK SOON" userId="b38fed35-100c-4369-8b34-69adb96b726a" providerId="ADAL" clId="{D1301807-A877-44D2-B6AC-4FA14199CDC8}" dt="2020-06-01T02:46:52.931" v="0"/>
        <pc:sldMkLst>
          <pc:docMk/>
          <pc:sldMk cId="877731669" sldId="319"/>
        </pc:sldMkLst>
      </pc:sldChg>
      <pc:sldChg chg="modTransition">
        <pc:chgData name="TEY KOK SOON" userId="b38fed35-100c-4369-8b34-69adb96b726a" providerId="ADAL" clId="{D1301807-A877-44D2-B6AC-4FA14199CDC8}" dt="2020-06-01T02:46:52.931" v="0"/>
        <pc:sldMkLst>
          <pc:docMk/>
          <pc:sldMk cId="2382504145" sldId="320"/>
        </pc:sldMkLst>
      </pc:sldChg>
      <pc:sldChg chg="delSp modTransition modAnim">
        <pc:chgData name="TEY KOK SOON" userId="b38fed35-100c-4369-8b34-69adb96b726a" providerId="ADAL" clId="{D1301807-A877-44D2-B6AC-4FA14199CDC8}" dt="2020-06-01T02:46:52.931" v="0"/>
        <pc:sldMkLst>
          <pc:docMk/>
          <pc:sldMk cId="61464853" sldId="321"/>
        </pc:sldMkLst>
        <pc:picChg chg="del">
          <ac:chgData name="TEY KOK SOON" userId="b38fed35-100c-4369-8b34-69adb96b726a" providerId="ADAL" clId="{D1301807-A877-44D2-B6AC-4FA14199CDC8}" dt="2020-06-01T02:46:52.931" v="0"/>
          <ac:picMkLst>
            <pc:docMk/>
            <pc:sldMk cId="61464853" sldId="321"/>
            <ac:picMk id="7" creationId="{C61DCB0B-2B12-4472-9480-F370434F6BE1}"/>
          </ac:picMkLst>
        </pc:picChg>
        <pc:inkChg chg="del">
          <ac:chgData name="TEY KOK SOON" userId="b38fed35-100c-4369-8b34-69adb96b726a" providerId="ADAL" clId="{D1301807-A877-44D2-B6AC-4FA14199CDC8}" dt="2020-06-01T02:46:52.931" v="0"/>
          <ac:inkMkLst>
            <pc:docMk/>
            <pc:sldMk cId="61464853" sldId="321"/>
            <ac:inkMk id="6" creationId="{35CA2636-5D58-4F73-98D9-FE78A4F30EFF}"/>
          </ac:inkMkLst>
        </pc:inkChg>
      </pc:sldChg>
      <pc:sldChg chg="modTransition">
        <pc:chgData name="TEY KOK SOON" userId="b38fed35-100c-4369-8b34-69adb96b726a" providerId="ADAL" clId="{D1301807-A877-44D2-B6AC-4FA14199CDC8}" dt="2020-06-01T02:46:52.931" v="0"/>
        <pc:sldMkLst>
          <pc:docMk/>
          <pc:sldMk cId="2272589407" sldId="322"/>
        </pc:sldMkLst>
      </pc:sldChg>
      <pc:sldChg chg="delSp modTransition modAnim">
        <pc:chgData name="TEY KOK SOON" userId="b38fed35-100c-4369-8b34-69adb96b726a" providerId="ADAL" clId="{D1301807-A877-44D2-B6AC-4FA14199CDC8}" dt="2020-06-01T02:46:52.931" v="0"/>
        <pc:sldMkLst>
          <pc:docMk/>
          <pc:sldMk cId="1532177026" sldId="323"/>
        </pc:sldMkLst>
        <pc:picChg chg="del">
          <ac:chgData name="TEY KOK SOON" userId="b38fed35-100c-4369-8b34-69adb96b726a" providerId="ADAL" clId="{D1301807-A877-44D2-B6AC-4FA14199CDC8}" dt="2020-06-01T02:46:52.931" v="0"/>
          <ac:picMkLst>
            <pc:docMk/>
            <pc:sldMk cId="1532177026" sldId="323"/>
            <ac:picMk id="2" creationId="{BE2DA73C-F4C6-4A84-B5A5-534AD0B8748F}"/>
          </ac:picMkLst>
        </pc:picChg>
      </pc:sldChg>
      <pc:sldChg chg="modTransition">
        <pc:chgData name="TEY KOK SOON" userId="b38fed35-100c-4369-8b34-69adb96b726a" providerId="ADAL" clId="{D1301807-A877-44D2-B6AC-4FA14199CDC8}" dt="2020-06-01T02:46:52.931" v="0"/>
        <pc:sldMkLst>
          <pc:docMk/>
          <pc:sldMk cId="3219777131" sldId="324"/>
        </pc:sldMkLst>
      </pc:sldChg>
      <pc:sldChg chg="delSp modTransition modAnim">
        <pc:chgData name="TEY KOK SOON" userId="b38fed35-100c-4369-8b34-69adb96b726a" providerId="ADAL" clId="{D1301807-A877-44D2-B6AC-4FA14199CDC8}" dt="2020-06-01T02:46:52.931" v="0"/>
        <pc:sldMkLst>
          <pc:docMk/>
          <pc:sldMk cId="556988052" sldId="325"/>
        </pc:sldMkLst>
        <pc:picChg chg="del">
          <ac:chgData name="TEY KOK SOON" userId="b38fed35-100c-4369-8b34-69adb96b726a" providerId="ADAL" clId="{D1301807-A877-44D2-B6AC-4FA14199CDC8}" dt="2020-06-01T02:46:52.931" v="0"/>
          <ac:picMkLst>
            <pc:docMk/>
            <pc:sldMk cId="556988052" sldId="325"/>
            <ac:picMk id="6" creationId="{139F8DB2-FCD9-4523-97C1-E63E57A03FCE}"/>
          </ac:picMkLst>
        </pc:picChg>
        <pc:inkChg chg="del">
          <ac:chgData name="TEY KOK SOON" userId="b38fed35-100c-4369-8b34-69adb96b726a" providerId="ADAL" clId="{D1301807-A877-44D2-B6AC-4FA14199CDC8}" dt="2020-06-01T02:46:52.931" v="0"/>
          <ac:inkMkLst>
            <pc:docMk/>
            <pc:sldMk cId="556988052" sldId="325"/>
            <ac:inkMk id="5" creationId="{9DA3EFF0-0B43-4B1C-8E16-DCA9D4B7CB03}"/>
          </ac:inkMkLst>
        </pc:inkChg>
      </pc:sldChg>
      <pc:sldChg chg="delSp modTransition modAnim">
        <pc:chgData name="TEY KOK SOON" userId="b38fed35-100c-4369-8b34-69adb96b726a" providerId="ADAL" clId="{D1301807-A877-44D2-B6AC-4FA14199CDC8}" dt="2020-06-01T02:46:52.931" v="0"/>
        <pc:sldMkLst>
          <pc:docMk/>
          <pc:sldMk cId="2230968629" sldId="326"/>
        </pc:sldMkLst>
        <pc:picChg chg="del">
          <ac:chgData name="TEY KOK SOON" userId="b38fed35-100c-4369-8b34-69adb96b726a" providerId="ADAL" clId="{D1301807-A877-44D2-B6AC-4FA14199CDC8}" dt="2020-06-01T02:46:52.931" v="0"/>
          <ac:picMkLst>
            <pc:docMk/>
            <pc:sldMk cId="2230968629" sldId="326"/>
            <ac:picMk id="8" creationId="{6F1415A1-AEA4-48C9-8A15-D90B3CE84130}"/>
          </ac:picMkLst>
        </pc:picChg>
        <pc:inkChg chg="del">
          <ac:chgData name="TEY KOK SOON" userId="b38fed35-100c-4369-8b34-69adb96b726a" providerId="ADAL" clId="{D1301807-A877-44D2-B6AC-4FA14199CDC8}" dt="2020-06-01T02:46:52.931" v="0"/>
          <ac:inkMkLst>
            <pc:docMk/>
            <pc:sldMk cId="2230968629" sldId="326"/>
            <ac:inkMk id="7" creationId="{091A2169-618D-4E32-800A-9E39268D1500}"/>
          </ac:inkMkLst>
        </pc:inkChg>
      </pc:sldChg>
      <pc:sldChg chg="delSp modTransition modAnim">
        <pc:chgData name="TEY KOK SOON" userId="b38fed35-100c-4369-8b34-69adb96b726a" providerId="ADAL" clId="{D1301807-A877-44D2-B6AC-4FA14199CDC8}" dt="2020-06-01T02:46:52.931" v="0"/>
        <pc:sldMkLst>
          <pc:docMk/>
          <pc:sldMk cId="695593127" sldId="327"/>
        </pc:sldMkLst>
        <pc:picChg chg="del">
          <ac:chgData name="TEY KOK SOON" userId="b38fed35-100c-4369-8b34-69adb96b726a" providerId="ADAL" clId="{D1301807-A877-44D2-B6AC-4FA14199CDC8}" dt="2020-06-01T02:46:52.931" v="0"/>
          <ac:picMkLst>
            <pc:docMk/>
            <pc:sldMk cId="695593127" sldId="327"/>
            <ac:picMk id="4" creationId="{053DDD2E-1C10-4053-9C17-BA1222C4D7C4}"/>
          </ac:picMkLst>
        </pc:picChg>
      </pc:sldChg>
      <pc:sldChg chg="delSp modTransition modAnim">
        <pc:chgData name="TEY KOK SOON" userId="b38fed35-100c-4369-8b34-69adb96b726a" providerId="ADAL" clId="{D1301807-A877-44D2-B6AC-4FA14199CDC8}" dt="2020-06-01T02:46:52.931" v="0"/>
        <pc:sldMkLst>
          <pc:docMk/>
          <pc:sldMk cId="2125962616" sldId="328"/>
        </pc:sldMkLst>
        <pc:picChg chg="del">
          <ac:chgData name="TEY KOK SOON" userId="b38fed35-100c-4369-8b34-69adb96b726a" providerId="ADAL" clId="{D1301807-A877-44D2-B6AC-4FA14199CDC8}" dt="2020-06-01T02:46:52.931" v="0"/>
          <ac:picMkLst>
            <pc:docMk/>
            <pc:sldMk cId="2125962616" sldId="328"/>
            <ac:picMk id="8" creationId="{9C5FCA94-5EC5-461D-8CC6-597E5558C301}"/>
          </ac:picMkLst>
        </pc:picChg>
        <pc:inkChg chg="del">
          <ac:chgData name="TEY KOK SOON" userId="b38fed35-100c-4369-8b34-69adb96b726a" providerId="ADAL" clId="{D1301807-A877-44D2-B6AC-4FA14199CDC8}" dt="2020-06-01T02:46:52.931" v="0"/>
          <ac:inkMkLst>
            <pc:docMk/>
            <pc:sldMk cId="2125962616" sldId="328"/>
            <ac:inkMk id="7" creationId="{D0DD17F9-4684-4ADE-9B8E-2476DE7FEF50}"/>
          </ac:inkMkLst>
        </pc:inkChg>
      </pc:sldChg>
      <pc:sldChg chg="modTransition">
        <pc:chgData name="TEY KOK SOON" userId="b38fed35-100c-4369-8b34-69adb96b726a" providerId="ADAL" clId="{D1301807-A877-44D2-B6AC-4FA14199CDC8}" dt="2020-06-01T02:46:52.931" v="0"/>
        <pc:sldMkLst>
          <pc:docMk/>
          <pc:sldMk cId="3726389198" sldId="336"/>
        </pc:sldMkLst>
      </pc:sldChg>
      <pc:sldChg chg="delSp modTransition modAnim">
        <pc:chgData name="TEY KOK SOON" userId="b38fed35-100c-4369-8b34-69adb96b726a" providerId="ADAL" clId="{D1301807-A877-44D2-B6AC-4FA14199CDC8}" dt="2020-06-01T02:46:52.931" v="0"/>
        <pc:sldMkLst>
          <pc:docMk/>
          <pc:sldMk cId="0" sldId="337"/>
        </pc:sldMkLst>
        <pc:picChg chg="del">
          <ac:chgData name="TEY KOK SOON" userId="b38fed35-100c-4369-8b34-69adb96b726a" providerId="ADAL" clId="{D1301807-A877-44D2-B6AC-4FA14199CDC8}" dt="2020-06-01T02:46:52.931" v="0"/>
          <ac:picMkLst>
            <pc:docMk/>
            <pc:sldMk cId="0" sldId="337"/>
            <ac:picMk id="6" creationId="{D9D797AD-EFCD-4E60-AFD4-648210D7849E}"/>
          </ac:picMkLst>
        </pc:picChg>
        <pc:inkChg chg="del">
          <ac:chgData name="TEY KOK SOON" userId="b38fed35-100c-4369-8b34-69adb96b726a" providerId="ADAL" clId="{D1301807-A877-44D2-B6AC-4FA14199CDC8}" dt="2020-06-01T02:46:52.931" v="0"/>
          <ac:inkMkLst>
            <pc:docMk/>
            <pc:sldMk cId="0" sldId="337"/>
            <ac:inkMk id="4" creationId="{5C0DC063-D133-478C-8297-780986EC3DC5}"/>
          </ac:inkMkLst>
        </pc:inkChg>
      </pc:sldChg>
      <pc:sldChg chg="delSp modTransition modAnim">
        <pc:chgData name="TEY KOK SOON" userId="b38fed35-100c-4369-8b34-69adb96b726a" providerId="ADAL" clId="{D1301807-A877-44D2-B6AC-4FA14199CDC8}" dt="2020-06-01T02:46:52.931" v="0"/>
        <pc:sldMkLst>
          <pc:docMk/>
          <pc:sldMk cId="3970657550" sldId="338"/>
        </pc:sldMkLst>
        <pc:picChg chg="del">
          <ac:chgData name="TEY KOK SOON" userId="b38fed35-100c-4369-8b34-69adb96b726a" providerId="ADAL" clId="{D1301807-A877-44D2-B6AC-4FA14199CDC8}" dt="2020-06-01T02:46:52.931" v="0"/>
          <ac:picMkLst>
            <pc:docMk/>
            <pc:sldMk cId="3970657550" sldId="338"/>
            <ac:picMk id="5" creationId="{C52F4E14-AAAA-4A1C-986E-3624CBC2DA84}"/>
          </ac:picMkLst>
        </pc:picChg>
        <pc:inkChg chg="del">
          <ac:chgData name="TEY KOK SOON" userId="b38fed35-100c-4369-8b34-69adb96b726a" providerId="ADAL" clId="{D1301807-A877-44D2-B6AC-4FA14199CDC8}" dt="2020-06-01T02:46:52.931" v="0"/>
          <ac:inkMkLst>
            <pc:docMk/>
            <pc:sldMk cId="3970657550" sldId="338"/>
            <ac:inkMk id="4" creationId="{3281122F-5FCB-4900-95F4-D20D562C6A02}"/>
          </ac:inkMkLst>
        </pc:inkChg>
      </pc:sldChg>
      <pc:sldChg chg="delSp modTransition modAnim">
        <pc:chgData name="TEY KOK SOON" userId="b38fed35-100c-4369-8b34-69adb96b726a" providerId="ADAL" clId="{D1301807-A877-44D2-B6AC-4FA14199CDC8}" dt="2020-06-01T02:46:52.931" v="0"/>
        <pc:sldMkLst>
          <pc:docMk/>
          <pc:sldMk cId="990708927" sldId="339"/>
        </pc:sldMkLst>
        <pc:picChg chg="del">
          <ac:chgData name="TEY KOK SOON" userId="b38fed35-100c-4369-8b34-69adb96b726a" providerId="ADAL" clId="{D1301807-A877-44D2-B6AC-4FA14199CDC8}" dt="2020-06-01T02:46:52.931" v="0"/>
          <ac:picMkLst>
            <pc:docMk/>
            <pc:sldMk cId="990708927" sldId="339"/>
            <ac:picMk id="3" creationId="{3FE17D20-FEDF-4BBD-9A74-26954DEFBC1C}"/>
          </ac:picMkLst>
        </pc:picChg>
        <pc:inkChg chg="del">
          <ac:chgData name="TEY KOK SOON" userId="b38fed35-100c-4369-8b34-69adb96b726a" providerId="ADAL" clId="{D1301807-A877-44D2-B6AC-4FA14199CDC8}" dt="2020-06-01T02:46:52.931" v="0"/>
          <ac:inkMkLst>
            <pc:docMk/>
            <pc:sldMk cId="990708927" sldId="339"/>
            <ac:inkMk id="2" creationId="{47357617-3B51-40D9-BCD9-B44DDD0E67B9}"/>
          </ac:inkMkLst>
        </pc:inkChg>
      </pc:sldChg>
      <pc:sldChg chg="delSp modTransition modAnim">
        <pc:chgData name="TEY KOK SOON" userId="b38fed35-100c-4369-8b34-69adb96b726a" providerId="ADAL" clId="{D1301807-A877-44D2-B6AC-4FA14199CDC8}" dt="2020-06-01T02:46:52.931" v="0"/>
        <pc:sldMkLst>
          <pc:docMk/>
          <pc:sldMk cId="0" sldId="340"/>
        </pc:sldMkLst>
        <pc:picChg chg="del">
          <ac:chgData name="TEY KOK SOON" userId="b38fed35-100c-4369-8b34-69adb96b726a" providerId="ADAL" clId="{D1301807-A877-44D2-B6AC-4FA14199CDC8}" dt="2020-06-01T02:46:52.931" v="0"/>
          <ac:picMkLst>
            <pc:docMk/>
            <pc:sldMk cId="0" sldId="340"/>
            <ac:picMk id="3" creationId="{905E0541-BC01-4521-B8A5-511CD138BAF1}"/>
          </ac:picMkLst>
        </pc:picChg>
        <pc:inkChg chg="del">
          <ac:chgData name="TEY KOK SOON" userId="b38fed35-100c-4369-8b34-69adb96b726a" providerId="ADAL" clId="{D1301807-A877-44D2-B6AC-4FA14199CDC8}" dt="2020-06-01T02:46:52.931" v="0"/>
          <ac:inkMkLst>
            <pc:docMk/>
            <pc:sldMk cId="0" sldId="340"/>
            <ac:inkMk id="2" creationId="{59DBD5CB-A666-4512-9B9C-63637E2371CD}"/>
          </ac:inkMkLst>
        </pc:inkChg>
      </pc:sldChg>
      <pc:sldChg chg="delSp modTransition modAnim">
        <pc:chgData name="TEY KOK SOON" userId="b38fed35-100c-4369-8b34-69adb96b726a" providerId="ADAL" clId="{D1301807-A877-44D2-B6AC-4FA14199CDC8}" dt="2020-06-01T02:46:52.931" v="0"/>
        <pc:sldMkLst>
          <pc:docMk/>
          <pc:sldMk cId="0" sldId="341"/>
        </pc:sldMkLst>
        <pc:picChg chg="del">
          <ac:chgData name="TEY KOK SOON" userId="b38fed35-100c-4369-8b34-69adb96b726a" providerId="ADAL" clId="{D1301807-A877-44D2-B6AC-4FA14199CDC8}" dt="2020-06-01T02:46:52.931" v="0"/>
          <ac:picMkLst>
            <pc:docMk/>
            <pc:sldMk cId="0" sldId="341"/>
            <ac:picMk id="3" creationId="{CD8955F3-9A9C-49A1-A036-45BF9F8259EB}"/>
          </ac:picMkLst>
        </pc:picChg>
        <pc:inkChg chg="del">
          <ac:chgData name="TEY KOK SOON" userId="b38fed35-100c-4369-8b34-69adb96b726a" providerId="ADAL" clId="{D1301807-A877-44D2-B6AC-4FA14199CDC8}" dt="2020-06-01T02:46:52.931" v="0"/>
          <ac:inkMkLst>
            <pc:docMk/>
            <pc:sldMk cId="0" sldId="341"/>
            <ac:inkMk id="2" creationId="{6349B4CA-11D2-4EF8-9EBE-E64ED652B728}"/>
          </ac:inkMkLst>
        </pc:inkChg>
      </pc:sldChg>
      <pc:sldChg chg="delSp modTransition modAnim">
        <pc:chgData name="TEY KOK SOON" userId="b38fed35-100c-4369-8b34-69adb96b726a" providerId="ADAL" clId="{D1301807-A877-44D2-B6AC-4FA14199CDC8}" dt="2020-06-01T02:46:52.931" v="0"/>
        <pc:sldMkLst>
          <pc:docMk/>
          <pc:sldMk cId="0" sldId="342"/>
        </pc:sldMkLst>
        <pc:picChg chg="del">
          <ac:chgData name="TEY KOK SOON" userId="b38fed35-100c-4369-8b34-69adb96b726a" providerId="ADAL" clId="{D1301807-A877-44D2-B6AC-4FA14199CDC8}" dt="2020-06-01T02:46:52.931" v="0"/>
          <ac:picMkLst>
            <pc:docMk/>
            <pc:sldMk cId="0" sldId="342"/>
            <ac:picMk id="3" creationId="{1AEAACCC-0E2A-4570-8EC7-480C14DE211E}"/>
          </ac:picMkLst>
        </pc:picChg>
        <pc:inkChg chg="del">
          <ac:chgData name="TEY KOK SOON" userId="b38fed35-100c-4369-8b34-69adb96b726a" providerId="ADAL" clId="{D1301807-A877-44D2-B6AC-4FA14199CDC8}" dt="2020-06-01T02:46:52.931" v="0"/>
          <ac:inkMkLst>
            <pc:docMk/>
            <pc:sldMk cId="0" sldId="342"/>
            <ac:inkMk id="2" creationId="{9864E6DE-8B0F-474A-9962-6AB531F0B13A}"/>
          </ac:inkMkLst>
        </pc:inkChg>
      </pc:sldChg>
      <pc:sldChg chg="delSp modSp modTransition modAnim">
        <pc:chgData name="TEY KOK SOON" userId="b38fed35-100c-4369-8b34-69adb96b726a" providerId="ADAL" clId="{D1301807-A877-44D2-B6AC-4FA14199CDC8}" dt="2020-06-01T02:48:08.451" v="3" actId="20577"/>
        <pc:sldMkLst>
          <pc:docMk/>
          <pc:sldMk cId="0" sldId="343"/>
        </pc:sldMkLst>
        <pc:spChg chg="mod">
          <ac:chgData name="TEY KOK SOON" userId="b38fed35-100c-4369-8b34-69adb96b726a" providerId="ADAL" clId="{D1301807-A877-44D2-B6AC-4FA14199CDC8}" dt="2020-06-01T02:48:08.451" v="3" actId="20577"/>
          <ac:spMkLst>
            <pc:docMk/>
            <pc:sldMk cId="0" sldId="343"/>
            <ac:spMk id="40965" creationId="{00000000-0000-0000-0000-000000000000}"/>
          </ac:spMkLst>
        </pc:spChg>
        <pc:picChg chg="del">
          <ac:chgData name="TEY KOK SOON" userId="b38fed35-100c-4369-8b34-69adb96b726a" providerId="ADAL" clId="{D1301807-A877-44D2-B6AC-4FA14199CDC8}" dt="2020-06-01T02:46:52.931" v="0"/>
          <ac:picMkLst>
            <pc:docMk/>
            <pc:sldMk cId="0" sldId="343"/>
            <ac:picMk id="3" creationId="{53CFD433-0058-46DA-90C0-9D9D091386AF}"/>
          </ac:picMkLst>
        </pc:picChg>
        <pc:inkChg chg="del">
          <ac:chgData name="TEY KOK SOON" userId="b38fed35-100c-4369-8b34-69adb96b726a" providerId="ADAL" clId="{D1301807-A877-44D2-B6AC-4FA14199CDC8}" dt="2020-06-01T02:46:52.931" v="0"/>
          <ac:inkMkLst>
            <pc:docMk/>
            <pc:sldMk cId="0" sldId="343"/>
            <ac:inkMk id="2" creationId="{7EC46999-23D5-46A2-8EA9-23076B5242AE}"/>
          </ac:inkMkLst>
        </pc:inkChg>
      </pc:sldChg>
      <pc:sldChg chg="delSp modTransition modAnim">
        <pc:chgData name="TEY KOK SOON" userId="b38fed35-100c-4369-8b34-69adb96b726a" providerId="ADAL" clId="{D1301807-A877-44D2-B6AC-4FA14199CDC8}" dt="2020-06-01T02:46:52.931" v="0"/>
        <pc:sldMkLst>
          <pc:docMk/>
          <pc:sldMk cId="0" sldId="344"/>
        </pc:sldMkLst>
        <pc:picChg chg="del">
          <ac:chgData name="TEY KOK SOON" userId="b38fed35-100c-4369-8b34-69adb96b726a" providerId="ADAL" clId="{D1301807-A877-44D2-B6AC-4FA14199CDC8}" dt="2020-06-01T02:46:52.931" v="0"/>
          <ac:picMkLst>
            <pc:docMk/>
            <pc:sldMk cId="0" sldId="344"/>
            <ac:picMk id="3" creationId="{5194C60E-3858-4ECB-BBA5-D032D5AAAD24}"/>
          </ac:picMkLst>
        </pc:picChg>
        <pc:inkChg chg="del">
          <ac:chgData name="TEY KOK SOON" userId="b38fed35-100c-4369-8b34-69adb96b726a" providerId="ADAL" clId="{D1301807-A877-44D2-B6AC-4FA14199CDC8}" dt="2020-06-01T02:46:52.931" v="0"/>
          <ac:inkMkLst>
            <pc:docMk/>
            <pc:sldMk cId="0" sldId="344"/>
            <ac:inkMk id="2" creationId="{0E6EBEDD-29AC-4DE7-A88D-F8221D7A0154}"/>
          </ac:inkMkLst>
        </pc:inkChg>
      </pc:sldChg>
      <pc:sldChg chg="modTransition">
        <pc:chgData name="TEY KOK SOON" userId="b38fed35-100c-4369-8b34-69adb96b726a" providerId="ADAL" clId="{D1301807-A877-44D2-B6AC-4FA14199CDC8}" dt="2020-06-01T02:46:52.931" v="0"/>
        <pc:sldMkLst>
          <pc:docMk/>
          <pc:sldMk cId="1137270269" sldId="345"/>
        </pc:sldMkLst>
      </pc:sldChg>
      <pc:sldChg chg="modTransition">
        <pc:chgData name="TEY KOK SOON" userId="b38fed35-100c-4369-8b34-69adb96b726a" providerId="ADAL" clId="{D1301807-A877-44D2-B6AC-4FA14199CDC8}" dt="2020-06-01T02:46:52.931" v="0"/>
        <pc:sldMkLst>
          <pc:docMk/>
          <pc:sldMk cId="63817954" sldId="346"/>
        </pc:sldMkLst>
      </pc:sldChg>
      <pc:sldChg chg="modTransition">
        <pc:chgData name="TEY KOK SOON" userId="b38fed35-100c-4369-8b34-69adb96b726a" providerId="ADAL" clId="{D1301807-A877-44D2-B6AC-4FA14199CDC8}" dt="2020-06-01T02:46:52.931" v="0"/>
        <pc:sldMkLst>
          <pc:docMk/>
          <pc:sldMk cId="539151456" sldId="347"/>
        </pc:sldMkLst>
      </pc:sldChg>
      <pc:sldChg chg="modTransition">
        <pc:chgData name="TEY KOK SOON" userId="b38fed35-100c-4369-8b34-69adb96b726a" providerId="ADAL" clId="{D1301807-A877-44D2-B6AC-4FA14199CDC8}" dt="2020-06-01T02:46:52.931" v="0"/>
        <pc:sldMkLst>
          <pc:docMk/>
          <pc:sldMk cId="1469792837" sldId="348"/>
        </pc:sldMkLst>
      </pc:sldChg>
      <pc:sldChg chg="modTransition">
        <pc:chgData name="TEY KOK SOON" userId="b38fed35-100c-4369-8b34-69adb96b726a" providerId="ADAL" clId="{D1301807-A877-44D2-B6AC-4FA14199CDC8}" dt="2020-06-01T02:46:52.931" v="0"/>
        <pc:sldMkLst>
          <pc:docMk/>
          <pc:sldMk cId="1739511218" sldId="349"/>
        </pc:sldMkLst>
      </pc:sldChg>
      <pc:sldChg chg="delSp modTransition modAnim">
        <pc:chgData name="TEY KOK SOON" userId="b38fed35-100c-4369-8b34-69adb96b726a" providerId="ADAL" clId="{D1301807-A877-44D2-B6AC-4FA14199CDC8}" dt="2020-06-01T02:46:52.931" v="0"/>
        <pc:sldMkLst>
          <pc:docMk/>
          <pc:sldMk cId="0" sldId="350"/>
        </pc:sldMkLst>
        <pc:picChg chg="del">
          <ac:chgData name="TEY KOK SOON" userId="b38fed35-100c-4369-8b34-69adb96b726a" providerId="ADAL" clId="{D1301807-A877-44D2-B6AC-4FA14199CDC8}" dt="2020-06-01T02:46:52.931" v="0"/>
          <ac:picMkLst>
            <pc:docMk/>
            <pc:sldMk cId="0" sldId="350"/>
            <ac:picMk id="3" creationId="{3CA9D60C-E68A-4F42-8648-A9359EE4CE08}"/>
          </ac:picMkLst>
        </pc:picChg>
        <pc:inkChg chg="del">
          <ac:chgData name="TEY KOK SOON" userId="b38fed35-100c-4369-8b34-69adb96b726a" providerId="ADAL" clId="{D1301807-A877-44D2-B6AC-4FA14199CDC8}" dt="2020-06-01T02:46:52.931" v="0"/>
          <ac:inkMkLst>
            <pc:docMk/>
            <pc:sldMk cId="0" sldId="350"/>
            <ac:inkMk id="2" creationId="{9025A0A2-3D03-4C0E-9508-3070B2DAAAE5}"/>
          </ac:inkMkLst>
        </pc:inkChg>
      </pc:sldChg>
      <pc:sldChg chg="delSp modTransition modAnim">
        <pc:chgData name="TEY KOK SOON" userId="b38fed35-100c-4369-8b34-69adb96b726a" providerId="ADAL" clId="{D1301807-A877-44D2-B6AC-4FA14199CDC8}" dt="2020-06-01T02:46:52.931" v="0"/>
        <pc:sldMkLst>
          <pc:docMk/>
          <pc:sldMk cId="0" sldId="351"/>
        </pc:sldMkLst>
        <pc:picChg chg="del">
          <ac:chgData name="TEY KOK SOON" userId="b38fed35-100c-4369-8b34-69adb96b726a" providerId="ADAL" clId="{D1301807-A877-44D2-B6AC-4FA14199CDC8}" dt="2020-06-01T02:46:52.931" v="0"/>
          <ac:picMkLst>
            <pc:docMk/>
            <pc:sldMk cId="0" sldId="351"/>
            <ac:picMk id="3" creationId="{80F59FDE-E3C4-4336-8A34-163DE876B757}"/>
          </ac:picMkLst>
        </pc:picChg>
        <pc:inkChg chg="del">
          <ac:chgData name="TEY KOK SOON" userId="b38fed35-100c-4369-8b34-69adb96b726a" providerId="ADAL" clId="{D1301807-A877-44D2-B6AC-4FA14199CDC8}" dt="2020-06-01T02:46:52.931" v="0"/>
          <ac:inkMkLst>
            <pc:docMk/>
            <pc:sldMk cId="0" sldId="351"/>
            <ac:inkMk id="2" creationId="{C9C1BAD7-DC38-4640-AF49-446BEBF3EE5F}"/>
          </ac:inkMkLst>
        </pc:inkChg>
      </pc:sldChg>
      <pc:sldChg chg="delSp modTransition modAnim">
        <pc:chgData name="TEY KOK SOON" userId="b38fed35-100c-4369-8b34-69adb96b726a" providerId="ADAL" clId="{D1301807-A877-44D2-B6AC-4FA14199CDC8}" dt="2020-06-01T02:46:52.931" v="0"/>
        <pc:sldMkLst>
          <pc:docMk/>
          <pc:sldMk cId="0" sldId="352"/>
        </pc:sldMkLst>
        <pc:picChg chg="del">
          <ac:chgData name="TEY KOK SOON" userId="b38fed35-100c-4369-8b34-69adb96b726a" providerId="ADAL" clId="{D1301807-A877-44D2-B6AC-4FA14199CDC8}" dt="2020-06-01T02:46:52.931" v="0"/>
          <ac:picMkLst>
            <pc:docMk/>
            <pc:sldMk cId="0" sldId="352"/>
            <ac:picMk id="3" creationId="{AD5D171C-4B01-472C-9920-1C4251988BE6}"/>
          </ac:picMkLst>
        </pc:picChg>
        <pc:inkChg chg="del">
          <ac:chgData name="TEY KOK SOON" userId="b38fed35-100c-4369-8b34-69adb96b726a" providerId="ADAL" clId="{D1301807-A877-44D2-B6AC-4FA14199CDC8}" dt="2020-06-01T02:46:52.931" v="0"/>
          <ac:inkMkLst>
            <pc:docMk/>
            <pc:sldMk cId="0" sldId="352"/>
            <ac:inkMk id="2" creationId="{40009471-C369-4F25-B629-E5FECA47D09D}"/>
          </ac:inkMkLst>
        </pc:inkChg>
      </pc:sldChg>
      <pc:sldChg chg="modTransition">
        <pc:chgData name="TEY KOK SOON" userId="b38fed35-100c-4369-8b34-69adb96b726a" providerId="ADAL" clId="{D1301807-A877-44D2-B6AC-4FA14199CDC8}" dt="2020-06-01T02:46:52.931" v="0"/>
        <pc:sldMkLst>
          <pc:docMk/>
          <pc:sldMk cId="1750881817" sldId="353"/>
        </pc:sldMkLst>
      </pc:sldChg>
      <pc:sldChg chg="modTransition">
        <pc:chgData name="TEY KOK SOON" userId="b38fed35-100c-4369-8b34-69adb96b726a" providerId="ADAL" clId="{D1301807-A877-44D2-B6AC-4FA14199CDC8}" dt="2020-06-01T02:46:52.931" v="0"/>
        <pc:sldMkLst>
          <pc:docMk/>
          <pc:sldMk cId="1129779949" sldId="354"/>
        </pc:sldMkLst>
      </pc:sldChg>
      <pc:sldChg chg="modTransition">
        <pc:chgData name="TEY KOK SOON" userId="b38fed35-100c-4369-8b34-69adb96b726a" providerId="ADAL" clId="{D1301807-A877-44D2-B6AC-4FA14199CDC8}" dt="2020-06-01T02:46:52.931" v="0"/>
        <pc:sldMkLst>
          <pc:docMk/>
          <pc:sldMk cId="3613818170" sldId="355"/>
        </pc:sldMkLst>
      </pc:sldChg>
      <pc:sldChg chg="modTransition">
        <pc:chgData name="TEY KOK SOON" userId="b38fed35-100c-4369-8b34-69adb96b726a" providerId="ADAL" clId="{D1301807-A877-44D2-B6AC-4FA14199CDC8}" dt="2020-06-01T02:46:52.931" v="0"/>
        <pc:sldMkLst>
          <pc:docMk/>
          <pc:sldMk cId="530187350" sldId="356"/>
        </pc:sldMkLst>
      </pc:sldChg>
      <pc:sldChg chg="modTransition">
        <pc:chgData name="TEY KOK SOON" userId="b38fed35-100c-4369-8b34-69adb96b726a" providerId="ADAL" clId="{D1301807-A877-44D2-B6AC-4FA14199CDC8}" dt="2020-06-01T02:46:52.931" v="0"/>
        <pc:sldMkLst>
          <pc:docMk/>
          <pc:sldMk cId="1751500175" sldId="357"/>
        </pc:sldMkLst>
      </pc:sldChg>
      <pc:sldChg chg="modTransition">
        <pc:chgData name="TEY KOK SOON" userId="b38fed35-100c-4369-8b34-69adb96b726a" providerId="ADAL" clId="{D1301807-A877-44D2-B6AC-4FA14199CDC8}" dt="2020-06-01T02:46:52.931" v="0"/>
        <pc:sldMkLst>
          <pc:docMk/>
          <pc:sldMk cId="3531463598" sldId="358"/>
        </pc:sldMkLst>
      </pc:sldChg>
      <pc:sldChg chg="modTransition">
        <pc:chgData name="TEY KOK SOON" userId="b38fed35-100c-4369-8b34-69adb96b726a" providerId="ADAL" clId="{D1301807-A877-44D2-B6AC-4FA14199CDC8}" dt="2020-06-01T02:46:52.931" v="0"/>
        <pc:sldMkLst>
          <pc:docMk/>
          <pc:sldMk cId="2395788809" sldId="359"/>
        </pc:sldMkLst>
      </pc:sldChg>
      <pc:sldChg chg="modTransition">
        <pc:chgData name="TEY KOK SOON" userId="b38fed35-100c-4369-8b34-69adb96b726a" providerId="ADAL" clId="{D1301807-A877-44D2-B6AC-4FA14199CDC8}" dt="2020-06-01T02:46:52.931" v="0"/>
        <pc:sldMkLst>
          <pc:docMk/>
          <pc:sldMk cId="461458012" sldId="360"/>
        </pc:sldMkLst>
      </pc:sldChg>
      <pc:sldChg chg="modTransition">
        <pc:chgData name="TEY KOK SOON" userId="b38fed35-100c-4369-8b34-69adb96b726a" providerId="ADAL" clId="{D1301807-A877-44D2-B6AC-4FA14199CDC8}" dt="2020-06-01T02:46:52.931" v="0"/>
        <pc:sldMkLst>
          <pc:docMk/>
          <pc:sldMk cId="670276409" sldId="361"/>
        </pc:sldMkLst>
      </pc:sldChg>
      <pc:sldChg chg="modTransition">
        <pc:chgData name="TEY KOK SOON" userId="b38fed35-100c-4369-8b34-69adb96b726a" providerId="ADAL" clId="{D1301807-A877-44D2-B6AC-4FA14199CDC8}" dt="2020-06-01T02:46:52.931" v="0"/>
        <pc:sldMkLst>
          <pc:docMk/>
          <pc:sldMk cId="1318736642" sldId="362"/>
        </pc:sldMkLst>
      </pc:sldChg>
      <pc:sldChg chg="delSp modTransition modAnim">
        <pc:chgData name="TEY KOK SOON" userId="b38fed35-100c-4369-8b34-69adb96b726a" providerId="ADAL" clId="{D1301807-A877-44D2-B6AC-4FA14199CDC8}" dt="2020-06-01T02:46:52.931" v="0"/>
        <pc:sldMkLst>
          <pc:docMk/>
          <pc:sldMk cId="1776321126" sldId="364"/>
        </pc:sldMkLst>
        <pc:picChg chg="del">
          <ac:chgData name="TEY KOK SOON" userId="b38fed35-100c-4369-8b34-69adb96b726a" providerId="ADAL" clId="{D1301807-A877-44D2-B6AC-4FA14199CDC8}" dt="2020-06-01T02:46:52.931" v="0"/>
          <ac:picMkLst>
            <pc:docMk/>
            <pc:sldMk cId="1776321126" sldId="364"/>
            <ac:picMk id="5" creationId="{18DBB0E0-D613-46B0-91EE-30F3C995E0E2}"/>
          </ac:picMkLst>
        </pc:picChg>
        <pc:inkChg chg="del">
          <ac:chgData name="TEY KOK SOON" userId="b38fed35-100c-4369-8b34-69adb96b726a" providerId="ADAL" clId="{D1301807-A877-44D2-B6AC-4FA14199CDC8}" dt="2020-06-01T02:46:52.931" v="0"/>
          <ac:inkMkLst>
            <pc:docMk/>
            <pc:sldMk cId="1776321126" sldId="364"/>
            <ac:inkMk id="4" creationId="{4CAC0DF1-F666-4C1C-9F5C-A3F8E55F9536}"/>
          </ac:inkMkLst>
        </pc:inkChg>
      </pc:sldChg>
      <pc:sldChg chg="delSp modTransition modAnim">
        <pc:chgData name="TEY KOK SOON" userId="b38fed35-100c-4369-8b34-69adb96b726a" providerId="ADAL" clId="{D1301807-A877-44D2-B6AC-4FA14199CDC8}" dt="2020-06-01T02:46:52.931" v="0"/>
        <pc:sldMkLst>
          <pc:docMk/>
          <pc:sldMk cId="2160332957" sldId="365"/>
        </pc:sldMkLst>
        <pc:picChg chg="del">
          <ac:chgData name="TEY KOK SOON" userId="b38fed35-100c-4369-8b34-69adb96b726a" providerId="ADAL" clId="{D1301807-A877-44D2-B6AC-4FA14199CDC8}" dt="2020-06-01T02:46:52.931" v="0"/>
          <ac:picMkLst>
            <pc:docMk/>
            <pc:sldMk cId="2160332957" sldId="365"/>
            <ac:picMk id="5" creationId="{C1AD8A6C-1090-43AE-A87C-BB0B46A7F79E}"/>
          </ac:picMkLst>
        </pc:picChg>
        <pc:inkChg chg="del">
          <ac:chgData name="TEY KOK SOON" userId="b38fed35-100c-4369-8b34-69adb96b726a" providerId="ADAL" clId="{D1301807-A877-44D2-B6AC-4FA14199CDC8}" dt="2020-06-01T02:46:52.931" v="0"/>
          <ac:inkMkLst>
            <pc:docMk/>
            <pc:sldMk cId="2160332957" sldId="365"/>
            <ac:inkMk id="4" creationId="{312696EA-C520-409F-9CA4-2DF13C589F98}"/>
          </ac:inkMkLst>
        </pc:inkChg>
      </pc:sldChg>
      <pc:sldChg chg="delSp modTransition modAnim">
        <pc:chgData name="TEY KOK SOON" userId="b38fed35-100c-4369-8b34-69adb96b726a" providerId="ADAL" clId="{D1301807-A877-44D2-B6AC-4FA14199CDC8}" dt="2020-06-01T02:46:52.931" v="0"/>
        <pc:sldMkLst>
          <pc:docMk/>
          <pc:sldMk cId="0" sldId="366"/>
        </pc:sldMkLst>
        <pc:picChg chg="del">
          <ac:chgData name="TEY KOK SOON" userId="b38fed35-100c-4369-8b34-69adb96b726a" providerId="ADAL" clId="{D1301807-A877-44D2-B6AC-4FA14199CDC8}" dt="2020-06-01T02:46:52.931" v="0"/>
          <ac:picMkLst>
            <pc:docMk/>
            <pc:sldMk cId="0" sldId="366"/>
            <ac:picMk id="4" creationId="{B689659F-C8CD-4AC3-9F12-45BBE070060A}"/>
          </ac:picMkLst>
        </pc:picChg>
        <pc:inkChg chg="del">
          <ac:chgData name="TEY KOK SOON" userId="b38fed35-100c-4369-8b34-69adb96b726a" providerId="ADAL" clId="{D1301807-A877-44D2-B6AC-4FA14199CDC8}" dt="2020-06-01T02:46:52.931" v="0"/>
          <ac:inkMkLst>
            <pc:docMk/>
            <pc:sldMk cId="0" sldId="366"/>
            <ac:inkMk id="3" creationId="{6467E8B2-4CDD-4F9D-8188-03D833A03C67}"/>
          </ac:inkMkLst>
        </pc:ink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3_5">
  <dgm:title val=""/>
  <dgm:desc val=""/>
  <dgm:catLst>
    <dgm:cat type="accent3" pri="11500"/>
  </dgm:catLst>
  <dgm:styleLbl name="node0">
    <dgm:fillClrLst meth="cycle">
      <a:schemeClr val="accent3">
        <a:alpha val="80000"/>
      </a:schemeClr>
    </dgm:fillClrLst>
    <dgm:linClrLst meth="repeat">
      <a:schemeClr val="lt1"/>
    </dgm:linClrLst>
    <dgm:effectClrLst/>
    <dgm:txLinClrLst/>
    <dgm:txFillClrLst/>
    <dgm:txEffectClrLst/>
  </dgm:styleLbl>
  <dgm:styleLbl name="node1">
    <dgm:fillClrLst>
      <a:schemeClr val="accent3">
        <a:alpha val="90000"/>
      </a:schemeClr>
      <a:schemeClr val="accent3">
        <a:alpha val="50000"/>
      </a:schemeClr>
    </dgm:fillClrLst>
    <dgm:linClrLst meth="repeat">
      <a:schemeClr val="lt1"/>
    </dgm:linClrLst>
    <dgm:effectClrLst/>
    <dgm:txLinClrLst/>
    <dgm:txFillClrLst/>
    <dgm:txEffectClrLst/>
  </dgm:styleLbl>
  <dgm:styleLbl name="alignNode1">
    <dgm:fillClrLst>
      <a:schemeClr val="accent3">
        <a:alpha val="90000"/>
      </a:schemeClr>
      <a:schemeClr val="accent3">
        <a:alpha val="50000"/>
      </a:schemeClr>
    </dgm:fillClrLst>
    <dgm:linClrLst>
      <a:schemeClr val="accent3">
        <a:alpha val="90000"/>
      </a:schemeClr>
      <a:schemeClr val="accent3">
        <a:alpha val="50000"/>
      </a:schemeClr>
    </dgm:linClrLst>
    <dgm:effectClrLst/>
    <dgm:txLinClrLst/>
    <dgm:txFillClrLst/>
    <dgm:txEffectClrLst/>
  </dgm:styleLbl>
  <dgm:styleLbl name="lnNode1">
    <dgm:fillClrLst>
      <a:schemeClr val="accent3">
        <a:shade val="90000"/>
      </a:schemeClr>
      <a:schemeClr val="accent3">
        <a:alpha val="50000"/>
        <a:tint val="5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alpha val="80000"/>
      </a:schemeClr>
    </dgm:fillClrLst>
    <dgm:linClrLst meth="repeat">
      <a:schemeClr val="lt1"/>
    </dgm:linClrLst>
    <dgm:effectClrLst/>
    <dgm:txLinClrLst/>
    <dgm:txFillClrLst/>
    <dgm:txEffectClrLst/>
  </dgm:styleLbl>
  <dgm:styleLbl name="node2">
    <dgm:fillClrLst>
      <a:schemeClr val="accent3">
        <a:alpha val="70000"/>
      </a:schemeClr>
    </dgm:fillClrLst>
    <dgm:linClrLst meth="repeat">
      <a:schemeClr val="lt1"/>
    </dgm:linClrLst>
    <dgm:effectClrLst/>
    <dgm:txLinClrLst/>
    <dgm:txFillClrLst/>
    <dgm:txEffectClrLst/>
  </dgm:styleLbl>
  <dgm:styleLbl name="node3">
    <dgm:fillClrLst>
      <a:schemeClr val="accent3">
        <a:alpha val="50000"/>
      </a:schemeClr>
    </dgm:fillClrLst>
    <dgm:linClrLst meth="repeat">
      <a:schemeClr val="lt1"/>
    </dgm:linClrLst>
    <dgm:effectClrLst/>
    <dgm:txLinClrLst/>
    <dgm:txFillClrLst/>
    <dgm:txEffectClrLst/>
  </dgm:styleLbl>
  <dgm:styleLbl name="node4">
    <dgm:fillClrLst>
      <a:schemeClr val="accent3">
        <a:alpha val="30000"/>
      </a:schemeClr>
    </dgm:fillClrLst>
    <dgm:linClrLst meth="repeat">
      <a:schemeClr val="lt1"/>
    </dgm:linClrLst>
    <dgm:effectClrLst/>
    <dgm:txLinClrLst/>
    <dgm:txFillClrLst/>
    <dgm:txEffectClrLst/>
  </dgm:styleLbl>
  <dgm:styleLbl name="fgImgPlace1">
    <dgm:fillClrLst>
      <a:schemeClr val="accent3">
        <a:tint val="50000"/>
        <a:alpha val="90000"/>
      </a:schemeClr>
      <a:schemeClr val="accent3">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f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b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sibTrans1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alpha val="90000"/>
      </a:schemeClr>
    </dgm:fillClrLst>
    <dgm:linClrLst meth="repeat">
      <a:schemeClr val="lt1"/>
    </dgm:linClrLst>
    <dgm:effectClrLst/>
    <dgm:txLinClrLst/>
    <dgm:txFillClrLst/>
    <dgm:txEffectClrLst/>
  </dgm:styleLbl>
  <dgm:styleLbl name="asst1">
    <dgm:fillClrLst meth="repeat">
      <a:schemeClr val="accent3">
        <a:alpha val="90000"/>
      </a:schemeClr>
    </dgm:fillClrLst>
    <dgm:linClrLst meth="repeat">
      <a:schemeClr val="lt1"/>
    </dgm:linClrLst>
    <dgm:effectClrLst/>
    <dgm:txLinClrLst/>
    <dgm:txFillClrLst/>
    <dgm:txEffectClrLst/>
  </dgm:styleLbl>
  <dgm:styleLbl name="asst2">
    <dgm:fillClrLst>
      <a:schemeClr val="accent3">
        <a:alpha val="90000"/>
      </a:schemeClr>
    </dgm:fillClrLst>
    <dgm:linClrLst meth="repeat">
      <a:schemeClr val="lt1"/>
    </dgm:linClrLst>
    <dgm:effectClrLst/>
    <dgm:txLinClrLst/>
    <dgm:txFillClrLst/>
    <dgm:txEffectClrLst/>
  </dgm:styleLbl>
  <dgm:styleLbl name="asst3">
    <dgm:fillClrLst>
      <a:schemeClr val="accent3">
        <a:alpha val="70000"/>
      </a:schemeClr>
    </dgm:fillClrLst>
    <dgm:linClrLst meth="repeat">
      <a:schemeClr val="lt1"/>
    </dgm:linClrLst>
    <dgm:effectClrLst/>
    <dgm:txLinClrLst/>
    <dgm:txFillClrLst/>
    <dgm:txEffectClrLst/>
  </dgm:styleLbl>
  <dgm:styleLbl name="asst4">
    <dgm:fillClrLst>
      <a:schemeClr val="accent3">
        <a:alpha val="50000"/>
      </a:schemeClr>
    </dgm:fillClrLst>
    <dgm:linClrLst meth="repeat">
      <a:schemeClr val="lt1"/>
    </dgm:linClrLst>
    <dgm:effectClrLst/>
    <dgm:txLinClrLst/>
    <dgm:txFillClrLst/>
    <dgm:txEffectClrLst/>
  </dgm:styleLbl>
  <dgm:styleLbl name="parChTrans2D1">
    <dgm:fillClrLst meth="repeat">
      <a:schemeClr val="accent3">
        <a:shade val="8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a:schemeClr val="accent3">
        <a:alpha val="90000"/>
        <a:tint val="40000"/>
      </a:schemeClr>
      <a:schemeClr val="accent3">
        <a:alpha val="5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64B1576-EC76-7148-8E67-C617A4C5612A}" type="doc">
      <dgm:prSet loTypeId="urn:microsoft.com/office/officeart/2005/8/layout/cycle4#3" loCatId="relationship" qsTypeId="urn:microsoft.com/office/officeart/2005/8/quickstyle/simple4" qsCatId="simple" csTypeId="urn:microsoft.com/office/officeart/2005/8/colors/accent1_2" csCatId="accent1" phldr="1"/>
      <dgm:spPr/>
      <dgm:t>
        <a:bodyPr/>
        <a:lstStyle/>
        <a:p>
          <a:endParaRPr lang="en-US"/>
        </a:p>
      </dgm:t>
    </dgm:pt>
    <dgm:pt modelId="{5B7CBE8B-031E-6E4A-A6D8-BAE279011D9A}">
      <dgm:prSet/>
      <dgm:spPr>
        <a:xfrm>
          <a:off x="1989124" y="312724"/>
          <a:ext cx="2375611" cy="2375611"/>
        </a:xfrm>
        <a:prstGeom prst="pieWedge">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Data processing</a:t>
          </a:r>
        </a:p>
      </dgm:t>
    </dgm:pt>
    <dgm:pt modelId="{F90608E3-C56D-D44F-9FED-A4B7D42D7016}" type="parTrans" cxnId="{8E8449E0-E943-3244-9DA5-586BEFAD2DDF}">
      <dgm:prSet/>
      <dgm:spPr/>
      <dgm:t>
        <a:bodyPr/>
        <a:lstStyle/>
        <a:p>
          <a:endParaRPr lang="en-US"/>
        </a:p>
      </dgm:t>
    </dgm:pt>
    <dgm:pt modelId="{0791B277-F27E-6A46-91BA-9CFF4A7A8948}" type="sibTrans" cxnId="{8E8449E0-E943-3244-9DA5-586BEFAD2DDF}">
      <dgm:prSet/>
      <dgm:spPr/>
      <dgm:t>
        <a:bodyPr/>
        <a:lstStyle/>
        <a:p>
          <a:endParaRPr lang="en-US"/>
        </a:p>
      </dgm:t>
    </dgm:pt>
    <dgm:pt modelId="{36AE9740-0372-0E42-8B0F-CFF54F99B649}">
      <dgm:prSet custT="1"/>
      <dgm:spPr>
        <a:xfrm>
          <a:off x="232399" y="8"/>
          <a:ext cx="3350368" cy="1749555"/>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sz="1000" dirty="0">
              <a:solidFill>
                <a:sysClr val="windowText" lastClr="000000">
                  <a:hueOff val="0"/>
                  <a:satOff val="0"/>
                  <a:lumOff val="0"/>
                  <a:alphaOff val="0"/>
                </a:sysClr>
              </a:solidFill>
              <a:latin typeface="Rockwell"/>
              <a:ea typeface="+mn-ea"/>
              <a:cs typeface="+mn-cs"/>
            </a:rPr>
            <a:t>Arithmetic instructions provide computational capabilities for processing numeric data</a:t>
          </a:r>
        </a:p>
      </dgm:t>
    </dgm:pt>
    <dgm:pt modelId="{67AEF1E2-B31E-1942-9127-7FE00EFE224D}" type="parTrans" cxnId="{FDFC9851-1380-E54D-95FF-BDDB86320532}">
      <dgm:prSet/>
      <dgm:spPr/>
      <dgm:t>
        <a:bodyPr/>
        <a:lstStyle/>
        <a:p>
          <a:endParaRPr lang="en-US"/>
        </a:p>
      </dgm:t>
    </dgm:pt>
    <dgm:pt modelId="{37208CC7-45B4-734F-8124-5A4F7684C9AE}" type="sibTrans" cxnId="{FDFC9851-1380-E54D-95FF-BDDB86320532}">
      <dgm:prSet/>
      <dgm:spPr/>
      <dgm:t>
        <a:bodyPr/>
        <a:lstStyle/>
        <a:p>
          <a:endParaRPr lang="en-US"/>
        </a:p>
      </dgm:t>
    </dgm:pt>
    <dgm:pt modelId="{A4477C0B-F329-1B48-B177-C96746E5C22A}">
      <dgm:prSet custT="1"/>
      <dgm:spPr>
        <a:xfrm>
          <a:off x="232399" y="8"/>
          <a:ext cx="3350368" cy="1749555"/>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sz="1000" dirty="0">
              <a:solidFill>
                <a:sysClr val="windowText" lastClr="000000">
                  <a:hueOff val="0"/>
                  <a:satOff val="0"/>
                  <a:lumOff val="0"/>
                  <a:alphaOff val="0"/>
                </a:sysClr>
              </a:solidFill>
              <a:latin typeface="Rockwell"/>
              <a:ea typeface="+mn-ea"/>
              <a:cs typeface="+mn-cs"/>
            </a:rPr>
            <a:t>Logic (Boolean) instructions operate on the bits of a word as bits rather than as numbers, thus they provide capabilities for processing any other type of data the user may wish to employ</a:t>
          </a:r>
        </a:p>
      </dgm:t>
    </dgm:pt>
    <dgm:pt modelId="{1E209E03-8253-984B-AE52-BE8538ED8178}" type="parTrans" cxnId="{983CD786-D9CB-CF42-A8F6-6D1741A17621}">
      <dgm:prSet/>
      <dgm:spPr/>
      <dgm:t>
        <a:bodyPr/>
        <a:lstStyle/>
        <a:p>
          <a:endParaRPr lang="en-US"/>
        </a:p>
      </dgm:t>
    </dgm:pt>
    <dgm:pt modelId="{968EFCF3-BEE2-2649-997F-68665AF3B38A}" type="sibTrans" cxnId="{983CD786-D9CB-CF42-A8F6-6D1741A17621}">
      <dgm:prSet/>
      <dgm:spPr/>
      <dgm:t>
        <a:bodyPr/>
        <a:lstStyle/>
        <a:p>
          <a:endParaRPr lang="en-US"/>
        </a:p>
      </dgm:t>
    </dgm:pt>
    <dgm:pt modelId="{AE9EDF8B-031D-7740-9496-75682D788ADA}">
      <dgm:prSet/>
      <dgm:spPr>
        <a:xfrm rot="5400000">
          <a:off x="4474464" y="312724"/>
          <a:ext cx="2375611" cy="2375611"/>
        </a:xfrm>
        <a:prstGeom prst="pieWedge">
          <a:avLst/>
        </a:prstGeom>
        <a:solidFill>
          <a:srgbClr val="999966"/>
        </a:soli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Data storage</a:t>
          </a:r>
        </a:p>
      </dgm:t>
    </dgm:pt>
    <dgm:pt modelId="{2F092B45-6ADB-4446-A7FF-4B6F136AF5C3}" type="parTrans" cxnId="{1F02613C-5B87-A94E-9140-04DA3448D363}">
      <dgm:prSet/>
      <dgm:spPr/>
      <dgm:t>
        <a:bodyPr/>
        <a:lstStyle/>
        <a:p>
          <a:endParaRPr lang="en-US"/>
        </a:p>
      </dgm:t>
    </dgm:pt>
    <dgm:pt modelId="{BD930FAB-82D7-F44D-9733-F2543B4B9FF0}" type="sibTrans" cxnId="{1F02613C-5B87-A94E-9140-04DA3448D363}">
      <dgm:prSet/>
      <dgm:spPr/>
      <dgm:t>
        <a:bodyPr/>
        <a:lstStyle/>
        <a:p>
          <a:endParaRPr lang="en-US"/>
        </a:p>
      </dgm:t>
    </dgm:pt>
    <dgm:pt modelId="{2BBD1421-AEA3-E34C-8292-A335324D512C}">
      <dgm:prSet/>
      <dgm:spPr>
        <a:xfrm>
          <a:off x="5515507" y="0"/>
          <a:ext cx="2710281" cy="1755648"/>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Movement of data into or out of register and or memory locations</a:t>
          </a:r>
        </a:p>
      </dgm:t>
    </dgm:pt>
    <dgm:pt modelId="{3DEFB431-A54A-7145-990E-EC4A48C1A3C0}" type="parTrans" cxnId="{0412D97A-D2FE-F54B-95EE-A356B47B7DB9}">
      <dgm:prSet/>
      <dgm:spPr/>
      <dgm:t>
        <a:bodyPr/>
        <a:lstStyle/>
        <a:p>
          <a:endParaRPr lang="en-US"/>
        </a:p>
      </dgm:t>
    </dgm:pt>
    <dgm:pt modelId="{4F162E8C-7511-1548-B473-479D3797BC7F}" type="sibTrans" cxnId="{0412D97A-D2FE-F54B-95EE-A356B47B7DB9}">
      <dgm:prSet/>
      <dgm:spPr/>
      <dgm:t>
        <a:bodyPr/>
        <a:lstStyle/>
        <a:p>
          <a:endParaRPr lang="en-US"/>
        </a:p>
      </dgm:t>
    </dgm:pt>
    <dgm:pt modelId="{B251DF42-B0EB-7A49-8C44-BDB17AF4475C}">
      <dgm:prSet/>
      <dgm:spPr>
        <a:xfrm rot="10800000">
          <a:off x="4474464" y="2798064"/>
          <a:ext cx="2375611" cy="2375611"/>
        </a:xfrm>
        <a:prstGeom prst="pieWedge">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Data movement</a:t>
          </a:r>
        </a:p>
      </dgm:t>
    </dgm:pt>
    <dgm:pt modelId="{AC9F7E3A-4A9C-2B40-82F0-57E10223D6D5}" type="parTrans" cxnId="{810352ED-E3DD-0548-89D5-A5CAF37D99A9}">
      <dgm:prSet/>
      <dgm:spPr/>
      <dgm:t>
        <a:bodyPr/>
        <a:lstStyle/>
        <a:p>
          <a:endParaRPr lang="en-US"/>
        </a:p>
      </dgm:t>
    </dgm:pt>
    <dgm:pt modelId="{51004CD5-1BB8-0447-8B24-F5D34F2E0B87}" type="sibTrans" cxnId="{810352ED-E3DD-0548-89D5-A5CAF37D99A9}">
      <dgm:prSet/>
      <dgm:spPr/>
      <dgm:t>
        <a:bodyPr/>
        <a:lstStyle/>
        <a:p>
          <a:endParaRPr lang="en-US"/>
        </a:p>
      </dgm:t>
    </dgm:pt>
    <dgm:pt modelId="{1AE39B25-E452-4946-B133-B3258ED3C595}">
      <dgm:prSet/>
      <dgm:spPr>
        <a:xfrm>
          <a:off x="5562612" y="3730752"/>
          <a:ext cx="2710281" cy="1755648"/>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I/O instructions are needed to transfer programs and data into memory and the results of computations back out to the user</a:t>
          </a:r>
        </a:p>
      </dgm:t>
    </dgm:pt>
    <dgm:pt modelId="{5FBA671F-6111-9B41-B63F-0BEE04E2C2A9}" type="parTrans" cxnId="{950E87F8-4D7F-FE49-B46D-F6B2B2FF623E}">
      <dgm:prSet/>
      <dgm:spPr/>
      <dgm:t>
        <a:bodyPr/>
        <a:lstStyle/>
        <a:p>
          <a:endParaRPr lang="en-US"/>
        </a:p>
      </dgm:t>
    </dgm:pt>
    <dgm:pt modelId="{CE0AA7E2-62FA-D544-8DD2-AAFAFBAB93F4}" type="sibTrans" cxnId="{950E87F8-4D7F-FE49-B46D-F6B2B2FF623E}">
      <dgm:prSet/>
      <dgm:spPr/>
      <dgm:t>
        <a:bodyPr/>
        <a:lstStyle/>
        <a:p>
          <a:endParaRPr lang="en-US"/>
        </a:p>
      </dgm:t>
    </dgm:pt>
    <dgm:pt modelId="{3FBA8F48-CCC3-124D-B715-4C360C50EE41}">
      <dgm:prSet/>
      <dgm:spPr>
        <a:xfrm rot="16200000">
          <a:off x="1989124" y="2798064"/>
          <a:ext cx="2375611" cy="2375611"/>
        </a:xfrm>
        <a:prstGeom prst="pieWedge">
          <a:avLst/>
        </a:prstGeom>
        <a:solidFill>
          <a:srgbClr val="999966"/>
        </a:soli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Control</a:t>
          </a:r>
        </a:p>
      </dgm:t>
    </dgm:pt>
    <dgm:pt modelId="{17A66A4C-1942-114A-867B-D666B7BF6115}" type="parTrans" cxnId="{8830C5D0-8859-0349-9EFE-18FBB4F69A58}">
      <dgm:prSet/>
      <dgm:spPr/>
      <dgm:t>
        <a:bodyPr/>
        <a:lstStyle/>
        <a:p>
          <a:endParaRPr lang="en-US"/>
        </a:p>
      </dgm:t>
    </dgm:pt>
    <dgm:pt modelId="{1235357D-B41D-1F45-87E1-0CBD5730F045}" type="sibTrans" cxnId="{8830C5D0-8859-0349-9EFE-18FBB4F69A58}">
      <dgm:prSet/>
      <dgm:spPr/>
      <dgm:t>
        <a:bodyPr/>
        <a:lstStyle/>
        <a:p>
          <a:endParaRPr lang="en-US"/>
        </a:p>
      </dgm:t>
    </dgm:pt>
    <dgm:pt modelId="{1C606FAD-E531-2A40-B173-5106AD6C3FA2}">
      <dgm:prSet/>
      <dgm:spPr>
        <a:xfrm>
          <a:off x="228604" y="3733798"/>
          <a:ext cx="3670398" cy="1749555"/>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Test instructions are used to test the value of a data word or the status of a computation</a:t>
          </a:r>
        </a:p>
      </dgm:t>
    </dgm:pt>
    <dgm:pt modelId="{28539DA5-DF62-0744-9F61-A0491270913A}" type="parTrans" cxnId="{F63C1305-CB71-AF49-9903-0F9F3527E3DD}">
      <dgm:prSet/>
      <dgm:spPr/>
      <dgm:t>
        <a:bodyPr/>
        <a:lstStyle/>
        <a:p>
          <a:endParaRPr lang="en-US"/>
        </a:p>
      </dgm:t>
    </dgm:pt>
    <dgm:pt modelId="{9612D6A2-38ED-D34A-BCE3-BB232E162F00}" type="sibTrans" cxnId="{F63C1305-CB71-AF49-9903-0F9F3527E3DD}">
      <dgm:prSet/>
      <dgm:spPr/>
      <dgm:t>
        <a:bodyPr/>
        <a:lstStyle/>
        <a:p>
          <a:endParaRPr lang="en-US"/>
        </a:p>
      </dgm:t>
    </dgm:pt>
    <dgm:pt modelId="{B22073FC-6737-1444-940C-46119CB67413}">
      <dgm:prSet/>
      <dgm:spPr>
        <a:xfrm>
          <a:off x="228604" y="3733798"/>
          <a:ext cx="3670398" cy="1749555"/>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Branch instructions are used to branch to a different set of instructions depending on the decision made</a:t>
          </a:r>
        </a:p>
      </dgm:t>
    </dgm:pt>
    <dgm:pt modelId="{02239424-C1F1-874B-A029-B22C5FE1A22A}" type="parTrans" cxnId="{996D9636-DAA1-3D4C-8B5A-7F66DB32EF29}">
      <dgm:prSet/>
      <dgm:spPr/>
      <dgm:t>
        <a:bodyPr/>
        <a:lstStyle/>
        <a:p>
          <a:endParaRPr lang="en-US"/>
        </a:p>
      </dgm:t>
    </dgm:pt>
    <dgm:pt modelId="{80C3BCDE-B719-3E46-95BE-6B3B1DC5E0D1}" type="sibTrans" cxnId="{996D9636-DAA1-3D4C-8B5A-7F66DB32EF29}">
      <dgm:prSet/>
      <dgm:spPr/>
      <dgm:t>
        <a:bodyPr/>
        <a:lstStyle/>
        <a:p>
          <a:endParaRPr lang="en-US"/>
        </a:p>
      </dgm:t>
    </dgm:pt>
    <dgm:pt modelId="{54B66CE4-B957-6B43-BDD6-872EB4784E64}" type="pres">
      <dgm:prSet presAssocID="{864B1576-EC76-7148-8E67-C617A4C5612A}" presName="cycleMatrixDiagram" presStyleCnt="0">
        <dgm:presLayoutVars>
          <dgm:chMax val="1"/>
          <dgm:dir/>
          <dgm:animLvl val="lvl"/>
          <dgm:resizeHandles val="exact"/>
        </dgm:presLayoutVars>
      </dgm:prSet>
      <dgm:spPr/>
    </dgm:pt>
    <dgm:pt modelId="{EF8E7D46-66F2-1A47-968B-C01EF393B074}" type="pres">
      <dgm:prSet presAssocID="{864B1576-EC76-7148-8E67-C617A4C5612A}" presName="children" presStyleCnt="0"/>
      <dgm:spPr/>
    </dgm:pt>
    <dgm:pt modelId="{CA66C68F-08B6-F640-8C7D-AD15E2979AC7}" type="pres">
      <dgm:prSet presAssocID="{864B1576-EC76-7148-8E67-C617A4C5612A}" presName="child1group" presStyleCnt="0"/>
      <dgm:spPr/>
    </dgm:pt>
    <dgm:pt modelId="{D393D0F9-5D0B-304A-9364-031DA1DC3538}" type="pres">
      <dgm:prSet presAssocID="{864B1576-EC76-7148-8E67-C617A4C5612A}" presName="child1" presStyleLbl="bgAcc1" presStyleIdx="0" presStyleCnt="4" custScaleX="123617" custScaleY="99653" custLinFactNeighborX="-19962" custLinFactNeighborY="-173"/>
      <dgm:spPr/>
    </dgm:pt>
    <dgm:pt modelId="{34460823-7A07-7247-B0D3-235B8A941BCF}" type="pres">
      <dgm:prSet presAssocID="{864B1576-EC76-7148-8E67-C617A4C5612A}" presName="child1Text" presStyleLbl="bgAcc1" presStyleIdx="0" presStyleCnt="4">
        <dgm:presLayoutVars>
          <dgm:bulletEnabled val="1"/>
        </dgm:presLayoutVars>
      </dgm:prSet>
      <dgm:spPr/>
    </dgm:pt>
    <dgm:pt modelId="{F6AA8960-9889-3241-AF41-DD780B9F2F7A}" type="pres">
      <dgm:prSet presAssocID="{864B1576-EC76-7148-8E67-C617A4C5612A}" presName="child2group" presStyleCnt="0"/>
      <dgm:spPr/>
    </dgm:pt>
    <dgm:pt modelId="{E013DB8C-C4D5-9245-9F44-E76F99512271}" type="pres">
      <dgm:prSet presAssocID="{864B1576-EC76-7148-8E67-C617A4C5612A}" presName="child2" presStyleLbl="bgAcc1" presStyleIdx="1" presStyleCnt="4"/>
      <dgm:spPr/>
    </dgm:pt>
    <dgm:pt modelId="{BDBBC062-316B-894D-970C-B264CE1885D5}" type="pres">
      <dgm:prSet presAssocID="{864B1576-EC76-7148-8E67-C617A4C5612A}" presName="child2Text" presStyleLbl="bgAcc1" presStyleIdx="1" presStyleCnt="4">
        <dgm:presLayoutVars>
          <dgm:bulletEnabled val="1"/>
        </dgm:presLayoutVars>
      </dgm:prSet>
      <dgm:spPr/>
    </dgm:pt>
    <dgm:pt modelId="{7E239632-7BEC-6F4C-9C6B-2F2FABB1D7F8}" type="pres">
      <dgm:prSet presAssocID="{864B1576-EC76-7148-8E67-C617A4C5612A}" presName="child3group" presStyleCnt="0"/>
      <dgm:spPr/>
    </dgm:pt>
    <dgm:pt modelId="{D49C15E2-0E91-4846-8ABC-A77940D4A179}" type="pres">
      <dgm:prSet presAssocID="{864B1576-EC76-7148-8E67-C617A4C5612A}" presName="child3" presStyleLbl="bgAcc1" presStyleIdx="2" presStyleCnt="4" custLinFactNeighborX="1738" custLinFactNeighborY="174"/>
      <dgm:spPr/>
    </dgm:pt>
    <dgm:pt modelId="{0E9EBDF2-E81E-8843-84D0-D5B9C010DCFD}" type="pres">
      <dgm:prSet presAssocID="{864B1576-EC76-7148-8E67-C617A4C5612A}" presName="child3Text" presStyleLbl="bgAcc1" presStyleIdx="2" presStyleCnt="4">
        <dgm:presLayoutVars>
          <dgm:bulletEnabled val="1"/>
        </dgm:presLayoutVars>
      </dgm:prSet>
      <dgm:spPr/>
    </dgm:pt>
    <dgm:pt modelId="{B70514BB-18F6-7F4C-9310-54C429397273}" type="pres">
      <dgm:prSet presAssocID="{864B1576-EC76-7148-8E67-C617A4C5612A}" presName="child4group" presStyleCnt="0"/>
      <dgm:spPr/>
    </dgm:pt>
    <dgm:pt modelId="{1271081F-DA7B-9646-B77E-4127E6C5A827}" type="pres">
      <dgm:prSet presAssocID="{864B1576-EC76-7148-8E67-C617A4C5612A}" presName="child4" presStyleLbl="bgAcc1" presStyleIdx="3" presStyleCnt="4" custScaleX="135425" custScaleY="99653" custLinFactNeighborX="-14198" custLinFactNeighborY="0"/>
      <dgm:spPr/>
    </dgm:pt>
    <dgm:pt modelId="{B4C6AF6A-E6F6-434A-A0EB-F3E05F767021}" type="pres">
      <dgm:prSet presAssocID="{864B1576-EC76-7148-8E67-C617A4C5612A}" presName="child4Text" presStyleLbl="bgAcc1" presStyleIdx="3" presStyleCnt="4">
        <dgm:presLayoutVars>
          <dgm:bulletEnabled val="1"/>
        </dgm:presLayoutVars>
      </dgm:prSet>
      <dgm:spPr/>
    </dgm:pt>
    <dgm:pt modelId="{CAEC5CBA-E9C4-0F4A-860D-7801A66D3A3E}" type="pres">
      <dgm:prSet presAssocID="{864B1576-EC76-7148-8E67-C617A4C5612A}" presName="childPlaceholder" presStyleCnt="0"/>
      <dgm:spPr/>
    </dgm:pt>
    <dgm:pt modelId="{338BC3C6-4E50-4E40-A3D2-BC47420586EE}" type="pres">
      <dgm:prSet presAssocID="{864B1576-EC76-7148-8E67-C617A4C5612A}" presName="circle" presStyleCnt="0"/>
      <dgm:spPr/>
    </dgm:pt>
    <dgm:pt modelId="{64E7A613-FAC5-2A4B-84D5-823A0DA3329F}" type="pres">
      <dgm:prSet presAssocID="{864B1576-EC76-7148-8E67-C617A4C5612A}" presName="quadrant1" presStyleLbl="node1" presStyleIdx="0" presStyleCnt="4">
        <dgm:presLayoutVars>
          <dgm:chMax val="1"/>
          <dgm:bulletEnabled val="1"/>
        </dgm:presLayoutVars>
      </dgm:prSet>
      <dgm:spPr/>
    </dgm:pt>
    <dgm:pt modelId="{3B212426-56CB-2742-8EFE-A3AF6B61B920}" type="pres">
      <dgm:prSet presAssocID="{864B1576-EC76-7148-8E67-C617A4C5612A}" presName="quadrant2" presStyleLbl="node1" presStyleIdx="1" presStyleCnt="4">
        <dgm:presLayoutVars>
          <dgm:chMax val="1"/>
          <dgm:bulletEnabled val="1"/>
        </dgm:presLayoutVars>
      </dgm:prSet>
      <dgm:spPr/>
    </dgm:pt>
    <dgm:pt modelId="{0F90C031-7DF5-F44F-BC7E-06E0F85CB427}" type="pres">
      <dgm:prSet presAssocID="{864B1576-EC76-7148-8E67-C617A4C5612A}" presName="quadrant3" presStyleLbl="node1" presStyleIdx="2" presStyleCnt="4">
        <dgm:presLayoutVars>
          <dgm:chMax val="1"/>
          <dgm:bulletEnabled val="1"/>
        </dgm:presLayoutVars>
      </dgm:prSet>
      <dgm:spPr/>
    </dgm:pt>
    <dgm:pt modelId="{D68EFB07-20BD-9848-85ED-45FB73135481}" type="pres">
      <dgm:prSet presAssocID="{864B1576-EC76-7148-8E67-C617A4C5612A}" presName="quadrant4" presStyleLbl="node1" presStyleIdx="3" presStyleCnt="4">
        <dgm:presLayoutVars>
          <dgm:chMax val="1"/>
          <dgm:bulletEnabled val="1"/>
        </dgm:presLayoutVars>
      </dgm:prSet>
      <dgm:spPr/>
    </dgm:pt>
    <dgm:pt modelId="{FA5E23B5-B5F8-224A-BCF3-175F4B575145}" type="pres">
      <dgm:prSet presAssocID="{864B1576-EC76-7148-8E67-C617A4C5612A}" presName="quadrantPlaceholder" presStyleCnt="0"/>
      <dgm:spPr/>
    </dgm:pt>
    <dgm:pt modelId="{A04C8535-5121-1D48-89BE-ED9EAD28EFF1}" type="pres">
      <dgm:prSet presAssocID="{864B1576-EC76-7148-8E67-C617A4C5612A}" presName="center1" presStyleLbl="fgShp" presStyleIdx="0" presStyleCnt="2"/>
      <dgm:spPr>
        <a:xfrm>
          <a:off x="4009491" y="2249424"/>
          <a:ext cx="820216" cy="713232"/>
        </a:xfrm>
        <a:prstGeom prst="circularArrow">
          <a:avLst/>
        </a:prstGeom>
        <a:solidFill>
          <a:srgbClr val="666699"/>
        </a:solidFill>
        <a:ln>
          <a:noFill/>
        </a:ln>
        <a:effectLst>
          <a:innerShdw blurRad="50800" dist="25400" dir="13500000">
            <a:srgbClr val="FFFFFF">
              <a:alpha val="75000"/>
            </a:srgbClr>
          </a:innerShdw>
          <a:outerShdw blurRad="63500" dist="25400" dir="5400000" rotWithShape="0">
            <a:srgbClr val="808080">
              <a:alpha val="75000"/>
            </a:srgbClr>
          </a:outerShdw>
        </a:effectLst>
      </dgm:spPr>
    </dgm:pt>
    <dgm:pt modelId="{FA519686-EE3E-034C-95BB-4F2415CF38CD}" type="pres">
      <dgm:prSet presAssocID="{864B1576-EC76-7148-8E67-C617A4C5612A}" presName="center2" presStyleLbl="fgShp" presStyleIdx="1" presStyleCnt="2"/>
      <dgm:spPr>
        <a:xfrm rot="10800000">
          <a:off x="4009491" y="2523744"/>
          <a:ext cx="820216" cy="713232"/>
        </a:xfrm>
        <a:prstGeom prst="circularArrow">
          <a:avLst/>
        </a:prstGeom>
        <a:solidFill>
          <a:srgbClr val="666699"/>
        </a:solidFill>
        <a:ln>
          <a:noFill/>
        </a:ln>
        <a:effectLst>
          <a:innerShdw blurRad="50800" dist="25400" dir="13500000">
            <a:srgbClr val="FFFFFF">
              <a:alpha val="75000"/>
            </a:srgbClr>
          </a:innerShdw>
          <a:outerShdw blurRad="63500" dist="25400" dir="5400000" rotWithShape="0">
            <a:srgbClr val="808080">
              <a:alpha val="75000"/>
            </a:srgbClr>
          </a:outerShdw>
        </a:effectLst>
      </dgm:spPr>
    </dgm:pt>
  </dgm:ptLst>
  <dgm:cxnLst>
    <dgm:cxn modelId="{F63C1305-CB71-AF49-9903-0F9F3527E3DD}" srcId="{3FBA8F48-CCC3-124D-B715-4C360C50EE41}" destId="{1C606FAD-E531-2A40-B173-5106AD6C3FA2}" srcOrd="0" destOrd="0" parTransId="{28539DA5-DF62-0744-9F61-A0491270913A}" sibTransId="{9612D6A2-38ED-D34A-BCE3-BB232E162F00}"/>
    <dgm:cxn modelId="{0D9A7A07-ED73-AA4C-AD45-D695865AF1B3}" type="presOf" srcId="{2BBD1421-AEA3-E34C-8292-A335324D512C}" destId="{BDBBC062-316B-894D-970C-B264CE1885D5}" srcOrd="1" destOrd="0" presId="urn:microsoft.com/office/officeart/2005/8/layout/cycle4#3"/>
    <dgm:cxn modelId="{DFD7BE0D-77F7-E548-9F99-57F72D70E972}" type="presOf" srcId="{1AE39B25-E452-4946-B133-B3258ED3C595}" destId="{D49C15E2-0E91-4846-8ABC-A77940D4A179}" srcOrd="0" destOrd="0" presId="urn:microsoft.com/office/officeart/2005/8/layout/cycle4#3"/>
    <dgm:cxn modelId="{4B640820-8DAC-0742-9BEF-8F8BF34F5791}" type="presOf" srcId="{3FBA8F48-CCC3-124D-B715-4C360C50EE41}" destId="{D68EFB07-20BD-9848-85ED-45FB73135481}" srcOrd="0" destOrd="0" presId="urn:microsoft.com/office/officeart/2005/8/layout/cycle4#3"/>
    <dgm:cxn modelId="{65FB1526-AE13-D548-846B-B63504FB0339}" type="presOf" srcId="{2BBD1421-AEA3-E34C-8292-A335324D512C}" destId="{E013DB8C-C4D5-9245-9F44-E76F99512271}" srcOrd="0" destOrd="0" presId="urn:microsoft.com/office/officeart/2005/8/layout/cycle4#3"/>
    <dgm:cxn modelId="{F9392D31-92C0-034C-A7C7-7E1385CE7968}" type="presOf" srcId="{1AE39B25-E452-4946-B133-B3258ED3C595}" destId="{0E9EBDF2-E81E-8843-84D0-D5B9C010DCFD}" srcOrd="1" destOrd="0" presId="urn:microsoft.com/office/officeart/2005/8/layout/cycle4#3"/>
    <dgm:cxn modelId="{996D9636-DAA1-3D4C-8B5A-7F66DB32EF29}" srcId="{3FBA8F48-CCC3-124D-B715-4C360C50EE41}" destId="{B22073FC-6737-1444-940C-46119CB67413}" srcOrd="1" destOrd="0" parTransId="{02239424-C1F1-874B-A029-B22C5FE1A22A}" sibTransId="{80C3BCDE-B719-3E46-95BE-6B3B1DC5E0D1}"/>
    <dgm:cxn modelId="{B977C336-FC76-6F42-ABA1-108DCABA36FB}" type="presOf" srcId="{B22073FC-6737-1444-940C-46119CB67413}" destId="{B4C6AF6A-E6F6-434A-A0EB-F3E05F767021}" srcOrd="1" destOrd="1" presId="urn:microsoft.com/office/officeart/2005/8/layout/cycle4#3"/>
    <dgm:cxn modelId="{1F02613C-5B87-A94E-9140-04DA3448D363}" srcId="{864B1576-EC76-7148-8E67-C617A4C5612A}" destId="{AE9EDF8B-031D-7740-9496-75682D788ADA}" srcOrd="1" destOrd="0" parTransId="{2F092B45-6ADB-4446-A7FF-4B6F136AF5C3}" sibTransId="{BD930FAB-82D7-F44D-9733-F2543B4B9FF0}"/>
    <dgm:cxn modelId="{02C15E61-0009-1743-BB8C-E2141F304DFE}" type="presOf" srcId="{A4477C0B-F329-1B48-B177-C96746E5C22A}" destId="{D393D0F9-5D0B-304A-9364-031DA1DC3538}" srcOrd="0" destOrd="1" presId="urn:microsoft.com/office/officeart/2005/8/layout/cycle4#3"/>
    <dgm:cxn modelId="{3B784941-5ED3-764A-8756-222F6CEE773B}" type="presOf" srcId="{5B7CBE8B-031E-6E4A-A6D8-BAE279011D9A}" destId="{64E7A613-FAC5-2A4B-84D5-823A0DA3329F}" srcOrd="0" destOrd="0" presId="urn:microsoft.com/office/officeart/2005/8/layout/cycle4#3"/>
    <dgm:cxn modelId="{5630C562-1744-D642-9831-0A68689C9A62}" type="presOf" srcId="{864B1576-EC76-7148-8E67-C617A4C5612A}" destId="{54B66CE4-B957-6B43-BDD6-872EB4784E64}" srcOrd="0" destOrd="0" presId="urn:microsoft.com/office/officeart/2005/8/layout/cycle4#3"/>
    <dgm:cxn modelId="{8804E042-7DFA-AE4F-8CA1-4F0A6A92CF04}" type="presOf" srcId="{AE9EDF8B-031D-7740-9496-75682D788ADA}" destId="{3B212426-56CB-2742-8EFE-A3AF6B61B920}" srcOrd="0" destOrd="0" presId="urn:microsoft.com/office/officeart/2005/8/layout/cycle4#3"/>
    <dgm:cxn modelId="{84B58D4C-7DDE-BE40-A4B5-B2E83A119B10}" type="presOf" srcId="{1C606FAD-E531-2A40-B173-5106AD6C3FA2}" destId="{1271081F-DA7B-9646-B77E-4127E6C5A827}" srcOrd="0" destOrd="0" presId="urn:microsoft.com/office/officeart/2005/8/layout/cycle4#3"/>
    <dgm:cxn modelId="{FDFC9851-1380-E54D-95FF-BDDB86320532}" srcId="{5B7CBE8B-031E-6E4A-A6D8-BAE279011D9A}" destId="{36AE9740-0372-0E42-8B0F-CFF54F99B649}" srcOrd="0" destOrd="0" parTransId="{67AEF1E2-B31E-1942-9127-7FE00EFE224D}" sibTransId="{37208CC7-45B4-734F-8124-5A4F7684C9AE}"/>
    <dgm:cxn modelId="{77FBC579-7AEB-8149-AD24-345994D50248}" type="presOf" srcId="{A4477C0B-F329-1B48-B177-C96746E5C22A}" destId="{34460823-7A07-7247-B0D3-235B8A941BCF}" srcOrd="1" destOrd="1" presId="urn:microsoft.com/office/officeart/2005/8/layout/cycle4#3"/>
    <dgm:cxn modelId="{0412D97A-D2FE-F54B-95EE-A356B47B7DB9}" srcId="{AE9EDF8B-031D-7740-9496-75682D788ADA}" destId="{2BBD1421-AEA3-E34C-8292-A335324D512C}" srcOrd="0" destOrd="0" parTransId="{3DEFB431-A54A-7145-990E-EC4A48C1A3C0}" sibTransId="{4F162E8C-7511-1548-B473-479D3797BC7F}"/>
    <dgm:cxn modelId="{983CD786-D9CB-CF42-A8F6-6D1741A17621}" srcId="{5B7CBE8B-031E-6E4A-A6D8-BAE279011D9A}" destId="{A4477C0B-F329-1B48-B177-C96746E5C22A}" srcOrd="1" destOrd="0" parTransId="{1E209E03-8253-984B-AE52-BE8538ED8178}" sibTransId="{968EFCF3-BEE2-2649-997F-68665AF3B38A}"/>
    <dgm:cxn modelId="{6BF513A7-C770-EE4E-B1BB-E0F1284909EC}" type="presOf" srcId="{36AE9740-0372-0E42-8B0F-CFF54F99B649}" destId="{D393D0F9-5D0B-304A-9364-031DA1DC3538}" srcOrd="0" destOrd="0" presId="urn:microsoft.com/office/officeart/2005/8/layout/cycle4#3"/>
    <dgm:cxn modelId="{C4D574D0-EF9A-D846-BB04-D27543807E91}" type="presOf" srcId="{B251DF42-B0EB-7A49-8C44-BDB17AF4475C}" destId="{0F90C031-7DF5-F44F-BC7E-06E0F85CB427}" srcOrd="0" destOrd="0" presId="urn:microsoft.com/office/officeart/2005/8/layout/cycle4#3"/>
    <dgm:cxn modelId="{8830C5D0-8859-0349-9EFE-18FBB4F69A58}" srcId="{864B1576-EC76-7148-8E67-C617A4C5612A}" destId="{3FBA8F48-CCC3-124D-B715-4C360C50EE41}" srcOrd="3" destOrd="0" parTransId="{17A66A4C-1942-114A-867B-D666B7BF6115}" sibTransId="{1235357D-B41D-1F45-87E1-0CBD5730F045}"/>
    <dgm:cxn modelId="{8E8449E0-E943-3244-9DA5-586BEFAD2DDF}" srcId="{864B1576-EC76-7148-8E67-C617A4C5612A}" destId="{5B7CBE8B-031E-6E4A-A6D8-BAE279011D9A}" srcOrd="0" destOrd="0" parTransId="{F90608E3-C56D-D44F-9FED-A4B7D42D7016}" sibTransId="{0791B277-F27E-6A46-91BA-9CFF4A7A8948}"/>
    <dgm:cxn modelId="{0BA804E4-728F-5F41-9D16-929307B6CE82}" type="presOf" srcId="{36AE9740-0372-0E42-8B0F-CFF54F99B649}" destId="{34460823-7A07-7247-B0D3-235B8A941BCF}" srcOrd="1" destOrd="0" presId="urn:microsoft.com/office/officeart/2005/8/layout/cycle4#3"/>
    <dgm:cxn modelId="{E543CCE4-2DFC-754B-B02C-268997CB796F}" type="presOf" srcId="{1C606FAD-E531-2A40-B173-5106AD6C3FA2}" destId="{B4C6AF6A-E6F6-434A-A0EB-F3E05F767021}" srcOrd="1" destOrd="0" presId="urn:microsoft.com/office/officeart/2005/8/layout/cycle4#3"/>
    <dgm:cxn modelId="{810352ED-E3DD-0548-89D5-A5CAF37D99A9}" srcId="{864B1576-EC76-7148-8E67-C617A4C5612A}" destId="{B251DF42-B0EB-7A49-8C44-BDB17AF4475C}" srcOrd="2" destOrd="0" parTransId="{AC9F7E3A-4A9C-2B40-82F0-57E10223D6D5}" sibTransId="{51004CD5-1BB8-0447-8B24-F5D34F2E0B87}"/>
    <dgm:cxn modelId="{CC00C1F2-25A3-0D4A-AD90-AFDA03A841DE}" type="presOf" srcId="{B22073FC-6737-1444-940C-46119CB67413}" destId="{1271081F-DA7B-9646-B77E-4127E6C5A827}" srcOrd="0" destOrd="1" presId="urn:microsoft.com/office/officeart/2005/8/layout/cycle4#3"/>
    <dgm:cxn modelId="{950E87F8-4D7F-FE49-B46D-F6B2B2FF623E}" srcId="{B251DF42-B0EB-7A49-8C44-BDB17AF4475C}" destId="{1AE39B25-E452-4946-B133-B3258ED3C595}" srcOrd="0" destOrd="0" parTransId="{5FBA671F-6111-9B41-B63F-0BEE04E2C2A9}" sibTransId="{CE0AA7E2-62FA-D544-8DD2-AAFAFBAB93F4}"/>
    <dgm:cxn modelId="{E6CF007E-882A-1F46-A75C-0B5EADCBABD0}" type="presParOf" srcId="{54B66CE4-B957-6B43-BDD6-872EB4784E64}" destId="{EF8E7D46-66F2-1A47-968B-C01EF393B074}" srcOrd="0" destOrd="0" presId="urn:microsoft.com/office/officeart/2005/8/layout/cycle4#3"/>
    <dgm:cxn modelId="{7E1880CE-892C-7D40-BAAE-8B63C487508B}" type="presParOf" srcId="{EF8E7D46-66F2-1A47-968B-C01EF393B074}" destId="{CA66C68F-08B6-F640-8C7D-AD15E2979AC7}" srcOrd="0" destOrd="0" presId="urn:microsoft.com/office/officeart/2005/8/layout/cycle4#3"/>
    <dgm:cxn modelId="{7BC747C4-2730-7749-BCB5-100DDD6B86F0}" type="presParOf" srcId="{CA66C68F-08B6-F640-8C7D-AD15E2979AC7}" destId="{D393D0F9-5D0B-304A-9364-031DA1DC3538}" srcOrd="0" destOrd="0" presId="urn:microsoft.com/office/officeart/2005/8/layout/cycle4#3"/>
    <dgm:cxn modelId="{D92F205A-C8E1-5E41-A515-A0870FCBD501}" type="presParOf" srcId="{CA66C68F-08B6-F640-8C7D-AD15E2979AC7}" destId="{34460823-7A07-7247-B0D3-235B8A941BCF}" srcOrd="1" destOrd="0" presId="urn:microsoft.com/office/officeart/2005/8/layout/cycle4#3"/>
    <dgm:cxn modelId="{0EC601EE-71D2-E542-8246-709120AF6B51}" type="presParOf" srcId="{EF8E7D46-66F2-1A47-968B-C01EF393B074}" destId="{F6AA8960-9889-3241-AF41-DD780B9F2F7A}" srcOrd="1" destOrd="0" presId="urn:microsoft.com/office/officeart/2005/8/layout/cycle4#3"/>
    <dgm:cxn modelId="{9E3CA567-8863-D84E-9BFC-054555CE251F}" type="presParOf" srcId="{F6AA8960-9889-3241-AF41-DD780B9F2F7A}" destId="{E013DB8C-C4D5-9245-9F44-E76F99512271}" srcOrd="0" destOrd="0" presId="urn:microsoft.com/office/officeart/2005/8/layout/cycle4#3"/>
    <dgm:cxn modelId="{EA4789F6-1428-2A49-A4C7-7C02C2EA194E}" type="presParOf" srcId="{F6AA8960-9889-3241-AF41-DD780B9F2F7A}" destId="{BDBBC062-316B-894D-970C-B264CE1885D5}" srcOrd="1" destOrd="0" presId="urn:microsoft.com/office/officeart/2005/8/layout/cycle4#3"/>
    <dgm:cxn modelId="{C9748517-43FE-F347-9724-084F390B2809}" type="presParOf" srcId="{EF8E7D46-66F2-1A47-968B-C01EF393B074}" destId="{7E239632-7BEC-6F4C-9C6B-2F2FABB1D7F8}" srcOrd="2" destOrd="0" presId="urn:microsoft.com/office/officeart/2005/8/layout/cycle4#3"/>
    <dgm:cxn modelId="{DAECE622-129C-BF4B-9232-FF849D32D038}" type="presParOf" srcId="{7E239632-7BEC-6F4C-9C6B-2F2FABB1D7F8}" destId="{D49C15E2-0E91-4846-8ABC-A77940D4A179}" srcOrd="0" destOrd="0" presId="urn:microsoft.com/office/officeart/2005/8/layout/cycle4#3"/>
    <dgm:cxn modelId="{2B2F4164-D980-8E4E-9119-E1DCF763BD46}" type="presParOf" srcId="{7E239632-7BEC-6F4C-9C6B-2F2FABB1D7F8}" destId="{0E9EBDF2-E81E-8843-84D0-D5B9C010DCFD}" srcOrd="1" destOrd="0" presId="urn:microsoft.com/office/officeart/2005/8/layout/cycle4#3"/>
    <dgm:cxn modelId="{57BFFE69-5E9C-C54B-AA25-A879D91295F7}" type="presParOf" srcId="{EF8E7D46-66F2-1A47-968B-C01EF393B074}" destId="{B70514BB-18F6-7F4C-9310-54C429397273}" srcOrd="3" destOrd="0" presId="urn:microsoft.com/office/officeart/2005/8/layout/cycle4#3"/>
    <dgm:cxn modelId="{BF86DB65-B8A5-2745-A50F-C34B4BF26932}" type="presParOf" srcId="{B70514BB-18F6-7F4C-9310-54C429397273}" destId="{1271081F-DA7B-9646-B77E-4127E6C5A827}" srcOrd="0" destOrd="0" presId="urn:microsoft.com/office/officeart/2005/8/layout/cycle4#3"/>
    <dgm:cxn modelId="{A28CC144-75D8-B943-9E89-4D29968E90DF}" type="presParOf" srcId="{B70514BB-18F6-7F4C-9310-54C429397273}" destId="{B4C6AF6A-E6F6-434A-A0EB-F3E05F767021}" srcOrd="1" destOrd="0" presId="urn:microsoft.com/office/officeart/2005/8/layout/cycle4#3"/>
    <dgm:cxn modelId="{670C7EEA-C15F-7241-9300-1F87867025F6}" type="presParOf" srcId="{EF8E7D46-66F2-1A47-968B-C01EF393B074}" destId="{CAEC5CBA-E9C4-0F4A-860D-7801A66D3A3E}" srcOrd="4" destOrd="0" presId="urn:microsoft.com/office/officeart/2005/8/layout/cycle4#3"/>
    <dgm:cxn modelId="{3CB5FFC3-5592-B645-9DE8-96CAE83B03A8}" type="presParOf" srcId="{54B66CE4-B957-6B43-BDD6-872EB4784E64}" destId="{338BC3C6-4E50-4E40-A3D2-BC47420586EE}" srcOrd="1" destOrd="0" presId="urn:microsoft.com/office/officeart/2005/8/layout/cycle4#3"/>
    <dgm:cxn modelId="{962B8941-C41F-DA4D-8013-3CA31FB7B8CD}" type="presParOf" srcId="{338BC3C6-4E50-4E40-A3D2-BC47420586EE}" destId="{64E7A613-FAC5-2A4B-84D5-823A0DA3329F}" srcOrd="0" destOrd="0" presId="urn:microsoft.com/office/officeart/2005/8/layout/cycle4#3"/>
    <dgm:cxn modelId="{DF64DE30-F969-424D-BA00-498F2A5396DC}" type="presParOf" srcId="{338BC3C6-4E50-4E40-A3D2-BC47420586EE}" destId="{3B212426-56CB-2742-8EFE-A3AF6B61B920}" srcOrd="1" destOrd="0" presId="urn:microsoft.com/office/officeart/2005/8/layout/cycle4#3"/>
    <dgm:cxn modelId="{E309CC4C-E8EB-D74C-BE39-A24E7425B1C2}" type="presParOf" srcId="{338BC3C6-4E50-4E40-A3D2-BC47420586EE}" destId="{0F90C031-7DF5-F44F-BC7E-06E0F85CB427}" srcOrd="2" destOrd="0" presId="urn:microsoft.com/office/officeart/2005/8/layout/cycle4#3"/>
    <dgm:cxn modelId="{C2BDCCDA-0110-3940-B8B4-876E5B9AD283}" type="presParOf" srcId="{338BC3C6-4E50-4E40-A3D2-BC47420586EE}" destId="{D68EFB07-20BD-9848-85ED-45FB73135481}" srcOrd="3" destOrd="0" presId="urn:microsoft.com/office/officeart/2005/8/layout/cycle4#3"/>
    <dgm:cxn modelId="{79D4C5E7-12E6-AC49-A6DD-B22A05E7555C}" type="presParOf" srcId="{338BC3C6-4E50-4E40-A3D2-BC47420586EE}" destId="{FA5E23B5-B5F8-224A-BCF3-175F4B575145}" srcOrd="4" destOrd="0" presId="urn:microsoft.com/office/officeart/2005/8/layout/cycle4#3"/>
    <dgm:cxn modelId="{A6C3FCC0-5673-BF4D-A97D-D00C9C7E14C6}" type="presParOf" srcId="{54B66CE4-B957-6B43-BDD6-872EB4784E64}" destId="{A04C8535-5121-1D48-89BE-ED9EAD28EFF1}" srcOrd="2" destOrd="0" presId="urn:microsoft.com/office/officeart/2005/8/layout/cycle4#3"/>
    <dgm:cxn modelId="{9B4ABF64-D9C1-C945-B310-B538D9B71C28}" type="presParOf" srcId="{54B66CE4-B957-6B43-BDD6-872EB4784E64}" destId="{FA519686-EE3E-034C-95BB-4F2415CF38CD}" srcOrd="3" destOrd="0" presId="urn:microsoft.com/office/officeart/2005/8/layout/cycle4#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E9AF291-A8F7-754D-9BCC-21843D1485E8}" type="doc">
      <dgm:prSet loTypeId="urn:microsoft.com/office/officeart/2005/8/layout/process4" loCatId="process" qsTypeId="urn:microsoft.com/office/officeart/2005/8/quickstyle/simple4" qsCatId="simple" csTypeId="urn:microsoft.com/office/officeart/2005/8/colors/accent1_2" csCatId="accent1" phldr="1"/>
      <dgm:spPr/>
      <dgm:t>
        <a:bodyPr/>
        <a:lstStyle/>
        <a:p>
          <a:endParaRPr lang="en-US"/>
        </a:p>
      </dgm:t>
    </dgm:pt>
    <dgm:pt modelId="{6889743B-15A5-4B42-96C5-11425D930E4F}">
      <dgm:prSet/>
      <dgm:spPr>
        <a:xfrm rot="10800000">
          <a:off x="304806" y="663"/>
          <a:ext cx="7924787" cy="1195350"/>
        </a:xfrm>
        <a:prstGeom prst="upArrowCallout">
          <a:avLst/>
        </a:prstGeom>
        <a:solidFill>
          <a:srgbClr val="999966"/>
        </a:soli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rgbClr val="663366">
                  <a:lumMod val="50000"/>
                </a:srgbClr>
              </a:solidFill>
              <a:effectLst/>
              <a:latin typeface="Rockwell"/>
              <a:ea typeface="+mn-ea"/>
              <a:cs typeface="+mn-cs"/>
            </a:rPr>
            <a:t>Very complex because it affects so many aspects of the computer system</a:t>
          </a:r>
        </a:p>
      </dgm:t>
    </dgm:pt>
    <dgm:pt modelId="{67CA192B-3275-C54B-B58C-DA050B16402A}" type="parTrans" cxnId="{22BFA529-E339-0641-95A3-3C48530A63FA}">
      <dgm:prSet/>
      <dgm:spPr/>
      <dgm:t>
        <a:bodyPr/>
        <a:lstStyle/>
        <a:p>
          <a:endParaRPr lang="en-US"/>
        </a:p>
      </dgm:t>
    </dgm:pt>
    <dgm:pt modelId="{CF529774-18D4-5A49-A355-4389DD9EDF78}" type="sibTrans" cxnId="{22BFA529-E339-0641-95A3-3C48530A63FA}">
      <dgm:prSet/>
      <dgm:spPr/>
      <dgm:t>
        <a:bodyPr/>
        <a:lstStyle/>
        <a:p>
          <a:endParaRPr lang="en-US"/>
        </a:p>
      </dgm:t>
    </dgm:pt>
    <dgm:pt modelId="{85FA6A79-0A59-5E45-B15E-9A4DF30BB091}">
      <dgm:prSet/>
      <dgm:spPr>
        <a:xfrm rot="10800000">
          <a:off x="381018" y="1165233"/>
          <a:ext cx="7772363" cy="1131282"/>
        </a:xfrm>
        <a:prstGeom prst="upArrowCallout">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Defines many of the functions performed by the processor</a:t>
          </a:r>
        </a:p>
      </dgm:t>
    </dgm:pt>
    <dgm:pt modelId="{85E6E25A-3AE3-3F46-8E90-F2494FC5AECD}" type="parTrans" cxnId="{9656FF87-A36E-4841-A19A-86F651EBBADF}">
      <dgm:prSet/>
      <dgm:spPr/>
      <dgm:t>
        <a:bodyPr/>
        <a:lstStyle/>
        <a:p>
          <a:endParaRPr lang="en-US"/>
        </a:p>
      </dgm:t>
    </dgm:pt>
    <dgm:pt modelId="{4FD0B408-98C8-DE45-A952-A44EDA44E8FC}" type="sibTrans" cxnId="{9656FF87-A36E-4841-A19A-86F651EBBADF}">
      <dgm:prSet/>
      <dgm:spPr/>
      <dgm:t>
        <a:bodyPr/>
        <a:lstStyle/>
        <a:p>
          <a:endParaRPr lang="en-US"/>
        </a:p>
      </dgm:t>
    </dgm:pt>
    <dgm:pt modelId="{0D809260-4B42-5043-99E3-CF6D7B616585}">
      <dgm:prSet/>
      <dgm:spPr>
        <a:xfrm rot="10800000">
          <a:off x="304806" y="2265735"/>
          <a:ext cx="7924787" cy="1220409"/>
        </a:xfrm>
        <a:prstGeom prst="upArrowCallout">
          <a:avLst/>
        </a:prstGeom>
        <a:solidFill>
          <a:srgbClr val="999966"/>
        </a:soli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rgbClr val="663366">
                  <a:lumMod val="50000"/>
                </a:srgbClr>
              </a:solidFill>
              <a:effectLst/>
              <a:latin typeface="Rockwell"/>
              <a:ea typeface="+mn-ea"/>
              <a:cs typeface="+mn-cs"/>
            </a:rPr>
            <a:t>Programmer’s means of controlling the processor</a:t>
          </a:r>
        </a:p>
      </dgm:t>
    </dgm:pt>
    <dgm:pt modelId="{6DAB96D9-CB97-A54D-9E38-73264325FA95}" type="parTrans" cxnId="{EECC1C35-EB9D-134D-B119-AC5BA49998B9}">
      <dgm:prSet/>
      <dgm:spPr/>
      <dgm:t>
        <a:bodyPr/>
        <a:lstStyle/>
        <a:p>
          <a:endParaRPr lang="en-US"/>
        </a:p>
      </dgm:t>
    </dgm:pt>
    <dgm:pt modelId="{4CFBC049-35FB-B34E-9B0C-92B91BF2D448}" type="sibTrans" cxnId="{EECC1C35-EB9D-134D-B119-AC5BA49998B9}">
      <dgm:prSet/>
      <dgm:spPr/>
      <dgm:t>
        <a:bodyPr/>
        <a:lstStyle/>
        <a:p>
          <a:endParaRPr lang="en-US"/>
        </a:p>
      </dgm:t>
    </dgm:pt>
    <dgm:pt modelId="{D998F21C-897B-DF48-956E-861DE4522346}">
      <dgm:prSet/>
      <dgm:spPr>
        <a:xfrm>
          <a:off x="0" y="3455364"/>
          <a:ext cx="8534400" cy="2030372"/>
        </a:xfrm>
        <a:prstGeom prst="rect">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Fundamental design issues:</a:t>
          </a:r>
        </a:p>
      </dgm:t>
    </dgm:pt>
    <dgm:pt modelId="{72A2F193-6231-4244-857B-8332F42F6A3B}" type="parTrans" cxnId="{1C4350C2-543B-8548-B105-496D40F075CF}">
      <dgm:prSet/>
      <dgm:spPr/>
      <dgm:t>
        <a:bodyPr/>
        <a:lstStyle/>
        <a:p>
          <a:endParaRPr lang="en-US"/>
        </a:p>
      </dgm:t>
    </dgm:pt>
    <dgm:pt modelId="{F381CFC5-8171-744F-9472-FF7ED8AF86F2}" type="sibTrans" cxnId="{1C4350C2-543B-8548-B105-496D40F075CF}">
      <dgm:prSet/>
      <dgm:spPr/>
      <dgm:t>
        <a:bodyPr/>
        <a:lstStyle/>
        <a:p>
          <a:endParaRPr lang="en-US"/>
        </a:p>
      </dgm:t>
    </dgm:pt>
    <dgm:pt modelId="{C9369FCC-1255-0D45-AB2C-E89EC8343E66}">
      <dgm:prSet/>
      <dgm:spPr>
        <a:xfrm>
          <a:off x="1041" y="4511591"/>
          <a:ext cx="1706463" cy="943939"/>
        </a:xfrm>
        <a:prstGeom prst="rect">
          <a:avLst/>
        </a:prstGeom>
        <a:solidFill>
          <a:srgbClr val="663366">
            <a:alpha val="90000"/>
            <a:tint val="40000"/>
            <a:hueOff val="0"/>
            <a:satOff val="0"/>
            <a:lumOff val="0"/>
            <a:alphaOff val="0"/>
          </a:srgbClr>
        </a:solidFill>
        <a:ln w="12700" cap="flat" cmpd="sng" algn="ctr">
          <a:solidFill>
            <a:srgbClr val="666699"/>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Operation repertoire</a:t>
          </a:r>
        </a:p>
      </dgm:t>
    </dgm:pt>
    <dgm:pt modelId="{FEBA2014-7990-B94D-BAD1-0C73293FA03E}" type="parTrans" cxnId="{68360D74-8D76-144C-8C77-C5B9AF813FFF}">
      <dgm:prSet/>
      <dgm:spPr/>
      <dgm:t>
        <a:bodyPr/>
        <a:lstStyle/>
        <a:p>
          <a:endParaRPr lang="en-US"/>
        </a:p>
      </dgm:t>
    </dgm:pt>
    <dgm:pt modelId="{E8789AB2-278C-244A-9413-8F495D74BD39}" type="sibTrans" cxnId="{68360D74-8D76-144C-8C77-C5B9AF813FFF}">
      <dgm:prSet/>
      <dgm:spPr/>
      <dgm:t>
        <a:bodyPr/>
        <a:lstStyle/>
        <a:p>
          <a:endParaRPr lang="en-US"/>
        </a:p>
      </dgm:t>
    </dgm:pt>
    <dgm:pt modelId="{85B4CF29-6326-2542-83F0-1CACEFCB1AF3}">
      <dgm:prSet/>
      <dgm:spPr>
        <a:xfrm>
          <a:off x="1041" y="4511591"/>
          <a:ext cx="1706463" cy="943939"/>
        </a:xfrm>
        <a:prstGeom prst="rect">
          <a:avLst/>
        </a:prstGeom>
        <a:solidFill>
          <a:srgbClr val="663366">
            <a:alpha val="90000"/>
            <a:tint val="40000"/>
            <a:hueOff val="0"/>
            <a:satOff val="0"/>
            <a:lumOff val="0"/>
            <a:alphaOff val="0"/>
          </a:srgbClr>
        </a:solidFill>
        <a:ln w="12700" cap="flat" cmpd="sng" algn="ctr">
          <a:solidFill>
            <a:srgbClr val="666699"/>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How many and which operations to provide and how complex operations should be</a:t>
          </a:r>
        </a:p>
      </dgm:t>
    </dgm:pt>
    <dgm:pt modelId="{72F90D80-0BF8-8445-99FC-CC6F6214E71E}" type="parTrans" cxnId="{6B4BC049-F42D-124E-B25E-6C3A363C158D}">
      <dgm:prSet/>
      <dgm:spPr/>
      <dgm:t>
        <a:bodyPr/>
        <a:lstStyle/>
        <a:p>
          <a:endParaRPr lang="en-US"/>
        </a:p>
      </dgm:t>
    </dgm:pt>
    <dgm:pt modelId="{088BA404-42C0-1C4A-BAB9-FB69685CFC8F}" type="sibTrans" cxnId="{6B4BC049-F42D-124E-B25E-6C3A363C158D}">
      <dgm:prSet/>
      <dgm:spPr/>
      <dgm:t>
        <a:bodyPr/>
        <a:lstStyle/>
        <a:p>
          <a:endParaRPr lang="en-US"/>
        </a:p>
      </dgm:t>
    </dgm:pt>
    <dgm:pt modelId="{4390CE26-E020-2344-AC66-027A469F3ACB}">
      <dgm:prSet/>
      <dgm:spPr>
        <a:xfrm>
          <a:off x="1707505" y="4511591"/>
          <a:ext cx="1706463" cy="943939"/>
        </a:xfrm>
        <a:prstGeom prst="rect">
          <a:avLst/>
        </a:prstGeom>
        <a:solidFill>
          <a:srgbClr val="663366">
            <a:alpha val="90000"/>
            <a:tint val="40000"/>
            <a:hueOff val="0"/>
            <a:satOff val="0"/>
            <a:lumOff val="0"/>
            <a:alphaOff val="0"/>
          </a:srgbClr>
        </a:solidFill>
        <a:ln w="12700" cap="flat" cmpd="sng" algn="ctr">
          <a:solidFill>
            <a:srgbClr val="666699"/>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Data types</a:t>
          </a:r>
        </a:p>
      </dgm:t>
    </dgm:pt>
    <dgm:pt modelId="{EE0784BC-8E94-3249-9326-05B0F0EC8566}" type="parTrans" cxnId="{67429442-5381-D544-911E-45BE2E8BEBB3}">
      <dgm:prSet/>
      <dgm:spPr/>
      <dgm:t>
        <a:bodyPr/>
        <a:lstStyle/>
        <a:p>
          <a:endParaRPr lang="en-US"/>
        </a:p>
      </dgm:t>
    </dgm:pt>
    <dgm:pt modelId="{57E4573D-7C81-2D40-A41D-92FE4675772B}" type="sibTrans" cxnId="{67429442-5381-D544-911E-45BE2E8BEBB3}">
      <dgm:prSet/>
      <dgm:spPr/>
      <dgm:t>
        <a:bodyPr/>
        <a:lstStyle/>
        <a:p>
          <a:endParaRPr lang="en-US"/>
        </a:p>
      </dgm:t>
    </dgm:pt>
    <dgm:pt modelId="{CD8C6866-04F3-5E4D-91BB-DBE814C5FE61}">
      <dgm:prSet/>
      <dgm:spPr>
        <a:xfrm>
          <a:off x="1707505" y="4511591"/>
          <a:ext cx="1706463" cy="943939"/>
        </a:xfrm>
        <a:prstGeom prst="rect">
          <a:avLst/>
        </a:prstGeom>
        <a:solidFill>
          <a:srgbClr val="663366">
            <a:alpha val="90000"/>
            <a:tint val="40000"/>
            <a:hueOff val="0"/>
            <a:satOff val="0"/>
            <a:lumOff val="0"/>
            <a:alphaOff val="0"/>
          </a:srgbClr>
        </a:solidFill>
        <a:ln w="12700" cap="flat" cmpd="sng" algn="ctr">
          <a:solidFill>
            <a:srgbClr val="666699"/>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The various types of data upon which operations are performed</a:t>
          </a:r>
        </a:p>
      </dgm:t>
    </dgm:pt>
    <dgm:pt modelId="{94A96CE7-0C66-6442-B436-33A85DCF0EB8}" type="parTrans" cxnId="{EA04EA4D-F731-444F-A75A-EA67FAA3BAAA}">
      <dgm:prSet/>
      <dgm:spPr/>
      <dgm:t>
        <a:bodyPr/>
        <a:lstStyle/>
        <a:p>
          <a:endParaRPr lang="en-US"/>
        </a:p>
      </dgm:t>
    </dgm:pt>
    <dgm:pt modelId="{534312D2-EF11-9040-A425-E679398BBB09}" type="sibTrans" cxnId="{EA04EA4D-F731-444F-A75A-EA67FAA3BAAA}">
      <dgm:prSet/>
      <dgm:spPr/>
      <dgm:t>
        <a:bodyPr/>
        <a:lstStyle/>
        <a:p>
          <a:endParaRPr lang="en-US"/>
        </a:p>
      </dgm:t>
    </dgm:pt>
    <dgm:pt modelId="{27979A66-A56C-4049-8B2C-81450FEC40AE}">
      <dgm:prSet/>
      <dgm:spPr>
        <a:xfrm>
          <a:off x="3413968" y="4511591"/>
          <a:ext cx="1706463" cy="943939"/>
        </a:xfrm>
        <a:prstGeom prst="rect">
          <a:avLst/>
        </a:prstGeom>
        <a:solidFill>
          <a:srgbClr val="663366">
            <a:alpha val="90000"/>
            <a:tint val="40000"/>
            <a:hueOff val="0"/>
            <a:satOff val="0"/>
            <a:lumOff val="0"/>
            <a:alphaOff val="0"/>
          </a:srgbClr>
        </a:solidFill>
        <a:ln w="12700" cap="flat" cmpd="sng" algn="ctr">
          <a:solidFill>
            <a:srgbClr val="666699"/>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Instruction format</a:t>
          </a:r>
        </a:p>
      </dgm:t>
    </dgm:pt>
    <dgm:pt modelId="{0BAD965C-5E45-E348-9627-B2BAE6E80F9E}" type="parTrans" cxnId="{BDD1E050-A83E-784D-BF9F-51F1D543E71E}">
      <dgm:prSet/>
      <dgm:spPr/>
      <dgm:t>
        <a:bodyPr/>
        <a:lstStyle/>
        <a:p>
          <a:endParaRPr lang="en-US"/>
        </a:p>
      </dgm:t>
    </dgm:pt>
    <dgm:pt modelId="{D56E2247-0C5E-B348-A171-22BD52D9ACDC}" type="sibTrans" cxnId="{BDD1E050-A83E-784D-BF9F-51F1D543E71E}">
      <dgm:prSet/>
      <dgm:spPr/>
      <dgm:t>
        <a:bodyPr/>
        <a:lstStyle/>
        <a:p>
          <a:endParaRPr lang="en-US"/>
        </a:p>
      </dgm:t>
    </dgm:pt>
    <dgm:pt modelId="{D8ADB5D5-83D4-254D-8268-1D4258FF0983}">
      <dgm:prSet/>
      <dgm:spPr>
        <a:xfrm>
          <a:off x="3413968" y="4511591"/>
          <a:ext cx="1706463" cy="943939"/>
        </a:xfrm>
        <a:prstGeom prst="rect">
          <a:avLst/>
        </a:prstGeom>
        <a:solidFill>
          <a:srgbClr val="663366">
            <a:alpha val="90000"/>
            <a:tint val="40000"/>
            <a:hueOff val="0"/>
            <a:satOff val="0"/>
            <a:lumOff val="0"/>
            <a:alphaOff val="0"/>
          </a:srgbClr>
        </a:solidFill>
        <a:ln w="12700" cap="flat" cmpd="sng" algn="ctr">
          <a:solidFill>
            <a:srgbClr val="666699"/>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Instruction length in bits, number of addresses, size of various fields, etc.</a:t>
          </a:r>
        </a:p>
      </dgm:t>
    </dgm:pt>
    <dgm:pt modelId="{0BE5CFAC-A0B5-964A-B9BA-C7D96CE5007A}" type="parTrans" cxnId="{89DBDA85-C7AD-F34A-826A-56231F6220CD}">
      <dgm:prSet/>
      <dgm:spPr/>
      <dgm:t>
        <a:bodyPr/>
        <a:lstStyle/>
        <a:p>
          <a:endParaRPr lang="en-US"/>
        </a:p>
      </dgm:t>
    </dgm:pt>
    <dgm:pt modelId="{FD160994-212E-E44D-80B0-667F73F65AEF}" type="sibTrans" cxnId="{89DBDA85-C7AD-F34A-826A-56231F6220CD}">
      <dgm:prSet/>
      <dgm:spPr/>
      <dgm:t>
        <a:bodyPr/>
        <a:lstStyle/>
        <a:p>
          <a:endParaRPr lang="en-US"/>
        </a:p>
      </dgm:t>
    </dgm:pt>
    <dgm:pt modelId="{8EDB5311-D825-C24B-81D1-969D1851DAF9}">
      <dgm:prSet/>
      <dgm:spPr>
        <a:xfrm>
          <a:off x="5120431" y="4511591"/>
          <a:ext cx="1706463" cy="943939"/>
        </a:xfrm>
        <a:prstGeom prst="rect">
          <a:avLst/>
        </a:prstGeom>
        <a:solidFill>
          <a:srgbClr val="663366">
            <a:alpha val="90000"/>
            <a:tint val="40000"/>
            <a:hueOff val="0"/>
            <a:satOff val="0"/>
            <a:lumOff val="0"/>
            <a:alphaOff val="0"/>
          </a:srgbClr>
        </a:solidFill>
        <a:ln w="12700" cap="flat" cmpd="sng" algn="ctr">
          <a:solidFill>
            <a:srgbClr val="666699"/>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Registers</a:t>
          </a:r>
        </a:p>
      </dgm:t>
    </dgm:pt>
    <dgm:pt modelId="{6F6FE688-35DD-774E-9EB1-17B5346276AC}" type="parTrans" cxnId="{4394D576-269D-2945-995D-F940BAD89E62}">
      <dgm:prSet/>
      <dgm:spPr/>
      <dgm:t>
        <a:bodyPr/>
        <a:lstStyle/>
        <a:p>
          <a:endParaRPr lang="en-US"/>
        </a:p>
      </dgm:t>
    </dgm:pt>
    <dgm:pt modelId="{692B24AA-7D07-7048-8613-6FBCF61EEA94}" type="sibTrans" cxnId="{4394D576-269D-2945-995D-F940BAD89E62}">
      <dgm:prSet/>
      <dgm:spPr/>
      <dgm:t>
        <a:bodyPr/>
        <a:lstStyle/>
        <a:p>
          <a:endParaRPr lang="en-US"/>
        </a:p>
      </dgm:t>
    </dgm:pt>
    <dgm:pt modelId="{1A8DEE92-5932-2342-86A0-295B875220F9}">
      <dgm:prSet/>
      <dgm:spPr>
        <a:xfrm>
          <a:off x="5120431" y="4511591"/>
          <a:ext cx="1706463" cy="943939"/>
        </a:xfrm>
        <a:prstGeom prst="rect">
          <a:avLst/>
        </a:prstGeom>
        <a:solidFill>
          <a:srgbClr val="663366">
            <a:alpha val="90000"/>
            <a:tint val="40000"/>
            <a:hueOff val="0"/>
            <a:satOff val="0"/>
            <a:lumOff val="0"/>
            <a:alphaOff val="0"/>
          </a:srgbClr>
        </a:solidFill>
        <a:ln w="12700" cap="flat" cmpd="sng" algn="ctr">
          <a:solidFill>
            <a:srgbClr val="666699"/>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Number of processor registers that can be referenced by instructions and their use</a:t>
          </a:r>
        </a:p>
      </dgm:t>
    </dgm:pt>
    <dgm:pt modelId="{7778AB8B-2411-A743-85E6-22B2AB0564E3}" type="parTrans" cxnId="{D08099CC-E467-8D4C-AB9A-4564952541C6}">
      <dgm:prSet/>
      <dgm:spPr/>
      <dgm:t>
        <a:bodyPr/>
        <a:lstStyle/>
        <a:p>
          <a:endParaRPr lang="en-US"/>
        </a:p>
      </dgm:t>
    </dgm:pt>
    <dgm:pt modelId="{A134BDCA-C254-DE45-93E2-DC2500F0CBFE}" type="sibTrans" cxnId="{D08099CC-E467-8D4C-AB9A-4564952541C6}">
      <dgm:prSet/>
      <dgm:spPr/>
      <dgm:t>
        <a:bodyPr/>
        <a:lstStyle/>
        <a:p>
          <a:endParaRPr lang="en-US"/>
        </a:p>
      </dgm:t>
    </dgm:pt>
    <dgm:pt modelId="{96BB0494-7D8F-CD4B-A1AF-11A7C343A91B}">
      <dgm:prSet/>
      <dgm:spPr>
        <a:xfrm>
          <a:off x="6826894" y="4511591"/>
          <a:ext cx="1706463" cy="943939"/>
        </a:xfrm>
        <a:prstGeom prst="rect">
          <a:avLst/>
        </a:prstGeom>
        <a:solidFill>
          <a:srgbClr val="663366">
            <a:alpha val="90000"/>
            <a:tint val="40000"/>
            <a:hueOff val="0"/>
            <a:satOff val="0"/>
            <a:lumOff val="0"/>
            <a:alphaOff val="0"/>
          </a:srgbClr>
        </a:solidFill>
        <a:ln w="12700" cap="flat" cmpd="sng" algn="ctr">
          <a:solidFill>
            <a:srgbClr val="666699"/>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Addressing</a:t>
          </a:r>
        </a:p>
      </dgm:t>
    </dgm:pt>
    <dgm:pt modelId="{B1105FA3-D912-E441-AC8A-88777BFB525C}" type="parTrans" cxnId="{8ACD60B9-1E24-8643-B0E2-4E960CC49AE7}">
      <dgm:prSet/>
      <dgm:spPr/>
      <dgm:t>
        <a:bodyPr/>
        <a:lstStyle/>
        <a:p>
          <a:endParaRPr lang="en-US"/>
        </a:p>
      </dgm:t>
    </dgm:pt>
    <dgm:pt modelId="{869EF331-C2D4-FE48-998C-9544825F77E6}" type="sibTrans" cxnId="{8ACD60B9-1E24-8643-B0E2-4E960CC49AE7}">
      <dgm:prSet/>
      <dgm:spPr/>
      <dgm:t>
        <a:bodyPr/>
        <a:lstStyle/>
        <a:p>
          <a:endParaRPr lang="en-US"/>
        </a:p>
      </dgm:t>
    </dgm:pt>
    <dgm:pt modelId="{DA3083F4-5821-A147-9AA7-30FFBC02ADD8}">
      <dgm:prSet/>
      <dgm:spPr>
        <a:xfrm>
          <a:off x="6826894" y="4511591"/>
          <a:ext cx="1706463" cy="943939"/>
        </a:xfrm>
        <a:prstGeom prst="rect">
          <a:avLst/>
        </a:prstGeom>
        <a:solidFill>
          <a:srgbClr val="663366">
            <a:alpha val="90000"/>
            <a:tint val="40000"/>
            <a:hueOff val="0"/>
            <a:satOff val="0"/>
            <a:lumOff val="0"/>
            <a:alphaOff val="0"/>
          </a:srgbClr>
        </a:solidFill>
        <a:ln w="12700" cap="flat" cmpd="sng" algn="ctr">
          <a:solidFill>
            <a:srgbClr val="666699"/>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The mode or modes by which the address of an operand is specified </a:t>
          </a:r>
        </a:p>
      </dgm:t>
    </dgm:pt>
    <dgm:pt modelId="{E0E984FE-1671-454A-A779-9E975DBCAC47}" type="parTrans" cxnId="{B278AA3D-E1A2-684C-AF6E-AACF61A078D8}">
      <dgm:prSet/>
      <dgm:spPr/>
      <dgm:t>
        <a:bodyPr/>
        <a:lstStyle/>
        <a:p>
          <a:endParaRPr lang="en-US"/>
        </a:p>
      </dgm:t>
    </dgm:pt>
    <dgm:pt modelId="{9DB57987-667C-0642-BBEF-C9D273B82061}" type="sibTrans" cxnId="{B278AA3D-E1A2-684C-AF6E-AACF61A078D8}">
      <dgm:prSet/>
      <dgm:spPr/>
      <dgm:t>
        <a:bodyPr/>
        <a:lstStyle/>
        <a:p>
          <a:endParaRPr lang="en-US"/>
        </a:p>
      </dgm:t>
    </dgm:pt>
    <dgm:pt modelId="{DF3A5C78-EC98-1741-8BEE-850D17600ECC}" type="pres">
      <dgm:prSet presAssocID="{BE9AF291-A8F7-754D-9BCC-21843D1485E8}" presName="Name0" presStyleCnt="0">
        <dgm:presLayoutVars>
          <dgm:dir/>
          <dgm:animLvl val="lvl"/>
          <dgm:resizeHandles val="exact"/>
        </dgm:presLayoutVars>
      </dgm:prSet>
      <dgm:spPr/>
    </dgm:pt>
    <dgm:pt modelId="{B0F4D848-8A7D-A44A-9DAA-449706BF3E32}" type="pres">
      <dgm:prSet presAssocID="{D998F21C-897B-DF48-956E-861DE4522346}" presName="boxAndChildren" presStyleCnt="0"/>
      <dgm:spPr/>
    </dgm:pt>
    <dgm:pt modelId="{EEC97410-8A05-AA47-90C3-84F83CA2796A}" type="pres">
      <dgm:prSet presAssocID="{D998F21C-897B-DF48-956E-861DE4522346}" presName="parentTextBox" presStyleLbl="node1" presStyleIdx="0" presStyleCnt="4"/>
      <dgm:spPr/>
    </dgm:pt>
    <dgm:pt modelId="{B53E567A-FFCB-E447-B0EB-DF566B287828}" type="pres">
      <dgm:prSet presAssocID="{D998F21C-897B-DF48-956E-861DE4522346}" presName="entireBox" presStyleLbl="node1" presStyleIdx="0" presStyleCnt="4" custScaleX="100000" custScaleY="98944"/>
      <dgm:spPr/>
    </dgm:pt>
    <dgm:pt modelId="{8979A76C-D61D-6741-A5C2-163D4E32E8AC}" type="pres">
      <dgm:prSet presAssocID="{D998F21C-897B-DF48-956E-861DE4522346}" presName="descendantBox" presStyleCnt="0"/>
      <dgm:spPr/>
    </dgm:pt>
    <dgm:pt modelId="{FDFC3F15-9000-D642-934F-FD22C852295A}" type="pres">
      <dgm:prSet presAssocID="{C9369FCC-1255-0D45-AB2C-E89EC8343E66}" presName="childTextBox" presStyleLbl="fgAccFollowNode1" presStyleIdx="0" presStyleCnt="5">
        <dgm:presLayoutVars>
          <dgm:bulletEnabled val="1"/>
        </dgm:presLayoutVars>
      </dgm:prSet>
      <dgm:spPr/>
    </dgm:pt>
    <dgm:pt modelId="{299A5A01-E6B1-3549-9A82-78303BEA5CF6}" type="pres">
      <dgm:prSet presAssocID="{4390CE26-E020-2344-AC66-027A469F3ACB}" presName="childTextBox" presStyleLbl="fgAccFollowNode1" presStyleIdx="1" presStyleCnt="5">
        <dgm:presLayoutVars>
          <dgm:bulletEnabled val="1"/>
        </dgm:presLayoutVars>
      </dgm:prSet>
      <dgm:spPr/>
    </dgm:pt>
    <dgm:pt modelId="{2B60D48B-0CBB-3640-8066-CD9CF8A8328E}" type="pres">
      <dgm:prSet presAssocID="{27979A66-A56C-4049-8B2C-81450FEC40AE}" presName="childTextBox" presStyleLbl="fgAccFollowNode1" presStyleIdx="2" presStyleCnt="5">
        <dgm:presLayoutVars>
          <dgm:bulletEnabled val="1"/>
        </dgm:presLayoutVars>
      </dgm:prSet>
      <dgm:spPr/>
    </dgm:pt>
    <dgm:pt modelId="{015B0615-A51D-BE4E-B6B0-DD65E7B83F35}" type="pres">
      <dgm:prSet presAssocID="{8EDB5311-D825-C24B-81D1-969D1851DAF9}" presName="childTextBox" presStyleLbl="fgAccFollowNode1" presStyleIdx="3" presStyleCnt="5">
        <dgm:presLayoutVars>
          <dgm:bulletEnabled val="1"/>
        </dgm:presLayoutVars>
      </dgm:prSet>
      <dgm:spPr/>
    </dgm:pt>
    <dgm:pt modelId="{245DBD2D-001A-1647-A9D4-0EE759999A90}" type="pres">
      <dgm:prSet presAssocID="{96BB0494-7D8F-CD4B-A1AF-11A7C343A91B}" presName="childTextBox" presStyleLbl="fgAccFollowNode1" presStyleIdx="4" presStyleCnt="5">
        <dgm:presLayoutVars>
          <dgm:bulletEnabled val="1"/>
        </dgm:presLayoutVars>
      </dgm:prSet>
      <dgm:spPr/>
    </dgm:pt>
    <dgm:pt modelId="{6F136D9B-0A5C-E34F-B2F4-375DFE16F357}" type="pres">
      <dgm:prSet presAssocID="{4CFBC049-35FB-B34E-9B0C-92B91BF2D448}" presName="sp" presStyleCnt="0"/>
      <dgm:spPr/>
    </dgm:pt>
    <dgm:pt modelId="{1D636C84-6705-1F45-A256-C7A55A772094}" type="pres">
      <dgm:prSet presAssocID="{0D809260-4B42-5043-99E3-CF6D7B616585}" presName="arrowAndChildren" presStyleCnt="0"/>
      <dgm:spPr/>
    </dgm:pt>
    <dgm:pt modelId="{E96926DD-E710-3B4C-8E85-4706A8EA77F7}" type="pres">
      <dgm:prSet presAssocID="{0D809260-4B42-5043-99E3-CF6D7B616585}" presName="parentTextArrow" presStyleLbl="node1" presStyleIdx="1" presStyleCnt="4" custScaleX="92857" custScaleY="38669"/>
      <dgm:spPr/>
    </dgm:pt>
    <dgm:pt modelId="{26B140DD-57C8-1744-9AFB-648706180366}" type="pres">
      <dgm:prSet presAssocID="{4FD0B408-98C8-DE45-A952-A44EDA44E8FC}" presName="sp" presStyleCnt="0"/>
      <dgm:spPr/>
    </dgm:pt>
    <dgm:pt modelId="{3DB74973-3E5B-1B47-83A0-703004048F1D}" type="pres">
      <dgm:prSet presAssocID="{85FA6A79-0A59-5E45-B15E-9A4DF30BB091}" presName="arrowAndChildren" presStyleCnt="0"/>
      <dgm:spPr/>
    </dgm:pt>
    <dgm:pt modelId="{01AE4E59-7A07-2540-9D90-9EB69C1E6E80}" type="pres">
      <dgm:prSet presAssocID="{85FA6A79-0A59-5E45-B15E-9A4DF30BB091}" presName="parentTextArrow" presStyleLbl="node1" presStyleIdx="2" presStyleCnt="4" custScaleX="91071" custScaleY="35845"/>
      <dgm:spPr/>
    </dgm:pt>
    <dgm:pt modelId="{FF0428FE-3CD2-7A4A-8919-81FAED4C4DEF}" type="pres">
      <dgm:prSet presAssocID="{CF529774-18D4-5A49-A355-4389DD9EDF78}" presName="sp" presStyleCnt="0"/>
      <dgm:spPr/>
    </dgm:pt>
    <dgm:pt modelId="{E50A026F-7F60-EF42-97BE-EA170EA81E00}" type="pres">
      <dgm:prSet presAssocID="{6889743B-15A5-4B42-96C5-11425D930E4F}" presName="arrowAndChildren" presStyleCnt="0"/>
      <dgm:spPr/>
    </dgm:pt>
    <dgm:pt modelId="{4CCC5995-C980-C545-822B-7C2E6DA5B193}" type="pres">
      <dgm:prSet presAssocID="{6889743B-15A5-4B42-96C5-11425D930E4F}" presName="parentTextArrow" presStyleLbl="node1" presStyleIdx="3" presStyleCnt="4" custScaleX="92857" custScaleY="37875"/>
      <dgm:spPr/>
    </dgm:pt>
  </dgm:ptLst>
  <dgm:cxnLst>
    <dgm:cxn modelId="{13D2B602-D9ED-FB42-B6CC-950D78F868C5}" type="presOf" srcId="{85FA6A79-0A59-5E45-B15E-9A4DF30BB091}" destId="{01AE4E59-7A07-2540-9D90-9EB69C1E6E80}" srcOrd="0" destOrd="0" presId="urn:microsoft.com/office/officeart/2005/8/layout/process4"/>
    <dgm:cxn modelId="{874CB617-D433-2442-BFE8-2E056241BAAD}" type="presOf" srcId="{6889743B-15A5-4B42-96C5-11425D930E4F}" destId="{4CCC5995-C980-C545-822B-7C2E6DA5B193}" srcOrd="0" destOrd="0" presId="urn:microsoft.com/office/officeart/2005/8/layout/process4"/>
    <dgm:cxn modelId="{5418C623-3B2F-4E42-8E79-14C921A44122}" type="presOf" srcId="{0D809260-4B42-5043-99E3-CF6D7B616585}" destId="{E96926DD-E710-3B4C-8E85-4706A8EA77F7}" srcOrd="0" destOrd="0" presId="urn:microsoft.com/office/officeart/2005/8/layout/process4"/>
    <dgm:cxn modelId="{E8892F27-AAA8-4048-B2AD-E9B201644AFF}" type="presOf" srcId="{1A8DEE92-5932-2342-86A0-295B875220F9}" destId="{015B0615-A51D-BE4E-B6B0-DD65E7B83F35}" srcOrd="0" destOrd="1" presId="urn:microsoft.com/office/officeart/2005/8/layout/process4"/>
    <dgm:cxn modelId="{22BFA529-E339-0641-95A3-3C48530A63FA}" srcId="{BE9AF291-A8F7-754D-9BCC-21843D1485E8}" destId="{6889743B-15A5-4B42-96C5-11425D930E4F}" srcOrd="0" destOrd="0" parTransId="{67CA192B-3275-C54B-B58C-DA050B16402A}" sibTransId="{CF529774-18D4-5A49-A355-4389DD9EDF78}"/>
    <dgm:cxn modelId="{EECC1C35-EB9D-134D-B119-AC5BA49998B9}" srcId="{BE9AF291-A8F7-754D-9BCC-21843D1485E8}" destId="{0D809260-4B42-5043-99E3-CF6D7B616585}" srcOrd="2" destOrd="0" parTransId="{6DAB96D9-CB97-A54D-9E38-73264325FA95}" sibTransId="{4CFBC049-35FB-B34E-9B0C-92B91BF2D448}"/>
    <dgm:cxn modelId="{B278AA3D-E1A2-684C-AF6E-AACF61A078D8}" srcId="{96BB0494-7D8F-CD4B-A1AF-11A7C343A91B}" destId="{DA3083F4-5821-A147-9AA7-30FFBC02ADD8}" srcOrd="0" destOrd="0" parTransId="{E0E984FE-1671-454A-A779-9E975DBCAC47}" sibTransId="{9DB57987-667C-0642-BBEF-C9D273B82061}"/>
    <dgm:cxn modelId="{67429442-5381-D544-911E-45BE2E8BEBB3}" srcId="{D998F21C-897B-DF48-956E-861DE4522346}" destId="{4390CE26-E020-2344-AC66-027A469F3ACB}" srcOrd="1" destOrd="0" parTransId="{EE0784BC-8E94-3249-9326-05B0F0EC8566}" sibTransId="{57E4573D-7C81-2D40-A41D-92FE4675772B}"/>
    <dgm:cxn modelId="{46C96646-7E23-534A-B3F8-A6BC7CB7DCED}" type="presOf" srcId="{CD8C6866-04F3-5E4D-91BB-DBE814C5FE61}" destId="{299A5A01-E6B1-3549-9A82-78303BEA5CF6}" srcOrd="0" destOrd="1" presId="urn:microsoft.com/office/officeart/2005/8/layout/process4"/>
    <dgm:cxn modelId="{6B4BC049-F42D-124E-B25E-6C3A363C158D}" srcId="{C9369FCC-1255-0D45-AB2C-E89EC8343E66}" destId="{85B4CF29-6326-2542-83F0-1CACEFCB1AF3}" srcOrd="0" destOrd="0" parTransId="{72F90D80-0BF8-8445-99FC-CC6F6214E71E}" sibTransId="{088BA404-42C0-1C4A-BAB9-FB69685CFC8F}"/>
    <dgm:cxn modelId="{EA04EA4D-F731-444F-A75A-EA67FAA3BAAA}" srcId="{4390CE26-E020-2344-AC66-027A469F3ACB}" destId="{CD8C6866-04F3-5E4D-91BB-DBE814C5FE61}" srcOrd="0" destOrd="0" parTransId="{94A96CE7-0C66-6442-B436-33A85DCF0EB8}" sibTransId="{534312D2-EF11-9040-A425-E679398BBB09}"/>
    <dgm:cxn modelId="{BDD1E050-A83E-784D-BF9F-51F1D543E71E}" srcId="{D998F21C-897B-DF48-956E-861DE4522346}" destId="{27979A66-A56C-4049-8B2C-81450FEC40AE}" srcOrd="2" destOrd="0" parTransId="{0BAD965C-5E45-E348-9627-B2BAE6E80F9E}" sibTransId="{D56E2247-0C5E-B348-A171-22BD52D9ACDC}"/>
    <dgm:cxn modelId="{68360D74-8D76-144C-8C77-C5B9AF813FFF}" srcId="{D998F21C-897B-DF48-956E-861DE4522346}" destId="{C9369FCC-1255-0D45-AB2C-E89EC8343E66}" srcOrd="0" destOrd="0" parTransId="{FEBA2014-7990-B94D-BAD1-0C73293FA03E}" sibTransId="{E8789AB2-278C-244A-9413-8F495D74BD39}"/>
    <dgm:cxn modelId="{4394D576-269D-2945-995D-F940BAD89E62}" srcId="{D998F21C-897B-DF48-956E-861DE4522346}" destId="{8EDB5311-D825-C24B-81D1-969D1851DAF9}" srcOrd="3" destOrd="0" parTransId="{6F6FE688-35DD-774E-9EB1-17B5346276AC}" sibTransId="{692B24AA-7D07-7048-8613-6FBCF61EEA94}"/>
    <dgm:cxn modelId="{B1731785-004D-2446-9572-BCBB32366BD9}" type="presOf" srcId="{BE9AF291-A8F7-754D-9BCC-21843D1485E8}" destId="{DF3A5C78-EC98-1741-8BEE-850D17600ECC}" srcOrd="0" destOrd="0" presId="urn:microsoft.com/office/officeart/2005/8/layout/process4"/>
    <dgm:cxn modelId="{89DBDA85-C7AD-F34A-826A-56231F6220CD}" srcId="{27979A66-A56C-4049-8B2C-81450FEC40AE}" destId="{D8ADB5D5-83D4-254D-8268-1D4258FF0983}" srcOrd="0" destOrd="0" parTransId="{0BE5CFAC-A0B5-964A-B9BA-C7D96CE5007A}" sibTransId="{FD160994-212E-E44D-80B0-667F73F65AEF}"/>
    <dgm:cxn modelId="{9656FF87-A36E-4841-A19A-86F651EBBADF}" srcId="{BE9AF291-A8F7-754D-9BCC-21843D1485E8}" destId="{85FA6A79-0A59-5E45-B15E-9A4DF30BB091}" srcOrd="1" destOrd="0" parTransId="{85E6E25A-3AE3-3F46-8E90-F2494FC5AECD}" sibTransId="{4FD0B408-98C8-DE45-A952-A44EDA44E8FC}"/>
    <dgm:cxn modelId="{9E0D5D8C-C256-9B45-BE2D-3CDC052AAD63}" type="presOf" srcId="{C9369FCC-1255-0D45-AB2C-E89EC8343E66}" destId="{FDFC3F15-9000-D642-934F-FD22C852295A}" srcOrd="0" destOrd="0" presId="urn:microsoft.com/office/officeart/2005/8/layout/process4"/>
    <dgm:cxn modelId="{626C5293-6A55-3B42-BE8F-3AE88AD75C6C}" type="presOf" srcId="{D998F21C-897B-DF48-956E-861DE4522346}" destId="{B53E567A-FFCB-E447-B0EB-DF566B287828}" srcOrd="1" destOrd="0" presId="urn:microsoft.com/office/officeart/2005/8/layout/process4"/>
    <dgm:cxn modelId="{196840AB-7919-1C4A-91FA-3253D984D2AA}" type="presOf" srcId="{DA3083F4-5821-A147-9AA7-30FFBC02ADD8}" destId="{245DBD2D-001A-1647-A9D4-0EE759999A90}" srcOrd="0" destOrd="1" presId="urn:microsoft.com/office/officeart/2005/8/layout/process4"/>
    <dgm:cxn modelId="{510C88B0-332F-E040-B229-A09B6CD8CCC9}" type="presOf" srcId="{8EDB5311-D825-C24B-81D1-969D1851DAF9}" destId="{015B0615-A51D-BE4E-B6B0-DD65E7B83F35}" srcOrd="0" destOrd="0" presId="urn:microsoft.com/office/officeart/2005/8/layout/process4"/>
    <dgm:cxn modelId="{3C5405B3-1A41-E94C-91F5-3C67F3ADD8E3}" type="presOf" srcId="{D8ADB5D5-83D4-254D-8268-1D4258FF0983}" destId="{2B60D48B-0CBB-3640-8066-CD9CF8A8328E}" srcOrd="0" destOrd="1" presId="urn:microsoft.com/office/officeart/2005/8/layout/process4"/>
    <dgm:cxn modelId="{66FFD0B6-DA47-A349-B205-A1552B7AC61C}" type="presOf" srcId="{4390CE26-E020-2344-AC66-027A469F3ACB}" destId="{299A5A01-E6B1-3549-9A82-78303BEA5CF6}" srcOrd="0" destOrd="0" presId="urn:microsoft.com/office/officeart/2005/8/layout/process4"/>
    <dgm:cxn modelId="{8ACD60B9-1E24-8643-B0E2-4E960CC49AE7}" srcId="{D998F21C-897B-DF48-956E-861DE4522346}" destId="{96BB0494-7D8F-CD4B-A1AF-11A7C343A91B}" srcOrd="4" destOrd="0" parTransId="{B1105FA3-D912-E441-AC8A-88777BFB525C}" sibTransId="{869EF331-C2D4-FE48-998C-9544825F77E6}"/>
    <dgm:cxn modelId="{AFE4D4BD-1468-F64E-AA6E-C8811310FB11}" type="presOf" srcId="{85B4CF29-6326-2542-83F0-1CACEFCB1AF3}" destId="{FDFC3F15-9000-D642-934F-FD22C852295A}" srcOrd="0" destOrd="1" presId="urn:microsoft.com/office/officeart/2005/8/layout/process4"/>
    <dgm:cxn modelId="{1C4350C2-543B-8548-B105-496D40F075CF}" srcId="{BE9AF291-A8F7-754D-9BCC-21843D1485E8}" destId="{D998F21C-897B-DF48-956E-861DE4522346}" srcOrd="3" destOrd="0" parTransId="{72A2F193-6231-4244-857B-8332F42F6A3B}" sibTransId="{F381CFC5-8171-744F-9472-FF7ED8AF86F2}"/>
    <dgm:cxn modelId="{D08099CC-E467-8D4C-AB9A-4564952541C6}" srcId="{8EDB5311-D825-C24B-81D1-969D1851DAF9}" destId="{1A8DEE92-5932-2342-86A0-295B875220F9}" srcOrd="0" destOrd="0" parTransId="{7778AB8B-2411-A743-85E6-22B2AB0564E3}" sibTransId="{A134BDCA-C254-DE45-93E2-DC2500F0CBFE}"/>
    <dgm:cxn modelId="{EC2AB3D2-8860-3643-BBE6-F2C46F1F52DF}" type="presOf" srcId="{D998F21C-897B-DF48-956E-861DE4522346}" destId="{EEC97410-8A05-AA47-90C3-84F83CA2796A}" srcOrd="0" destOrd="0" presId="urn:microsoft.com/office/officeart/2005/8/layout/process4"/>
    <dgm:cxn modelId="{9403BAE2-9906-2449-9922-EC6672563A33}" type="presOf" srcId="{27979A66-A56C-4049-8B2C-81450FEC40AE}" destId="{2B60D48B-0CBB-3640-8066-CD9CF8A8328E}" srcOrd="0" destOrd="0" presId="urn:microsoft.com/office/officeart/2005/8/layout/process4"/>
    <dgm:cxn modelId="{87577FEE-5768-B64E-A8A4-580F8F1F5A55}" type="presOf" srcId="{96BB0494-7D8F-CD4B-A1AF-11A7C343A91B}" destId="{245DBD2D-001A-1647-A9D4-0EE759999A90}" srcOrd="0" destOrd="0" presId="urn:microsoft.com/office/officeart/2005/8/layout/process4"/>
    <dgm:cxn modelId="{755AEFC6-8EEA-F945-88DE-17170F7C3E07}" type="presParOf" srcId="{DF3A5C78-EC98-1741-8BEE-850D17600ECC}" destId="{B0F4D848-8A7D-A44A-9DAA-449706BF3E32}" srcOrd="0" destOrd="0" presId="urn:microsoft.com/office/officeart/2005/8/layout/process4"/>
    <dgm:cxn modelId="{4544FD3F-A557-6B4F-BD50-0F007CA12DE8}" type="presParOf" srcId="{B0F4D848-8A7D-A44A-9DAA-449706BF3E32}" destId="{EEC97410-8A05-AA47-90C3-84F83CA2796A}" srcOrd="0" destOrd="0" presId="urn:microsoft.com/office/officeart/2005/8/layout/process4"/>
    <dgm:cxn modelId="{02A4B6B0-DF77-EB44-8D51-906B9B938341}" type="presParOf" srcId="{B0F4D848-8A7D-A44A-9DAA-449706BF3E32}" destId="{B53E567A-FFCB-E447-B0EB-DF566B287828}" srcOrd="1" destOrd="0" presId="urn:microsoft.com/office/officeart/2005/8/layout/process4"/>
    <dgm:cxn modelId="{1A031150-2042-5147-9287-2F2CBFDF939E}" type="presParOf" srcId="{B0F4D848-8A7D-A44A-9DAA-449706BF3E32}" destId="{8979A76C-D61D-6741-A5C2-163D4E32E8AC}" srcOrd="2" destOrd="0" presId="urn:microsoft.com/office/officeart/2005/8/layout/process4"/>
    <dgm:cxn modelId="{27219C0F-DE72-2B46-92E8-048E292C96F0}" type="presParOf" srcId="{8979A76C-D61D-6741-A5C2-163D4E32E8AC}" destId="{FDFC3F15-9000-D642-934F-FD22C852295A}" srcOrd="0" destOrd="0" presId="urn:microsoft.com/office/officeart/2005/8/layout/process4"/>
    <dgm:cxn modelId="{EA7F7033-A8D2-9B4A-8903-C438BDD3A548}" type="presParOf" srcId="{8979A76C-D61D-6741-A5C2-163D4E32E8AC}" destId="{299A5A01-E6B1-3549-9A82-78303BEA5CF6}" srcOrd="1" destOrd="0" presId="urn:microsoft.com/office/officeart/2005/8/layout/process4"/>
    <dgm:cxn modelId="{0588543B-EA16-D64C-80B8-A42A10DD64D6}" type="presParOf" srcId="{8979A76C-D61D-6741-A5C2-163D4E32E8AC}" destId="{2B60D48B-0CBB-3640-8066-CD9CF8A8328E}" srcOrd="2" destOrd="0" presId="urn:microsoft.com/office/officeart/2005/8/layout/process4"/>
    <dgm:cxn modelId="{DBC31B58-9ECE-294B-BF31-D525DFE424B0}" type="presParOf" srcId="{8979A76C-D61D-6741-A5C2-163D4E32E8AC}" destId="{015B0615-A51D-BE4E-B6B0-DD65E7B83F35}" srcOrd="3" destOrd="0" presId="urn:microsoft.com/office/officeart/2005/8/layout/process4"/>
    <dgm:cxn modelId="{F0A07E5C-7BE7-864B-A605-80DFA88E66B6}" type="presParOf" srcId="{8979A76C-D61D-6741-A5C2-163D4E32E8AC}" destId="{245DBD2D-001A-1647-A9D4-0EE759999A90}" srcOrd="4" destOrd="0" presId="urn:microsoft.com/office/officeart/2005/8/layout/process4"/>
    <dgm:cxn modelId="{9DB211D9-9E91-874F-811A-0C5840F0C7F2}" type="presParOf" srcId="{DF3A5C78-EC98-1741-8BEE-850D17600ECC}" destId="{6F136D9B-0A5C-E34F-B2F4-375DFE16F357}" srcOrd="1" destOrd="0" presId="urn:microsoft.com/office/officeart/2005/8/layout/process4"/>
    <dgm:cxn modelId="{C9DD87C1-2DFA-AB4E-94D6-F401CCADBE31}" type="presParOf" srcId="{DF3A5C78-EC98-1741-8BEE-850D17600ECC}" destId="{1D636C84-6705-1F45-A256-C7A55A772094}" srcOrd="2" destOrd="0" presId="urn:microsoft.com/office/officeart/2005/8/layout/process4"/>
    <dgm:cxn modelId="{220F264E-8560-9446-901E-F75C824740ED}" type="presParOf" srcId="{1D636C84-6705-1F45-A256-C7A55A772094}" destId="{E96926DD-E710-3B4C-8E85-4706A8EA77F7}" srcOrd="0" destOrd="0" presId="urn:microsoft.com/office/officeart/2005/8/layout/process4"/>
    <dgm:cxn modelId="{E7CDD694-AB85-D54E-9828-7F35A9B308DB}" type="presParOf" srcId="{DF3A5C78-EC98-1741-8BEE-850D17600ECC}" destId="{26B140DD-57C8-1744-9AFB-648706180366}" srcOrd="3" destOrd="0" presId="urn:microsoft.com/office/officeart/2005/8/layout/process4"/>
    <dgm:cxn modelId="{C1A0DF0F-BD36-434A-B4F8-3938D34ECC4F}" type="presParOf" srcId="{DF3A5C78-EC98-1741-8BEE-850D17600ECC}" destId="{3DB74973-3E5B-1B47-83A0-703004048F1D}" srcOrd="4" destOrd="0" presId="urn:microsoft.com/office/officeart/2005/8/layout/process4"/>
    <dgm:cxn modelId="{65251FD4-3B80-E742-8D3C-6FB8FFBCBAFF}" type="presParOf" srcId="{3DB74973-3E5B-1B47-83A0-703004048F1D}" destId="{01AE4E59-7A07-2540-9D90-9EB69C1E6E80}" srcOrd="0" destOrd="0" presId="urn:microsoft.com/office/officeart/2005/8/layout/process4"/>
    <dgm:cxn modelId="{41B208E6-E170-F344-BC27-E5E68C8A4BCE}" type="presParOf" srcId="{DF3A5C78-EC98-1741-8BEE-850D17600ECC}" destId="{FF0428FE-3CD2-7A4A-8919-81FAED4C4DEF}" srcOrd="5" destOrd="0" presId="urn:microsoft.com/office/officeart/2005/8/layout/process4"/>
    <dgm:cxn modelId="{B08FE5BC-2C54-0C46-964A-363BC06F3BF1}" type="presParOf" srcId="{DF3A5C78-EC98-1741-8BEE-850D17600ECC}" destId="{E50A026F-7F60-EF42-97BE-EA170EA81E00}" srcOrd="6" destOrd="0" presId="urn:microsoft.com/office/officeart/2005/8/layout/process4"/>
    <dgm:cxn modelId="{FC5DCD64-CEC8-114A-AB8B-1E7C96FA80C0}" type="presParOf" srcId="{E50A026F-7F60-EF42-97BE-EA170EA81E00}" destId="{4CCC5995-C980-C545-822B-7C2E6DA5B193}"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6F9CABA-3528-F84C-992E-FDCB53DA4C60}" type="doc">
      <dgm:prSet loTypeId="urn:microsoft.com/office/officeart/2005/8/layout/pyramid2" loCatId="pyramid" qsTypeId="urn:microsoft.com/office/officeart/2005/8/quickstyle/simple4" qsCatId="simple" csTypeId="urn:microsoft.com/office/officeart/2005/8/colors/accent1_2" csCatId="accent1"/>
      <dgm:spPr/>
      <dgm:t>
        <a:bodyPr/>
        <a:lstStyle/>
        <a:p>
          <a:endParaRPr lang="en-US"/>
        </a:p>
      </dgm:t>
    </dgm:pt>
    <dgm:pt modelId="{42C3DE85-4F24-8D44-97B4-EF1AD5BC92AA}">
      <dgm:prSet/>
      <dgm:spPr>
        <a:xfrm rot="20654831">
          <a:off x="54580" y="388731"/>
          <a:ext cx="2976302" cy="813832"/>
        </a:xfrm>
        <a:prstGeom prst="roundRect">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Addresses</a:t>
          </a:r>
        </a:p>
      </dgm:t>
    </dgm:pt>
    <dgm:pt modelId="{D4986A68-F696-BF4C-83C3-309739422D43}" type="parTrans" cxnId="{67D77EFB-790C-9947-9ED5-43DA84E56231}">
      <dgm:prSet/>
      <dgm:spPr/>
      <dgm:t>
        <a:bodyPr/>
        <a:lstStyle/>
        <a:p>
          <a:endParaRPr lang="en-US"/>
        </a:p>
      </dgm:t>
    </dgm:pt>
    <dgm:pt modelId="{B88ECBFA-BB73-A448-B5E7-F763C2215A4A}" type="sibTrans" cxnId="{67D77EFB-790C-9947-9ED5-43DA84E56231}">
      <dgm:prSet/>
      <dgm:spPr/>
      <dgm:t>
        <a:bodyPr/>
        <a:lstStyle/>
        <a:p>
          <a:endParaRPr lang="en-US"/>
        </a:p>
      </dgm:t>
    </dgm:pt>
    <dgm:pt modelId="{741CE14A-8B08-3F4E-8319-CFE1956DC52E}">
      <dgm:prSet/>
      <dgm:spPr>
        <a:xfrm rot="946966">
          <a:off x="4516451" y="992100"/>
          <a:ext cx="2976302" cy="813832"/>
        </a:xfrm>
        <a:prstGeom prst="roundRect">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Numbers</a:t>
          </a:r>
        </a:p>
      </dgm:t>
    </dgm:pt>
    <dgm:pt modelId="{7E69B0DC-AF4A-864C-8080-277020E4B8A1}" type="parTrans" cxnId="{D983EBA5-3E65-F14D-A1C5-99C01869DD62}">
      <dgm:prSet/>
      <dgm:spPr/>
      <dgm:t>
        <a:bodyPr/>
        <a:lstStyle/>
        <a:p>
          <a:endParaRPr lang="en-US"/>
        </a:p>
      </dgm:t>
    </dgm:pt>
    <dgm:pt modelId="{DC78CE80-320B-FC4F-8789-B0B0BEC65094}" type="sibTrans" cxnId="{D983EBA5-3E65-F14D-A1C5-99C01869DD62}">
      <dgm:prSet/>
      <dgm:spPr/>
      <dgm:t>
        <a:bodyPr/>
        <a:lstStyle/>
        <a:p>
          <a:endParaRPr lang="en-US"/>
        </a:p>
      </dgm:t>
    </dgm:pt>
    <dgm:pt modelId="{867FFA81-B28C-B64F-A24A-2DF78351BA0E}">
      <dgm:prSet/>
      <dgm:spPr>
        <a:xfrm rot="846432">
          <a:off x="144470" y="2487281"/>
          <a:ext cx="2976302" cy="813832"/>
        </a:xfrm>
        <a:prstGeom prst="roundRect">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Characters</a:t>
          </a:r>
        </a:p>
      </dgm:t>
    </dgm:pt>
    <dgm:pt modelId="{5754A166-6DD0-2543-A230-72609DFD3E05}" type="parTrans" cxnId="{E0E13F9F-F7F7-A240-B222-52A7F9059F33}">
      <dgm:prSet/>
      <dgm:spPr/>
      <dgm:t>
        <a:bodyPr/>
        <a:lstStyle/>
        <a:p>
          <a:endParaRPr lang="en-US"/>
        </a:p>
      </dgm:t>
    </dgm:pt>
    <dgm:pt modelId="{083ECC6E-F55A-B24D-B922-7F00E1A7A68C}" type="sibTrans" cxnId="{E0E13F9F-F7F7-A240-B222-52A7F9059F33}">
      <dgm:prSet/>
      <dgm:spPr/>
      <dgm:t>
        <a:bodyPr/>
        <a:lstStyle/>
        <a:p>
          <a:endParaRPr lang="en-US"/>
        </a:p>
      </dgm:t>
    </dgm:pt>
    <dgm:pt modelId="{5279767A-DFDC-E544-9A2C-7BD6B9B8971D}">
      <dgm:prSet/>
      <dgm:spPr>
        <a:xfrm rot="20892888">
          <a:off x="4415554" y="3042722"/>
          <a:ext cx="2976302" cy="813832"/>
        </a:xfrm>
        <a:prstGeom prst="roundRect">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Logical Data</a:t>
          </a:r>
        </a:p>
      </dgm:t>
    </dgm:pt>
    <dgm:pt modelId="{344845FF-FCA7-C441-AC91-2DCC72057B6F}" type="parTrans" cxnId="{19FC090A-6821-234B-9A9F-05F758D69805}">
      <dgm:prSet/>
      <dgm:spPr/>
      <dgm:t>
        <a:bodyPr/>
        <a:lstStyle/>
        <a:p>
          <a:endParaRPr lang="en-US"/>
        </a:p>
      </dgm:t>
    </dgm:pt>
    <dgm:pt modelId="{B8815F53-6499-C04C-8EE4-1A5DE3415814}" type="sibTrans" cxnId="{19FC090A-6821-234B-9A9F-05F758D69805}">
      <dgm:prSet/>
      <dgm:spPr/>
      <dgm:t>
        <a:bodyPr/>
        <a:lstStyle/>
        <a:p>
          <a:endParaRPr lang="en-US"/>
        </a:p>
      </dgm:t>
    </dgm:pt>
    <dgm:pt modelId="{5CF45BD6-8F4A-0C4D-AF4F-A24BA271FF16}" type="pres">
      <dgm:prSet presAssocID="{A6F9CABA-3528-F84C-992E-FDCB53DA4C60}" presName="compositeShape" presStyleCnt="0">
        <dgm:presLayoutVars>
          <dgm:dir/>
          <dgm:resizeHandles/>
        </dgm:presLayoutVars>
      </dgm:prSet>
      <dgm:spPr/>
    </dgm:pt>
    <dgm:pt modelId="{398EBC3F-3409-F640-A552-34E0EE96B84E}" type="pres">
      <dgm:prSet presAssocID="{A6F9CABA-3528-F84C-992E-FDCB53DA4C60}" presName="pyramid" presStyleLbl="node1" presStyleIdx="0" presStyleCnt="1"/>
      <dgm:spPr>
        <a:xfrm>
          <a:off x="1311208" y="0"/>
          <a:ext cx="4578927" cy="4578927"/>
        </a:xfrm>
        <a:prstGeom prst="triangle">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gm:spPr>
    </dgm:pt>
    <dgm:pt modelId="{89249B60-BBF0-E64B-B7E5-5B1BD5D28EA0}" type="pres">
      <dgm:prSet presAssocID="{A6F9CABA-3528-F84C-992E-FDCB53DA4C60}" presName="theList" presStyleCnt="0"/>
      <dgm:spPr/>
    </dgm:pt>
    <dgm:pt modelId="{7C8309DA-5AF4-ED4B-8005-9099F3579E74}" type="pres">
      <dgm:prSet presAssocID="{42C3DE85-4F24-8D44-97B4-EF1AD5BC92AA}" presName="aNode" presStyleLbl="fgAcc1" presStyleIdx="0" presStyleCnt="4" custAng="20654831" custLinFactX="-23807" custLinFactNeighborX="-100000" custLinFactNeighborY="-68425">
        <dgm:presLayoutVars>
          <dgm:bulletEnabled val="1"/>
        </dgm:presLayoutVars>
      </dgm:prSet>
      <dgm:spPr/>
    </dgm:pt>
    <dgm:pt modelId="{25A0A0CD-3DF9-614D-8A3D-A358B5E2C032}" type="pres">
      <dgm:prSet presAssocID="{42C3DE85-4F24-8D44-97B4-EF1AD5BC92AA}" presName="aSpace" presStyleCnt="0"/>
      <dgm:spPr/>
    </dgm:pt>
    <dgm:pt modelId="{60D366F8-501D-8042-914B-93C4C14B955F}" type="pres">
      <dgm:prSet presAssocID="{741CE14A-8B08-3F4E-8319-CFE1956DC52E}" presName="aNode" presStyleLbl="fgAcc1" presStyleIdx="1" presStyleCnt="4" custAng="946966" custLinFactY="-34414" custLinFactNeighborX="30769" custLinFactNeighborY="-100000">
        <dgm:presLayoutVars>
          <dgm:bulletEnabled val="1"/>
        </dgm:presLayoutVars>
      </dgm:prSet>
      <dgm:spPr/>
    </dgm:pt>
    <dgm:pt modelId="{B1AD53EE-B26B-D341-93BE-77B2269226D9}" type="pres">
      <dgm:prSet presAssocID="{741CE14A-8B08-3F4E-8319-CFE1956DC52E}" presName="aSpace" presStyleCnt="0"/>
      <dgm:spPr/>
    </dgm:pt>
    <dgm:pt modelId="{7EB31862-2E15-EC40-92A8-38C0729D347E}" type="pres">
      <dgm:prSet presAssocID="{867FFA81-B28C-B64F-A24A-2DF78351BA0E}" presName="aNode" presStyleLbl="fgAcc1" presStyleIdx="2" presStyleCnt="4" custAng="846432" custLinFactX="-16124" custLinFactY="11807" custLinFactNeighborX="-100000" custLinFactNeighborY="100000">
        <dgm:presLayoutVars>
          <dgm:bulletEnabled val="1"/>
        </dgm:presLayoutVars>
      </dgm:prSet>
      <dgm:spPr/>
    </dgm:pt>
    <dgm:pt modelId="{DE718506-3475-7844-A054-A06334EAB2CC}" type="pres">
      <dgm:prSet presAssocID="{867FFA81-B28C-B64F-A24A-2DF78351BA0E}" presName="aSpace" presStyleCnt="0"/>
      <dgm:spPr/>
    </dgm:pt>
    <dgm:pt modelId="{98354637-29DA-C24D-92DF-1340B4B82D84}" type="pres">
      <dgm:prSet presAssocID="{5279767A-DFDC-E544-9A2C-7BD6B9B8971D}" presName="aNode" presStyleLbl="fgAcc1" presStyleIdx="3" presStyleCnt="4" custAng="20892888" custLinFactY="-7443" custLinFactNeighborX="27379" custLinFactNeighborY="-100000">
        <dgm:presLayoutVars>
          <dgm:bulletEnabled val="1"/>
        </dgm:presLayoutVars>
      </dgm:prSet>
      <dgm:spPr/>
    </dgm:pt>
    <dgm:pt modelId="{AA000D6A-C818-CB49-BD55-FD11DC067E17}" type="pres">
      <dgm:prSet presAssocID="{5279767A-DFDC-E544-9A2C-7BD6B9B8971D}" presName="aSpace" presStyleCnt="0"/>
      <dgm:spPr/>
    </dgm:pt>
  </dgm:ptLst>
  <dgm:cxnLst>
    <dgm:cxn modelId="{19FC090A-6821-234B-9A9F-05F758D69805}" srcId="{A6F9CABA-3528-F84C-992E-FDCB53DA4C60}" destId="{5279767A-DFDC-E544-9A2C-7BD6B9B8971D}" srcOrd="3" destOrd="0" parTransId="{344845FF-FCA7-C441-AC91-2DCC72057B6F}" sibTransId="{B8815F53-6499-C04C-8EE4-1A5DE3415814}"/>
    <dgm:cxn modelId="{9B42761A-3B24-344F-85D4-2A227FA88A8A}" type="presOf" srcId="{A6F9CABA-3528-F84C-992E-FDCB53DA4C60}" destId="{5CF45BD6-8F4A-0C4D-AF4F-A24BA271FF16}" srcOrd="0" destOrd="0" presId="urn:microsoft.com/office/officeart/2005/8/layout/pyramid2"/>
    <dgm:cxn modelId="{9D558739-7006-0C4A-8FCA-D37FD51FEA16}" type="presOf" srcId="{5279767A-DFDC-E544-9A2C-7BD6B9B8971D}" destId="{98354637-29DA-C24D-92DF-1340B4B82D84}" srcOrd="0" destOrd="0" presId="urn:microsoft.com/office/officeart/2005/8/layout/pyramid2"/>
    <dgm:cxn modelId="{1E04C35F-5EA8-DD4A-9992-8FAB82063CF7}" type="presOf" srcId="{42C3DE85-4F24-8D44-97B4-EF1AD5BC92AA}" destId="{7C8309DA-5AF4-ED4B-8005-9099F3579E74}" srcOrd="0" destOrd="0" presId="urn:microsoft.com/office/officeart/2005/8/layout/pyramid2"/>
    <dgm:cxn modelId="{8448968A-2434-D247-8CDD-D07BE0EBD552}" type="presOf" srcId="{867FFA81-B28C-B64F-A24A-2DF78351BA0E}" destId="{7EB31862-2E15-EC40-92A8-38C0729D347E}" srcOrd="0" destOrd="0" presId="urn:microsoft.com/office/officeart/2005/8/layout/pyramid2"/>
    <dgm:cxn modelId="{E0E13F9F-F7F7-A240-B222-52A7F9059F33}" srcId="{A6F9CABA-3528-F84C-992E-FDCB53DA4C60}" destId="{867FFA81-B28C-B64F-A24A-2DF78351BA0E}" srcOrd="2" destOrd="0" parTransId="{5754A166-6DD0-2543-A230-72609DFD3E05}" sibTransId="{083ECC6E-F55A-B24D-B922-7F00E1A7A68C}"/>
    <dgm:cxn modelId="{D983EBA5-3E65-F14D-A1C5-99C01869DD62}" srcId="{A6F9CABA-3528-F84C-992E-FDCB53DA4C60}" destId="{741CE14A-8B08-3F4E-8319-CFE1956DC52E}" srcOrd="1" destOrd="0" parTransId="{7E69B0DC-AF4A-864C-8080-277020E4B8A1}" sibTransId="{DC78CE80-320B-FC4F-8789-B0B0BEC65094}"/>
    <dgm:cxn modelId="{5F3DF0C6-132F-AA47-B06D-7E59F1C329BD}" type="presOf" srcId="{741CE14A-8B08-3F4E-8319-CFE1956DC52E}" destId="{60D366F8-501D-8042-914B-93C4C14B955F}" srcOrd="0" destOrd="0" presId="urn:microsoft.com/office/officeart/2005/8/layout/pyramid2"/>
    <dgm:cxn modelId="{67D77EFB-790C-9947-9ED5-43DA84E56231}" srcId="{A6F9CABA-3528-F84C-992E-FDCB53DA4C60}" destId="{42C3DE85-4F24-8D44-97B4-EF1AD5BC92AA}" srcOrd="0" destOrd="0" parTransId="{D4986A68-F696-BF4C-83C3-309739422D43}" sibTransId="{B88ECBFA-BB73-A448-B5E7-F763C2215A4A}"/>
    <dgm:cxn modelId="{F4064794-33D2-154D-BB8D-4AA10D36E286}" type="presParOf" srcId="{5CF45BD6-8F4A-0C4D-AF4F-A24BA271FF16}" destId="{398EBC3F-3409-F640-A552-34E0EE96B84E}" srcOrd="0" destOrd="0" presId="urn:microsoft.com/office/officeart/2005/8/layout/pyramid2"/>
    <dgm:cxn modelId="{9F86827A-3ECB-8E4C-AD80-EB65E478093E}" type="presParOf" srcId="{5CF45BD6-8F4A-0C4D-AF4F-A24BA271FF16}" destId="{89249B60-BBF0-E64B-B7E5-5B1BD5D28EA0}" srcOrd="1" destOrd="0" presId="urn:microsoft.com/office/officeart/2005/8/layout/pyramid2"/>
    <dgm:cxn modelId="{878CB9F0-784B-514E-BB87-5D8543E11432}" type="presParOf" srcId="{89249B60-BBF0-E64B-B7E5-5B1BD5D28EA0}" destId="{7C8309DA-5AF4-ED4B-8005-9099F3579E74}" srcOrd="0" destOrd="0" presId="urn:microsoft.com/office/officeart/2005/8/layout/pyramid2"/>
    <dgm:cxn modelId="{A89D07A8-1406-5D42-975A-0ABFEC7ADA45}" type="presParOf" srcId="{89249B60-BBF0-E64B-B7E5-5B1BD5D28EA0}" destId="{25A0A0CD-3DF9-614D-8A3D-A358B5E2C032}" srcOrd="1" destOrd="0" presId="urn:microsoft.com/office/officeart/2005/8/layout/pyramid2"/>
    <dgm:cxn modelId="{FDD6AC38-4EF0-FA49-BC07-32A8E109A710}" type="presParOf" srcId="{89249B60-BBF0-E64B-B7E5-5B1BD5D28EA0}" destId="{60D366F8-501D-8042-914B-93C4C14B955F}" srcOrd="2" destOrd="0" presId="urn:microsoft.com/office/officeart/2005/8/layout/pyramid2"/>
    <dgm:cxn modelId="{6D1E8F4B-F51C-894D-B319-C8DF7C985A5B}" type="presParOf" srcId="{89249B60-BBF0-E64B-B7E5-5B1BD5D28EA0}" destId="{B1AD53EE-B26B-D341-93BE-77B2269226D9}" srcOrd="3" destOrd="0" presId="urn:microsoft.com/office/officeart/2005/8/layout/pyramid2"/>
    <dgm:cxn modelId="{A4A8CD58-96AF-904E-9901-767C502FC8CE}" type="presParOf" srcId="{89249B60-BBF0-E64B-B7E5-5B1BD5D28EA0}" destId="{7EB31862-2E15-EC40-92A8-38C0729D347E}" srcOrd="4" destOrd="0" presId="urn:microsoft.com/office/officeart/2005/8/layout/pyramid2"/>
    <dgm:cxn modelId="{33257292-EBBF-1E41-9F6A-A6456C491BBB}" type="presParOf" srcId="{89249B60-BBF0-E64B-B7E5-5B1BD5D28EA0}" destId="{DE718506-3475-7844-A054-A06334EAB2CC}" srcOrd="5" destOrd="0" presId="urn:microsoft.com/office/officeart/2005/8/layout/pyramid2"/>
    <dgm:cxn modelId="{5F48545E-DBEF-1648-9099-54F946D00253}" type="presParOf" srcId="{89249B60-BBF0-E64B-B7E5-5B1BD5D28EA0}" destId="{98354637-29DA-C24D-92DF-1340B4B82D84}" srcOrd="6" destOrd="0" presId="urn:microsoft.com/office/officeart/2005/8/layout/pyramid2"/>
    <dgm:cxn modelId="{78CB1FBE-164D-0242-9328-05199C03076B}" type="presParOf" srcId="{89249B60-BBF0-E64B-B7E5-5B1BD5D28EA0}" destId="{AA000D6A-C818-CB49-BD55-FD11DC067E17}" srcOrd="7"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6B8BB17-05F5-5449-87B4-F1418C4ECDD7}" type="doc">
      <dgm:prSet loTypeId="urn:microsoft.com/office/officeart/2005/8/layout/arrow5" loCatId="relationship" qsTypeId="urn:microsoft.com/office/officeart/2005/8/quickstyle/simple4" qsCatId="simple" csTypeId="urn:microsoft.com/office/officeart/2005/8/colors/accent1_2" csCatId="accent1" phldr="1"/>
      <dgm:spPr/>
      <dgm:t>
        <a:bodyPr/>
        <a:lstStyle/>
        <a:p>
          <a:endParaRPr lang="en-US"/>
        </a:p>
      </dgm:t>
    </dgm:pt>
    <dgm:pt modelId="{CBD291A9-E9FF-6441-96AE-58549F227598}">
      <dgm:prSet/>
      <dgm:spPr>
        <a:xfrm rot="16200000">
          <a:off x="654" y="383734"/>
          <a:ext cx="4109330" cy="4109330"/>
        </a:xfrm>
        <a:prstGeom prst="downArrow">
          <a:avLst>
            <a:gd name="adj1" fmla="val 50000"/>
            <a:gd name="adj2" fmla="val 35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Most fundamental type of machine instruction</a:t>
          </a:r>
        </a:p>
      </dgm:t>
    </dgm:pt>
    <dgm:pt modelId="{87A839AE-A231-434A-8004-1444BFBEC906}" type="parTrans" cxnId="{0F361E3E-E4EE-8E49-9719-C6BBBE83CB5B}">
      <dgm:prSet/>
      <dgm:spPr/>
      <dgm:t>
        <a:bodyPr/>
        <a:lstStyle/>
        <a:p>
          <a:endParaRPr lang="en-US"/>
        </a:p>
      </dgm:t>
    </dgm:pt>
    <dgm:pt modelId="{F1B9C5B5-C301-3644-BC18-1FCD18A554E4}" type="sibTrans" cxnId="{0F361E3E-E4EE-8E49-9719-C6BBBE83CB5B}">
      <dgm:prSet/>
      <dgm:spPr/>
      <dgm:t>
        <a:bodyPr/>
        <a:lstStyle/>
        <a:p>
          <a:endParaRPr lang="en-US"/>
        </a:p>
      </dgm:t>
    </dgm:pt>
    <dgm:pt modelId="{A3735CA2-6882-004E-9088-38AE4D4B7E36}">
      <dgm:prSet/>
      <dgm:spPr>
        <a:xfrm rot="5400000">
          <a:off x="4348215" y="383734"/>
          <a:ext cx="4109330" cy="4109330"/>
        </a:xfrm>
        <a:prstGeom prst="downArrow">
          <a:avLst>
            <a:gd name="adj1" fmla="val 50000"/>
            <a:gd name="adj2" fmla="val 35000"/>
          </a:avLst>
        </a:prstGeom>
        <a:solidFill>
          <a:srgbClr val="666699"/>
        </a:soli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Must specify:</a:t>
          </a:r>
        </a:p>
      </dgm:t>
    </dgm:pt>
    <dgm:pt modelId="{3D421804-C29E-B041-9B9B-1F06A8E20150}" type="parTrans" cxnId="{3A2415C0-C5FF-8043-A7A6-6C9306F2ED29}">
      <dgm:prSet/>
      <dgm:spPr/>
      <dgm:t>
        <a:bodyPr/>
        <a:lstStyle/>
        <a:p>
          <a:endParaRPr lang="en-US"/>
        </a:p>
      </dgm:t>
    </dgm:pt>
    <dgm:pt modelId="{3EC18245-13C0-3C46-8DF4-15A4ADB1D653}" type="sibTrans" cxnId="{3A2415C0-C5FF-8043-A7A6-6C9306F2ED29}">
      <dgm:prSet/>
      <dgm:spPr/>
      <dgm:t>
        <a:bodyPr/>
        <a:lstStyle/>
        <a:p>
          <a:endParaRPr lang="en-US"/>
        </a:p>
      </dgm:t>
    </dgm:pt>
    <dgm:pt modelId="{2DC71C04-B9F7-4E4E-8AF5-7B0AA79E7F90}">
      <dgm:prSet/>
      <dgm:spPr>
        <a:xfrm rot="5400000">
          <a:off x="4348215" y="383734"/>
          <a:ext cx="4109330" cy="4109330"/>
        </a:xfrm>
        <a:prstGeom prst="downArrow">
          <a:avLst>
            <a:gd name="adj1" fmla="val 50000"/>
            <a:gd name="adj2" fmla="val 35000"/>
          </a:avLst>
        </a:prstGeom>
        <a:solidFill>
          <a:srgbClr val="666699"/>
        </a:soli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Location of the source and destination operands</a:t>
          </a:r>
        </a:p>
      </dgm:t>
    </dgm:pt>
    <dgm:pt modelId="{20115340-B054-344F-9358-BA2C3C796607}" type="parTrans" cxnId="{BE718F78-29C9-2447-9DF1-FBC668157B4F}">
      <dgm:prSet/>
      <dgm:spPr/>
      <dgm:t>
        <a:bodyPr/>
        <a:lstStyle/>
        <a:p>
          <a:endParaRPr lang="en-US"/>
        </a:p>
      </dgm:t>
    </dgm:pt>
    <dgm:pt modelId="{E52EE69E-F700-4C4D-9DD3-E6DDAC914DCB}" type="sibTrans" cxnId="{BE718F78-29C9-2447-9DF1-FBC668157B4F}">
      <dgm:prSet/>
      <dgm:spPr/>
      <dgm:t>
        <a:bodyPr/>
        <a:lstStyle/>
        <a:p>
          <a:endParaRPr lang="en-US"/>
        </a:p>
      </dgm:t>
    </dgm:pt>
    <dgm:pt modelId="{AE35FDD7-8313-ED48-9898-4AB22980C4E1}">
      <dgm:prSet/>
      <dgm:spPr>
        <a:xfrm rot="5400000">
          <a:off x="4348215" y="383734"/>
          <a:ext cx="4109330" cy="4109330"/>
        </a:xfrm>
        <a:prstGeom prst="downArrow">
          <a:avLst>
            <a:gd name="adj1" fmla="val 50000"/>
            <a:gd name="adj2" fmla="val 35000"/>
          </a:avLst>
        </a:prstGeom>
        <a:solidFill>
          <a:srgbClr val="666699"/>
        </a:soli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The length of data to be transferred must be indicated</a:t>
          </a:r>
        </a:p>
      </dgm:t>
    </dgm:pt>
    <dgm:pt modelId="{B82C8499-8741-DB42-BDE1-E3254C7FCA36}" type="parTrans" cxnId="{DFC38B20-8E0C-D24A-AB10-83E9CD60F39C}">
      <dgm:prSet/>
      <dgm:spPr/>
      <dgm:t>
        <a:bodyPr/>
        <a:lstStyle/>
        <a:p>
          <a:endParaRPr lang="en-US"/>
        </a:p>
      </dgm:t>
    </dgm:pt>
    <dgm:pt modelId="{404121AF-ECD2-7F45-A293-FBE1A881E821}" type="sibTrans" cxnId="{DFC38B20-8E0C-D24A-AB10-83E9CD60F39C}">
      <dgm:prSet/>
      <dgm:spPr/>
      <dgm:t>
        <a:bodyPr/>
        <a:lstStyle/>
        <a:p>
          <a:endParaRPr lang="en-US"/>
        </a:p>
      </dgm:t>
    </dgm:pt>
    <dgm:pt modelId="{82BD964D-2096-0D44-9011-C9F48B9CAE1D}">
      <dgm:prSet/>
      <dgm:spPr>
        <a:xfrm rot="5400000">
          <a:off x="4348215" y="383734"/>
          <a:ext cx="4109330" cy="4109330"/>
        </a:xfrm>
        <a:prstGeom prst="downArrow">
          <a:avLst>
            <a:gd name="adj1" fmla="val 50000"/>
            <a:gd name="adj2" fmla="val 35000"/>
          </a:avLst>
        </a:prstGeom>
        <a:solidFill>
          <a:srgbClr val="666699"/>
        </a:soli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The mode of addressing for each operand must be specified</a:t>
          </a:r>
        </a:p>
      </dgm:t>
    </dgm:pt>
    <dgm:pt modelId="{57C3DBB5-12BC-DD49-BEE1-0FDDB1BB45A3}" type="parTrans" cxnId="{EE87D561-7A7F-CB40-B809-B995BC4D9773}">
      <dgm:prSet/>
      <dgm:spPr/>
      <dgm:t>
        <a:bodyPr/>
        <a:lstStyle/>
        <a:p>
          <a:endParaRPr lang="en-US"/>
        </a:p>
      </dgm:t>
    </dgm:pt>
    <dgm:pt modelId="{CC52B425-3B96-BF49-BD9A-8132E746CA20}" type="sibTrans" cxnId="{EE87D561-7A7F-CB40-B809-B995BC4D9773}">
      <dgm:prSet/>
      <dgm:spPr/>
      <dgm:t>
        <a:bodyPr/>
        <a:lstStyle/>
        <a:p>
          <a:endParaRPr lang="en-US"/>
        </a:p>
      </dgm:t>
    </dgm:pt>
    <dgm:pt modelId="{BC060FFF-4EE9-C04F-B485-F21B3CC81355}" type="pres">
      <dgm:prSet presAssocID="{16B8BB17-05F5-5449-87B4-F1418C4ECDD7}" presName="diagram" presStyleCnt="0">
        <dgm:presLayoutVars>
          <dgm:dir/>
          <dgm:resizeHandles val="exact"/>
        </dgm:presLayoutVars>
      </dgm:prSet>
      <dgm:spPr/>
    </dgm:pt>
    <dgm:pt modelId="{2E9B4566-06DF-0D42-B507-3EED37032151}" type="pres">
      <dgm:prSet presAssocID="{CBD291A9-E9FF-6441-96AE-58549F227598}" presName="arrow" presStyleLbl="node1" presStyleIdx="0" presStyleCnt="2">
        <dgm:presLayoutVars>
          <dgm:bulletEnabled val="1"/>
        </dgm:presLayoutVars>
      </dgm:prSet>
      <dgm:spPr/>
    </dgm:pt>
    <dgm:pt modelId="{F67F22A8-9610-4948-A69C-A8949F131989}" type="pres">
      <dgm:prSet presAssocID="{A3735CA2-6882-004E-9088-38AE4D4B7E36}" presName="arrow" presStyleLbl="node1" presStyleIdx="1" presStyleCnt="2">
        <dgm:presLayoutVars>
          <dgm:bulletEnabled val="1"/>
        </dgm:presLayoutVars>
      </dgm:prSet>
      <dgm:spPr/>
    </dgm:pt>
  </dgm:ptLst>
  <dgm:cxnLst>
    <dgm:cxn modelId="{DFC38B20-8E0C-D24A-AB10-83E9CD60F39C}" srcId="{A3735CA2-6882-004E-9088-38AE4D4B7E36}" destId="{AE35FDD7-8313-ED48-9898-4AB22980C4E1}" srcOrd="1" destOrd="0" parTransId="{B82C8499-8741-DB42-BDE1-E3254C7FCA36}" sibTransId="{404121AF-ECD2-7F45-A293-FBE1A881E821}"/>
    <dgm:cxn modelId="{55E0DE39-5037-A54F-AE3A-E230A73A48F7}" type="presOf" srcId="{16B8BB17-05F5-5449-87B4-F1418C4ECDD7}" destId="{BC060FFF-4EE9-C04F-B485-F21B3CC81355}" srcOrd="0" destOrd="0" presId="urn:microsoft.com/office/officeart/2005/8/layout/arrow5"/>
    <dgm:cxn modelId="{0F361E3E-E4EE-8E49-9719-C6BBBE83CB5B}" srcId="{16B8BB17-05F5-5449-87B4-F1418C4ECDD7}" destId="{CBD291A9-E9FF-6441-96AE-58549F227598}" srcOrd="0" destOrd="0" parTransId="{87A839AE-A231-434A-8004-1444BFBEC906}" sibTransId="{F1B9C5B5-C301-3644-BC18-1FCD18A554E4}"/>
    <dgm:cxn modelId="{EE87D561-7A7F-CB40-B809-B995BC4D9773}" srcId="{A3735CA2-6882-004E-9088-38AE4D4B7E36}" destId="{82BD964D-2096-0D44-9011-C9F48B9CAE1D}" srcOrd="2" destOrd="0" parTransId="{57C3DBB5-12BC-DD49-BEE1-0FDDB1BB45A3}" sibTransId="{CC52B425-3B96-BF49-BD9A-8132E746CA20}"/>
    <dgm:cxn modelId="{37CDE568-9E67-5C41-B72A-852406D852C9}" type="presOf" srcId="{2DC71C04-B9F7-4E4E-8AF5-7B0AA79E7F90}" destId="{F67F22A8-9610-4948-A69C-A8949F131989}" srcOrd="0" destOrd="1" presId="urn:microsoft.com/office/officeart/2005/8/layout/arrow5"/>
    <dgm:cxn modelId="{FF458750-EE9D-3243-AEF7-EB87D33EACAE}" type="presOf" srcId="{82BD964D-2096-0D44-9011-C9F48B9CAE1D}" destId="{F67F22A8-9610-4948-A69C-A8949F131989}" srcOrd="0" destOrd="3" presId="urn:microsoft.com/office/officeart/2005/8/layout/arrow5"/>
    <dgm:cxn modelId="{BE718F78-29C9-2447-9DF1-FBC668157B4F}" srcId="{A3735CA2-6882-004E-9088-38AE4D4B7E36}" destId="{2DC71C04-B9F7-4E4E-8AF5-7B0AA79E7F90}" srcOrd="0" destOrd="0" parTransId="{20115340-B054-344F-9358-BA2C3C796607}" sibTransId="{E52EE69E-F700-4C4D-9DD3-E6DDAC914DCB}"/>
    <dgm:cxn modelId="{6D9E3294-F276-384F-BE0D-7AF6A23A1E56}" type="presOf" srcId="{CBD291A9-E9FF-6441-96AE-58549F227598}" destId="{2E9B4566-06DF-0D42-B507-3EED37032151}" srcOrd="0" destOrd="0" presId="urn:microsoft.com/office/officeart/2005/8/layout/arrow5"/>
    <dgm:cxn modelId="{66DABE9E-C9DF-9A41-9AB6-2C6D3A7BE894}" type="presOf" srcId="{A3735CA2-6882-004E-9088-38AE4D4B7E36}" destId="{F67F22A8-9610-4948-A69C-A8949F131989}" srcOrd="0" destOrd="0" presId="urn:microsoft.com/office/officeart/2005/8/layout/arrow5"/>
    <dgm:cxn modelId="{8C5091AD-3730-C64C-B052-958C84E64D6A}" type="presOf" srcId="{AE35FDD7-8313-ED48-9898-4AB22980C4E1}" destId="{F67F22A8-9610-4948-A69C-A8949F131989}" srcOrd="0" destOrd="2" presId="urn:microsoft.com/office/officeart/2005/8/layout/arrow5"/>
    <dgm:cxn modelId="{3A2415C0-C5FF-8043-A7A6-6C9306F2ED29}" srcId="{16B8BB17-05F5-5449-87B4-F1418C4ECDD7}" destId="{A3735CA2-6882-004E-9088-38AE4D4B7E36}" srcOrd="1" destOrd="0" parTransId="{3D421804-C29E-B041-9B9B-1F06A8E20150}" sibTransId="{3EC18245-13C0-3C46-8DF4-15A4ADB1D653}"/>
    <dgm:cxn modelId="{F2797C5C-27D5-6749-973B-007B029C66DC}" type="presParOf" srcId="{BC060FFF-4EE9-C04F-B485-F21B3CC81355}" destId="{2E9B4566-06DF-0D42-B507-3EED37032151}" srcOrd="0" destOrd="0" presId="urn:microsoft.com/office/officeart/2005/8/layout/arrow5"/>
    <dgm:cxn modelId="{8882964E-C656-FF47-859C-9313D4FFB135}" type="presParOf" srcId="{BC060FFF-4EE9-C04F-B485-F21B3CC81355}" destId="{F67F22A8-9610-4948-A69C-A8949F131989}" srcOrd="1" destOrd="0" presId="urn:microsoft.com/office/officeart/2005/8/layout/arrow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3774423-9D28-FD4D-93B2-1D121FAEBFFB}" type="doc">
      <dgm:prSet loTypeId="urn:microsoft.com/office/officeart/2005/8/layout/bProcess2" loCatId="process" qsTypeId="urn:microsoft.com/office/officeart/2005/8/quickstyle/simple4" qsCatId="simple" csTypeId="urn:microsoft.com/office/officeart/2005/8/colors/accent1_2" csCatId="accent1" phldr="1"/>
      <dgm:spPr/>
      <dgm:t>
        <a:bodyPr/>
        <a:lstStyle/>
        <a:p>
          <a:endParaRPr lang="en-US"/>
        </a:p>
      </dgm:t>
    </dgm:pt>
    <dgm:pt modelId="{AC13097E-47F1-3C41-8E12-3F1DFDA8016C}">
      <dgm:prSet/>
      <dgm:spPr>
        <a:xfrm>
          <a:off x="265934" y="119324"/>
          <a:ext cx="2988597" cy="2988597"/>
        </a:xfrm>
        <a:prstGeom prst="ellipse">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Instructions that change the format or operate on the format of data</a:t>
          </a:r>
        </a:p>
      </dgm:t>
    </dgm:pt>
    <dgm:pt modelId="{9F9A3FF6-15CE-9940-8972-9476304E32C9}" type="parTrans" cxnId="{9DC34341-C9E0-2F49-9BC8-2A74DE58FA85}">
      <dgm:prSet/>
      <dgm:spPr/>
      <dgm:t>
        <a:bodyPr/>
        <a:lstStyle/>
        <a:p>
          <a:endParaRPr lang="en-US"/>
        </a:p>
      </dgm:t>
    </dgm:pt>
    <dgm:pt modelId="{71E24C2E-E756-2D42-BECA-7734384383F2}" type="sibTrans" cxnId="{9DC34341-C9E0-2F49-9BC8-2A74DE58FA85}">
      <dgm:prSet/>
      <dgm:spPr>
        <a:xfrm rot="9682874">
          <a:off x="1922770" y="3312496"/>
          <a:ext cx="1046009" cy="671936"/>
        </a:xfrm>
        <a:prstGeom prst="triangle">
          <a:avLst/>
        </a:prstGeom>
        <a:solidFill>
          <a:srgbClr val="666699"/>
        </a:soli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endParaRPr lang="en-US" dirty="0"/>
        </a:p>
      </dgm:t>
    </dgm:pt>
    <dgm:pt modelId="{8C7A5930-8A3D-0842-AF29-1EA693AA6B99}">
      <dgm:prSet/>
      <dgm:spPr>
        <a:xfrm>
          <a:off x="1963607" y="4179006"/>
          <a:ext cx="1993394" cy="1993394"/>
        </a:xfrm>
        <a:prstGeom prst="ellipse">
          <a:avLst/>
        </a:prstGeom>
        <a:solidFill>
          <a:srgbClr val="999966"/>
        </a:solidFill>
        <a:ln>
          <a:solidFill>
            <a:srgbClr val="999966"/>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rgbClr val="2B142D"/>
              </a:solidFill>
              <a:effectLst>
                <a:outerShdw blurRad="38100" dist="38100" dir="2700000" algn="tl">
                  <a:srgbClr val="000000">
                    <a:alpha val="43137"/>
                  </a:srgbClr>
                </a:outerShdw>
              </a:effectLst>
              <a:latin typeface="Rockwell"/>
              <a:ea typeface="+mn-ea"/>
              <a:cs typeface="+mn-cs"/>
            </a:rPr>
            <a:t>An example is converting from decimal to binary</a:t>
          </a:r>
        </a:p>
      </dgm:t>
    </dgm:pt>
    <dgm:pt modelId="{FEA8845C-C1A2-2141-A2FB-D61E1EB815C1}" type="parTrans" cxnId="{34CDA9B4-D212-0540-B360-08E09EBB7930}">
      <dgm:prSet/>
      <dgm:spPr/>
      <dgm:t>
        <a:bodyPr/>
        <a:lstStyle/>
        <a:p>
          <a:endParaRPr lang="en-US"/>
        </a:p>
      </dgm:t>
    </dgm:pt>
    <dgm:pt modelId="{C91B3ABF-8735-3F41-AD79-6889C5488C39}" type="sibTrans" cxnId="{34CDA9B4-D212-0540-B360-08E09EBB7930}">
      <dgm:prSet/>
      <dgm:spPr>
        <a:xfrm rot="4726641">
          <a:off x="4306020" y="4468950"/>
          <a:ext cx="1046009" cy="671936"/>
        </a:xfrm>
        <a:prstGeom prst="triangle">
          <a:avLst/>
        </a:prstGeom>
        <a:solidFill>
          <a:srgbClr val="663366">
            <a:alpha val="87000"/>
          </a:srgbClr>
        </a:solidFill>
        <a:ln>
          <a:solidFill>
            <a:srgbClr val="999966"/>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endParaRPr lang="en-US" dirty="0"/>
        </a:p>
      </dgm:t>
    </dgm:pt>
    <dgm:pt modelId="{D32CD237-EEB7-EB46-8796-D6217CE89D81}">
      <dgm:prSet/>
      <dgm:spPr>
        <a:xfrm>
          <a:off x="5654226" y="2850394"/>
          <a:ext cx="2988597" cy="2988597"/>
        </a:xfrm>
        <a:prstGeom prst="ellipse">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An example of a more complex editing instruction is the EAS/390 Translate (TR) instruction</a:t>
          </a:r>
        </a:p>
      </dgm:t>
    </dgm:pt>
    <dgm:pt modelId="{4B4DDBC8-29A2-E44D-95A8-EAF6E272A3AF}" type="parTrans" cxnId="{542126F0-3C71-E646-BDD7-F74A868C2FCC}">
      <dgm:prSet/>
      <dgm:spPr/>
      <dgm:t>
        <a:bodyPr/>
        <a:lstStyle/>
        <a:p>
          <a:endParaRPr lang="en-US"/>
        </a:p>
      </dgm:t>
    </dgm:pt>
    <dgm:pt modelId="{7A935499-5AC3-D94B-A08C-71A233C4453D}" type="sibTrans" cxnId="{542126F0-3C71-E646-BDD7-F74A868C2FCC}">
      <dgm:prSet/>
      <dgm:spPr/>
      <dgm:t>
        <a:bodyPr/>
        <a:lstStyle/>
        <a:p>
          <a:endParaRPr lang="en-US"/>
        </a:p>
      </dgm:t>
    </dgm:pt>
    <dgm:pt modelId="{BD084606-F38B-CB4B-A769-6B940EB20879}" type="pres">
      <dgm:prSet presAssocID="{B3774423-9D28-FD4D-93B2-1D121FAEBFFB}" presName="diagram" presStyleCnt="0">
        <dgm:presLayoutVars>
          <dgm:dir/>
          <dgm:resizeHandles/>
        </dgm:presLayoutVars>
      </dgm:prSet>
      <dgm:spPr/>
    </dgm:pt>
    <dgm:pt modelId="{77C9DA8E-8ED9-844B-B613-13FD05010447}" type="pres">
      <dgm:prSet presAssocID="{AC13097E-47F1-3C41-8E12-3F1DFDA8016C}" presName="firstNode" presStyleLbl="node1" presStyleIdx="0" presStyleCnt="3" custLinFactNeighborX="-28127" custLinFactNeighborY="3889">
        <dgm:presLayoutVars>
          <dgm:bulletEnabled val="1"/>
        </dgm:presLayoutVars>
      </dgm:prSet>
      <dgm:spPr/>
    </dgm:pt>
    <dgm:pt modelId="{A565A70D-D266-D14D-801A-624F8C0A17FF}" type="pres">
      <dgm:prSet presAssocID="{71E24C2E-E756-2D42-BECA-7734384383F2}" presName="sibTrans" presStyleLbl="sibTrans2D1" presStyleIdx="0" presStyleCnt="2"/>
      <dgm:spPr/>
    </dgm:pt>
    <dgm:pt modelId="{CAB0B591-34C9-1642-ABA2-85FDD5804C68}" type="pres">
      <dgm:prSet presAssocID="{8C7A5930-8A3D-0842-AF29-1EA693AA6B99}" presName="middleNode" presStyleCnt="0"/>
      <dgm:spPr/>
    </dgm:pt>
    <dgm:pt modelId="{FD036E6B-7CF7-C443-903F-AE4710AA0D4E}" type="pres">
      <dgm:prSet presAssocID="{8C7A5930-8A3D-0842-AF29-1EA693AA6B99}" presName="padding" presStyleLbl="node1" presStyleIdx="0" presStyleCnt="3"/>
      <dgm:spPr/>
    </dgm:pt>
    <dgm:pt modelId="{D26DB3FA-AA5B-7B46-A54F-F769F99A465F}" type="pres">
      <dgm:prSet presAssocID="{8C7A5930-8A3D-0842-AF29-1EA693AA6B99}" presName="shape" presStyleLbl="node1" presStyleIdx="1" presStyleCnt="3" custLinFactNeighborX="18033" custLinFactNeighborY="-17874">
        <dgm:presLayoutVars>
          <dgm:bulletEnabled val="1"/>
        </dgm:presLayoutVars>
      </dgm:prSet>
      <dgm:spPr/>
    </dgm:pt>
    <dgm:pt modelId="{D49EAA5E-508B-AC45-A500-B17EA738C083}" type="pres">
      <dgm:prSet presAssocID="{C91B3ABF-8735-3F41-AD79-6889C5488C39}" presName="sibTrans" presStyleLbl="sibTrans2D1" presStyleIdx="1" presStyleCnt="2"/>
      <dgm:spPr/>
    </dgm:pt>
    <dgm:pt modelId="{4F063FBB-5B0E-B64A-B216-78406CFC0194}" type="pres">
      <dgm:prSet presAssocID="{D32CD237-EEB7-EB46-8796-D6217CE89D81}" presName="lastNode" presStyleLbl="node1" presStyleIdx="2" presStyleCnt="3" custLinFactNeighborX="2168" custLinFactNeighborY="-39728">
        <dgm:presLayoutVars>
          <dgm:bulletEnabled val="1"/>
        </dgm:presLayoutVars>
      </dgm:prSet>
      <dgm:spPr/>
    </dgm:pt>
  </dgm:ptLst>
  <dgm:cxnLst>
    <dgm:cxn modelId="{7EACAE2A-9B6E-E341-B381-59F417B4E898}" type="presOf" srcId="{C91B3ABF-8735-3F41-AD79-6889C5488C39}" destId="{D49EAA5E-508B-AC45-A500-B17EA738C083}" srcOrd="0" destOrd="0" presId="urn:microsoft.com/office/officeart/2005/8/layout/bProcess2"/>
    <dgm:cxn modelId="{9DC34341-C9E0-2F49-9BC8-2A74DE58FA85}" srcId="{B3774423-9D28-FD4D-93B2-1D121FAEBFFB}" destId="{AC13097E-47F1-3C41-8E12-3F1DFDA8016C}" srcOrd="0" destOrd="0" parTransId="{9F9A3FF6-15CE-9940-8972-9476304E32C9}" sibTransId="{71E24C2E-E756-2D42-BECA-7734384383F2}"/>
    <dgm:cxn modelId="{3FDA3566-F370-8146-B0DD-7DE2EC29497C}" type="presOf" srcId="{8C7A5930-8A3D-0842-AF29-1EA693AA6B99}" destId="{D26DB3FA-AA5B-7B46-A54F-F769F99A465F}" srcOrd="0" destOrd="0" presId="urn:microsoft.com/office/officeart/2005/8/layout/bProcess2"/>
    <dgm:cxn modelId="{05F56680-3D88-8246-8A1E-A41798AB9B43}" type="presOf" srcId="{D32CD237-EEB7-EB46-8796-D6217CE89D81}" destId="{4F063FBB-5B0E-B64A-B216-78406CFC0194}" srcOrd="0" destOrd="0" presId="urn:microsoft.com/office/officeart/2005/8/layout/bProcess2"/>
    <dgm:cxn modelId="{5BFF0AB4-AEFD-C643-8812-4D2C132101B6}" type="presOf" srcId="{71E24C2E-E756-2D42-BECA-7734384383F2}" destId="{A565A70D-D266-D14D-801A-624F8C0A17FF}" srcOrd="0" destOrd="0" presId="urn:microsoft.com/office/officeart/2005/8/layout/bProcess2"/>
    <dgm:cxn modelId="{34CDA9B4-D212-0540-B360-08E09EBB7930}" srcId="{B3774423-9D28-FD4D-93B2-1D121FAEBFFB}" destId="{8C7A5930-8A3D-0842-AF29-1EA693AA6B99}" srcOrd="1" destOrd="0" parTransId="{FEA8845C-C1A2-2141-A2FB-D61E1EB815C1}" sibTransId="{C91B3ABF-8735-3F41-AD79-6889C5488C39}"/>
    <dgm:cxn modelId="{9F9CB7B7-99AE-4445-ABEF-5344998360A5}" type="presOf" srcId="{B3774423-9D28-FD4D-93B2-1D121FAEBFFB}" destId="{BD084606-F38B-CB4B-A769-6B940EB20879}" srcOrd="0" destOrd="0" presId="urn:microsoft.com/office/officeart/2005/8/layout/bProcess2"/>
    <dgm:cxn modelId="{C5C99ABF-373F-4F40-BB87-3169F578EB09}" type="presOf" srcId="{AC13097E-47F1-3C41-8E12-3F1DFDA8016C}" destId="{77C9DA8E-8ED9-844B-B613-13FD05010447}" srcOrd="0" destOrd="0" presId="urn:microsoft.com/office/officeart/2005/8/layout/bProcess2"/>
    <dgm:cxn modelId="{542126F0-3C71-E646-BDD7-F74A868C2FCC}" srcId="{B3774423-9D28-FD4D-93B2-1D121FAEBFFB}" destId="{D32CD237-EEB7-EB46-8796-D6217CE89D81}" srcOrd="2" destOrd="0" parTransId="{4B4DDBC8-29A2-E44D-95A8-EAF6E272A3AF}" sibTransId="{7A935499-5AC3-D94B-A08C-71A233C4453D}"/>
    <dgm:cxn modelId="{014F0671-F9C8-B543-AE16-1CCFAEACA96D}" type="presParOf" srcId="{BD084606-F38B-CB4B-A769-6B940EB20879}" destId="{77C9DA8E-8ED9-844B-B613-13FD05010447}" srcOrd="0" destOrd="0" presId="urn:microsoft.com/office/officeart/2005/8/layout/bProcess2"/>
    <dgm:cxn modelId="{78FA1842-87E5-5346-998D-B217B42A2152}" type="presParOf" srcId="{BD084606-F38B-CB4B-A769-6B940EB20879}" destId="{A565A70D-D266-D14D-801A-624F8C0A17FF}" srcOrd="1" destOrd="0" presId="urn:microsoft.com/office/officeart/2005/8/layout/bProcess2"/>
    <dgm:cxn modelId="{6763B0DE-C090-434A-8AF4-5E383A87F407}" type="presParOf" srcId="{BD084606-F38B-CB4B-A769-6B940EB20879}" destId="{CAB0B591-34C9-1642-ABA2-85FDD5804C68}" srcOrd="2" destOrd="0" presId="urn:microsoft.com/office/officeart/2005/8/layout/bProcess2"/>
    <dgm:cxn modelId="{DC1609A1-016D-6145-864B-3549504D758E}" type="presParOf" srcId="{CAB0B591-34C9-1642-ABA2-85FDD5804C68}" destId="{FD036E6B-7CF7-C443-903F-AE4710AA0D4E}" srcOrd="0" destOrd="0" presId="urn:microsoft.com/office/officeart/2005/8/layout/bProcess2"/>
    <dgm:cxn modelId="{FB943F61-B8AC-6C4C-AA3D-E333D1837D4F}" type="presParOf" srcId="{CAB0B591-34C9-1642-ABA2-85FDD5804C68}" destId="{D26DB3FA-AA5B-7B46-A54F-F769F99A465F}" srcOrd="1" destOrd="0" presId="urn:microsoft.com/office/officeart/2005/8/layout/bProcess2"/>
    <dgm:cxn modelId="{9A0B0AC5-C811-1A4B-A282-94E404D13464}" type="presParOf" srcId="{BD084606-F38B-CB4B-A769-6B940EB20879}" destId="{D49EAA5E-508B-AC45-A500-B17EA738C083}" srcOrd="3" destOrd="0" presId="urn:microsoft.com/office/officeart/2005/8/layout/bProcess2"/>
    <dgm:cxn modelId="{4A0583C9-80A6-D844-A8F8-CC5837435F22}" type="presParOf" srcId="{BD084606-F38B-CB4B-A769-6B940EB20879}" destId="{4F063FBB-5B0E-B64A-B216-78406CFC0194}" srcOrd="4" destOrd="0" presId="urn:microsoft.com/office/officeart/2005/8/layout/b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481E9A8-5413-524C-8982-5AF295AA0FD3}" type="doc">
      <dgm:prSet loTypeId="urn:microsoft.com/office/officeart/2005/8/layout/target2" loCatId="relationship" qsTypeId="urn:microsoft.com/office/officeart/2005/8/quickstyle/simple4" qsCatId="simple" csTypeId="urn:microsoft.com/office/officeart/2005/8/colors/accent1_2" csCatId="accent1" phldr="1"/>
      <dgm:spPr/>
      <dgm:t>
        <a:bodyPr/>
        <a:lstStyle/>
        <a:p>
          <a:endParaRPr lang="en-US"/>
        </a:p>
      </dgm:t>
    </dgm:pt>
    <dgm:pt modelId="{EB93D4E5-8CA1-7546-BD15-4BC63FAF4B6A}">
      <dgm:prSet/>
      <dgm:spPr>
        <a:xfrm>
          <a:off x="0" y="0"/>
          <a:ext cx="8229600" cy="4876800"/>
        </a:xfrm>
        <a:prstGeom prst="roundRect">
          <a:avLst>
            <a:gd name="adj" fmla="val 8500"/>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latin typeface="Rockwell"/>
              <a:ea typeface="+mn-ea"/>
              <a:cs typeface="+mn-cs"/>
            </a:rPr>
            <a:t>Instructions that can be executed only while the processor is in a certain privileged state or is executing a program in a special privileged area of memory</a:t>
          </a:r>
        </a:p>
      </dgm:t>
    </dgm:pt>
    <dgm:pt modelId="{EB640E17-8E48-F141-971D-24693C56EA87}" type="parTrans" cxnId="{16BD85AD-A88B-4B4D-B5F1-92ED44540C25}">
      <dgm:prSet/>
      <dgm:spPr/>
      <dgm:t>
        <a:bodyPr/>
        <a:lstStyle/>
        <a:p>
          <a:endParaRPr lang="en-US"/>
        </a:p>
      </dgm:t>
    </dgm:pt>
    <dgm:pt modelId="{67C4524F-BB04-034F-B912-726197C9AA9C}" type="sibTrans" cxnId="{16BD85AD-A88B-4B4D-B5F1-92ED44540C25}">
      <dgm:prSet/>
      <dgm:spPr/>
      <dgm:t>
        <a:bodyPr/>
        <a:lstStyle/>
        <a:p>
          <a:endParaRPr lang="en-US"/>
        </a:p>
      </dgm:t>
    </dgm:pt>
    <dgm:pt modelId="{E9E92FCE-DAF2-3145-BE10-2CF450B85DEB}">
      <dgm:prSet/>
      <dgm:spPr>
        <a:xfrm>
          <a:off x="205740" y="1219200"/>
          <a:ext cx="7818120" cy="3413760"/>
        </a:xfrm>
        <a:prstGeom prst="roundRect">
          <a:avLst>
            <a:gd name="adj" fmla="val 10500"/>
          </a:avLst>
        </a:prstGeom>
        <a:solidFill>
          <a:srgbClr val="999966"/>
        </a:solidFill>
        <a:ln>
          <a:solidFill>
            <a:srgbClr val="999966"/>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latin typeface="Rockwell"/>
              <a:ea typeface="+mn-ea"/>
              <a:cs typeface="+mn-cs"/>
            </a:rPr>
            <a:t>Typically these instructions are reserved for the use of the operating system</a:t>
          </a:r>
        </a:p>
      </dgm:t>
    </dgm:pt>
    <dgm:pt modelId="{E124D7BF-0B29-7341-A590-E3859651EFE8}" type="parTrans" cxnId="{034CB049-2D9B-2A4E-A759-12465CADA4F5}">
      <dgm:prSet/>
      <dgm:spPr/>
      <dgm:t>
        <a:bodyPr/>
        <a:lstStyle/>
        <a:p>
          <a:endParaRPr lang="en-US"/>
        </a:p>
      </dgm:t>
    </dgm:pt>
    <dgm:pt modelId="{A8248814-6852-BD45-A1C1-9B5235C0D061}" type="sibTrans" cxnId="{034CB049-2D9B-2A4E-A759-12465CADA4F5}">
      <dgm:prSet/>
      <dgm:spPr/>
      <dgm:t>
        <a:bodyPr/>
        <a:lstStyle/>
        <a:p>
          <a:endParaRPr lang="en-US"/>
        </a:p>
      </dgm:t>
    </dgm:pt>
    <dgm:pt modelId="{512ECA6A-2A27-5540-BF41-B6C374340369}">
      <dgm:prSet/>
      <dgm:spPr>
        <a:xfrm>
          <a:off x="411480" y="2438400"/>
          <a:ext cx="7406640" cy="1950720"/>
        </a:xfrm>
        <a:prstGeom prst="roundRect">
          <a:avLst>
            <a:gd name="adj" fmla="val 105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latin typeface="Rockwell"/>
              <a:ea typeface="+mn-ea"/>
              <a:cs typeface="+mn-cs"/>
            </a:rPr>
            <a:t>Examples of system control operations:</a:t>
          </a:r>
        </a:p>
      </dgm:t>
    </dgm:pt>
    <dgm:pt modelId="{CD0226D3-EFCC-044F-8293-BD6A9927F1C7}" type="parTrans" cxnId="{6E5CB42C-E4CC-D34B-9875-FE6D13A9601F}">
      <dgm:prSet/>
      <dgm:spPr/>
      <dgm:t>
        <a:bodyPr/>
        <a:lstStyle/>
        <a:p>
          <a:endParaRPr lang="en-US"/>
        </a:p>
      </dgm:t>
    </dgm:pt>
    <dgm:pt modelId="{96C9C5C4-86AC-4F48-A1C8-BD58C310C40D}" type="sibTrans" cxnId="{6E5CB42C-E4CC-D34B-9875-FE6D13A9601F}">
      <dgm:prSet/>
      <dgm:spPr/>
      <dgm:t>
        <a:bodyPr/>
        <a:lstStyle/>
        <a:p>
          <a:endParaRPr lang="en-US"/>
        </a:p>
      </dgm:t>
    </dgm:pt>
    <dgm:pt modelId="{227FAB59-23FC-A843-A078-89F98BD00632}">
      <dgm:prSet/>
      <dgm:spPr>
        <a:xfrm>
          <a:off x="596646" y="3316224"/>
          <a:ext cx="2315659" cy="877824"/>
        </a:xfrm>
        <a:prstGeom prst="roundRect">
          <a:avLst>
            <a:gd name="adj" fmla="val 105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A system control instruction may read or alter a control register</a:t>
          </a:r>
        </a:p>
      </dgm:t>
    </dgm:pt>
    <dgm:pt modelId="{E95E9233-9367-A749-A657-FB18BD734A03}" type="parTrans" cxnId="{49570F3A-F570-5947-9832-877548A89021}">
      <dgm:prSet/>
      <dgm:spPr/>
      <dgm:t>
        <a:bodyPr/>
        <a:lstStyle/>
        <a:p>
          <a:endParaRPr lang="en-US"/>
        </a:p>
      </dgm:t>
    </dgm:pt>
    <dgm:pt modelId="{855ADFB7-AD32-5841-8BBE-52D81A552EB4}" type="sibTrans" cxnId="{49570F3A-F570-5947-9832-877548A89021}">
      <dgm:prSet/>
      <dgm:spPr/>
      <dgm:t>
        <a:bodyPr/>
        <a:lstStyle/>
        <a:p>
          <a:endParaRPr lang="en-US"/>
        </a:p>
      </dgm:t>
    </dgm:pt>
    <dgm:pt modelId="{358AA9CD-32A2-DD46-AAFA-8935BDAFBB20}">
      <dgm:prSet/>
      <dgm:spPr>
        <a:xfrm>
          <a:off x="2952931" y="3316224"/>
          <a:ext cx="2315659" cy="877824"/>
        </a:xfrm>
        <a:prstGeom prst="roundRect">
          <a:avLst>
            <a:gd name="adj" fmla="val 105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An instruction to read or modify a storage protection key</a:t>
          </a:r>
        </a:p>
      </dgm:t>
    </dgm:pt>
    <dgm:pt modelId="{CB640F0B-9187-5E4C-8DC8-B38DB779FCCC}" type="parTrans" cxnId="{8219388E-D945-5845-AE4F-037D6DBA1EB4}">
      <dgm:prSet/>
      <dgm:spPr/>
      <dgm:t>
        <a:bodyPr/>
        <a:lstStyle/>
        <a:p>
          <a:endParaRPr lang="en-US"/>
        </a:p>
      </dgm:t>
    </dgm:pt>
    <dgm:pt modelId="{371191D7-AF4F-C541-832E-2E60F53719DD}" type="sibTrans" cxnId="{8219388E-D945-5845-AE4F-037D6DBA1EB4}">
      <dgm:prSet/>
      <dgm:spPr/>
      <dgm:t>
        <a:bodyPr/>
        <a:lstStyle/>
        <a:p>
          <a:endParaRPr lang="en-US"/>
        </a:p>
      </dgm:t>
    </dgm:pt>
    <dgm:pt modelId="{27A6DB09-7A73-E34E-9751-1D7E0C8AEFDE}">
      <dgm:prSet/>
      <dgm:spPr>
        <a:xfrm>
          <a:off x="5309217" y="3316224"/>
          <a:ext cx="2315659" cy="877824"/>
        </a:xfrm>
        <a:prstGeom prst="roundRect">
          <a:avLst>
            <a:gd name="adj" fmla="val 105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Access to process control blocks in a multiprogramming system</a:t>
          </a:r>
        </a:p>
      </dgm:t>
    </dgm:pt>
    <dgm:pt modelId="{3DDC6881-1159-4749-B696-931528299B1F}" type="parTrans" cxnId="{FD8DB6E4-E0E4-4541-A20B-AB3DB421721B}">
      <dgm:prSet/>
      <dgm:spPr/>
      <dgm:t>
        <a:bodyPr/>
        <a:lstStyle/>
        <a:p>
          <a:endParaRPr lang="en-US"/>
        </a:p>
      </dgm:t>
    </dgm:pt>
    <dgm:pt modelId="{BEA10779-1B79-8748-AEE8-CB0EA20E6DDB}" type="sibTrans" cxnId="{FD8DB6E4-E0E4-4541-A20B-AB3DB421721B}">
      <dgm:prSet/>
      <dgm:spPr/>
      <dgm:t>
        <a:bodyPr/>
        <a:lstStyle/>
        <a:p>
          <a:endParaRPr lang="en-US"/>
        </a:p>
      </dgm:t>
    </dgm:pt>
    <dgm:pt modelId="{C5C93C76-63AF-834D-B8AC-7566894C2FB4}" type="pres">
      <dgm:prSet presAssocID="{2481E9A8-5413-524C-8982-5AF295AA0FD3}" presName="Name0" presStyleCnt="0">
        <dgm:presLayoutVars>
          <dgm:chMax val="3"/>
          <dgm:chPref val="1"/>
          <dgm:dir/>
          <dgm:animLvl val="lvl"/>
          <dgm:resizeHandles/>
        </dgm:presLayoutVars>
      </dgm:prSet>
      <dgm:spPr/>
    </dgm:pt>
    <dgm:pt modelId="{8100030E-98E6-354A-8D6D-3DD51BC2A374}" type="pres">
      <dgm:prSet presAssocID="{2481E9A8-5413-524C-8982-5AF295AA0FD3}" presName="outerBox" presStyleCnt="0"/>
      <dgm:spPr/>
    </dgm:pt>
    <dgm:pt modelId="{C549312C-F687-024F-ADD4-C847C870AB31}" type="pres">
      <dgm:prSet presAssocID="{2481E9A8-5413-524C-8982-5AF295AA0FD3}" presName="outerBoxParent" presStyleLbl="node1" presStyleIdx="0" presStyleCnt="3"/>
      <dgm:spPr/>
    </dgm:pt>
    <dgm:pt modelId="{215EB33E-CBA2-DC48-BEEA-2F9B9488A69E}" type="pres">
      <dgm:prSet presAssocID="{2481E9A8-5413-524C-8982-5AF295AA0FD3}" presName="outerBoxChildren" presStyleCnt="0"/>
      <dgm:spPr/>
    </dgm:pt>
    <dgm:pt modelId="{4C3D4B8A-B173-944B-8BD4-3AAA1D3FAD05}" type="pres">
      <dgm:prSet presAssocID="{2481E9A8-5413-524C-8982-5AF295AA0FD3}" presName="middleBox" presStyleCnt="0"/>
      <dgm:spPr/>
    </dgm:pt>
    <dgm:pt modelId="{4E50C6BF-910E-7348-A303-09A554EEAA0A}" type="pres">
      <dgm:prSet presAssocID="{2481E9A8-5413-524C-8982-5AF295AA0FD3}" presName="middleBoxParent" presStyleLbl="node1" presStyleIdx="1" presStyleCnt="3"/>
      <dgm:spPr/>
    </dgm:pt>
    <dgm:pt modelId="{40300614-778F-E749-8F11-196CEB5AB4BB}" type="pres">
      <dgm:prSet presAssocID="{2481E9A8-5413-524C-8982-5AF295AA0FD3}" presName="middleBoxChildren" presStyleCnt="0"/>
      <dgm:spPr/>
    </dgm:pt>
    <dgm:pt modelId="{74A8EB93-49D2-0744-852E-D67097CACE37}" type="pres">
      <dgm:prSet presAssocID="{2481E9A8-5413-524C-8982-5AF295AA0FD3}" presName="centerBox" presStyleCnt="0"/>
      <dgm:spPr/>
    </dgm:pt>
    <dgm:pt modelId="{6F92330B-2BD8-9C42-AA59-CA71F506DD3E}" type="pres">
      <dgm:prSet presAssocID="{2481E9A8-5413-524C-8982-5AF295AA0FD3}" presName="centerBoxParent" presStyleLbl="node1" presStyleIdx="2" presStyleCnt="3"/>
      <dgm:spPr/>
    </dgm:pt>
    <dgm:pt modelId="{1731A8E3-B1B1-BE4B-B2F6-5F18EDE8EA1C}" type="pres">
      <dgm:prSet presAssocID="{2481E9A8-5413-524C-8982-5AF295AA0FD3}" presName="centerBoxChildren" presStyleCnt="0"/>
      <dgm:spPr/>
    </dgm:pt>
    <dgm:pt modelId="{1FFD221F-6A7C-0B45-912E-7B2D41C939FB}" type="pres">
      <dgm:prSet presAssocID="{227FAB59-23FC-A843-A078-89F98BD00632}" presName="cChild" presStyleLbl="fgAcc1" presStyleIdx="0" presStyleCnt="3">
        <dgm:presLayoutVars>
          <dgm:bulletEnabled val="1"/>
        </dgm:presLayoutVars>
      </dgm:prSet>
      <dgm:spPr/>
    </dgm:pt>
    <dgm:pt modelId="{DBE8ADE2-17F0-2645-A302-D15CBFD891E4}" type="pres">
      <dgm:prSet presAssocID="{855ADFB7-AD32-5841-8BBE-52D81A552EB4}" presName="centerSibTrans" presStyleCnt="0"/>
      <dgm:spPr/>
    </dgm:pt>
    <dgm:pt modelId="{099E1357-5252-C648-9171-1537398C3A8C}" type="pres">
      <dgm:prSet presAssocID="{358AA9CD-32A2-DD46-AAFA-8935BDAFBB20}" presName="cChild" presStyleLbl="fgAcc1" presStyleIdx="1" presStyleCnt="3">
        <dgm:presLayoutVars>
          <dgm:bulletEnabled val="1"/>
        </dgm:presLayoutVars>
      </dgm:prSet>
      <dgm:spPr/>
    </dgm:pt>
    <dgm:pt modelId="{3DD1E83D-F092-734F-8C48-1BC505AC94DC}" type="pres">
      <dgm:prSet presAssocID="{371191D7-AF4F-C541-832E-2E60F53719DD}" presName="centerSibTrans" presStyleCnt="0"/>
      <dgm:spPr/>
    </dgm:pt>
    <dgm:pt modelId="{958E3D0C-1153-3645-896A-A62EDB2811F7}" type="pres">
      <dgm:prSet presAssocID="{27A6DB09-7A73-E34E-9751-1D7E0C8AEFDE}" presName="cChild" presStyleLbl="fgAcc1" presStyleIdx="2" presStyleCnt="3">
        <dgm:presLayoutVars>
          <dgm:bulletEnabled val="1"/>
        </dgm:presLayoutVars>
      </dgm:prSet>
      <dgm:spPr/>
    </dgm:pt>
  </dgm:ptLst>
  <dgm:cxnLst>
    <dgm:cxn modelId="{7DA2A310-0D12-E54C-8A81-C14F9DB4A40D}" type="presOf" srcId="{2481E9A8-5413-524C-8982-5AF295AA0FD3}" destId="{C5C93C76-63AF-834D-B8AC-7566894C2FB4}" srcOrd="0" destOrd="0" presId="urn:microsoft.com/office/officeart/2005/8/layout/target2"/>
    <dgm:cxn modelId="{6E5CB42C-E4CC-D34B-9875-FE6D13A9601F}" srcId="{2481E9A8-5413-524C-8982-5AF295AA0FD3}" destId="{512ECA6A-2A27-5540-BF41-B6C374340369}" srcOrd="2" destOrd="0" parTransId="{CD0226D3-EFCC-044F-8293-BD6A9927F1C7}" sibTransId="{96C9C5C4-86AC-4F48-A1C8-BD58C310C40D}"/>
    <dgm:cxn modelId="{49570F3A-F570-5947-9832-877548A89021}" srcId="{512ECA6A-2A27-5540-BF41-B6C374340369}" destId="{227FAB59-23FC-A843-A078-89F98BD00632}" srcOrd="0" destOrd="0" parTransId="{E95E9233-9367-A749-A657-FB18BD734A03}" sibTransId="{855ADFB7-AD32-5841-8BBE-52D81A552EB4}"/>
    <dgm:cxn modelId="{034CB049-2D9B-2A4E-A759-12465CADA4F5}" srcId="{2481E9A8-5413-524C-8982-5AF295AA0FD3}" destId="{E9E92FCE-DAF2-3145-BE10-2CF450B85DEB}" srcOrd="1" destOrd="0" parTransId="{E124D7BF-0B29-7341-A590-E3859651EFE8}" sibTransId="{A8248814-6852-BD45-A1C1-9B5235C0D061}"/>
    <dgm:cxn modelId="{BD54676F-13C9-764D-BC20-842360A07B05}" type="presOf" srcId="{27A6DB09-7A73-E34E-9751-1D7E0C8AEFDE}" destId="{958E3D0C-1153-3645-896A-A62EDB2811F7}" srcOrd="0" destOrd="0" presId="urn:microsoft.com/office/officeart/2005/8/layout/target2"/>
    <dgm:cxn modelId="{8219388E-D945-5845-AE4F-037D6DBA1EB4}" srcId="{512ECA6A-2A27-5540-BF41-B6C374340369}" destId="{358AA9CD-32A2-DD46-AAFA-8935BDAFBB20}" srcOrd="1" destOrd="0" parTransId="{CB640F0B-9187-5E4C-8DC8-B38DB779FCCC}" sibTransId="{371191D7-AF4F-C541-832E-2E60F53719DD}"/>
    <dgm:cxn modelId="{F13581A5-C82A-9A42-B1B0-411C86F75C2D}" type="presOf" srcId="{EB93D4E5-8CA1-7546-BD15-4BC63FAF4B6A}" destId="{C549312C-F687-024F-ADD4-C847C870AB31}" srcOrd="0" destOrd="0" presId="urn:microsoft.com/office/officeart/2005/8/layout/target2"/>
    <dgm:cxn modelId="{16BD85AD-A88B-4B4D-B5F1-92ED44540C25}" srcId="{2481E9A8-5413-524C-8982-5AF295AA0FD3}" destId="{EB93D4E5-8CA1-7546-BD15-4BC63FAF4B6A}" srcOrd="0" destOrd="0" parTransId="{EB640E17-8E48-F141-971D-24693C56EA87}" sibTransId="{67C4524F-BB04-034F-B912-726197C9AA9C}"/>
    <dgm:cxn modelId="{AFA326AE-2639-B04C-9195-D9A0A16DD12D}" type="presOf" srcId="{512ECA6A-2A27-5540-BF41-B6C374340369}" destId="{6F92330B-2BD8-9C42-AA59-CA71F506DD3E}" srcOrd="0" destOrd="0" presId="urn:microsoft.com/office/officeart/2005/8/layout/target2"/>
    <dgm:cxn modelId="{724923D1-B45C-4D42-903B-F2FCA46C7F32}" type="presOf" srcId="{358AA9CD-32A2-DD46-AAFA-8935BDAFBB20}" destId="{099E1357-5252-C648-9171-1537398C3A8C}" srcOrd="0" destOrd="0" presId="urn:microsoft.com/office/officeart/2005/8/layout/target2"/>
    <dgm:cxn modelId="{279396D7-D2DD-DC49-AF45-9C3B1DF43EE6}" type="presOf" srcId="{227FAB59-23FC-A843-A078-89F98BD00632}" destId="{1FFD221F-6A7C-0B45-912E-7B2D41C939FB}" srcOrd="0" destOrd="0" presId="urn:microsoft.com/office/officeart/2005/8/layout/target2"/>
    <dgm:cxn modelId="{FD8DB6E4-E0E4-4541-A20B-AB3DB421721B}" srcId="{512ECA6A-2A27-5540-BF41-B6C374340369}" destId="{27A6DB09-7A73-E34E-9751-1D7E0C8AEFDE}" srcOrd="2" destOrd="0" parTransId="{3DDC6881-1159-4749-B696-931528299B1F}" sibTransId="{BEA10779-1B79-8748-AEE8-CB0EA20E6DDB}"/>
    <dgm:cxn modelId="{C15C44F6-5E36-3A40-84A4-D08A118B87F2}" type="presOf" srcId="{E9E92FCE-DAF2-3145-BE10-2CF450B85DEB}" destId="{4E50C6BF-910E-7348-A303-09A554EEAA0A}" srcOrd="0" destOrd="0" presId="urn:microsoft.com/office/officeart/2005/8/layout/target2"/>
    <dgm:cxn modelId="{B368ADDE-31FC-5A4B-91EB-873490AE6A3C}" type="presParOf" srcId="{C5C93C76-63AF-834D-B8AC-7566894C2FB4}" destId="{8100030E-98E6-354A-8D6D-3DD51BC2A374}" srcOrd="0" destOrd="0" presId="urn:microsoft.com/office/officeart/2005/8/layout/target2"/>
    <dgm:cxn modelId="{5D95A912-CB96-D54E-8AF3-F94965984EAC}" type="presParOf" srcId="{8100030E-98E6-354A-8D6D-3DD51BC2A374}" destId="{C549312C-F687-024F-ADD4-C847C870AB31}" srcOrd="0" destOrd="0" presId="urn:microsoft.com/office/officeart/2005/8/layout/target2"/>
    <dgm:cxn modelId="{F1CE4588-1D65-5A4C-8600-A2A96E9A9D58}" type="presParOf" srcId="{8100030E-98E6-354A-8D6D-3DD51BC2A374}" destId="{215EB33E-CBA2-DC48-BEEA-2F9B9488A69E}" srcOrd="1" destOrd="0" presId="urn:microsoft.com/office/officeart/2005/8/layout/target2"/>
    <dgm:cxn modelId="{D3A7928D-D828-A14A-A6F9-53DBEA1833AB}" type="presParOf" srcId="{C5C93C76-63AF-834D-B8AC-7566894C2FB4}" destId="{4C3D4B8A-B173-944B-8BD4-3AAA1D3FAD05}" srcOrd="1" destOrd="0" presId="urn:microsoft.com/office/officeart/2005/8/layout/target2"/>
    <dgm:cxn modelId="{3C00AE63-D7DF-084B-B31C-6D8121E41F81}" type="presParOf" srcId="{4C3D4B8A-B173-944B-8BD4-3AAA1D3FAD05}" destId="{4E50C6BF-910E-7348-A303-09A554EEAA0A}" srcOrd="0" destOrd="0" presId="urn:microsoft.com/office/officeart/2005/8/layout/target2"/>
    <dgm:cxn modelId="{3C756E12-92AA-D14D-97BD-90DE8C437B91}" type="presParOf" srcId="{4C3D4B8A-B173-944B-8BD4-3AAA1D3FAD05}" destId="{40300614-778F-E749-8F11-196CEB5AB4BB}" srcOrd="1" destOrd="0" presId="urn:microsoft.com/office/officeart/2005/8/layout/target2"/>
    <dgm:cxn modelId="{E15C1AD3-68DC-0E41-BC84-207F00275DA1}" type="presParOf" srcId="{C5C93C76-63AF-834D-B8AC-7566894C2FB4}" destId="{74A8EB93-49D2-0744-852E-D67097CACE37}" srcOrd="2" destOrd="0" presId="urn:microsoft.com/office/officeart/2005/8/layout/target2"/>
    <dgm:cxn modelId="{1F66F945-FD47-8A45-85AB-45CCFF62BA23}" type="presParOf" srcId="{74A8EB93-49D2-0744-852E-D67097CACE37}" destId="{6F92330B-2BD8-9C42-AA59-CA71F506DD3E}" srcOrd="0" destOrd="0" presId="urn:microsoft.com/office/officeart/2005/8/layout/target2"/>
    <dgm:cxn modelId="{63D0CF65-5D57-AB4B-B154-4523A9E60C54}" type="presParOf" srcId="{74A8EB93-49D2-0744-852E-D67097CACE37}" destId="{1731A8E3-B1B1-BE4B-B2F6-5F18EDE8EA1C}" srcOrd="1" destOrd="0" presId="urn:microsoft.com/office/officeart/2005/8/layout/target2"/>
    <dgm:cxn modelId="{D7E907FA-CD1A-7148-BEE3-86341CF93E92}" type="presParOf" srcId="{1731A8E3-B1B1-BE4B-B2F6-5F18EDE8EA1C}" destId="{1FFD221F-6A7C-0B45-912E-7B2D41C939FB}" srcOrd="0" destOrd="0" presId="urn:microsoft.com/office/officeart/2005/8/layout/target2"/>
    <dgm:cxn modelId="{AB1A88BE-66E6-A44E-B0F3-5290FDE89745}" type="presParOf" srcId="{1731A8E3-B1B1-BE4B-B2F6-5F18EDE8EA1C}" destId="{DBE8ADE2-17F0-2645-A302-D15CBFD891E4}" srcOrd="1" destOrd="0" presId="urn:microsoft.com/office/officeart/2005/8/layout/target2"/>
    <dgm:cxn modelId="{3F3C6084-1308-2B48-B851-25AE719F53B7}" type="presParOf" srcId="{1731A8E3-B1B1-BE4B-B2F6-5F18EDE8EA1C}" destId="{099E1357-5252-C648-9171-1537398C3A8C}" srcOrd="2" destOrd="0" presId="urn:microsoft.com/office/officeart/2005/8/layout/target2"/>
    <dgm:cxn modelId="{F464F25F-B883-E148-B791-F94EB10BDAD0}" type="presParOf" srcId="{1731A8E3-B1B1-BE4B-B2F6-5F18EDE8EA1C}" destId="{3DD1E83D-F092-734F-8C48-1BC505AC94DC}" srcOrd="3" destOrd="0" presId="urn:microsoft.com/office/officeart/2005/8/layout/target2"/>
    <dgm:cxn modelId="{A5B7AB89-C2F7-BB4A-A883-71E9D659D06B}" type="presParOf" srcId="{1731A8E3-B1B1-BE4B-B2F6-5F18EDE8EA1C}" destId="{958E3D0C-1153-3645-896A-A62EDB2811F7}" srcOrd="4" destOrd="0" presId="urn:microsoft.com/office/officeart/2005/8/layout/targe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25B34CF-B405-0447-8EC6-2C6526248AC0}" type="doc">
      <dgm:prSet loTypeId="urn:microsoft.com/office/officeart/2008/layout/VerticalCurvedList" loCatId="" qsTypeId="urn:microsoft.com/office/officeart/2005/8/quickstyle/simple5" qsCatId="simple" csTypeId="urn:microsoft.com/office/officeart/2005/8/colors/accent2_2" csCatId="accent2"/>
      <dgm:spPr/>
      <dgm:t>
        <a:bodyPr/>
        <a:lstStyle/>
        <a:p>
          <a:endParaRPr lang="en-US"/>
        </a:p>
      </dgm:t>
    </dgm:pt>
    <dgm:pt modelId="{75777834-3F7A-2F43-BE45-D815F4554D66}">
      <dgm:prSet/>
      <dgm:spPr>
        <a:xfrm>
          <a:off x="378857" y="245514"/>
          <a:ext cx="6137267" cy="490813"/>
        </a:xfrm>
        <a:prstGeom prst="rect">
          <a:avLst/>
        </a:prstGeom>
        <a:gradFill rotWithShape="0">
          <a:gsLst>
            <a:gs pos="0">
              <a:srgbClr val="330F42">
                <a:hueOff val="0"/>
                <a:satOff val="0"/>
                <a:lumOff val="0"/>
                <a:alphaOff val="0"/>
                <a:shade val="40000"/>
                <a:alpha val="100000"/>
                <a:satMod val="150000"/>
                <a:lumMod val="100000"/>
              </a:srgbClr>
            </a:gs>
            <a:gs pos="100000">
              <a:srgbClr val="330F42">
                <a:hueOff val="0"/>
                <a:satOff val="0"/>
                <a:lumOff val="0"/>
                <a:alphaOff val="0"/>
                <a:tint val="70000"/>
                <a:shade val="100000"/>
                <a:alpha val="100000"/>
                <a:satMod val="200000"/>
                <a:lumMod val="100000"/>
              </a:srgbClr>
            </a:gs>
          </a:gsLst>
          <a:lin ang="5400000" scaled="1"/>
        </a:gradFill>
        <a:ln>
          <a:noFill/>
        </a:ln>
        <a:effectLst/>
        <a:scene3d>
          <a:camera prst="orthographicFront">
            <a:rot lat="0" lon="0" rev="0"/>
          </a:camera>
          <a:lightRig rig="twoPt" dir="tl">
            <a:rot lat="0" lon="0" rev="4500000"/>
          </a:lightRig>
        </a:scene3d>
        <a:sp3d>
          <a:bevelT w="63500" h="50800"/>
        </a:sp3d>
      </dgm:spPr>
      <dgm:t>
        <a:bodyPr/>
        <a:lstStyle/>
        <a:p>
          <a:pPr rtl="0"/>
          <a:r>
            <a:rPr lang="en-US">
              <a:solidFill>
                <a:sysClr val="window" lastClr="FFFFFF"/>
              </a:solidFill>
              <a:latin typeface="Rockwell"/>
              <a:ea typeface="+mn-ea"/>
              <a:cs typeface="+mn-cs"/>
            </a:rPr>
            <a:t>Immediate</a:t>
          </a:r>
        </a:p>
      </dgm:t>
    </dgm:pt>
    <dgm:pt modelId="{11D29F2F-DFD6-1143-B96C-9C759243A728}" type="parTrans" cxnId="{A1795E97-8CE8-0147-AD8B-8B73F25387F8}">
      <dgm:prSet/>
      <dgm:spPr/>
      <dgm:t>
        <a:bodyPr/>
        <a:lstStyle/>
        <a:p>
          <a:endParaRPr lang="en-US"/>
        </a:p>
      </dgm:t>
    </dgm:pt>
    <dgm:pt modelId="{EA574351-70BD-7A4A-B8BF-146C3F3BF2CE}" type="sibTrans" cxnId="{A1795E97-8CE8-0147-AD8B-8B73F25387F8}">
      <dgm:prSet/>
      <dgm:spPr>
        <a:xfrm>
          <a:off x="-6102426" y="-934316"/>
          <a:ext cx="7269307" cy="7269307"/>
        </a:xfrm>
        <a:prstGeom prst="blockArc">
          <a:avLst>
            <a:gd name="adj1" fmla="val 18900000"/>
            <a:gd name="adj2" fmla="val 2700000"/>
            <a:gd name="adj3" fmla="val 297"/>
          </a:avLst>
        </a:prstGeom>
        <a:noFill/>
        <a:ln w="25400" cap="flat" cmpd="sng" algn="ctr">
          <a:solidFill>
            <a:srgbClr val="330F42">
              <a:shade val="60000"/>
              <a:hueOff val="0"/>
              <a:satOff val="0"/>
              <a:lumOff val="0"/>
              <a:alphaOff val="0"/>
            </a:srgbClr>
          </a:solidFill>
          <a:prstDash val="solid"/>
        </a:ln>
        <a:effectLst/>
      </dgm:spPr>
      <dgm:t>
        <a:bodyPr/>
        <a:lstStyle/>
        <a:p>
          <a:endParaRPr lang="en-US"/>
        </a:p>
      </dgm:t>
    </dgm:pt>
    <dgm:pt modelId="{E1500156-C505-0340-B1C2-444C9BA21F81}">
      <dgm:prSet/>
      <dgm:spPr>
        <a:xfrm>
          <a:off x="823332" y="982166"/>
          <a:ext cx="5692792" cy="490813"/>
        </a:xfrm>
        <a:prstGeom prst="rect">
          <a:avLst/>
        </a:prstGeom>
        <a:gradFill rotWithShape="0">
          <a:gsLst>
            <a:gs pos="0">
              <a:srgbClr val="330F42">
                <a:hueOff val="0"/>
                <a:satOff val="0"/>
                <a:lumOff val="0"/>
                <a:alphaOff val="0"/>
                <a:shade val="40000"/>
                <a:alpha val="100000"/>
                <a:satMod val="150000"/>
                <a:lumMod val="100000"/>
              </a:srgbClr>
            </a:gs>
            <a:gs pos="100000">
              <a:srgbClr val="330F42">
                <a:hueOff val="0"/>
                <a:satOff val="0"/>
                <a:lumOff val="0"/>
                <a:alphaOff val="0"/>
                <a:tint val="70000"/>
                <a:shade val="100000"/>
                <a:alpha val="100000"/>
                <a:satMod val="200000"/>
                <a:lumMod val="100000"/>
              </a:srgbClr>
            </a:gs>
          </a:gsLst>
          <a:lin ang="5400000" scaled="1"/>
        </a:gradFill>
        <a:ln>
          <a:noFill/>
        </a:ln>
        <a:effectLst/>
        <a:scene3d>
          <a:camera prst="orthographicFront">
            <a:rot lat="0" lon="0" rev="0"/>
          </a:camera>
          <a:lightRig rig="twoPt" dir="tl">
            <a:rot lat="0" lon="0" rev="4500000"/>
          </a:lightRig>
        </a:scene3d>
        <a:sp3d>
          <a:bevelT w="63500" h="50800"/>
        </a:sp3d>
      </dgm:spPr>
      <dgm:t>
        <a:bodyPr/>
        <a:lstStyle/>
        <a:p>
          <a:pPr rtl="0"/>
          <a:r>
            <a:rPr lang="en-US" dirty="0">
              <a:solidFill>
                <a:sysClr val="window" lastClr="FFFFFF"/>
              </a:solidFill>
              <a:latin typeface="Rockwell"/>
              <a:ea typeface="+mn-ea"/>
              <a:cs typeface="+mn-cs"/>
            </a:rPr>
            <a:t>Direct</a:t>
          </a:r>
        </a:p>
      </dgm:t>
    </dgm:pt>
    <dgm:pt modelId="{DE566744-A8CB-5B43-B79D-18D99AE5885A}" type="parTrans" cxnId="{B052D315-16E3-CF43-A041-D73359FFB62E}">
      <dgm:prSet/>
      <dgm:spPr/>
      <dgm:t>
        <a:bodyPr/>
        <a:lstStyle/>
        <a:p>
          <a:endParaRPr lang="en-US"/>
        </a:p>
      </dgm:t>
    </dgm:pt>
    <dgm:pt modelId="{5A293972-3D43-0346-B020-263B3F3BA174}" type="sibTrans" cxnId="{B052D315-16E3-CF43-A041-D73359FFB62E}">
      <dgm:prSet/>
      <dgm:spPr/>
      <dgm:t>
        <a:bodyPr/>
        <a:lstStyle/>
        <a:p>
          <a:endParaRPr lang="en-US"/>
        </a:p>
      </dgm:t>
    </dgm:pt>
    <dgm:pt modelId="{20520F51-CCC2-9E4B-A032-43DFA1E2C8E0}">
      <dgm:prSet/>
      <dgm:spPr>
        <a:xfrm>
          <a:off x="1066903" y="1718278"/>
          <a:ext cx="5449221" cy="490813"/>
        </a:xfrm>
        <a:prstGeom prst="rect">
          <a:avLst/>
        </a:prstGeom>
        <a:gradFill rotWithShape="0">
          <a:gsLst>
            <a:gs pos="0">
              <a:srgbClr val="330F42">
                <a:hueOff val="0"/>
                <a:satOff val="0"/>
                <a:lumOff val="0"/>
                <a:alphaOff val="0"/>
                <a:shade val="40000"/>
                <a:alpha val="100000"/>
                <a:satMod val="150000"/>
                <a:lumMod val="100000"/>
              </a:srgbClr>
            </a:gs>
            <a:gs pos="100000">
              <a:srgbClr val="330F42">
                <a:hueOff val="0"/>
                <a:satOff val="0"/>
                <a:lumOff val="0"/>
                <a:alphaOff val="0"/>
                <a:tint val="70000"/>
                <a:shade val="100000"/>
                <a:alpha val="100000"/>
                <a:satMod val="200000"/>
                <a:lumMod val="100000"/>
              </a:srgbClr>
            </a:gs>
          </a:gsLst>
          <a:lin ang="5400000" scaled="1"/>
        </a:gradFill>
        <a:ln>
          <a:noFill/>
        </a:ln>
        <a:effectLst/>
        <a:scene3d>
          <a:camera prst="orthographicFront">
            <a:rot lat="0" lon="0" rev="0"/>
          </a:camera>
          <a:lightRig rig="twoPt" dir="tl">
            <a:rot lat="0" lon="0" rev="4500000"/>
          </a:lightRig>
        </a:scene3d>
        <a:sp3d>
          <a:bevelT w="63500" h="50800"/>
        </a:sp3d>
      </dgm:spPr>
      <dgm:t>
        <a:bodyPr/>
        <a:lstStyle/>
        <a:p>
          <a:pPr rtl="0"/>
          <a:r>
            <a:rPr lang="en-US" dirty="0">
              <a:solidFill>
                <a:sysClr val="window" lastClr="FFFFFF"/>
              </a:solidFill>
              <a:latin typeface="Rockwell"/>
              <a:ea typeface="+mn-ea"/>
              <a:cs typeface="+mn-cs"/>
            </a:rPr>
            <a:t>Indirect</a:t>
          </a:r>
        </a:p>
      </dgm:t>
    </dgm:pt>
    <dgm:pt modelId="{8D512923-0E7E-6F48-B6AE-184DD114E0A6}" type="parTrans" cxnId="{A497AAEE-E439-954D-AE1D-78DED91858F7}">
      <dgm:prSet/>
      <dgm:spPr/>
      <dgm:t>
        <a:bodyPr/>
        <a:lstStyle/>
        <a:p>
          <a:endParaRPr lang="en-US"/>
        </a:p>
      </dgm:t>
    </dgm:pt>
    <dgm:pt modelId="{2C8A7E30-41C7-814D-B78E-8BC06DAC36AC}" type="sibTrans" cxnId="{A497AAEE-E439-954D-AE1D-78DED91858F7}">
      <dgm:prSet/>
      <dgm:spPr/>
      <dgm:t>
        <a:bodyPr/>
        <a:lstStyle/>
        <a:p>
          <a:endParaRPr lang="en-US"/>
        </a:p>
      </dgm:t>
    </dgm:pt>
    <dgm:pt modelId="{2418038E-2F04-9949-8BE2-1CA7FA4B55E6}">
      <dgm:prSet/>
      <dgm:spPr>
        <a:xfrm>
          <a:off x="1144673" y="2454930"/>
          <a:ext cx="5371451" cy="490813"/>
        </a:xfrm>
        <a:prstGeom prst="rect">
          <a:avLst/>
        </a:prstGeom>
        <a:gradFill rotWithShape="0">
          <a:gsLst>
            <a:gs pos="0">
              <a:srgbClr val="330F42">
                <a:hueOff val="0"/>
                <a:satOff val="0"/>
                <a:lumOff val="0"/>
                <a:alphaOff val="0"/>
                <a:shade val="40000"/>
                <a:alpha val="100000"/>
                <a:satMod val="150000"/>
                <a:lumMod val="100000"/>
              </a:srgbClr>
            </a:gs>
            <a:gs pos="100000">
              <a:srgbClr val="330F42">
                <a:hueOff val="0"/>
                <a:satOff val="0"/>
                <a:lumOff val="0"/>
                <a:alphaOff val="0"/>
                <a:tint val="70000"/>
                <a:shade val="100000"/>
                <a:alpha val="100000"/>
                <a:satMod val="200000"/>
                <a:lumMod val="100000"/>
              </a:srgbClr>
            </a:gs>
          </a:gsLst>
          <a:lin ang="5400000" scaled="1"/>
        </a:gradFill>
        <a:ln>
          <a:noFill/>
        </a:ln>
        <a:effectLst/>
        <a:scene3d>
          <a:camera prst="orthographicFront">
            <a:rot lat="0" lon="0" rev="0"/>
          </a:camera>
          <a:lightRig rig="twoPt" dir="tl">
            <a:rot lat="0" lon="0" rev="4500000"/>
          </a:lightRig>
        </a:scene3d>
        <a:sp3d>
          <a:bevelT w="63500" h="50800"/>
        </a:sp3d>
      </dgm:spPr>
      <dgm:t>
        <a:bodyPr/>
        <a:lstStyle/>
        <a:p>
          <a:pPr rtl="0"/>
          <a:r>
            <a:rPr lang="en-US" dirty="0">
              <a:solidFill>
                <a:sysClr val="window" lastClr="FFFFFF"/>
              </a:solidFill>
              <a:latin typeface="Rockwell"/>
              <a:ea typeface="+mn-ea"/>
              <a:cs typeface="+mn-cs"/>
            </a:rPr>
            <a:t>Register</a:t>
          </a:r>
        </a:p>
      </dgm:t>
    </dgm:pt>
    <dgm:pt modelId="{3BBDB8D6-7F56-974A-AB27-B4FAB6258733}" type="parTrans" cxnId="{3E4E289B-F248-1643-95BA-259F8AB1200F}">
      <dgm:prSet/>
      <dgm:spPr/>
      <dgm:t>
        <a:bodyPr/>
        <a:lstStyle/>
        <a:p>
          <a:endParaRPr lang="en-US"/>
        </a:p>
      </dgm:t>
    </dgm:pt>
    <dgm:pt modelId="{93247139-16B3-034C-866C-05023D4BEAE6}" type="sibTrans" cxnId="{3E4E289B-F248-1643-95BA-259F8AB1200F}">
      <dgm:prSet/>
      <dgm:spPr/>
      <dgm:t>
        <a:bodyPr/>
        <a:lstStyle/>
        <a:p>
          <a:endParaRPr lang="en-US"/>
        </a:p>
      </dgm:t>
    </dgm:pt>
    <dgm:pt modelId="{4A740C7F-980A-BA4C-9F10-B977C354A1EF}">
      <dgm:prSet/>
      <dgm:spPr>
        <a:xfrm>
          <a:off x="1066903" y="3191582"/>
          <a:ext cx="5449221" cy="490813"/>
        </a:xfrm>
        <a:prstGeom prst="rect">
          <a:avLst/>
        </a:prstGeom>
        <a:gradFill rotWithShape="0">
          <a:gsLst>
            <a:gs pos="0">
              <a:srgbClr val="330F42">
                <a:hueOff val="0"/>
                <a:satOff val="0"/>
                <a:lumOff val="0"/>
                <a:alphaOff val="0"/>
                <a:shade val="40000"/>
                <a:alpha val="100000"/>
                <a:satMod val="150000"/>
                <a:lumMod val="100000"/>
              </a:srgbClr>
            </a:gs>
            <a:gs pos="100000">
              <a:srgbClr val="330F42">
                <a:hueOff val="0"/>
                <a:satOff val="0"/>
                <a:lumOff val="0"/>
                <a:alphaOff val="0"/>
                <a:tint val="70000"/>
                <a:shade val="100000"/>
                <a:alpha val="100000"/>
                <a:satMod val="200000"/>
                <a:lumMod val="100000"/>
              </a:srgbClr>
            </a:gs>
          </a:gsLst>
          <a:lin ang="5400000" scaled="1"/>
        </a:gradFill>
        <a:ln>
          <a:noFill/>
        </a:ln>
        <a:effectLst/>
        <a:scene3d>
          <a:camera prst="orthographicFront">
            <a:rot lat="0" lon="0" rev="0"/>
          </a:camera>
          <a:lightRig rig="twoPt" dir="tl">
            <a:rot lat="0" lon="0" rev="4500000"/>
          </a:lightRig>
        </a:scene3d>
        <a:sp3d>
          <a:bevelT w="63500" h="50800"/>
        </a:sp3d>
      </dgm:spPr>
      <dgm:t>
        <a:bodyPr/>
        <a:lstStyle/>
        <a:p>
          <a:pPr rtl="0"/>
          <a:r>
            <a:rPr lang="en-US" dirty="0">
              <a:solidFill>
                <a:sysClr val="window" lastClr="FFFFFF"/>
              </a:solidFill>
              <a:latin typeface="Rockwell"/>
              <a:ea typeface="+mn-ea"/>
              <a:cs typeface="+mn-cs"/>
            </a:rPr>
            <a:t>Register indirect</a:t>
          </a:r>
        </a:p>
      </dgm:t>
    </dgm:pt>
    <dgm:pt modelId="{F7B9919E-504F-E74C-B1B3-9411DA73D15C}" type="parTrans" cxnId="{C871AAC2-21AB-C240-A4F4-27C8F1CFFDA6}">
      <dgm:prSet/>
      <dgm:spPr/>
      <dgm:t>
        <a:bodyPr/>
        <a:lstStyle/>
        <a:p>
          <a:endParaRPr lang="en-US"/>
        </a:p>
      </dgm:t>
    </dgm:pt>
    <dgm:pt modelId="{7769C3F9-7290-764B-BF8B-C4661331C5D3}" type="sibTrans" cxnId="{C871AAC2-21AB-C240-A4F4-27C8F1CFFDA6}">
      <dgm:prSet/>
      <dgm:spPr/>
      <dgm:t>
        <a:bodyPr/>
        <a:lstStyle/>
        <a:p>
          <a:endParaRPr lang="en-US"/>
        </a:p>
      </dgm:t>
    </dgm:pt>
    <dgm:pt modelId="{94C8CEAA-7A40-CA41-9257-05B9BB741D06}">
      <dgm:prSet/>
      <dgm:spPr>
        <a:xfrm>
          <a:off x="823332" y="3927694"/>
          <a:ext cx="5692792" cy="490813"/>
        </a:xfrm>
        <a:prstGeom prst="rect">
          <a:avLst/>
        </a:prstGeom>
        <a:gradFill rotWithShape="0">
          <a:gsLst>
            <a:gs pos="0">
              <a:srgbClr val="330F42">
                <a:hueOff val="0"/>
                <a:satOff val="0"/>
                <a:lumOff val="0"/>
                <a:alphaOff val="0"/>
                <a:shade val="40000"/>
                <a:alpha val="100000"/>
                <a:satMod val="150000"/>
                <a:lumMod val="100000"/>
              </a:srgbClr>
            </a:gs>
            <a:gs pos="100000">
              <a:srgbClr val="330F42">
                <a:hueOff val="0"/>
                <a:satOff val="0"/>
                <a:lumOff val="0"/>
                <a:alphaOff val="0"/>
                <a:tint val="70000"/>
                <a:shade val="100000"/>
                <a:alpha val="100000"/>
                <a:satMod val="200000"/>
                <a:lumMod val="100000"/>
              </a:srgbClr>
            </a:gs>
          </a:gsLst>
          <a:lin ang="5400000" scaled="1"/>
        </a:gradFill>
        <a:ln>
          <a:noFill/>
        </a:ln>
        <a:effectLst/>
        <a:scene3d>
          <a:camera prst="orthographicFront">
            <a:rot lat="0" lon="0" rev="0"/>
          </a:camera>
          <a:lightRig rig="twoPt" dir="tl">
            <a:rot lat="0" lon="0" rev="4500000"/>
          </a:lightRig>
        </a:scene3d>
        <a:sp3d>
          <a:bevelT w="63500" h="50800"/>
        </a:sp3d>
      </dgm:spPr>
      <dgm:t>
        <a:bodyPr/>
        <a:lstStyle/>
        <a:p>
          <a:pPr rtl="0"/>
          <a:r>
            <a:rPr lang="en-US" dirty="0">
              <a:solidFill>
                <a:sysClr val="window" lastClr="FFFFFF"/>
              </a:solidFill>
              <a:latin typeface="Rockwell"/>
              <a:ea typeface="+mn-ea"/>
              <a:cs typeface="+mn-cs"/>
            </a:rPr>
            <a:t>Displacement</a:t>
          </a:r>
        </a:p>
      </dgm:t>
    </dgm:pt>
    <dgm:pt modelId="{9A4C0EF4-82A6-1749-8E32-E8606E3B3EF4}" type="parTrans" cxnId="{3E50F95F-4CC5-BF4A-9650-F7880777B8DE}">
      <dgm:prSet/>
      <dgm:spPr/>
      <dgm:t>
        <a:bodyPr/>
        <a:lstStyle/>
        <a:p>
          <a:endParaRPr lang="en-US"/>
        </a:p>
      </dgm:t>
    </dgm:pt>
    <dgm:pt modelId="{A75747F9-F737-4245-B9DB-39A5B1BAA618}" type="sibTrans" cxnId="{3E50F95F-4CC5-BF4A-9650-F7880777B8DE}">
      <dgm:prSet/>
      <dgm:spPr/>
      <dgm:t>
        <a:bodyPr/>
        <a:lstStyle/>
        <a:p>
          <a:endParaRPr lang="en-US"/>
        </a:p>
      </dgm:t>
    </dgm:pt>
    <dgm:pt modelId="{9F0B8155-4C3C-F64F-B1FE-C8CED244BD19}">
      <dgm:prSet/>
      <dgm:spPr>
        <a:xfrm>
          <a:off x="378857" y="4664346"/>
          <a:ext cx="6137267" cy="490813"/>
        </a:xfrm>
        <a:prstGeom prst="rect">
          <a:avLst/>
        </a:prstGeom>
        <a:gradFill rotWithShape="0">
          <a:gsLst>
            <a:gs pos="0">
              <a:srgbClr val="330F42">
                <a:hueOff val="0"/>
                <a:satOff val="0"/>
                <a:lumOff val="0"/>
                <a:alphaOff val="0"/>
                <a:shade val="40000"/>
                <a:alpha val="100000"/>
                <a:satMod val="150000"/>
                <a:lumMod val="100000"/>
              </a:srgbClr>
            </a:gs>
            <a:gs pos="100000">
              <a:srgbClr val="330F42">
                <a:hueOff val="0"/>
                <a:satOff val="0"/>
                <a:lumOff val="0"/>
                <a:alphaOff val="0"/>
                <a:tint val="70000"/>
                <a:shade val="100000"/>
                <a:alpha val="100000"/>
                <a:satMod val="200000"/>
                <a:lumMod val="100000"/>
              </a:srgbClr>
            </a:gs>
          </a:gsLst>
          <a:lin ang="5400000" scaled="1"/>
        </a:gradFill>
        <a:ln>
          <a:noFill/>
        </a:ln>
        <a:effectLst/>
        <a:scene3d>
          <a:camera prst="orthographicFront">
            <a:rot lat="0" lon="0" rev="0"/>
          </a:camera>
          <a:lightRig rig="twoPt" dir="tl">
            <a:rot lat="0" lon="0" rev="4500000"/>
          </a:lightRig>
        </a:scene3d>
        <a:sp3d>
          <a:bevelT w="63500" h="50800"/>
        </a:sp3d>
      </dgm:spPr>
      <dgm:t>
        <a:bodyPr/>
        <a:lstStyle/>
        <a:p>
          <a:pPr rtl="0"/>
          <a:r>
            <a:rPr lang="en-US">
              <a:solidFill>
                <a:sysClr val="window" lastClr="FFFFFF"/>
              </a:solidFill>
              <a:latin typeface="Rockwell"/>
              <a:ea typeface="+mn-ea"/>
              <a:cs typeface="+mn-cs"/>
            </a:rPr>
            <a:t>Stack</a:t>
          </a:r>
        </a:p>
      </dgm:t>
    </dgm:pt>
    <dgm:pt modelId="{698B982D-6F08-F54E-8511-4591CFEFCAF5}" type="parTrans" cxnId="{9EAD2DB7-63A3-2440-91D0-BC350B92F6DC}">
      <dgm:prSet/>
      <dgm:spPr/>
      <dgm:t>
        <a:bodyPr/>
        <a:lstStyle/>
        <a:p>
          <a:endParaRPr lang="en-US"/>
        </a:p>
      </dgm:t>
    </dgm:pt>
    <dgm:pt modelId="{C6CCB07B-4177-4B43-9014-D319D7A125EA}" type="sibTrans" cxnId="{9EAD2DB7-63A3-2440-91D0-BC350B92F6DC}">
      <dgm:prSet/>
      <dgm:spPr/>
      <dgm:t>
        <a:bodyPr/>
        <a:lstStyle/>
        <a:p>
          <a:endParaRPr lang="en-US"/>
        </a:p>
      </dgm:t>
    </dgm:pt>
    <dgm:pt modelId="{BF9DF738-98B0-C944-A412-20FF9E615998}" type="pres">
      <dgm:prSet presAssocID="{C25B34CF-B405-0447-8EC6-2C6526248AC0}" presName="Name0" presStyleCnt="0">
        <dgm:presLayoutVars>
          <dgm:chMax val="7"/>
          <dgm:chPref val="7"/>
          <dgm:dir/>
        </dgm:presLayoutVars>
      </dgm:prSet>
      <dgm:spPr/>
    </dgm:pt>
    <dgm:pt modelId="{0C1F5FA3-3E5A-5349-B0E3-90B9E10C8F6B}" type="pres">
      <dgm:prSet presAssocID="{C25B34CF-B405-0447-8EC6-2C6526248AC0}" presName="Name1" presStyleCnt="0"/>
      <dgm:spPr/>
    </dgm:pt>
    <dgm:pt modelId="{390377C0-EA45-864D-9090-7408DAC540B9}" type="pres">
      <dgm:prSet presAssocID="{C25B34CF-B405-0447-8EC6-2C6526248AC0}" presName="cycle" presStyleCnt="0"/>
      <dgm:spPr/>
    </dgm:pt>
    <dgm:pt modelId="{A22BC15C-92F7-384A-AB55-067CDF731EFB}" type="pres">
      <dgm:prSet presAssocID="{C25B34CF-B405-0447-8EC6-2C6526248AC0}" presName="srcNode" presStyleLbl="node1" presStyleIdx="0" presStyleCnt="7"/>
      <dgm:spPr/>
    </dgm:pt>
    <dgm:pt modelId="{FC3FD2E1-6A44-304A-8ABE-D29421750942}" type="pres">
      <dgm:prSet presAssocID="{C25B34CF-B405-0447-8EC6-2C6526248AC0}" presName="conn" presStyleLbl="parChTrans1D2" presStyleIdx="0" presStyleCnt="1"/>
      <dgm:spPr/>
    </dgm:pt>
    <dgm:pt modelId="{1E8EAFC8-E1D4-0941-8651-CB27FA331F82}" type="pres">
      <dgm:prSet presAssocID="{C25B34CF-B405-0447-8EC6-2C6526248AC0}" presName="extraNode" presStyleLbl="node1" presStyleIdx="0" presStyleCnt="7"/>
      <dgm:spPr/>
    </dgm:pt>
    <dgm:pt modelId="{CC817098-3CCC-444C-9823-1DD65A190247}" type="pres">
      <dgm:prSet presAssocID="{C25B34CF-B405-0447-8EC6-2C6526248AC0}" presName="dstNode" presStyleLbl="node1" presStyleIdx="0" presStyleCnt="7"/>
      <dgm:spPr/>
    </dgm:pt>
    <dgm:pt modelId="{2CBD8BE2-2890-524A-8B30-4BF8372329EA}" type="pres">
      <dgm:prSet presAssocID="{75777834-3F7A-2F43-BE45-D815F4554D66}" presName="text_1" presStyleLbl="node1" presStyleIdx="0" presStyleCnt="7">
        <dgm:presLayoutVars>
          <dgm:bulletEnabled val="1"/>
        </dgm:presLayoutVars>
      </dgm:prSet>
      <dgm:spPr/>
    </dgm:pt>
    <dgm:pt modelId="{6F8CBFA9-534D-A043-9BE5-F1EC16A0742C}" type="pres">
      <dgm:prSet presAssocID="{75777834-3F7A-2F43-BE45-D815F4554D66}" presName="accent_1" presStyleCnt="0"/>
      <dgm:spPr/>
    </dgm:pt>
    <dgm:pt modelId="{3A908DAF-12B2-5D4A-8B94-244EFBE3757C}" type="pres">
      <dgm:prSet presAssocID="{75777834-3F7A-2F43-BE45-D815F4554D66}" presName="accentRepeatNode" presStyleLbl="solidFgAcc1" presStyleIdx="0" presStyleCnt="7"/>
      <dgm:spPr>
        <a:xfrm>
          <a:off x="72099" y="184163"/>
          <a:ext cx="613516" cy="613516"/>
        </a:xfrm>
        <a:prstGeom prst="ellipse">
          <a:avLst/>
        </a:prstGeom>
        <a:solidFill>
          <a:sysClr val="window" lastClr="FFFFFF">
            <a:hueOff val="0"/>
            <a:satOff val="0"/>
            <a:lumOff val="0"/>
            <a:alphaOff val="0"/>
          </a:sysClr>
        </a:solidFill>
        <a:ln w="12700" cap="flat" cmpd="sng" algn="ctr">
          <a:solidFill>
            <a:srgbClr val="330F42">
              <a:hueOff val="0"/>
              <a:satOff val="0"/>
              <a:lumOff val="0"/>
              <a:alphaOff val="0"/>
            </a:srgbClr>
          </a:solidFill>
          <a:prstDash val="solid"/>
        </a:ln>
        <a:effectLst>
          <a:innerShdw blurRad="50800" dist="25400" dir="13500000">
            <a:srgbClr val="FFFFFF">
              <a:alpha val="75000"/>
            </a:srgbClr>
          </a:innerShdw>
          <a:outerShdw blurRad="63500" dist="25400" dir="5400000" rotWithShape="0">
            <a:srgbClr val="808080">
              <a:alpha val="75000"/>
            </a:srgbClr>
          </a:outerShdw>
        </a:effectLst>
      </dgm:spPr>
    </dgm:pt>
    <dgm:pt modelId="{5D6CDD84-B3EF-9C46-B0CB-2C51976A425F}" type="pres">
      <dgm:prSet presAssocID="{E1500156-C505-0340-B1C2-444C9BA21F81}" presName="text_2" presStyleLbl="node1" presStyleIdx="1" presStyleCnt="7">
        <dgm:presLayoutVars>
          <dgm:bulletEnabled val="1"/>
        </dgm:presLayoutVars>
      </dgm:prSet>
      <dgm:spPr/>
    </dgm:pt>
    <dgm:pt modelId="{00EEC159-23E5-5743-93EE-2C82B101D40C}" type="pres">
      <dgm:prSet presAssocID="{E1500156-C505-0340-B1C2-444C9BA21F81}" presName="accent_2" presStyleCnt="0"/>
      <dgm:spPr/>
    </dgm:pt>
    <dgm:pt modelId="{C8DBD8D7-7921-8E46-8701-0CB59E7E5B84}" type="pres">
      <dgm:prSet presAssocID="{E1500156-C505-0340-B1C2-444C9BA21F81}" presName="accentRepeatNode" presStyleLbl="solidFgAcc1" presStyleIdx="1" presStyleCnt="7"/>
      <dgm:spPr>
        <a:xfrm>
          <a:off x="516574" y="920815"/>
          <a:ext cx="613516" cy="613516"/>
        </a:xfrm>
        <a:prstGeom prst="ellipse">
          <a:avLst/>
        </a:prstGeom>
        <a:solidFill>
          <a:sysClr val="window" lastClr="FFFFFF">
            <a:hueOff val="0"/>
            <a:satOff val="0"/>
            <a:lumOff val="0"/>
            <a:alphaOff val="0"/>
          </a:sysClr>
        </a:solidFill>
        <a:ln w="12700" cap="flat" cmpd="sng" algn="ctr">
          <a:solidFill>
            <a:srgbClr val="330F42">
              <a:hueOff val="0"/>
              <a:satOff val="0"/>
              <a:lumOff val="0"/>
              <a:alphaOff val="0"/>
            </a:srgbClr>
          </a:solidFill>
          <a:prstDash val="solid"/>
        </a:ln>
        <a:effectLst>
          <a:innerShdw blurRad="50800" dist="25400" dir="13500000">
            <a:srgbClr val="FFFFFF">
              <a:alpha val="75000"/>
            </a:srgbClr>
          </a:innerShdw>
          <a:outerShdw blurRad="63500" dist="25400" dir="5400000" rotWithShape="0">
            <a:srgbClr val="808080">
              <a:alpha val="75000"/>
            </a:srgbClr>
          </a:outerShdw>
        </a:effectLst>
      </dgm:spPr>
    </dgm:pt>
    <dgm:pt modelId="{D1813CF1-15BD-1746-9C06-CB67253200BC}" type="pres">
      <dgm:prSet presAssocID="{20520F51-CCC2-9E4B-A032-43DFA1E2C8E0}" presName="text_3" presStyleLbl="node1" presStyleIdx="2" presStyleCnt="7">
        <dgm:presLayoutVars>
          <dgm:bulletEnabled val="1"/>
        </dgm:presLayoutVars>
      </dgm:prSet>
      <dgm:spPr/>
    </dgm:pt>
    <dgm:pt modelId="{C85A44EB-BB52-3541-8A55-4858852D8C50}" type="pres">
      <dgm:prSet presAssocID="{20520F51-CCC2-9E4B-A032-43DFA1E2C8E0}" presName="accent_3" presStyleCnt="0"/>
      <dgm:spPr/>
    </dgm:pt>
    <dgm:pt modelId="{2DEFCA7B-7A11-FF43-8F11-DDD566601285}" type="pres">
      <dgm:prSet presAssocID="{20520F51-CCC2-9E4B-A032-43DFA1E2C8E0}" presName="accentRepeatNode" presStyleLbl="solidFgAcc1" presStyleIdx="2" presStyleCnt="7"/>
      <dgm:spPr>
        <a:xfrm>
          <a:off x="760145" y="1656927"/>
          <a:ext cx="613516" cy="613516"/>
        </a:xfrm>
        <a:prstGeom prst="ellipse">
          <a:avLst/>
        </a:prstGeom>
        <a:solidFill>
          <a:sysClr val="window" lastClr="FFFFFF">
            <a:hueOff val="0"/>
            <a:satOff val="0"/>
            <a:lumOff val="0"/>
            <a:alphaOff val="0"/>
          </a:sysClr>
        </a:solidFill>
        <a:ln w="12700" cap="flat" cmpd="sng" algn="ctr">
          <a:solidFill>
            <a:srgbClr val="330F42">
              <a:hueOff val="0"/>
              <a:satOff val="0"/>
              <a:lumOff val="0"/>
              <a:alphaOff val="0"/>
            </a:srgbClr>
          </a:solidFill>
          <a:prstDash val="solid"/>
        </a:ln>
        <a:effectLst>
          <a:innerShdw blurRad="50800" dist="25400" dir="13500000">
            <a:srgbClr val="FFFFFF">
              <a:alpha val="75000"/>
            </a:srgbClr>
          </a:innerShdw>
          <a:outerShdw blurRad="63500" dist="25400" dir="5400000" rotWithShape="0">
            <a:srgbClr val="808080">
              <a:alpha val="75000"/>
            </a:srgbClr>
          </a:outerShdw>
        </a:effectLst>
      </dgm:spPr>
    </dgm:pt>
    <dgm:pt modelId="{4CE707F1-C341-234F-A380-871D988B9892}" type="pres">
      <dgm:prSet presAssocID="{2418038E-2F04-9949-8BE2-1CA7FA4B55E6}" presName="text_4" presStyleLbl="node1" presStyleIdx="3" presStyleCnt="7">
        <dgm:presLayoutVars>
          <dgm:bulletEnabled val="1"/>
        </dgm:presLayoutVars>
      </dgm:prSet>
      <dgm:spPr/>
    </dgm:pt>
    <dgm:pt modelId="{1D0C338F-F7B7-5848-86DA-8E93F7C650CE}" type="pres">
      <dgm:prSet presAssocID="{2418038E-2F04-9949-8BE2-1CA7FA4B55E6}" presName="accent_4" presStyleCnt="0"/>
      <dgm:spPr/>
    </dgm:pt>
    <dgm:pt modelId="{B3B8FADB-2792-7E42-B1BB-E58F1512CC74}" type="pres">
      <dgm:prSet presAssocID="{2418038E-2F04-9949-8BE2-1CA7FA4B55E6}" presName="accentRepeatNode" presStyleLbl="solidFgAcc1" presStyleIdx="3" presStyleCnt="7"/>
      <dgm:spPr>
        <a:xfrm>
          <a:off x="837914" y="2393579"/>
          <a:ext cx="613516" cy="613516"/>
        </a:xfrm>
        <a:prstGeom prst="ellipse">
          <a:avLst/>
        </a:prstGeom>
        <a:solidFill>
          <a:sysClr val="window" lastClr="FFFFFF">
            <a:hueOff val="0"/>
            <a:satOff val="0"/>
            <a:lumOff val="0"/>
            <a:alphaOff val="0"/>
          </a:sysClr>
        </a:solidFill>
        <a:ln w="12700" cap="flat" cmpd="sng" algn="ctr">
          <a:solidFill>
            <a:srgbClr val="330F42">
              <a:hueOff val="0"/>
              <a:satOff val="0"/>
              <a:lumOff val="0"/>
              <a:alphaOff val="0"/>
            </a:srgbClr>
          </a:solidFill>
          <a:prstDash val="solid"/>
        </a:ln>
        <a:effectLst>
          <a:innerShdw blurRad="50800" dist="25400" dir="13500000">
            <a:srgbClr val="FFFFFF">
              <a:alpha val="75000"/>
            </a:srgbClr>
          </a:innerShdw>
          <a:outerShdw blurRad="63500" dist="25400" dir="5400000" rotWithShape="0">
            <a:srgbClr val="808080">
              <a:alpha val="75000"/>
            </a:srgbClr>
          </a:outerShdw>
        </a:effectLst>
      </dgm:spPr>
    </dgm:pt>
    <dgm:pt modelId="{5B2C71B8-E792-594F-A81D-941C9F99CA12}" type="pres">
      <dgm:prSet presAssocID="{4A740C7F-980A-BA4C-9F10-B977C354A1EF}" presName="text_5" presStyleLbl="node1" presStyleIdx="4" presStyleCnt="7">
        <dgm:presLayoutVars>
          <dgm:bulletEnabled val="1"/>
        </dgm:presLayoutVars>
      </dgm:prSet>
      <dgm:spPr/>
    </dgm:pt>
    <dgm:pt modelId="{1F172A6A-1856-0241-8841-1734DE3F27E5}" type="pres">
      <dgm:prSet presAssocID="{4A740C7F-980A-BA4C-9F10-B977C354A1EF}" presName="accent_5" presStyleCnt="0"/>
      <dgm:spPr/>
    </dgm:pt>
    <dgm:pt modelId="{61DA8E63-1670-9440-9A3A-B95BACF707FE}" type="pres">
      <dgm:prSet presAssocID="{4A740C7F-980A-BA4C-9F10-B977C354A1EF}" presName="accentRepeatNode" presStyleLbl="solidFgAcc1" presStyleIdx="4" presStyleCnt="7"/>
      <dgm:spPr>
        <a:xfrm>
          <a:off x="760145" y="3130231"/>
          <a:ext cx="613516" cy="613516"/>
        </a:xfrm>
        <a:prstGeom prst="ellipse">
          <a:avLst/>
        </a:prstGeom>
        <a:solidFill>
          <a:sysClr val="window" lastClr="FFFFFF">
            <a:hueOff val="0"/>
            <a:satOff val="0"/>
            <a:lumOff val="0"/>
            <a:alphaOff val="0"/>
          </a:sysClr>
        </a:solidFill>
        <a:ln w="12700" cap="flat" cmpd="sng" algn="ctr">
          <a:solidFill>
            <a:srgbClr val="330F42">
              <a:hueOff val="0"/>
              <a:satOff val="0"/>
              <a:lumOff val="0"/>
              <a:alphaOff val="0"/>
            </a:srgbClr>
          </a:solidFill>
          <a:prstDash val="solid"/>
        </a:ln>
        <a:effectLst>
          <a:innerShdw blurRad="50800" dist="25400" dir="13500000">
            <a:srgbClr val="FFFFFF">
              <a:alpha val="75000"/>
            </a:srgbClr>
          </a:innerShdw>
          <a:outerShdw blurRad="63500" dist="25400" dir="5400000" rotWithShape="0">
            <a:srgbClr val="808080">
              <a:alpha val="75000"/>
            </a:srgbClr>
          </a:outerShdw>
        </a:effectLst>
      </dgm:spPr>
    </dgm:pt>
    <dgm:pt modelId="{827B38F0-B7C1-DA48-9512-1FA3389CDEAE}" type="pres">
      <dgm:prSet presAssocID="{94C8CEAA-7A40-CA41-9257-05B9BB741D06}" presName="text_6" presStyleLbl="node1" presStyleIdx="5" presStyleCnt="7">
        <dgm:presLayoutVars>
          <dgm:bulletEnabled val="1"/>
        </dgm:presLayoutVars>
      </dgm:prSet>
      <dgm:spPr/>
    </dgm:pt>
    <dgm:pt modelId="{4908F7C0-B955-7447-83E5-3A2BB242F7C3}" type="pres">
      <dgm:prSet presAssocID="{94C8CEAA-7A40-CA41-9257-05B9BB741D06}" presName="accent_6" presStyleCnt="0"/>
      <dgm:spPr/>
    </dgm:pt>
    <dgm:pt modelId="{C2157EE5-7641-3341-B2E7-021F543816F9}" type="pres">
      <dgm:prSet presAssocID="{94C8CEAA-7A40-CA41-9257-05B9BB741D06}" presName="accentRepeatNode" presStyleLbl="solidFgAcc1" presStyleIdx="5" presStyleCnt="7"/>
      <dgm:spPr>
        <a:xfrm>
          <a:off x="516574" y="3866343"/>
          <a:ext cx="613516" cy="613516"/>
        </a:xfrm>
        <a:prstGeom prst="ellipse">
          <a:avLst/>
        </a:prstGeom>
        <a:solidFill>
          <a:sysClr val="window" lastClr="FFFFFF">
            <a:hueOff val="0"/>
            <a:satOff val="0"/>
            <a:lumOff val="0"/>
            <a:alphaOff val="0"/>
          </a:sysClr>
        </a:solidFill>
        <a:ln w="12700" cap="flat" cmpd="sng" algn="ctr">
          <a:solidFill>
            <a:srgbClr val="330F42">
              <a:hueOff val="0"/>
              <a:satOff val="0"/>
              <a:lumOff val="0"/>
              <a:alphaOff val="0"/>
            </a:srgbClr>
          </a:solidFill>
          <a:prstDash val="solid"/>
        </a:ln>
        <a:effectLst>
          <a:innerShdw blurRad="50800" dist="25400" dir="13500000">
            <a:srgbClr val="FFFFFF">
              <a:alpha val="75000"/>
            </a:srgbClr>
          </a:innerShdw>
          <a:outerShdw blurRad="63500" dist="25400" dir="5400000" rotWithShape="0">
            <a:srgbClr val="808080">
              <a:alpha val="75000"/>
            </a:srgbClr>
          </a:outerShdw>
        </a:effectLst>
      </dgm:spPr>
    </dgm:pt>
    <dgm:pt modelId="{9F226AE9-ADF4-EB4F-8906-BCCD10502E1B}" type="pres">
      <dgm:prSet presAssocID="{9F0B8155-4C3C-F64F-B1FE-C8CED244BD19}" presName="text_7" presStyleLbl="node1" presStyleIdx="6" presStyleCnt="7">
        <dgm:presLayoutVars>
          <dgm:bulletEnabled val="1"/>
        </dgm:presLayoutVars>
      </dgm:prSet>
      <dgm:spPr/>
    </dgm:pt>
    <dgm:pt modelId="{F8CCDF48-6C40-1741-A25C-ED15D2026B7E}" type="pres">
      <dgm:prSet presAssocID="{9F0B8155-4C3C-F64F-B1FE-C8CED244BD19}" presName="accent_7" presStyleCnt="0"/>
      <dgm:spPr/>
    </dgm:pt>
    <dgm:pt modelId="{757B9E9D-E0EF-514A-8620-B12728BAF68D}" type="pres">
      <dgm:prSet presAssocID="{9F0B8155-4C3C-F64F-B1FE-C8CED244BD19}" presName="accentRepeatNode" presStyleLbl="solidFgAcc1" presStyleIdx="6" presStyleCnt="7"/>
      <dgm:spPr>
        <a:xfrm>
          <a:off x="72099" y="4602995"/>
          <a:ext cx="613516" cy="613516"/>
        </a:xfrm>
        <a:prstGeom prst="ellipse">
          <a:avLst/>
        </a:prstGeom>
        <a:solidFill>
          <a:sysClr val="window" lastClr="FFFFFF">
            <a:hueOff val="0"/>
            <a:satOff val="0"/>
            <a:lumOff val="0"/>
            <a:alphaOff val="0"/>
          </a:sysClr>
        </a:solidFill>
        <a:ln w="12700" cap="flat" cmpd="sng" algn="ctr">
          <a:solidFill>
            <a:srgbClr val="330F42">
              <a:hueOff val="0"/>
              <a:satOff val="0"/>
              <a:lumOff val="0"/>
              <a:alphaOff val="0"/>
            </a:srgbClr>
          </a:solidFill>
          <a:prstDash val="solid"/>
        </a:ln>
        <a:effectLst>
          <a:innerShdw blurRad="50800" dist="25400" dir="13500000">
            <a:srgbClr val="FFFFFF">
              <a:alpha val="75000"/>
            </a:srgbClr>
          </a:innerShdw>
          <a:outerShdw blurRad="63500" dist="25400" dir="5400000" rotWithShape="0">
            <a:srgbClr val="808080">
              <a:alpha val="75000"/>
            </a:srgbClr>
          </a:outerShdw>
        </a:effectLst>
      </dgm:spPr>
    </dgm:pt>
  </dgm:ptLst>
  <dgm:cxnLst>
    <dgm:cxn modelId="{B716AE0B-D3BC-FD4B-9465-68EAEA1A82A4}" type="presOf" srcId="{9F0B8155-4C3C-F64F-B1FE-C8CED244BD19}" destId="{9F226AE9-ADF4-EB4F-8906-BCCD10502E1B}" srcOrd="0" destOrd="0" presId="urn:microsoft.com/office/officeart/2008/layout/VerticalCurvedList"/>
    <dgm:cxn modelId="{87E96314-9C77-F54C-8966-CEA96EEFF7FF}" type="presOf" srcId="{E1500156-C505-0340-B1C2-444C9BA21F81}" destId="{5D6CDD84-B3EF-9C46-B0CB-2C51976A425F}" srcOrd="0" destOrd="0" presId="urn:microsoft.com/office/officeart/2008/layout/VerticalCurvedList"/>
    <dgm:cxn modelId="{B052D315-16E3-CF43-A041-D73359FFB62E}" srcId="{C25B34CF-B405-0447-8EC6-2C6526248AC0}" destId="{E1500156-C505-0340-B1C2-444C9BA21F81}" srcOrd="1" destOrd="0" parTransId="{DE566744-A8CB-5B43-B79D-18D99AE5885A}" sibTransId="{5A293972-3D43-0346-B020-263B3F3BA174}"/>
    <dgm:cxn modelId="{B77F3117-5412-5144-A8D9-4431361D845E}" type="presOf" srcId="{75777834-3F7A-2F43-BE45-D815F4554D66}" destId="{2CBD8BE2-2890-524A-8B30-4BF8372329EA}" srcOrd="0" destOrd="0" presId="urn:microsoft.com/office/officeart/2008/layout/VerticalCurvedList"/>
    <dgm:cxn modelId="{F1DE4D36-1634-1F4A-9E8E-93359229FD09}" type="presOf" srcId="{20520F51-CCC2-9E4B-A032-43DFA1E2C8E0}" destId="{D1813CF1-15BD-1746-9C06-CB67253200BC}" srcOrd="0" destOrd="0" presId="urn:microsoft.com/office/officeart/2008/layout/VerticalCurvedList"/>
    <dgm:cxn modelId="{3E50F95F-4CC5-BF4A-9650-F7880777B8DE}" srcId="{C25B34CF-B405-0447-8EC6-2C6526248AC0}" destId="{94C8CEAA-7A40-CA41-9257-05B9BB741D06}" srcOrd="5" destOrd="0" parTransId="{9A4C0EF4-82A6-1749-8E32-E8606E3B3EF4}" sibTransId="{A75747F9-F737-4245-B9DB-39A5B1BAA618}"/>
    <dgm:cxn modelId="{31B4C958-FC09-3A46-B986-DC56CA521E13}" type="presOf" srcId="{94C8CEAA-7A40-CA41-9257-05B9BB741D06}" destId="{827B38F0-B7C1-DA48-9512-1FA3389CDEAE}" srcOrd="0" destOrd="0" presId="urn:microsoft.com/office/officeart/2008/layout/VerticalCurvedList"/>
    <dgm:cxn modelId="{8726F796-B15C-2B43-8C89-7BB56B5001AD}" type="presOf" srcId="{4A740C7F-980A-BA4C-9F10-B977C354A1EF}" destId="{5B2C71B8-E792-594F-A81D-941C9F99CA12}" srcOrd="0" destOrd="0" presId="urn:microsoft.com/office/officeart/2008/layout/VerticalCurvedList"/>
    <dgm:cxn modelId="{A1795E97-8CE8-0147-AD8B-8B73F25387F8}" srcId="{C25B34CF-B405-0447-8EC6-2C6526248AC0}" destId="{75777834-3F7A-2F43-BE45-D815F4554D66}" srcOrd="0" destOrd="0" parTransId="{11D29F2F-DFD6-1143-B96C-9C759243A728}" sibTransId="{EA574351-70BD-7A4A-B8BF-146C3F3BF2CE}"/>
    <dgm:cxn modelId="{3E4E289B-F248-1643-95BA-259F8AB1200F}" srcId="{C25B34CF-B405-0447-8EC6-2C6526248AC0}" destId="{2418038E-2F04-9949-8BE2-1CA7FA4B55E6}" srcOrd="3" destOrd="0" parTransId="{3BBDB8D6-7F56-974A-AB27-B4FAB6258733}" sibTransId="{93247139-16B3-034C-866C-05023D4BEAE6}"/>
    <dgm:cxn modelId="{9EAD2DB7-63A3-2440-91D0-BC350B92F6DC}" srcId="{C25B34CF-B405-0447-8EC6-2C6526248AC0}" destId="{9F0B8155-4C3C-F64F-B1FE-C8CED244BD19}" srcOrd="6" destOrd="0" parTransId="{698B982D-6F08-F54E-8511-4591CFEFCAF5}" sibTransId="{C6CCB07B-4177-4B43-9014-D319D7A125EA}"/>
    <dgm:cxn modelId="{8CC330BA-596B-4A43-8EC2-40A6E0914124}" type="presOf" srcId="{C25B34CF-B405-0447-8EC6-2C6526248AC0}" destId="{BF9DF738-98B0-C944-A412-20FF9E615998}" srcOrd="0" destOrd="0" presId="urn:microsoft.com/office/officeart/2008/layout/VerticalCurvedList"/>
    <dgm:cxn modelId="{C871AAC2-21AB-C240-A4F4-27C8F1CFFDA6}" srcId="{C25B34CF-B405-0447-8EC6-2C6526248AC0}" destId="{4A740C7F-980A-BA4C-9F10-B977C354A1EF}" srcOrd="4" destOrd="0" parTransId="{F7B9919E-504F-E74C-B1B3-9411DA73D15C}" sibTransId="{7769C3F9-7290-764B-BF8B-C4661331C5D3}"/>
    <dgm:cxn modelId="{C96E4DC7-A6D9-514C-AA50-DE773F2C8108}" type="presOf" srcId="{2418038E-2F04-9949-8BE2-1CA7FA4B55E6}" destId="{4CE707F1-C341-234F-A380-871D988B9892}" srcOrd="0" destOrd="0" presId="urn:microsoft.com/office/officeart/2008/layout/VerticalCurvedList"/>
    <dgm:cxn modelId="{45A711ED-414A-E84D-A209-553BBA4D9CAE}" type="presOf" srcId="{EA574351-70BD-7A4A-B8BF-146C3F3BF2CE}" destId="{FC3FD2E1-6A44-304A-8ABE-D29421750942}" srcOrd="0" destOrd="0" presId="urn:microsoft.com/office/officeart/2008/layout/VerticalCurvedList"/>
    <dgm:cxn modelId="{A497AAEE-E439-954D-AE1D-78DED91858F7}" srcId="{C25B34CF-B405-0447-8EC6-2C6526248AC0}" destId="{20520F51-CCC2-9E4B-A032-43DFA1E2C8E0}" srcOrd="2" destOrd="0" parTransId="{8D512923-0E7E-6F48-B6AE-184DD114E0A6}" sibTransId="{2C8A7E30-41C7-814D-B78E-8BC06DAC36AC}"/>
    <dgm:cxn modelId="{43F3A8F5-ADE0-9E43-BB27-454A678C0DD6}" type="presParOf" srcId="{BF9DF738-98B0-C944-A412-20FF9E615998}" destId="{0C1F5FA3-3E5A-5349-B0E3-90B9E10C8F6B}" srcOrd="0" destOrd="0" presId="urn:microsoft.com/office/officeart/2008/layout/VerticalCurvedList"/>
    <dgm:cxn modelId="{02E6CE72-D7C1-6A44-BB23-ABFCAA59152C}" type="presParOf" srcId="{0C1F5FA3-3E5A-5349-B0E3-90B9E10C8F6B}" destId="{390377C0-EA45-864D-9090-7408DAC540B9}" srcOrd="0" destOrd="0" presId="urn:microsoft.com/office/officeart/2008/layout/VerticalCurvedList"/>
    <dgm:cxn modelId="{EA2ABC66-1B95-554A-830A-A7A38D3D0917}" type="presParOf" srcId="{390377C0-EA45-864D-9090-7408DAC540B9}" destId="{A22BC15C-92F7-384A-AB55-067CDF731EFB}" srcOrd="0" destOrd="0" presId="urn:microsoft.com/office/officeart/2008/layout/VerticalCurvedList"/>
    <dgm:cxn modelId="{B3B2DF92-BCD2-464B-BB62-1F906F7C28DC}" type="presParOf" srcId="{390377C0-EA45-864D-9090-7408DAC540B9}" destId="{FC3FD2E1-6A44-304A-8ABE-D29421750942}" srcOrd="1" destOrd="0" presId="urn:microsoft.com/office/officeart/2008/layout/VerticalCurvedList"/>
    <dgm:cxn modelId="{2162EBD7-94EE-274E-A1ED-0FAAA44422E3}" type="presParOf" srcId="{390377C0-EA45-864D-9090-7408DAC540B9}" destId="{1E8EAFC8-E1D4-0941-8651-CB27FA331F82}" srcOrd="2" destOrd="0" presId="urn:microsoft.com/office/officeart/2008/layout/VerticalCurvedList"/>
    <dgm:cxn modelId="{39EEB6B6-FC3C-2E41-89B0-67D0DF59AAD0}" type="presParOf" srcId="{390377C0-EA45-864D-9090-7408DAC540B9}" destId="{CC817098-3CCC-444C-9823-1DD65A190247}" srcOrd="3" destOrd="0" presId="urn:microsoft.com/office/officeart/2008/layout/VerticalCurvedList"/>
    <dgm:cxn modelId="{1D97750C-6FA7-5441-8698-077E6C6C74AC}" type="presParOf" srcId="{0C1F5FA3-3E5A-5349-B0E3-90B9E10C8F6B}" destId="{2CBD8BE2-2890-524A-8B30-4BF8372329EA}" srcOrd="1" destOrd="0" presId="urn:microsoft.com/office/officeart/2008/layout/VerticalCurvedList"/>
    <dgm:cxn modelId="{8B2B6577-FF6F-CB46-8A8C-53781C1D4E2C}" type="presParOf" srcId="{0C1F5FA3-3E5A-5349-B0E3-90B9E10C8F6B}" destId="{6F8CBFA9-534D-A043-9BE5-F1EC16A0742C}" srcOrd="2" destOrd="0" presId="urn:microsoft.com/office/officeart/2008/layout/VerticalCurvedList"/>
    <dgm:cxn modelId="{758FD0DD-B8AE-B743-B7EA-B207A2B3ED7A}" type="presParOf" srcId="{6F8CBFA9-534D-A043-9BE5-F1EC16A0742C}" destId="{3A908DAF-12B2-5D4A-8B94-244EFBE3757C}" srcOrd="0" destOrd="0" presId="urn:microsoft.com/office/officeart/2008/layout/VerticalCurvedList"/>
    <dgm:cxn modelId="{85ED3B53-E1B4-FA45-B4DF-AB6C8449B76D}" type="presParOf" srcId="{0C1F5FA3-3E5A-5349-B0E3-90B9E10C8F6B}" destId="{5D6CDD84-B3EF-9C46-B0CB-2C51976A425F}" srcOrd="3" destOrd="0" presId="urn:microsoft.com/office/officeart/2008/layout/VerticalCurvedList"/>
    <dgm:cxn modelId="{AACFFF4A-7118-7D46-87C1-90ABAAEF8A55}" type="presParOf" srcId="{0C1F5FA3-3E5A-5349-B0E3-90B9E10C8F6B}" destId="{00EEC159-23E5-5743-93EE-2C82B101D40C}" srcOrd="4" destOrd="0" presId="urn:microsoft.com/office/officeart/2008/layout/VerticalCurvedList"/>
    <dgm:cxn modelId="{9FAA9268-AEC0-1C4A-A893-1F88FDC2286C}" type="presParOf" srcId="{00EEC159-23E5-5743-93EE-2C82B101D40C}" destId="{C8DBD8D7-7921-8E46-8701-0CB59E7E5B84}" srcOrd="0" destOrd="0" presId="urn:microsoft.com/office/officeart/2008/layout/VerticalCurvedList"/>
    <dgm:cxn modelId="{78311103-C15B-7A46-ADDB-8EEA0FDF5CE0}" type="presParOf" srcId="{0C1F5FA3-3E5A-5349-B0E3-90B9E10C8F6B}" destId="{D1813CF1-15BD-1746-9C06-CB67253200BC}" srcOrd="5" destOrd="0" presId="urn:microsoft.com/office/officeart/2008/layout/VerticalCurvedList"/>
    <dgm:cxn modelId="{A9900B67-D7E6-CD47-AD55-2BA7AA313FEF}" type="presParOf" srcId="{0C1F5FA3-3E5A-5349-B0E3-90B9E10C8F6B}" destId="{C85A44EB-BB52-3541-8A55-4858852D8C50}" srcOrd="6" destOrd="0" presId="urn:microsoft.com/office/officeart/2008/layout/VerticalCurvedList"/>
    <dgm:cxn modelId="{014AABDD-1550-3E45-B75F-CDBBF5083CEB}" type="presParOf" srcId="{C85A44EB-BB52-3541-8A55-4858852D8C50}" destId="{2DEFCA7B-7A11-FF43-8F11-DDD566601285}" srcOrd="0" destOrd="0" presId="urn:microsoft.com/office/officeart/2008/layout/VerticalCurvedList"/>
    <dgm:cxn modelId="{03643C16-DBA0-C643-A390-A72071E5C67E}" type="presParOf" srcId="{0C1F5FA3-3E5A-5349-B0E3-90B9E10C8F6B}" destId="{4CE707F1-C341-234F-A380-871D988B9892}" srcOrd="7" destOrd="0" presId="urn:microsoft.com/office/officeart/2008/layout/VerticalCurvedList"/>
    <dgm:cxn modelId="{3351EE72-2596-4A42-8241-CB2D2A8754F5}" type="presParOf" srcId="{0C1F5FA3-3E5A-5349-B0E3-90B9E10C8F6B}" destId="{1D0C338F-F7B7-5848-86DA-8E93F7C650CE}" srcOrd="8" destOrd="0" presId="urn:microsoft.com/office/officeart/2008/layout/VerticalCurvedList"/>
    <dgm:cxn modelId="{08D4E3FF-D787-5B49-8E92-EA3E51305786}" type="presParOf" srcId="{1D0C338F-F7B7-5848-86DA-8E93F7C650CE}" destId="{B3B8FADB-2792-7E42-B1BB-E58F1512CC74}" srcOrd="0" destOrd="0" presId="urn:microsoft.com/office/officeart/2008/layout/VerticalCurvedList"/>
    <dgm:cxn modelId="{84B1A9EB-37FD-E04E-A016-695024A84F92}" type="presParOf" srcId="{0C1F5FA3-3E5A-5349-B0E3-90B9E10C8F6B}" destId="{5B2C71B8-E792-594F-A81D-941C9F99CA12}" srcOrd="9" destOrd="0" presId="urn:microsoft.com/office/officeart/2008/layout/VerticalCurvedList"/>
    <dgm:cxn modelId="{5004F275-2FD4-4D4B-84D5-685D71FD262F}" type="presParOf" srcId="{0C1F5FA3-3E5A-5349-B0E3-90B9E10C8F6B}" destId="{1F172A6A-1856-0241-8841-1734DE3F27E5}" srcOrd="10" destOrd="0" presId="urn:microsoft.com/office/officeart/2008/layout/VerticalCurvedList"/>
    <dgm:cxn modelId="{DFFB5A0F-E9C2-AB4A-AC62-7D74854CF91E}" type="presParOf" srcId="{1F172A6A-1856-0241-8841-1734DE3F27E5}" destId="{61DA8E63-1670-9440-9A3A-B95BACF707FE}" srcOrd="0" destOrd="0" presId="urn:microsoft.com/office/officeart/2008/layout/VerticalCurvedList"/>
    <dgm:cxn modelId="{F7300B60-C7F8-6A49-B149-E55666BB41FF}" type="presParOf" srcId="{0C1F5FA3-3E5A-5349-B0E3-90B9E10C8F6B}" destId="{827B38F0-B7C1-DA48-9512-1FA3389CDEAE}" srcOrd="11" destOrd="0" presId="urn:microsoft.com/office/officeart/2008/layout/VerticalCurvedList"/>
    <dgm:cxn modelId="{CAF84750-6409-5943-820D-2F058E20AAFF}" type="presParOf" srcId="{0C1F5FA3-3E5A-5349-B0E3-90B9E10C8F6B}" destId="{4908F7C0-B955-7447-83E5-3A2BB242F7C3}" srcOrd="12" destOrd="0" presId="urn:microsoft.com/office/officeart/2008/layout/VerticalCurvedList"/>
    <dgm:cxn modelId="{BBFA622B-29A3-7D42-A4FB-4EB8588B1923}" type="presParOf" srcId="{4908F7C0-B955-7447-83E5-3A2BB242F7C3}" destId="{C2157EE5-7641-3341-B2E7-021F543816F9}" srcOrd="0" destOrd="0" presId="urn:microsoft.com/office/officeart/2008/layout/VerticalCurvedList"/>
    <dgm:cxn modelId="{85EF2877-D94E-CD48-B404-E03C48BF88A6}" type="presParOf" srcId="{0C1F5FA3-3E5A-5349-B0E3-90B9E10C8F6B}" destId="{9F226AE9-ADF4-EB4F-8906-BCCD10502E1B}" srcOrd="13" destOrd="0" presId="urn:microsoft.com/office/officeart/2008/layout/VerticalCurvedList"/>
    <dgm:cxn modelId="{02E11A36-F209-7A4A-9718-5B5179B8428F}" type="presParOf" srcId="{0C1F5FA3-3E5A-5349-B0E3-90B9E10C8F6B}" destId="{F8CCDF48-6C40-1741-A25C-ED15D2026B7E}" srcOrd="14" destOrd="0" presId="urn:microsoft.com/office/officeart/2008/layout/VerticalCurvedList"/>
    <dgm:cxn modelId="{ABE8CFD7-36B0-3445-8366-16EA50ADE633}" type="presParOf" srcId="{F8CCDF48-6C40-1741-A25C-ED15D2026B7E}" destId="{757B9E9D-E0EF-514A-8620-B12728BAF68D}"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2FA89BD-1116-324D-97C8-88FE2DB3F9E8}" type="doc">
      <dgm:prSet loTypeId="urn:microsoft.com/office/officeart/2005/8/layout/hierarchy1" loCatId="hierarchy" qsTypeId="urn:microsoft.com/office/officeart/2005/8/quickstyle/simple4" qsCatId="simple" csTypeId="urn:microsoft.com/office/officeart/2005/8/colors/accent1_2" csCatId="accent1"/>
      <dgm:spPr/>
      <dgm:t>
        <a:bodyPr/>
        <a:lstStyle/>
        <a:p>
          <a:endParaRPr lang="en-US"/>
        </a:p>
      </dgm:t>
    </dgm:pt>
    <dgm:pt modelId="{068AB26D-4CFD-9E4C-A174-AB8867C02A29}">
      <dgm:prSet/>
      <dgm:spPr>
        <a:xfrm>
          <a:off x="237623" y="300061"/>
          <a:ext cx="1434118" cy="910665"/>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Address field contains the effective address of the operand</a:t>
          </a:r>
        </a:p>
      </dgm:t>
    </dgm:pt>
    <dgm:pt modelId="{502DAB36-1928-9E4E-8ECF-F64517C71482}" type="parTrans" cxnId="{14F81DE7-E285-5041-BD7D-1C6C0E0658B0}">
      <dgm:prSet/>
      <dgm:spPr/>
      <dgm:t>
        <a:bodyPr/>
        <a:lstStyle/>
        <a:p>
          <a:endParaRPr lang="en-US"/>
        </a:p>
      </dgm:t>
    </dgm:pt>
    <dgm:pt modelId="{93BF055A-D774-684E-97E6-98DE66B0102C}" type="sibTrans" cxnId="{14F81DE7-E285-5041-BD7D-1C6C0E0658B0}">
      <dgm:prSet/>
      <dgm:spPr/>
      <dgm:t>
        <a:bodyPr/>
        <a:lstStyle/>
        <a:p>
          <a:endParaRPr lang="en-US"/>
        </a:p>
      </dgm:t>
    </dgm:pt>
    <dgm:pt modelId="{B61EB01F-3255-E448-843C-0813C908709C}">
      <dgm:prSet/>
      <dgm:spPr>
        <a:xfrm>
          <a:off x="1959745" y="1082842"/>
          <a:ext cx="1434118" cy="910665"/>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Effective address (EA) = address field (A)</a:t>
          </a:r>
        </a:p>
      </dgm:t>
    </dgm:pt>
    <dgm:pt modelId="{B3781EA8-B71B-414E-8CE3-304268965574}" type="parTrans" cxnId="{CE0D4EDE-2517-FA42-8909-C851D9A1E132}">
      <dgm:prSet/>
      <dgm:spPr/>
      <dgm:t>
        <a:bodyPr/>
        <a:lstStyle/>
        <a:p>
          <a:endParaRPr lang="en-US"/>
        </a:p>
      </dgm:t>
    </dgm:pt>
    <dgm:pt modelId="{48C15F19-CC9A-FA4E-98CB-651D3D84BA1A}" type="sibTrans" cxnId="{CE0D4EDE-2517-FA42-8909-C851D9A1E132}">
      <dgm:prSet/>
      <dgm:spPr/>
      <dgm:t>
        <a:bodyPr/>
        <a:lstStyle/>
        <a:p>
          <a:endParaRPr lang="en-US"/>
        </a:p>
      </dgm:t>
    </dgm:pt>
    <dgm:pt modelId="{6061AE15-8788-1048-B0F2-AB4BFD703868}">
      <dgm:prSet/>
      <dgm:spPr>
        <a:xfrm>
          <a:off x="3667913" y="2211156"/>
          <a:ext cx="1434118" cy="910665"/>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Was common in earlier generations of computers </a:t>
          </a:r>
        </a:p>
      </dgm:t>
    </dgm:pt>
    <dgm:pt modelId="{ED0C1CDD-0CC2-1640-8034-B4A5B9EFCD7A}" type="parTrans" cxnId="{2F13B68C-D465-5C48-AD8E-698DC33478E5}">
      <dgm:prSet/>
      <dgm:spPr/>
      <dgm:t>
        <a:bodyPr/>
        <a:lstStyle/>
        <a:p>
          <a:endParaRPr lang="en-US"/>
        </a:p>
      </dgm:t>
    </dgm:pt>
    <dgm:pt modelId="{E60C307D-090B-5B41-BDBF-5D633537D7BD}" type="sibTrans" cxnId="{2F13B68C-D465-5C48-AD8E-698DC33478E5}">
      <dgm:prSet/>
      <dgm:spPr/>
      <dgm:t>
        <a:bodyPr/>
        <a:lstStyle/>
        <a:p>
          <a:endParaRPr lang="en-US"/>
        </a:p>
      </dgm:t>
    </dgm:pt>
    <dgm:pt modelId="{895AE01B-6F9C-BB4E-A002-7ABAE5B78A16}">
      <dgm:prSet/>
      <dgm:spPr>
        <a:xfrm>
          <a:off x="5403989" y="3352912"/>
          <a:ext cx="1434118" cy="910665"/>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Requires only one memory reference and no special calculation</a:t>
          </a:r>
        </a:p>
      </dgm:t>
    </dgm:pt>
    <dgm:pt modelId="{729079CE-ECB0-7A45-9179-F79E02618CD5}" type="parTrans" cxnId="{A7F95E04-5640-9F40-85BF-0CEA1BFA3741}">
      <dgm:prSet/>
      <dgm:spPr/>
      <dgm:t>
        <a:bodyPr/>
        <a:lstStyle/>
        <a:p>
          <a:endParaRPr lang="en-US"/>
        </a:p>
      </dgm:t>
    </dgm:pt>
    <dgm:pt modelId="{232DA005-3DB1-E04A-99C6-A9434DDE18D3}" type="sibTrans" cxnId="{A7F95E04-5640-9F40-85BF-0CEA1BFA3741}">
      <dgm:prSet/>
      <dgm:spPr/>
      <dgm:t>
        <a:bodyPr/>
        <a:lstStyle/>
        <a:p>
          <a:endParaRPr lang="en-US"/>
        </a:p>
      </dgm:t>
    </dgm:pt>
    <dgm:pt modelId="{E7959769-F8B0-3448-94F6-C6A9B40CA168}">
      <dgm:prSet/>
      <dgm:spPr>
        <a:xfrm>
          <a:off x="7176481" y="4270934"/>
          <a:ext cx="1434118" cy="910665"/>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Limitation is that it provides only a limited address space</a:t>
          </a:r>
        </a:p>
      </dgm:t>
    </dgm:pt>
    <dgm:pt modelId="{6B7CE556-39CD-C641-8A79-E73956A1C253}" type="parTrans" cxnId="{BB6D603F-0613-7247-A8C0-0F994BE8C913}">
      <dgm:prSet/>
      <dgm:spPr/>
      <dgm:t>
        <a:bodyPr/>
        <a:lstStyle/>
        <a:p>
          <a:endParaRPr lang="en-US"/>
        </a:p>
      </dgm:t>
    </dgm:pt>
    <dgm:pt modelId="{31922106-302F-0E44-A313-6D3EA063490B}" type="sibTrans" cxnId="{BB6D603F-0613-7247-A8C0-0F994BE8C913}">
      <dgm:prSet/>
      <dgm:spPr/>
      <dgm:t>
        <a:bodyPr/>
        <a:lstStyle/>
        <a:p>
          <a:endParaRPr lang="en-US"/>
        </a:p>
      </dgm:t>
    </dgm:pt>
    <dgm:pt modelId="{9F3805DB-70C8-BD4E-8D37-61EBD4D9E5E6}" type="pres">
      <dgm:prSet presAssocID="{92FA89BD-1116-324D-97C8-88FE2DB3F9E8}" presName="hierChild1" presStyleCnt="0">
        <dgm:presLayoutVars>
          <dgm:chPref val="1"/>
          <dgm:dir/>
          <dgm:animOne val="branch"/>
          <dgm:animLvl val="lvl"/>
          <dgm:resizeHandles/>
        </dgm:presLayoutVars>
      </dgm:prSet>
      <dgm:spPr/>
    </dgm:pt>
    <dgm:pt modelId="{E42C87E1-7929-CA48-A7F8-C039368070D9}" type="pres">
      <dgm:prSet presAssocID="{068AB26D-4CFD-9E4C-A174-AB8867C02A29}" presName="hierRoot1" presStyleCnt="0"/>
      <dgm:spPr/>
    </dgm:pt>
    <dgm:pt modelId="{931FC99A-3F62-9146-A872-FB474F6A460C}" type="pres">
      <dgm:prSet presAssocID="{068AB26D-4CFD-9E4C-A174-AB8867C02A29}" presName="composite" presStyleCnt="0"/>
      <dgm:spPr/>
    </dgm:pt>
    <dgm:pt modelId="{AA48DA74-07C8-5A45-AC22-9059F1952567}" type="pres">
      <dgm:prSet presAssocID="{068AB26D-4CFD-9E4C-A174-AB8867C02A29}" presName="background" presStyleLbl="node0" presStyleIdx="0" presStyleCnt="5"/>
      <dgm:spPr>
        <a:xfrm>
          <a:off x="78277" y="148682"/>
          <a:ext cx="1434118" cy="910665"/>
        </a:xfrm>
        <a:prstGeom prst="roundRect">
          <a:avLst>
            <a:gd name="adj" fmla="val 1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pt>
    <dgm:pt modelId="{913AF7D1-B9F3-6846-94A7-D99908AC9A87}" type="pres">
      <dgm:prSet presAssocID="{068AB26D-4CFD-9E4C-A174-AB8867C02A29}" presName="text" presStyleLbl="fgAcc0" presStyleIdx="0" presStyleCnt="5" custLinFactY="-100000" custLinFactNeighborX="5253" custLinFactNeighborY="-109857">
        <dgm:presLayoutVars>
          <dgm:chPref val="3"/>
        </dgm:presLayoutVars>
      </dgm:prSet>
      <dgm:spPr/>
    </dgm:pt>
    <dgm:pt modelId="{3448DE12-6E0A-3745-A0E4-AE081ADBBD81}" type="pres">
      <dgm:prSet presAssocID="{068AB26D-4CFD-9E4C-A174-AB8867C02A29}" presName="hierChild2" presStyleCnt="0"/>
      <dgm:spPr/>
    </dgm:pt>
    <dgm:pt modelId="{7C05869D-DCE5-224E-9A1D-1E964D1EC942}" type="pres">
      <dgm:prSet presAssocID="{B61EB01F-3255-E448-843C-0813C908709C}" presName="hierRoot1" presStyleCnt="0"/>
      <dgm:spPr/>
    </dgm:pt>
    <dgm:pt modelId="{712FC35D-374A-B145-ADBF-F81021E6AAED}" type="pres">
      <dgm:prSet presAssocID="{B61EB01F-3255-E448-843C-0813C908709C}" presName="composite" presStyleCnt="0"/>
      <dgm:spPr/>
    </dgm:pt>
    <dgm:pt modelId="{12211905-1138-A64D-A172-424F7AF19CF4}" type="pres">
      <dgm:prSet presAssocID="{B61EB01F-3255-E448-843C-0813C908709C}" presName="background" presStyleLbl="node0" presStyleIdx="1" presStyleCnt="5"/>
      <dgm:spPr>
        <a:xfrm>
          <a:off x="1800399" y="931462"/>
          <a:ext cx="1434118" cy="910665"/>
        </a:xfrm>
        <a:prstGeom prst="roundRect">
          <a:avLst>
            <a:gd name="adj" fmla="val 1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pt>
    <dgm:pt modelId="{6D46C026-68A7-5742-AF4E-074BC1F884E1}" type="pres">
      <dgm:prSet presAssocID="{B61EB01F-3255-E448-843C-0813C908709C}" presName="text" presStyleLbl="fgAcc0" presStyleIdx="1" presStyleCnt="5" custLinFactY="-23900" custLinFactNeighborX="3113" custLinFactNeighborY="-100000">
        <dgm:presLayoutVars>
          <dgm:chPref val="3"/>
        </dgm:presLayoutVars>
      </dgm:prSet>
      <dgm:spPr/>
    </dgm:pt>
    <dgm:pt modelId="{092DFB7B-E14C-BF4B-A228-DFBBA633F7EC}" type="pres">
      <dgm:prSet presAssocID="{B61EB01F-3255-E448-843C-0813C908709C}" presName="hierChild2" presStyleCnt="0"/>
      <dgm:spPr/>
    </dgm:pt>
    <dgm:pt modelId="{3C73DDA4-5490-F240-9461-3B45FE3D6ADC}" type="pres">
      <dgm:prSet presAssocID="{6061AE15-8788-1048-B0F2-AB4BFD703868}" presName="hierRoot1" presStyleCnt="0"/>
      <dgm:spPr/>
    </dgm:pt>
    <dgm:pt modelId="{11D0DCB3-FD71-3F48-A37C-72F2FE4D1034}" type="pres">
      <dgm:prSet presAssocID="{6061AE15-8788-1048-B0F2-AB4BFD703868}" presName="composite" presStyleCnt="0"/>
      <dgm:spPr/>
    </dgm:pt>
    <dgm:pt modelId="{C5144ED8-933C-1B48-8D11-257811EF2561}" type="pres">
      <dgm:prSet presAssocID="{6061AE15-8788-1048-B0F2-AB4BFD703868}" presName="background" presStyleLbl="node0" presStyleIdx="2" presStyleCnt="5"/>
      <dgm:spPr>
        <a:xfrm>
          <a:off x="3508567" y="2059777"/>
          <a:ext cx="1434118" cy="910665"/>
        </a:xfrm>
        <a:prstGeom prst="roundRect">
          <a:avLst>
            <a:gd name="adj" fmla="val 1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pt>
    <dgm:pt modelId="{297D322A-B2A9-5C43-975C-6419BB181B8E}" type="pres">
      <dgm:prSet presAssocID="{6061AE15-8788-1048-B0F2-AB4BFD703868}" presName="text" presStyleLbl="fgAcc0" presStyleIdx="2" presStyleCnt="5">
        <dgm:presLayoutVars>
          <dgm:chPref val="3"/>
        </dgm:presLayoutVars>
      </dgm:prSet>
      <dgm:spPr/>
    </dgm:pt>
    <dgm:pt modelId="{B3B8C628-2C1D-C341-987F-15C3698181B5}" type="pres">
      <dgm:prSet presAssocID="{6061AE15-8788-1048-B0F2-AB4BFD703868}" presName="hierChild2" presStyleCnt="0"/>
      <dgm:spPr/>
    </dgm:pt>
    <dgm:pt modelId="{EA4250D9-34D5-5E4E-A24E-38A4F95D2913}" type="pres">
      <dgm:prSet presAssocID="{895AE01B-6F9C-BB4E-A002-7ABAE5B78A16}" presName="hierRoot1" presStyleCnt="0"/>
      <dgm:spPr/>
    </dgm:pt>
    <dgm:pt modelId="{04569210-A2AC-2A45-8E19-DD23236ABF8D}" type="pres">
      <dgm:prSet presAssocID="{895AE01B-6F9C-BB4E-A002-7ABAE5B78A16}" presName="composite" presStyleCnt="0"/>
      <dgm:spPr/>
    </dgm:pt>
    <dgm:pt modelId="{C6195375-255E-164A-A511-E4D563E7E84E}" type="pres">
      <dgm:prSet presAssocID="{895AE01B-6F9C-BB4E-A002-7ABAE5B78A16}" presName="background" presStyleLbl="node0" presStyleIdx="3" presStyleCnt="5"/>
      <dgm:spPr>
        <a:xfrm>
          <a:off x="5244643" y="3201533"/>
          <a:ext cx="1434118" cy="910665"/>
        </a:xfrm>
        <a:prstGeom prst="roundRect">
          <a:avLst>
            <a:gd name="adj" fmla="val 1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pt>
    <dgm:pt modelId="{FE5F2D3A-07E8-5B4E-88DF-D345FCC274BF}" type="pres">
      <dgm:prSet presAssocID="{895AE01B-6F9C-BB4E-A002-7ABAE5B78A16}" presName="text" presStyleLbl="fgAcc0" presStyleIdx="3" presStyleCnt="5" custLinFactY="25376" custLinFactNeighborX="-1167" custLinFactNeighborY="100000">
        <dgm:presLayoutVars>
          <dgm:chPref val="3"/>
        </dgm:presLayoutVars>
      </dgm:prSet>
      <dgm:spPr/>
    </dgm:pt>
    <dgm:pt modelId="{7982E46A-28C7-D842-B2FB-17E37C9E6040}" type="pres">
      <dgm:prSet presAssocID="{895AE01B-6F9C-BB4E-A002-7ABAE5B78A16}" presName="hierChild2" presStyleCnt="0"/>
      <dgm:spPr/>
    </dgm:pt>
    <dgm:pt modelId="{7789F0FC-5FCE-1345-823B-071DB6BDEA9F}" type="pres">
      <dgm:prSet presAssocID="{E7959769-F8B0-3448-94F6-C6A9B40CA168}" presName="hierRoot1" presStyleCnt="0"/>
      <dgm:spPr/>
    </dgm:pt>
    <dgm:pt modelId="{43907289-1915-814A-860C-3E18FAF916D8}" type="pres">
      <dgm:prSet presAssocID="{E7959769-F8B0-3448-94F6-C6A9B40CA168}" presName="composite" presStyleCnt="0"/>
      <dgm:spPr/>
    </dgm:pt>
    <dgm:pt modelId="{CDE3062D-FF32-8E4E-9EF4-D87D53435C1F}" type="pres">
      <dgm:prSet presAssocID="{E7959769-F8B0-3448-94F6-C6A9B40CA168}" presName="background" presStyleLbl="node0" presStyleIdx="4" presStyleCnt="5"/>
      <dgm:spPr>
        <a:xfrm>
          <a:off x="7017134" y="4119555"/>
          <a:ext cx="1434118" cy="910665"/>
        </a:xfrm>
        <a:prstGeom prst="roundRect">
          <a:avLst>
            <a:gd name="adj" fmla="val 1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pt>
    <dgm:pt modelId="{8AB8A0B0-B803-DC4A-A0A0-7E45D900705C}" type="pres">
      <dgm:prSet presAssocID="{E7959769-F8B0-3448-94F6-C6A9B40CA168}" presName="text" presStyleLbl="fgAcc0" presStyleIdx="4" presStyleCnt="5" custLinFactY="100000" custLinFactNeighborX="2151" custLinFactNeighborY="154312">
        <dgm:presLayoutVars>
          <dgm:chPref val="3"/>
        </dgm:presLayoutVars>
      </dgm:prSet>
      <dgm:spPr/>
    </dgm:pt>
    <dgm:pt modelId="{F1E07AB8-D1E0-C947-8D7D-8AB75D3F23C4}" type="pres">
      <dgm:prSet presAssocID="{E7959769-F8B0-3448-94F6-C6A9B40CA168}" presName="hierChild2" presStyleCnt="0"/>
      <dgm:spPr/>
    </dgm:pt>
  </dgm:ptLst>
  <dgm:cxnLst>
    <dgm:cxn modelId="{E279E903-9A7E-B34F-9661-DE17B3F21575}" type="presOf" srcId="{B61EB01F-3255-E448-843C-0813C908709C}" destId="{6D46C026-68A7-5742-AF4E-074BC1F884E1}" srcOrd="0" destOrd="0" presId="urn:microsoft.com/office/officeart/2005/8/layout/hierarchy1"/>
    <dgm:cxn modelId="{A7F95E04-5640-9F40-85BF-0CEA1BFA3741}" srcId="{92FA89BD-1116-324D-97C8-88FE2DB3F9E8}" destId="{895AE01B-6F9C-BB4E-A002-7ABAE5B78A16}" srcOrd="3" destOrd="0" parTransId="{729079CE-ECB0-7A45-9179-F79E02618CD5}" sibTransId="{232DA005-3DB1-E04A-99C6-A9434DDE18D3}"/>
    <dgm:cxn modelId="{91A7630B-B744-574C-9D37-FE7F3546AF68}" type="presOf" srcId="{068AB26D-4CFD-9E4C-A174-AB8867C02A29}" destId="{913AF7D1-B9F3-6846-94A7-D99908AC9A87}" srcOrd="0" destOrd="0" presId="urn:microsoft.com/office/officeart/2005/8/layout/hierarchy1"/>
    <dgm:cxn modelId="{BB6D603F-0613-7247-A8C0-0F994BE8C913}" srcId="{92FA89BD-1116-324D-97C8-88FE2DB3F9E8}" destId="{E7959769-F8B0-3448-94F6-C6A9B40CA168}" srcOrd="4" destOrd="0" parTransId="{6B7CE556-39CD-C641-8A79-E73956A1C253}" sibTransId="{31922106-302F-0E44-A313-6D3EA063490B}"/>
    <dgm:cxn modelId="{2F13B68C-D465-5C48-AD8E-698DC33478E5}" srcId="{92FA89BD-1116-324D-97C8-88FE2DB3F9E8}" destId="{6061AE15-8788-1048-B0F2-AB4BFD703868}" srcOrd="2" destOrd="0" parTransId="{ED0C1CDD-0CC2-1640-8034-B4A5B9EFCD7A}" sibTransId="{E60C307D-090B-5B41-BDBF-5D633537D7BD}"/>
    <dgm:cxn modelId="{1985FEC8-0546-8649-8743-6A74CF30190E}" type="presOf" srcId="{E7959769-F8B0-3448-94F6-C6A9B40CA168}" destId="{8AB8A0B0-B803-DC4A-A0A0-7E45D900705C}" srcOrd="0" destOrd="0" presId="urn:microsoft.com/office/officeart/2005/8/layout/hierarchy1"/>
    <dgm:cxn modelId="{02397ACA-8E98-294D-98DF-0E68072B417E}" type="presOf" srcId="{895AE01B-6F9C-BB4E-A002-7ABAE5B78A16}" destId="{FE5F2D3A-07E8-5B4E-88DF-D345FCC274BF}" srcOrd="0" destOrd="0" presId="urn:microsoft.com/office/officeart/2005/8/layout/hierarchy1"/>
    <dgm:cxn modelId="{CE0D4EDE-2517-FA42-8909-C851D9A1E132}" srcId="{92FA89BD-1116-324D-97C8-88FE2DB3F9E8}" destId="{B61EB01F-3255-E448-843C-0813C908709C}" srcOrd="1" destOrd="0" parTransId="{B3781EA8-B71B-414E-8CE3-304268965574}" sibTransId="{48C15F19-CC9A-FA4E-98CB-651D3D84BA1A}"/>
    <dgm:cxn modelId="{14F81DE7-E285-5041-BD7D-1C6C0E0658B0}" srcId="{92FA89BD-1116-324D-97C8-88FE2DB3F9E8}" destId="{068AB26D-4CFD-9E4C-A174-AB8867C02A29}" srcOrd="0" destOrd="0" parTransId="{502DAB36-1928-9E4E-8ECF-F64517C71482}" sibTransId="{93BF055A-D774-684E-97E6-98DE66B0102C}"/>
    <dgm:cxn modelId="{9D7577EB-867C-5B47-ABC3-669FE2836611}" type="presOf" srcId="{92FA89BD-1116-324D-97C8-88FE2DB3F9E8}" destId="{9F3805DB-70C8-BD4E-8D37-61EBD4D9E5E6}" srcOrd="0" destOrd="0" presId="urn:microsoft.com/office/officeart/2005/8/layout/hierarchy1"/>
    <dgm:cxn modelId="{963393FE-A5B7-AD4E-A666-7833361FC71E}" type="presOf" srcId="{6061AE15-8788-1048-B0F2-AB4BFD703868}" destId="{297D322A-B2A9-5C43-975C-6419BB181B8E}" srcOrd="0" destOrd="0" presId="urn:microsoft.com/office/officeart/2005/8/layout/hierarchy1"/>
    <dgm:cxn modelId="{DC3D77B5-8C4B-2B4D-8191-ED44C6CCF2E6}" type="presParOf" srcId="{9F3805DB-70C8-BD4E-8D37-61EBD4D9E5E6}" destId="{E42C87E1-7929-CA48-A7F8-C039368070D9}" srcOrd="0" destOrd="0" presId="urn:microsoft.com/office/officeart/2005/8/layout/hierarchy1"/>
    <dgm:cxn modelId="{C8092223-B438-DF4B-985F-8E5B62E334E9}" type="presParOf" srcId="{E42C87E1-7929-CA48-A7F8-C039368070D9}" destId="{931FC99A-3F62-9146-A872-FB474F6A460C}" srcOrd="0" destOrd="0" presId="urn:microsoft.com/office/officeart/2005/8/layout/hierarchy1"/>
    <dgm:cxn modelId="{3C55B9EE-A4ED-BB43-9AC8-4D1B34D6509A}" type="presParOf" srcId="{931FC99A-3F62-9146-A872-FB474F6A460C}" destId="{AA48DA74-07C8-5A45-AC22-9059F1952567}" srcOrd="0" destOrd="0" presId="urn:microsoft.com/office/officeart/2005/8/layout/hierarchy1"/>
    <dgm:cxn modelId="{76F6004B-10E0-824A-9DB5-EABE4CCD647E}" type="presParOf" srcId="{931FC99A-3F62-9146-A872-FB474F6A460C}" destId="{913AF7D1-B9F3-6846-94A7-D99908AC9A87}" srcOrd="1" destOrd="0" presId="urn:microsoft.com/office/officeart/2005/8/layout/hierarchy1"/>
    <dgm:cxn modelId="{8939BDE6-F010-8845-B45B-6D197A721C0D}" type="presParOf" srcId="{E42C87E1-7929-CA48-A7F8-C039368070D9}" destId="{3448DE12-6E0A-3745-A0E4-AE081ADBBD81}" srcOrd="1" destOrd="0" presId="urn:microsoft.com/office/officeart/2005/8/layout/hierarchy1"/>
    <dgm:cxn modelId="{A903BA56-3CB8-A848-A7BA-D17559D86B5B}" type="presParOf" srcId="{9F3805DB-70C8-BD4E-8D37-61EBD4D9E5E6}" destId="{7C05869D-DCE5-224E-9A1D-1E964D1EC942}" srcOrd="1" destOrd="0" presId="urn:microsoft.com/office/officeart/2005/8/layout/hierarchy1"/>
    <dgm:cxn modelId="{A0673883-AA21-B147-BAE0-D60B8832DC02}" type="presParOf" srcId="{7C05869D-DCE5-224E-9A1D-1E964D1EC942}" destId="{712FC35D-374A-B145-ADBF-F81021E6AAED}" srcOrd="0" destOrd="0" presId="urn:microsoft.com/office/officeart/2005/8/layout/hierarchy1"/>
    <dgm:cxn modelId="{4F02EE5B-49CB-0946-BC4F-C46CFC361691}" type="presParOf" srcId="{712FC35D-374A-B145-ADBF-F81021E6AAED}" destId="{12211905-1138-A64D-A172-424F7AF19CF4}" srcOrd="0" destOrd="0" presId="urn:microsoft.com/office/officeart/2005/8/layout/hierarchy1"/>
    <dgm:cxn modelId="{589C6880-325D-0847-8F85-204ABB59CEFF}" type="presParOf" srcId="{712FC35D-374A-B145-ADBF-F81021E6AAED}" destId="{6D46C026-68A7-5742-AF4E-074BC1F884E1}" srcOrd="1" destOrd="0" presId="urn:microsoft.com/office/officeart/2005/8/layout/hierarchy1"/>
    <dgm:cxn modelId="{6B0433FC-C803-EF4C-A957-FA0914B722E3}" type="presParOf" srcId="{7C05869D-DCE5-224E-9A1D-1E964D1EC942}" destId="{092DFB7B-E14C-BF4B-A228-DFBBA633F7EC}" srcOrd="1" destOrd="0" presId="urn:microsoft.com/office/officeart/2005/8/layout/hierarchy1"/>
    <dgm:cxn modelId="{D07AF4CA-358D-B54B-9CFD-5441A294A762}" type="presParOf" srcId="{9F3805DB-70C8-BD4E-8D37-61EBD4D9E5E6}" destId="{3C73DDA4-5490-F240-9461-3B45FE3D6ADC}" srcOrd="2" destOrd="0" presId="urn:microsoft.com/office/officeart/2005/8/layout/hierarchy1"/>
    <dgm:cxn modelId="{34751E35-06EB-EF48-91BF-FAE972F25B95}" type="presParOf" srcId="{3C73DDA4-5490-F240-9461-3B45FE3D6ADC}" destId="{11D0DCB3-FD71-3F48-A37C-72F2FE4D1034}" srcOrd="0" destOrd="0" presId="urn:microsoft.com/office/officeart/2005/8/layout/hierarchy1"/>
    <dgm:cxn modelId="{D79BDA91-912C-D943-97E1-3CFFFE88C00F}" type="presParOf" srcId="{11D0DCB3-FD71-3F48-A37C-72F2FE4D1034}" destId="{C5144ED8-933C-1B48-8D11-257811EF2561}" srcOrd="0" destOrd="0" presId="urn:microsoft.com/office/officeart/2005/8/layout/hierarchy1"/>
    <dgm:cxn modelId="{B4D0C556-6648-614C-AA9D-6E3B876A532A}" type="presParOf" srcId="{11D0DCB3-FD71-3F48-A37C-72F2FE4D1034}" destId="{297D322A-B2A9-5C43-975C-6419BB181B8E}" srcOrd="1" destOrd="0" presId="urn:microsoft.com/office/officeart/2005/8/layout/hierarchy1"/>
    <dgm:cxn modelId="{1B94BD15-BA6D-2A4D-A16E-2B08B6409EB0}" type="presParOf" srcId="{3C73DDA4-5490-F240-9461-3B45FE3D6ADC}" destId="{B3B8C628-2C1D-C341-987F-15C3698181B5}" srcOrd="1" destOrd="0" presId="urn:microsoft.com/office/officeart/2005/8/layout/hierarchy1"/>
    <dgm:cxn modelId="{5A01DFF1-C87C-0B44-A4E9-7F9F0231C875}" type="presParOf" srcId="{9F3805DB-70C8-BD4E-8D37-61EBD4D9E5E6}" destId="{EA4250D9-34D5-5E4E-A24E-38A4F95D2913}" srcOrd="3" destOrd="0" presId="urn:microsoft.com/office/officeart/2005/8/layout/hierarchy1"/>
    <dgm:cxn modelId="{CB5CCB35-2A17-7F43-80F3-254C0F99B694}" type="presParOf" srcId="{EA4250D9-34D5-5E4E-A24E-38A4F95D2913}" destId="{04569210-A2AC-2A45-8E19-DD23236ABF8D}" srcOrd="0" destOrd="0" presId="urn:microsoft.com/office/officeart/2005/8/layout/hierarchy1"/>
    <dgm:cxn modelId="{CF2CCA79-D534-274A-93C8-EB8A2FD6324E}" type="presParOf" srcId="{04569210-A2AC-2A45-8E19-DD23236ABF8D}" destId="{C6195375-255E-164A-A511-E4D563E7E84E}" srcOrd="0" destOrd="0" presId="urn:microsoft.com/office/officeart/2005/8/layout/hierarchy1"/>
    <dgm:cxn modelId="{006A7ECB-DD27-F847-A16F-9351096735FF}" type="presParOf" srcId="{04569210-A2AC-2A45-8E19-DD23236ABF8D}" destId="{FE5F2D3A-07E8-5B4E-88DF-D345FCC274BF}" srcOrd="1" destOrd="0" presId="urn:microsoft.com/office/officeart/2005/8/layout/hierarchy1"/>
    <dgm:cxn modelId="{75DC0981-8CB5-7C4C-A336-8074D0A284F7}" type="presParOf" srcId="{EA4250D9-34D5-5E4E-A24E-38A4F95D2913}" destId="{7982E46A-28C7-D842-B2FB-17E37C9E6040}" srcOrd="1" destOrd="0" presId="urn:microsoft.com/office/officeart/2005/8/layout/hierarchy1"/>
    <dgm:cxn modelId="{212E048D-46B2-9440-B10C-3DDDE27C9453}" type="presParOf" srcId="{9F3805DB-70C8-BD4E-8D37-61EBD4D9E5E6}" destId="{7789F0FC-5FCE-1345-823B-071DB6BDEA9F}" srcOrd="4" destOrd="0" presId="urn:microsoft.com/office/officeart/2005/8/layout/hierarchy1"/>
    <dgm:cxn modelId="{CCE7D8CE-F785-EB40-8F9F-4711BD2D4A45}" type="presParOf" srcId="{7789F0FC-5FCE-1345-823B-071DB6BDEA9F}" destId="{43907289-1915-814A-860C-3E18FAF916D8}" srcOrd="0" destOrd="0" presId="urn:microsoft.com/office/officeart/2005/8/layout/hierarchy1"/>
    <dgm:cxn modelId="{EA3E0537-72C1-6043-A11D-A8DCCD8CAD5A}" type="presParOf" srcId="{43907289-1915-814A-860C-3E18FAF916D8}" destId="{CDE3062D-FF32-8E4E-9EF4-D87D53435C1F}" srcOrd="0" destOrd="0" presId="urn:microsoft.com/office/officeart/2005/8/layout/hierarchy1"/>
    <dgm:cxn modelId="{4CBCF4FA-8A04-B94A-88E3-C6EBDF524786}" type="presParOf" srcId="{43907289-1915-814A-860C-3E18FAF916D8}" destId="{8AB8A0B0-B803-DC4A-A0A0-7E45D900705C}" srcOrd="1" destOrd="0" presId="urn:microsoft.com/office/officeart/2005/8/layout/hierarchy1"/>
    <dgm:cxn modelId="{94CBC341-2820-9E49-84AE-89C3EEE05CFE}" type="presParOf" srcId="{7789F0FC-5FCE-1345-823B-071DB6BDEA9F}" destId="{F1E07AB8-D1E0-C947-8D7D-8AB75D3F23C4}"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3FFC2AD-2120-3042-8A32-31F9309CC9FB}" type="doc">
      <dgm:prSet loTypeId="urn:microsoft.com/office/officeart/2005/8/layout/matrix2" loCatId="" qsTypeId="urn:microsoft.com/office/officeart/2005/8/quickstyle/simple5" qsCatId="simple" csTypeId="urn:microsoft.com/office/officeart/2005/8/colors/accent3_5" csCatId="accent3"/>
      <dgm:spPr/>
      <dgm:t>
        <a:bodyPr/>
        <a:lstStyle/>
        <a:p>
          <a:endParaRPr lang="en-US"/>
        </a:p>
      </dgm:t>
    </dgm:pt>
    <dgm:pt modelId="{842866CA-E23A-694A-9984-25A7E8AED435}">
      <dgm:prSet/>
      <dgm:spPr>
        <a:xfrm>
          <a:off x="1839486" y="327636"/>
          <a:ext cx="2016224" cy="2016224"/>
        </a:xfrm>
        <a:prstGeom prst="roundRect">
          <a:avLst/>
        </a:prstGeom>
        <a:gradFill rotWithShape="0">
          <a:gsLst>
            <a:gs pos="0">
              <a:srgbClr val="666699">
                <a:alpha val="90000"/>
                <a:hueOff val="0"/>
                <a:satOff val="0"/>
                <a:lumOff val="0"/>
                <a:alphaOff val="0"/>
                <a:shade val="40000"/>
                <a:alpha val="100000"/>
                <a:satMod val="150000"/>
                <a:lumMod val="100000"/>
              </a:srgbClr>
            </a:gs>
            <a:gs pos="100000">
              <a:srgbClr val="666699">
                <a:alpha val="90000"/>
                <a:hueOff val="0"/>
                <a:satOff val="0"/>
                <a:lumOff val="0"/>
                <a:alphaOff val="0"/>
                <a:tint val="70000"/>
                <a:shade val="100000"/>
                <a:alpha val="100000"/>
                <a:satMod val="200000"/>
                <a:lumMod val="100000"/>
              </a:srgbClr>
            </a:gs>
          </a:gsLst>
          <a:lin ang="5400000" scaled="1"/>
        </a:gradFill>
        <a:ln>
          <a:noFill/>
        </a:ln>
        <a:effectLst/>
        <a:scene3d>
          <a:camera prst="orthographicFront">
            <a:rot lat="0" lon="0" rev="0"/>
          </a:camera>
          <a:lightRig rig="twoPt" dir="tl">
            <a:rot lat="0" lon="0" rev="4500000"/>
          </a:lightRig>
        </a:scene3d>
        <a:sp3d>
          <a:bevelT w="63500" h="50800"/>
        </a:sp3d>
      </dgm:spPr>
      <dgm:t>
        <a:bodyPr/>
        <a:lstStyle/>
        <a:p>
          <a:pPr rtl="0"/>
          <a:r>
            <a:rPr lang="en-US" dirty="0">
              <a:solidFill>
                <a:sysClr val="window" lastClr="FFFFFF"/>
              </a:solidFill>
              <a:latin typeface="Rockwell"/>
              <a:ea typeface="+mn-ea"/>
              <a:cs typeface="+mn-cs"/>
            </a:rPr>
            <a:t>Address field refers to a register rather than a main     memory address</a:t>
          </a:r>
        </a:p>
      </dgm:t>
    </dgm:pt>
    <dgm:pt modelId="{F1D45151-0E8F-1045-911C-85CF77258AC9}" type="parTrans" cxnId="{081224EF-5D8D-ED42-811C-E1522E33D711}">
      <dgm:prSet/>
      <dgm:spPr/>
      <dgm:t>
        <a:bodyPr/>
        <a:lstStyle/>
        <a:p>
          <a:endParaRPr lang="en-US"/>
        </a:p>
      </dgm:t>
    </dgm:pt>
    <dgm:pt modelId="{2AB330EA-A51B-4F4E-A6B6-CEF82F92C81D}" type="sibTrans" cxnId="{081224EF-5D8D-ED42-811C-E1522E33D711}">
      <dgm:prSet/>
      <dgm:spPr/>
      <dgm:t>
        <a:bodyPr/>
        <a:lstStyle/>
        <a:p>
          <a:endParaRPr lang="en-US"/>
        </a:p>
      </dgm:t>
    </dgm:pt>
    <dgm:pt modelId="{5D840648-1FBF-6E4D-AC0C-1EC503D4D81A}">
      <dgm:prSet/>
      <dgm:spPr>
        <a:xfrm>
          <a:off x="4208549" y="327636"/>
          <a:ext cx="2016224" cy="2016224"/>
        </a:xfrm>
        <a:prstGeom prst="roundRect">
          <a:avLst/>
        </a:prstGeom>
        <a:gradFill rotWithShape="0">
          <a:gsLst>
            <a:gs pos="0">
              <a:srgbClr val="666699">
                <a:alpha val="90000"/>
                <a:hueOff val="0"/>
                <a:satOff val="0"/>
                <a:lumOff val="0"/>
                <a:alphaOff val="-13333"/>
                <a:shade val="40000"/>
                <a:alpha val="100000"/>
                <a:satMod val="150000"/>
                <a:lumMod val="100000"/>
              </a:srgbClr>
            </a:gs>
            <a:gs pos="100000">
              <a:srgbClr val="666699">
                <a:alpha val="90000"/>
                <a:hueOff val="0"/>
                <a:satOff val="0"/>
                <a:lumOff val="0"/>
                <a:alphaOff val="-13333"/>
                <a:tint val="70000"/>
                <a:shade val="100000"/>
                <a:alpha val="100000"/>
                <a:satMod val="200000"/>
                <a:lumMod val="100000"/>
              </a:srgbClr>
            </a:gs>
          </a:gsLst>
          <a:lin ang="5400000" scaled="1"/>
        </a:gradFill>
        <a:ln>
          <a:noFill/>
        </a:ln>
        <a:effectLst/>
        <a:scene3d>
          <a:camera prst="orthographicFront">
            <a:rot lat="0" lon="0" rev="0"/>
          </a:camera>
          <a:lightRig rig="twoPt" dir="tl">
            <a:rot lat="0" lon="0" rev="4500000"/>
          </a:lightRig>
        </a:scene3d>
        <a:sp3d>
          <a:bevelT w="63500" h="50800"/>
        </a:sp3d>
      </dgm:spPr>
      <dgm:t>
        <a:bodyPr/>
        <a:lstStyle/>
        <a:p>
          <a:pPr rtl="0"/>
          <a:r>
            <a:rPr lang="en-US">
              <a:solidFill>
                <a:sysClr val="window" lastClr="FFFFFF"/>
              </a:solidFill>
              <a:latin typeface="Rockwell"/>
              <a:ea typeface="+mn-ea"/>
              <a:cs typeface="+mn-cs"/>
            </a:rPr>
            <a:t>EA = R</a:t>
          </a:r>
        </a:p>
      </dgm:t>
    </dgm:pt>
    <dgm:pt modelId="{5BB619D8-1F9C-9546-980F-B77695D15651}" type="parTrans" cxnId="{B555B3F5-ED66-E840-A36F-07BA2E2A9CF7}">
      <dgm:prSet/>
      <dgm:spPr/>
      <dgm:t>
        <a:bodyPr/>
        <a:lstStyle/>
        <a:p>
          <a:endParaRPr lang="en-US"/>
        </a:p>
      </dgm:t>
    </dgm:pt>
    <dgm:pt modelId="{A3383831-092E-2B48-A77C-80075FC87C45}" type="sibTrans" cxnId="{B555B3F5-ED66-E840-A36F-07BA2E2A9CF7}">
      <dgm:prSet/>
      <dgm:spPr/>
      <dgm:t>
        <a:bodyPr/>
        <a:lstStyle/>
        <a:p>
          <a:endParaRPr lang="en-US"/>
        </a:p>
      </dgm:t>
    </dgm:pt>
    <dgm:pt modelId="{19414C10-82B8-A14A-B37F-2F3AC36FA104}">
      <dgm:prSet/>
      <dgm:spPr>
        <a:xfrm>
          <a:off x="1839486" y="2696699"/>
          <a:ext cx="2016224" cy="2016224"/>
        </a:xfrm>
        <a:prstGeom prst="roundRect">
          <a:avLst/>
        </a:prstGeom>
        <a:gradFill rotWithShape="0">
          <a:gsLst>
            <a:gs pos="0">
              <a:srgbClr val="666699">
                <a:alpha val="90000"/>
                <a:hueOff val="0"/>
                <a:satOff val="0"/>
                <a:lumOff val="0"/>
                <a:alphaOff val="-26667"/>
                <a:shade val="40000"/>
                <a:alpha val="100000"/>
                <a:satMod val="150000"/>
                <a:lumMod val="100000"/>
              </a:srgbClr>
            </a:gs>
            <a:gs pos="100000">
              <a:srgbClr val="666699">
                <a:alpha val="90000"/>
                <a:hueOff val="0"/>
                <a:satOff val="0"/>
                <a:lumOff val="0"/>
                <a:alphaOff val="-26667"/>
                <a:tint val="70000"/>
                <a:shade val="100000"/>
                <a:alpha val="100000"/>
                <a:satMod val="200000"/>
                <a:lumMod val="100000"/>
              </a:srgbClr>
            </a:gs>
          </a:gsLst>
          <a:lin ang="5400000" scaled="1"/>
        </a:gradFill>
        <a:ln>
          <a:noFill/>
        </a:ln>
        <a:effectLst/>
        <a:scene3d>
          <a:camera prst="orthographicFront">
            <a:rot lat="0" lon="0" rev="0"/>
          </a:camera>
          <a:lightRig rig="twoPt" dir="tl">
            <a:rot lat="0" lon="0" rev="4500000"/>
          </a:lightRig>
        </a:scene3d>
        <a:sp3d>
          <a:bevelT w="63500" h="50800"/>
        </a:sp3d>
      </dgm:spPr>
      <dgm:t>
        <a:bodyPr/>
        <a:lstStyle/>
        <a:p>
          <a:pPr rtl="0"/>
          <a:r>
            <a:rPr lang="en-US">
              <a:solidFill>
                <a:sysClr val="window" lastClr="FFFFFF"/>
              </a:solidFill>
              <a:latin typeface="Rockwell"/>
              <a:ea typeface="+mn-ea"/>
              <a:cs typeface="+mn-cs"/>
            </a:rPr>
            <a:t>Advantages:</a:t>
          </a:r>
        </a:p>
      </dgm:t>
    </dgm:pt>
    <dgm:pt modelId="{935CB947-14A1-444E-A8E1-F72DE166BA78}" type="parTrans" cxnId="{F6B3471A-F94B-E94E-B185-945F5DF348DB}">
      <dgm:prSet/>
      <dgm:spPr/>
      <dgm:t>
        <a:bodyPr/>
        <a:lstStyle/>
        <a:p>
          <a:endParaRPr lang="en-US"/>
        </a:p>
      </dgm:t>
    </dgm:pt>
    <dgm:pt modelId="{17287A93-A9CD-6040-B20F-7111E578754B}" type="sibTrans" cxnId="{F6B3471A-F94B-E94E-B185-945F5DF348DB}">
      <dgm:prSet/>
      <dgm:spPr/>
      <dgm:t>
        <a:bodyPr/>
        <a:lstStyle/>
        <a:p>
          <a:endParaRPr lang="en-US"/>
        </a:p>
      </dgm:t>
    </dgm:pt>
    <dgm:pt modelId="{228B42B7-D12A-0345-909A-CA849FEC2EA5}">
      <dgm:prSet/>
      <dgm:spPr>
        <a:xfrm>
          <a:off x="1839486" y="2696699"/>
          <a:ext cx="2016224" cy="2016224"/>
        </a:xfrm>
        <a:prstGeom prst="roundRect">
          <a:avLst/>
        </a:prstGeom>
        <a:gradFill rotWithShape="0">
          <a:gsLst>
            <a:gs pos="0">
              <a:srgbClr val="666699">
                <a:alpha val="90000"/>
                <a:hueOff val="0"/>
                <a:satOff val="0"/>
                <a:lumOff val="0"/>
                <a:alphaOff val="-26667"/>
                <a:shade val="40000"/>
                <a:alpha val="100000"/>
                <a:satMod val="150000"/>
                <a:lumMod val="100000"/>
              </a:srgbClr>
            </a:gs>
            <a:gs pos="100000">
              <a:srgbClr val="666699">
                <a:alpha val="90000"/>
                <a:hueOff val="0"/>
                <a:satOff val="0"/>
                <a:lumOff val="0"/>
                <a:alphaOff val="-26667"/>
                <a:tint val="70000"/>
                <a:shade val="100000"/>
                <a:alpha val="100000"/>
                <a:satMod val="200000"/>
                <a:lumMod val="100000"/>
              </a:srgbClr>
            </a:gs>
          </a:gsLst>
          <a:lin ang="5400000" scaled="1"/>
        </a:gradFill>
        <a:ln>
          <a:noFill/>
        </a:ln>
        <a:effectLst/>
        <a:scene3d>
          <a:camera prst="orthographicFront">
            <a:rot lat="0" lon="0" rev="0"/>
          </a:camera>
          <a:lightRig rig="twoPt" dir="tl">
            <a:rot lat="0" lon="0" rev="4500000"/>
          </a:lightRig>
        </a:scene3d>
        <a:sp3d>
          <a:bevelT w="63500" h="50800"/>
        </a:sp3d>
      </dgm:spPr>
      <dgm:t>
        <a:bodyPr/>
        <a:lstStyle/>
        <a:p>
          <a:pPr rtl="0"/>
          <a:r>
            <a:rPr lang="en-US">
              <a:solidFill>
                <a:sysClr val="window" lastClr="FFFFFF"/>
              </a:solidFill>
              <a:latin typeface="Rockwell"/>
              <a:ea typeface="+mn-ea"/>
              <a:cs typeface="+mn-cs"/>
            </a:rPr>
            <a:t>Only a small address field is needed in the instruction</a:t>
          </a:r>
        </a:p>
      </dgm:t>
    </dgm:pt>
    <dgm:pt modelId="{C5CC4FE1-85C4-5848-A85D-F3AA97448FB9}" type="parTrans" cxnId="{6357D273-498F-2246-B94A-055EE446F2DB}">
      <dgm:prSet/>
      <dgm:spPr/>
      <dgm:t>
        <a:bodyPr/>
        <a:lstStyle/>
        <a:p>
          <a:endParaRPr lang="en-US"/>
        </a:p>
      </dgm:t>
    </dgm:pt>
    <dgm:pt modelId="{86F8A5FF-6E75-6248-9D02-EE0D0C42A4FF}" type="sibTrans" cxnId="{6357D273-498F-2246-B94A-055EE446F2DB}">
      <dgm:prSet/>
      <dgm:spPr/>
      <dgm:t>
        <a:bodyPr/>
        <a:lstStyle/>
        <a:p>
          <a:endParaRPr lang="en-US"/>
        </a:p>
      </dgm:t>
    </dgm:pt>
    <dgm:pt modelId="{94B01D7F-C84F-7447-B636-1B66BF02BF30}">
      <dgm:prSet/>
      <dgm:spPr>
        <a:xfrm>
          <a:off x="1839486" y="2696699"/>
          <a:ext cx="2016224" cy="2016224"/>
        </a:xfrm>
        <a:prstGeom prst="roundRect">
          <a:avLst/>
        </a:prstGeom>
        <a:gradFill rotWithShape="0">
          <a:gsLst>
            <a:gs pos="0">
              <a:srgbClr val="666699">
                <a:alpha val="90000"/>
                <a:hueOff val="0"/>
                <a:satOff val="0"/>
                <a:lumOff val="0"/>
                <a:alphaOff val="-26667"/>
                <a:shade val="40000"/>
                <a:alpha val="100000"/>
                <a:satMod val="150000"/>
                <a:lumMod val="100000"/>
              </a:srgbClr>
            </a:gs>
            <a:gs pos="100000">
              <a:srgbClr val="666699">
                <a:alpha val="90000"/>
                <a:hueOff val="0"/>
                <a:satOff val="0"/>
                <a:lumOff val="0"/>
                <a:alphaOff val="-26667"/>
                <a:tint val="70000"/>
                <a:shade val="100000"/>
                <a:alpha val="100000"/>
                <a:satMod val="200000"/>
                <a:lumMod val="100000"/>
              </a:srgbClr>
            </a:gs>
          </a:gsLst>
          <a:lin ang="5400000" scaled="1"/>
        </a:gradFill>
        <a:ln>
          <a:noFill/>
        </a:ln>
        <a:effectLst/>
        <a:scene3d>
          <a:camera prst="orthographicFront">
            <a:rot lat="0" lon="0" rev="0"/>
          </a:camera>
          <a:lightRig rig="twoPt" dir="tl">
            <a:rot lat="0" lon="0" rev="4500000"/>
          </a:lightRig>
        </a:scene3d>
        <a:sp3d>
          <a:bevelT w="63500" h="50800"/>
        </a:sp3d>
      </dgm:spPr>
      <dgm:t>
        <a:bodyPr/>
        <a:lstStyle/>
        <a:p>
          <a:pPr rtl="0"/>
          <a:r>
            <a:rPr lang="en-US">
              <a:solidFill>
                <a:sysClr val="window" lastClr="FFFFFF"/>
              </a:solidFill>
              <a:latin typeface="Rockwell"/>
              <a:ea typeface="+mn-ea"/>
              <a:cs typeface="+mn-cs"/>
            </a:rPr>
            <a:t>No time-consuming memory references are required</a:t>
          </a:r>
        </a:p>
      </dgm:t>
    </dgm:pt>
    <dgm:pt modelId="{C2D1B592-94B5-6A4A-86C2-BC45ADC9953E}" type="parTrans" cxnId="{3FAC1522-DB11-6140-8746-48B742FDCD27}">
      <dgm:prSet/>
      <dgm:spPr/>
      <dgm:t>
        <a:bodyPr/>
        <a:lstStyle/>
        <a:p>
          <a:endParaRPr lang="en-US"/>
        </a:p>
      </dgm:t>
    </dgm:pt>
    <dgm:pt modelId="{037A529D-AD8D-094C-B91D-5FFE55990DC1}" type="sibTrans" cxnId="{3FAC1522-DB11-6140-8746-48B742FDCD27}">
      <dgm:prSet/>
      <dgm:spPr/>
      <dgm:t>
        <a:bodyPr/>
        <a:lstStyle/>
        <a:p>
          <a:endParaRPr lang="en-US"/>
        </a:p>
      </dgm:t>
    </dgm:pt>
    <dgm:pt modelId="{71B0F529-214F-E54F-AC27-3D0E4C6CFD22}">
      <dgm:prSet/>
      <dgm:spPr>
        <a:xfrm>
          <a:off x="4208549" y="2696699"/>
          <a:ext cx="2016224" cy="2016224"/>
        </a:xfrm>
        <a:prstGeom prst="roundRect">
          <a:avLst/>
        </a:prstGeom>
        <a:gradFill rotWithShape="0">
          <a:gsLst>
            <a:gs pos="0">
              <a:srgbClr val="666699">
                <a:alpha val="90000"/>
                <a:hueOff val="0"/>
                <a:satOff val="0"/>
                <a:lumOff val="0"/>
                <a:alphaOff val="-40000"/>
                <a:shade val="40000"/>
                <a:alpha val="100000"/>
                <a:satMod val="150000"/>
                <a:lumMod val="100000"/>
              </a:srgbClr>
            </a:gs>
            <a:gs pos="100000">
              <a:srgbClr val="666699">
                <a:alpha val="90000"/>
                <a:hueOff val="0"/>
                <a:satOff val="0"/>
                <a:lumOff val="0"/>
                <a:alphaOff val="-40000"/>
                <a:tint val="70000"/>
                <a:shade val="100000"/>
                <a:alpha val="100000"/>
                <a:satMod val="200000"/>
                <a:lumMod val="100000"/>
              </a:srgbClr>
            </a:gs>
          </a:gsLst>
          <a:lin ang="5400000" scaled="1"/>
        </a:gradFill>
        <a:ln>
          <a:noFill/>
        </a:ln>
        <a:effectLst/>
        <a:scene3d>
          <a:camera prst="orthographicFront">
            <a:rot lat="0" lon="0" rev="0"/>
          </a:camera>
          <a:lightRig rig="twoPt" dir="tl">
            <a:rot lat="0" lon="0" rev="4500000"/>
          </a:lightRig>
        </a:scene3d>
        <a:sp3d>
          <a:bevelT w="63500" h="50800"/>
        </a:sp3d>
      </dgm:spPr>
      <dgm:t>
        <a:bodyPr/>
        <a:lstStyle/>
        <a:p>
          <a:pPr rtl="0"/>
          <a:r>
            <a:rPr lang="en-US">
              <a:solidFill>
                <a:sysClr val="window" lastClr="FFFFFF"/>
              </a:solidFill>
              <a:latin typeface="Rockwell"/>
              <a:ea typeface="+mn-ea"/>
              <a:cs typeface="+mn-cs"/>
            </a:rPr>
            <a:t>Disadvantage:</a:t>
          </a:r>
        </a:p>
      </dgm:t>
    </dgm:pt>
    <dgm:pt modelId="{A524F364-DF01-C247-9424-B1930DCD15EC}" type="parTrans" cxnId="{FF1CE0EB-9B4A-F44E-9C77-1570AB00696E}">
      <dgm:prSet/>
      <dgm:spPr/>
      <dgm:t>
        <a:bodyPr/>
        <a:lstStyle/>
        <a:p>
          <a:endParaRPr lang="en-US"/>
        </a:p>
      </dgm:t>
    </dgm:pt>
    <dgm:pt modelId="{6239FD61-458F-6146-8BC3-7A6A5CAFC9DB}" type="sibTrans" cxnId="{FF1CE0EB-9B4A-F44E-9C77-1570AB00696E}">
      <dgm:prSet/>
      <dgm:spPr/>
      <dgm:t>
        <a:bodyPr/>
        <a:lstStyle/>
        <a:p>
          <a:endParaRPr lang="en-US"/>
        </a:p>
      </dgm:t>
    </dgm:pt>
    <dgm:pt modelId="{72928E03-60C9-2740-8035-0D953A6AE95E}">
      <dgm:prSet/>
      <dgm:spPr>
        <a:xfrm>
          <a:off x="4208549" y="2696699"/>
          <a:ext cx="2016224" cy="2016224"/>
        </a:xfrm>
        <a:prstGeom prst="roundRect">
          <a:avLst/>
        </a:prstGeom>
        <a:gradFill rotWithShape="0">
          <a:gsLst>
            <a:gs pos="0">
              <a:srgbClr val="666699">
                <a:alpha val="90000"/>
                <a:hueOff val="0"/>
                <a:satOff val="0"/>
                <a:lumOff val="0"/>
                <a:alphaOff val="-40000"/>
                <a:shade val="40000"/>
                <a:alpha val="100000"/>
                <a:satMod val="150000"/>
                <a:lumMod val="100000"/>
              </a:srgbClr>
            </a:gs>
            <a:gs pos="100000">
              <a:srgbClr val="666699">
                <a:alpha val="90000"/>
                <a:hueOff val="0"/>
                <a:satOff val="0"/>
                <a:lumOff val="0"/>
                <a:alphaOff val="-40000"/>
                <a:tint val="70000"/>
                <a:shade val="100000"/>
                <a:alpha val="100000"/>
                <a:satMod val="200000"/>
                <a:lumMod val="100000"/>
              </a:srgbClr>
            </a:gs>
          </a:gsLst>
          <a:lin ang="5400000" scaled="1"/>
        </a:gradFill>
        <a:ln>
          <a:noFill/>
        </a:ln>
        <a:effectLst/>
        <a:scene3d>
          <a:camera prst="orthographicFront">
            <a:rot lat="0" lon="0" rev="0"/>
          </a:camera>
          <a:lightRig rig="twoPt" dir="tl">
            <a:rot lat="0" lon="0" rev="4500000"/>
          </a:lightRig>
        </a:scene3d>
        <a:sp3d>
          <a:bevelT w="63500" h="50800"/>
        </a:sp3d>
      </dgm:spPr>
      <dgm:t>
        <a:bodyPr/>
        <a:lstStyle/>
        <a:p>
          <a:pPr rtl="0"/>
          <a:r>
            <a:rPr lang="en-US">
              <a:solidFill>
                <a:sysClr val="window" lastClr="FFFFFF"/>
              </a:solidFill>
              <a:latin typeface="Rockwell"/>
              <a:ea typeface="+mn-ea"/>
              <a:cs typeface="+mn-cs"/>
            </a:rPr>
            <a:t>The address space is very limited</a:t>
          </a:r>
        </a:p>
      </dgm:t>
    </dgm:pt>
    <dgm:pt modelId="{26724497-22DB-3140-ABA4-F93A95C272D1}" type="parTrans" cxnId="{6994A015-636B-8948-96D8-E4E3B0BA5C80}">
      <dgm:prSet/>
      <dgm:spPr/>
      <dgm:t>
        <a:bodyPr/>
        <a:lstStyle/>
        <a:p>
          <a:endParaRPr lang="en-US"/>
        </a:p>
      </dgm:t>
    </dgm:pt>
    <dgm:pt modelId="{A00AEF3A-9F30-E84E-AB6A-551D8E3AE0C3}" type="sibTrans" cxnId="{6994A015-636B-8948-96D8-E4E3B0BA5C80}">
      <dgm:prSet/>
      <dgm:spPr/>
      <dgm:t>
        <a:bodyPr/>
        <a:lstStyle/>
        <a:p>
          <a:endParaRPr lang="en-US"/>
        </a:p>
      </dgm:t>
    </dgm:pt>
    <dgm:pt modelId="{BF57F61A-A915-AE4D-85A1-3D51196DC795}" type="pres">
      <dgm:prSet presAssocID="{C3FFC2AD-2120-3042-8A32-31F9309CC9FB}" presName="matrix" presStyleCnt="0">
        <dgm:presLayoutVars>
          <dgm:chMax val="1"/>
          <dgm:dir/>
          <dgm:resizeHandles val="exact"/>
        </dgm:presLayoutVars>
      </dgm:prSet>
      <dgm:spPr/>
    </dgm:pt>
    <dgm:pt modelId="{A50EB2B9-06E1-6345-90F8-9577C98DD49A}" type="pres">
      <dgm:prSet presAssocID="{C3FFC2AD-2120-3042-8A32-31F9309CC9FB}" presName="axisShape" presStyleLbl="bgShp" presStyleIdx="0" presStyleCnt="1"/>
      <dgm:spPr>
        <a:xfrm>
          <a:off x="1511850" y="0"/>
          <a:ext cx="5040560" cy="5040560"/>
        </a:xfrm>
        <a:prstGeom prst="quadArrow">
          <a:avLst>
            <a:gd name="adj1" fmla="val 2000"/>
            <a:gd name="adj2" fmla="val 4000"/>
            <a:gd name="adj3" fmla="val 5000"/>
          </a:avLst>
        </a:prstGeom>
        <a:solidFill>
          <a:srgbClr val="666699">
            <a:tint val="40000"/>
            <a:hueOff val="0"/>
            <a:satOff val="0"/>
            <a:lumOff val="0"/>
            <a:alphaOff val="0"/>
          </a:srgbClr>
        </a:solidFill>
        <a:ln>
          <a:noFill/>
        </a:ln>
        <a:effectLst>
          <a:innerShdw blurRad="50800" dist="25400" dir="13500000">
            <a:srgbClr val="FFFFFF">
              <a:alpha val="75000"/>
            </a:srgbClr>
          </a:innerShdw>
          <a:outerShdw blurRad="63500" dist="25400" dir="5400000" rotWithShape="0">
            <a:srgbClr val="808080">
              <a:alpha val="75000"/>
            </a:srgbClr>
          </a:outerShdw>
        </a:effectLst>
      </dgm:spPr>
    </dgm:pt>
    <dgm:pt modelId="{0C4F3843-8CA9-7B47-94BF-4616B2186CF3}" type="pres">
      <dgm:prSet presAssocID="{C3FFC2AD-2120-3042-8A32-31F9309CC9FB}" presName="rect1" presStyleLbl="node1" presStyleIdx="0" presStyleCnt="4">
        <dgm:presLayoutVars>
          <dgm:chMax val="0"/>
          <dgm:chPref val="0"/>
          <dgm:bulletEnabled val="1"/>
        </dgm:presLayoutVars>
      </dgm:prSet>
      <dgm:spPr/>
    </dgm:pt>
    <dgm:pt modelId="{4994DBF4-399F-B847-B5E1-56CF3D810B3F}" type="pres">
      <dgm:prSet presAssocID="{C3FFC2AD-2120-3042-8A32-31F9309CC9FB}" presName="rect2" presStyleLbl="node1" presStyleIdx="1" presStyleCnt="4">
        <dgm:presLayoutVars>
          <dgm:chMax val="0"/>
          <dgm:chPref val="0"/>
          <dgm:bulletEnabled val="1"/>
        </dgm:presLayoutVars>
      </dgm:prSet>
      <dgm:spPr/>
    </dgm:pt>
    <dgm:pt modelId="{70BCC0E4-5247-B048-ACFC-F17CBC026825}" type="pres">
      <dgm:prSet presAssocID="{C3FFC2AD-2120-3042-8A32-31F9309CC9FB}" presName="rect3" presStyleLbl="node1" presStyleIdx="2" presStyleCnt="4">
        <dgm:presLayoutVars>
          <dgm:chMax val="0"/>
          <dgm:chPref val="0"/>
          <dgm:bulletEnabled val="1"/>
        </dgm:presLayoutVars>
      </dgm:prSet>
      <dgm:spPr/>
    </dgm:pt>
    <dgm:pt modelId="{A3664F60-92EC-F04A-A8E6-72B11CB21727}" type="pres">
      <dgm:prSet presAssocID="{C3FFC2AD-2120-3042-8A32-31F9309CC9FB}" presName="rect4" presStyleLbl="node1" presStyleIdx="3" presStyleCnt="4">
        <dgm:presLayoutVars>
          <dgm:chMax val="0"/>
          <dgm:chPref val="0"/>
          <dgm:bulletEnabled val="1"/>
        </dgm:presLayoutVars>
      </dgm:prSet>
      <dgm:spPr/>
    </dgm:pt>
  </dgm:ptLst>
  <dgm:cxnLst>
    <dgm:cxn modelId="{6994A015-636B-8948-96D8-E4E3B0BA5C80}" srcId="{71B0F529-214F-E54F-AC27-3D0E4C6CFD22}" destId="{72928E03-60C9-2740-8035-0D953A6AE95E}" srcOrd="0" destOrd="0" parTransId="{26724497-22DB-3140-ABA4-F93A95C272D1}" sibTransId="{A00AEF3A-9F30-E84E-AB6A-551D8E3AE0C3}"/>
    <dgm:cxn modelId="{F6B3471A-F94B-E94E-B185-945F5DF348DB}" srcId="{C3FFC2AD-2120-3042-8A32-31F9309CC9FB}" destId="{19414C10-82B8-A14A-B37F-2F3AC36FA104}" srcOrd="2" destOrd="0" parTransId="{935CB947-14A1-444E-A8E1-F72DE166BA78}" sibTransId="{17287A93-A9CD-6040-B20F-7111E578754B}"/>
    <dgm:cxn modelId="{3FAC1522-DB11-6140-8746-48B742FDCD27}" srcId="{19414C10-82B8-A14A-B37F-2F3AC36FA104}" destId="{94B01D7F-C84F-7447-B636-1B66BF02BF30}" srcOrd="1" destOrd="0" parTransId="{C2D1B592-94B5-6A4A-86C2-BC45ADC9953E}" sibTransId="{037A529D-AD8D-094C-B91D-5FFE55990DC1}"/>
    <dgm:cxn modelId="{B2DB5E2F-911E-484B-8F42-20247F306EBC}" type="presOf" srcId="{72928E03-60C9-2740-8035-0D953A6AE95E}" destId="{A3664F60-92EC-F04A-A8E6-72B11CB21727}" srcOrd="0" destOrd="1" presId="urn:microsoft.com/office/officeart/2005/8/layout/matrix2"/>
    <dgm:cxn modelId="{EE9CC55F-0BA5-BF40-BB64-A052357EDF88}" type="presOf" srcId="{5D840648-1FBF-6E4D-AC0C-1EC503D4D81A}" destId="{4994DBF4-399F-B847-B5E1-56CF3D810B3F}" srcOrd="0" destOrd="0" presId="urn:microsoft.com/office/officeart/2005/8/layout/matrix2"/>
    <dgm:cxn modelId="{C0500252-ED8B-5F4D-8C12-37A636124CB3}" type="presOf" srcId="{228B42B7-D12A-0345-909A-CA849FEC2EA5}" destId="{70BCC0E4-5247-B048-ACFC-F17CBC026825}" srcOrd="0" destOrd="1" presId="urn:microsoft.com/office/officeart/2005/8/layout/matrix2"/>
    <dgm:cxn modelId="{6357D273-498F-2246-B94A-055EE446F2DB}" srcId="{19414C10-82B8-A14A-B37F-2F3AC36FA104}" destId="{228B42B7-D12A-0345-909A-CA849FEC2EA5}" srcOrd="0" destOrd="0" parTransId="{C5CC4FE1-85C4-5848-A85D-F3AA97448FB9}" sibTransId="{86F8A5FF-6E75-6248-9D02-EE0D0C42A4FF}"/>
    <dgm:cxn modelId="{E8A85680-B06B-394C-A47B-A29F297AEDE8}" type="presOf" srcId="{C3FFC2AD-2120-3042-8A32-31F9309CC9FB}" destId="{BF57F61A-A915-AE4D-85A1-3D51196DC795}" srcOrd="0" destOrd="0" presId="urn:microsoft.com/office/officeart/2005/8/layout/matrix2"/>
    <dgm:cxn modelId="{D37A96CB-6093-A244-91C7-DF2ADB4F1C71}" type="presOf" srcId="{842866CA-E23A-694A-9984-25A7E8AED435}" destId="{0C4F3843-8CA9-7B47-94BF-4616B2186CF3}" srcOrd="0" destOrd="0" presId="urn:microsoft.com/office/officeart/2005/8/layout/matrix2"/>
    <dgm:cxn modelId="{6A2DD2D3-2053-724F-88BD-C234932EF65E}" type="presOf" srcId="{94B01D7F-C84F-7447-B636-1B66BF02BF30}" destId="{70BCC0E4-5247-B048-ACFC-F17CBC026825}" srcOrd="0" destOrd="2" presId="urn:microsoft.com/office/officeart/2005/8/layout/matrix2"/>
    <dgm:cxn modelId="{2DC2E8D8-77DA-684C-AD40-06B92D3BEF5D}" type="presOf" srcId="{71B0F529-214F-E54F-AC27-3D0E4C6CFD22}" destId="{A3664F60-92EC-F04A-A8E6-72B11CB21727}" srcOrd="0" destOrd="0" presId="urn:microsoft.com/office/officeart/2005/8/layout/matrix2"/>
    <dgm:cxn modelId="{3C183CE5-EF37-104E-A289-3DA79A7826F0}" type="presOf" srcId="{19414C10-82B8-A14A-B37F-2F3AC36FA104}" destId="{70BCC0E4-5247-B048-ACFC-F17CBC026825}" srcOrd="0" destOrd="0" presId="urn:microsoft.com/office/officeart/2005/8/layout/matrix2"/>
    <dgm:cxn modelId="{FF1CE0EB-9B4A-F44E-9C77-1570AB00696E}" srcId="{C3FFC2AD-2120-3042-8A32-31F9309CC9FB}" destId="{71B0F529-214F-E54F-AC27-3D0E4C6CFD22}" srcOrd="3" destOrd="0" parTransId="{A524F364-DF01-C247-9424-B1930DCD15EC}" sibTransId="{6239FD61-458F-6146-8BC3-7A6A5CAFC9DB}"/>
    <dgm:cxn modelId="{081224EF-5D8D-ED42-811C-E1522E33D711}" srcId="{C3FFC2AD-2120-3042-8A32-31F9309CC9FB}" destId="{842866CA-E23A-694A-9984-25A7E8AED435}" srcOrd="0" destOrd="0" parTransId="{F1D45151-0E8F-1045-911C-85CF77258AC9}" sibTransId="{2AB330EA-A51B-4F4E-A6B6-CEF82F92C81D}"/>
    <dgm:cxn modelId="{B555B3F5-ED66-E840-A36F-07BA2E2A9CF7}" srcId="{C3FFC2AD-2120-3042-8A32-31F9309CC9FB}" destId="{5D840648-1FBF-6E4D-AC0C-1EC503D4D81A}" srcOrd="1" destOrd="0" parTransId="{5BB619D8-1F9C-9546-980F-B77695D15651}" sibTransId="{A3383831-092E-2B48-A77C-80075FC87C45}"/>
    <dgm:cxn modelId="{496BBC38-16E3-A941-9157-018F04A5149F}" type="presParOf" srcId="{BF57F61A-A915-AE4D-85A1-3D51196DC795}" destId="{A50EB2B9-06E1-6345-90F8-9577C98DD49A}" srcOrd="0" destOrd="0" presId="urn:microsoft.com/office/officeart/2005/8/layout/matrix2"/>
    <dgm:cxn modelId="{F4BB2BC2-623B-C746-BC6F-3B4C7681BFE8}" type="presParOf" srcId="{BF57F61A-A915-AE4D-85A1-3D51196DC795}" destId="{0C4F3843-8CA9-7B47-94BF-4616B2186CF3}" srcOrd="1" destOrd="0" presId="urn:microsoft.com/office/officeart/2005/8/layout/matrix2"/>
    <dgm:cxn modelId="{2FCE28E6-A930-7740-945B-5E4687284486}" type="presParOf" srcId="{BF57F61A-A915-AE4D-85A1-3D51196DC795}" destId="{4994DBF4-399F-B847-B5E1-56CF3D810B3F}" srcOrd="2" destOrd="0" presId="urn:microsoft.com/office/officeart/2005/8/layout/matrix2"/>
    <dgm:cxn modelId="{CA973C86-54AE-EE48-894E-43328396BDA3}" type="presParOf" srcId="{BF57F61A-A915-AE4D-85A1-3D51196DC795}" destId="{70BCC0E4-5247-B048-ACFC-F17CBC026825}" srcOrd="3" destOrd="0" presId="urn:microsoft.com/office/officeart/2005/8/layout/matrix2"/>
    <dgm:cxn modelId="{9B5BF20E-5CEF-BB4D-87D4-B602CBD78C6C}" type="presParOf" srcId="{BF57F61A-A915-AE4D-85A1-3D51196DC795}" destId="{A3664F60-92EC-F04A-A8E6-72B11CB21727}" srcOrd="4" destOrd="0" presId="urn:microsoft.com/office/officeart/2005/8/layout/matrix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63F248E7-38A3-224F-A4F3-AE55B097C879}" type="doc">
      <dgm:prSet loTypeId="urn:microsoft.com/office/officeart/2005/8/layout/vList2" loCatId="" qsTypeId="urn:microsoft.com/office/officeart/2005/8/quickstyle/simple4" qsCatId="simple" csTypeId="urn:microsoft.com/office/officeart/2005/8/colors/accent4_2" csCatId="accent4"/>
      <dgm:spPr/>
      <dgm:t>
        <a:bodyPr/>
        <a:lstStyle/>
        <a:p>
          <a:endParaRPr lang="en-US"/>
        </a:p>
      </dgm:t>
    </dgm:pt>
    <dgm:pt modelId="{A8B2DE56-E158-8A4B-99C6-7C7FF05DFB55}">
      <dgm:prSet/>
      <dgm:spPr>
        <a:xfrm>
          <a:off x="0" y="508501"/>
          <a:ext cx="8928992" cy="891393"/>
        </a:xfrm>
        <a:prstGeom prst="roundRect">
          <a:avLst/>
        </a:prstGeom>
        <a:gradFill rotWithShape="0">
          <a:gsLst>
            <a:gs pos="0">
              <a:srgbClr val="999966">
                <a:hueOff val="0"/>
                <a:satOff val="0"/>
                <a:lumOff val="0"/>
                <a:alphaOff val="0"/>
                <a:shade val="40000"/>
                <a:alpha val="100000"/>
                <a:satMod val="150000"/>
                <a:lumMod val="100000"/>
              </a:srgbClr>
            </a:gs>
            <a:gs pos="100000">
              <a:srgbClr val="9999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rgbClr val="330F42"/>
              </a:solidFill>
              <a:latin typeface="Rockwell"/>
              <a:ea typeface="+mn-ea"/>
              <a:cs typeface="+mn-cs"/>
            </a:rPr>
            <a:t>The implicitly referenced register is the program counter (PC)</a:t>
          </a:r>
        </a:p>
      </dgm:t>
    </dgm:pt>
    <dgm:pt modelId="{1C4E7D2F-120A-9C42-8C03-8E1CF4E1D371}" type="parTrans" cxnId="{6CD74F0F-D712-A545-8A2D-BB4F16C81E95}">
      <dgm:prSet/>
      <dgm:spPr/>
      <dgm:t>
        <a:bodyPr/>
        <a:lstStyle/>
        <a:p>
          <a:endParaRPr lang="en-US"/>
        </a:p>
      </dgm:t>
    </dgm:pt>
    <dgm:pt modelId="{75E6ADF4-2DBA-574D-91C6-3DC2F6502AAB}" type="sibTrans" cxnId="{6CD74F0F-D712-A545-8A2D-BB4F16C81E95}">
      <dgm:prSet/>
      <dgm:spPr/>
      <dgm:t>
        <a:bodyPr/>
        <a:lstStyle/>
        <a:p>
          <a:endParaRPr lang="en-US"/>
        </a:p>
      </dgm:t>
    </dgm:pt>
    <dgm:pt modelId="{DF4BFC8F-0AC4-3645-BA66-3C4C28C12E92}">
      <dgm:prSet/>
      <dgm:spPr>
        <a:xfrm>
          <a:off x="0" y="1399895"/>
          <a:ext cx="8928992" cy="1380690"/>
        </a:xfrm>
        <a:prstGeom prst="rect">
          <a:avLst/>
        </a:prstGeom>
        <a:noFill/>
        <a:ln>
          <a:noFill/>
        </a:ln>
        <a:effectLst/>
      </dgm:spPr>
      <dgm:t>
        <a:bodyPr/>
        <a:lstStyle/>
        <a:p>
          <a:pPr rtl="0"/>
          <a:r>
            <a:rPr lang="en-US" dirty="0">
              <a:solidFill>
                <a:srgbClr val="330F42"/>
              </a:solidFill>
              <a:latin typeface="Rockwell"/>
              <a:ea typeface="+mn-ea"/>
              <a:cs typeface="+mn-cs"/>
            </a:rPr>
            <a:t>The next instruction address is added to the address field to produce the EA</a:t>
          </a:r>
        </a:p>
      </dgm:t>
    </dgm:pt>
    <dgm:pt modelId="{CA9921EC-4CD8-0246-8015-BC5DA2B51794}" type="parTrans" cxnId="{653D4174-894A-3049-90F5-FC87D757A735}">
      <dgm:prSet/>
      <dgm:spPr/>
      <dgm:t>
        <a:bodyPr/>
        <a:lstStyle/>
        <a:p>
          <a:endParaRPr lang="en-US"/>
        </a:p>
      </dgm:t>
    </dgm:pt>
    <dgm:pt modelId="{DE3ACFA9-3F0E-454F-8717-2A67461649BE}" type="sibTrans" cxnId="{653D4174-894A-3049-90F5-FC87D757A735}">
      <dgm:prSet/>
      <dgm:spPr/>
      <dgm:t>
        <a:bodyPr/>
        <a:lstStyle/>
        <a:p>
          <a:endParaRPr lang="en-US"/>
        </a:p>
      </dgm:t>
    </dgm:pt>
    <dgm:pt modelId="{6D26E3B8-2472-2543-A1C5-A224C0A4AF1B}">
      <dgm:prSet/>
      <dgm:spPr>
        <a:xfrm>
          <a:off x="0" y="1399895"/>
          <a:ext cx="8928992" cy="1380690"/>
        </a:xfrm>
        <a:prstGeom prst="rect">
          <a:avLst/>
        </a:prstGeom>
        <a:noFill/>
        <a:ln>
          <a:noFill/>
        </a:ln>
        <a:effectLst/>
      </dgm:spPr>
      <dgm:t>
        <a:bodyPr/>
        <a:lstStyle/>
        <a:p>
          <a:pPr rtl="0"/>
          <a:r>
            <a:rPr lang="en-US" dirty="0">
              <a:solidFill>
                <a:srgbClr val="330F42"/>
              </a:solidFill>
              <a:latin typeface="Rockwell"/>
              <a:ea typeface="+mn-ea"/>
              <a:cs typeface="+mn-cs"/>
            </a:rPr>
            <a:t>Typically the address field is treated as a twos complement number for this operation</a:t>
          </a:r>
        </a:p>
      </dgm:t>
    </dgm:pt>
    <dgm:pt modelId="{BD6B5B1C-437C-4445-A947-FE3AF13FADF3}" type="parTrans" cxnId="{3001C15F-9F45-CF49-9BE3-414EEF518B58}">
      <dgm:prSet/>
      <dgm:spPr/>
      <dgm:t>
        <a:bodyPr/>
        <a:lstStyle/>
        <a:p>
          <a:endParaRPr lang="en-US"/>
        </a:p>
      </dgm:t>
    </dgm:pt>
    <dgm:pt modelId="{4B13B619-FBC0-D64F-B5BC-2AF857120600}" type="sibTrans" cxnId="{3001C15F-9F45-CF49-9BE3-414EEF518B58}">
      <dgm:prSet/>
      <dgm:spPr/>
      <dgm:t>
        <a:bodyPr/>
        <a:lstStyle/>
        <a:p>
          <a:endParaRPr lang="en-US"/>
        </a:p>
      </dgm:t>
    </dgm:pt>
    <dgm:pt modelId="{F4509CA9-19E8-F64F-8E5D-B29815E39207}">
      <dgm:prSet/>
      <dgm:spPr>
        <a:xfrm>
          <a:off x="0" y="1399895"/>
          <a:ext cx="8928992" cy="1380690"/>
        </a:xfrm>
        <a:prstGeom prst="rect">
          <a:avLst/>
        </a:prstGeom>
        <a:noFill/>
        <a:ln>
          <a:noFill/>
        </a:ln>
        <a:effectLst/>
      </dgm:spPr>
      <dgm:t>
        <a:bodyPr/>
        <a:lstStyle/>
        <a:p>
          <a:pPr rtl="0"/>
          <a:r>
            <a:rPr lang="en-US" dirty="0">
              <a:solidFill>
                <a:srgbClr val="330F42"/>
              </a:solidFill>
              <a:latin typeface="Rockwell"/>
              <a:ea typeface="+mn-ea"/>
              <a:cs typeface="+mn-cs"/>
            </a:rPr>
            <a:t>Thus the effective address is a displacement relative to the address of the instruction</a:t>
          </a:r>
        </a:p>
      </dgm:t>
    </dgm:pt>
    <dgm:pt modelId="{D2EFCA56-05DD-7045-8B0F-54220903B8BA}" type="parTrans" cxnId="{DA3A93A5-6473-CC45-B1A7-DDE05632E43B}">
      <dgm:prSet/>
      <dgm:spPr/>
      <dgm:t>
        <a:bodyPr/>
        <a:lstStyle/>
        <a:p>
          <a:endParaRPr lang="en-US"/>
        </a:p>
      </dgm:t>
    </dgm:pt>
    <dgm:pt modelId="{47E41E3F-43D0-4B43-A674-539EA23174CF}" type="sibTrans" cxnId="{DA3A93A5-6473-CC45-B1A7-DDE05632E43B}">
      <dgm:prSet/>
      <dgm:spPr/>
      <dgm:t>
        <a:bodyPr/>
        <a:lstStyle/>
        <a:p>
          <a:endParaRPr lang="en-US"/>
        </a:p>
      </dgm:t>
    </dgm:pt>
    <dgm:pt modelId="{E7A40534-3225-D346-93F2-FF53386452EB}">
      <dgm:prSet/>
      <dgm:spPr>
        <a:xfrm>
          <a:off x="0" y="2780585"/>
          <a:ext cx="8928992" cy="891393"/>
        </a:xfrm>
        <a:prstGeom prst="roundRect">
          <a:avLst/>
        </a:prstGeom>
        <a:gradFill rotWithShape="0">
          <a:gsLst>
            <a:gs pos="0">
              <a:srgbClr val="999966">
                <a:hueOff val="0"/>
                <a:satOff val="0"/>
                <a:lumOff val="0"/>
                <a:alphaOff val="0"/>
                <a:shade val="40000"/>
                <a:alpha val="100000"/>
                <a:satMod val="150000"/>
                <a:lumMod val="100000"/>
              </a:srgbClr>
            </a:gs>
            <a:gs pos="100000">
              <a:srgbClr val="9999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rgbClr val="330F42"/>
              </a:solidFill>
              <a:latin typeface="Rockwell"/>
              <a:ea typeface="+mn-ea"/>
              <a:cs typeface="+mn-cs"/>
            </a:rPr>
            <a:t>Exploits the concept of locality</a:t>
          </a:r>
        </a:p>
      </dgm:t>
    </dgm:pt>
    <dgm:pt modelId="{7F6F1515-7DB9-6F47-B462-F019D1A0B198}" type="parTrans" cxnId="{4CD8DEF7-1A28-B346-A18C-5BF31062834F}">
      <dgm:prSet/>
      <dgm:spPr/>
      <dgm:t>
        <a:bodyPr/>
        <a:lstStyle/>
        <a:p>
          <a:endParaRPr lang="en-US"/>
        </a:p>
      </dgm:t>
    </dgm:pt>
    <dgm:pt modelId="{CA07F961-3EC7-924B-8DD6-6C0C325385B7}" type="sibTrans" cxnId="{4CD8DEF7-1A28-B346-A18C-5BF31062834F}">
      <dgm:prSet/>
      <dgm:spPr/>
      <dgm:t>
        <a:bodyPr/>
        <a:lstStyle/>
        <a:p>
          <a:endParaRPr lang="en-US"/>
        </a:p>
      </dgm:t>
    </dgm:pt>
    <dgm:pt modelId="{B836D070-0251-B34F-AC84-AB06566273EA}">
      <dgm:prSet/>
      <dgm:spPr>
        <a:xfrm>
          <a:off x="0" y="3738218"/>
          <a:ext cx="8928992" cy="891393"/>
        </a:xfrm>
        <a:prstGeom prst="roundRect">
          <a:avLst/>
        </a:prstGeom>
        <a:gradFill rotWithShape="0">
          <a:gsLst>
            <a:gs pos="0">
              <a:srgbClr val="999966">
                <a:hueOff val="0"/>
                <a:satOff val="0"/>
                <a:lumOff val="0"/>
                <a:alphaOff val="0"/>
                <a:shade val="40000"/>
                <a:alpha val="100000"/>
                <a:satMod val="150000"/>
                <a:lumMod val="100000"/>
              </a:srgbClr>
            </a:gs>
            <a:gs pos="100000">
              <a:srgbClr val="9999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rgbClr val="330F42"/>
              </a:solidFill>
              <a:latin typeface="Rockwell"/>
              <a:ea typeface="+mn-ea"/>
              <a:cs typeface="+mn-cs"/>
            </a:rPr>
            <a:t>Saves address bits in the instruction if most memory references are relatively near to the instruction being executed</a:t>
          </a:r>
        </a:p>
      </dgm:t>
    </dgm:pt>
    <dgm:pt modelId="{72E8DAF6-FF75-8641-8D2D-167BB5F71979}" type="parTrans" cxnId="{3DF2400B-3472-D849-B4CC-7D7B8ED57377}">
      <dgm:prSet/>
      <dgm:spPr/>
      <dgm:t>
        <a:bodyPr/>
        <a:lstStyle/>
        <a:p>
          <a:endParaRPr lang="en-US"/>
        </a:p>
      </dgm:t>
    </dgm:pt>
    <dgm:pt modelId="{BE565BDC-3C56-C743-9CD9-3C2CF3646880}" type="sibTrans" cxnId="{3DF2400B-3472-D849-B4CC-7D7B8ED57377}">
      <dgm:prSet/>
      <dgm:spPr/>
      <dgm:t>
        <a:bodyPr/>
        <a:lstStyle/>
        <a:p>
          <a:endParaRPr lang="en-US"/>
        </a:p>
      </dgm:t>
    </dgm:pt>
    <dgm:pt modelId="{FF0C24AB-4797-5F4C-B34E-3FF98558FD55}" type="pres">
      <dgm:prSet presAssocID="{63F248E7-38A3-224F-A4F3-AE55B097C879}" presName="linear" presStyleCnt="0">
        <dgm:presLayoutVars>
          <dgm:animLvl val="lvl"/>
          <dgm:resizeHandles val="exact"/>
        </dgm:presLayoutVars>
      </dgm:prSet>
      <dgm:spPr/>
    </dgm:pt>
    <dgm:pt modelId="{514B404A-71F5-8646-9057-29EE6A4460B4}" type="pres">
      <dgm:prSet presAssocID="{A8B2DE56-E158-8A4B-99C6-7C7FF05DFB55}" presName="parentText" presStyleLbl="node1" presStyleIdx="0" presStyleCnt="3">
        <dgm:presLayoutVars>
          <dgm:chMax val="0"/>
          <dgm:bulletEnabled val="1"/>
        </dgm:presLayoutVars>
      </dgm:prSet>
      <dgm:spPr/>
    </dgm:pt>
    <dgm:pt modelId="{74C93090-5590-084D-A2AB-DAEF051BCBCD}" type="pres">
      <dgm:prSet presAssocID="{A8B2DE56-E158-8A4B-99C6-7C7FF05DFB55}" presName="childText" presStyleLbl="revTx" presStyleIdx="0" presStyleCnt="1">
        <dgm:presLayoutVars>
          <dgm:bulletEnabled val="1"/>
        </dgm:presLayoutVars>
      </dgm:prSet>
      <dgm:spPr/>
    </dgm:pt>
    <dgm:pt modelId="{B0BC29CD-AE8B-E844-A0F5-72CC0367FA5A}" type="pres">
      <dgm:prSet presAssocID="{E7A40534-3225-D346-93F2-FF53386452EB}" presName="parentText" presStyleLbl="node1" presStyleIdx="1" presStyleCnt="3">
        <dgm:presLayoutVars>
          <dgm:chMax val="0"/>
          <dgm:bulletEnabled val="1"/>
        </dgm:presLayoutVars>
      </dgm:prSet>
      <dgm:spPr/>
    </dgm:pt>
    <dgm:pt modelId="{62A9B9AA-3EAC-CB42-A578-F81E5083D809}" type="pres">
      <dgm:prSet presAssocID="{CA07F961-3EC7-924B-8DD6-6C0C325385B7}" presName="spacer" presStyleCnt="0"/>
      <dgm:spPr/>
    </dgm:pt>
    <dgm:pt modelId="{B65E83E5-C0CA-A94B-B54D-A9C7464AF21E}" type="pres">
      <dgm:prSet presAssocID="{B836D070-0251-B34F-AC84-AB06566273EA}" presName="parentText" presStyleLbl="node1" presStyleIdx="2" presStyleCnt="3">
        <dgm:presLayoutVars>
          <dgm:chMax val="0"/>
          <dgm:bulletEnabled val="1"/>
        </dgm:presLayoutVars>
      </dgm:prSet>
      <dgm:spPr/>
    </dgm:pt>
  </dgm:ptLst>
  <dgm:cxnLst>
    <dgm:cxn modelId="{3DF2400B-3472-D849-B4CC-7D7B8ED57377}" srcId="{63F248E7-38A3-224F-A4F3-AE55B097C879}" destId="{B836D070-0251-B34F-AC84-AB06566273EA}" srcOrd="2" destOrd="0" parTransId="{72E8DAF6-FF75-8641-8D2D-167BB5F71979}" sibTransId="{BE565BDC-3C56-C743-9CD9-3C2CF3646880}"/>
    <dgm:cxn modelId="{6CD74F0F-D712-A545-8A2D-BB4F16C81E95}" srcId="{63F248E7-38A3-224F-A4F3-AE55B097C879}" destId="{A8B2DE56-E158-8A4B-99C6-7C7FF05DFB55}" srcOrd="0" destOrd="0" parTransId="{1C4E7D2F-120A-9C42-8C03-8E1CF4E1D371}" sibTransId="{75E6ADF4-2DBA-574D-91C6-3DC2F6502AAB}"/>
    <dgm:cxn modelId="{3001C15F-9F45-CF49-9BE3-414EEF518B58}" srcId="{A8B2DE56-E158-8A4B-99C6-7C7FF05DFB55}" destId="{6D26E3B8-2472-2543-A1C5-A224C0A4AF1B}" srcOrd="1" destOrd="0" parTransId="{BD6B5B1C-437C-4445-A947-FE3AF13FADF3}" sibTransId="{4B13B619-FBC0-D64F-B5BC-2AF857120600}"/>
    <dgm:cxn modelId="{653D4174-894A-3049-90F5-FC87D757A735}" srcId="{A8B2DE56-E158-8A4B-99C6-7C7FF05DFB55}" destId="{DF4BFC8F-0AC4-3645-BA66-3C4C28C12E92}" srcOrd="0" destOrd="0" parTransId="{CA9921EC-4CD8-0246-8015-BC5DA2B51794}" sibTransId="{DE3ACFA9-3F0E-454F-8717-2A67461649BE}"/>
    <dgm:cxn modelId="{7CAD767C-FD26-D249-AEFB-14096EEF08D5}" type="presOf" srcId="{A8B2DE56-E158-8A4B-99C6-7C7FF05DFB55}" destId="{514B404A-71F5-8646-9057-29EE6A4460B4}" srcOrd="0" destOrd="0" presId="urn:microsoft.com/office/officeart/2005/8/layout/vList2"/>
    <dgm:cxn modelId="{89A14288-FAE2-B942-BEBD-24E3C4DAA8E1}" type="presOf" srcId="{DF4BFC8F-0AC4-3645-BA66-3C4C28C12E92}" destId="{74C93090-5590-084D-A2AB-DAEF051BCBCD}" srcOrd="0" destOrd="0" presId="urn:microsoft.com/office/officeart/2005/8/layout/vList2"/>
    <dgm:cxn modelId="{68D9F09A-182D-0241-A0CB-1252890E57D9}" type="presOf" srcId="{B836D070-0251-B34F-AC84-AB06566273EA}" destId="{B65E83E5-C0CA-A94B-B54D-A9C7464AF21E}" srcOrd="0" destOrd="0" presId="urn:microsoft.com/office/officeart/2005/8/layout/vList2"/>
    <dgm:cxn modelId="{DA3A93A5-6473-CC45-B1A7-DDE05632E43B}" srcId="{A8B2DE56-E158-8A4B-99C6-7C7FF05DFB55}" destId="{F4509CA9-19E8-F64F-8E5D-B29815E39207}" srcOrd="2" destOrd="0" parTransId="{D2EFCA56-05DD-7045-8B0F-54220903B8BA}" sibTransId="{47E41E3F-43D0-4B43-A674-539EA23174CF}"/>
    <dgm:cxn modelId="{A384FAAA-B54D-8341-A868-DA66AB22A8A4}" type="presOf" srcId="{63F248E7-38A3-224F-A4F3-AE55B097C879}" destId="{FF0C24AB-4797-5F4C-B34E-3FF98558FD55}" srcOrd="0" destOrd="0" presId="urn:microsoft.com/office/officeart/2005/8/layout/vList2"/>
    <dgm:cxn modelId="{FA1412E2-96EB-E247-A614-20821E9E1AE7}" type="presOf" srcId="{6D26E3B8-2472-2543-A1C5-A224C0A4AF1B}" destId="{74C93090-5590-084D-A2AB-DAEF051BCBCD}" srcOrd="0" destOrd="1" presId="urn:microsoft.com/office/officeart/2005/8/layout/vList2"/>
    <dgm:cxn modelId="{C632C7E2-577A-E14F-BB9C-77EAC1DD614A}" type="presOf" srcId="{E7A40534-3225-D346-93F2-FF53386452EB}" destId="{B0BC29CD-AE8B-E844-A0F5-72CC0367FA5A}" srcOrd="0" destOrd="0" presId="urn:microsoft.com/office/officeart/2005/8/layout/vList2"/>
    <dgm:cxn modelId="{9BDC13EA-6676-3545-AEA4-BD7127DECB8E}" type="presOf" srcId="{F4509CA9-19E8-F64F-8E5D-B29815E39207}" destId="{74C93090-5590-084D-A2AB-DAEF051BCBCD}" srcOrd="0" destOrd="2" presId="urn:microsoft.com/office/officeart/2005/8/layout/vList2"/>
    <dgm:cxn modelId="{4CD8DEF7-1A28-B346-A18C-5BF31062834F}" srcId="{63F248E7-38A3-224F-A4F3-AE55B097C879}" destId="{E7A40534-3225-D346-93F2-FF53386452EB}" srcOrd="1" destOrd="0" parTransId="{7F6F1515-7DB9-6F47-B462-F019D1A0B198}" sibTransId="{CA07F961-3EC7-924B-8DD6-6C0C325385B7}"/>
    <dgm:cxn modelId="{C7987BBB-3DC0-D244-A1DD-B60831714F73}" type="presParOf" srcId="{FF0C24AB-4797-5F4C-B34E-3FF98558FD55}" destId="{514B404A-71F5-8646-9057-29EE6A4460B4}" srcOrd="0" destOrd="0" presId="urn:microsoft.com/office/officeart/2005/8/layout/vList2"/>
    <dgm:cxn modelId="{B91997AC-2F0D-5848-B404-7B89EDE9C005}" type="presParOf" srcId="{FF0C24AB-4797-5F4C-B34E-3FF98558FD55}" destId="{74C93090-5590-084D-A2AB-DAEF051BCBCD}" srcOrd="1" destOrd="0" presId="urn:microsoft.com/office/officeart/2005/8/layout/vList2"/>
    <dgm:cxn modelId="{F860EAD6-C970-0944-A4D9-94A9A89386C4}" type="presParOf" srcId="{FF0C24AB-4797-5F4C-B34E-3FF98558FD55}" destId="{B0BC29CD-AE8B-E844-A0F5-72CC0367FA5A}" srcOrd="2" destOrd="0" presId="urn:microsoft.com/office/officeart/2005/8/layout/vList2"/>
    <dgm:cxn modelId="{E2102BFC-9D7C-F64E-BBD3-1CECBC55D23B}" type="presParOf" srcId="{FF0C24AB-4797-5F4C-B34E-3FF98558FD55}" destId="{62A9B9AA-3EAC-CB42-A578-F81E5083D809}" srcOrd="3" destOrd="0" presId="urn:microsoft.com/office/officeart/2005/8/layout/vList2"/>
    <dgm:cxn modelId="{EAF4A70D-FE87-8445-9EEE-0BB3C2666998}" type="presParOf" srcId="{FF0C24AB-4797-5F4C-B34E-3FF98558FD55}" destId="{B65E83E5-C0CA-A94B-B54D-A9C7464AF21E}"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5978372B-9238-364C-81C3-3497B789A77C}" type="doc">
      <dgm:prSet loTypeId="urn:microsoft.com/office/officeart/2005/8/layout/hList6" loCatId="list" qsTypeId="urn:microsoft.com/office/officeart/2005/8/quickstyle/simple4" qsCatId="simple" csTypeId="urn:microsoft.com/office/officeart/2005/8/colors/colorful4" csCatId="colorful"/>
      <dgm:spPr/>
      <dgm:t>
        <a:bodyPr/>
        <a:lstStyle/>
        <a:p>
          <a:endParaRPr lang="en-US"/>
        </a:p>
      </dgm:t>
    </dgm:pt>
    <dgm:pt modelId="{A84DDF75-04FC-C749-87DB-D94F9CC939FC}">
      <dgm:prSet/>
      <dgm:spPr>
        <a:xfrm rot="16200000">
          <a:off x="-1170713" y="1171699"/>
          <a:ext cx="4906962" cy="2563564"/>
        </a:xfrm>
        <a:prstGeom prst="flowChartManualOperation">
          <a:avLst/>
        </a:prstGeom>
        <a:gradFill rotWithShape="0">
          <a:gsLst>
            <a:gs pos="0">
              <a:srgbClr val="999966">
                <a:hueOff val="0"/>
                <a:satOff val="0"/>
                <a:lumOff val="0"/>
                <a:alphaOff val="0"/>
                <a:shade val="40000"/>
                <a:alpha val="100000"/>
                <a:satMod val="150000"/>
                <a:lumMod val="100000"/>
              </a:srgbClr>
            </a:gs>
            <a:gs pos="100000">
              <a:srgbClr val="9999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rgbClr val="330F42"/>
              </a:solidFill>
              <a:latin typeface="Rockwell"/>
              <a:ea typeface="+mn-ea"/>
              <a:cs typeface="+mn-cs"/>
            </a:rPr>
            <a:t>Define the layout of the bits of an instruction, in terms of its constituent fields</a:t>
          </a:r>
        </a:p>
      </dgm:t>
    </dgm:pt>
    <dgm:pt modelId="{A2A25EBD-F6B1-DB40-835E-390C46DF6020}" type="parTrans" cxnId="{1CC99B2A-D711-4C42-901E-A6F1850441E0}">
      <dgm:prSet/>
      <dgm:spPr/>
      <dgm:t>
        <a:bodyPr/>
        <a:lstStyle/>
        <a:p>
          <a:endParaRPr lang="en-US"/>
        </a:p>
      </dgm:t>
    </dgm:pt>
    <dgm:pt modelId="{2BCE1379-D0CF-9D49-BBCB-2DD9B41358AF}" type="sibTrans" cxnId="{1CC99B2A-D711-4C42-901E-A6F1850441E0}">
      <dgm:prSet/>
      <dgm:spPr/>
      <dgm:t>
        <a:bodyPr/>
        <a:lstStyle/>
        <a:p>
          <a:endParaRPr lang="en-US"/>
        </a:p>
      </dgm:t>
    </dgm:pt>
    <dgm:pt modelId="{E52EECE0-E083-6E4D-88A7-8ED519498F8F}">
      <dgm:prSet/>
      <dgm:spPr>
        <a:xfrm rot="16200000">
          <a:off x="1585118" y="1171699"/>
          <a:ext cx="4906962" cy="2563564"/>
        </a:xfrm>
        <a:prstGeom prst="flowChartManualOperation">
          <a:avLst/>
        </a:prstGeom>
        <a:gradFill rotWithShape="0">
          <a:gsLst>
            <a:gs pos="0">
              <a:srgbClr val="999966">
                <a:hueOff val="-854369"/>
                <a:satOff val="36567"/>
                <a:lumOff val="2156"/>
                <a:alphaOff val="0"/>
                <a:shade val="40000"/>
                <a:alpha val="100000"/>
                <a:satMod val="150000"/>
                <a:lumMod val="100000"/>
              </a:srgbClr>
            </a:gs>
            <a:gs pos="100000">
              <a:srgbClr val="999966">
                <a:hueOff val="-854369"/>
                <a:satOff val="36567"/>
                <a:lumOff val="2156"/>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rgbClr val="330F42"/>
              </a:solidFill>
              <a:latin typeface="Rockwell"/>
              <a:ea typeface="+mn-ea"/>
              <a:cs typeface="+mn-cs"/>
            </a:rPr>
            <a:t>Must include an opcode and, implicitly or explicitly, indicate the addressing mode for each operand</a:t>
          </a:r>
        </a:p>
      </dgm:t>
    </dgm:pt>
    <dgm:pt modelId="{1E64E5D5-F98E-B040-980C-DC21ADEC3D4E}" type="parTrans" cxnId="{4A1396E4-C0A5-C344-A231-865DD8A2268E}">
      <dgm:prSet/>
      <dgm:spPr/>
      <dgm:t>
        <a:bodyPr/>
        <a:lstStyle/>
        <a:p>
          <a:endParaRPr lang="en-US"/>
        </a:p>
      </dgm:t>
    </dgm:pt>
    <dgm:pt modelId="{DE6DFE48-F63D-3F4F-A1AC-F5540F50A00B}" type="sibTrans" cxnId="{4A1396E4-C0A5-C344-A231-865DD8A2268E}">
      <dgm:prSet/>
      <dgm:spPr/>
      <dgm:t>
        <a:bodyPr/>
        <a:lstStyle/>
        <a:p>
          <a:endParaRPr lang="en-US"/>
        </a:p>
      </dgm:t>
    </dgm:pt>
    <dgm:pt modelId="{A61C6F7B-D81F-D246-8E70-7D0563A0E411}">
      <dgm:prSet/>
      <dgm:spPr>
        <a:xfrm rot="16200000">
          <a:off x="4340950" y="1171699"/>
          <a:ext cx="4906962" cy="2563564"/>
        </a:xfrm>
        <a:prstGeom prst="flowChartManualOperation">
          <a:avLst/>
        </a:prstGeom>
        <a:gradFill rotWithShape="0">
          <a:gsLst>
            <a:gs pos="0">
              <a:srgbClr val="999966">
                <a:hueOff val="-1708738"/>
                <a:satOff val="73133"/>
                <a:lumOff val="4313"/>
                <a:alphaOff val="0"/>
                <a:shade val="40000"/>
                <a:alpha val="100000"/>
                <a:satMod val="150000"/>
                <a:lumMod val="100000"/>
              </a:srgbClr>
            </a:gs>
            <a:gs pos="100000">
              <a:srgbClr val="999966">
                <a:hueOff val="-1708738"/>
                <a:satOff val="73133"/>
                <a:lumOff val="4313"/>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rgbClr val="330F42"/>
              </a:solidFill>
              <a:latin typeface="Rockwell"/>
              <a:ea typeface="+mn-ea"/>
              <a:cs typeface="+mn-cs"/>
            </a:rPr>
            <a:t>For most instruction sets more than one instruction format is used</a:t>
          </a:r>
        </a:p>
      </dgm:t>
    </dgm:pt>
    <dgm:pt modelId="{F15AE2EB-4028-A44F-AABC-E78CC77CC24C}" type="parTrans" cxnId="{7322B393-6AA8-9243-AE81-180FAB8B3074}">
      <dgm:prSet/>
      <dgm:spPr/>
      <dgm:t>
        <a:bodyPr/>
        <a:lstStyle/>
        <a:p>
          <a:endParaRPr lang="en-US"/>
        </a:p>
      </dgm:t>
    </dgm:pt>
    <dgm:pt modelId="{0BB87ACD-2A9D-AA41-9463-420EE7A7C066}" type="sibTrans" cxnId="{7322B393-6AA8-9243-AE81-180FAB8B3074}">
      <dgm:prSet/>
      <dgm:spPr/>
      <dgm:t>
        <a:bodyPr/>
        <a:lstStyle/>
        <a:p>
          <a:endParaRPr lang="en-US"/>
        </a:p>
      </dgm:t>
    </dgm:pt>
    <dgm:pt modelId="{4D1EA63D-B30E-3848-9AA2-AA5A58F507AD}" type="pres">
      <dgm:prSet presAssocID="{5978372B-9238-364C-81C3-3497B789A77C}" presName="Name0" presStyleCnt="0">
        <dgm:presLayoutVars>
          <dgm:dir/>
          <dgm:resizeHandles val="exact"/>
        </dgm:presLayoutVars>
      </dgm:prSet>
      <dgm:spPr/>
    </dgm:pt>
    <dgm:pt modelId="{E839FB02-6AB5-C645-8052-5011DD110ED1}" type="pres">
      <dgm:prSet presAssocID="{A84DDF75-04FC-C749-87DB-D94F9CC939FC}" presName="node" presStyleLbl="node1" presStyleIdx="0" presStyleCnt="3">
        <dgm:presLayoutVars>
          <dgm:bulletEnabled val="1"/>
        </dgm:presLayoutVars>
      </dgm:prSet>
      <dgm:spPr/>
    </dgm:pt>
    <dgm:pt modelId="{02CFCACE-554D-C74A-91CF-5CC2083A97F7}" type="pres">
      <dgm:prSet presAssocID="{2BCE1379-D0CF-9D49-BBCB-2DD9B41358AF}" presName="sibTrans" presStyleCnt="0"/>
      <dgm:spPr/>
    </dgm:pt>
    <dgm:pt modelId="{9C22D813-78A6-F44B-A184-BA63B43415D4}" type="pres">
      <dgm:prSet presAssocID="{E52EECE0-E083-6E4D-88A7-8ED519498F8F}" presName="node" presStyleLbl="node1" presStyleIdx="1" presStyleCnt="3">
        <dgm:presLayoutVars>
          <dgm:bulletEnabled val="1"/>
        </dgm:presLayoutVars>
      </dgm:prSet>
      <dgm:spPr/>
    </dgm:pt>
    <dgm:pt modelId="{479C62A6-4DE6-2340-8AAB-AEF4A604ABB8}" type="pres">
      <dgm:prSet presAssocID="{DE6DFE48-F63D-3F4F-A1AC-F5540F50A00B}" presName="sibTrans" presStyleCnt="0"/>
      <dgm:spPr/>
    </dgm:pt>
    <dgm:pt modelId="{11DA530E-381C-884C-92DD-C175D8033C96}" type="pres">
      <dgm:prSet presAssocID="{A61C6F7B-D81F-D246-8E70-7D0563A0E411}" presName="node" presStyleLbl="node1" presStyleIdx="2" presStyleCnt="3">
        <dgm:presLayoutVars>
          <dgm:bulletEnabled val="1"/>
        </dgm:presLayoutVars>
      </dgm:prSet>
      <dgm:spPr/>
    </dgm:pt>
  </dgm:ptLst>
  <dgm:cxnLst>
    <dgm:cxn modelId="{1CC99B2A-D711-4C42-901E-A6F1850441E0}" srcId="{5978372B-9238-364C-81C3-3497B789A77C}" destId="{A84DDF75-04FC-C749-87DB-D94F9CC939FC}" srcOrd="0" destOrd="0" parTransId="{A2A25EBD-F6B1-DB40-835E-390C46DF6020}" sibTransId="{2BCE1379-D0CF-9D49-BBCB-2DD9B41358AF}"/>
    <dgm:cxn modelId="{3487D38A-4453-9244-9625-117A5AD13F19}" type="presOf" srcId="{5978372B-9238-364C-81C3-3497B789A77C}" destId="{4D1EA63D-B30E-3848-9AA2-AA5A58F507AD}" srcOrd="0" destOrd="0" presId="urn:microsoft.com/office/officeart/2005/8/layout/hList6"/>
    <dgm:cxn modelId="{7322B393-6AA8-9243-AE81-180FAB8B3074}" srcId="{5978372B-9238-364C-81C3-3497B789A77C}" destId="{A61C6F7B-D81F-D246-8E70-7D0563A0E411}" srcOrd="2" destOrd="0" parTransId="{F15AE2EB-4028-A44F-AABC-E78CC77CC24C}" sibTransId="{0BB87ACD-2A9D-AA41-9463-420EE7A7C066}"/>
    <dgm:cxn modelId="{A7A330B4-3D0E-664B-B1A1-084CA6DCA15E}" type="presOf" srcId="{E52EECE0-E083-6E4D-88A7-8ED519498F8F}" destId="{9C22D813-78A6-F44B-A184-BA63B43415D4}" srcOrd="0" destOrd="0" presId="urn:microsoft.com/office/officeart/2005/8/layout/hList6"/>
    <dgm:cxn modelId="{6FF957D8-C305-4B4E-8994-7453F5EEBE2D}" type="presOf" srcId="{A61C6F7B-D81F-D246-8E70-7D0563A0E411}" destId="{11DA530E-381C-884C-92DD-C175D8033C96}" srcOrd="0" destOrd="0" presId="urn:microsoft.com/office/officeart/2005/8/layout/hList6"/>
    <dgm:cxn modelId="{4A1396E4-C0A5-C344-A231-865DD8A2268E}" srcId="{5978372B-9238-364C-81C3-3497B789A77C}" destId="{E52EECE0-E083-6E4D-88A7-8ED519498F8F}" srcOrd="1" destOrd="0" parTransId="{1E64E5D5-F98E-B040-980C-DC21ADEC3D4E}" sibTransId="{DE6DFE48-F63D-3F4F-A1AC-F5540F50A00B}"/>
    <dgm:cxn modelId="{AB1AE5FA-9F41-5C4B-9F00-F11A469F950F}" type="presOf" srcId="{A84DDF75-04FC-C749-87DB-D94F9CC939FC}" destId="{E839FB02-6AB5-C645-8052-5011DD110ED1}" srcOrd="0" destOrd="0" presId="urn:microsoft.com/office/officeart/2005/8/layout/hList6"/>
    <dgm:cxn modelId="{7E7F9B36-5C61-CB4C-A077-2A93964CE9CB}" type="presParOf" srcId="{4D1EA63D-B30E-3848-9AA2-AA5A58F507AD}" destId="{E839FB02-6AB5-C645-8052-5011DD110ED1}" srcOrd="0" destOrd="0" presId="urn:microsoft.com/office/officeart/2005/8/layout/hList6"/>
    <dgm:cxn modelId="{E038BDF2-6E4D-6941-8F58-802212B60D2C}" type="presParOf" srcId="{4D1EA63D-B30E-3848-9AA2-AA5A58F507AD}" destId="{02CFCACE-554D-C74A-91CF-5CC2083A97F7}" srcOrd="1" destOrd="0" presId="urn:microsoft.com/office/officeart/2005/8/layout/hList6"/>
    <dgm:cxn modelId="{BD562AEA-96CD-7543-84B2-DC5858ABC0D8}" type="presParOf" srcId="{4D1EA63D-B30E-3848-9AA2-AA5A58F507AD}" destId="{9C22D813-78A6-F44B-A184-BA63B43415D4}" srcOrd="2" destOrd="0" presId="urn:microsoft.com/office/officeart/2005/8/layout/hList6"/>
    <dgm:cxn modelId="{11A381D9-0323-DD40-88FD-9F4AE4282261}" type="presParOf" srcId="{4D1EA63D-B30E-3848-9AA2-AA5A58F507AD}" destId="{479C62A6-4DE6-2340-8AAB-AEF4A604ABB8}" srcOrd="3" destOrd="0" presId="urn:microsoft.com/office/officeart/2005/8/layout/hList6"/>
    <dgm:cxn modelId="{773838D9-EEC3-BD43-A837-7F6EE739BCC6}" type="presParOf" srcId="{4D1EA63D-B30E-3848-9AA2-AA5A58F507AD}" destId="{11DA530E-381C-884C-92DD-C175D8033C96}" srcOrd="4"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F5D17FB3-E440-6A4F-B7D3-293DE85510F6}" type="doc">
      <dgm:prSet loTypeId="urn:microsoft.com/office/officeart/2005/8/layout/default" loCatId="" qsTypeId="urn:microsoft.com/office/officeart/2005/8/quickstyle/simple4" qsCatId="simple" csTypeId="urn:microsoft.com/office/officeart/2005/8/colors/colorful4" csCatId="colorful"/>
      <dgm:spPr/>
      <dgm:t>
        <a:bodyPr/>
        <a:lstStyle/>
        <a:p>
          <a:endParaRPr lang="en-US"/>
        </a:p>
      </dgm:t>
    </dgm:pt>
    <dgm:pt modelId="{9AEE2E66-27AF-D94B-8E74-F7EC8B7B4107}">
      <dgm:prSet/>
      <dgm:spPr>
        <a:xfrm>
          <a:off x="0" y="738558"/>
          <a:ext cx="2716998" cy="1630198"/>
        </a:xfrm>
        <a:prstGeom prst="rect">
          <a:avLst/>
        </a:prstGeom>
        <a:gradFill rotWithShape="0">
          <a:gsLst>
            <a:gs pos="0">
              <a:srgbClr val="999966">
                <a:hueOff val="0"/>
                <a:satOff val="0"/>
                <a:lumOff val="0"/>
                <a:alphaOff val="0"/>
                <a:shade val="40000"/>
                <a:alpha val="100000"/>
                <a:satMod val="150000"/>
                <a:lumMod val="100000"/>
              </a:srgbClr>
            </a:gs>
            <a:gs pos="100000">
              <a:srgbClr val="9999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rgbClr val="330F42"/>
              </a:solidFill>
              <a:latin typeface="Rockwell"/>
              <a:ea typeface="+mn-ea"/>
              <a:cs typeface="+mn-cs"/>
            </a:rPr>
            <a:t>Number of addressing modes	</a:t>
          </a:r>
        </a:p>
      </dgm:t>
    </dgm:pt>
    <dgm:pt modelId="{8AB2495B-FDED-A542-8D70-3786670ABA01}" type="parTrans" cxnId="{739F25D3-223E-5445-85A9-60FC4C82EB58}">
      <dgm:prSet/>
      <dgm:spPr/>
      <dgm:t>
        <a:bodyPr/>
        <a:lstStyle/>
        <a:p>
          <a:endParaRPr lang="en-US"/>
        </a:p>
      </dgm:t>
    </dgm:pt>
    <dgm:pt modelId="{ABB20859-8428-F14E-B216-7154F1AE07D4}" type="sibTrans" cxnId="{739F25D3-223E-5445-85A9-60FC4C82EB58}">
      <dgm:prSet/>
      <dgm:spPr/>
      <dgm:t>
        <a:bodyPr/>
        <a:lstStyle/>
        <a:p>
          <a:endParaRPr lang="en-US"/>
        </a:p>
      </dgm:t>
    </dgm:pt>
    <dgm:pt modelId="{B297A6D1-6B6F-FB43-9466-D800DE79CC4D}">
      <dgm:prSet/>
      <dgm:spPr>
        <a:xfrm>
          <a:off x="2988697" y="738558"/>
          <a:ext cx="2716998" cy="1630198"/>
        </a:xfrm>
        <a:prstGeom prst="rect">
          <a:avLst/>
        </a:prstGeom>
        <a:gradFill rotWithShape="0">
          <a:gsLst>
            <a:gs pos="0">
              <a:srgbClr val="999966">
                <a:hueOff val="-341748"/>
                <a:satOff val="14627"/>
                <a:lumOff val="863"/>
                <a:alphaOff val="0"/>
                <a:shade val="40000"/>
                <a:alpha val="100000"/>
                <a:satMod val="150000"/>
                <a:lumMod val="100000"/>
              </a:srgbClr>
            </a:gs>
            <a:gs pos="100000">
              <a:srgbClr val="999966">
                <a:hueOff val="-341748"/>
                <a:satOff val="14627"/>
                <a:lumOff val="863"/>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rgbClr val="330F42"/>
              </a:solidFill>
              <a:latin typeface="Rockwell"/>
              <a:ea typeface="+mn-ea"/>
              <a:cs typeface="+mn-cs"/>
            </a:rPr>
            <a:t>Number of operands</a:t>
          </a:r>
        </a:p>
      </dgm:t>
    </dgm:pt>
    <dgm:pt modelId="{92415BC5-8E50-4343-9DC9-9F973C7DCC25}" type="parTrans" cxnId="{CD218FB7-8135-684C-BF8A-4273A7C96E45}">
      <dgm:prSet/>
      <dgm:spPr/>
      <dgm:t>
        <a:bodyPr/>
        <a:lstStyle/>
        <a:p>
          <a:endParaRPr lang="en-US"/>
        </a:p>
      </dgm:t>
    </dgm:pt>
    <dgm:pt modelId="{CDAB6B77-D360-BC4F-804B-B717691E54CB}" type="sibTrans" cxnId="{CD218FB7-8135-684C-BF8A-4273A7C96E45}">
      <dgm:prSet/>
      <dgm:spPr/>
      <dgm:t>
        <a:bodyPr/>
        <a:lstStyle/>
        <a:p>
          <a:endParaRPr lang="en-US"/>
        </a:p>
      </dgm:t>
    </dgm:pt>
    <dgm:pt modelId="{F50C517B-16D1-B849-8EF0-8C98FA877BEA}">
      <dgm:prSet/>
      <dgm:spPr>
        <a:xfrm>
          <a:off x="5977395" y="738558"/>
          <a:ext cx="2716998" cy="1630198"/>
        </a:xfrm>
        <a:prstGeom prst="rect">
          <a:avLst/>
        </a:prstGeom>
        <a:gradFill rotWithShape="0">
          <a:gsLst>
            <a:gs pos="0">
              <a:srgbClr val="999966">
                <a:hueOff val="-683495"/>
                <a:satOff val="29253"/>
                <a:lumOff val="1725"/>
                <a:alphaOff val="0"/>
                <a:shade val="40000"/>
                <a:alpha val="100000"/>
                <a:satMod val="150000"/>
                <a:lumMod val="100000"/>
              </a:srgbClr>
            </a:gs>
            <a:gs pos="100000">
              <a:srgbClr val="999966">
                <a:hueOff val="-683495"/>
                <a:satOff val="29253"/>
                <a:lumOff val="1725"/>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rgbClr val="330F42"/>
              </a:solidFill>
              <a:latin typeface="Rockwell"/>
              <a:ea typeface="+mn-ea"/>
              <a:cs typeface="+mn-cs"/>
            </a:rPr>
            <a:t>Register versus memory</a:t>
          </a:r>
        </a:p>
      </dgm:t>
    </dgm:pt>
    <dgm:pt modelId="{07B03D8D-888B-D34C-BB8D-283A164FD355}" type="parTrans" cxnId="{6E9F6A7E-4D7D-5141-94F8-0EC2FFEBC30F}">
      <dgm:prSet/>
      <dgm:spPr/>
      <dgm:t>
        <a:bodyPr/>
        <a:lstStyle/>
        <a:p>
          <a:endParaRPr lang="en-US"/>
        </a:p>
      </dgm:t>
    </dgm:pt>
    <dgm:pt modelId="{4586DD4F-8D61-9F43-9475-92257A1A256A}" type="sibTrans" cxnId="{6E9F6A7E-4D7D-5141-94F8-0EC2FFEBC30F}">
      <dgm:prSet/>
      <dgm:spPr/>
      <dgm:t>
        <a:bodyPr/>
        <a:lstStyle/>
        <a:p>
          <a:endParaRPr lang="en-US"/>
        </a:p>
      </dgm:t>
    </dgm:pt>
    <dgm:pt modelId="{E8124A79-2EB2-8346-8789-DF8D254E1437}">
      <dgm:prSet/>
      <dgm:spPr>
        <a:xfrm>
          <a:off x="0" y="2640456"/>
          <a:ext cx="2716998" cy="1630198"/>
        </a:xfrm>
        <a:prstGeom prst="rect">
          <a:avLst/>
        </a:prstGeom>
        <a:gradFill rotWithShape="0">
          <a:gsLst>
            <a:gs pos="0">
              <a:srgbClr val="999966">
                <a:hueOff val="-1025243"/>
                <a:satOff val="43880"/>
                <a:lumOff val="2588"/>
                <a:alphaOff val="0"/>
                <a:shade val="40000"/>
                <a:alpha val="100000"/>
                <a:satMod val="150000"/>
                <a:lumMod val="100000"/>
              </a:srgbClr>
            </a:gs>
            <a:gs pos="100000">
              <a:srgbClr val="999966">
                <a:hueOff val="-1025243"/>
                <a:satOff val="43880"/>
                <a:lumOff val="2588"/>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rgbClr val="330F42"/>
              </a:solidFill>
              <a:latin typeface="Rockwell"/>
              <a:ea typeface="+mn-ea"/>
              <a:cs typeface="+mn-cs"/>
            </a:rPr>
            <a:t>Number of register sets</a:t>
          </a:r>
        </a:p>
      </dgm:t>
    </dgm:pt>
    <dgm:pt modelId="{94387FF2-DB90-2847-8C78-4FB43C18C44C}" type="parTrans" cxnId="{1A30B05A-B014-4F43-889E-ADA64EF2C06D}">
      <dgm:prSet/>
      <dgm:spPr/>
      <dgm:t>
        <a:bodyPr/>
        <a:lstStyle/>
        <a:p>
          <a:endParaRPr lang="en-US"/>
        </a:p>
      </dgm:t>
    </dgm:pt>
    <dgm:pt modelId="{9FE48CF8-4E9B-D84B-B124-EF4F004DFAAF}" type="sibTrans" cxnId="{1A30B05A-B014-4F43-889E-ADA64EF2C06D}">
      <dgm:prSet/>
      <dgm:spPr/>
      <dgm:t>
        <a:bodyPr/>
        <a:lstStyle/>
        <a:p>
          <a:endParaRPr lang="en-US"/>
        </a:p>
      </dgm:t>
    </dgm:pt>
    <dgm:pt modelId="{98FFAAB8-4D35-0D40-9511-077DABD5C852}">
      <dgm:prSet/>
      <dgm:spPr>
        <a:xfrm>
          <a:off x="2988697" y="2640456"/>
          <a:ext cx="2716998" cy="1630198"/>
        </a:xfrm>
        <a:prstGeom prst="rect">
          <a:avLst/>
        </a:prstGeom>
        <a:gradFill rotWithShape="0">
          <a:gsLst>
            <a:gs pos="0">
              <a:srgbClr val="999966">
                <a:hueOff val="-1366990"/>
                <a:satOff val="58506"/>
                <a:lumOff val="3450"/>
                <a:alphaOff val="0"/>
                <a:shade val="40000"/>
                <a:alpha val="100000"/>
                <a:satMod val="150000"/>
                <a:lumMod val="100000"/>
              </a:srgbClr>
            </a:gs>
            <a:gs pos="100000">
              <a:srgbClr val="999966">
                <a:hueOff val="-1366990"/>
                <a:satOff val="58506"/>
                <a:lumOff val="345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rgbClr val="330F42"/>
              </a:solidFill>
              <a:latin typeface="Rockwell"/>
              <a:ea typeface="+mn-ea"/>
              <a:cs typeface="+mn-cs"/>
            </a:rPr>
            <a:t>Address range</a:t>
          </a:r>
        </a:p>
      </dgm:t>
    </dgm:pt>
    <dgm:pt modelId="{100A0CDE-A711-314D-B275-1C97838FF1E4}" type="parTrans" cxnId="{ECDDB5C4-8450-9A49-BB13-E47F98B26223}">
      <dgm:prSet/>
      <dgm:spPr/>
      <dgm:t>
        <a:bodyPr/>
        <a:lstStyle/>
        <a:p>
          <a:endParaRPr lang="en-US"/>
        </a:p>
      </dgm:t>
    </dgm:pt>
    <dgm:pt modelId="{4D5871A4-6BEE-2348-8A4E-DCAD835EBD7E}" type="sibTrans" cxnId="{ECDDB5C4-8450-9A49-BB13-E47F98B26223}">
      <dgm:prSet/>
      <dgm:spPr/>
      <dgm:t>
        <a:bodyPr/>
        <a:lstStyle/>
        <a:p>
          <a:endParaRPr lang="en-US"/>
        </a:p>
      </dgm:t>
    </dgm:pt>
    <dgm:pt modelId="{86BF62D0-CCA8-2B4A-A711-8DFB4CCE5363}">
      <dgm:prSet/>
      <dgm:spPr>
        <a:xfrm>
          <a:off x="5977395" y="2640456"/>
          <a:ext cx="2716998" cy="1630198"/>
        </a:xfrm>
        <a:prstGeom prst="rect">
          <a:avLst/>
        </a:prstGeom>
        <a:gradFill rotWithShape="0">
          <a:gsLst>
            <a:gs pos="0">
              <a:srgbClr val="999966">
                <a:hueOff val="-1708738"/>
                <a:satOff val="73133"/>
                <a:lumOff val="4313"/>
                <a:alphaOff val="0"/>
                <a:shade val="40000"/>
                <a:alpha val="100000"/>
                <a:satMod val="150000"/>
                <a:lumMod val="100000"/>
              </a:srgbClr>
            </a:gs>
            <a:gs pos="100000">
              <a:srgbClr val="999966">
                <a:hueOff val="-1708738"/>
                <a:satOff val="73133"/>
                <a:lumOff val="4313"/>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rgbClr val="330F42"/>
              </a:solidFill>
              <a:latin typeface="Rockwell"/>
              <a:ea typeface="+mn-ea"/>
              <a:cs typeface="+mn-cs"/>
            </a:rPr>
            <a:t>Address granularity</a:t>
          </a:r>
        </a:p>
      </dgm:t>
    </dgm:pt>
    <dgm:pt modelId="{B4377790-0992-4B4D-8B4B-58342305303F}" type="parTrans" cxnId="{ACB0D45A-FBFD-2A47-BB69-960B1D9DAD8C}">
      <dgm:prSet/>
      <dgm:spPr/>
      <dgm:t>
        <a:bodyPr/>
        <a:lstStyle/>
        <a:p>
          <a:endParaRPr lang="en-US"/>
        </a:p>
      </dgm:t>
    </dgm:pt>
    <dgm:pt modelId="{7A84B130-D757-9C4E-AF3E-D970F8D8910D}" type="sibTrans" cxnId="{ACB0D45A-FBFD-2A47-BB69-960B1D9DAD8C}">
      <dgm:prSet/>
      <dgm:spPr/>
      <dgm:t>
        <a:bodyPr/>
        <a:lstStyle/>
        <a:p>
          <a:endParaRPr lang="en-US"/>
        </a:p>
      </dgm:t>
    </dgm:pt>
    <dgm:pt modelId="{76757134-4DD3-DD42-980C-793F2415FCA7}" type="pres">
      <dgm:prSet presAssocID="{F5D17FB3-E440-6A4F-B7D3-293DE85510F6}" presName="diagram" presStyleCnt="0">
        <dgm:presLayoutVars>
          <dgm:dir/>
          <dgm:resizeHandles val="exact"/>
        </dgm:presLayoutVars>
      </dgm:prSet>
      <dgm:spPr/>
    </dgm:pt>
    <dgm:pt modelId="{C35741C0-AF00-CA44-9BD7-897AD833618C}" type="pres">
      <dgm:prSet presAssocID="{9AEE2E66-27AF-D94B-8E74-F7EC8B7B4107}" presName="node" presStyleLbl="node1" presStyleIdx="0" presStyleCnt="6">
        <dgm:presLayoutVars>
          <dgm:bulletEnabled val="1"/>
        </dgm:presLayoutVars>
      </dgm:prSet>
      <dgm:spPr/>
    </dgm:pt>
    <dgm:pt modelId="{6A10D592-1828-B54B-8EC0-C92E61B4C478}" type="pres">
      <dgm:prSet presAssocID="{ABB20859-8428-F14E-B216-7154F1AE07D4}" presName="sibTrans" presStyleCnt="0"/>
      <dgm:spPr/>
    </dgm:pt>
    <dgm:pt modelId="{72BB6A60-8F22-2D4E-BC0F-3DC0A691A29B}" type="pres">
      <dgm:prSet presAssocID="{B297A6D1-6B6F-FB43-9466-D800DE79CC4D}" presName="node" presStyleLbl="node1" presStyleIdx="1" presStyleCnt="6">
        <dgm:presLayoutVars>
          <dgm:bulletEnabled val="1"/>
        </dgm:presLayoutVars>
      </dgm:prSet>
      <dgm:spPr/>
    </dgm:pt>
    <dgm:pt modelId="{0D0F39F2-3712-B149-92BA-64A063C01F53}" type="pres">
      <dgm:prSet presAssocID="{CDAB6B77-D360-BC4F-804B-B717691E54CB}" presName="sibTrans" presStyleCnt="0"/>
      <dgm:spPr/>
    </dgm:pt>
    <dgm:pt modelId="{352CB0F1-5B6C-6945-ABF3-ED695AFC0D9A}" type="pres">
      <dgm:prSet presAssocID="{F50C517B-16D1-B849-8EF0-8C98FA877BEA}" presName="node" presStyleLbl="node1" presStyleIdx="2" presStyleCnt="6">
        <dgm:presLayoutVars>
          <dgm:bulletEnabled val="1"/>
        </dgm:presLayoutVars>
      </dgm:prSet>
      <dgm:spPr/>
    </dgm:pt>
    <dgm:pt modelId="{9DC73B5F-9AD7-DB4C-926D-095824A3E567}" type="pres">
      <dgm:prSet presAssocID="{4586DD4F-8D61-9F43-9475-92257A1A256A}" presName="sibTrans" presStyleCnt="0"/>
      <dgm:spPr/>
    </dgm:pt>
    <dgm:pt modelId="{9B9E5E99-5AE5-724E-A77F-FCC711EA4601}" type="pres">
      <dgm:prSet presAssocID="{E8124A79-2EB2-8346-8789-DF8D254E1437}" presName="node" presStyleLbl="node1" presStyleIdx="3" presStyleCnt="6">
        <dgm:presLayoutVars>
          <dgm:bulletEnabled val="1"/>
        </dgm:presLayoutVars>
      </dgm:prSet>
      <dgm:spPr/>
    </dgm:pt>
    <dgm:pt modelId="{55F43FCC-DCC4-744D-A032-3564F25AC41D}" type="pres">
      <dgm:prSet presAssocID="{9FE48CF8-4E9B-D84B-B124-EF4F004DFAAF}" presName="sibTrans" presStyleCnt="0"/>
      <dgm:spPr/>
    </dgm:pt>
    <dgm:pt modelId="{07111F0A-146D-B74B-93B1-03C3088F22D2}" type="pres">
      <dgm:prSet presAssocID="{98FFAAB8-4D35-0D40-9511-077DABD5C852}" presName="node" presStyleLbl="node1" presStyleIdx="4" presStyleCnt="6">
        <dgm:presLayoutVars>
          <dgm:bulletEnabled val="1"/>
        </dgm:presLayoutVars>
      </dgm:prSet>
      <dgm:spPr/>
    </dgm:pt>
    <dgm:pt modelId="{E1804273-11B9-3C4E-847F-9C3BCD1AC050}" type="pres">
      <dgm:prSet presAssocID="{4D5871A4-6BEE-2348-8A4E-DCAD835EBD7E}" presName="sibTrans" presStyleCnt="0"/>
      <dgm:spPr/>
    </dgm:pt>
    <dgm:pt modelId="{2C13FBC5-B362-E34C-81FE-4DAA45A75724}" type="pres">
      <dgm:prSet presAssocID="{86BF62D0-CCA8-2B4A-A711-8DFB4CCE5363}" presName="node" presStyleLbl="node1" presStyleIdx="5" presStyleCnt="6">
        <dgm:presLayoutVars>
          <dgm:bulletEnabled val="1"/>
        </dgm:presLayoutVars>
      </dgm:prSet>
      <dgm:spPr/>
    </dgm:pt>
  </dgm:ptLst>
  <dgm:cxnLst>
    <dgm:cxn modelId="{6F973F10-FDCB-3043-8FA0-CA1B3F75EC4C}" type="presOf" srcId="{98FFAAB8-4D35-0D40-9511-077DABD5C852}" destId="{07111F0A-146D-B74B-93B1-03C3088F22D2}" srcOrd="0" destOrd="0" presId="urn:microsoft.com/office/officeart/2005/8/layout/default"/>
    <dgm:cxn modelId="{95D16435-CFF6-A340-B7E0-6E166A9B2CE8}" type="presOf" srcId="{E8124A79-2EB2-8346-8789-DF8D254E1437}" destId="{9B9E5E99-5AE5-724E-A77F-FCC711EA4601}" srcOrd="0" destOrd="0" presId="urn:microsoft.com/office/officeart/2005/8/layout/default"/>
    <dgm:cxn modelId="{F83B4C3E-B224-E84C-8336-0334A67B4454}" type="presOf" srcId="{86BF62D0-CCA8-2B4A-A711-8DFB4CCE5363}" destId="{2C13FBC5-B362-E34C-81FE-4DAA45A75724}" srcOrd="0" destOrd="0" presId="urn:microsoft.com/office/officeart/2005/8/layout/default"/>
    <dgm:cxn modelId="{48731B42-14E9-C245-B8AD-2EB34CEFDE91}" type="presOf" srcId="{9AEE2E66-27AF-D94B-8E74-F7EC8B7B4107}" destId="{C35741C0-AF00-CA44-9BD7-897AD833618C}" srcOrd="0" destOrd="0" presId="urn:microsoft.com/office/officeart/2005/8/layout/default"/>
    <dgm:cxn modelId="{1A30B05A-B014-4F43-889E-ADA64EF2C06D}" srcId="{F5D17FB3-E440-6A4F-B7D3-293DE85510F6}" destId="{E8124A79-2EB2-8346-8789-DF8D254E1437}" srcOrd="3" destOrd="0" parTransId="{94387FF2-DB90-2847-8C78-4FB43C18C44C}" sibTransId="{9FE48CF8-4E9B-D84B-B124-EF4F004DFAAF}"/>
    <dgm:cxn modelId="{ACB0D45A-FBFD-2A47-BB69-960B1D9DAD8C}" srcId="{F5D17FB3-E440-6A4F-B7D3-293DE85510F6}" destId="{86BF62D0-CCA8-2B4A-A711-8DFB4CCE5363}" srcOrd="5" destOrd="0" parTransId="{B4377790-0992-4B4D-8B4B-58342305303F}" sibTransId="{7A84B130-D757-9C4E-AF3E-D970F8D8910D}"/>
    <dgm:cxn modelId="{6E9F6A7E-4D7D-5141-94F8-0EC2FFEBC30F}" srcId="{F5D17FB3-E440-6A4F-B7D3-293DE85510F6}" destId="{F50C517B-16D1-B849-8EF0-8C98FA877BEA}" srcOrd="2" destOrd="0" parTransId="{07B03D8D-888B-D34C-BB8D-283A164FD355}" sibTransId="{4586DD4F-8D61-9F43-9475-92257A1A256A}"/>
    <dgm:cxn modelId="{BFCFBFAE-C4E7-F14B-9086-841E6FF1B2DE}" type="presOf" srcId="{F50C517B-16D1-B849-8EF0-8C98FA877BEA}" destId="{352CB0F1-5B6C-6945-ABF3-ED695AFC0D9A}" srcOrd="0" destOrd="0" presId="urn:microsoft.com/office/officeart/2005/8/layout/default"/>
    <dgm:cxn modelId="{598E6AB1-129F-E34D-B3AD-AD31EC31775C}" type="presOf" srcId="{B297A6D1-6B6F-FB43-9466-D800DE79CC4D}" destId="{72BB6A60-8F22-2D4E-BC0F-3DC0A691A29B}" srcOrd="0" destOrd="0" presId="urn:microsoft.com/office/officeart/2005/8/layout/default"/>
    <dgm:cxn modelId="{CD218FB7-8135-684C-BF8A-4273A7C96E45}" srcId="{F5D17FB3-E440-6A4F-B7D3-293DE85510F6}" destId="{B297A6D1-6B6F-FB43-9466-D800DE79CC4D}" srcOrd="1" destOrd="0" parTransId="{92415BC5-8E50-4343-9DC9-9F973C7DCC25}" sibTransId="{CDAB6B77-D360-BC4F-804B-B717691E54CB}"/>
    <dgm:cxn modelId="{ECDDB5C4-8450-9A49-BB13-E47F98B26223}" srcId="{F5D17FB3-E440-6A4F-B7D3-293DE85510F6}" destId="{98FFAAB8-4D35-0D40-9511-077DABD5C852}" srcOrd="4" destOrd="0" parTransId="{100A0CDE-A711-314D-B275-1C97838FF1E4}" sibTransId="{4D5871A4-6BEE-2348-8A4E-DCAD835EBD7E}"/>
    <dgm:cxn modelId="{739F25D3-223E-5445-85A9-60FC4C82EB58}" srcId="{F5D17FB3-E440-6A4F-B7D3-293DE85510F6}" destId="{9AEE2E66-27AF-D94B-8E74-F7EC8B7B4107}" srcOrd="0" destOrd="0" parTransId="{8AB2495B-FDED-A542-8D70-3786670ABA01}" sibTransId="{ABB20859-8428-F14E-B216-7154F1AE07D4}"/>
    <dgm:cxn modelId="{CE1CB6FB-1029-1C44-8B80-BEF4E1D74A26}" type="presOf" srcId="{F5D17FB3-E440-6A4F-B7D3-293DE85510F6}" destId="{76757134-4DD3-DD42-980C-793F2415FCA7}" srcOrd="0" destOrd="0" presId="urn:microsoft.com/office/officeart/2005/8/layout/default"/>
    <dgm:cxn modelId="{FA57E072-0BA8-1B40-9A0E-8185B04B0684}" type="presParOf" srcId="{76757134-4DD3-DD42-980C-793F2415FCA7}" destId="{C35741C0-AF00-CA44-9BD7-897AD833618C}" srcOrd="0" destOrd="0" presId="urn:microsoft.com/office/officeart/2005/8/layout/default"/>
    <dgm:cxn modelId="{89F33706-E8F9-AC49-A54C-227998F0AC5A}" type="presParOf" srcId="{76757134-4DD3-DD42-980C-793F2415FCA7}" destId="{6A10D592-1828-B54B-8EC0-C92E61B4C478}" srcOrd="1" destOrd="0" presId="urn:microsoft.com/office/officeart/2005/8/layout/default"/>
    <dgm:cxn modelId="{B03EC9B0-5E33-3945-87B8-0056B8157ED8}" type="presParOf" srcId="{76757134-4DD3-DD42-980C-793F2415FCA7}" destId="{72BB6A60-8F22-2D4E-BC0F-3DC0A691A29B}" srcOrd="2" destOrd="0" presId="urn:microsoft.com/office/officeart/2005/8/layout/default"/>
    <dgm:cxn modelId="{732091F9-351C-C84D-B492-30FC6AF7D26F}" type="presParOf" srcId="{76757134-4DD3-DD42-980C-793F2415FCA7}" destId="{0D0F39F2-3712-B149-92BA-64A063C01F53}" srcOrd="3" destOrd="0" presId="urn:microsoft.com/office/officeart/2005/8/layout/default"/>
    <dgm:cxn modelId="{C60D1BC4-9DDC-2943-BB12-B3424E65CB76}" type="presParOf" srcId="{76757134-4DD3-DD42-980C-793F2415FCA7}" destId="{352CB0F1-5B6C-6945-ABF3-ED695AFC0D9A}" srcOrd="4" destOrd="0" presId="urn:microsoft.com/office/officeart/2005/8/layout/default"/>
    <dgm:cxn modelId="{EDE21C9C-09A6-EA4B-8FAE-7BC199CDCBF9}" type="presParOf" srcId="{76757134-4DD3-DD42-980C-793F2415FCA7}" destId="{9DC73B5F-9AD7-DB4C-926D-095824A3E567}" srcOrd="5" destOrd="0" presId="urn:microsoft.com/office/officeart/2005/8/layout/default"/>
    <dgm:cxn modelId="{6A9FAA32-2A6C-7D47-B0C8-911DE8B82DB3}" type="presParOf" srcId="{76757134-4DD3-DD42-980C-793F2415FCA7}" destId="{9B9E5E99-5AE5-724E-A77F-FCC711EA4601}" srcOrd="6" destOrd="0" presId="urn:microsoft.com/office/officeart/2005/8/layout/default"/>
    <dgm:cxn modelId="{00106AF4-834A-A045-A012-AC3533D1E3E5}" type="presParOf" srcId="{76757134-4DD3-DD42-980C-793F2415FCA7}" destId="{55F43FCC-DCC4-744D-A032-3564F25AC41D}" srcOrd="7" destOrd="0" presId="urn:microsoft.com/office/officeart/2005/8/layout/default"/>
    <dgm:cxn modelId="{497A1725-C285-6C40-80C5-A6F0F9A51A62}" type="presParOf" srcId="{76757134-4DD3-DD42-980C-793F2415FCA7}" destId="{07111F0A-146D-B74B-93B1-03C3088F22D2}" srcOrd="8" destOrd="0" presId="urn:microsoft.com/office/officeart/2005/8/layout/default"/>
    <dgm:cxn modelId="{CD14BDD2-5FCF-1E4A-B94A-99215A7A7952}" type="presParOf" srcId="{76757134-4DD3-DD42-980C-793F2415FCA7}" destId="{E1804273-11B9-3C4E-847F-9C3BCD1AC050}" srcOrd="9" destOrd="0" presId="urn:microsoft.com/office/officeart/2005/8/layout/default"/>
    <dgm:cxn modelId="{73A742AC-FC5D-4741-977E-A10DDA75E707}" type="presParOf" srcId="{76757134-4DD3-DD42-980C-793F2415FCA7}" destId="{2C13FBC5-B362-E34C-81FE-4DAA45A75724}"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130BB43A-0BE7-7F42-9868-389AB4D62297}" type="doc">
      <dgm:prSet loTypeId="urn:microsoft.com/office/officeart/2005/8/layout/venn1" loCatId="relationship" qsTypeId="urn:microsoft.com/office/officeart/2005/8/quickstyle/simple4" qsCatId="simple" csTypeId="urn:microsoft.com/office/officeart/2005/8/colors/accent1_2" csCatId="accent1"/>
      <dgm:spPr/>
      <dgm:t>
        <a:bodyPr/>
        <a:lstStyle/>
        <a:p>
          <a:endParaRPr lang="en-US"/>
        </a:p>
      </dgm:t>
    </dgm:pt>
    <dgm:pt modelId="{E1DF073C-C5D4-F64F-A930-AC5091A81E15}">
      <dgm:prSet/>
      <dgm:spPr>
        <a:xfrm>
          <a:off x="3427323" y="0"/>
          <a:ext cx="2289352" cy="1325118"/>
        </a:xfrm>
        <a:prstGeom prst="rect">
          <a:avLst/>
        </a:prstGeom>
        <a:noFill/>
        <a:ln>
          <a:noFill/>
        </a:ln>
        <a:effectLst/>
        <a:sp3d/>
      </dgm:spPr>
      <dgm:t>
        <a:bodyPr/>
        <a:lstStyle/>
        <a:p>
          <a:pPr rtl="0"/>
          <a:r>
            <a:rPr lang="en-US" dirty="0">
              <a:solidFill>
                <a:sysClr val="windowText" lastClr="000000">
                  <a:hueOff val="0"/>
                  <a:satOff val="0"/>
                  <a:lumOff val="0"/>
                  <a:alphaOff val="0"/>
                </a:sysClr>
              </a:solidFill>
              <a:latin typeface="Rockwell"/>
              <a:ea typeface="+mn-ea"/>
              <a:cs typeface="+mn-cs"/>
            </a:rPr>
            <a:t>ARM processors support data types of:</a:t>
          </a:r>
        </a:p>
      </dgm:t>
    </dgm:pt>
    <dgm:pt modelId="{DDFB3043-4B42-F14D-9951-4739A35ED9F3}" type="parTrans" cxnId="{EC5B13A3-028F-114E-8049-DD58F76A1620}">
      <dgm:prSet/>
      <dgm:spPr/>
      <dgm:t>
        <a:bodyPr/>
        <a:lstStyle/>
        <a:p>
          <a:endParaRPr lang="en-US"/>
        </a:p>
      </dgm:t>
    </dgm:pt>
    <dgm:pt modelId="{DA8D1E2F-2601-4042-A1A4-7C6F349DC51D}" type="sibTrans" cxnId="{EC5B13A3-028F-114E-8049-DD58F76A1620}">
      <dgm:prSet/>
      <dgm:spPr/>
      <dgm:t>
        <a:bodyPr/>
        <a:lstStyle/>
        <a:p>
          <a:endParaRPr lang="en-US"/>
        </a:p>
      </dgm:t>
    </dgm:pt>
    <dgm:pt modelId="{C912F60A-CBA1-0D4B-8B8C-02302D45A1BA}">
      <dgm:prSet/>
      <dgm:spPr>
        <a:xfrm>
          <a:off x="3427323" y="0"/>
          <a:ext cx="2289352" cy="1325118"/>
        </a:xfrm>
        <a:prstGeom prst="rect">
          <a:avLst/>
        </a:prstGeom>
        <a:noFill/>
        <a:ln>
          <a:noFill/>
        </a:ln>
        <a:effectLst/>
        <a:sp3d/>
      </dgm:spPr>
      <dgm:t>
        <a:bodyPr/>
        <a:lstStyle/>
        <a:p>
          <a:pPr rtl="0"/>
          <a:r>
            <a:rPr lang="en-US" dirty="0">
              <a:solidFill>
                <a:sysClr val="windowText" lastClr="000000">
                  <a:hueOff val="0"/>
                  <a:satOff val="0"/>
                  <a:lumOff val="0"/>
                  <a:alphaOff val="0"/>
                </a:sysClr>
              </a:solidFill>
              <a:latin typeface="Rockwell"/>
              <a:ea typeface="+mn-ea"/>
              <a:cs typeface="+mn-cs"/>
            </a:rPr>
            <a:t>8 (byte)</a:t>
          </a:r>
        </a:p>
      </dgm:t>
    </dgm:pt>
    <dgm:pt modelId="{F79FAE3E-A2B8-A442-AB51-C51D81365ABA}" type="parTrans" cxnId="{44AE5D91-98D7-AE43-A8F9-BB807B8B18D6}">
      <dgm:prSet/>
      <dgm:spPr/>
      <dgm:t>
        <a:bodyPr/>
        <a:lstStyle/>
        <a:p>
          <a:endParaRPr lang="en-US"/>
        </a:p>
      </dgm:t>
    </dgm:pt>
    <dgm:pt modelId="{1BCAA218-57D6-614F-9F0A-18C5EAECC25E}" type="sibTrans" cxnId="{44AE5D91-98D7-AE43-A8F9-BB807B8B18D6}">
      <dgm:prSet/>
      <dgm:spPr/>
      <dgm:t>
        <a:bodyPr/>
        <a:lstStyle/>
        <a:p>
          <a:endParaRPr lang="en-US"/>
        </a:p>
      </dgm:t>
    </dgm:pt>
    <dgm:pt modelId="{B4840F7B-6C5F-5C45-A88A-2B5C21079658}">
      <dgm:prSet/>
      <dgm:spPr>
        <a:xfrm>
          <a:off x="3427323" y="0"/>
          <a:ext cx="2289352" cy="1325118"/>
        </a:xfrm>
        <a:prstGeom prst="rect">
          <a:avLst/>
        </a:prstGeom>
        <a:noFill/>
        <a:ln>
          <a:noFill/>
        </a:ln>
        <a:effectLst/>
        <a:sp3d/>
      </dgm:spPr>
      <dgm:t>
        <a:bodyPr/>
        <a:lstStyle/>
        <a:p>
          <a:pPr rtl="0"/>
          <a:r>
            <a:rPr lang="en-US" dirty="0">
              <a:solidFill>
                <a:sysClr val="windowText" lastClr="000000">
                  <a:hueOff val="0"/>
                  <a:satOff val="0"/>
                  <a:lumOff val="0"/>
                  <a:alphaOff val="0"/>
                </a:sysClr>
              </a:solidFill>
              <a:latin typeface="Rockwell"/>
              <a:ea typeface="+mn-ea"/>
              <a:cs typeface="+mn-cs"/>
            </a:rPr>
            <a:t>16 (halfword)</a:t>
          </a:r>
        </a:p>
      </dgm:t>
    </dgm:pt>
    <dgm:pt modelId="{B2775452-B788-ED42-A83A-F8BE431852E4}" type="parTrans" cxnId="{08C33846-8B2E-EE4C-BA15-5EDAD94659B9}">
      <dgm:prSet/>
      <dgm:spPr/>
      <dgm:t>
        <a:bodyPr/>
        <a:lstStyle/>
        <a:p>
          <a:endParaRPr lang="en-US"/>
        </a:p>
      </dgm:t>
    </dgm:pt>
    <dgm:pt modelId="{4FDD7BA8-853C-214C-98CB-3DA382CDF997}" type="sibTrans" cxnId="{08C33846-8B2E-EE4C-BA15-5EDAD94659B9}">
      <dgm:prSet/>
      <dgm:spPr/>
      <dgm:t>
        <a:bodyPr/>
        <a:lstStyle/>
        <a:p>
          <a:endParaRPr lang="en-US"/>
        </a:p>
      </dgm:t>
    </dgm:pt>
    <dgm:pt modelId="{D0890A53-C12E-7C4B-BBF4-D318819088D8}">
      <dgm:prSet/>
      <dgm:spPr>
        <a:xfrm>
          <a:off x="3427323" y="0"/>
          <a:ext cx="2289352" cy="1325118"/>
        </a:xfrm>
        <a:prstGeom prst="rect">
          <a:avLst/>
        </a:prstGeom>
        <a:noFill/>
        <a:ln>
          <a:noFill/>
        </a:ln>
        <a:effectLst/>
        <a:sp3d/>
      </dgm:spPr>
      <dgm:t>
        <a:bodyPr/>
        <a:lstStyle/>
        <a:p>
          <a:pPr rtl="0"/>
          <a:r>
            <a:rPr lang="en-US" dirty="0">
              <a:solidFill>
                <a:sysClr val="windowText" lastClr="000000">
                  <a:hueOff val="0"/>
                  <a:satOff val="0"/>
                  <a:lumOff val="0"/>
                  <a:alphaOff val="0"/>
                </a:sysClr>
              </a:solidFill>
              <a:latin typeface="Rockwell"/>
              <a:ea typeface="+mn-ea"/>
              <a:cs typeface="+mn-cs"/>
            </a:rPr>
            <a:t>32 (word) bits in length</a:t>
          </a:r>
        </a:p>
      </dgm:t>
    </dgm:pt>
    <dgm:pt modelId="{7DCFC532-232A-5D41-8BE8-4A9AF2B20921}" type="parTrans" cxnId="{90D249C5-582A-6545-8438-94106E2BBFF4}">
      <dgm:prSet/>
      <dgm:spPr/>
      <dgm:t>
        <a:bodyPr/>
        <a:lstStyle/>
        <a:p>
          <a:endParaRPr lang="en-US"/>
        </a:p>
      </dgm:t>
    </dgm:pt>
    <dgm:pt modelId="{5B99937B-8A27-6443-9B8E-E249C2D634A2}" type="sibTrans" cxnId="{90D249C5-582A-6545-8438-94106E2BBFF4}">
      <dgm:prSet/>
      <dgm:spPr/>
      <dgm:t>
        <a:bodyPr/>
        <a:lstStyle/>
        <a:p>
          <a:endParaRPr lang="en-US"/>
        </a:p>
      </dgm:t>
    </dgm:pt>
    <dgm:pt modelId="{8B0F364E-1DE8-6746-81D1-41C4FC27B072}">
      <dgm:prSet/>
      <dgm:spPr>
        <a:xfrm>
          <a:off x="6466636" y="1748027"/>
          <a:ext cx="2052523" cy="1437894"/>
        </a:xfrm>
        <a:prstGeom prst="rect">
          <a:avLst/>
        </a:prstGeom>
        <a:noFill/>
        <a:ln>
          <a:noFill/>
        </a:ln>
        <a:effectLst/>
        <a:sp3d/>
      </dgm:spPr>
      <dgm:t>
        <a:bodyPr/>
        <a:lstStyle/>
        <a:p>
          <a:pPr rtl="0"/>
          <a:r>
            <a:rPr lang="en-US" dirty="0">
              <a:solidFill>
                <a:sysClr val="windowText" lastClr="000000">
                  <a:hueOff val="0"/>
                  <a:satOff val="0"/>
                  <a:lumOff val="0"/>
                  <a:alphaOff val="0"/>
                </a:sysClr>
              </a:solidFill>
              <a:latin typeface="Rockwell"/>
              <a:ea typeface="+mn-ea"/>
              <a:cs typeface="+mn-cs"/>
            </a:rPr>
            <a:t>Alignment checking</a:t>
          </a:r>
        </a:p>
      </dgm:t>
    </dgm:pt>
    <dgm:pt modelId="{012DF0E4-1DAF-C349-A8F7-910326C8CDD9}" type="parTrans" cxnId="{58CF8426-46E8-BE4D-907E-D27B83F474E9}">
      <dgm:prSet/>
      <dgm:spPr/>
      <dgm:t>
        <a:bodyPr/>
        <a:lstStyle/>
        <a:p>
          <a:endParaRPr lang="en-US"/>
        </a:p>
      </dgm:t>
    </dgm:pt>
    <dgm:pt modelId="{C027792D-02B3-FB47-94F8-A60278493391}" type="sibTrans" cxnId="{58CF8426-46E8-BE4D-907E-D27B83F474E9}">
      <dgm:prSet/>
      <dgm:spPr/>
      <dgm:t>
        <a:bodyPr/>
        <a:lstStyle/>
        <a:p>
          <a:endParaRPr lang="en-US"/>
        </a:p>
      </dgm:t>
    </dgm:pt>
    <dgm:pt modelId="{B8353ACB-F042-F747-9DE4-2380A8BEED05}">
      <dgm:prSet/>
      <dgm:spPr>
        <a:xfrm>
          <a:off x="6466636" y="1748027"/>
          <a:ext cx="2052523" cy="1437894"/>
        </a:xfrm>
        <a:prstGeom prst="rect">
          <a:avLst/>
        </a:prstGeom>
        <a:noFill/>
        <a:ln>
          <a:noFill/>
        </a:ln>
        <a:effectLst/>
        <a:sp3d/>
      </dgm:spPr>
      <dgm:t>
        <a:bodyPr/>
        <a:lstStyle/>
        <a:p>
          <a:pPr rtl="0"/>
          <a:r>
            <a:rPr lang="en-US" dirty="0">
              <a:solidFill>
                <a:sysClr val="windowText" lastClr="000000">
                  <a:hueOff val="0"/>
                  <a:satOff val="0"/>
                  <a:lumOff val="0"/>
                  <a:alphaOff val="0"/>
                </a:sysClr>
              </a:solidFill>
              <a:latin typeface="Rockwell"/>
              <a:ea typeface="+mn-ea"/>
              <a:cs typeface="+mn-cs"/>
            </a:rPr>
            <a:t>When the appropriate control bit is set, a data abort signal indicates an alignment fault for attempting unaligned access</a:t>
          </a:r>
        </a:p>
      </dgm:t>
    </dgm:pt>
    <dgm:pt modelId="{215D32DF-ED14-F64A-BE85-D44FE159BC22}" type="parTrans" cxnId="{A380D8BD-5B1B-8049-AE92-D4B787A5AD3A}">
      <dgm:prSet/>
      <dgm:spPr/>
      <dgm:t>
        <a:bodyPr/>
        <a:lstStyle/>
        <a:p>
          <a:endParaRPr lang="en-US"/>
        </a:p>
      </dgm:t>
    </dgm:pt>
    <dgm:pt modelId="{D7BB8FC7-E2FE-CF40-934E-474EEEEEBB22}" type="sibTrans" cxnId="{A380D8BD-5B1B-8049-AE92-D4B787A5AD3A}">
      <dgm:prSet/>
      <dgm:spPr/>
      <dgm:t>
        <a:bodyPr/>
        <a:lstStyle/>
        <a:p>
          <a:endParaRPr lang="en-US"/>
        </a:p>
      </dgm:t>
    </dgm:pt>
    <dgm:pt modelId="{5E653D27-2C05-014C-8F77-7F45AFF56A47}">
      <dgm:prSet/>
      <dgm:spPr>
        <a:xfrm>
          <a:off x="6150864" y="4200906"/>
          <a:ext cx="2052523" cy="1437894"/>
        </a:xfrm>
        <a:prstGeom prst="rect">
          <a:avLst/>
        </a:prstGeom>
        <a:noFill/>
        <a:ln>
          <a:noFill/>
        </a:ln>
        <a:effectLst/>
        <a:sp3d/>
      </dgm:spPr>
      <dgm:t>
        <a:bodyPr/>
        <a:lstStyle/>
        <a:p>
          <a:pPr rtl="0"/>
          <a:r>
            <a:rPr lang="en-US" dirty="0">
              <a:solidFill>
                <a:sysClr val="windowText" lastClr="000000">
                  <a:hueOff val="0"/>
                  <a:satOff val="0"/>
                  <a:lumOff val="0"/>
                  <a:alphaOff val="0"/>
                </a:sysClr>
              </a:solidFill>
              <a:latin typeface="Rockwell"/>
              <a:ea typeface="+mn-ea"/>
              <a:cs typeface="+mn-cs"/>
            </a:rPr>
            <a:t>Unaligned access</a:t>
          </a:r>
        </a:p>
      </dgm:t>
    </dgm:pt>
    <dgm:pt modelId="{8C420D28-26AA-814D-90F1-2449AA20493C}" type="parTrans" cxnId="{FF356777-3A74-9648-8412-0165E2727832}">
      <dgm:prSet/>
      <dgm:spPr/>
      <dgm:t>
        <a:bodyPr/>
        <a:lstStyle/>
        <a:p>
          <a:endParaRPr lang="en-US"/>
        </a:p>
      </dgm:t>
    </dgm:pt>
    <dgm:pt modelId="{CA89D41B-9ECE-674F-B91F-335F1793AE6B}" type="sibTrans" cxnId="{FF356777-3A74-9648-8412-0165E2727832}">
      <dgm:prSet/>
      <dgm:spPr/>
      <dgm:t>
        <a:bodyPr/>
        <a:lstStyle/>
        <a:p>
          <a:endParaRPr lang="en-US"/>
        </a:p>
      </dgm:t>
    </dgm:pt>
    <dgm:pt modelId="{CA3E02FA-5F53-4241-8171-BE92CBEC4835}">
      <dgm:prSet/>
      <dgm:spPr>
        <a:xfrm>
          <a:off x="6150864" y="4200906"/>
          <a:ext cx="2052523" cy="1437894"/>
        </a:xfrm>
        <a:prstGeom prst="rect">
          <a:avLst/>
        </a:prstGeom>
        <a:noFill/>
        <a:ln>
          <a:noFill/>
        </a:ln>
        <a:effectLst/>
        <a:sp3d/>
      </dgm:spPr>
      <dgm:t>
        <a:bodyPr/>
        <a:lstStyle/>
        <a:p>
          <a:pPr rtl="0"/>
          <a:r>
            <a:rPr lang="en-US" dirty="0">
              <a:solidFill>
                <a:sysClr val="windowText" lastClr="000000">
                  <a:hueOff val="0"/>
                  <a:satOff val="0"/>
                  <a:lumOff val="0"/>
                  <a:alphaOff val="0"/>
                </a:sysClr>
              </a:solidFill>
              <a:latin typeface="Rockwell"/>
              <a:ea typeface="+mn-ea"/>
              <a:cs typeface="+mn-cs"/>
            </a:rPr>
            <a:t>When this option is enabled, the processor uses one or more memory accesses to generate the required transfer of adjacent bytes transparently to the programmer</a:t>
          </a:r>
        </a:p>
      </dgm:t>
    </dgm:pt>
    <dgm:pt modelId="{8DB69DE9-8E94-254C-9116-064DFA3C56DF}" type="parTrans" cxnId="{DB404BFC-D416-CA43-BEB1-57E50A1FD266}">
      <dgm:prSet/>
      <dgm:spPr/>
      <dgm:t>
        <a:bodyPr/>
        <a:lstStyle/>
        <a:p>
          <a:endParaRPr lang="en-US"/>
        </a:p>
      </dgm:t>
    </dgm:pt>
    <dgm:pt modelId="{271919A2-235E-F44A-BB57-3BB8D39636B9}" type="sibTrans" cxnId="{DB404BFC-D416-CA43-BEB1-57E50A1FD266}">
      <dgm:prSet/>
      <dgm:spPr/>
      <dgm:t>
        <a:bodyPr/>
        <a:lstStyle/>
        <a:p>
          <a:endParaRPr lang="en-US"/>
        </a:p>
      </dgm:t>
    </dgm:pt>
    <dgm:pt modelId="{D47D0DC6-70ED-1544-BDBB-597F3E1E7848}">
      <dgm:prSet/>
      <dgm:spPr>
        <a:xfrm>
          <a:off x="940612" y="4200906"/>
          <a:ext cx="2052523" cy="1437894"/>
        </a:xfrm>
        <a:prstGeom prst="rect">
          <a:avLst/>
        </a:prstGeom>
        <a:noFill/>
        <a:ln>
          <a:noFill/>
        </a:ln>
        <a:effectLst/>
        <a:sp3d/>
      </dgm:spPr>
      <dgm:t>
        <a:bodyPr/>
        <a:lstStyle/>
        <a:p>
          <a:pPr rtl="0"/>
          <a:r>
            <a:rPr lang="en-US" dirty="0">
              <a:solidFill>
                <a:sysClr val="windowText" lastClr="000000">
                  <a:hueOff val="0"/>
                  <a:satOff val="0"/>
                  <a:lumOff val="0"/>
                  <a:alphaOff val="0"/>
                </a:sysClr>
              </a:solidFill>
              <a:latin typeface="Rockwell"/>
              <a:ea typeface="+mn-ea"/>
              <a:cs typeface="+mn-cs"/>
            </a:rPr>
            <a:t>For all three data types an unsigned interpretation is supported in which the value represents an unsigned, nonnegative integer</a:t>
          </a:r>
        </a:p>
      </dgm:t>
    </dgm:pt>
    <dgm:pt modelId="{B55B029D-331C-4743-87C8-174E7A4E6F49}" type="parTrans" cxnId="{3458CF5D-38CE-6D49-8403-F922A05C092D}">
      <dgm:prSet/>
      <dgm:spPr/>
      <dgm:t>
        <a:bodyPr/>
        <a:lstStyle/>
        <a:p>
          <a:endParaRPr lang="en-US"/>
        </a:p>
      </dgm:t>
    </dgm:pt>
    <dgm:pt modelId="{3D59B8EF-7449-8946-A92B-805B06FDF5CD}" type="sibTrans" cxnId="{3458CF5D-38CE-6D49-8403-F922A05C092D}">
      <dgm:prSet/>
      <dgm:spPr/>
      <dgm:t>
        <a:bodyPr/>
        <a:lstStyle/>
        <a:p>
          <a:endParaRPr lang="en-US"/>
        </a:p>
      </dgm:t>
    </dgm:pt>
    <dgm:pt modelId="{D11323BE-45FA-A549-ADCD-99A0C65771EF}">
      <dgm:prSet/>
      <dgm:spPr>
        <a:xfrm>
          <a:off x="624840" y="1748027"/>
          <a:ext cx="2052523" cy="1437894"/>
        </a:xfrm>
        <a:prstGeom prst="rect">
          <a:avLst/>
        </a:prstGeom>
        <a:noFill/>
        <a:ln>
          <a:noFill/>
        </a:ln>
        <a:effectLst/>
        <a:sp3d/>
      </dgm:spPr>
      <dgm:t>
        <a:bodyPr/>
        <a:lstStyle/>
        <a:p>
          <a:pPr rtl="0"/>
          <a:r>
            <a:rPr lang="en-US" dirty="0">
              <a:solidFill>
                <a:sysClr val="windowText" lastClr="000000">
                  <a:hueOff val="0"/>
                  <a:satOff val="0"/>
                  <a:lumOff val="0"/>
                  <a:alphaOff val="0"/>
                </a:sysClr>
              </a:solidFill>
              <a:latin typeface="Rockwell"/>
              <a:ea typeface="+mn-ea"/>
              <a:cs typeface="+mn-cs"/>
            </a:rPr>
            <a:t>All three data types can also be used for twos complement signed integers</a:t>
          </a:r>
        </a:p>
      </dgm:t>
    </dgm:pt>
    <dgm:pt modelId="{DD636386-F055-AB41-982E-F41E935476DF}" type="parTrans" cxnId="{D6A12655-8945-9B47-A1FF-49B01F445796}">
      <dgm:prSet/>
      <dgm:spPr/>
      <dgm:t>
        <a:bodyPr/>
        <a:lstStyle/>
        <a:p>
          <a:endParaRPr lang="en-US"/>
        </a:p>
      </dgm:t>
    </dgm:pt>
    <dgm:pt modelId="{BCAAC47F-CEAA-0C40-BAFF-8B3DB0625E25}" type="sibTrans" cxnId="{D6A12655-8945-9B47-A1FF-49B01F445796}">
      <dgm:prSet/>
      <dgm:spPr/>
      <dgm:t>
        <a:bodyPr/>
        <a:lstStyle/>
        <a:p>
          <a:endParaRPr lang="en-US"/>
        </a:p>
      </dgm:t>
    </dgm:pt>
    <dgm:pt modelId="{6820F2FB-22E7-314B-9F2A-00C14340D2BA}" type="pres">
      <dgm:prSet presAssocID="{130BB43A-0BE7-7F42-9868-389AB4D62297}" presName="compositeShape" presStyleCnt="0">
        <dgm:presLayoutVars>
          <dgm:chMax val="7"/>
          <dgm:dir/>
          <dgm:resizeHandles val="exact"/>
        </dgm:presLayoutVars>
      </dgm:prSet>
      <dgm:spPr/>
    </dgm:pt>
    <dgm:pt modelId="{17184542-B6FC-0941-A085-C1719FD394DD}" type="pres">
      <dgm:prSet presAssocID="{E1DF073C-C5D4-F64F-A930-AC5091A81E15}" presName="circ1" presStyleLbl="vennNode1" presStyleIdx="0" presStyleCnt="5"/>
      <dgm:spPr>
        <a:xfrm>
          <a:off x="3585210" y="1607057"/>
          <a:ext cx="1973579" cy="1973580"/>
        </a:xfrm>
        <a:prstGeom prst="ellipse">
          <a:avLst/>
        </a:prstGeom>
        <a:solidFill>
          <a:srgbClr val="999966"/>
        </a:solidFill>
        <a:ln>
          <a:noFill/>
        </a:ln>
        <a:effectLst/>
      </dgm:spPr>
    </dgm:pt>
    <dgm:pt modelId="{9AA7EF0F-2B12-2347-882A-D3A39B320B34}" type="pres">
      <dgm:prSet presAssocID="{E1DF073C-C5D4-F64F-A930-AC5091A81E15}" presName="circ1Tx" presStyleLbl="revTx" presStyleIdx="0" presStyleCnt="0">
        <dgm:presLayoutVars>
          <dgm:chMax val="0"/>
          <dgm:chPref val="0"/>
          <dgm:bulletEnabled val="1"/>
        </dgm:presLayoutVars>
      </dgm:prSet>
      <dgm:spPr/>
    </dgm:pt>
    <dgm:pt modelId="{38DACD41-8ED2-6A41-B99B-CE36DF007D30}" type="pres">
      <dgm:prSet presAssocID="{8B0F364E-1DE8-6746-81D1-41C4FC27B072}" presName="circ2" presStyleLbl="vennNode1" presStyleIdx="1" presStyleCnt="5"/>
      <dgm:spPr>
        <a:xfrm>
          <a:off x="4335959" y="2152329"/>
          <a:ext cx="1973579" cy="1973580"/>
        </a:xfrm>
        <a:prstGeom prst="ellipse">
          <a:avLst/>
        </a:prstGeom>
        <a:solidFill>
          <a:srgbClr val="666699"/>
        </a:solidFill>
        <a:ln>
          <a:noFill/>
        </a:ln>
        <a:effectLst/>
      </dgm:spPr>
    </dgm:pt>
    <dgm:pt modelId="{1AD636D3-10BD-E94E-A7E8-84A33DD9177A}" type="pres">
      <dgm:prSet presAssocID="{8B0F364E-1DE8-6746-81D1-41C4FC27B072}" presName="circ2Tx" presStyleLbl="revTx" presStyleIdx="0" presStyleCnt="0">
        <dgm:presLayoutVars>
          <dgm:chMax val="0"/>
          <dgm:chPref val="0"/>
          <dgm:bulletEnabled val="1"/>
        </dgm:presLayoutVars>
      </dgm:prSet>
      <dgm:spPr/>
    </dgm:pt>
    <dgm:pt modelId="{FEBA1883-BC67-4C4B-8A37-4C515D22848A}" type="pres">
      <dgm:prSet presAssocID="{5E653D27-2C05-014C-8F77-7F45AFF56A47}" presName="circ3" presStyleLbl="vennNode1" presStyleIdx="2" presStyleCnt="5"/>
      <dgm:spPr>
        <a:xfrm>
          <a:off x="4049396" y="3035366"/>
          <a:ext cx="1973579" cy="1973580"/>
        </a:xfrm>
        <a:prstGeom prst="ellipse">
          <a:avLst/>
        </a:prstGeom>
        <a:gradFill rotWithShape="0">
          <a:gsLst>
            <a:gs pos="0">
              <a:srgbClr val="663366">
                <a:alpha val="50000"/>
                <a:hueOff val="0"/>
                <a:satOff val="0"/>
                <a:lumOff val="0"/>
                <a:alphaOff val="0"/>
                <a:shade val="40000"/>
                <a:alpha val="100000"/>
                <a:satMod val="150000"/>
                <a:lumMod val="100000"/>
              </a:srgbClr>
            </a:gs>
            <a:gs pos="100000">
              <a:srgbClr val="663366">
                <a:alpha val="50000"/>
                <a:hueOff val="0"/>
                <a:satOff val="0"/>
                <a:lumOff val="0"/>
                <a:alphaOff val="0"/>
                <a:tint val="70000"/>
                <a:shade val="100000"/>
                <a:alpha val="100000"/>
                <a:satMod val="200000"/>
                <a:lumMod val="100000"/>
              </a:srgbClr>
            </a:gs>
          </a:gsLst>
          <a:lin ang="5400000" scaled="1"/>
        </a:gradFill>
        <a:ln>
          <a:noFill/>
        </a:ln>
        <a:effectLst/>
      </dgm:spPr>
    </dgm:pt>
    <dgm:pt modelId="{24C20E20-3FB9-A64B-AC50-6A43E54B84FD}" type="pres">
      <dgm:prSet presAssocID="{5E653D27-2C05-014C-8F77-7F45AFF56A47}" presName="circ3Tx" presStyleLbl="revTx" presStyleIdx="0" presStyleCnt="0">
        <dgm:presLayoutVars>
          <dgm:chMax val="0"/>
          <dgm:chPref val="0"/>
          <dgm:bulletEnabled val="1"/>
        </dgm:presLayoutVars>
      </dgm:prSet>
      <dgm:spPr/>
    </dgm:pt>
    <dgm:pt modelId="{178CF4E2-741A-E842-BE8C-25A55749973B}" type="pres">
      <dgm:prSet presAssocID="{D47D0DC6-70ED-1544-BDBB-597F3E1E7848}" presName="circ4" presStyleLbl="vennNode1" presStyleIdx="3" presStyleCnt="5"/>
      <dgm:spPr>
        <a:xfrm>
          <a:off x="3121023" y="3035366"/>
          <a:ext cx="1973579" cy="1973580"/>
        </a:xfrm>
        <a:prstGeom prst="ellipse">
          <a:avLst/>
        </a:prstGeom>
        <a:solidFill>
          <a:srgbClr val="999966"/>
        </a:solidFill>
        <a:ln>
          <a:noFill/>
        </a:ln>
        <a:effectLst/>
      </dgm:spPr>
    </dgm:pt>
    <dgm:pt modelId="{B0A836E1-B0CC-234C-9BB4-A6D0E050AF2C}" type="pres">
      <dgm:prSet presAssocID="{D47D0DC6-70ED-1544-BDBB-597F3E1E7848}" presName="circ4Tx" presStyleLbl="revTx" presStyleIdx="0" presStyleCnt="0">
        <dgm:presLayoutVars>
          <dgm:chMax val="0"/>
          <dgm:chPref val="0"/>
          <dgm:bulletEnabled val="1"/>
        </dgm:presLayoutVars>
      </dgm:prSet>
      <dgm:spPr/>
    </dgm:pt>
    <dgm:pt modelId="{C4FC9527-BF26-BE42-851A-08E582AEFD93}" type="pres">
      <dgm:prSet presAssocID="{D11323BE-45FA-A549-ADCD-99A0C65771EF}" presName="circ5" presStyleLbl="vennNode1" presStyleIdx="4" presStyleCnt="5"/>
      <dgm:spPr>
        <a:xfrm>
          <a:off x="2834460" y="2152329"/>
          <a:ext cx="1973579" cy="1973580"/>
        </a:xfrm>
        <a:prstGeom prst="ellipse">
          <a:avLst/>
        </a:prstGeom>
        <a:gradFill rotWithShape="0">
          <a:gsLst>
            <a:gs pos="0">
              <a:srgbClr val="663366">
                <a:alpha val="50000"/>
                <a:hueOff val="0"/>
                <a:satOff val="0"/>
                <a:lumOff val="0"/>
                <a:alphaOff val="0"/>
                <a:shade val="40000"/>
                <a:alpha val="100000"/>
                <a:satMod val="150000"/>
                <a:lumMod val="100000"/>
              </a:srgbClr>
            </a:gs>
            <a:gs pos="100000">
              <a:srgbClr val="663366">
                <a:alpha val="50000"/>
                <a:hueOff val="0"/>
                <a:satOff val="0"/>
                <a:lumOff val="0"/>
                <a:alphaOff val="0"/>
                <a:tint val="70000"/>
                <a:shade val="100000"/>
                <a:alpha val="100000"/>
                <a:satMod val="200000"/>
                <a:lumMod val="100000"/>
              </a:srgbClr>
            </a:gs>
          </a:gsLst>
          <a:lin ang="5400000" scaled="1"/>
        </a:gradFill>
        <a:ln>
          <a:noFill/>
        </a:ln>
        <a:effectLst/>
      </dgm:spPr>
    </dgm:pt>
    <dgm:pt modelId="{BDA09D31-9DF2-854D-8BA1-ACD362668A00}" type="pres">
      <dgm:prSet presAssocID="{D11323BE-45FA-A549-ADCD-99A0C65771EF}" presName="circ5Tx" presStyleLbl="revTx" presStyleIdx="0" presStyleCnt="0">
        <dgm:presLayoutVars>
          <dgm:chMax val="0"/>
          <dgm:chPref val="0"/>
          <dgm:bulletEnabled val="1"/>
        </dgm:presLayoutVars>
      </dgm:prSet>
      <dgm:spPr/>
    </dgm:pt>
  </dgm:ptLst>
  <dgm:cxnLst>
    <dgm:cxn modelId="{CEFC6012-1C6C-3442-8DA1-BDE80D8FC343}" type="presOf" srcId="{B8353ACB-F042-F747-9DE4-2380A8BEED05}" destId="{1AD636D3-10BD-E94E-A7E8-84A33DD9177A}" srcOrd="0" destOrd="1" presId="urn:microsoft.com/office/officeart/2005/8/layout/venn1"/>
    <dgm:cxn modelId="{58CF8426-46E8-BE4D-907E-D27B83F474E9}" srcId="{130BB43A-0BE7-7F42-9868-389AB4D62297}" destId="{8B0F364E-1DE8-6746-81D1-41C4FC27B072}" srcOrd="1" destOrd="0" parTransId="{012DF0E4-1DAF-C349-A8F7-910326C8CDD9}" sibTransId="{C027792D-02B3-FB47-94F8-A60278493391}"/>
    <dgm:cxn modelId="{7F762B27-0B30-B44D-97B6-A5C61E68E692}" type="presOf" srcId="{C912F60A-CBA1-0D4B-8B8C-02302D45A1BA}" destId="{9AA7EF0F-2B12-2347-882A-D3A39B320B34}" srcOrd="0" destOrd="1" presId="urn:microsoft.com/office/officeart/2005/8/layout/venn1"/>
    <dgm:cxn modelId="{CD2AEA29-3297-6F47-9B73-B6D90040D7AA}" type="presOf" srcId="{5E653D27-2C05-014C-8F77-7F45AFF56A47}" destId="{24C20E20-3FB9-A64B-AC50-6A43E54B84FD}" srcOrd="0" destOrd="0" presId="urn:microsoft.com/office/officeart/2005/8/layout/venn1"/>
    <dgm:cxn modelId="{3458CF5D-38CE-6D49-8403-F922A05C092D}" srcId="{130BB43A-0BE7-7F42-9868-389AB4D62297}" destId="{D47D0DC6-70ED-1544-BDBB-597F3E1E7848}" srcOrd="3" destOrd="0" parTransId="{B55B029D-331C-4743-87C8-174E7A4E6F49}" sibTransId="{3D59B8EF-7449-8946-A92B-805B06FDF5CD}"/>
    <dgm:cxn modelId="{08C33846-8B2E-EE4C-BA15-5EDAD94659B9}" srcId="{E1DF073C-C5D4-F64F-A930-AC5091A81E15}" destId="{B4840F7B-6C5F-5C45-A88A-2B5C21079658}" srcOrd="1" destOrd="0" parTransId="{B2775452-B788-ED42-A83A-F8BE431852E4}" sibTransId="{4FDD7BA8-853C-214C-98CB-3DA382CDF997}"/>
    <dgm:cxn modelId="{4333EB67-4EB9-4C44-B84D-0EE18B2C283A}" type="presOf" srcId="{D47D0DC6-70ED-1544-BDBB-597F3E1E7848}" destId="{B0A836E1-B0CC-234C-9BB4-A6D0E050AF2C}" srcOrd="0" destOrd="0" presId="urn:microsoft.com/office/officeart/2005/8/layout/venn1"/>
    <dgm:cxn modelId="{D16F556A-68C7-8E45-BFF2-6CFF0B1DC1FA}" type="presOf" srcId="{130BB43A-0BE7-7F42-9868-389AB4D62297}" destId="{6820F2FB-22E7-314B-9F2A-00C14340D2BA}" srcOrd="0" destOrd="0" presId="urn:microsoft.com/office/officeart/2005/8/layout/venn1"/>
    <dgm:cxn modelId="{C5B2E852-4A58-6D44-A925-36E6E44E176A}" type="presOf" srcId="{D0890A53-C12E-7C4B-BBF4-D318819088D8}" destId="{9AA7EF0F-2B12-2347-882A-D3A39B320B34}" srcOrd="0" destOrd="3" presId="urn:microsoft.com/office/officeart/2005/8/layout/venn1"/>
    <dgm:cxn modelId="{D6A12655-8945-9B47-A1FF-49B01F445796}" srcId="{130BB43A-0BE7-7F42-9868-389AB4D62297}" destId="{D11323BE-45FA-A549-ADCD-99A0C65771EF}" srcOrd="4" destOrd="0" parTransId="{DD636386-F055-AB41-982E-F41E935476DF}" sibTransId="{BCAAC47F-CEAA-0C40-BAFF-8B3DB0625E25}"/>
    <dgm:cxn modelId="{FF356777-3A74-9648-8412-0165E2727832}" srcId="{130BB43A-0BE7-7F42-9868-389AB4D62297}" destId="{5E653D27-2C05-014C-8F77-7F45AFF56A47}" srcOrd="2" destOrd="0" parTransId="{8C420D28-26AA-814D-90F1-2449AA20493C}" sibTransId="{CA89D41B-9ECE-674F-B91F-335F1793AE6B}"/>
    <dgm:cxn modelId="{806FC08B-518B-AA43-BBD8-0EDBB3D507E3}" type="presOf" srcId="{E1DF073C-C5D4-F64F-A930-AC5091A81E15}" destId="{9AA7EF0F-2B12-2347-882A-D3A39B320B34}" srcOrd="0" destOrd="0" presId="urn:microsoft.com/office/officeart/2005/8/layout/venn1"/>
    <dgm:cxn modelId="{DDDCA48C-536E-0A4F-AAC4-33A4BA427EA1}" type="presOf" srcId="{8B0F364E-1DE8-6746-81D1-41C4FC27B072}" destId="{1AD636D3-10BD-E94E-A7E8-84A33DD9177A}" srcOrd="0" destOrd="0" presId="urn:microsoft.com/office/officeart/2005/8/layout/venn1"/>
    <dgm:cxn modelId="{44AE5D91-98D7-AE43-A8F9-BB807B8B18D6}" srcId="{E1DF073C-C5D4-F64F-A930-AC5091A81E15}" destId="{C912F60A-CBA1-0D4B-8B8C-02302D45A1BA}" srcOrd="0" destOrd="0" parTransId="{F79FAE3E-A2B8-A442-AB51-C51D81365ABA}" sibTransId="{1BCAA218-57D6-614F-9F0A-18C5EAECC25E}"/>
    <dgm:cxn modelId="{EC5B13A3-028F-114E-8049-DD58F76A1620}" srcId="{130BB43A-0BE7-7F42-9868-389AB4D62297}" destId="{E1DF073C-C5D4-F64F-A930-AC5091A81E15}" srcOrd="0" destOrd="0" parTransId="{DDFB3043-4B42-F14D-9951-4739A35ED9F3}" sibTransId="{DA8D1E2F-2601-4042-A1A4-7C6F349DC51D}"/>
    <dgm:cxn modelId="{A8A278B0-7EDC-5540-A418-0E5A561668E3}" type="presOf" srcId="{D11323BE-45FA-A549-ADCD-99A0C65771EF}" destId="{BDA09D31-9DF2-854D-8BA1-ACD362668A00}" srcOrd="0" destOrd="0" presId="urn:microsoft.com/office/officeart/2005/8/layout/venn1"/>
    <dgm:cxn modelId="{A380D8BD-5B1B-8049-AE92-D4B787A5AD3A}" srcId="{8B0F364E-1DE8-6746-81D1-41C4FC27B072}" destId="{B8353ACB-F042-F747-9DE4-2380A8BEED05}" srcOrd="0" destOrd="0" parTransId="{215D32DF-ED14-F64A-BE85-D44FE159BC22}" sibTransId="{D7BB8FC7-E2FE-CF40-934E-474EEEEEBB22}"/>
    <dgm:cxn modelId="{90D249C5-582A-6545-8438-94106E2BBFF4}" srcId="{E1DF073C-C5D4-F64F-A930-AC5091A81E15}" destId="{D0890A53-C12E-7C4B-BBF4-D318819088D8}" srcOrd="2" destOrd="0" parTransId="{7DCFC532-232A-5D41-8BE8-4A9AF2B20921}" sibTransId="{5B99937B-8A27-6443-9B8E-E249C2D634A2}"/>
    <dgm:cxn modelId="{BB968DC8-E51B-DC4B-9496-0274C04170AF}" type="presOf" srcId="{B4840F7B-6C5F-5C45-A88A-2B5C21079658}" destId="{9AA7EF0F-2B12-2347-882A-D3A39B320B34}" srcOrd="0" destOrd="2" presId="urn:microsoft.com/office/officeart/2005/8/layout/venn1"/>
    <dgm:cxn modelId="{47F1EEF3-499E-ED4B-9D59-896A8D34B6ED}" type="presOf" srcId="{CA3E02FA-5F53-4241-8171-BE92CBEC4835}" destId="{24C20E20-3FB9-A64B-AC50-6A43E54B84FD}" srcOrd="0" destOrd="1" presId="urn:microsoft.com/office/officeart/2005/8/layout/venn1"/>
    <dgm:cxn modelId="{DB404BFC-D416-CA43-BEB1-57E50A1FD266}" srcId="{5E653D27-2C05-014C-8F77-7F45AFF56A47}" destId="{CA3E02FA-5F53-4241-8171-BE92CBEC4835}" srcOrd="0" destOrd="0" parTransId="{8DB69DE9-8E94-254C-9116-064DFA3C56DF}" sibTransId="{271919A2-235E-F44A-BB57-3BB8D39636B9}"/>
    <dgm:cxn modelId="{735866A5-39F4-EB47-8875-DAC57BDBCC29}" type="presParOf" srcId="{6820F2FB-22E7-314B-9F2A-00C14340D2BA}" destId="{17184542-B6FC-0941-A085-C1719FD394DD}" srcOrd="0" destOrd="0" presId="urn:microsoft.com/office/officeart/2005/8/layout/venn1"/>
    <dgm:cxn modelId="{69589527-2351-9946-A31A-E72A28F67B68}" type="presParOf" srcId="{6820F2FB-22E7-314B-9F2A-00C14340D2BA}" destId="{9AA7EF0F-2B12-2347-882A-D3A39B320B34}" srcOrd="1" destOrd="0" presId="urn:microsoft.com/office/officeart/2005/8/layout/venn1"/>
    <dgm:cxn modelId="{4F6A575D-0856-8A42-8DAE-7171EDF00D07}" type="presParOf" srcId="{6820F2FB-22E7-314B-9F2A-00C14340D2BA}" destId="{38DACD41-8ED2-6A41-B99B-CE36DF007D30}" srcOrd="2" destOrd="0" presId="urn:microsoft.com/office/officeart/2005/8/layout/venn1"/>
    <dgm:cxn modelId="{58C845B5-AB69-BC4E-A34B-85D1A4899108}" type="presParOf" srcId="{6820F2FB-22E7-314B-9F2A-00C14340D2BA}" destId="{1AD636D3-10BD-E94E-A7E8-84A33DD9177A}" srcOrd="3" destOrd="0" presId="urn:microsoft.com/office/officeart/2005/8/layout/venn1"/>
    <dgm:cxn modelId="{35129FD5-D973-8948-877F-B2F1ADB1F1D0}" type="presParOf" srcId="{6820F2FB-22E7-314B-9F2A-00C14340D2BA}" destId="{FEBA1883-BC67-4C4B-8A37-4C515D22848A}" srcOrd="4" destOrd="0" presId="urn:microsoft.com/office/officeart/2005/8/layout/venn1"/>
    <dgm:cxn modelId="{0AD214D2-203B-104D-94C3-644B54456E27}" type="presParOf" srcId="{6820F2FB-22E7-314B-9F2A-00C14340D2BA}" destId="{24C20E20-3FB9-A64B-AC50-6A43E54B84FD}" srcOrd="5" destOrd="0" presId="urn:microsoft.com/office/officeart/2005/8/layout/venn1"/>
    <dgm:cxn modelId="{F5635007-4D33-1B4A-90B1-6B8D29D6A13D}" type="presParOf" srcId="{6820F2FB-22E7-314B-9F2A-00C14340D2BA}" destId="{178CF4E2-741A-E842-BE8C-25A55749973B}" srcOrd="6" destOrd="0" presId="urn:microsoft.com/office/officeart/2005/8/layout/venn1"/>
    <dgm:cxn modelId="{0B79D8E2-D5DF-754B-BBF1-792078927EDA}" type="presParOf" srcId="{6820F2FB-22E7-314B-9F2A-00C14340D2BA}" destId="{B0A836E1-B0CC-234C-9BB4-A6D0E050AF2C}" srcOrd="7" destOrd="0" presId="urn:microsoft.com/office/officeart/2005/8/layout/venn1"/>
    <dgm:cxn modelId="{79140074-A3C6-0C4B-9FB0-62CA4A399C8B}" type="presParOf" srcId="{6820F2FB-22E7-314B-9F2A-00C14340D2BA}" destId="{C4FC9527-BF26-BE42-851A-08E582AEFD93}" srcOrd="8" destOrd="0" presId="urn:microsoft.com/office/officeart/2005/8/layout/venn1"/>
    <dgm:cxn modelId="{C9E3973E-BD5A-2245-91AF-C6CD5539E360}" type="presParOf" srcId="{6820F2FB-22E7-314B-9F2A-00C14340D2BA}" destId="{BDA09D31-9DF2-854D-8BA1-ACD362668A00}" srcOrd="9"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6C98E22B-8C5C-BF47-B93D-173F40508125}" type="doc">
      <dgm:prSet loTypeId="urn:microsoft.com/office/officeart/2005/8/layout/default#5" loCatId="list" qsTypeId="urn:microsoft.com/office/officeart/2005/8/quickstyle/simple4" qsCatId="simple" csTypeId="urn:microsoft.com/office/officeart/2005/8/colors/accent1_2" csCatId="accent1" phldr="1"/>
      <dgm:spPr/>
      <dgm:t>
        <a:bodyPr/>
        <a:lstStyle/>
        <a:p>
          <a:endParaRPr lang="en-US"/>
        </a:p>
      </dgm:t>
    </dgm:pt>
    <dgm:pt modelId="{3FD21996-934F-234F-8B24-ACDE4E9CCE38}">
      <dgm:prSet/>
      <dgm:spPr>
        <a:xfrm>
          <a:off x="0" y="23812"/>
          <a:ext cx="2643187" cy="1585912"/>
        </a:xfrm>
        <a:prstGeom prst="rect">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Load and store instructions</a:t>
          </a:r>
        </a:p>
      </dgm:t>
    </dgm:pt>
    <dgm:pt modelId="{3DFF8AED-4928-A941-B7E2-8A43830292CC}" type="parTrans" cxnId="{B005338F-8ACA-344E-96A9-BAD0B54BBFFD}">
      <dgm:prSet/>
      <dgm:spPr/>
      <dgm:t>
        <a:bodyPr/>
        <a:lstStyle/>
        <a:p>
          <a:endParaRPr lang="en-US"/>
        </a:p>
      </dgm:t>
    </dgm:pt>
    <dgm:pt modelId="{5FDEF50F-AAD7-FA49-BFBC-CCE022AE8E37}" type="sibTrans" cxnId="{B005338F-8ACA-344E-96A9-BAD0B54BBFFD}">
      <dgm:prSet/>
      <dgm:spPr/>
      <dgm:t>
        <a:bodyPr/>
        <a:lstStyle/>
        <a:p>
          <a:endParaRPr lang="en-US"/>
        </a:p>
      </dgm:t>
    </dgm:pt>
    <dgm:pt modelId="{AB07078A-39A5-3F48-A1B8-9DD87FD93B98}">
      <dgm:prSet/>
      <dgm:spPr>
        <a:xfrm>
          <a:off x="2907506" y="23812"/>
          <a:ext cx="2643187" cy="1585912"/>
        </a:xfrm>
        <a:prstGeom prst="rect">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Branch instructions</a:t>
          </a:r>
        </a:p>
      </dgm:t>
    </dgm:pt>
    <dgm:pt modelId="{09C37F6B-9785-D742-AFC1-221F6F991B36}" type="parTrans" cxnId="{CED7979C-846F-C542-8D8F-CF7BBECFBD33}">
      <dgm:prSet/>
      <dgm:spPr/>
      <dgm:t>
        <a:bodyPr/>
        <a:lstStyle/>
        <a:p>
          <a:endParaRPr lang="en-US"/>
        </a:p>
      </dgm:t>
    </dgm:pt>
    <dgm:pt modelId="{007713A7-35C9-3743-A6B7-0ADB66EF325F}" type="sibTrans" cxnId="{CED7979C-846F-C542-8D8F-CF7BBECFBD33}">
      <dgm:prSet/>
      <dgm:spPr/>
      <dgm:t>
        <a:bodyPr/>
        <a:lstStyle/>
        <a:p>
          <a:endParaRPr lang="en-US"/>
        </a:p>
      </dgm:t>
    </dgm:pt>
    <dgm:pt modelId="{2DCE388D-BFA6-6042-8386-F405A5CC9839}">
      <dgm:prSet/>
      <dgm:spPr>
        <a:xfrm>
          <a:off x="5815012" y="23812"/>
          <a:ext cx="2643187" cy="1585912"/>
        </a:xfrm>
        <a:prstGeom prst="rect">
          <a:avLst/>
        </a:prstGeom>
        <a:solidFill>
          <a:srgbClr val="999966"/>
        </a:solidFill>
        <a:ln>
          <a:solidFill>
            <a:srgbClr val="999966"/>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Data-processing instructions</a:t>
          </a:r>
        </a:p>
      </dgm:t>
    </dgm:pt>
    <dgm:pt modelId="{91ECCCA9-2021-AF4A-AC15-A8333DCEE600}" type="parTrans" cxnId="{0B9D22B4-CB9C-0B46-AD99-B513FC6EA3BB}">
      <dgm:prSet/>
      <dgm:spPr/>
      <dgm:t>
        <a:bodyPr/>
        <a:lstStyle/>
        <a:p>
          <a:endParaRPr lang="en-US"/>
        </a:p>
      </dgm:t>
    </dgm:pt>
    <dgm:pt modelId="{9683EFFB-030C-4844-9FD9-0FF84ED1D77D}" type="sibTrans" cxnId="{0B9D22B4-CB9C-0B46-AD99-B513FC6EA3BB}">
      <dgm:prSet/>
      <dgm:spPr/>
      <dgm:t>
        <a:bodyPr/>
        <a:lstStyle/>
        <a:p>
          <a:endParaRPr lang="en-US"/>
        </a:p>
      </dgm:t>
    </dgm:pt>
    <dgm:pt modelId="{94D972F8-4D3B-DA48-8FC8-B814C6276E67}">
      <dgm:prSet/>
      <dgm:spPr>
        <a:xfrm>
          <a:off x="0" y="1874043"/>
          <a:ext cx="2643187" cy="1585912"/>
        </a:xfrm>
        <a:prstGeom prst="rect">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Multiply instructions</a:t>
          </a:r>
        </a:p>
      </dgm:t>
    </dgm:pt>
    <dgm:pt modelId="{F16AFD63-590A-4349-877F-7E2FEBDB0EEF}" type="parTrans" cxnId="{1F6DE0C6-A449-B241-9CA7-5C24EA658752}">
      <dgm:prSet/>
      <dgm:spPr/>
      <dgm:t>
        <a:bodyPr/>
        <a:lstStyle/>
        <a:p>
          <a:endParaRPr lang="en-US"/>
        </a:p>
      </dgm:t>
    </dgm:pt>
    <dgm:pt modelId="{95D1F145-12C8-8846-B965-04CFC5384E78}" type="sibTrans" cxnId="{1F6DE0C6-A449-B241-9CA7-5C24EA658752}">
      <dgm:prSet/>
      <dgm:spPr/>
      <dgm:t>
        <a:bodyPr/>
        <a:lstStyle/>
        <a:p>
          <a:endParaRPr lang="en-US"/>
        </a:p>
      </dgm:t>
    </dgm:pt>
    <dgm:pt modelId="{FC419E36-ECE0-FF40-9411-4225A022DD2D}">
      <dgm:prSet/>
      <dgm:spPr>
        <a:xfrm>
          <a:off x="2907506" y="1874043"/>
          <a:ext cx="2643187" cy="1585912"/>
        </a:xfrm>
        <a:prstGeom prst="rect">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Parallel addition and subtraction instructions</a:t>
          </a:r>
        </a:p>
      </dgm:t>
    </dgm:pt>
    <dgm:pt modelId="{574B965A-97A1-F548-B4DF-88F50327AC49}" type="parTrans" cxnId="{CC1F648D-20F5-FE47-90F3-8F2553CAE25D}">
      <dgm:prSet/>
      <dgm:spPr/>
      <dgm:t>
        <a:bodyPr/>
        <a:lstStyle/>
        <a:p>
          <a:endParaRPr lang="en-US"/>
        </a:p>
      </dgm:t>
    </dgm:pt>
    <dgm:pt modelId="{6A5C9754-6390-8246-969C-0A00D307F588}" type="sibTrans" cxnId="{CC1F648D-20F5-FE47-90F3-8F2553CAE25D}">
      <dgm:prSet/>
      <dgm:spPr/>
      <dgm:t>
        <a:bodyPr/>
        <a:lstStyle/>
        <a:p>
          <a:endParaRPr lang="en-US"/>
        </a:p>
      </dgm:t>
    </dgm:pt>
    <dgm:pt modelId="{651666D3-C36E-DB47-A30F-607172D5B28D}">
      <dgm:prSet/>
      <dgm:spPr>
        <a:xfrm>
          <a:off x="5815012" y="1874043"/>
          <a:ext cx="2643187" cy="1585912"/>
        </a:xfrm>
        <a:prstGeom prst="rect">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solidFill>
            <a:srgbClr val="330F42"/>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Extend instructions</a:t>
          </a:r>
        </a:p>
      </dgm:t>
    </dgm:pt>
    <dgm:pt modelId="{95728C32-8581-B347-81A0-FC204AD0B33F}" type="parTrans" cxnId="{EAE6400E-9684-484A-8D0F-BFFF54C2C44C}">
      <dgm:prSet/>
      <dgm:spPr/>
      <dgm:t>
        <a:bodyPr/>
        <a:lstStyle/>
        <a:p>
          <a:endParaRPr lang="en-US"/>
        </a:p>
      </dgm:t>
    </dgm:pt>
    <dgm:pt modelId="{ECC7C265-1662-1E4F-AE2A-AA4C1A6F6850}" type="sibTrans" cxnId="{EAE6400E-9684-484A-8D0F-BFFF54C2C44C}">
      <dgm:prSet/>
      <dgm:spPr/>
      <dgm:t>
        <a:bodyPr/>
        <a:lstStyle/>
        <a:p>
          <a:endParaRPr lang="en-US"/>
        </a:p>
      </dgm:t>
    </dgm:pt>
    <dgm:pt modelId="{06A987C7-5A68-2849-8195-22B69A3573F0}">
      <dgm:prSet/>
      <dgm:spPr>
        <a:xfrm>
          <a:off x="2972370" y="3748087"/>
          <a:ext cx="2643187" cy="1585912"/>
        </a:xfrm>
        <a:prstGeom prst="rect">
          <a:avLst/>
        </a:prstGeom>
        <a:solidFill>
          <a:srgbClr val="999966"/>
        </a:solidFill>
        <a:ln>
          <a:solidFill>
            <a:srgbClr val="999966"/>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Status register access instructions</a:t>
          </a:r>
        </a:p>
      </dgm:t>
    </dgm:pt>
    <dgm:pt modelId="{B082CDBB-5E39-1544-B54B-8BA4FEB3E347}" type="parTrans" cxnId="{D5824E22-C792-DF4A-A25C-61E91FA46CB2}">
      <dgm:prSet/>
      <dgm:spPr/>
      <dgm:t>
        <a:bodyPr/>
        <a:lstStyle/>
        <a:p>
          <a:endParaRPr lang="en-US"/>
        </a:p>
      </dgm:t>
    </dgm:pt>
    <dgm:pt modelId="{196DA19F-57D8-4F40-A91A-12CDF062E80D}" type="sibTrans" cxnId="{D5824E22-C792-DF4A-A25C-61E91FA46CB2}">
      <dgm:prSet/>
      <dgm:spPr/>
      <dgm:t>
        <a:bodyPr/>
        <a:lstStyle/>
        <a:p>
          <a:endParaRPr lang="en-US"/>
        </a:p>
      </dgm:t>
    </dgm:pt>
    <dgm:pt modelId="{960261B5-535B-4449-A44E-443B22AA9FD2}" type="pres">
      <dgm:prSet presAssocID="{6C98E22B-8C5C-BF47-B93D-173F40508125}" presName="diagram" presStyleCnt="0">
        <dgm:presLayoutVars>
          <dgm:dir/>
          <dgm:resizeHandles val="exact"/>
        </dgm:presLayoutVars>
      </dgm:prSet>
      <dgm:spPr/>
    </dgm:pt>
    <dgm:pt modelId="{1A2D8596-A6FE-424F-BEA7-4FABD6880221}" type="pres">
      <dgm:prSet presAssocID="{3FD21996-934F-234F-8B24-ACDE4E9CCE38}" presName="node" presStyleLbl="node1" presStyleIdx="0" presStyleCnt="7">
        <dgm:presLayoutVars>
          <dgm:bulletEnabled val="1"/>
        </dgm:presLayoutVars>
      </dgm:prSet>
      <dgm:spPr/>
    </dgm:pt>
    <dgm:pt modelId="{60A4DABA-06C5-594C-B620-18F8008B5302}" type="pres">
      <dgm:prSet presAssocID="{5FDEF50F-AAD7-FA49-BFBC-CCE022AE8E37}" presName="sibTrans" presStyleCnt="0"/>
      <dgm:spPr/>
    </dgm:pt>
    <dgm:pt modelId="{CCA398C2-1718-184C-A4D9-50AF525977D0}" type="pres">
      <dgm:prSet presAssocID="{AB07078A-39A5-3F48-A1B8-9DD87FD93B98}" presName="node" presStyleLbl="node1" presStyleIdx="1" presStyleCnt="7">
        <dgm:presLayoutVars>
          <dgm:bulletEnabled val="1"/>
        </dgm:presLayoutVars>
      </dgm:prSet>
      <dgm:spPr/>
    </dgm:pt>
    <dgm:pt modelId="{085D5FB2-AE88-BC4C-9B71-AA077D6BED33}" type="pres">
      <dgm:prSet presAssocID="{007713A7-35C9-3743-A6B7-0ADB66EF325F}" presName="sibTrans" presStyleCnt="0"/>
      <dgm:spPr/>
    </dgm:pt>
    <dgm:pt modelId="{64A8D5CD-3A52-B548-B685-481505185C5C}" type="pres">
      <dgm:prSet presAssocID="{2DCE388D-BFA6-6042-8386-F405A5CC9839}" presName="node" presStyleLbl="node1" presStyleIdx="2" presStyleCnt="7">
        <dgm:presLayoutVars>
          <dgm:bulletEnabled val="1"/>
        </dgm:presLayoutVars>
      </dgm:prSet>
      <dgm:spPr/>
    </dgm:pt>
    <dgm:pt modelId="{C4067D94-D5BF-3345-AF5A-FEA97992B2B6}" type="pres">
      <dgm:prSet presAssocID="{9683EFFB-030C-4844-9FD9-0FF84ED1D77D}" presName="sibTrans" presStyleCnt="0"/>
      <dgm:spPr/>
    </dgm:pt>
    <dgm:pt modelId="{03F6787E-A3EA-ED45-9F3F-75B9DDD7AA05}" type="pres">
      <dgm:prSet presAssocID="{94D972F8-4D3B-DA48-8FC8-B814C6276E67}" presName="node" presStyleLbl="node1" presStyleIdx="3" presStyleCnt="7">
        <dgm:presLayoutVars>
          <dgm:bulletEnabled val="1"/>
        </dgm:presLayoutVars>
      </dgm:prSet>
      <dgm:spPr/>
    </dgm:pt>
    <dgm:pt modelId="{E45162AA-4EE1-3C49-87EB-AF3CE217B68F}" type="pres">
      <dgm:prSet presAssocID="{95D1F145-12C8-8846-B965-04CFC5384E78}" presName="sibTrans" presStyleCnt="0"/>
      <dgm:spPr/>
    </dgm:pt>
    <dgm:pt modelId="{4AB18F4A-D2FC-3144-A837-0636156DD7D2}" type="pres">
      <dgm:prSet presAssocID="{FC419E36-ECE0-FF40-9411-4225A022DD2D}" presName="node" presStyleLbl="node1" presStyleIdx="4" presStyleCnt="7">
        <dgm:presLayoutVars>
          <dgm:bulletEnabled val="1"/>
        </dgm:presLayoutVars>
      </dgm:prSet>
      <dgm:spPr/>
    </dgm:pt>
    <dgm:pt modelId="{67E5E579-6150-DB47-B634-A052BEBA881B}" type="pres">
      <dgm:prSet presAssocID="{6A5C9754-6390-8246-969C-0A00D307F588}" presName="sibTrans" presStyleCnt="0"/>
      <dgm:spPr/>
    </dgm:pt>
    <dgm:pt modelId="{D25A60C3-6ADF-7A4B-933D-007770C77D18}" type="pres">
      <dgm:prSet presAssocID="{651666D3-C36E-DB47-A30F-607172D5B28D}" presName="node" presStyleLbl="node1" presStyleIdx="5" presStyleCnt="7">
        <dgm:presLayoutVars>
          <dgm:bulletEnabled val="1"/>
        </dgm:presLayoutVars>
      </dgm:prSet>
      <dgm:spPr/>
    </dgm:pt>
    <dgm:pt modelId="{86C845F7-2EBE-3540-97AA-E78084F7CFA3}" type="pres">
      <dgm:prSet presAssocID="{ECC7C265-1662-1E4F-AE2A-AA4C1A6F6850}" presName="sibTrans" presStyleCnt="0"/>
      <dgm:spPr/>
    </dgm:pt>
    <dgm:pt modelId="{FE8FE05C-CAD8-8749-AE97-99459466D0E8}" type="pres">
      <dgm:prSet presAssocID="{06A987C7-5A68-2849-8195-22B69A3573F0}" presName="node" presStyleLbl="node1" presStyleIdx="6" presStyleCnt="7" custLinFactNeighborX="2454" custLinFactNeighborY="1647">
        <dgm:presLayoutVars>
          <dgm:bulletEnabled val="1"/>
        </dgm:presLayoutVars>
      </dgm:prSet>
      <dgm:spPr/>
    </dgm:pt>
  </dgm:ptLst>
  <dgm:cxnLst>
    <dgm:cxn modelId="{EAE6400E-9684-484A-8D0F-BFFF54C2C44C}" srcId="{6C98E22B-8C5C-BF47-B93D-173F40508125}" destId="{651666D3-C36E-DB47-A30F-607172D5B28D}" srcOrd="5" destOrd="0" parTransId="{95728C32-8581-B347-81A0-FC204AD0B33F}" sibTransId="{ECC7C265-1662-1E4F-AE2A-AA4C1A6F6850}"/>
    <dgm:cxn modelId="{D5824E22-C792-DF4A-A25C-61E91FA46CB2}" srcId="{6C98E22B-8C5C-BF47-B93D-173F40508125}" destId="{06A987C7-5A68-2849-8195-22B69A3573F0}" srcOrd="6" destOrd="0" parTransId="{B082CDBB-5E39-1544-B54B-8BA4FEB3E347}" sibTransId="{196DA19F-57D8-4F40-A91A-12CDF062E80D}"/>
    <dgm:cxn modelId="{3A323B5E-701B-444F-8AF0-906569945880}" type="presOf" srcId="{2DCE388D-BFA6-6042-8386-F405A5CC9839}" destId="{64A8D5CD-3A52-B548-B685-481505185C5C}" srcOrd="0" destOrd="0" presId="urn:microsoft.com/office/officeart/2005/8/layout/default#5"/>
    <dgm:cxn modelId="{448B1647-A5A4-F64E-8F45-55F9C106B890}" type="presOf" srcId="{651666D3-C36E-DB47-A30F-607172D5B28D}" destId="{D25A60C3-6ADF-7A4B-933D-007770C77D18}" srcOrd="0" destOrd="0" presId="urn:microsoft.com/office/officeart/2005/8/layout/default#5"/>
    <dgm:cxn modelId="{5F4E6B6F-6E76-1348-98C6-4A2EA786C5C1}" type="presOf" srcId="{94D972F8-4D3B-DA48-8FC8-B814C6276E67}" destId="{03F6787E-A3EA-ED45-9F3F-75B9DDD7AA05}" srcOrd="0" destOrd="0" presId="urn:microsoft.com/office/officeart/2005/8/layout/default#5"/>
    <dgm:cxn modelId="{CC1F648D-20F5-FE47-90F3-8F2553CAE25D}" srcId="{6C98E22B-8C5C-BF47-B93D-173F40508125}" destId="{FC419E36-ECE0-FF40-9411-4225A022DD2D}" srcOrd="4" destOrd="0" parTransId="{574B965A-97A1-F548-B4DF-88F50327AC49}" sibTransId="{6A5C9754-6390-8246-969C-0A00D307F588}"/>
    <dgm:cxn modelId="{B005338F-8ACA-344E-96A9-BAD0B54BBFFD}" srcId="{6C98E22B-8C5C-BF47-B93D-173F40508125}" destId="{3FD21996-934F-234F-8B24-ACDE4E9CCE38}" srcOrd="0" destOrd="0" parTransId="{3DFF8AED-4928-A941-B7E2-8A43830292CC}" sibTransId="{5FDEF50F-AAD7-FA49-BFBC-CCE022AE8E37}"/>
    <dgm:cxn modelId="{CED7979C-846F-C542-8D8F-CF7BBECFBD33}" srcId="{6C98E22B-8C5C-BF47-B93D-173F40508125}" destId="{AB07078A-39A5-3F48-A1B8-9DD87FD93B98}" srcOrd="1" destOrd="0" parTransId="{09C37F6B-9785-D742-AFC1-221F6F991B36}" sibTransId="{007713A7-35C9-3743-A6B7-0ADB66EF325F}"/>
    <dgm:cxn modelId="{6A5206AC-0555-F745-9BF1-7A0189A12841}" type="presOf" srcId="{FC419E36-ECE0-FF40-9411-4225A022DD2D}" destId="{4AB18F4A-D2FC-3144-A837-0636156DD7D2}" srcOrd="0" destOrd="0" presId="urn:microsoft.com/office/officeart/2005/8/layout/default#5"/>
    <dgm:cxn modelId="{0B9D22B4-CB9C-0B46-AD99-B513FC6EA3BB}" srcId="{6C98E22B-8C5C-BF47-B93D-173F40508125}" destId="{2DCE388D-BFA6-6042-8386-F405A5CC9839}" srcOrd="2" destOrd="0" parTransId="{91ECCCA9-2021-AF4A-AC15-A8333DCEE600}" sibTransId="{9683EFFB-030C-4844-9FD9-0FF84ED1D77D}"/>
    <dgm:cxn modelId="{1F6DE0C6-A449-B241-9CA7-5C24EA658752}" srcId="{6C98E22B-8C5C-BF47-B93D-173F40508125}" destId="{94D972F8-4D3B-DA48-8FC8-B814C6276E67}" srcOrd="3" destOrd="0" parTransId="{F16AFD63-590A-4349-877F-7E2FEBDB0EEF}" sibTransId="{95D1F145-12C8-8846-B965-04CFC5384E78}"/>
    <dgm:cxn modelId="{CCA124C9-B16A-0C45-9216-F0987207DACC}" type="presOf" srcId="{06A987C7-5A68-2849-8195-22B69A3573F0}" destId="{FE8FE05C-CAD8-8749-AE97-99459466D0E8}" srcOrd="0" destOrd="0" presId="urn:microsoft.com/office/officeart/2005/8/layout/default#5"/>
    <dgm:cxn modelId="{C64D9EE3-318A-B24C-BC40-ACCC6CD657A5}" type="presOf" srcId="{6C98E22B-8C5C-BF47-B93D-173F40508125}" destId="{960261B5-535B-4449-A44E-443B22AA9FD2}" srcOrd="0" destOrd="0" presId="urn:microsoft.com/office/officeart/2005/8/layout/default#5"/>
    <dgm:cxn modelId="{1408EFE8-A88E-924A-B4EF-4193EA5802E0}" type="presOf" srcId="{AB07078A-39A5-3F48-A1B8-9DD87FD93B98}" destId="{CCA398C2-1718-184C-A4D9-50AF525977D0}" srcOrd="0" destOrd="0" presId="urn:microsoft.com/office/officeart/2005/8/layout/default#5"/>
    <dgm:cxn modelId="{94BC58F0-0D1B-0F49-BB1B-E6D8C59CA0CE}" type="presOf" srcId="{3FD21996-934F-234F-8B24-ACDE4E9CCE38}" destId="{1A2D8596-A6FE-424F-BEA7-4FABD6880221}" srcOrd="0" destOrd="0" presId="urn:microsoft.com/office/officeart/2005/8/layout/default#5"/>
    <dgm:cxn modelId="{6D6CBB50-C121-D943-9395-9516EC2EAB54}" type="presParOf" srcId="{960261B5-535B-4449-A44E-443B22AA9FD2}" destId="{1A2D8596-A6FE-424F-BEA7-4FABD6880221}" srcOrd="0" destOrd="0" presId="urn:microsoft.com/office/officeart/2005/8/layout/default#5"/>
    <dgm:cxn modelId="{16A55330-3A85-944F-8705-C9AF7F5F7F84}" type="presParOf" srcId="{960261B5-535B-4449-A44E-443B22AA9FD2}" destId="{60A4DABA-06C5-594C-B620-18F8008B5302}" srcOrd="1" destOrd="0" presId="urn:microsoft.com/office/officeart/2005/8/layout/default#5"/>
    <dgm:cxn modelId="{55D50269-5DBB-E34B-B102-042FBAC3C399}" type="presParOf" srcId="{960261B5-535B-4449-A44E-443B22AA9FD2}" destId="{CCA398C2-1718-184C-A4D9-50AF525977D0}" srcOrd="2" destOrd="0" presId="urn:microsoft.com/office/officeart/2005/8/layout/default#5"/>
    <dgm:cxn modelId="{3C0425C2-2E14-3C43-8447-A8963A7D1B89}" type="presParOf" srcId="{960261B5-535B-4449-A44E-443B22AA9FD2}" destId="{085D5FB2-AE88-BC4C-9B71-AA077D6BED33}" srcOrd="3" destOrd="0" presId="urn:microsoft.com/office/officeart/2005/8/layout/default#5"/>
    <dgm:cxn modelId="{56283FE9-73B7-384A-9C6C-355E3E8E7CA7}" type="presParOf" srcId="{960261B5-535B-4449-A44E-443B22AA9FD2}" destId="{64A8D5CD-3A52-B548-B685-481505185C5C}" srcOrd="4" destOrd="0" presId="urn:microsoft.com/office/officeart/2005/8/layout/default#5"/>
    <dgm:cxn modelId="{B1773D76-4DFE-3D48-94E7-4FD06BC1C20F}" type="presParOf" srcId="{960261B5-535B-4449-A44E-443B22AA9FD2}" destId="{C4067D94-D5BF-3345-AF5A-FEA97992B2B6}" srcOrd="5" destOrd="0" presId="urn:microsoft.com/office/officeart/2005/8/layout/default#5"/>
    <dgm:cxn modelId="{99C02E4B-D4A9-6041-81AB-D5B13AAC6D76}" type="presParOf" srcId="{960261B5-535B-4449-A44E-443B22AA9FD2}" destId="{03F6787E-A3EA-ED45-9F3F-75B9DDD7AA05}" srcOrd="6" destOrd="0" presId="urn:microsoft.com/office/officeart/2005/8/layout/default#5"/>
    <dgm:cxn modelId="{4DE06CA7-F751-3D42-87CE-78B8E26EEB01}" type="presParOf" srcId="{960261B5-535B-4449-A44E-443B22AA9FD2}" destId="{E45162AA-4EE1-3C49-87EB-AF3CE217B68F}" srcOrd="7" destOrd="0" presId="urn:microsoft.com/office/officeart/2005/8/layout/default#5"/>
    <dgm:cxn modelId="{20B487DD-923A-9143-A0C0-20DB4AF9994C}" type="presParOf" srcId="{960261B5-535B-4449-A44E-443B22AA9FD2}" destId="{4AB18F4A-D2FC-3144-A837-0636156DD7D2}" srcOrd="8" destOrd="0" presId="urn:microsoft.com/office/officeart/2005/8/layout/default#5"/>
    <dgm:cxn modelId="{B0E46830-00FB-CA44-9A09-DD33DBFD7BBD}" type="presParOf" srcId="{960261B5-535B-4449-A44E-443B22AA9FD2}" destId="{67E5E579-6150-DB47-B634-A052BEBA881B}" srcOrd="9" destOrd="0" presId="urn:microsoft.com/office/officeart/2005/8/layout/default#5"/>
    <dgm:cxn modelId="{479BC863-3AA8-E84B-B4D9-21ECCAFDE0E7}" type="presParOf" srcId="{960261B5-535B-4449-A44E-443B22AA9FD2}" destId="{D25A60C3-6ADF-7A4B-933D-007770C77D18}" srcOrd="10" destOrd="0" presId="urn:microsoft.com/office/officeart/2005/8/layout/default#5"/>
    <dgm:cxn modelId="{20D698CB-CA49-9144-8756-52007CC390EB}" type="presParOf" srcId="{960261B5-535B-4449-A44E-443B22AA9FD2}" destId="{86C845F7-2EBE-3540-97AA-E78084F7CFA3}" srcOrd="11" destOrd="0" presId="urn:microsoft.com/office/officeart/2005/8/layout/default#5"/>
    <dgm:cxn modelId="{D9AE7641-C4F8-A841-BCA3-8E11DB42093D}" type="presParOf" srcId="{960261B5-535B-4449-A44E-443B22AA9FD2}" destId="{FE8FE05C-CAD8-8749-AE97-99459466D0E8}" srcOrd="12" destOrd="0" presId="urn:microsoft.com/office/officeart/2005/8/layout/defaul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9C15E2-0E91-4846-8ABC-A77940D4A179}">
      <dsp:nvSpPr>
        <dsp:cNvPr id="0" name=""/>
        <dsp:cNvSpPr/>
      </dsp:nvSpPr>
      <dsp:spPr>
        <a:xfrm>
          <a:off x="5562612" y="3730752"/>
          <a:ext cx="2710281" cy="1755648"/>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9530" tIns="49530" rIns="49530" bIns="49530" numCol="1" spcCol="1270" anchor="t" anchorCtr="0">
          <a:noAutofit/>
        </a:bodyPr>
        <a:lstStyle/>
        <a:p>
          <a:pPr marL="57150" lvl="1" indent="-57150" algn="l" defTabSz="444500" rtl="0">
            <a:lnSpc>
              <a:spcPct val="90000"/>
            </a:lnSpc>
            <a:spcBef>
              <a:spcPct val="0"/>
            </a:spcBef>
            <a:spcAft>
              <a:spcPct val="15000"/>
            </a:spcAft>
            <a:buChar char="•"/>
          </a:pPr>
          <a:r>
            <a:rPr lang="en-US" sz="1000" kern="1200" dirty="0">
              <a:solidFill>
                <a:sysClr val="windowText" lastClr="000000">
                  <a:hueOff val="0"/>
                  <a:satOff val="0"/>
                  <a:lumOff val="0"/>
                  <a:alphaOff val="0"/>
                </a:sysClr>
              </a:solidFill>
              <a:latin typeface="Rockwell"/>
              <a:ea typeface="+mn-ea"/>
              <a:cs typeface="+mn-cs"/>
            </a:rPr>
            <a:t>I/O instructions are needed to transfer programs and data into memory and the results of computations back out to the user</a:t>
          </a:r>
        </a:p>
      </dsp:txBody>
      <dsp:txXfrm>
        <a:off x="6414262" y="4208230"/>
        <a:ext cx="1820065" cy="1239604"/>
      </dsp:txXfrm>
    </dsp:sp>
    <dsp:sp modelId="{1271081F-DA7B-9646-B77E-4127E6C5A827}">
      <dsp:nvSpPr>
        <dsp:cNvPr id="0" name=""/>
        <dsp:cNvSpPr/>
      </dsp:nvSpPr>
      <dsp:spPr>
        <a:xfrm>
          <a:off x="228604" y="3733798"/>
          <a:ext cx="3670398" cy="1749555"/>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9530" tIns="49530" rIns="49530" bIns="49530" numCol="1" spcCol="1270" anchor="t" anchorCtr="0">
          <a:noAutofit/>
        </a:bodyPr>
        <a:lstStyle/>
        <a:p>
          <a:pPr marL="57150" lvl="1" indent="-57150" algn="l" defTabSz="444500" rtl="0">
            <a:lnSpc>
              <a:spcPct val="90000"/>
            </a:lnSpc>
            <a:spcBef>
              <a:spcPct val="0"/>
            </a:spcBef>
            <a:spcAft>
              <a:spcPct val="15000"/>
            </a:spcAft>
            <a:buChar char="•"/>
          </a:pPr>
          <a:r>
            <a:rPr lang="en-US" sz="1000" kern="1200" dirty="0">
              <a:solidFill>
                <a:sysClr val="windowText" lastClr="000000">
                  <a:hueOff val="0"/>
                  <a:satOff val="0"/>
                  <a:lumOff val="0"/>
                  <a:alphaOff val="0"/>
                </a:sysClr>
              </a:solidFill>
              <a:latin typeface="Rockwell"/>
              <a:ea typeface="+mn-ea"/>
              <a:cs typeface="+mn-cs"/>
            </a:rPr>
            <a:t>Test instructions are used to test the value of a data word or the status of a computation</a:t>
          </a:r>
        </a:p>
        <a:p>
          <a:pPr marL="57150" lvl="1" indent="-57150" algn="l" defTabSz="444500" rtl="0">
            <a:lnSpc>
              <a:spcPct val="90000"/>
            </a:lnSpc>
            <a:spcBef>
              <a:spcPct val="0"/>
            </a:spcBef>
            <a:spcAft>
              <a:spcPct val="15000"/>
            </a:spcAft>
            <a:buChar char="•"/>
          </a:pPr>
          <a:r>
            <a:rPr lang="en-US" sz="1000" kern="1200" dirty="0">
              <a:solidFill>
                <a:sysClr val="windowText" lastClr="000000">
                  <a:hueOff val="0"/>
                  <a:satOff val="0"/>
                  <a:lumOff val="0"/>
                  <a:alphaOff val="0"/>
                </a:sysClr>
              </a:solidFill>
              <a:latin typeface="Rockwell"/>
              <a:ea typeface="+mn-ea"/>
              <a:cs typeface="+mn-cs"/>
            </a:rPr>
            <a:t>Branch instructions are used to branch to a different set of instructions depending on the decision made</a:t>
          </a:r>
        </a:p>
      </dsp:txBody>
      <dsp:txXfrm>
        <a:off x="267036" y="4209619"/>
        <a:ext cx="2492415" cy="1235302"/>
      </dsp:txXfrm>
    </dsp:sp>
    <dsp:sp modelId="{E013DB8C-C4D5-9245-9F44-E76F99512271}">
      <dsp:nvSpPr>
        <dsp:cNvPr id="0" name=""/>
        <dsp:cNvSpPr/>
      </dsp:nvSpPr>
      <dsp:spPr>
        <a:xfrm>
          <a:off x="5515507" y="0"/>
          <a:ext cx="2710281" cy="1755648"/>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9530" tIns="49530" rIns="49530" bIns="49530" numCol="1" spcCol="1270" anchor="t" anchorCtr="0">
          <a:noAutofit/>
        </a:bodyPr>
        <a:lstStyle/>
        <a:p>
          <a:pPr marL="57150" lvl="1" indent="-57150" algn="l" defTabSz="444500" rtl="0">
            <a:lnSpc>
              <a:spcPct val="90000"/>
            </a:lnSpc>
            <a:spcBef>
              <a:spcPct val="0"/>
            </a:spcBef>
            <a:spcAft>
              <a:spcPct val="15000"/>
            </a:spcAft>
            <a:buChar char="•"/>
          </a:pPr>
          <a:r>
            <a:rPr lang="en-US" sz="1000" kern="1200" dirty="0">
              <a:solidFill>
                <a:sysClr val="windowText" lastClr="000000">
                  <a:hueOff val="0"/>
                  <a:satOff val="0"/>
                  <a:lumOff val="0"/>
                  <a:alphaOff val="0"/>
                </a:sysClr>
              </a:solidFill>
              <a:latin typeface="Rockwell"/>
              <a:ea typeface="+mn-ea"/>
              <a:cs typeface="+mn-cs"/>
            </a:rPr>
            <a:t>Movement of data into or out of register and or memory locations</a:t>
          </a:r>
        </a:p>
      </dsp:txBody>
      <dsp:txXfrm>
        <a:off x="6367158" y="38566"/>
        <a:ext cx="1820065" cy="1239604"/>
      </dsp:txXfrm>
    </dsp:sp>
    <dsp:sp modelId="{D393D0F9-5D0B-304A-9364-031DA1DC3538}">
      <dsp:nvSpPr>
        <dsp:cNvPr id="0" name=""/>
        <dsp:cNvSpPr/>
      </dsp:nvSpPr>
      <dsp:spPr>
        <a:xfrm>
          <a:off x="232399" y="8"/>
          <a:ext cx="3350368" cy="1749555"/>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38100" rIns="38100" bIns="38100" numCol="1" spcCol="1270" anchor="t" anchorCtr="0">
          <a:noAutofit/>
        </a:bodyPr>
        <a:lstStyle/>
        <a:p>
          <a:pPr marL="57150" lvl="1" indent="-57150" algn="l" defTabSz="444500" rtl="0">
            <a:lnSpc>
              <a:spcPct val="90000"/>
            </a:lnSpc>
            <a:spcBef>
              <a:spcPct val="0"/>
            </a:spcBef>
            <a:spcAft>
              <a:spcPct val="15000"/>
            </a:spcAft>
            <a:buChar char="•"/>
          </a:pPr>
          <a:r>
            <a:rPr lang="en-US" sz="1000" kern="1200" dirty="0">
              <a:solidFill>
                <a:sysClr val="windowText" lastClr="000000">
                  <a:hueOff val="0"/>
                  <a:satOff val="0"/>
                  <a:lumOff val="0"/>
                  <a:alphaOff val="0"/>
                </a:sysClr>
              </a:solidFill>
              <a:latin typeface="Rockwell"/>
              <a:ea typeface="+mn-ea"/>
              <a:cs typeface="+mn-cs"/>
            </a:rPr>
            <a:t>Arithmetic instructions provide computational capabilities for processing numeric data</a:t>
          </a:r>
        </a:p>
        <a:p>
          <a:pPr marL="57150" lvl="1" indent="-57150" algn="l" defTabSz="444500" rtl="0">
            <a:lnSpc>
              <a:spcPct val="90000"/>
            </a:lnSpc>
            <a:spcBef>
              <a:spcPct val="0"/>
            </a:spcBef>
            <a:spcAft>
              <a:spcPct val="15000"/>
            </a:spcAft>
            <a:buChar char="•"/>
          </a:pPr>
          <a:r>
            <a:rPr lang="en-US" sz="1000" kern="1200" dirty="0">
              <a:solidFill>
                <a:sysClr val="windowText" lastClr="000000">
                  <a:hueOff val="0"/>
                  <a:satOff val="0"/>
                  <a:lumOff val="0"/>
                  <a:alphaOff val="0"/>
                </a:sysClr>
              </a:solidFill>
              <a:latin typeface="Rockwell"/>
              <a:ea typeface="+mn-ea"/>
              <a:cs typeface="+mn-cs"/>
            </a:rPr>
            <a:t>Logic (Boolean) instructions operate on the bits of a word as bits rather than as numbers, thus they provide capabilities for processing any other type of data the user may wish to employ</a:t>
          </a:r>
        </a:p>
      </dsp:txBody>
      <dsp:txXfrm>
        <a:off x="270831" y="38440"/>
        <a:ext cx="2268394" cy="1235302"/>
      </dsp:txXfrm>
    </dsp:sp>
    <dsp:sp modelId="{64E7A613-FAC5-2A4B-84D5-823A0DA3329F}">
      <dsp:nvSpPr>
        <dsp:cNvPr id="0" name=""/>
        <dsp:cNvSpPr/>
      </dsp:nvSpPr>
      <dsp:spPr>
        <a:xfrm>
          <a:off x="1989124" y="312724"/>
          <a:ext cx="2375611" cy="2375611"/>
        </a:xfrm>
        <a:prstGeom prst="pieWedge">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rtl="0">
            <a:lnSpc>
              <a:spcPct val="90000"/>
            </a:lnSpc>
            <a:spcBef>
              <a:spcPct val="0"/>
            </a:spcBef>
            <a:spcAft>
              <a:spcPct val="35000"/>
            </a:spcAft>
            <a:buNone/>
          </a:pPr>
          <a:r>
            <a:rPr lang="en-US" sz="2100" kern="1200" dirty="0">
              <a:solidFill>
                <a:sysClr val="window" lastClr="FFFFFF"/>
              </a:solidFill>
              <a:effectLst>
                <a:outerShdw blurRad="38100" dist="38100" dir="2700000" algn="tl">
                  <a:srgbClr val="000000">
                    <a:alpha val="43137"/>
                  </a:srgbClr>
                </a:outerShdw>
              </a:effectLst>
              <a:latin typeface="Rockwell"/>
              <a:ea typeface="+mn-ea"/>
              <a:cs typeface="+mn-cs"/>
            </a:rPr>
            <a:t>Data processing</a:t>
          </a:r>
        </a:p>
      </dsp:txBody>
      <dsp:txXfrm>
        <a:off x="2684924" y="1008524"/>
        <a:ext cx="1679811" cy="1679811"/>
      </dsp:txXfrm>
    </dsp:sp>
    <dsp:sp modelId="{3B212426-56CB-2742-8EFE-A3AF6B61B920}">
      <dsp:nvSpPr>
        <dsp:cNvPr id="0" name=""/>
        <dsp:cNvSpPr/>
      </dsp:nvSpPr>
      <dsp:spPr>
        <a:xfrm rot="5400000">
          <a:off x="4474464" y="312724"/>
          <a:ext cx="2375611" cy="2375611"/>
        </a:xfrm>
        <a:prstGeom prst="pieWedge">
          <a:avLst/>
        </a:prstGeom>
        <a:solidFill>
          <a:srgbClr val="999966"/>
        </a:soli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rtl="0">
            <a:lnSpc>
              <a:spcPct val="90000"/>
            </a:lnSpc>
            <a:spcBef>
              <a:spcPct val="0"/>
            </a:spcBef>
            <a:spcAft>
              <a:spcPct val="35000"/>
            </a:spcAft>
            <a:buNone/>
          </a:pPr>
          <a:r>
            <a:rPr lang="en-US" sz="2100" kern="1200" dirty="0">
              <a:solidFill>
                <a:sysClr val="window" lastClr="FFFFFF"/>
              </a:solidFill>
              <a:effectLst>
                <a:outerShdw blurRad="38100" dist="38100" dir="2700000" algn="tl">
                  <a:srgbClr val="000000">
                    <a:alpha val="43137"/>
                  </a:srgbClr>
                </a:outerShdw>
              </a:effectLst>
              <a:latin typeface="Rockwell"/>
              <a:ea typeface="+mn-ea"/>
              <a:cs typeface="+mn-cs"/>
            </a:rPr>
            <a:t>Data storage</a:t>
          </a:r>
        </a:p>
      </dsp:txBody>
      <dsp:txXfrm rot="-5400000">
        <a:off x="4474464" y="1008524"/>
        <a:ext cx="1679811" cy="1679811"/>
      </dsp:txXfrm>
    </dsp:sp>
    <dsp:sp modelId="{0F90C031-7DF5-F44F-BC7E-06E0F85CB427}">
      <dsp:nvSpPr>
        <dsp:cNvPr id="0" name=""/>
        <dsp:cNvSpPr/>
      </dsp:nvSpPr>
      <dsp:spPr>
        <a:xfrm rot="10800000">
          <a:off x="4474464" y="2798064"/>
          <a:ext cx="2375611" cy="2375611"/>
        </a:xfrm>
        <a:prstGeom prst="pieWedge">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rtl="0">
            <a:lnSpc>
              <a:spcPct val="90000"/>
            </a:lnSpc>
            <a:spcBef>
              <a:spcPct val="0"/>
            </a:spcBef>
            <a:spcAft>
              <a:spcPct val="35000"/>
            </a:spcAft>
            <a:buNone/>
          </a:pPr>
          <a:r>
            <a:rPr lang="en-US" sz="2100" kern="1200" dirty="0">
              <a:solidFill>
                <a:sysClr val="window" lastClr="FFFFFF"/>
              </a:solidFill>
              <a:effectLst>
                <a:outerShdw blurRad="38100" dist="38100" dir="2700000" algn="tl">
                  <a:srgbClr val="000000">
                    <a:alpha val="43137"/>
                  </a:srgbClr>
                </a:outerShdw>
              </a:effectLst>
              <a:latin typeface="Rockwell"/>
              <a:ea typeface="+mn-ea"/>
              <a:cs typeface="+mn-cs"/>
            </a:rPr>
            <a:t>Data movement</a:t>
          </a:r>
        </a:p>
      </dsp:txBody>
      <dsp:txXfrm rot="10800000">
        <a:off x="4474464" y="2798064"/>
        <a:ext cx="1679811" cy="1679811"/>
      </dsp:txXfrm>
    </dsp:sp>
    <dsp:sp modelId="{D68EFB07-20BD-9848-85ED-45FB73135481}">
      <dsp:nvSpPr>
        <dsp:cNvPr id="0" name=""/>
        <dsp:cNvSpPr/>
      </dsp:nvSpPr>
      <dsp:spPr>
        <a:xfrm rot="16200000">
          <a:off x="1989124" y="2798064"/>
          <a:ext cx="2375611" cy="2375611"/>
        </a:xfrm>
        <a:prstGeom prst="pieWedge">
          <a:avLst/>
        </a:prstGeom>
        <a:solidFill>
          <a:srgbClr val="999966"/>
        </a:soli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rtl="0">
            <a:lnSpc>
              <a:spcPct val="90000"/>
            </a:lnSpc>
            <a:spcBef>
              <a:spcPct val="0"/>
            </a:spcBef>
            <a:spcAft>
              <a:spcPct val="35000"/>
            </a:spcAft>
            <a:buNone/>
          </a:pPr>
          <a:r>
            <a:rPr lang="en-US" sz="2100" kern="1200" dirty="0">
              <a:solidFill>
                <a:sysClr val="window" lastClr="FFFFFF"/>
              </a:solidFill>
              <a:effectLst>
                <a:outerShdw blurRad="38100" dist="38100" dir="2700000" algn="tl">
                  <a:srgbClr val="000000">
                    <a:alpha val="43137"/>
                  </a:srgbClr>
                </a:outerShdw>
              </a:effectLst>
              <a:latin typeface="Rockwell"/>
              <a:ea typeface="+mn-ea"/>
              <a:cs typeface="+mn-cs"/>
            </a:rPr>
            <a:t>Control</a:t>
          </a:r>
        </a:p>
      </dsp:txBody>
      <dsp:txXfrm rot="5400000">
        <a:off x="2684924" y="2798064"/>
        <a:ext cx="1679811" cy="1679811"/>
      </dsp:txXfrm>
    </dsp:sp>
    <dsp:sp modelId="{A04C8535-5121-1D48-89BE-ED9EAD28EFF1}">
      <dsp:nvSpPr>
        <dsp:cNvPr id="0" name=""/>
        <dsp:cNvSpPr/>
      </dsp:nvSpPr>
      <dsp:spPr>
        <a:xfrm>
          <a:off x="4009491" y="2249424"/>
          <a:ext cx="820216" cy="713232"/>
        </a:xfrm>
        <a:prstGeom prst="circularArrow">
          <a:avLst/>
        </a:prstGeom>
        <a:solidFill>
          <a:srgbClr val="666699"/>
        </a:soli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dsp:style>
    </dsp:sp>
    <dsp:sp modelId="{FA519686-EE3E-034C-95BB-4F2415CF38CD}">
      <dsp:nvSpPr>
        <dsp:cNvPr id="0" name=""/>
        <dsp:cNvSpPr/>
      </dsp:nvSpPr>
      <dsp:spPr>
        <a:xfrm rot="10800000">
          <a:off x="4009491" y="2523744"/>
          <a:ext cx="820216" cy="713232"/>
        </a:xfrm>
        <a:prstGeom prst="circularArrow">
          <a:avLst/>
        </a:prstGeom>
        <a:solidFill>
          <a:srgbClr val="666699"/>
        </a:soli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3E567A-FFCB-E447-B0EB-DF566B287828}">
      <dsp:nvSpPr>
        <dsp:cNvPr id="0" name=""/>
        <dsp:cNvSpPr/>
      </dsp:nvSpPr>
      <dsp:spPr>
        <a:xfrm>
          <a:off x="0" y="3455364"/>
          <a:ext cx="8534400" cy="2030372"/>
        </a:xfrm>
        <a:prstGeom prst="rect">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rtl="0">
            <a:lnSpc>
              <a:spcPct val="90000"/>
            </a:lnSpc>
            <a:spcBef>
              <a:spcPct val="0"/>
            </a:spcBef>
            <a:spcAft>
              <a:spcPct val="35000"/>
            </a:spcAft>
            <a:buNone/>
          </a:pPr>
          <a:r>
            <a:rPr lang="en-US" sz="1800" kern="1200" dirty="0">
              <a:solidFill>
                <a:sysClr val="window" lastClr="FFFFFF"/>
              </a:solidFill>
              <a:effectLst>
                <a:outerShdw blurRad="38100" dist="38100" dir="2700000" algn="tl">
                  <a:srgbClr val="000000">
                    <a:alpha val="43137"/>
                  </a:srgbClr>
                </a:outerShdw>
              </a:effectLst>
              <a:latin typeface="Rockwell"/>
              <a:ea typeface="+mn-ea"/>
              <a:cs typeface="+mn-cs"/>
            </a:rPr>
            <a:t>Fundamental design issues:</a:t>
          </a:r>
        </a:p>
      </dsp:txBody>
      <dsp:txXfrm>
        <a:off x="0" y="3455364"/>
        <a:ext cx="8534400" cy="1096401"/>
      </dsp:txXfrm>
    </dsp:sp>
    <dsp:sp modelId="{FDFC3F15-9000-D642-934F-FD22C852295A}">
      <dsp:nvSpPr>
        <dsp:cNvPr id="0" name=""/>
        <dsp:cNvSpPr/>
      </dsp:nvSpPr>
      <dsp:spPr>
        <a:xfrm>
          <a:off x="1041" y="4511591"/>
          <a:ext cx="1706463" cy="943939"/>
        </a:xfrm>
        <a:prstGeom prst="rect">
          <a:avLst/>
        </a:prstGeom>
        <a:solidFill>
          <a:srgbClr val="663366">
            <a:alpha val="90000"/>
            <a:tint val="40000"/>
            <a:hueOff val="0"/>
            <a:satOff val="0"/>
            <a:lumOff val="0"/>
            <a:alphaOff val="0"/>
          </a:srgbClr>
        </a:solidFill>
        <a:ln w="12700" cap="flat" cmpd="sng" algn="ctr">
          <a:solidFill>
            <a:srgbClr val="666699"/>
          </a:solidFill>
          <a:prstDash val="solid"/>
        </a:ln>
        <a:effectLst/>
      </dsp:spPr>
      <dsp:style>
        <a:lnRef idx="1">
          <a:scrgbClr r="0" g="0" b="0"/>
        </a:lnRef>
        <a:fillRef idx="1">
          <a:scrgbClr r="0" g="0" b="0"/>
        </a:fillRef>
        <a:effectRef idx="0">
          <a:scrgbClr r="0" g="0" b="0"/>
        </a:effectRef>
        <a:fontRef idx="minor"/>
      </dsp:style>
      <dsp:txBody>
        <a:bodyPr spcFirstLastPara="0" vert="horz" wrap="square" lIns="85344" tIns="15240" rIns="85344" bIns="15240" numCol="1" spcCol="1270" anchor="t" anchorCtr="0">
          <a:noAutofit/>
        </a:bodyPr>
        <a:lstStyle/>
        <a:p>
          <a:pPr marL="0" lvl="0" indent="0" algn="l" defTabSz="533400" rtl="0">
            <a:lnSpc>
              <a:spcPct val="90000"/>
            </a:lnSpc>
            <a:spcBef>
              <a:spcPct val="0"/>
            </a:spcBef>
            <a:spcAft>
              <a:spcPct val="35000"/>
            </a:spcAft>
            <a:buNone/>
          </a:pPr>
          <a:r>
            <a:rPr lang="en-US" sz="1200" kern="1200" dirty="0">
              <a:solidFill>
                <a:sysClr val="windowText" lastClr="000000">
                  <a:hueOff val="0"/>
                  <a:satOff val="0"/>
                  <a:lumOff val="0"/>
                  <a:alphaOff val="0"/>
                </a:sysClr>
              </a:solidFill>
              <a:latin typeface="Rockwell"/>
              <a:ea typeface="+mn-ea"/>
              <a:cs typeface="+mn-cs"/>
            </a:rPr>
            <a:t>Operation repertoire</a:t>
          </a:r>
        </a:p>
        <a:p>
          <a:pPr marL="57150" lvl="1" indent="-57150" algn="l" defTabSz="400050" rtl="0">
            <a:lnSpc>
              <a:spcPct val="90000"/>
            </a:lnSpc>
            <a:spcBef>
              <a:spcPct val="0"/>
            </a:spcBef>
            <a:spcAft>
              <a:spcPct val="15000"/>
            </a:spcAft>
            <a:buChar char="•"/>
          </a:pPr>
          <a:r>
            <a:rPr lang="en-US" sz="900" kern="1200" dirty="0">
              <a:solidFill>
                <a:sysClr val="windowText" lastClr="000000">
                  <a:hueOff val="0"/>
                  <a:satOff val="0"/>
                  <a:lumOff val="0"/>
                  <a:alphaOff val="0"/>
                </a:sysClr>
              </a:solidFill>
              <a:latin typeface="Rockwell"/>
              <a:ea typeface="+mn-ea"/>
              <a:cs typeface="+mn-cs"/>
            </a:rPr>
            <a:t>How many and which operations to provide and how complex operations should be</a:t>
          </a:r>
        </a:p>
      </dsp:txBody>
      <dsp:txXfrm>
        <a:off x="1041" y="4511591"/>
        <a:ext cx="1706463" cy="943939"/>
      </dsp:txXfrm>
    </dsp:sp>
    <dsp:sp modelId="{299A5A01-E6B1-3549-9A82-78303BEA5CF6}">
      <dsp:nvSpPr>
        <dsp:cNvPr id="0" name=""/>
        <dsp:cNvSpPr/>
      </dsp:nvSpPr>
      <dsp:spPr>
        <a:xfrm>
          <a:off x="1707505" y="4511591"/>
          <a:ext cx="1706463" cy="943939"/>
        </a:xfrm>
        <a:prstGeom prst="rect">
          <a:avLst/>
        </a:prstGeom>
        <a:solidFill>
          <a:srgbClr val="663366">
            <a:alpha val="90000"/>
            <a:tint val="40000"/>
            <a:hueOff val="0"/>
            <a:satOff val="0"/>
            <a:lumOff val="0"/>
            <a:alphaOff val="0"/>
          </a:srgbClr>
        </a:solidFill>
        <a:ln w="12700" cap="flat" cmpd="sng" algn="ctr">
          <a:solidFill>
            <a:srgbClr val="666699"/>
          </a:solidFill>
          <a:prstDash val="solid"/>
        </a:ln>
        <a:effectLst/>
      </dsp:spPr>
      <dsp:style>
        <a:lnRef idx="1">
          <a:scrgbClr r="0" g="0" b="0"/>
        </a:lnRef>
        <a:fillRef idx="1">
          <a:scrgbClr r="0" g="0" b="0"/>
        </a:fillRef>
        <a:effectRef idx="0">
          <a:scrgbClr r="0" g="0" b="0"/>
        </a:effectRef>
        <a:fontRef idx="minor"/>
      </dsp:style>
      <dsp:txBody>
        <a:bodyPr spcFirstLastPara="0" vert="horz" wrap="square" lIns="85344" tIns="15240" rIns="85344" bIns="15240" numCol="1" spcCol="1270" anchor="t" anchorCtr="0">
          <a:noAutofit/>
        </a:bodyPr>
        <a:lstStyle/>
        <a:p>
          <a:pPr marL="0" lvl="0" indent="0" algn="l" defTabSz="533400" rtl="0">
            <a:lnSpc>
              <a:spcPct val="90000"/>
            </a:lnSpc>
            <a:spcBef>
              <a:spcPct val="0"/>
            </a:spcBef>
            <a:spcAft>
              <a:spcPct val="35000"/>
            </a:spcAft>
            <a:buNone/>
          </a:pPr>
          <a:r>
            <a:rPr lang="en-US" sz="1200" kern="1200" dirty="0">
              <a:solidFill>
                <a:sysClr val="windowText" lastClr="000000">
                  <a:hueOff val="0"/>
                  <a:satOff val="0"/>
                  <a:lumOff val="0"/>
                  <a:alphaOff val="0"/>
                </a:sysClr>
              </a:solidFill>
              <a:latin typeface="Rockwell"/>
              <a:ea typeface="+mn-ea"/>
              <a:cs typeface="+mn-cs"/>
            </a:rPr>
            <a:t>Data types</a:t>
          </a:r>
        </a:p>
        <a:p>
          <a:pPr marL="57150" lvl="1" indent="-57150" algn="l" defTabSz="400050" rtl="0">
            <a:lnSpc>
              <a:spcPct val="90000"/>
            </a:lnSpc>
            <a:spcBef>
              <a:spcPct val="0"/>
            </a:spcBef>
            <a:spcAft>
              <a:spcPct val="15000"/>
            </a:spcAft>
            <a:buChar char="•"/>
          </a:pPr>
          <a:r>
            <a:rPr lang="en-US" sz="900" kern="1200" dirty="0">
              <a:solidFill>
                <a:sysClr val="windowText" lastClr="000000">
                  <a:hueOff val="0"/>
                  <a:satOff val="0"/>
                  <a:lumOff val="0"/>
                  <a:alphaOff val="0"/>
                </a:sysClr>
              </a:solidFill>
              <a:latin typeface="Rockwell"/>
              <a:ea typeface="+mn-ea"/>
              <a:cs typeface="+mn-cs"/>
            </a:rPr>
            <a:t>The various types of data upon which operations are performed</a:t>
          </a:r>
        </a:p>
      </dsp:txBody>
      <dsp:txXfrm>
        <a:off x="1707505" y="4511591"/>
        <a:ext cx="1706463" cy="943939"/>
      </dsp:txXfrm>
    </dsp:sp>
    <dsp:sp modelId="{2B60D48B-0CBB-3640-8066-CD9CF8A8328E}">
      <dsp:nvSpPr>
        <dsp:cNvPr id="0" name=""/>
        <dsp:cNvSpPr/>
      </dsp:nvSpPr>
      <dsp:spPr>
        <a:xfrm>
          <a:off x="3413968" y="4511591"/>
          <a:ext cx="1706463" cy="943939"/>
        </a:xfrm>
        <a:prstGeom prst="rect">
          <a:avLst/>
        </a:prstGeom>
        <a:solidFill>
          <a:srgbClr val="663366">
            <a:alpha val="90000"/>
            <a:tint val="40000"/>
            <a:hueOff val="0"/>
            <a:satOff val="0"/>
            <a:lumOff val="0"/>
            <a:alphaOff val="0"/>
          </a:srgbClr>
        </a:solidFill>
        <a:ln w="12700" cap="flat" cmpd="sng" algn="ctr">
          <a:solidFill>
            <a:srgbClr val="666699"/>
          </a:solidFill>
          <a:prstDash val="solid"/>
        </a:ln>
        <a:effectLst/>
      </dsp:spPr>
      <dsp:style>
        <a:lnRef idx="1">
          <a:scrgbClr r="0" g="0" b="0"/>
        </a:lnRef>
        <a:fillRef idx="1">
          <a:scrgbClr r="0" g="0" b="0"/>
        </a:fillRef>
        <a:effectRef idx="0">
          <a:scrgbClr r="0" g="0" b="0"/>
        </a:effectRef>
        <a:fontRef idx="minor"/>
      </dsp:style>
      <dsp:txBody>
        <a:bodyPr spcFirstLastPara="0" vert="horz" wrap="square" lIns="85344" tIns="15240" rIns="85344" bIns="15240" numCol="1" spcCol="1270" anchor="t" anchorCtr="0">
          <a:noAutofit/>
        </a:bodyPr>
        <a:lstStyle/>
        <a:p>
          <a:pPr marL="0" lvl="0" indent="0" algn="l" defTabSz="533400" rtl="0">
            <a:lnSpc>
              <a:spcPct val="90000"/>
            </a:lnSpc>
            <a:spcBef>
              <a:spcPct val="0"/>
            </a:spcBef>
            <a:spcAft>
              <a:spcPct val="35000"/>
            </a:spcAft>
            <a:buNone/>
          </a:pPr>
          <a:r>
            <a:rPr lang="en-US" sz="1200" kern="1200" dirty="0">
              <a:solidFill>
                <a:sysClr val="windowText" lastClr="000000">
                  <a:hueOff val="0"/>
                  <a:satOff val="0"/>
                  <a:lumOff val="0"/>
                  <a:alphaOff val="0"/>
                </a:sysClr>
              </a:solidFill>
              <a:latin typeface="Rockwell"/>
              <a:ea typeface="+mn-ea"/>
              <a:cs typeface="+mn-cs"/>
            </a:rPr>
            <a:t>Instruction format</a:t>
          </a:r>
        </a:p>
        <a:p>
          <a:pPr marL="57150" lvl="1" indent="-57150" algn="l" defTabSz="400050" rtl="0">
            <a:lnSpc>
              <a:spcPct val="90000"/>
            </a:lnSpc>
            <a:spcBef>
              <a:spcPct val="0"/>
            </a:spcBef>
            <a:spcAft>
              <a:spcPct val="15000"/>
            </a:spcAft>
            <a:buChar char="•"/>
          </a:pPr>
          <a:r>
            <a:rPr lang="en-US" sz="900" kern="1200" dirty="0">
              <a:solidFill>
                <a:sysClr val="windowText" lastClr="000000">
                  <a:hueOff val="0"/>
                  <a:satOff val="0"/>
                  <a:lumOff val="0"/>
                  <a:alphaOff val="0"/>
                </a:sysClr>
              </a:solidFill>
              <a:latin typeface="Rockwell"/>
              <a:ea typeface="+mn-ea"/>
              <a:cs typeface="+mn-cs"/>
            </a:rPr>
            <a:t>Instruction length in bits, number of addresses, size of various fields, etc.</a:t>
          </a:r>
        </a:p>
      </dsp:txBody>
      <dsp:txXfrm>
        <a:off x="3413968" y="4511591"/>
        <a:ext cx="1706463" cy="943939"/>
      </dsp:txXfrm>
    </dsp:sp>
    <dsp:sp modelId="{015B0615-A51D-BE4E-B6B0-DD65E7B83F35}">
      <dsp:nvSpPr>
        <dsp:cNvPr id="0" name=""/>
        <dsp:cNvSpPr/>
      </dsp:nvSpPr>
      <dsp:spPr>
        <a:xfrm>
          <a:off x="5120431" y="4511591"/>
          <a:ext cx="1706463" cy="943939"/>
        </a:xfrm>
        <a:prstGeom prst="rect">
          <a:avLst/>
        </a:prstGeom>
        <a:solidFill>
          <a:srgbClr val="663366">
            <a:alpha val="90000"/>
            <a:tint val="40000"/>
            <a:hueOff val="0"/>
            <a:satOff val="0"/>
            <a:lumOff val="0"/>
            <a:alphaOff val="0"/>
          </a:srgbClr>
        </a:solidFill>
        <a:ln w="12700" cap="flat" cmpd="sng" algn="ctr">
          <a:solidFill>
            <a:srgbClr val="666699"/>
          </a:solidFill>
          <a:prstDash val="solid"/>
        </a:ln>
        <a:effectLst/>
      </dsp:spPr>
      <dsp:style>
        <a:lnRef idx="1">
          <a:scrgbClr r="0" g="0" b="0"/>
        </a:lnRef>
        <a:fillRef idx="1">
          <a:scrgbClr r="0" g="0" b="0"/>
        </a:fillRef>
        <a:effectRef idx="0">
          <a:scrgbClr r="0" g="0" b="0"/>
        </a:effectRef>
        <a:fontRef idx="minor"/>
      </dsp:style>
      <dsp:txBody>
        <a:bodyPr spcFirstLastPara="0" vert="horz" wrap="square" lIns="85344" tIns="15240" rIns="85344" bIns="15240" numCol="1" spcCol="1270" anchor="t" anchorCtr="0">
          <a:noAutofit/>
        </a:bodyPr>
        <a:lstStyle/>
        <a:p>
          <a:pPr marL="0" lvl="0" indent="0" algn="l" defTabSz="533400" rtl="0">
            <a:lnSpc>
              <a:spcPct val="90000"/>
            </a:lnSpc>
            <a:spcBef>
              <a:spcPct val="0"/>
            </a:spcBef>
            <a:spcAft>
              <a:spcPct val="35000"/>
            </a:spcAft>
            <a:buNone/>
          </a:pPr>
          <a:r>
            <a:rPr lang="en-US" sz="1200" kern="1200" dirty="0">
              <a:solidFill>
                <a:sysClr val="windowText" lastClr="000000">
                  <a:hueOff val="0"/>
                  <a:satOff val="0"/>
                  <a:lumOff val="0"/>
                  <a:alphaOff val="0"/>
                </a:sysClr>
              </a:solidFill>
              <a:latin typeface="Rockwell"/>
              <a:ea typeface="+mn-ea"/>
              <a:cs typeface="+mn-cs"/>
            </a:rPr>
            <a:t>Registers</a:t>
          </a:r>
        </a:p>
        <a:p>
          <a:pPr marL="57150" lvl="1" indent="-57150" algn="l" defTabSz="400050" rtl="0">
            <a:lnSpc>
              <a:spcPct val="90000"/>
            </a:lnSpc>
            <a:spcBef>
              <a:spcPct val="0"/>
            </a:spcBef>
            <a:spcAft>
              <a:spcPct val="15000"/>
            </a:spcAft>
            <a:buChar char="•"/>
          </a:pPr>
          <a:r>
            <a:rPr lang="en-US" sz="900" kern="1200" dirty="0">
              <a:solidFill>
                <a:sysClr val="windowText" lastClr="000000">
                  <a:hueOff val="0"/>
                  <a:satOff val="0"/>
                  <a:lumOff val="0"/>
                  <a:alphaOff val="0"/>
                </a:sysClr>
              </a:solidFill>
              <a:latin typeface="Rockwell"/>
              <a:ea typeface="+mn-ea"/>
              <a:cs typeface="+mn-cs"/>
            </a:rPr>
            <a:t>Number of processor registers that can be referenced by instructions and their use</a:t>
          </a:r>
        </a:p>
      </dsp:txBody>
      <dsp:txXfrm>
        <a:off x="5120431" y="4511591"/>
        <a:ext cx="1706463" cy="943939"/>
      </dsp:txXfrm>
    </dsp:sp>
    <dsp:sp modelId="{245DBD2D-001A-1647-A9D4-0EE759999A90}">
      <dsp:nvSpPr>
        <dsp:cNvPr id="0" name=""/>
        <dsp:cNvSpPr/>
      </dsp:nvSpPr>
      <dsp:spPr>
        <a:xfrm>
          <a:off x="6826894" y="4511591"/>
          <a:ext cx="1706463" cy="943939"/>
        </a:xfrm>
        <a:prstGeom prst="rect">
          <a:avLst/>
        </a:prstGeom>
        <a:solidFill>
          <a:srgbClr val="663366">
            <a:alpha val="90000"/>
            <a:tint val="40000"/>
            <a:hueOff val="0"/>
            <a:satOff val="0"/>
            <a:lumOff val="0"/>
            <a:alphaOff val="0"/>
          </a:srgbClr>
        </a:solidFill>
        <a:ln w="12700" cap="flat" cmpd="sng" algn="ctr">
          <a:solidFill>
            <a:srgbClr val="666699"/>
          </a:solidFill>
          <a:prstDash val="solid"/>
        </a:ln>
        <a:effectLst/>
      </dsp:spPr>
      <dsp:style>
        <a:lnRef idx="1">
          <a:scrgbClr r="0" g="0" b="0"/>
        </a:lnRef>
        <a:fillRef idx="1">
          <a:scrgbClr r="0" g="0" b="0"/>
        </a:fillRef>
        <a:effectRef idx="0">
          <a:scrgbClr r="0" g="0" b="0"/>
        </a:effectRef>
        <a:fontRef idx="minor"/>
      </dsp:style>
      <dsp:txBody>
        <a:bodyPr spcFirstLastPara="0" vert="horz" wrap="square" lIns="85344" tIns="15240" rIns="85344" bIns="15240" numCol="1" spcCol="1270" anchor="t" anchorCtr="0">
          <a:noAutofit/>
        </a:bodyPr>
        <a:lstStyle/>
        <a:p>
          <a:pPr marL="0" lvl="0" indent="0" algn="l" defTabSz="533400" rtl="0">
            <a:lnSpc>
              <a:spcPct val="90000"/>
            </a:lnSpc>
            <a:spcBef>
              <a:spcPct val="0"/>
            </a:spcBef>
            <a:spcAft>
              <a:spcPct val="35000"/>
            </a:spcAft>
            <a:buNone/>
          </a:pPr>
          <a:r>
            <a:rPr lang="en-US" sz="1200" kern="1200" dirty="0">
              <a:solidFill>
                <a:sysClr val="windowText" lastClr="000000">
                  <a:hueOff val="0"/>
                  <a:satOff val="0"/>
                  <a:lumOff val="0"/>
                  <a:alphaOff val="0"/>
                </a:sysClr>
              </a:solidFill>
              <a:latin typeface="Rockwell"/>
              <a:ea typeface="+mn-ea"/>
              <a:cs typeface="+mn-cs"/>
            </a:rPr>
            <a:t>Addressing</a:t>
          </a:r>
        </a:p>
        <a:p>
          <a:pPr marL="57150" lvl="1" indent="-57150" algn="l" defTabSz="400050" rtl="0">
            <a:lnSpc>
              <a:spcPct val="90000"/>
            </a:lnSpc>
            <a:spcBef>
              <a:spcPct val="0"/>
            </a:spcBef>
            <a:spcAft>
              <a:spcPct val="15000"/>
            </a:spcAft>
            <a:buChar char="•"/>
          </a:pPr>
          <a:r>
            <a:rPr lang="en-US" sz="900" kern="1200" dirty="0">
              <a:solidFill>
                <a:sysClr val="windowText" lastClr="000000">
                  <a:hueOff val="0"/>
                  <a:satOff val="0"/>
                  <a:lumOff val="0"/>
                  <a:alphaOff val="0"/>
                </a:sysClr>
              </a:solidFill>
              <a:latin typeface="Rockwell"/>
              <a:ea typeface="+mn-ea"/>
              <a:cs typeface="+mn-cs"/>
            </a:rPr>
            <a:t>The mode or modes by which the address of an operand is specified </a:t>
          </a:r>
        </a:p>
      </dsp:txBody>
      <dsp:txXfrm>
        <a:off x="6826894" y="4511591"/>
        <a:ext cx="1706463" cy="943939"/>
      </dsp:txXfrm>
    </dsp:sp>
    <dsp:sp modelId="{E96926DD-E710-3B4C-8E85-4706A8EA77F7}">
      <dsp:nvSpPr>
        <dsp:cNvPr id="0" name=""/>
        <dsp:cNvSpPr/>
      </dsp:nvSpPr>
      <dsp:spPr>
        <a:xfrm rot="10800000">
          <a:off x="304806" y="2265735"/>
          <a:ext cx="7924787" cy="1220409"/>
        </a:xfrm>
        <a:prstGeom prst="upArrowCallout">
          <a:avLst/>
        </a:prstGeom>
        <a:solidFill>
          <a:srgbClr val="999966"/>
        </a:soli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rtl="0">
            <a:lnSpc>
              <a:spcPct val="90000"/>
            </a:lnSpc>
            <a:spcBef>
              <a:spcPct val="0"/>
            </a:spcBef>
            <a:spcAft>
              <a:spcPct val="35000"/>
            </a:spcAft>
            <a:buNone/>
          </a:pPr>
          <a:r>
            <a:rPr lang="en-US" sz="1800" kern="1200" dirty="0">
              <a:solidFill>
                <a:srgbClr val="663366">
                  <a:lumMod val="50000"/>
                </a:srgbClr>
              </a:solidFill>
              <a:effectLst/>
              <a:latin typeface="Rockwell"/>
              <a:ea typeface="+mn-ea"/>
              <a:cs typeface="+mn-cs"/>
            </a:rPr>
            <a:t>Programmer’s means of controlling the processor</a:t>
          </a:r>
        </a:p>
      </dsp:txBody>
      <dsp:txXfrm rot="10800000">
        <a:off x="304806" y="2265735"/>
        <a:ext cx="7924787" cy="792985"/>
      </dsp:txXfrm>
    </dsp:sp>
    <dsp:sp modelId="{01AE4E59-7A07-2540-9D90-9EB69C1E6E80}">
      <dsp:nvSpPr>
        <dsp:cNvPr id="0" name=""/>
        <dsp:cNvSpPr/>
      </dsp:nvSpPr>
      <dsp:spPr>
        <a:xfrm rot="10800000">
          <a:off x="381018" y="1165233"/>
          <a:ext cx="7772363" cy="1131282"/>
        </a:xfrm>
        <a:prstGeom prst="upArrowCallout">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rtl="0">
            <a:lnSpc>
              <a:spcPct val="90000"/>
            </a:lnSpc>
            <a:spcBef>
              <a:spcPct val="0"/>
            </a:spcBef>
            <a:spcAft>
              <a:spcPct val="35000"/>
            </a:spcAft>
            <a:buNone/>
          </a:pPr>
          <a:r>
            <a:rPr lang="en-US" sz="1800" kern="1200" dirty="0">
              <a:solidFill>
                <a:sysClr val="window" lastClr="FFFFFF"/>
              </a:solidFill>
              <a:effectLst>
                <a:outerShdw blurRad="38100" dist="38100" dir="2700000" algn="tl">
                  <a:srgbClr val="000000">
                    <a:alpha val="43137"/>
                  </a:srgbClr>
                </a:outerShdw>
              </a:effectLst>
              <a:latin typeface="Rockwell"/>
              <a:ea typeface="+mn-ea"/>
              <a:cs typeface="+mn-cs"/>
            </a:rPr>
            <a:t>Defines many of the functions performed by the processor</a:t>
          </a:r>
        </a:p>
      </dsp:txBody>
      <dsp:txXfrm rot="10800000">
        <a:off x="381018" y="1165233"/>
        <a:ext cx="7772363" cy="735073"/>
      </dsp:txXfrm>
    </dsp:sp>
    <dsp:sp modelId="{4CCC5995-C980-C545-822B-7C2E6DA5B193}">
      <dsp:nvSpPr>
        <dsp:cNvPr id="0" name=""/>
        <dsp:cNvSpPr/>
      </dsp:nvSpPr>
      <dsp:spPr>
        <a:xfrm rot="10800000">
          <a:off x="304806" y="663"/>
          <a:ext cx="7924787" cy="1195350"/>
        </a:xfrm>
        <a:prstGeom prst="upArrowCallout">
          <a:avLst/>
        </a:prstGeom>
        <a:solidFill>
          <a:srgbClr val="999966"/>
        </a:soli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rtl="0">
            <a:lnSpc>
              <a:spcPct val="90000"/>
            </a:lnSpc>
            <a:spcBef>
              <a:spcPct val="0"/>
            </a:spcBef>
            <a:spcAft>
              <a:spcPct val="35000"/>
            </a:spcAft>
            <a:buNone/>
          </a:pPr>
          <a:r>
            <a:rPr lang="en-US" sz="1800" kern="1200" dirty="0">
              <a:solidFill>
                <a:srgbClr val="663366">
                  <a:lumMod val="50000"/>
                </a:srgbClr>
              </a:solidFill>
              <a:effectLst/>
              <a:latin typeface="Rockwell"/>
              <a:ea typeface="+mn-ea"/>
              <a:cs typeface="+mn-cs"/>
            </a:rPr>
            <a:t>Very complex because it affects so many aspects of the computer system</a:t>
          </a:r>
        </a:p>
      </dsp:txBody>
      <dsp:txXfrm rot="10800000">
        <a:off x="304806" y="663"/>
        <a:ext cx="7924787" cy="77670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8EBC3F-3409-F640-A552-34E0EE96B84E}">
      <dsp:nvSpPr>
        <dsp:cNvPr id="0" name=""/>
        <dsp:cNvSpPr/>
      </dsp:nvSpPr>
      <dsp:spPr>
        <a:xfrm>
          <a:off x="1311208" y="0"/>
          <a:ext cx="4578927" cy="4578927"/>
        </a:xfrm>
        <a:prstGeom prst="triangle">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7C8309DA-5AF4-ED4B-8005-9099F3579E74}">
      <dsp:nvSpPr>
        <dsp:cNvPr id="0" name=""/>
        <dsp:cNvSpPr/>
      </dsp:nvSpPr>
      <dsp:spPr>
        <a:xfrm rot="20654831">
          <a:off x="54580" y="388731"/>
          <a:ext cx="2976302" cy="813832"/>
        </a:xfrm>
        <a:prstGeom prst="roundRect">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9540" tIns="129540" rIns="129540" bIns="129540" numCol="1" spcCol="1270" anchor="ctr" anchorCtr="0">
          <a:noAutofit/>
        </a:bodyPr>
        <a:lstStyle/>
        <a:p>
          <a:pPr marL="0" lvl="0" indent="0" algn="ctr" defTabSz="1511300" rtl="0">
            <a:lnSpc>
              <a:spcPct val="90000"/>
            </a:lnSpc>
            <a:spcBef>
              <a:spcPct val="0"/>
            </a:spcBef>
            <a:spcAft>
              <a:spcPct val="35000"/>
            </a:spcAft>
            <a:buNone/>
          </a:pPr>
          <a:r>
            <a:rPr lang="en-US" sz="3400" kern="1200" dirty="0">
              <a:solidFill>
                <a:sysClr val="windowText" lastClr="000000">
                  <a:hueOff val="0"/>
                  <a:satOff val="0"/>
                  <a:lumOff val="0"/>
                  <a:alphaOff val="0"/>
                </a:sysClr>
              </a:solidFill>
              <a:latin typeface="Rockwell"/>
              <a:ea typeface="+mn-ea"/>
              <a:cs typeface="+mn-cs"/>
            </a:rPr>
            <a:t>Addresses</a:t>
          </a:r>
        </a:p>
      </dsp:txBody>
      <dsp:txXfrm>
        <a:off x="94308" y="428459"/>
        <a:ext cx="2896846" cy="734376"/>
      </dsp:txXfrm>
    </dsp:sp>
    <dsp:sp modelId="{60D366F8-501D-8042-914B-93C4C14B955F}">
      <dsp:nvSpPr>
        <dsp:cNvPr id="0" name=""/>
        <dsp:cNvSpPr/>
      </dsp:nvSpPr>
      <dsp:spPr>
        <a:xfrm rot="946966">
          <a:off x="4516451" y="992100"/>
          <a:ext cx="2976302" cy="813832"/>
        </a:xfrm>
        <a:prstGeom prst="roundRect">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9540" tIns="129540" rIns="129540" bIns="129540" numCol="1" spcCol="1270" anchor="ctr" anchorCtr="0">
          <a:noAutofit/>
        </a:bodyPr>
        <a:lstStyle/>
        <a:p>
          <a:pPr marL="0" lvl="0" indent="0" algn="ctr" defTabSz="1511300" rtl="0">
            <a:lnSpc>
              <a:spcPct val="90000"/>
            </a:lnSpc>
            <a:spcBef>
              <a:spcPct val="0"/>
            </a:spcBef>
            <a:spcAft>
              <a:spcPct val="35000"/>
            </a:spcAft>
            <a:buNone/>
          </a:pPr>
          <a:r>
            <a:rPr lang="en-US" sz="3400" kern="1200" dirty="0">
              <a:solidFill>
                <a:sysClr val="windowText" lastClr="000000">
                  <a:hueOff val="0"/>
                  <a:satOff val="0"/>
                  <a:lumOff val="0"/>
                  <a:alphaOff val="0"/>
                </a:sysClr>
              </a:solidFill>
              <a:latin typeface="Rockwell"/>
              <a:ea typeface="+mn-ea"/>
              <a:cs typeface="+mn-cs"/>
            </a:rPr>
            <a:t>Numbers</a:t>
          </a:r>
        </a:p>
      </dsp:txBody>
      <dsp:txXfrm>
        <a:off x="4556179" y="1031828"/>
        <a:ext cx="2896846" cy="734376"/>
      </dsp:txXfrm>
    </dsp:sp>
    <dsp:sp modelId="{7EB31862-2E15-EC40-92A8-38C0729D347E}">
      <dsp:nvSpPr>
        <dsp:cNvPr id="0" name=""/>
        <dsp:cNvSpPr/>
      </dsp:nvSpPr>
      <dsp:spPr>
        <a:xfrm rot="846432">
          <a:off x="144470" y="2487281"/>
          <a:ext cx="2976302" cy="813832"/>
        </a:xfrm>
        <a:prstGeom prst="roundRect">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9540" tIns="129540" rIns="129540" bIns="129540" numCol="1" spcCol="1270" anchor="ctr" anchorCtr="0">
          <a:noAutofit/>
        </a:bodyPr>
        <a:lstStyle/>
        <a:p>
          <a:pPr marL="0" lvl="0" indent="0" algn="ctr" defTabSz="1511300" rtl="0">
            <a:lnSpc>
              <a:spcPct val="90000"/>
            </a:lnSpc>
            <a:spcBef>
              <a:spcPct val="0"/>
            </a:spcBef>
            <a:spcAft>
              <a:spcPct val="35000"/>
            </a:spcAft>
            <a:buNone/>
          </a:pPr>
          <a:r>
            <a:rPr lang="en-US" sz="3400" kern="1200" dirty="0">
              <a:solidFill>
                <a:sysClr val="windowText" lastClr="000000">
                  <a:hueOff val="0"/>
                  <a:satOff val="0"/>
                  <a:lumOff val="0"/>
                  <a:alphaOff val="0"/>
                </a:sysClr>
              </a:solidFill>
              <a:latin typeface="Rockwell"/>
              <a:ea typeface="+mn-ea"/>
              <a:cs typeface="+mn-cs"/>
            </a:rPr>
            <a:t>Characters</a:t>
          </a:r>
        </a:p>
      </dsp:txBody>
      <dsp:txXfrm>
        <a:off x="184198" y="2527009"/>
        <a:ext cx="2896846" cy="734376"/>
      </dsp:txXfrm>
    </dsp:sp>
    <dsp:sp modelId="{98354637-29DA-C24D-92DF-1340B4B82D84}">
      <dsp:nvSpPr>
        <dsp:cNvPr id="0" name=""/>
        <dsp:cNvSpPr/>
      </dsp:nvSpPr>
      <dsp:spPr>
        <a:xfrm rot="20892888">
          <a:off x="4415554" y="3042722"/>
          <a:ext cx="2976302" cy="813832"/>
        </a:xfrm>
        <a:prstGeom prst="roundRect">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9540" tIns="129540" rIns="129540" bIns="129540" numCol="1" spcCol="1270" anchor="ctr" anchorCtr="0">
          <a:noAutofit/>
        </a:bodyPr>
        <a:lstStyle/>
        <a:p>
          <a:pPr marL="0" lvl="0" indent="0" algn="ctr" defTabSz="1511300" rtl="0">
            <a:lnSpc>
              <a:spcPct val="90000"/>
            </a:lnSpc>
            <a:spcBef>
              <a:spcPct val="0"/>
            </a:spcBef>
            <a:spcAft>
              <a:spcPct val="35000"/>
            </a:spcAft>
            <a:buNone/>
          </a:pPr>
          <a:r>
            <a:rPr lang="en-US" sz="3400" kern="1200" dirty="0">
              <a:solidFill>
                <a:sysClr val="windowText" lastClr="000000">
                  <a:hueOff val="0"/>
                  <a:satOff val="0"/>
                  <a:lumOff val="0"/>
                  <a:alphaOff val="0"/>
                </a:sysClr>
              </a:solidFill>
              <a:latin typeface="Rockwell"/>
              <a:ea typeface="+mn-ea"/>
              <a:cs typeface="+mn-cs"/>
            </a:rPr>
            <a:t>Logical Data</a:t>
          </a:r>
        </a:p>
      </dsp:txBody>
      <dsp:txXfrm>
        <a:off x="4455282" y="3082450"/>
        <a:ext cx="2896846" cy="73437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9B4566-06DF-0D42-B507-3EED37032151}">
      <dsp:nvSpPr>
        <dsp:cNvPr id="0" name=""/>
        <dsp:cNvSpPr/>
      </dsp:nvSpPr>
      <dsp:spPr>
        <a:xfrm rot="16200000">
          <a:off x="654" y="383734"/>
          <a:ext cx="4109330" cy="4109330"/>
        </a:xfrm>
        <a:prstGeom prst="downArrow">
          <a:avLst>
            <a:gd name="adj1" fmla="val 50000"/>
            <a:gd name="adj2" fmla="val 35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rtl="0">
            <a:lnSpc>
              <a:spcPct val="90000"/>
            </a:lnSpc>
            <a:spcBef>
              <a:spcPct val="0"/>
            </a:spcBef>
            <a:spcAft>
              <a:spcPct val="35000"/>
            </a:spcAft>
            <a:buNone/>
          </a:pPr>
          <a:r>
            <a:rPr lang="en-US" sz="1900" kern="1200" dirty="0">
              <a:solidFill>
                <a:sysClr val="window" lastClr="FFFFFF"/>
              </a:solidFill>
              <a:effectLst>
                <a:outerShdw blurRad="38100" dist="38100" dir="2700000" algn="tl">
                  <a:srgbClr val="000000">
                    <a:alpha val="43137"/>
                  </a:srgbClr>
                </a:outerShdw>
              </a:effectLst>
              <a:latin typeface="Rockwell"/>
              <a:ea typeface="+mn-ea"/>
              <a:cs typeface="+mn-cs"/>
            </a:rPr>
            <a:t>Most fundamental type of machine instruction</a:t>
          </a:r>
        </a:p>
      </dsp:txBody>
      <dsp:txXfrm rot="5400000">
        <a:off x="654" y="1411066"/>
        <a:ext cx="3390197" cy="2054665"/>
      </dsp:txXfrm>
    </dsp:sp>
    <dsp:sp modelId="{F67F22A8-9610-4948-A69C-A8949F131989}">
      <dsp:nvSpPr>
        <dsp:cNvPr id="0" name=""/>
        <dsp:cNvSpPr/>
      </dsp:nvSpPr>
      <dsp:spPr>
        <a:xfrm rot="5400000">
          <a:off x="4348215" y="383734"/>
          <a:ext cx="4109330" cy="4109330"/>
        </a:xfrm>
        <a:prstGeom prst="downArrow">
          <a:avLst>
            <a:gd name="adj1" fmla="val 50000"/>
            <a:gd name="adj2" fmla="val 35000"/>
          </a:avLst>
        </a:prstGeom>
        <a:solidFill>
          <a:srgbClr val="666699"/>
        </a:soli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5128" tIns="135128" rIns="135128" bIns="135128" numCol="1" spcCol="1270" anchor="t" anchorCtr="0">
          <a:noAutofit/>
        </a:bodyPr>
        <a:lstStyle/>
        <a:p>
          <a:pPr marL="0" lvl="0" indent="0" algn="l" defTabSz="844550" rtl="0">
            <a:lnSpc>
              <a:spcPct val="90000"/>
            </a:lnSpc>
            <a:spcBef>
              <a:spcPct val="0"/>
            </a:spcBef>
            <a:spcAft>
              <a:spcPct val="35000"/>
            </a:spcAft>
            <a:buNone/>
          </a:pPr>
          <a:r>
            <a:rPr lang="en-US" sz="1900" kern="1200" dirty="0">
              <a:solidFill>
                <a:sysClr val="window" lastClr="FFFFFF"/>
              </a:solidFill>
              <a:effectLst>
                <a:outerShdw blurRad="38100" dist="38100" dir="2700000" algn="tl">
                  <a:srgbClr val="000000">
                    <a:alpha val="43137"/>
                  </a:srgbClr>
                </a:outerShdw>
              </a:effectLst>
              <a:latin typeface="Rockwell"/>
              <a:ea typeface="+mn-ea"/>
              <a:cs typeface="+mn-cs"/>
            </a:rPr>
            <a:t>Must specify:</a:t>
          </a:r>
        </a:p>
        <a:p>
          <a:pPr marL="114300" lvl="1" indent="-114300" algn="l" defTabSz="666750" rtl="0">
            <a:lnSpc>
              <a:spcPct val="90000"/>
            </a:lnSpc>
            <a:spcBef>
              <a:spcPct val="0"/>
            </a:spcBef>
            <a:spcAft>
              <a:spcPct val="15000"/>
            </a:spcAft>
            <a:buChar char="•"/>
          </a:pPr>
          <a:r>
            <a:rPr lang="en-US" sz="1500" kern="1200" dirty="0">
              <a:solidFill>
                <a:sysClr val="window" lastClr="FFFFFF"/>
              </a:solidFill>
              <a:effectLst>
                <a:outerShdw blurRad="38100" dist="38100" dir="2700000" algn="tl">
                  <a:srgbClr val="000000">
                    <a:alpha val="43137"/>
                  </a:srgbClr>
                </a:outerShdw>
              </a:effectLst>
              <a:latin typeface="Rockwell"/>
              <a:ea typeface="+mn-ea"/>
              <a:cs typeface="+mn-cs"/>
            </a:rPr>
            <a:t>Location of the source and destination operands</a:t>
          </a:r>
        </a:p>
        <a:p>
          <a:pPr marL="114300" lvl="1" indent="-114300" algn="l" defTabSz="666750" rtl="0">
            <a:lnSpc>
              <a:spcPct val="90000"/>
            </a:lnSpc>
            <a:spcBef>
              <a:spcPct val="0"/>
            </a:spcBef>
            <a:spcAft>
              <a:spcPct val="15000"/>
            </a:spcAft>
            <a:buChar char="•"/>
          </a:pPr>
          <a:r>
            <a:rPr lang="en-US" sz="1500" kern="1200" dirty="0">
              <a:solidFill>
                <a:sysClr val="window" lastClr="FFFFFF"/>
              </a:solidFill>
              <a:effectLst>
                <a:outerShdw blurRad="38100" dist="38100" dir="2700000" algn="tl">
                  <a:srgbClr val="000000">
                    <a:alpha val="43137"/>
                  </a:srgbClr>
                </a:outerShdw>
              </a:effectLst>
              <a:latin typeface="Rockwell"/>
              <a:ea typeface="+mn-ea"/>
              <a:cs typeface="+mn-cs"/>
            </a:rPr>
            <a:t>The length of data to be transferred must be indicated</a:t>
          </a:r>
        </a:p>
        <a:p>
          <a:pPr marL="114300" lvl="1" indent="-114300" algn="l" defTabSz="666750" rtl="0">
            <a:lnSpc>
              <a:spcPct val="90000"/>
            </a:lnSpc>
            <a:spcBef>
              <a:spcPct val="0"/>
            </a:spcBef>
            <a:spcAft>
              <a:spcPct val="15000"/>
            </a:spcAft>
            <a:buChar char="•"/>
          </a:pPr>
          <a:r>
            <a:rPr lang="en-US" sz="1500" kern="1200" dirty="0">
              <a:solidFill>
                <a:sysClr val="window" lastClr="FFFFFF"/>
              </a:solidFill>
              <a:effectLst>
                <a:outerShdw blurRad="38100" dist="38100" dir="2700000" algn="tl">
                  <a:srgbClr val="000000">
                    <a:alpha val="43137"/>
                  </a:srgbClr>
                </a:outerShdw>
              </a:effectLst>
              <a:latin typeface="Rockwell"/>
              <a:ea typeface="+mn-ea"/>
              <a:cs typeface="+mn-cs"/>
            </a:rPr>
            <a:t>The mode of addressing for each operand must be specified</a:t>
          </a:r>
        </a:p>
      </dsp:txBody>
      <dsp:txXfrm rot="-5400000">
        <a:off x="5067348" y="1411067"/>
        <a:ext cx="3390197" cy="205466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C9DA8E-8ED9-844B-B613-13FD05010447}">
      <dsp:nvSpPr>
        <dsp:cNvPr id="0" name=""/>
        <dsp:cNvSpPr/>
      </dsp:nvSpPr>
      <dsp:spPr>
        <a:xfrm>
          <a:off x="265934" y="119324"/>
          <a:ext cx="2988597" cy="2988597"/>
        </a:xfrm>
        <a:prstGeom prst="ellipse">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rtl="0">
            <a:lnSpc>
              <a:spcPct val="90000"/>
            </a:lnSpc>
            <a:spcBef>
              <a:spcPct val="0"/>
            </a:spcBef>
            <a:spcAft>
              <a:spcPct val="35000"/>
            </a:spcAft>
            <a:buNone/>
          </a:pPr>
          <a:r>
            <a:rPr lang="en-US" sz="2100" kern="1200" dirty="0">
              <a:solidFill>
                <a:sysClr val="window" lastClr="FFFFFF"/>
              </a:solidFill>
              <a:effectLst>
                <a:outerShdw blurRad="38100" dist="38100" dir="2700000" algn="tl">
                  <a:srgbClr val="000000">
                    <a:alpha val="43137"/>
                  </a:srgbClr>
                </a:outerShdw>
              </a:effectLst>
              <a:latin typeface="Rockwell"/>
              <a:ea typeface="+mn-ea"/>
              <a:cs typeface="+mn-cs"/>
            </a:rPr>
            <a:t>Instructions that change the format or operate on the format of data</a:t>
          </a:r>
        </a:p>
      </dsp:txBody>
      <dsp:txXfrm>
        <a:off x="703604" y="556994"/>
        <a:ext cx="2113257" cy="2113257"/>
      </dsp:txXfrm>
    </dsp:sp>
    <dsp:sp modelId="{A565A70D-D266-D14D-801A-624F8C0A17FF}">
      <dsp:nvSpPr>
        <dsp:cNvPr id="0" name=""/>
        <dsp:cNvSpPr/>
      </dsp:nvSpPr>
      <dsp:spPr>
        <a:xfrm rot="9682874">
          <a:off x="1922770" y="3312496"/>
          <a:ext cx="1046009" cy="671936"/>
        </a:xfrm>
        <a:prstGeom prst="triangle">
          <a:avLst/>
        </a:prstGeom>
        <a:solidFill>
          <a:srgbClr val="666699"/>
        </a:soli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D26DB3FA-AA5B-7B46-A54F-F769F99A465F}">
      <dsp:nvSpPr>
        <dsp:cNvPr id="0" name=""/>
        <dsp:cNvSpPr/>
      </dsp:nvSpPr>
      <dsp:spPr>
        <a:xfrm>
          <a:off x="1963607" y="4179006"/>
          <a:ext cx="1993394" cy="1993394"/>
        </a:xfrm>
        <a:prstGeom prst="ellipse">
          <a:avLst/>
        </a:prstGeom>
        <a:solidFill>
          <a:srgbClr val="999966"/>
        </a:solidFill>
        <a:ln>
          <a:solidFill>
            <a:srgbClr val="999966"/>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rtl="0">
            <a:lnSpc>
              <a:spcPct val="90000"/>
            </a:lnSpc>
            <a:spcBef>
              <a:spcPct val="0"/>
            </a:spcBef>
            <a:spcAft>
              <a:spcPct val="35000"/>
            </a:spcAft>
            <a:buNone/>
          </a:pPr>
          <a:r>
            <a:rPr lang="en-US" sz="1800" kern="1200" dirty="0">
              <a:solidFill>
                <a:srgbClr val="2B142D"/>
              </a:solidFill>
              <a:effectLst>
                <a:outerShdw blurRad="38100" dist="38100" dir="2700000" algn="tl">
                  <a:srgbClr val="000000">
                    <a:alpha val="43137"/>
                  </a:srgbClr>
                </a:outerShdw>
              </a:effectLst>
              <a:latin typeface="Rockwell"/>
              <a:ea typeface="+mn-ea"/>
              <a:cs typeface="+mn-cs"/>
            </a:rPr>
            <a:t>An example is converting from decimal to binary</a:t>
          </a:r>
        </a:p>
      </dsp:txBody>
      <dsp:txXfrm>
        <a:off x="2255533" y="4470932"/>
        <a:ext cx="1409542" cy="1409542"/>
      </dsp:txXfrm>
    </dsp:sp>
    <dsp:sp modelId="{D49EAA5E-508B-AC45-A500-B17EA738C083}">
      <dsp:nvSpPr>
        <dsp:cNvPr id="0" name=""/>
        <dsp:cNvSpPr/>
      </dsp:nvSpPr>
      <dsp:spPr>
        <a:xfrm rot="4726641">
          <a:off x="4306020" y="4468950"/>
          <a:ext cx="1046009" cy="671936"/>
        </a:xfrm>
        <a:prstGeom prst="triangle">
          <a:avLst/>
        </a:prstGeom>
        <a:solidFill>
          <a:srgbClr val="663366">
            <a:alpha val="87000"/>
          </a:srgbClr>
        </a:solidFill>
        <a:ln>
          <a:solidFill>
            <a:srgbClr val="999966"/>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4F063FBB-5B0E-B64A-B216-78406CFC0194}">
      <dsp:nvSpPr>
        <dsp:cNvPr id="0" name=""/>
        <dsp:cNvSpPr/>
      </dsp:nvSpPr>
      <dsp:spPr>
        <a:xfrm>
          <a:off x="5654226" y="2850394"/>
          <a:ext cx="2988597" cy="2988597"/>
        </a:xfrm>
        <a:prstGeom prst="ellipse">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rtl="0">
            <a:lnSpc>
              <a:spcPct val="90000"/>
            </a:lnSpc>
            <a:spcBef>
              <a:spcPct val="0"/>
            </a:spcBef>
            <a:spcAft>
              <a:spcPct val="35000"/>
            </a:spcAft>
            <a:buNone/>
          </a:pPr>
          <a:r>
            <a:rPr lang="en-US" sz="2100" kern="1200" dirty="0">
              <a:solidFill>
                <a:sysClr val="window" lastClr="FFFFFF"/>
              </a:solidFill>
              <a:effectLst>
                <a:outerShdw blurRad="38100" dist="38100" dir="2700000" algn="tl">
                  <a:srgbClr val="000000">
                    <a:alpha val="43137"/>
                  </a:srgbClr>
                </a:outerShdw>
              </a:effectLst>
              <a:latin typeface="Rockwell"/>
              <a:ea typeface="+mn-ea"/>
              <a:cs typeface="+mn-cs"/>
            </a:rPr>
            <a:t>An example of a more complex editing instruction is the EAS/390 Translate (TR) instruction</a:t>
          </a:r>
        </a:p>
      </dsp:txBody>
      <dsp:txXfrm>
        <a:off x="6091896" y="3288064"/>
        <a:ext cx="2113257" cy="211325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49312C-F687-024F-ADD4-C847C870AB31}">
      <dsp:nvSpPr>
        <dsp:cNvPr id="0" name=""/>
        <dsp:cNvSpPr/>
      </dsp:nvSpPr>
      <dsp:spPr>
        <a:xfrm>
          <a:off x="0" y="0"/>
          <a:ext cx="8229600" cy="4876800"/>
        </a:xfrm>
        <a:prstGeom prst="roundRect">
          <a:avLst>
            <a:gd name="adj" fmla="val 8500"/>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3784939" numCol="1" spcCol="1270" anchor="t" anchorCtr="0">
          <a:noAutofit/>
        </a:bodyPr>
        <a:lstStyle/>
        <a:p>
          <a:pPr marL="0" lvl="0" indent="0" algn="l" defTabSz="844550" rtl="0">
            <a:lnSpc>
              <a:spcPct val="90000"/>
            </a:lnSpc>
            <a:spcBef>
              <a:spcPct val="0"/>
            </a:spcBef>
            <a:spcAft>
              <a:spcPct val="35000"/>
            </a:spcAft>
            <a:buNone/>
          </a:pPr>
          <a:r>
            <a:rPr lang="en-US" sz="1900" kern="1200" dirty="0">
              <a:solidFill>
                <a:sysClr val="window" lastClr="FFFFFF"/>
              </a:solidFill>
              <a:latin typeface="Rockwell"/>
              <a:ea typeface="+mn-ea"/>
              <a:cs typeface="+mn-cs"/>
            </a:rPr>
            <a:t>Instructions that can be executed only while the processor is in a certain privileged state or is executing a program in a special privileged area of memory</a:t>
          </a:r>
        </a:p>
      </dsp:txBody>
      <dsp:txXfrm>
        <a:off x="121411" y="121411"/>
        <a:ext cx="7986778" cy="4633978"/>
      </dsp:txXfrm>
    </dsp:sp>
    <dsp:sp modelId="{4E50C6BF-910E-7348-A303-09A554EEAA0A}">
      <dsp:nvSpPr>
        <dsp:cNvPr id="0" name=""/>
        <dsp:cNvSpPr/>
      </dsp:nvSpPr>
      <dsp:spPr>
        <a:xfrm>
          <a:off x="205740" y="1219200"/>
          <a:ext cx="7818120" cy="3413760"/>
        </a:xfrm>
        <a:prstGeom prst="roundRect">
          <a:avLst>
            <a:gd name="adj" fmla="val 10500"/>
          </a:avLst>
        </a:prstGeom>
        <a:solidFill>
          <a:srgbClr val="999966"/>
        </a:solidFill>
        <a:ln>
          <a:solidFill>
            <a:srgbClr val="999966"/>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2167738" numCol="1" spcCol="1270" anchor="t" anchorCtr="0">
          <a:noAutofit/>
        </a:bodyPr>
        <a:lstStyle/>
        <a:p>
          <a:pPr marL="0" lvl="0" indent="0" algn="l" defTabSz="844550" rtl="0">
            <a:lnSpc>
              <a:spcPct val="90000"/>
            </a:lnSpc>
            <a:spcBef>
              <a:spcPct val="0"/>
            </a:spcBef>
            <a:spcAft>
              <a:spcPct val="35000"/>
            </a:spcAft>
            <a:buNone/>
          </a:pPr>
          <a:r>
            <a:rPr lang="en-US" sz="1900" kern="1200" dirty="0">
              <a:solidFill>
                <a:sysClr val="window" lastClr="FFFFFF"/>
              </a:solidFill>
              <a:latin typeface="Rockwell"/>
              <a:ea typeface="+mn-ea"/>
              <a:cs typeface="+mn-cs"/>
            </a:rPr>
            <a:t>Typically these instructions are reserved for the use of the operating system</a:t>
          </a:r>
        </a:p>
      </dsp:txBody>
      <dsp:txXfrm>
        <a:off x="310725" y="1324185"/>
        <a:ext cx="7608150" cy="3203790"/>
      </dsp:txXfrm>
    </dsp:sp>
    <dsp:sp modelId="{6F92330B-2BD8-9C42-AA59-CA71F506DD3E}">
      <dsp:nvSpPr>
        <dsp:cNvPr id="0" name=""/>
        <dsp:cNvSpPr/>
      </dsp:nvSpPr>
      <dsp:spPr>
        <a:xfrm>
          <a:off x="411480" y="2438400"/>
          <a:ext cx="7406640" cy="1950720"/>
        </a:xfrm>
        <a:prstGeom prst="roundRect">
          <a:avLst>
            <a:gd name="adj" fmla="val 105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1101073" numCol="1" spcCol="1270" anchor="t" anchorCtr="0">
          <a:noAutofit/>
        </a:bodyPr>
        <a:lstStyle/>
        <a:p>
          <a:pPr marL="0" lvl="0" indent="0" algn="l" defTabSz="844550" rtl="0">
            <a:lnSpc>
              <a:spcPct val="90000"/>
            </a:lnSpc>
            <a:spcBef>
              <a:spcPct val="0"/>
            </a:spcBef>
            <a:spcAft>
              <a:spcPct val="35000"/>
            </a:spcAft>
            <a:buNone/>
          </a:pPr>
          <a:r>
            <a:rPr lang="en-US" sz="1900" kern="1200" dirty="0">
              <a:solidFill>
                <a:sysClr val="window" lastClr="FFFFFF"/>
              </a:solidFill>
              <a:latin typeface="Rockwell"/>
              <a:ea typeface="+mn-ea"/>
              <a:cs typeface="+mn-cs"/>
            </a:rPr>
            <a:t>Examples of system control operations:</a:t>
          </a:r>
        </a:p>
      </dsp:txBody>
      <dsp:txXfrm>
        <a:off x="471471" y="2498391"/>
        <a:ext cx="7286658" cy="1830738"/>
      </dsp:txXfrm>
    </dsp:sp>
    <dsp:sp modelId="{1FFD221F-6A7C-0B45-912E-7B2D41C939FB}">
      <dsp:nvSpPr>
        <dsp:cNvPr id="0" name=""/>
        <dsp:cNvSpPr/>
      </dsp:nvSpPr>
      <dsp:spPr>
        <a:xfrm>
          <a:off x="596646" y="3316224"/>
          <a:ext cx="2315659" cy="877824"/>
        </a:xfrm>
        <a:prstGeom prst="roundRect">
          <a:avLst>
            <a:gd name="adj" fmla="val 105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rtl="0">
            <a:lnSpc>
              <a:spcPct val="90000"/>
            </a:lnSpc>
            <a:spcBef>
              <a:spcPct val="0"/>
            </a:spcBef>
            <a:spcAft>
              <a:spcPct val="35000"/>
            </a:spcAft>
            <a:buNone/>
          </a:pPr>
          <a:r>
            <a:rPr lang="en-US" sz="1300" kern="1200" dirty="0">
              <a:solidFill>
                <a:sysClr val="windowText" lastClr="000000">
                  <a:hueOff val="0"/>
                  <a:satOff val="0"/>
                  <a:lumOff val="0"/>
                  <a:alphaOff val="0"/>
                </a:sysClr>
              </a:solidFill>
              <a:latin typeface="Rockwell"/>
              <a:ea typeface="+mn-ea"/>
              <a:cs typeface="+mn-cs"/>
            </a:rPr>
            <a:t>A system control instruction may read or alter a control register</a:t>
          </a:r>
        </a:p>
      </dsp:txBody>
      <dsp:txXfrm>
        <a:off x="623642" y="3343220"/>
        <a:ext cx="2261667" cy="823832"/>
      </dsp:txXfrm>
    </dsp:sp>
    <dsp:sp modelId="{099E1357-5252-C648-9171-1537398C3A8C}">
      <dsp:nvSpPr>
        <dsp:cNvPr id="0" name=""/>
        <dsp:cNvSpPr/>
      </dsp:nvSpPr>
      <dsp:spPr>
        <a:xfrm>
          <a:off x="2952931" y="3316224"/>
          <a:ext cx="2315659" cy="877824"/>
        </a:xfrm>
        <a:prstGeom prst="roundRect">
          <a:avLst>
            <a:gd name="adj" fmla="val 105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rtl="0">
            <a:lnSpc>
              <a:spcPct val="90000"/>
            </a:lnSpc>
            <a:spcBef>
              <a:spcPct val="0"/>
            </a:spcBef>
            <a:spcAft>
              <a:spcPct val="35000"/>
            </a:spcAft>
            <a:buNone/>
          </a:pPr>
          <a:r>
            <a:rPr lang="en-US" sz="1300" kern="1200" dirty="0">
              <a:solidFill>
                <a:sysClr val="windowText" lastClr="000000">
                  <a:hueOff val="0"/>
                  <a:satOff val="0"/>
                  <a:lumOff val="0"/>
                  <a:alphaOff val="0"/>
                </a:sysClr>
              </a:solidFill>
              <a:latin typeface="Rockwell"/>
              <a:ea typeface="+mn-ea"/>
              <a:cs typeface="+mn-cs"/>
            </a:rPr>
            <a:t>An instruction to read or modify a storage protection key</a:t>
          </a:r>
        </a:p>
      </dsp:txBody>
      <dsp:txXfrm>
        <a:off x="2979927" y="3343220"/>
        <a:ext cx="2261667" cy="823832"/>
      </dsp:txXfrm>
    </dsp:sp>
    <dsp:sp modelId="{958E3D0C-1153-3645-896A-A62EDB2811F7}">
      <dsp:nvSpPr>
        <dsp:cNvPr id="0" name=""/>
        <dsp:cNvSpPr/>
      </dsp:nvSpPr>
      <dsp:spPr>
        <a:xfrm>
          <a:off x="5309217" y="3316224"/>
          <a:ext cx="2315659" cy="877824"/>
        </a:xfrm>
        <a:prstGeom prst="roundRect">
          <a:avLst>
            <a:gd name="adj" fmla="val 105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rtl="0">
            <a:lnSpc>
              <a:spcPct val="90000"/>
            </a:lnSpc>
            <a:spcBef>
              <a:spcPct val="0"/>
            </a:spcBef>
            <a:spcAft>
              <a:spcPct val="35000"/>
            </a:spcAft>
            <a:buNone/>
          </a:pPr>
          <a:r>
            <a:rPr lang="en-US" sz="1300" kern="1200" dirty="0">
              <a:solidFill>
                <a:sysClr val="windowText" lastClr="000000">
                  <a:hueOff val="0"/>
                  <a:satOff val="0"/>
                  <a:lumOff val="0"/>
                  <a:alphaOff val="0"/>
                </a:sysClr>
              </a:solidFill>
              <a:latin typeface="Rockwell"/>
              <a:ea typeface="+mn-ea"/>
              <a:cs typeface="+mn-cs"/>
            </a:rPr>
            <a:t>Access to process control blocks in a multiprogramming system</a:t>
          </a:r>
        </a:p>
      </dsp:txBody>
      <dsp:txXfrm>
        <a:off x="5336213" y="3343220"/>
        <a:ext cx="2261667" cy="82383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3FD2E1-6A44-304A-8ABE-D29421750942}">
      <dsp:nvSpPr>
        <dsp:cNvPr id="0" name=""/>
        <dsp:cNvSpPr/>
      </dsp:nvSpPr>
      <dsp:spPr>
        <a:xfrm>
          <a:off x="-6102426" y="-934316"/>
          <a:ext cx="7269307" cy="7269307"/>
        </a:xfrm>
        <a:prstGeom prst="blockArc">
          <a:avLst>
            <a:gd name="adj1" fmla="val 18900000"/>
            <a:gd name="adj2" fmla="val 2700000"/>
            <a:gd name="adj3" fmla="val 297"/>
          </a:avLst>
        </a:prstGeom>
        <a:noFill/>
        <a:ln w="25400" cap="flat" cmpd="sng" algn="ctr">
          <a:solidFill>
            <a:srgbClr val="330F42">
              <a:shade val="60000"/>
              <a:hueOff val="0"/>
              <a:satOff val="0"/>
              <a:lumOff val="0"/>
              <a:alphaOff val="0"/>
            </a:srgbClr>
          </a:solidFill>
          <a:prstDash val="solid"/>
        </a:ln>
        <a:effectLst/>
      </dsp:spPr>
      <dsp:style>
        <a:lnRef idx="2">
          <a:scrgbClr r="0" g="0" b="0"/>
        </a:lnRef>
        <a:fillRef idx="0">
          <a:scrgbClr r="0" g="0" b="0"/>
        </a:fillRef>
        <a:effectRef idx="0">
          <a:scrgbClr r="0" g="0" b="0"/>
        </a:effectRef>
        <a:fontRef idx="minor"/>
      </dsp:style>
    </dsp:sp>
    <dsp:sp modelId="{2CBD8BE2-2890-524A-8B30-4BF8372329EA}">
      <dsp:nvSpPr>
        <dsp:cNvPr id="0" name=""/>
        <dsp:cNvSpPr/>
      </dsp:nvSpPr>
      <dsp:spPr>
        <a:xfrm>
          <a:off x="378857" y="245514"/>
          <a:ext cx="6137267" cy="490813"/>
        </a:xfrm>
        <a:prstGeom prst="rect">
          <a:avLst/>
        </a:prstGeom>
        <a:gradFill rotWithShape="0">
          <a:gsLst>
            <a:gs pos="0">
              <a:srgbClr val="330F42">
                <a:hueOff val="0"/>
                <a:satOff val="0"/>
                <a:lumOff val="0"/>
                <a:alphaOff val="0"/>
                <a:shade val="40000"/>
                <a:alpha val="100000"/>
                <a:satMod val="150000"/>
                <a:lumMod val="100000"/>
              </a:srgbClr>
            </a:gs>
            <a:gs pos="100000">
              <a:srgbClr val="330F42">
                <a:hueOff val="0"/>
                <a:satOff val="0"/>
                <a:lumOff val="0"/>
                <a:alphaOff val="0"/>
                <a:tint val="70000"/>
                <a:shade val="100000"/>
                <a:alpha val="100000"/>
                <a:satMod val="200000"/>
                <a:lumMod val="100000"/>
              </a:srgbClr>
            </a:gs>
          </a:gsLst>
          <a:lin ang="5400000" scaled="1"/>
        </a:gradFill>
        <a:ln>
          <a:noFill/>
        </a:ln>
        <a:effectLst/>
        <a:scene3d>
          <a:camera prst="orthographicFront">
            <a:rot lat="0" lon="0" rev="0"/>
          </a:camera>
          <a:lightRig rig="twoPt" dir="tl">
            <a:rot lat="0" lon="0" rev="4500000"/>
          </a:lightRig>
        </a:scene3d>
        <a:sp3d>
          <a:bevelT w="63500" h="50800"/>
        </a:sp3d>
      </dsp:spPr>
      <dsp:style>
        <a:lnRef idx="0">
          <a:scrgbClr r="0" g="0" b="0"/>
        </a:lnRef>
        <a:fillRef idx="3">
          <a:scrgbClr r="0" g="0" b="0"/>
        </a:fillRef>
        <a:effectRef idx="3">
          <a:scrgbClr r="0" g="0" b="0"/>
        </a:effectRef>
        <a:fontRef idx="minor">
          <a:schemeClr val="lt1"/>
        </a:fontRef>
      </dsp:style>
      <dsp:txBody>
        <a:bodyPr spcFirstLastPara="0" vert="horz" wrap="square" lIns="389583" tIns="66040" rIns="66040" bIns="66040" numCol="1" spcCol="1270" anchor="ctr" anchorCtr="0">
          <a:noAutofit/>
        </a:bodyPr>
        <a:lstStyle/>
        <a:p>
          <a:pPr marL="0" lvl="0" indent="0" algn="l" defTabSz="1155700" rtl="0">
            <a:lnSpc>
              <a:spcPct val="90000"/>
            </a:lnSpc>
            <a:spcBef>
              <a:spcPct val="0"/>
            </a:spcBef>
            <a:spcAft>
              <a:spcPct val="35000"/>
            </a:spcAft>
            <a:buNone/>
          </a:pPr>
          <a:r>
            <a:rPr lang="en-US" sz="2600" kern="1200">
              <a:solidFill>
                <a:sysClr val="window" lastClr="FFFFFF"/>
              </a:solidFill>
              <a:latin typeface="Rockwell"/>
              <a:ea typeface="+mn-ea"/>
              <a:cs typeface="+mn-cs"/>
            </a:rPr>
            <a:t>Immediate</a:t>
          </a:r>
        </a:p>
      </dsp:txBody>
      <dsp:txXfrm>
        <a:off x="378857" y="245514"/>
        <a:ext cx="6137267" cy="490813"/>
      </dsp:txXfrm>
    </dsp:sp>
    <dsp:sp modelId="{3A908DAF-12B2-5D4A-8B94-244EFBE3757C}">
      <dsp:nvSpPr>
        <dsp:cNvPr id="0" name=""/>
        <dsp:cNvSpPr/>
      </dsp:nvSpPr>
      <dsp:spPr>
        <a:xfrm>
          <a:off x="72099" y="184163"/>
          <a:ext cx="613516" cy="613516"/>
        </a:xfrm>
        <a:prstGeom prst="ellipse">
          <a:avLst/>
        </a:prstGeom>
        <a:solidFill>
          <a:sysClr val="window" lastClr="FFFFFF">
            <a:hueOff val="0"/>
            <a:satOff val="0"/>
            <a:lumOff val="0"/>
            <a:alphaOff val="0"/>
          </a:sysClr>
        </a:solidFill>
        <a:ln w="12700" cap="flat" cmpd="sng" algn="ctr">
          <a:solidFill>
            <a:srgbClr val="330F42">
              <a:hueOff val="0"/>
              <a:satOff val="0"/>
              <a:lumOff val="0"/>
              <a:alphaOff val="0"/>
            </a:srgb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1">
          <a:scrgbClr r="0" g="0" b="0"/>
        </a:fillRef>
        <a:effectRef idx="2">
          <a:scrgbClr r="0" g="0" b="0"/>
        </a:effectRef>
        <a:fontRef idx="minor"/>
      </dsp:style>
    </dsp:sp>
    <dsp:sp modelId="{5D6CDD84-B3EF-9C46-B0CB-2C51976A425F}">
      <dsp:nvSpPr>
        <dsp:cNvPr id="0" name=""/>
        <dsp:cNvSpPr/>
      </dsp:nvSpPr>
      <dsp:spPr>
        <a:xfrm>
          <a:off x="823332" y="982166"/>
          <a:ext cx="5692792" cy="490813"/>
        </a:xfrm>
        <a:prstGeom prst="rect">
          <a:avLst/>
        </a:prstGeom>
        <a:gradFill rotWithShape="0">
          <a:gsLst>
            <a:gs pos="0">
              <a:srgbClr val="330F42">
                <a:hueOff val="0"/>
                <a:satOff val="0"/>
                <a:lumOff val="0"/>
                <a:alphaOff val="0"/>
                <a:shade val="40000"/>
                <a:alpha val="100000"/>
                <a:satMod val="150000"/>
                <a:lumMod val="100000"/>
              </a:srgbClr>
            </a:gs>
            <a:gs pos="100000">
              <a:srgbClr val="330F42">
                <a:hueOff val="0"/>
                <a:satOff val="0"/>
                <a:lumOff val="0"/>
                <a:alphaOff val="0"/>
                <a:tint val="70000"/>
                <a:shade val="100000"/>
                <a:alpha val="100000"/>
                <a:satMod val="200000"/>
                <a:lumMod val="100000"/>
              </a:srgbClr>
            </a:gs>
          </a:gsLst>
          <a:lin ang="5400000" scaled="1"/>
        </a:gradFill>
        <a:ln>
          <a:noFill/>
        </a:ln>
        <a:effectLst/>
        <a:scene3d>
          <a:camera prst="orthographicFront">
            <a:rot lat="0" lon="0" rev="0"/>
          </a:camera>
          <a:lightRig rig="twoPt" dir="tl">
            <a:rot lat="0" lon="0" rev="4500000"/>
          </a:lightRig>
        </a:scene3d>
        <a:sp3d>
          <a:bevelT w="63500" h="50800"/>
        </a:sp3d>
      </dsp:spPr>
      <dsp:style>
        <a:lnRef idx="0">
          <a:scrgbClr r="0" g="0" b="0"/>
        </a:lnRef>
        <a:fillRef idx="3">
          <a:scrgbClr r="0" g="0" b="0"/>
        </a:fillRef>
        <a:effectRef idx="3">
          <a:scrgbClr r="0" g="0" b="0"/>
        </a:effectRef>
        <a:fontRef idx="minor">
          <a:schemeClr val="lt1"/>
        </a:fontRef>
      </dsp:style>
      <dsp:txBody>
        <a:bodyPr spcFirstLastPara="0" vert="horz" wrap="square" lIns="389583" tIns="66040" rIns="66040" bIns="66040" numCol="1" spcCol="1270" anchor="ctr" anchorCtr="0">
          <a:noAutofit/>
        </a:bodyPr>
        <a:lstStyle/>
        <a:p>
          <a:pPr marL="0" lvl="0" indent="0" algn="l" defTabSz="1155700" rtl="0">
            <a:lnSpc>
              <a:spcPct val="90000"/>
            </a:lnSpc>
            <a:spcBef>
              <a:spcPct val="0"/>
            </a:spcBef>
            <a:spcAft>
              <a:spcPct val="35000"/>
            </a:spcAft>
            <a:buNone/>
          </a:pPr>
          <a:r>
            <a:rPr lang="en-US" sz="2600" kern="1200" dirty="0">
              <a:solidFill>
                <a:sysClr val="window" lastClr="FFFFFF"/>
              </a:solidFill>
              <a:latin typeface="Rockwell"/>
              <a:ea typeface="+mn-ea"/>
              <a:cs typeface="+mn-cs"/>
            </a:rPr>
            <a:t>Direct</a:t>
          </a:r>
        </a:p>
      </dsp:txBody>
      <dsp:txXfrm>
        <a:off x="823332" y="982166"/>
        <a:ext cx="5692792" cy="490813"/>
      </dsp:txXfrm>
    </dsp:sp>
    <dsp:sp modelId="{C8DBD8D7-7921-8E46-8701-0CB59E7E5B84}">
      <dsp:nvSpPr>
        <dsp:cNvPr id="0" name=""/>
        <dsp:cNvSpPr/>
      </dsp:nvSpPr>
      <dsp:spPr>
        <a:xfrm>
          <a:off x="516574" y="920815"/>
          <a:ext cx="613516" cy="613516"/>
        </a:xfrm>
        <a:prstGeom prst="ellipse">
          <a:avLst/>
        </a:prstGeom>
        <a:solidFill>
          <a:sysClr val="window" lastClr="FFFFFF">
            <a:hueOff val="0"/>
            <a:satOff val="0"/>
            <a:lumOff val="0"/>
            <a:alphaOff val="0"/>
          </a:sysClr>
        </a:solidFill>
        <a:ln w="12700" cap="flat" cmpd="sng" algn="ctr">
          <a:solidFill>
            <a:srgbClr val="330F42">
              <a:hueOff val="0"/>
              <a:satOff val="0"/>
              <a:lumOff val="0"/>
              <a:alphaOff val="0"/>
            </a:srgb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1">
          <a:scrgbClr r="0" g="0" b="0"/>
        </a:fillRef>
        <a:effectRef idx="2">
          <a:scrgbClr r="0" g="0" b="0"/>
        </a:effectRef>
        <a:fontRef idx="minor"/>
      </dsp:style>
    </dsp:sp>
    <dsp:sp modelId="{D1813CF1-15BD-1746-9C06-CB67253200BC}">
      <dsp:nvSpPr>
        <dsp:cNvPr id="0" name=""/>
        <dsp:cNvSpPr/>
      </dsp:nvSpPr>
      <dsp:spPr>
        <a:xfrm>
          <a:off x="1066903" y="1718278"/>
          <a:ext cx="5449221" cy="490813"/>
        </a:xfrm>
        <a:prstGeom prst="rect">
          <a:avLst/>
        </a:prstGeom>
        <a:gradFill rotWithShape="0">
          <a:gsLst>
            <a:gs pos="0">
              <a:srgbClr val="330F42">
                <a:hueOff val="0"/>
                <a:satOff val="0"/>
                <a:lumOff val="0"/>
                <a:alphaOff val="0"/>
                <a:shade val="40000"/>
                <a:alpha val="100000"/>
                <a:satMod val="150000"/>
                <a:lumMod val="100000"/>
              </a:srgbClr>
            </a:gs>
            <a:gs pos="100000">
              <a:srgbClr val="330F42">
                <a:hueOff val="0"/>
                <a:satOff val="0"/>
                <a:lumOff val="0"/>
                <a:alphaOff val="0"/>
                <a:tint val="70000"/>
                <a:shade val="100000"/>
                <a:alpha val="100000"/>
                <a:satMod val="200000"/>
                <a:lumMod val="100000"/>
              </a:srgbClr>
            </a:gs>
          </a:gsLst>
          <a:lin ang="5400000" scaled="1"/>
        </a:gradFill>
        <a:ln>
          <a:noFill/>
        </a:ln>
        <a:effectLst/>
        <a:scene3d>
          <a:camera prst="orthographicFront">
            <a:rot lat="0" lon="0" rev="0"/>
          </a:camera>
          <a:lightRig rig="twoPt" dir="tl">
            <a:rot lat="0" lon="0" rev="4500000"/>
          </a:lightRig>
        </a:scene3d>
        <a:sp3d>
          <a:bevelT w="63500" h="50800"/>
        </a:sp3d>
      </dsp:spPr>
      <dsp:style>
        <a:lnRef idx="0">
          <a:scrgbClr r="0" g="0" b="0"/>
        </a:lnRef>
        <a:fillRef idx="3">
          <a:scrgbClr r="0" g="0" b="0"/>
        </a:fillRef>
        <a:effectRef idx="3">
          <a:scrgbClr r="0" g="0" b="0"/>
        </a:effectRef>
        <a:fontRef idx="minor">
          <a:schemeClr val="lt1"/>
        </a:fontRef>
      </dsp:style>
      <dsp:txBody>
        <a:bodyPr spcFirstLastPara="0" vert="horz" wrap="square" lIns="389583" tIns="66040" rIns="66040" bIns="66040" numCol="1" spcCol="1270" anchor="ctr" anchorCtr="0">
          <a:noAutofit/>
        </a:bodyPr>
        <a:lstStyle/>
        <a:p>
          <a:pPr marL="0" lvl="0" indent="0" algn="l" defTabSz="1155700" rtl="0">
            <a:lnSpc>
              <a:spcPct val="90000"/>
            </a:lnSpc>
            <a:spcBef>
              <a:spcPct val="0"/>
            </a:spcBef>
            <a:spcAft>
              <a:spcPct val="35000"/>
            </a:spcAft>
            <a:buNone/>
          </a:pPr>
          <a:r>
            <a:rPr lang="en-US" sz="2600" kern="1200" dirty="0">
              <a:solidFill>
                <a:sysClr val="window" lastClr="FFFFFF"/>
              </a:solidFill>
              <a:latin typeface="Rockwell"/>
              <a:ea typeface="+mn-ea"/>
              <a:cs typeface="+mn-cs"/>
            </a:rPr>
            <a:t>Indirect</a:t>
          </a:r>
        </a:p>
      </dsp:txBody>
      <dsp:txXfrm>
        <a:off x="1066903" y="1718278"/>
        <a:ext cx="5449221" cy="490813"/>
      </dsp:txXfrm>
    </dsp:sp>
    <dsp:sp modelId="{2DEFCA7B-7A11-FF43-8F11-DDD566601285}">
      <dsp:nvSpPr>
        <dsp:cNvPr id="0" name=""/>
        <dsp:cNvSpPr/>
      </dsp:nvSpPr>
      <dsp:spPr>
        <a:xfrm>
          <a:off x="760145" y="1656927"/>
          <a:ext cx="613516" cy="613516"/>
        </a:xfrm>
        <a:prstGeom prst="ellipse">
          <a:avLst/>
        </a:prstGeom>
        <a:solidFill>
          <a:sysClr val="window" lastClr="FFFFFF">
            <a:hueOff val="0"/>
            <a:satOff val="0"/>
            <a:lumOff val="0"/>
            <a:alphaOff val="0"/>
          </a:sysClr>
        </a:solidFill>
        <a:ln w="12700" cap="flat" cmpd="sng" algn="ctr">
          <a:solidFill>
            <a:srgbClr val="330F42">
              <a:hueOff val="0"/>
              <a:satOff val="0"/>
              <a:lumOff val="0"/>
              <a:alphaOff val="0"/>
            </a:srgb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1">
          <a:scrgbClr r="0" g="0" b="0"/>
        </a:fillRef>
        <a:effectRef idx="2">
          <a:scrgbClr r="0" g="0" b="0"/>
        </a:effectRef>
        <a:fontRef idx="minor"/>
      </dsp:style>
    </dsp:sp>
    <dsp:sp modelId="{4CE707F1-C341-234F-A380-871D988B9892}">
      <dsp:nvSpPr>
        <dsp:cNvPr id="0" name=""/>
        <dsp:cNvSpPr/>
      </dsp:nvSpPr>
      <dsp:spPr>
        <a:xfrm>
          <a:off x="1144673" y="2454930"/>
          <a:ext cx="5371451" cy="490813"/>
        </a:xfrm>
        <a:prstGeom prst="rect">
          <a:avLst/>
        </a:prstGeom>
        <a:gradFill rotWithShape="0">
          <a:gsLst>
            <a:gs pos="0">
              <a:srgbClr val="330F42">
                <a:hueOff val="0"/>
                <a:satOff val="0"/>
                <a:lumOff val="0"/>
                <a:alphaOff val="0"/>
                <a:shade val="40000"/>
                <a:alpha val="100000"/>
                <a:satMod val="150000"/>
                <a:lumMod val="100000"/>
              </a:srgbClr>
            </a:gs>
            <a:gs pos="100000">
              <a:srgbClr val="330F42">
                <a:hueOff val="0"/>
                <a:satOff val="0"/>
                <a:lumOff val="0"/>
                <a:alphaOff val="0"/>
                <a:tint val="70000"/>
                <a:shade val="100000"/>
                <a:alpha val="100000"/>
                <a:satMod val="200000"/>
                <a:lumMod val="100000"/>
              </a:srgbClr>
            </a:gs>
          </a:gsLst>
          <a:lin ang="5400000" scaled="1"/>
        </a:gradFill>
        <a:ln>
          <a:noFill/>
        </a:ln>
        <a:effectLst/>
        <a:scene3d>
          <a:camera prst="orthographicFront">
            <a:rot lat="0" lon="0" rev="0"/>
          </a:camera>
          <a:lightRig rig="twoPt" dir="tl">
            <a:rot lat="0" lon="0" rev="4500000"/>
          </a:lightRig>
        </a:scene3d>
        <a:sp3d>
          <a:bevelT w="63500" h="50800"/>
        </a:sp3d>
      </dsp:spPr>
      <dsp:style>
        <a:lnRef idx="0">
          <a:scrgbClr r="0" g="0" b="0"/>
        </a:lnRef>
        <a:fillRef idx="3">
          <a:scrgbClr r="0" g="0" b="0"/>
        </a:fillRef>
        <a:effectRef idx="3">
          <a:scrgbClr r="0" g="0" b="0"/>
        </a:effectRef>
        <a:fontRef idx="minor">
          <a:schemeClr val="lt1"/>
        </a:fontRef>
      </dsp:style>
      <dsp:txBody>
        <a:bodyPr spcFirstLastPara="0" vert="horz" wrap="square" lIns="389583" tIns="66040" rIns="66040" bIns="66040" numCol="1" spcCol="1270" anchor="ctr" anchorCtr="0">
          <a:noAutofit/>
        </a:bodyPr>
        <a:lstStyle/>
        <a:p>
          <a:pPr marL="0" lvl="0" indent="0" algn="l" defTabSz="1155700" rtl="0">
            <a:lnSpc>
              <a:spcPct val="90000"/>
            </a:lnSpc>
            <a:spcBef>
              <a:spcPct val="0"/>
            </a:spcBef>
            <a:spcAft>
              <a:spcPct val="35000"/>
            </a:spcAft>
            <a:buNone/>
          </a:pPr>
          <a:r>
            <a:rPr lang="en-US" sz="2600" kern="1200" dirty="0">
              <a:solidFill>
                <a:sysClr val="window" lastClr="FFFFFF"/>
              </a:solidFill>
              <a:latin typeface="Rockwell"/>
              <a:ea typeface="+mn-ea"/>
              <a:cs typeface="+mn-cs"/>
            </a:rPr>
            <a:t>Register</a:t>
          </a:r>
        </a:p>
      </dsp:txBody>
      <dsp:txXfrm>
        <a:off x="1144673" y="2454930"/>
        <a:ext cx="5371451" cy="490813"/>
      </dsp:txXfrm>
    </dsp:sp>
    <dsp:sp modelId="{B3B8FADB-2792-7E42-B1BB-E58F1512CC74}">
      <dsp:nvSpPr>
        <dsp:cNvPr id="0" name=""/>
        <dsp:cNvSpPr/>
      </dsp:nvSpPr>
      <dsp:spPr>
        <a:xfrm>
          <a:off x="837914" y="2393579"/>
          <a:ext cx="613516" cy="613516"/>
        </a:xfrm>
        <a:prstGeom prst="ellipse">
          <a:avLst/>
        </a:prstGeom>
        <a:solidFill>
          <a:sysClr val="window" lastClr="FFFFFF">
            <a:hueOff val="0"/>
            <a:satOff val="0"/>
            <a:lumOff val="0"/>
            <a:alphaOff val="0"/>
          </a:sysClr>
        </a:solidFill>
        <a:ln w="12700" cap="flat" cmpd="sng" algn="ctr">
          <a:solidFill>
            <a:srgbClr val="330F42">
              <a:hueOff val="0"/>
              <a:satOff val="0"/>
              <a:lumOff val="0"/>
              <a:alphaOff val="0"/>
            </a:srgb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1">
          <a:scrgbClr r="0" g="0" b="0"/>
        </a:fillRef>
        <a:effectRef idx="2">
          <a:scrgbClr r="0" g="0" b="0"/>
        </a:effectRef>
        <a:fontRef idx="minor"/>
      </dsp:style>
    </dsp:sp>
    <dsp:sp modelId="{5B2C71B8-E792-594F-A81D-941C9F99CA12}">
      <dsp:nvSpPr>
        <dsp:cNvPr id="0" name=""/>
        <dsp:cNvSpPr/>
      </dsp:nvSpPr>
      <dsp:spPr>
        <a:xfrm>
          <a:off x="1066903" y="3191582"/>
          <a:ext cx="5449221" cy="490813"/>
        </a:xfrm>
        <a:prstGeom prst="rect">
          <a:avLst/>
        </a:prstGeom>
        <a:gradFill rotWithShape="0">
          <a:gsLst>
            <a:gs pos="0">
              <a:srgbClr val="330F42">
                <a:hueOff val="0"/>
                <a:satOff val="0"/>
                <a:lumOff val="0"/>
                <a:alphaOff val="0"/>
                <a:shade val="40000"/>
                <a:alpha val="100000"/>
                <a:satMod val="150000"/>
                <a:lumMod val="100000"/>
              </a:srgbClr>
            </a:gs>
            <a:gs pos="100000">
              <a:srgbClr val="330F42">
                <a:hueOff val="0"/>
                <a:satOff val="0"/>
                <a:lumOff val="0"/>
                <a:alphaOff val="0"/>
                <a:tint val="70000"/>
                <a:shade val="100000"/>
                <a:alpha val="100000"/>
                <a:satMod val="200000"/>
                <a:lumMod val="100000"/>
              </a:srgbClr>
            </a:gs>
          </a:gsLst>
          <a:lin ang="5400000" scaled="1"/>
        </a:gradFill>
        <a:ln>
          <a:noFill/>
        </a:ln>
        <a:effectLst/>
        <a:scene3d>
          <a:camera prst="orthographicFront">
            <a:rot lat="0" lon="0" rev="0"/>
          </a:camera>
          <a:lightRig rig="twoPt" dir="tl">
            <a:rot lat="0" lon="0" rev="4500000"/>
          </a:lightRig>
        </a:scene3d>
        <a:sp3d>
          <a:bevelT w="63500" h="50800"/>
        </a:sp3d>
      </dsp:spPr>
      <dsp:style>
        <a:lnRef idx="0">
          <a:scrgbClr r="0" g="0" b="0"/>
        </a:lnRef>
        <a:fillRef idx="3">
          <a:scrgbClr r="0" g="0" b="0"/>
        </a:fillRef>
        <a:effectRef idx="3">
          <a:scrgbClr r="0" g="0" b="0"/>
        </a:effectRef>
        <a:fontRef idx="minor">
          <a:schemeClr val="lt1"/>
        </a:fontRef>
      </dsp:style>
      <dsp:txBody>
        <a:bodyPr spcFirstLastPara="0" vert="horz" wrap="square" lIns="389583" tIns="66040" rIns="66040" bIns="66040" numCol="1" spcCol="1270" anchor="ctr" anchorCtr="0">
          <a:noAutofit/>
        </a:bodyPr>
        <a:lstStyle/>
        <a:p>
          <a:pPr marL="0" lvl="0" indent="0" algn="l" defTabSz="1155700" rtl="0">
            <a:lnSpc>
              <a:spcPct val="90000"/>
            </a:lnSpc>
            <a:spcBef>
              <a:spcPct val="0"/>
            </a:spcBef>
            <a:spcAft>
              <a:spcPct val="35000"/>
            </a:spcAft>
            <a:buNone/>
          </a:pPr>
          <a:r>
            <a:rPr lang="en-US" sz="2600" kern="1200" dirty="0">
              <a:solidFill>
                <a:sysClr val="window" lastClr="FFFFFF"/>
              </a:solidFill>
              <a:latin typeface="Rockwell"/>
              <a:ea typeface="+mn-ea"/>
              <a:cs typeface="+mn-cs"/>
            </a:rPr>
            <a:t>Register indirect</a:t>
          </a:r>
        </a:p>
      </dsp:txBody>
      <dsp:txXfrm>
        <a:off x="1066903" y="3191582"/>
        <a:ext cx="5449221" cy="490813"/>
      </dsp:txXfrm>
    </dsp:sp>
    <dsp:sp modelId="{61DA8E63-1670-9440-9A3A-B95BACF707FE}">
      <dsp:nvSpPr>
        <dsp:cNvPr id="0" name=""/>
        <dsp:cNvSpPr/>
      </dsp:nvSpPr>
      <dsp:spPr>
        <a:xfrm>
          <a:off x="760145" y="3130231"/>
          <a:ext cx="613516" cy="613516"/>
        </a:xfrm>
        <a:prstGeom prst="ellipse">
          <a:avLst/>
        </a:prstGeom>
        <a:solidFill>
          <a:sysClr val="window" lastClr="FFFFFF">
            <a:hueOff val="0"/>
            <a:satOff val="0"/>
            <a:lumOff val="0"/>
            <a:alphaOff val="0"/>
          </a:sysClr>
        </a:solidFill>
        <a:ln w="12700" cap="flat" cmpd="sng" algn="ctr">
          <a:solidFill>
            <a:srgbClr val="330F42">
              <a:hueOff val="0"/>
              <a:satOff val="0"/>
              <a:lumOff val="0"/>
              <a:alphaOff val="0"/>
            </a:srgb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1">
          <a:scrgbClr r="0" g="0" b="0"/>
        </a:fillRef>
        <a:effectRef idx="2">
          <a:scrgbClr r="0" g="0" b="0"/>
        </a:effectRef>
        <a:fontRef idx="minor"/>
      </dsp:style>
    </dsp:sp>
    <dsp:sp modelId="{827B38F0-B7C1-DA48-9512-1FA3389CDEAE}">
      <dsp:nvSpPr>
        <dsp:cNvPr id="0" name=""/>
        <dsp:cNvSpPr/>
      </dsp:nvSpPr>
      <dsp:spPr>
        <a:xfrm>
          <a:off x="823332" y="3927694"/>
          <a:ext cx="5692792" cy="490813"/>
        </a:xfrm>
        <a:prstGeom prst="rect">
          <a:avLst/>
        </a:prstGeom>
        <a:gradFill rotWithShape="0">
          <a:gsLst>
            <a:gs pos="0">
              <a:srgbClr val="330F42">
                <a:hueOff val="0"/>
                <a:satOff val="0"/>
                <a:lumOff val="0"/>
                <a:alphaOff val="0"/>
                <a:shade val="40000"/>
                <a:alpha val="100000"/>
                <a:satMod val="150000"/>
                <a:lumMod val="100000"/>
              </a:srgbClr>
            </a:gs>
            <a:gs pos="100000">
              <a:srgbClr val="330F42">
                <a:hueOff val="0"/>
                <a:satOff val="0"/>
                <a:lumOff val="0"/>
                <a:alphaOff val="0"/>
                <a:tint val="70000"/>
                <a:shade val="100000"/>
                <a:alpha val="100000"/>
                <a:satMod val="200000"/>
                <a:lumMod val="100000"/>
              </a:srgbClr>
            </a:gs>
          </a:gsLst>
          <a:lin ang="5400000" scaled="1"/>
        </a:gradFill>
        <a:ln>
          <a:noFill/>
        </a:ln>
        <a:effectLst/>
        <a:scene3d>
          <a:camera prst="orthographicFront">
            <a:rot lat="0" lon="0" rev="0"/>
          </a:camera>
          <a:lightRig rig="twoPt" dir="tl">
            <a:rot lat="0" lon="0" rev="4500000"/>
          </a:lightRig>
        </a:scene3d>
        <a:sp3d>
          <a:bevelT w="63500" h="50800"/>
        </a:sp3d>
      </dsp:spPr>
      <dsp:style>
        <a:lnRef idx="0">
          <a:scrgbClr r="0" g="0" b="0"/>
        </a:lnRef>
        <a:fillRef idx="3">
          <a:scrgbClr r="0" g="0" b="0"/>
        </a:fillRef>
        <a:effectRef idx="3">
          <a:scrgbClr r="0" g="0" b="0"/>
        </a:effectRef>
        <a:fontRef idx="minor">
          <a:schemeClr val="lt1"/>
        </a:fontRef>
      </dsp:style>
      <dsp:txBody>
        <a:bodyPr spcFirstLastPara="0" vert="horz" wrap="square" lIns="389583" tIns="66040" rIns="66040" bIns="66040" numCol="1" spcCol="1270" anchor="ctr" anchorCtr="0">
          <a:noAutofit/>
        </a:bodyPr>
        <a:lstStyle/>
        <a:p>
          <a:pPr marL="0" lvl="0" indent="0" algn="l" defTabSz="1155700" rtl="0">
            <a:lnSpc>
              <a:spcPct val="90000"/>
            </a:lnSpc>
            <a:spcBef>
              <a:spcPct val="0"/>
            </a:spcBef>
            <a:spcAft>
              <a:spcPct val="35000"/>
            </a:spcAft>
            <a:buNone/>
          </a:pPr>
          <a:r>
            <a:rPr lang="en-US" sz="2600" kern="1200" dirty="0">
              <a:solidFill>
                <a:sysClr val="window" lastClr="FFFFFF"/>
              </a:solidFill>
              <a:latin typeface="Rockwell"/>
              <a:ea typeface="+mn-ea"/>
              <a:cs typeface="+mn-cs"/>
            </a:rPr>
            <a:t>Displacement</a:t>
          </a:r>
        </a:p>
      </dsp:txBody>
      <dsp:txXfrm>
        <a:off x="823332" y="3927694"/>
        <a:ext cx="5692792" cy="490813"/>
      </dsp:txXfrm>
    </dsp:sp>
    <dsp:sp modelId="{C2157EE5-7641-3341-B2E7-021F543816F9}">
      <dsp:nvSpPr>
        <dsp:cNvPr id="0" name=""/>
        <dsp:cNvSpPr/>
      </dsp:nvSpPr>
      <dsp:spPr>
        <a:xfrm>
          <a:off x="516574" y="3866343"/>
          <a:ext cx="613516" cy="613516"/>
        </a:xfrm>
        <a:prstGeom prst="ellipse">
          <a:avLst/>
        </a:prstGeom>
        <a:solidFill>
          <a:sysClr val="window" lastClr="FFFFFF">
            <a:hueOff val="0"/>
            <a:satOff val="0"/>
            <a:lumOff val="0"/>
            <a:alphaOff val="0"/>
          </a:sysClr>
        </a:solidFill>
        <a:ln w="12700" cap="flat" cmpd="sng" algn="ctr">
          <a:solidFill>
            <a:srgbClr val="330F42">
              <a:hueOff val="0"/>
              <a:satOff val="0"/>
              <a:lumOff val="0"/>
              <a:alphaOff val="0"/>
            </a:srgb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1">
          <a:scrgbClr r="0" g="0" b="0"/>
        </a:fillRef>
        <a:effectRef idx="2">
          <a:scrgbClr r="0" g="0" b="0"/>
        </a:effectRef>
        <a:fontRef idx="minor"/>
      </dsp:style>
    </dsp:sp>
    <dsp:sp modelId="{9F226AE9-ADF4-EB4F-8906-BCCD10502E1B}">
      <dsp:nvSpPr>
        <dsp:cNvPr id="0" name=""/>
        <dsp:cNvSpPr/>
      </dsp:nvSpPr>
      <dsp:spPr>
        <a:xfrm>
          <a:off x="378857" y="4664346"/>
          <a:ext cx="6137267" cy="490813"/>
        </a:xfrm>
        <a:prstGeom prst="rect">
          <a:avLst/>
        </a:prstGeom>
        <a:gradFill rotWithShape="0">
          <a:gsLst>
            <a:gs pos="0">
              <a:srgbClr val="330F42">
                <a:hueOff val="0"/>
                <a:satOff val="0"/>
                <a:lumOff val="0"/>
                <a:alphaOff val="0"/>
                <a:shade val="40000"/>
                <a:alpha val="100000"/>
                <a:satMod val="150000"/>
                <a:lumMod val="100000"/>
              </a:srgbClr>
            </a:gs>
            <a:gs pos="100000">
              <a:srgbClr val="330F42">
                <a:hueOff val="0"/>
                <a:satOff val="0"/>
                <a:lumOff val="0"/>
                <a:alphaOff val="0"/>
                <a:tint val="70000"/>
                <a:shade val="100000"/>
                <a:alpha val="100000"/>
                <a:satMod val="200000"/>
                <a:lumMod val="100000"/>
              </a:srgbClr>
            </a:gs>
          </a:gsLst>
          <a:lin ang="5400000" scaled="1"/>
        </a:gradFill>
        <a:ln>
          <a:noFill/>
        </a:ln>
        <a:effectLst/>
        <a:scene3d>
          <a:camera prst="orthographicFront">
            <a:rot lat="0" lon="0" rev="0"/>
          </a:camera>
          <a:lightRig rig="twoPt" dir="tl">
            <a:rot lat="0" lon="0" rev="4500000"/>
          </a:lightRig>
        </a:scene3d>
        <a:sp3d>
          <a:bevelT w="63500" h="50800"/>
        </a:sp3d>
      </dsp:spPr>
      <dsp:style>
        <a:lnRef idx="0">
          <a:scrgbClr r="0" g="0" b="0"/>
        </a:lnRef>
        <a:fillRef idx="3">
          <a:scrgbClr r="0" g="0" b="0"/>
        </a:fillRef>
        <a:effectRef idx="3">
          <a:scrgbClr r="0" g="0" b="0"/>
        </a:effectRef>
        <a:fontRef idx="minor">
          <a:schemeClr val="lt1"/>
        </a:fontRef>
      </dsp:style>
      <dsp:txBody>
        <a:bodyPr spcFirstLastPara="0" vert="horz" wrap="square" lIns="389583" tIns="66040" rIns="66040" bIns="66040" numCol="1" spcCol="1270" anchor="ctr" anchorCtr="0">
          <a:noAutofit/>
        </a:bodyPr>
        <a:lstStyle/>
        <a:p>
          <a:pPr marL="0" lvl="0" indent="0" algn="l" defTabSz="1155700" rtl="0">
            <a:lnSpc>
              <a:spcPct val="90000"/>
            </a:lnSpc>
            <a:spcBef>
              <a:spcPct val="0"/>
            </a:spcBef>
            <a:spcAft>
              <a:spcPct val="35000"/>
            </a:spcAft>
            <a:buNone/>
          </a:pPr>
          <a:r>
            <a:rPr lang="en-US" sz="2600" kern="1200">
              <a:solidFill>
                <a:sysClr val="window" lastClr="FFFFFF"/>
              </a:solidFill>
              <a:latin typeface="Rockwell"/>
              <a:ea typeface="+mn-ea"/>
              <a:cs typeface="+mn-cs"/>
            </a:rPr>
            <a:t>Stack</a:t>
          </a:r>
        </a:p>
      </dsp:txBody>
      <dsp:txXfrm>
        <a:off x="378857" y="4664346"/>
        <a:ext cx="6137267" cy="490813"/>
      </dsp:txXfrm>
    </dsp:sp>
    <dsp:sp modelId="{757B9E9D-E0EF-514A-8620-B12728BAF68D}">
      <dsp:nvSpPr>
        <dsp:cNvPr id="0" name=""/>
        <dsp:cNvSpPr/>
      </dsp:nvSpPr>
      <dsp:spPr>
        <a:xfrm>
          <a:off x="72099" y="4602995"/>
          <a:ext cx="613516" cy="613516"/>
        </a:xfrm>
        <a:prstGeom prst="ellipse">
          <a:avLst/>
        </a:prstGeom>
        <a:solidFill>
          <a:sysClr val="window" lastClr="FFFFFF">
            <a:hueOff val="0"/>
            <a:satOff val="0"/>
            <a:lumOff val="0"/>
            <a:alphaOff val="0"/>
          </a:sysClr>
        </a:solidFill>
        <a:ln w="12700" cap="flat" cmpd="sng" algn="ctr">
          <a:solidFill>
            <a:srgbClr val="330F42">
              <a:hueOff val="0"/>
              <a:satOff val="0"/>
              <a:lumOff val="0"/>
              <a:alphaOff val="0"/>
            </a:srgb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1">
          <a:scrgbClr r="0" g="0" b="0"/>
        </a:fillRef>
        <a:effectRef idx="2">
          <a:scrgbClr r="0" g="0" b="0"/>
        </a:effectRef>
        <a:fontRef idx="minor"/>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48DA74-07C8-5A45-AC22-9059F1952567}">
      <dsp:nvSpPr>
        <dsp:cNvPr id="0" name=""/>
        <dsp:cNvSpPr/>
      </dsp:nvSpPr>
      <dsp:spPr>
        <a:xfrm>
          <a:off x="77414" y="147042"/>
          <a:ext cx="1418308" cy="900625"/>
        </a:xfrm>
        <a:prstGeom prst="roundRect">
          <a:avLst>
            <a:gd name="adj" fmla="val 1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913AF7D1-B9F3-6846-94A7-D99908AC9A87}">
      <dsp:nvSpPr>
        <dsp:cNvPr id="0" name=""/>
        <dsp:cNvSpPr/>
      </dsp:nvSpPr>
      <dsp:spPr>
        <a:xfrm>
          <a:off x="235004" y="296753"/>
          <a:ext cx="1418308" cy="900625"/>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rtl="0">
            <a:lnSpc>
              <a:spcPct val="90000"/>
            </a:lnSpc>
            <a:spcBef>
              <a:spcPct val="0"/>
            </a:spcBef>
            <a:spcAft>
              <a:spcPct val="35000"/>
            </a:spcAft>
            <a:buNone/>
          </a:pPr>
          <a:r>
            <a:rPr lang="en-US" sz="1100" kern="1200" dirty="0">
              <a:solidFill>
                <a:sysClr val="windowText" lastClr="000000">
                  <a:hueOff val="0"/>
                  <a:satOff val="0"/>
                  <a:lumOff val="0"/>
                  <a:alphaOff val="0"/>
                </a:sysClr>
              </a:solidFill>
              <a:latin typeface="Rockwell"/>
              <a:ea typeface="+mn-ea"/>
              <a:cs typeface="+mn-cs"/>
            </a:rPr>
            <a:t>Address field contains the effective address of the operand</a:t>
          </a:r>
        </a:p>
      </dsp:txBody>
      <dsp:txXfrm>
        <a:off x="261382" y="323131"/>
        <a:ext cx="1365552" cy="847869"/>
      </dsp:txXfrm>
    </dsp:sp>
    <dsp:sp modelId="{12211905-1138-A64D-A172-424F7AF19CF4}">
      <dsp:nvSpPr>
        <dsp:cNvPr id="0" name=""/>
        <dsp:cNvSpPr/>
      </dsp:nvSpPr>
      <dsp:spPr>
        <a:xfrm>
          <a:off x="1780550" y="921193"/>
          <a:ext cx="1418308" cy="900625"/>
        </a:xfrm>
        <a:prstGeom prst="roundRect">
          <a:avLst>
            <a:gd name="adj" fmla="val 1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6D46C026-68A7-5742-AF4E-074BC1F884E1}">
      <dsp:nvSpPr>
        <dsp:cNvPr id="0" name=""/>
        <dsp:cNvSpPr/>
      </dsp:nvSpPr>
      <dsp:spPr>
        <a:xfrm>
          <a:off x="1938140" y="1070904"/>
          <a:ext cx="1418308" cy="900625"/>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rtl="0">
            <a:lnSpc>
              <a:spcPct val="90000"/>
            </a:lnSpc>
            <a:spcBef>
              <a:spcPct val="0"/>
            </a:spcBef>
            <a:spcAft>
              <a:spcPct val="35000"/>
            </a:spcAft>
            <a:buNone/>
          </a:pPr>
          <a:r>
            <a:rPr lang="en-US" sz="1100" kern="1200" dirty="0">
              <a:solidFill>
                <a:sysClr val="windowText" lastClr="000000">
                  <a:hueOff val="0"/>
                  <a:satOff val="0"/>
                  <a:lumOff val="0"/>
                  <a:alphaOff val="0"/>
                </a:sysClr>
              </a:solidFill>
              <a:latin typeface="Rockwell"/>
              <a:ea typeface="+mn-ea"/>
              <a:cs typeface="+mn-cs"/>
            </a:rPr>
            <a:t>Effective address (EA) = address field (A)</a:t>
          </a:r>
        </a:p>
      </dsp:txBody>
      <dsp:txXfrm>
        <a:off x="1964518" y="1097282"/>
        <a:ext cx="1365552" cy="847869"/>
      </dsp:txXfrm>
    </dsp:sp>
    <dsp:sp modelId="{C5144ED8-933C-1B48-8D11-257811EF2561}">
      <dsp:nvSpPr>
        <dsp:cNvPr id="0" name=""/>
        <dsp:cNvSpPr/>
      </dsp:nvSpPr>
      <dsp:spPr>
        <a:xfrm>
          <a:off x="3469886" y="2037069"/>
          <a:ext cx="1418308" cy="900625"/>
        </a:xfrm>
        <a:prstGeom prst="roundRect">
          <a:avLst>
            <a:gd name="adj" fmla="val 1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297D322A-B2A9-5C43-975C-6419BB181B8E}">
      <dsp:nvSpPr>
        <dsp:cNvPr id="0" name=""/>
        <dsp:cNvSpPr/>
      </dsp:nvSpPr>
      <dsp:spPr>
        <a:xfrm>
          <a:off x="3627476" y="2186779"/>
          <a:ext cx="1418308" cy="900625"/>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rtl="0">
            <a:lnSpc>
              <a:spcPct val="90000"/>
            </a:lnSpc>
            <a:spcBef>
              <a:spcPct val="0"/>
            </a:spcBef>
            <a:spcAft>
              <a:spcPct val="35000"/>
            </a:spcAft>
            <a:buNone/>
          </a:pPr>
          <a:r>
            <a:rPr lang="en-US" sz="1100" kern="1200" dirty="0">
              <a:solidFill>
                <a:sysClr val="windowText" lastClr="000000">
                  <a:hueOff val="0"/>
                  <a:satOff val="0"/>
                  <a:lumOff val="0"/>
                  <a:alphaOff val="0"/>
                </a:sysClr>
              </a:solidFill>
              <a:latin typeface="Rockwell"/>
              <a:ea typeface="+mn-ea"/>
              <a:cs typeface="+mn-cs"/>
            </a:rPr>
            <a:t>Was common in earlier generations of computers </a:t>
          </a:r>
        </a:p>
      </dsp:txBody>
      <dsp:txXfrm>
        <a:off x="3653854" y="2213157"/>
        <a:ext cx="1365552" cy="847869"/>
      </dsp:txXfrm>
    </dsp:sp>
    <dsp:sp modelId="{C6195375-255E-164A-A511-E4D563E7E84E}">
      <dsp:nvSpPr>
        <dsp:cNvPr id="0" name=""/>
        <dsp:cNvSpPr/>
      </dsp:nvSpPr>
      <dsp:spPr>
        <a:xfrm>
          <a:off x="5186823" y="3166238"/>
          <a:ext cx="1418308" cy="900625"/>
        </a:xfrm>
        <a:prstGeom prst="roundRect">
          <a:avLst>
            <a:gd name="adj" fmla="val 1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FE5F2D3A-07E8-5B4E-88DF-D345FCC274BF}">
      <dsp:nvSpPr>
        <dsp:cNvPr id="0" name=""/>
        <dsp:cNvSpPr/>
      </dsp:nvSpPr>
      <dsp:spPr>
        <a:xfrm>
          <a:off x="5344413" y="3315948"/>
          <a:ext cx="1418308" cy="900625"/>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rtl="0">
            <a:lnSpc>
              <a:spcPct val="90000"/>
            </a:lnSpc>
            <a:spcBef>
              <a:spcPct val="0"/>
            </a:spcBef>
            <a:spcAft>
              <a:spcPct val="35000"/>
            </a:spcAft>
            <a:buNone/>
          </a:pPr>
          <a:r>
            <a:rPr lang="en-US" sz="1100" kern="1200" dirty="0">
              <a:solidFill>
                <a:sysClr val="windowText" lastClr="000000">
                  <a:hueOff val="0"/>
                  <a:satOff val="0"/>
                  <a:lumOff val="0"/>
                  <a:alphaOff val="0"/>
                </a:sysClr>
              </a:solidFill>
              <a:latin typeface="Rockwell"/>
              <a:ea typeface="+mn-ea"/>
              <a:cs typeface="+mn-cs"/>
            </a:rPr>
            <a:t>Requires only one memory reference and no special calculation</a:t>
          </a:r>
        </a:p>
      </dsp:txBody>
      <dsp:txXfrm>
        <a:off x="5370791" y="3342326"/>
        <a:ext cx="1365552" cy="847869"/>
      </dsp:txXfrm>
    </dsp:sp>
    <dsp:sp modelId="{CDE3062D-FF32-8E4E-9EF4-D87D53435C1F}">
      <dsp:nvSpPr>
        <dsp:cNvPr id="0" name=""/>
        <dsp:cNvSpPr/>
      </dsp:nvSpPr>
      <dsp:spPr>
        <a:xfrm>
          <a:off x="6939773" y="4074138"/>
          <a:ext cx="1418308" cy="900625"/>
        </a:xfrm>
        <a:prstGeom prst="roundRect">
          <a:avLst>
            <a:gd name="adj" fmla="val 1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8AB8A0B0-B803-DC4A-A0A0-7E45D900705C}">
      <dsp:nvSpPr>
        <dsp:cNvPr id="0" name=""/>
        <dsp:cNvSpPr/>
      </dsp:nvSpPr>
      <dsp:spPr>
        <a:xfrm>
          <a:off x="7097363" y="4223849"/>
          <a:ext cx="1418308" cy="900625"/>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rtl="0">
            <a:lnSpc>
              <a:spcPct val="90000"/>
            </a:lnSpc>
            <a:spcBef>
              <a:spcPct val="0"/>
            </a:spcBef>
            <a:spcAft>
              <a:spcPct val="35000"/>
            </a:spcAft>
            <a:buNone/>
          </a:pPr>
          <a:r>
            <a:rPr lang="en-US" sz="1100" kern="1200" dirty="0">
              <a:solidFill>
                <a:sysClr val="windowText" lastClr="000000">
                  <a:hueOff val="0"/>
                  <a:satOff val="0"/>
                  <a:lumOff val="0"/>
                  <a:alphaOff val="0"/>
                </a:sysClr>
              </a:solidFill>
              <a:latin typeface="Rockwell"/>
              <a:ea typeface="+mn-ea"/>
              <a:cs typeface="+mn-cs"/>
            </a:rPr>
            <a:t>Limitation is that it provides only a limited address space</a:t>
          </a:r>
        </a:p>
      </dsp:txBody>
      <dsp:txXfrm>
        <a:off x="7123741" y="4250227"/>
        <a:ext cx="1365552" cy="84786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0EB2B9-06E1-6345-90F8-9577C98DD49A}">
      <dsp:nvSpPr>
        <dsp:cNvPr id="0" name=""/>
        <dsp:cNvSpPr/>
      </dsp:nvSpPr>
      <dsp:spPr>
        <a:xfrm>
          <a:off x="1511850" y="0"/>
          <a:ext cx="5040560" cy="5040560"/>
        </a:xfrm>
        <a:prstGeom prst="quadArrow">
          <a:avLst>
            <a:gd name="adj1" fmla="val 2000"/>
            <a:gd name="adj2" fmla="val 4000"/>
            <a:gd name="adj3" fmla="val 5000"/>
          </a:avLst>
        </a:prstGeom>
        <a:solidFill>
          <a:srgbClr val="666699">
            <a:tint val="40000"/>
            <a:hueOff val="0"/>
            <a:satOff val="0"/>
            <a:lumOff val="0"/>
            <a:alphaOff val="0"/>
          </a:srgbClr>
        </a:soli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1">
          <a:scrgbClr r="0" g="0" b="0"/>
        </a:fillRef>
        <a:effectRef idx="2">
          <a:scrgbClr r="0" g="0" b="0"/>
        </a:effectRef>
        <a:fontRef idx="minor"/>
      </dsp:style>
    </dsp:sp>
    <dsp:sp modelId="{0C4F3843-8CA9-7B47-94BF-4616B2186CF3}">
      <dsp:nvSpPr>
        <dsp:cNvPr id="0" name=""/>
        <dsp:cNvSpPr/>
      </dsp:nvSpPr>
      <dsp:spPr>
        <a:xfrm>
          <a:off x="1839486" y="327636"/>
          <a:ext cx="2016224" cy="2016224"/>
        </a:xfrm>
        <a:prstGeom prst="roundRect">
          <a:avLst/>
        </a:prstGeom>
        <a:gradFill rotWithShape="0">
          <a:gsLst>
            <a:gs pos="0">
              <a:srgbClr val="666699">
                <a:alpha val="90000"/>
                <a:hueOff val="0"/>
                <a:satOff val="0"/>
                <a:lumOff val="0"/>
                <a:alphaOff val="0"/>
                <a:shade val="40000"/>
                <a:alpha val="100000"/>
                <a:satMod val="150000"/>
                <a:lumMod val="100000"/>
              </a:srgbClr>
            </a:gs>
            <a:gs pos="100000">
              <a:srgbClr val="666699">
                <a:alpha val="90000"/>
                <a:hueOff val="0"/>
                <a:satOff val="0"/>
                <a:lumOff val="0"/>
                <a:alphaOff val="0"/>
                <a:tint val="70000"/>
                <a:shade val="100000"/>
                <a:alpha val="100000"/>
                <a:satMod val="200000"/>
                <a:lumMod val="100000"/>
              </a:srgbClr>
            </a:gs>
          </a:gsLst>
          <a:lin ang="5400000" scaled="1"/>
        </a:gradFill>
        <a:ln>
          <a:noFill/>
        </a:ln>
        <a:effectLst/>
        <a:scene3d>
          <a:camera prst="orthographicFront">
            <a:rot lat="0" lon="0" rev="0"/>
          </a:camera>
          <a:lightRig rig="twoPt" dir="tl">
            <a:rot lat="0" lon="0" rev="4500000"/>
          </a:lightRig>
        </a:scene3d>
        <a:sp3d>
          <a:bevelT w="63500" h="50800"/>
        </a:sp3d>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rtl="0">
            <a:lnSpc>
              <a:spcPct val="90000"/>
            </a:lnSpc>
            <a:spcBef>
              <a:spcPct val="0"/>
            </a:spcBef>
            <a:spcAft>
              <a:spcPct val="35000"/>
            </a:spcAft>
            <a:buNone/>
          </a:pPr>
          <a:r>
            <a:rPr lang="en-US" sz="1700" kern="1200" dirty="0">
              <a:solidFill>
                <a:sysClr val="window" lastClr="FFFFFF"/>
              </a:solidFill>
              <a:latin typeface="Rockwell"/>
              <a:ea typeface="+mn-ea"/>
              <a:cs typeface="+mn-cs"/>
            </a:rPr>
            <a:t>Address field refers to a register rather than a main     memory address</a:t>
          </a:r>
        </a:p>
      </dsp:txBody>
      <dsp:txXfrm>
        <a:off x="1937910" y="426060"/>
        <a:ext cx="1819376" cy="1819376"/>
      </dsp:txXfrm>
    </dsp:sp>
    <dsp:sp modelId="{4994DBF4-399F-B847-B5E1-56CF3D810B3F}">
      <dsp:nvSpPr>
        <dsp:cNvPr id="0" name=""/>
        <dsp:cNvSpPr/>
      </dsp:nvSpPr>
      <dsp:spPr>
        <a:xfrm>
          <a:off x="4208549" y="327636"/>
          <a:ext cx="2016224" cy="2016224"/>
        </a:xfrm>
        <a:prstGeom prst="roundRect">
          <a:avLst/>
        </a:prstGeom>
        <a:gradFill rotWithShape="0">
          <a:gsLst>
            <a:gs pos="0">
              <a:srgbClr val="666699">
                <a:alpha val="90000"/>
                <a:hueOff val="0"/>
                <a:satOff val="0"/>
                <a:lumOff val="0"/>
                <a:alphaOff val="-13333"/>
                <a:shade val="40000"/>
                <a:alpha val="100000"/>
                <a:satMod val="150000"/>
                <a:lumMod val="100000"/>
              </a:srgbClr>
            </a:gs>
            <a:gs pos="100000">
              <a:srgbClr val="666699">
                <a:alpha val="90000"/>
                <a:hueOff val="0"/>
                <a:satOff val="0"/>
                <a:lumOff val="0"/>
                <a:alphaOff val="-13333"/>
                <a:tint val="70000"/>
                <a:shade val="100000"/>
                <a:alpha val="100000"/>
                <a:satMod val="200000"/>
                <a:lumMod val="100000"/>
              </a:srgbClr>
            </a:gs>
          </a:gsLst>
          <a:lin ang="5400000" scaled="1"/>
        </a:gradFill>
        <a:ln>
          <a:noFill/>
        </a:ln>
        <a:effectLst/>
        <a:scene3d>
          <a:camera prst="orthographicFront">
            <a:rot lat="0" lon="0" rev="0"/>
          </a:camera>
          <a:lightRig rig="twoPt" dir="tl">
            <a:rot lat="0" lon="0" rev="4500000"/>
          </a:lightRig>
        </a:scene3d>
        <a:sp3d>
          <a:bevelT w="63500" h="50800"/>
        </a:sp3d>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rtl="0">
            <a:lnSpc>
              <a:spcPct val="90000"/>
            </a:lnSpc>
            <a:spcBef>
              <a:spcPct val="0"/>
            </a:spcBef>
            <a:spcAft>
              <a:spcPct val="35000"/>
            </a:spcAft>
            <a:buNone/>
          </a:pPr>
          <a:r>
            <a:rPr lang="en-US" sz="1700" kern="1200">
              <a:solidFill>
                <a:sysClr val="window" lastClr="FFFFFF"/>
              </a:solidFill>
              <a:latin typeface="Rockwell"/>
              <a:ea typeface="+mn-ea"/>
              <a:cs typeface="+mn-cs"/>
            </a:rPr>
            <a:t>EA = R</a:t>
          </a:r>
        </a:p>
      </dsp:txBody>
      <dsp:txXfrm>
        <a:off x="4306973" y="426060"/>
        <a:ext cx="1819376" cy="1819376"/>
      </dsp:txXfrm>
    </dsp:sp>
    <dsp:sp modelId="{70BCC0E4-5247-B048-ACFC-F17CBC026825}">
      <dsp:nvSpPr>
        <dsp:cNvPr id="0" name=""/>
        <dsp:cNvSpPr/>
      </dsp:nvSpPr>
      <dsp:spPr>
        <a:xfrm>
          <a:off x="1839486" y="2696699"/>
          <a:ext cx="2016224" cy="2016224"/>
        </a:xfrm>
        <a:prstGeom prst="roundRect">
          <a:avLst/>
        </a:prstGeom>
        <a:gradFill rotWithShape="0">
          <a:gsLst>
            <a:gs pos="0">
              <a:srgbClr val="666699">
                <a:alpha val="90000"/>
                <a:hueOff val="0"/>
                <a:satOff val="0"/>
                <a:lumOff val="0"/>
                <a:alphaOff val="-26667"/>
                <a:shade val="40000"/>
                <a:alpha val="100000"/>
                <a:satMod val="150000"/>
                <a:lumMod val="100000"/>
              </a:srgbClr>
            </a:gs>
            <a:gs pos="100000">
              <a:srgbClr val="666699">
                <a:alpha val="90000"/>
                <a:hueOff val="0"/>
                <a:satOff val="0"/>
                <a:lumOff val="0"/>
                <a:alphaOff val="-26667"/>
                <a:tint val="70000"/>
                <a:shade val="100000"/>
                <a:alpha val="100000"/>
                <a:satMod val="200000"/>
                <a:lumMod val="100000"/>
              </a:srgbClr>
            </a:gs>
          </a:gsLst>
          <a:lin ang="5400000" scaled="1"/>
        </a:gradFill>
        <a:ln>
          <a:noFill/>
        </a:ln>
        <a:effectLst/>
        <a:scene3d>
          <a:camera prst="orthographicFront">
            <a:rot lat="0" lon="0" rev="0"/>
          </a:camera>
          <a:lightRig rig="twoPt" dir="tl">
            <a:rot lat="0" lon="0" rev="4500000"/>
          </a:lightRig>
        </a:scene3d>
        <a:sp3d>
          <a:bevelT w="63500" h="50800"/>
        </a:sp3d>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rtl="0">
            <a:lnSpc>
              <a:spcPct val="90000"/>
            </a:lnSpc>
            <a:spcBef>
              <a:spcPct val="0"/>
            </a:spcBef>
            <a:spcAft>
              <a:spcPct val="35000"/>
            </a:spcAft>
            <a:buNone/>
          </a:pPr>
          <a:r>
            <a:rPr lang="en-US" sz="1700" kern="1200">
              <a:solidFill>
                <a:sysClr val="window" lastClr="FFFFFF"/>
              </a:solidFill>
              <a:latin typeface="Rockwell"/>
              <a:ea typeface="+mn-ea"/>
              <a:cs typeface="+mn-cs"/>
            </a:rPr>
            <a:t>Advantages:</a:t>
          </a:r>
        </a:p>
        <a:p>
          <a:pPr marL="114300" lvl="1" indent="-114300" algn="l" defTabSz="577850" rtl="0">
            <a:lnSpc>
              <a:spcPct val="90000"/>
            </a:lnSpc>
            <a:spcBef>
              <a:spcPct val="0"/>
            </a:spcBef>
            <a:spcAft>
              <a:spcPct val="15000"/>
            </a:spcAft>
            <a:buChar char="•"/>
          </a:pPr>
          <a:r>
            <a:rPr lang="en-US" sz="1300" kern="1200">
              <a:solidFill>
                <a:sysClr val="window" lastClr="FFFFFF"/>
              </a:solidFill>
              <a:latin typeface="Rockwell"/>
              <a:ea typeface="+mn-ea"/>
              <a:cs typeface="+mn-cs"/>
            </a:rPr>
            <a:t>Only a small address field is needed in the instruction</a:t>
          </a:r>
        </a:p>
        <a:p>
          <a:pPr marL="114300" lvl="1" indent="-114300" algn="l" defTabSz="577850" rtl="0">
            <a:lnSpc>
              <a:spcPct val="90000"/>
            </a:lnSpc>
            <a:spcBef>
              <a:spcPct val="0"/>
            </a:spcBef>
            <a:spcAft>
              <a:spcPct val="15000"/>
            </a:spcAft>
            <a:buChar char="•"/>
          </a:pPr>
          <a:r>
            <a:rPr lang="en-US" sz="1300" kern="1200">
              <a:solidFill>
                <a:sysClr val="window" lastClr="FFFFFF"/>
              </a:solidFill>
              <a:latin typeface="Rockwell"/>
              <a:ea typeface="+mn-ea"/>
              <a:cs typeface="+mn-cs"/>
            </a:rPr>
            <a:t>No time-consuming memory references are required</a:t>
          </a:r>
        </a:p>
      </dsp:txBody>
      <dsp:txXfrm>
        <a:off x="1937910" y="2795123"/>
        <a:ext cx="1819376" cy="1819376"/>
      </dsp:txXfrm>
    </dsp:sp>
    <dsp:sp modelId="{A3664F60-92EC-F04A-A8E6-72B11CB21727}">
      <dsp:nvSpPr>
        <dsp:cNvPr id="0" name=""/>
        <dsp:cNvSpPr/>
      </dsp:nvSpPr>
      <dsp:spPr>
        <a:xfrm>
          <a:off x="4208549" y="2696699"/>
          <a:ext cx="2016224" cy="2016224"/>
        </a:xfrm>
        <a:prstGeom prst="roundRect">
          <a:avLst/>
        </a:prstGeom>
        <a:gradFill rotWithShape="0">
          <a:gsLst>
            <a:gs pos="0">
              <a:srgbClr val="666699">
                <a:alpha val="90000"/>
                <a:hueOff val="0"/>
                <a:satOff val="0"/>
                <a:lumOff val="0"/>
                <a:alphaOff val="-40000"/>
                <a:shade val="40000"/>
                <a:alpha val="100000"/>
                <a:satMod val="150000"/>
                <a:lumMod val="100000"/>
              </a:srgbClr>
            </a:gs>
            <a:gs pos="100000">
              <a:srgbClr val="666699">
                <a:alpha val="90000"/>
                <a:hueOff val="0"/>
                <a:satOff val="0"/>
                <a:lumOff val="0"/>
                <a:alphaOff val="-40000"/>
                <a:tint val="70000"/>
                <a:shade val="100000"/>
                <a:alpha val="100000"/>
                <a:satMod val="200000"/>
                <a:lumMod val="100000"/>
              </a:srgbClr>
            </a:gs>
          </a:gsLst>
          <a:lin ang="5400000" scaled="1"/>
        </a:gradFill>
        <a:ln>
          <a:noFill/>
        </a:ln>
        <a:effectLst/>
        <a:scene3d>
          <a:camera prst="orthographicFront">
            <a:rot lat="0" lon="0" rev="0"/>
          </a:camera>
          <a:lightRig rig="twoPt" dir="tl">
            <a:rot lat="0" lon="0" rev="4500000"/>
          </a:lightRig>
        </a:scene3d>
        <a:sp3d>
          <a:bevelT w="63500" h="50800"/>
        </a:sp3d>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rtl="0">
            <a:lnSpc>
              <a:spcPct val="90000"/>
            </a:lnSpc>
            <a:spcBef>
              <a:spcPct val="0"/>
            </a:spcBef>
            <a:spcAft>
              <a:spcPct val="35000"/>
            </a:spcAft>
            <a:buNone/>
          </a:pPr>
          <a:r>
            <a:rPr lang="en-US" sz="1700" kern="1200">
              <a:solidFill>
                <a:sysClr val="window" lastClr="FFFFFF"/>
              </a:solidFill>
              <a:latin typeface="Rockwell"/>
              <a:ea typeface="+mn-ea"/>
              <a:cs typeface="+mn-cs"/>
            </a:rPr>
            <a:t>Disadvantage:</a:t>
          </a:r>
        </a:p>
        <a:p>
          <a:pPr marL="114300" lvl="1" indent="-114300" algn="l" defTabSz="577850" rtl="0">
            <a:lnSpc>
              <a:spcPct val="90000"/>
            </a:lnSpc>
            <a:spcBef>
              <a:spcPct val="0"/>
            </a:spcBef>
            <a:spcAft>
              <a:spcPct val="15000"/>
            </a:spcAft>
            <a:buChar char="•"/>
          </a:pPr>
          <a:r>
            <a:rPr lang="en-US" sz="1300" kern="1200">
              <a:solidFill>
                <a:sysClr val="window" lastClr="FFFFFF"/>
              </a:solidFill>
              <a:latin typeface="Rockwell"/>
              <a:ea typeface="+mn-ea"/>
              <a:cs typeface="+mn-cs"/>
            </a:rPr>
            <a:t>The address space is very limited</a:t>
          </a:r>
        </a:p>
      </dsp:txBody>
      <dsp:txXfrm>
        <a:off x="4306973" y="2795123"/>
        <a:ext cx="1819376" cy="181937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4B404A-71F5-8646-9057-29EE6A4460B4}">
      <dsp:nvSpPr>
        <dsp:cNvPr id="0" name=""/>
        <dsp:cNvSpPr/>
      </dsp:nvSpPr>
      <dsp:spPr>
        <a:xfrm>
          <a:off x="0" y="508501"/>
          <a:ext cx="8928992" cy="891393"/>
        </a:xfrm>
        <a:prstGeom prst="roundRect">
          <a:avLst/>
        </a:prstGeom>
        <a:gradFill rotWithShape="0">
          <a:gsLst>
            <a:gs pos="0">
              <a:srgbClr val="999966">
                <a:hueOff val="0"/>
                <a:satOff val="0"/>
                <a:lumOff val="0"/>
                <a:alphaOff val="0"/>
                <a:shade val="40000"/>
                <a:alpha val="100000"/>
                <a:satMod val="150000"/>
                <a:lumMod val="100000"/>
              </a:srgbClr>
            </a:gs>
            <a:gs pos="100000">
              <a:srgbClr val="9999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rtl="0">
            <a:lnSpc>
              <a:spcPct val="90000"/>
            </a:lnSpc>
            <a:spcBef>
              <a:spcPct val="0"/>
            </a:spcBef>
            <a:spcAft>
              <a:spcPct val="35000"/>
            </a:spcAft>
            <a:buNone/>
          </a:pPr>
          <a:r>
            <a:rPr lang="en-US" sz="2300" kern="1200" dirty="0">
              <a:solidFill>
                <a:srgbClr val="330F42"/>
              </a:solidFill>
              <a:latin typeface="Rockwell"/>
              <a:ea typeface="+mn-ea"/>
              <a:cs typeface="+mn-cs"/>
            </a:rPr>
            <a:t>The implicitly referenced register is the program counter (PC)</a:t>
          </a:r>
        </a:p>
      </dsp:txBody>
      <dsp:txXfrm>
        <a:off x="43514" y="552015"/>
        <a:ext cx="8841964" cy="804365"/>
      </dsp:txXfrm>
    </dsp:sp>
    <dsp:sp modelId="{74C93090-5590-084D-A2AB-DAEF051BCBCD}">
      <dsp:nvSpPr>
        <dsp:cNvPr id="0" name=""/>
        <dsp:cNvSpPr/>
      </dsp:nvSpPr>
      <dsp:spPr>
        <a:xfrm>
          <a:off x="0" y="1399895"/>
          <a:ext cx="8928992" cy="13806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3495" tIns="29210" rIns="163576" bIns="29210" numCol="1" spcCol="1270" anchor="t" anchorCtr="0">
          <a:noAutofit/>
        </a:bodyPr>
        <a:lstStyle/>
        <a:p>
          <a:pPr marL="171450" lvl="1" indent="-171450" algn="l" defTabSz="800100" rtl="0">
            <a:lnSpc>
              <a:spcPct val="90000"/>
            </a:lnSpc>
            <a:spcBef>
              <a:spcPct val="0"/>
            </a:spcBef>
            <a:spcAft>
              <a:spcPct val="20000"/>
            </a:spcAft>
            <a:buChar char="•"/>
          </a:pPr>
          <a:r>
            <a:rPr lang="en-US" sz="1800" kern="1200" dirty="0">
              <a:solidFill>
                <a:srgbClr val="330F42"/>
              </a:solidFill>
              <a:latin typeface="Rockwell"/>
              <a:ea typeface="+mn-ea"/>
              <a:cs typeface="+mn-cs"/>
            </a:rPr>
            <a:t>The next instruction address is added to the address field to produce the EA</a:t>
          </a:r>
        </a:p>
        <a:p>
          <a:pPr marL="171450" lvl="1" indent="-171450" algn="l" defTabSz="800100" rtl="0">
            <a:lnSpc>
              <a:spcPct val="90000"/>
            </a:lnSpc>
            <a:spcBef>
              <a:spcPct val="0"/>
            </a:spcBef>
            <a:spcAft>
              <a:spcPct val="20000"/>
            </a:spcAft>
            <a:buChar char="•"/>
          </a:pPr>
          <a:r>
            <a:rPr lang="en-US" sz="1800" kern="1200" dirty="0">
              <a:solidFill>
                <a:srgbClr val="330F42"/>
              </a:solidFill>
              <a:latin typeface="Rockwell"/>
              <a:ea typeface="+mn-ea"/>
              <a:cs typeface="+mn-cs"/>
            </a:rPr>
            <a:t>Typically the address field is treated as a twos complement number for this operation</a:t>
          </a:r>
        </a:p>
        <a:p>
          <a:pPr marL="171450" lvl="1" indent="-171450" algn="l" defTabSz="800100" rtl="0">
            <a:lnSpc>
              <a:spcPct val="90000"/>
            </a:lnSpc>
            <a:spcBef>
              <a:spcPct val="0"/>
            </a:spcBef>
            <a:spcAft>
              <a:spcPct val="20000"/>
            </a:spcAft>
            <a:buChar char="•"/>
          </a:pPr>
          <a:r>
            <a:rPr lang="en-US" sz="1800" kern="1200" dirty="0">
              <a:solidFill>
                <a:srgbClr val="330F42"/>
              </a:solidFill>
              <a:latin typeface="Rockwell"/>
              <a:ea typeface="+mn-ea"/>
              <a:cs typeface="+mn-cs"/>
            </a:rPr>
            <a:t>Thus the effective address is a displacement relative to the address of the instruction</a:t>
          </a:r>
        </a:p>
      </dsp:txBody>
      <dsp:txXfrm>
        <a:off x="0" y="1399895"/>
        <a:ext cx="8928992" cy="1380690"/>
      </dsp:txXfrm>
    </dsp:sp>
    <dsp:sp modelId="{B0BC29CD-AE8B-E844-A0F5-72CC0367FA5A}">
      <dsp:nvSpPr>
        <dsp:cNvPr id="0" name=""/>
        <dsp:cNvSpPr/>
      </dsp:nvSpPr>
      <dsp:spPr>
        <a:xfrm>
          <a:off x="0" y="2780585"/>
          <a:ext cx="8928992" cy="891393"/>
        </a:xfrm>
        <a:prstGeom prst="roundRect">
          <a:avLst/>
        </a:prstGeom>
        <a:gradFill rotWithShape="0">
          <a:gsLst>
            <a:gs pos="0">
              <a:srgbClr val="999966">
                <a:hueOff val="0"/>
                <a:satOff val="0"/>
                <a:lumOff val="0"/>
                <a:alphaOff val="0"/>
                <a:shade val="40000"/>
                <a:alpha val="100000"/>
                <a:satMod val="150000"/>
                <a:lumMod val="100000"/>
              </a:srgbClr>
            </a:gs>
            <a:gs pos="100000">
              <a:srgbClr val="9999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rtl="0">
            <a:lnSpc>
              <a:spcPct val="90000"/>
            </a:lnSpc>
            <a:spcBef>
              <a:spcPct val="0"/>
            </a:spcBef>
            <a:spcAft>
              <a:spcPct val="35000"/>
            </a:spcAft>
            <a:buNone/>
          </a:pPr>
          <a:r>
            <a:rPr lang="en-US" sz="2300" kern="1200" dirty="0">
              <a:solidFill>
                <a:srgbClr val="330F42"/>
              </a:solidFill>
              <a:latin typeface="Rockwell"/>
              <a:ea typeface="+mn-ea"/>
              <a:cs typeface="+mn-cs"/>
            </a:rPr>
            <a:t>Exploits the concept of locality</a:t>
          </a:r>
        </a:p>
      </dsp:txBody>
      <dsp:txXfrm>
        <a:off x="43514" y="2824099"/>
        <a:ext cx="8841964" cy="804365"/>
      </dsp:txXfrm>
    </dsp:sp>
    <dsp:sp modelId="{B65E83E5-C0CA-A94B-B54D-A9C7464AF21E}">
      <dsp:nvSpPr>
        <dsp:cNvPr id="0" name=""/>
        <dsp:cNvSpPr/>
      </dsp:nvSpPr>
      <dsp:spPr>
        <a:xfrm>
          <a:off x="0" y="3738218"/>
          <a:ext cx="8928992" cy="891393"/>
        </a:xfrm>
        <a:prstGeom prst="roundRect">
          <a:avLst/>
        </a:prstGeom>
        <a:gradFill rotWithShape="0">
          <a:gsLst>
            <a:gs pos="0">
              <a:srgbClr val="999966">
                <a:hueOff val="0"/>
                <a:satOff val="0"/>
                <a:lumOff val="0"/>
                <a:alphaOff val="0"/>
                <a:shade val="40000"/>
                <a:alpha val="100000"/>
                <a:satMod val="150000"/>
                <a:lumMod val="100000"/>
              </a:srgbClr>
            </a:gs>
            <a:gs pos="100000">
              <a:srgbClr val="9999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rtl="0">
            <a:lnSpc>
              <a:spcPct val="90000"/>
            </a:lnSpc>
            <a:spcBef>
              <a:spcPct val="0"/>
            </a:spcBef>
            <a:spcAft>
              <a:spcPct val="35000"/>
            </a:spcAft>
            <a:buNone/>
          </a:pPr>
          <a:r>
            <a:rPr lang="en-US" sz="2300" kern="1200" dirty="0">
              <a:solidFill>
                <a:srgbClr val="330F42"/>
              </a:solidFill>
              <a:latin typeface="Rockwell"/>
              <a:ea typeface="+mn-ea"/>
              <a:cs typeface="+mn-cs"/>
            </a:rPr>
            <a:t>Saves address bits in the instruction if most memory references are relatively near to the instruction being executed</a:t>
          </a:r>
        </a:p>
      </dsp:txBody>
      <dsp:txXfrm>
        <a:off x="43514" y="3781732"/>
        <a:ext cx="8841964" cy="804365"/>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39FB02-6AB5-C645-8052-5011DD110ED1}">
      <dsp:nvSpPr>
        <dsp:cNvPr id="0" name=""/>
        <dsp:cNvSpPr/>
      </dsp:nvSpPr>
      <dsp:spPr>
        <a:xfrm rot="16200000">
          <a:off x="-1170713" y="1171699"/>
          <a:ext cx="4906962" cy="2563564"/>
        </a:xfrm>
        <a:prstGeom prst="flowChartManualOperation">
          <a:avLst/>
        </a:prstGeom>
        <a:gradFill rotWithShape="0">
          <a:gsLst>
            <a:gs pos="0">
              <a:srgbClr val="999966">
                <a:hueOff val="0"/>
                <a:satOff val="0"/>
                <a:lumOff val="0"/>
                <a:alphaOff val="0"/>
                <a:shade val="40000"/>
                <a:alpha val="100000"/>
                <a:satMod val="150000"/>
                <a:lumMod val="100000"/>
              </a:srgbClr>
            </a:gs>
            <a:gs pos="100000">
              <a:srgbClr val="9999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5100" tIns="0" rIns="168142" bIns="0" numCol="1" spcCol="1270" anchor="ctr" anchorCtr="0">
          <a:noAutofit/>
        </a:bodyPr>
        <a:lstStyle/>
        <a:p>
          <a:pPr marL="0" lvl="0" indent="0" algn="ctr" defTabSz="1155700" rtl="0">
            <a:lnSpc>
              <a:spcPct val="90000"/>
            </a:lnSpc>
            <a:spcBef>
              <a:spcPct val="0"/>
            </a:spcBef>
            <a:spcAft>
              <a:spcPct val="35000"/>
            </a:spcAft>
            <a:buNone/>
          </a:pPr>
          <a:r>
            <a:rPr lang="en-US" sz="2600" kern="1200" dirty="0">
              <a:solidFill>
                <a:srgbClr val="330F42"/>
              </a:solidFill>
              <a:latin typeface="Rockwell"/>
              <a:ea typeface="+mn-ea"/>
              <a:cs typeface="+mn-cs"/>
            </a:rPr>
            <a:t>Define the layout of the bits of an instruction, in terms of its constituent fields</a:t>
          </a:r>
        </a:p>
      </dsp:txBody>
      <dsp:txXfrm rot="5400000">
        <a:off x="986" y="981392"/>
        <a:ext cx="2563564" cy="2944178"/>
      </dsp:txXfrm>
    </dsp:sp>
    <dsp:sp modelId="{9C22D813-78A6-F44B-A184-BA63B43415D4}">
      <dsp:nvSpPr>
        <dsp:cNvPr id="0" name=""/>
        <dsp:cNvSpPr/>
      </dsp:nvSpPr>
      <dsp:spPr>
        <a:xfrm rot="16200000">
          <a:off x="1585118" y="1171699"/>
          <a:ext cx="4906962" cy="2563564"/>
        </a:xfrm>
        <a:prstGeom prst="flowChartManualOperation">
          <a:avLst/>
        </a:prstGeom>
        <a:gradFill rotWithShape="0">
          <a:gsLst>
            <a:gs pos="0">
              <a:srgbClr val="999966">
                <a:hueOff val="-854369"/>
                <a:satOff val="36567"/>
                <a:lumOff val="2156"/>
                <a:alphaOff val="0"/>
                <a:shade val="40000"/>
                <a:alpha val="100000"/>
                <a:satMod val="150000"/>
                <a:lumMod val="100000"/>
              </a:srgbClr>
            </a:gs>
            <a:gs pos="100000">
              <a:srgbClr val="999966">
                <a:hueOff val="-854369"/>
                <a:satOff val="36567"/>
                <a:lumOff val="2156"/>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5100" tIns="0" rIns="168142" bIns="0" numCol="1" spcCol="1270" anchor="ctr" anchorCtr="0">
          <a:noAutofit/>
        </a:bodyPr>
        <a:lstStyle/>
        <a:p>
          <a:pPr marL="0" lvl="0" indent="0" algn="ctr" defTabSz="1155700" rtl="0">
            <a:lnSpc>
              <a:spcPct val="90000"/>
            </a:lnSpc>
            <a:spcBef>
              <a:spcPct val="0"/>
            </a:spcBef>
            <a:spcAft>
              <a:spcPct val="35000"/>
            </a:spcAft>
            <a:buNone/>
          </a:pPr>
          <a:r>
            <a:rPr lang="en-US" sz="2600" kern="1200" dirty="0">
              <a:solidFill>
                <a:srgbClr val="330F42"/>
              </a:solidFill>
              <a:latin typeface="Rockwell"/>
              <a:ea typeface="+mn-ea"/>
              <a:cs typeface="+mn-cs"/>
            </a:rPr>
            <a:t>Must include an opcode and, implicitly or explicitly, indicate the addressing mode for each operand</a:t>
          </a:r>
        </a:p>
      </dsp:txBody>
      <dsp:txXfrm rot="5400000">
        <a:off x="2756817" y="981392"/>
        <a:ext cx="2563564" cy="2944178"/>
      </dsp:txXfrm>
    </dsp:sp>
    <dsp:sp modelId="{11DA530E-381C-884C-92DD-C175D8033C96}">
      <dsp:nvSpPr>
        <dsp:cNvPr id="0" name=""/>
        <dsp:cNvSpPr/>
      </dsp:nvSpPr>
      <dsp:spPr>
        <a:xfrm rot="16200000">
          <a:off x="4340950" y="1171699"/>
          <a:ext cx="4906962" cy="2563564"/>
        </a:xfrm>
        <a:prstGeom prst="flowChartManualOperation">
          <a:avLst/>
        </a:prstGeom>
        <a:gradFill rotWithShape="0">
          <a:gsLst>
            <a:gs pos="0">
              <a:srgbClr val="999966">
                <a:hueOff val="-1708738"/>
                <a:satOff val="73133"/>
                <a:lumOff val="4313"/>
                <a:alphaOff val="0"/>
                <a:shade val="40000"/>
                <a:alpha val="100000"/>
                <a:satMod val="150000"/>
                <a:lumMod val="100000"/>
              </a:srgbClr>
            </a:gs>
            <a:gs pos="100000">
              <a:srgbClr val="999966">
                <a:hueOff val="-1708738"/>
                <a:satOff val="73133"/>
                <a:lumOff val="4313"/>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5100" tIns="0" rIns="168142" bIns="0" numCol="1" spcCol="1270" anchor="ctr" anchorCtr="0">
          <a:noAutofit/>
        </a:bodyPr>
        <a:lstStyle/>
        <a:p>
          <a:pPr marL="0" lvl="0" indent="0" algn="ctr" defTabSz="1155700" rtl="0">
            <a:lnSpc>
              <a:spcPct val="90000"/>
            </a:lnSpc>
            <a:spcBef>
              <a:spcPct val="0"/>
            </a:spcBef>
            <a:spcAft>
              <a:spcPct val="35000"/>
            </a:spcAft>
            <a:buNone/>
          </a:pPr>
          <a:r>
            <a:rPr lang="en-US" sz="2600" kern="1200" dirty="0">
              <a:solidFill>
                <a:srgbClr val="330F42"/>
              </a:solidFill>
              <a:latin typeface="Rockwell"/>
              <a:ea typeface="+mn-ea"/>
              <a:cs typeface="+mn-cs"/>
            </a:rPr>
            <a:t>For most instruction sets more than one instruction format is used</a:t>
          </a:r>
        </a:p>
      </dsp:txBody>
      <dsp:txXfrm rot="5400000">
        <a:off x="5512649" y="981392"/>
        <a:ext cx="2563564" cy="2944178"/>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5741C0-AF00-CA44-9BD7-897AD833618C}">
      <dsp:nvSpPr>
        <dsp:cNvPr id="0" name=""/>
        <dsp:cNvSpPr/>
      </dsp:nvSpPr>
      <dsp:spPr>
        <a:xfrm>
          <a:off x="0" y="738558"/>
          <a:ext cx="2716998" cy="1630198"/>
        </a:xfrm>
        <a:prstGeom prst="rect">
          <a:avLst/>
        </a:prstGeom>
        <a:gradFill rotWithShape="0">
          <a:gsLst>
            <a:gs pos="0">
              <a:srgbClr val="999966">
                <a:hueOff val="0"/>
                <a:satOff val="0"/>
                <a:lumOff val="0"/>
                <a:alphaOff val="0"/>
                <a:shade val="40000"/>
                <a:alpha val="100000"/>
                <a:satMod val="150000"/>
                <a:lumMod val="100000"/>
              </a:srgbClr>
            </a:gs>
            <a:gs pos="100000">
              <a:srgbClr val="9999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rtl="0">
            <a:lnSpc>
              <a:spcPct val="90000"/>
            </a:lnSpc>
            <a:spcBef>
              <a:spcPct val="0"/>
            </a:spcBef>
            <a:spcAft>
              <a:spcPct val="35000"/>
            </a:spcAft>
            <a:buNone/>
          </a:pPr>
          <a:r>
            <a:rPr lang="en-US" sz="3400" kern="1200" dirty="0">
              <a:solidFill>
                <a:srgbClr val="330F42"/>
              </a:solidFill>
              <a:latin typeface="Rockwell"/>
              <a:ea typeface="+mn-ea"/>
              <a:cs typeface="+mn-cs"/>
            </a:rPr>
            <a:t>Number of addressing modes	</a:t>
          </a:r>
        </a:p>
      </dsp:txBody>
      <dsp:txXfrm>
        <a:off x="0" y="738558"/>
        <a:ext cx="2716998" cy="1630198"/>
      </dsp:txXfrm>
    </dsp:sp>
    <dsp:sp modelId="{72BB6A60-8F22-2D4E-BC0F-3DC0A691A29B}">
      <dsp:nvSpPr>
        <dsp:cNvPr id="0" name=""/>
        <dsp:cNvSpPr/>
      </dsp:nvSpPr>
      <dsp:spPr>
        <a:xfrm>
          <a:off x="2988697" y="738558"/>
          <a:ext cx="2716998" cy="1630198"/>
        </a:xfrm>
        <a:prstGeom prst="rect">
          <a:avLst/>
        </a:prstGeom>
        <a:gradFill rotWithShape="0">
          <a:gsLst>
            <a:gs pos="0">
              <a:srgbClr val="999966">
                <a:hueOff val="-341748"/>
                <a:satOff val="14627"/>
                <a:lumOff val="863"/>
                <a:alphaOff val="0"/>
                <a:shade val="40000"/>
                <a:alpha val="100000"/>
                <a:satMod val="150000"/>
                <a:lumMod val="100000"/>
              </a:srgbClr>
            </a:gs>
            <a:gs pos="100000">
              <a:srgbClr val="999966">
                <a:hueOff val="-341748"/>
                <a:satOff val="14627"/>
                <a:lumOff val="863"/>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rtl="0">
            <a:lnSpc>
              <a:spcPct val="90000"/>
            </a:lnSpc>
            <a:spcBef>
              <a:spcPct val="0"/>
            </a:spcBef>
            <a:spcAft>
              <a:spcPct val="35000"/>
            </a:spcAft>
            <a:buNone/>
          </a:pPr>
          <a:r>
            <a:rPr lang="en-US" sz="3400" kern="1200" dirty="0">
              <a:solidFill>
                <a:srgbClr val="330F42"/>
              </a:solidFill>
              <a:latin typeface="Rockwell"/>
              <a:ea typeface="+mn-ea"/>
              <a:cs typeface="+mn-cs"/>
            </a:rPr>
            <a:t>Number of operands</a:t>
          </a:r>
        </a:p>
      </dsp:txBody>
      <dsp:txXfrm>
        <a:off x="2988697" y="738558"/>
        <a:ext cx="2716998" cy="1630198"/>
      </dsp:txXfrm>
    </dsp:sp>
    <dsp:sp modelId="{352CB0F1-5B6C-6945-ABF3-ED695AFC0D9A}">
      <dsp:nvSpPr>
        <dsp:cNvPr id="0" name=""/>
        <dsp:cNvSpPr/>
      </dsp:nvSpPr>
      <dsp:spPr>
        <a:xfrm>
          <a:off x="5977395" y="738558"/>
          <a:ext cx="2716998" cy="1630198"/>
        </a:xfrm>
        <a:prstGeom prst="rect">
          <a:avLst/>
        </a:prstGeom>
        <a:gradFill rotWithShape="0">
          <a:gsLst>
            <a:gs pos="0">
              <a:srgbClr val="999966">
                <a:hueOff val="-683495"/>
                <a:satOff val="29253"/>
                <a:lumOff val="1725"/>
                <a:alphaOff val="0"/>
                <a:shade val="40000"/>
                <a:alpha val="100000"/>
                <a:satMod val="150000"/>
                <a:lumMod val="100000"/>
              </a:srgbClr>
            </a:gs>
            <a:gs pos="100000">
              <a:srgbClr val="999966">
                <a:hueOff val="-683495"/>
                <a:satOff val="29253"/>
                <a:lumOff val="1725"/>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rtl="0">
            <a:lnSpc>
              <a:spcPct val="90000"/>
            </a:lnSpc>
            <a:spcBef>
              <a:spcPct val="0"/>
            </a:spcBef>
            <a:spcAft>
              <a:spcPct val="35000"/>
            </a:spcAft>
            <a:buNone/>
          </a:pPr>
          <a:r>
            <a:rPr lang="en-US" sz="3400" kern="1200" dirty="0">
              <a:solidFill>
                <a:srgbClr val="330F42"/>
              </a:solidFill>
              <a:latin typeface="Rockwell"/>
              <a:ea typeface="+mn-ea"/>
              <a:cs typeface="+mn-cs"/>
            </a:rPr>
            <a:t>Register versus memory</a:t>
          </a:r>
        </a:p>
      </dsp:txBody>
      <dsp:txXfrm>
        <a:off x="5977395" y="738558"/>
        <a:ext cx="2716998" cy="1630198"/>
      </dsp:txXfrm>
    </dsp:sp>
    <dsp:sp modelId="{9B9E5E99-5AE5-724E-A77F-FCC711EA4601}">
      <dsp:nvSpPr>
        <dsp:cNvPr id="0" name=""/>
        <dsp:cNvSpPr/>
      </dsp:nvSpPr>
      <dsp:spPr>
        <a:xfrm>
          <a:off x="0" y="2640456"/>
          <a:ext cx="2716998" cy="1630198"/>
        </a:xfrm>
        <a:prstGeom prst="rect">
          <a:avLst/>
        </a:prstGeom>
        <a:gradFill rotWithShape="0">
          <a:gsLst>
            <a:gs pos="0">
              <a:srgbClr val="999966">
                <a:hueOff val="-1025243"/>
                <a:satOff val="43880"/>
                <a:lumOff val="2588"/>
                <a:alphaOff val="0"/>
                <a:shade val="40000"/>
                <a:alpha val="100000"/>
                <a:satMod val="150000"/>
                <a:lumMod val="100000"/>
              </a:srgbClr>
            </a:gs>
            <a:gs pos="100000">
              <a:srgbClr val="999966">
                <a:hueOff val="-1025243"/>
                <a:satOff val="43880"/>
                <a:lumOff val="2588"/>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rtl="0">
            <a:lnSpc>
              <a:spcPct val="90000"/>
            </a:lnSpc>
            <a:spcBef>
              <a:spcPct val="0"/>
            </a:spcBef>
            <a:spcAft>
              <a:spcPct val="35000"/>
            </a:spcAft>
            <a:buNone/>
          </a:pPr>
          <a:r>
            <a:rPr lang="en-US" sz="3400" kern="1200" dirty="0">
              <a:solidFill>
                <a:srgbClr val="330F42"/>
              </a:solidFill>
              <a:latin typeface="Rockwell"/>
              <a:ea typeface="+mn-ea"/>
              <a:cs typeface="+mn-cs"/>
            </a:rPr>
            <a:t>Number of register sets</a:t>
          </a:r>
        </a:p>
      </dsp:txBody>
      <dsp:txXfrm>
        <a:off x="0" y="2640456"/>
        <a:ext cx="2716998" cy="1630198"/>
      </dsp:txXfrm>
    </dsp:sp>
    <dsp:sp modelId="{07111F0A-146D-B74B-93B1-03C3088F22D2}">
      <dsp:nvSpPr>
        <dsp:cNvPr id="0" name=""/>
        <dsp:cNvSpPr/>
      </dsp:nvSpPr>
      <dsp:spPr>
        <a:xfrm>
          <a:off x="2988697" y="2640456"/>
          <a:ext cx="2716998" cy="1630198"/>
        </a:xfrm>
        <a:prstGeom prst="rect">
          <a:avLst/>
        </a:prstGeom>
        <a:gradFill rotWithShape="0">
          <a:gsLst>
            <a:gs pos="0">
              <a:srgbClr val="999966">
                <a:hueOff val="-1366990"/>
                <a:satOff val="58506"/>
                <a:lumOff val="3450"/>
                <a:alphaOff val="0"/>
                <a:shade val="40000"/>
                <a:alpha val="100000"/>
                <a:satMod val="150000"/>
                <a:lumMod val="100000"/>
              </a:srgbClr>
            </a:gs>
            <a:gs pos="100000">
              <a:srgbClr val="999966">
                <a:hueOff val="-1366990"/>
                <a:satOff val="58506"/>
                <a:lumOff val="345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rtl="0">
            <a:lnSpc>
              <a:spcPct val="90000"/>
            </a:lnSpc>
            <a:spcBef>
              <a:spcPct val="0"/>
            </a:spcBef>
            <a:spcAft>
              <a:spcPct val="35000"/>
            </a:spcAft>
            <a:buNone/>
          </a:pPr>
          <a:r>
            <a:rPr lang="en-US" sz="3400" kern="1200" dirty="0">
              <a:solidFill>
                <a:srgbClr val="330F42"/>
              </a:solidFill>
              <a:latin typeface="Rockwell"/>
              <a:ea typeface="+mn-ea"/>
              <a:cs typeface="+mn-cs"/>
            </a:rPr>
            <a:t>Address range</a:t>
          </a:r>
        </a:p>
      </dsp:txBody>
      <dsp:txXfrm>
        <a:off x="2988697" y="2640456"/>
        <a:ext cx="2716998" cy="1630198"/>
      </dsp:txXfrm>
    </dsp:sp>
    <dsp:sp modelId="{2C13FBC5-B362-E34C-81FE-4DAA45A75724}">
      <dsp:nvSpPr>
        <dsp:cNvPr id="0" name=""/>
        <dsp:cNvSpPr/>
      </dsp:nvSpPr>
      <dsp:spPr>
        <a:xfrm>
          <a:off x="5977395" y="2640456"/>
          <a:ext cx="2716998" cy="1630198"/>
        </a:xfrm>
        <a:prstGeom prst="rect">
          <a:avLst/>
        </a:prstGeom>
        <a:gradFill rotWithShape="0">
          <a:gsLst>
            <a:gs pos="0">
              <a:srgbClr val="999966">
                <a:hueOff val="-1708738"/>
                <a:satOff val="73133"/>
                <a:lumOff val="4313"/>
                <a:alphaOff val="0"/>
                <a:shade val="40000"/>
                <a:alpha val="100000"/>
                <a:satMod val="150000"/>
                <a:lumMod val="100000"/>
              </a:srgbClr>
            </a:gs>
            <a:gs pos="100000">
              <a:srgbClr val="999966">
                <a:hueOff val="-1708738"/>
                <a:satOff val="73133"/>
                <a:lumOff val="4313"/>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rtl="0">
            <a:lnSpc>
              <a:spcPct val="90000"/>
            </a:lnSpc>
            <a:spcBef>
              <a:spcPct val="0"/>
            </a:spcBef>
            <a:spcAft>
              <a:spcPct val="35000"/>
            </a:spcAft>
            <a:buNone/>
          </a:pPr>
          <a:r>
            <a:rPr lang="en-US" sz="3400" kern="1200" dirty="0">
              <a:solidFill>
                <a:srgbClr val="330F42"/>
              </a:solidFill>
              <a:latin typeface="Rockwell"/>
              <a:ea typeface="+mn-ea"/>
              <a:cs typeface="+mn-cs"/>
            </a:rPr>
            <a:t>Address granularity</a:t>
          </a:r>
        </a:p>
      </dsp:txBody>
      <dsp:txXfrm>
        <a:off x="5977395" y="2640456"/>
        <a:ext cx="2716998" cy="1630198"/>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184542-B6FC-0941-A085-C1719FD394DD}">
      <dsp:nvSpPr>
        <dsp:cNvPr id="0" name=""/>
        <dsp:cNvSpPr/>
      </dsp:nvSpPr>
      <dsp:spPr>
        <a:xfrm>
          <a:off x="3585210" y="1607057"/>
          <a:ext cx="1973579" cy="1973580"/>
        </a:xfrm>
        <a:prstGeom prst="ellipse">
          <a:avLst/>
        </a:prstGeom>
        <a:solidFill>
          <a:srgbClr val="999966"/>
        </a:solidFill>
        <a:ln>
          <a:noFill/>
        </a:ln>
        <a:effectLst/>
      </dsp:spPr>
      <dsp:style>
        <a:lnRef idx="0">
          <a:scrgbClr r="0" g="0" b="0"/>
        </a:lnRef>
        <a:fillRef idx="3">
          <a:scrgbClr r="0" g="0" b="0"/>
        </a:fillRef>
        <a:effectRef idx="0">
          <a:scrgbClr r="0" g="0" b="0"/>
        </a:effectRef>
        <a:fontRef idx="minor">
          <a:schemeClr val="tx1"/>
        </a:fontRef>
      </dsp:style>
    </dsp:sp>
    <dsp:sp modelId="{9AA7EF0F-2B12-2347-882A-D3A39B320B34}">
      <dsp:nvSpPr>
        <dsp:cNvPr id="0" name=""/>
        <dsp:cNvSpPr/>
      </dsp:nvSpPr>
      <dsp:spPr>
        <a:xfrm>
          <a:off x="3427323" y="0"/>
          <a:ext cx="2289352" cy="1325118"/>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1">
          <a:noAutofit/>
        </a:bodyPr>
        <a:lstStyle/>
        <a:p>
          <a:pPr marL="0" lvl="0" indent="0" algn="l" defTabSz="622300" rtl="0">
            <a:lnSpc>
              <a:spcPct val="90000"/>
            </a:lnSpc>
            <a:spcBef>
              <a:spcPct val="0"/>
            </a:spcBef>
            <a:spcAft>
              <a:spcPct val="35000"/>
            </a:spcAft>
            <a:buNone/>
          </a:pPr>
          <a:r>
            <a:rPr lang="en-US" sz="1400" kern="1200" dirty="0">
              <a:solidFill>
                <a:sysClr val="windowText" lastClr="000000">
                  <a:hueOff val="0"/>
                  <a:satOff val="0"/>
                  <a:lumOff val="0"/>
                  <a:alphaOff val="0"/>
                </a:sysClr>
              </a:solidFill>
              <a:latin typeface="Rockwell"/>
              <a:ea typeface="+mn-ea"/>
              <a:cs typeface="+mn-cs"/>
            </a:rPr>
            <a:t>ARM processors support data types of:</a:t>
          </a:r>
        </a:p>
        <a:p>
          <a:pPr marL="57150" lvl="1" indent="-57150" algn="l" defTabSz="488950" rtl="0">
            <a:lnSpc>
              <a:spcPct val="90000"/>
            </a:lnSpc>
            <a:spcBef>
              <a:spcPct val="0"/>
            </a:spcBef>
            <a:spcAft>
              <a:spcPct val="15000"/>
            </a:spcAft>
            <a:buChar char="•"/>
          </a:pPr>
          <a:r>
            <a:rPr lang="en-US" sz="1100" kern="1200" dirty="0">
              <a:solidFill>
                <a:sysClr val="windowText" lastClr="000000">
                  <a:hueOff val="0"/>
                  <a:satOff val="0"/>
                  <a:lumOff val="0"/>
                  <a:alphaOff val="0"/>
                </a:sysClr>
              </a:solidFill>
              <a:latin typeface="Rockwell"/>
              <a:ea typeface="+mn-ea"/>
              <a:cs typeface="+mn-cs"/>
            </a:rPr>
            <a:t>8 (byte)</a:t>
          </a:r>
        </a:p>
        <a:p>
          <a:pPr marL="57150" lvl="1" indent="-57150" algn="l" defTabSz="488950" rtl="0">
            <a:lnSpc>
              <a:spcPct val="90000"/>
            </a:lnSpc>
            <a:spcBef>
              <a:spcPct val="0"/>
            </a:spcBef>
            <a:spcAft>
              <a:spcPct val="15000"/>
            </a:spcAft>
            <a:buChar char="•"/>
          </a:pPr>
          <a:r>
            <a:rPr lang="en-US" sz="1100" kern="1200" dirty="0">
              <a:solidFill>
                <a:sysClr val="windowText" lastClr="000000">
                  <a:hueOff val="0"/>
                  <a:satOff val="0"/>
                  <a:lumOff val="0"/>
                  <a:alphaOff val="0"/>
                </a:sysClr>
              </a:solidFill>
              <a:latin typeface="Rockwell"/>
              <a:ea typeface="+mn-ea"/>
              <a:cs typeface="+mn-cs"/>
            </a:rPr>
            <a:t>16 (halfword)</a:t>
          </a:r>
        </a:p>
        <a:p>
          <a:pPr marL="57150" lvl="1" indent="-57150" algn="l" defTabSz="488950" rtl="0">
            <a:lnSpc>
              <a:spcPct val="90000"/>
            </a:lnSpc>
            <a:spcBef>
              <a:spcPct val="0"/>
            </a:spcBef>
            <a:spcAft>
              <a:spcPct val="15000"/>
            </a:spcAft>
            <a:buChar char="•"/>
          </a:pPr>
          <a:r>
            <a:rPr lang="en-US" sz="1100" kern="1200" dirty="0">
              <a:solidFill>
                <a:sysClr val="windowText" lastClr="000000">
                  <a:hueOff val="0"/>
                  <a:satOff val="0"/>
                  <a:lumOff val="0"/>
                  <a:alphaOff val="0"/>
                </a:sysClr>
              </a:solidFill>
              <a:latin typeface="Rockwell"/>
              <a:ea typeface="+mn-ea"/>
              <a:cs typeface="+mn-cs"/>
            </a:rPr>
            <a:t>32 (word) bits in length</a:t>
          </a:r>
        </a:p>
      </dsp:txBody>
      <dsp:txXfrm>
        <a:off x="3427323" y="0"/>
        <a:ext cx="2289352" cy="1325118"/>
      </dsp:txXfrm>
    </dsp:sp>
    <dsp:sp modelId="{38DACD41-8ED2-6A41-B99B-CE36DF007D30}">
      <dsp:nvSpPr>
        <dsp:cNvPr id="0" name=""/>
        <dsp:cNvSpPr/>
      </dsp:nvSpPr>
      <dsp:spPr>
        <a:xfrm>
          <a:off x="4335959" y="2152329"/>
          <a:ext cx="1973579" cy="1973580"/>
        </a:xfrm>
        <a:prstGeom prst="ellipse">
          <a:avLst/>
        </a:prstGeom>
        <a:solidFill>
          <a:srgbClr val="666699"/>
        </a:solidFill>
        <a:ln>
          <a:noFill/>
        </a:ln>
        <a:effectLst/>
      </dsp:spPr>
      <dsp:style>
        <a:lnRef idx="0">
          <a:scrgbClr r="0" g="0" b="0"/>
        </a:lnRef>
        <a:fillRef idx="3">
          <a:scrgbClr r="0" g="0" b="0"/>
        </a:fillRef>
        <a:effectRef idx="0">
          <a:scrgbClr r="0" g="0" b="0"/>
        </a:effectRef>
        <a:fontRef idx="minor">
          <a:schemeClr val="tx1"/>
        </a:fontRef>
      </dsp:style>
    </dsp:sp>
    <dsp:sp modelId="{1AD636D3-10BD-E94E-A7E8-84A33DD9177A}">
      <dsp:nvSpPr>
        <dsp:cNvPr id="0" name=""/>
        <dsp:cNvSpPr/>
      </dsp:nvSpPr>
      <dsp:spPr>
        <a:xfrm>
          <a:off x="6466636" y="1748027"/>
          <a:ext cx="2052523" cy="1437894"/>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1">
          <a:noAutofit/>
        </a:bodyPr>
        <a:lstStyle/>
        <a:p>
          <a:pPr marL="0" lvl="0" indent="0" algn="l" defTabSz="622300" rtl="0">
            <a:lnSpc>
              <a:spcPct val="90000"/>
            </a:lnSpc>
            <a:spcBef>
              <a:spcPct val="0"/>
            </a:spcBef>
            <a:spcAft>
              <a:spcPct val="35000"/>
            </a:spcAft>
            <a:buNone/>
          </a:pPr>
          <a:r>
            <a:rPr lang="en-US" sz="1400" kern="1200" dirty="0">
              <a:solidFill>
                <a:sysClr val="windowText" lastClr="000000">
                  <a:hueOff val="0"/>
                  <a:satOff val="0"/>
                  <a:lumOff val="0"/>
                  <a:alphaOff val="0"/>
                </a:sysClr>
              </a:solidFill>
              <a:latin typeface="Rockwell"/>
              <a:ea typeface="+mn-ea"/>
              <a:cs typeface="+mn-cs"/>
            </a:rPr>
            <a:t>Alignment checking</a:t>
          </a:r>
        </a:p>
        <a:p>
          <a:pPr marL="57150" lvl="1" indent="-57150" algn="l" defTabSz="488950" rtl="0">
            <a:lnSpc>
              <a:spcPct val="90000"/>
            </a:lnSpc>
            <a:spcBef>
              <a:spcPct val="0"/>
            </a:spcBef>
            <a:spcAft>
              <a:spcPct val="15000"/>
            </a:spcAft>
            <a:buChar char="•"/>
          </a:pPr>
          <a:r>
            <a:rPr lang="en-US" sz="1100" kern="1200" dirty="0">
              <a:solidFill>
                <a:sysClr val="windowText" lastClr="000000">
                  <a:hueOff val="0"/>
                  <a:satOff val="0"/>
                  <a:lumOff val="0"/>
                  <a:alphaOff val="0"/>
                </a:sysClr>
              </a:solidFill>
              <a:latin typeface="Rockwell"/>
              <a:ea typeface="+mn-ea"/>
              <a:cs typeface="+mn-cs"/>
            </a:rPr>
            <a:t>When the appropriate control bit is set, a data abort signal indicates an alignment fault for attempting unaligned access</a:t>
          </a:r>
        </a:p>
      </dsp:txBody>
      <dsp:txXfrm>
        <a:off x="6466636" y="1748027"/>
        <a:ext cx="2052523" cy="1437894"/>
      </dsp:txXfrm>
    </dsp:sp>
    <dsp:sp modelId="{FEBA1883-BC67-4C4B-8A37-4C515D22848A}">
      <dsp:nvSpPr>
        <dsp:cNvPr id="0" name=""/>
        <dsp:cNvSpPr/>
      </dsp:nvSpPr>
      <dsp:spPr>
        <a:xfrm>
          <a:off x="4049396" y="3035366"/>
          <a:ext cx="1973579" cy="1973580"/>
        </a:xfrm>
        <a:prstGeom prst="ellipse">
          <a:avLst/>
        </a:prstGeom>
        <a:gradFill rotWithShape="0">
          <a:gsLst>
            <a:gs pos="0">
              <a:srgbClr val="663366">
                <a:alpha val="50000"/>
                <a:hueOff val="0"/>
                <a:satOff val="0"/>
                <a:lumOff val="0"/>
                <a:alphaOff val="0"/>
                <a:shade val="40000"/>
                <a:alpha val="100000"/>
                <a:satMod val="150000"/>
                <a:lumMod val="100000"/>
              </a:srgbClr>
            </a:gs>
            <a:gs pos="100000">
              <a:srgbClr val="663366">
                <a:alpha val="50000"/>
                <a:hueOff val="0"/>
                <a:satOff val="0"/>
                <a:lumOff val="0"/>
                <a:alphaOff val="0"/>
                <a:tint val="70000"/>
                <a:shade val="100000"/>
                <a:alpha val="100000"/>
                <a:satMod val="200000"/>
                <a:lumMod val="100000"/>
              </a:srgbClr>
            </a:gs>
          </a:gsLst>
          <a:lin ang="5400000" scaled="1"/>
        </a:gradFill>
        <a:ln>
          <a:noFill/>
        </a:ln>
        <a:effectLst/>
      </dsp:spPr>
      <dsp:style>
        <a:lnRef idx="0">
          <a:scrgbClr r="0" g="0" b="0"/>
        </a:lnRef>
        <a:fillRef idx="3">
          <a:scrgbClr r="0" g="0" b="0"/>
        </a:fillRef>
        <a:effectRef idx="0">
          <a:scrgbClr r="0" g="0" b="0"/>
        </a:effectRef>
        <a:fontRef idx="minor">
          <a:schemeClr val="tx1"/>
        </a:fontRef>
      </dsp:style>
    </dsp:sp>
    <dsp:sp modelId="{24C20E20-3FB9-A64B-AC50-6A43E54B84FD}">
      <dsp:nvSpPr>
        <dsp:cNvPr id="0" name=""/>
        <dsp:cNvSpPr/>
      </dsp:nvSpPr>
      <dsp:spPr>
        <a:xfrm>
          <a:off x="6150864" y="4200906"/>
          <a:ext cx="2052523" cy="1437894"/>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1">
          <a:noAutofit/>
        </a:bodyPr>
        <a:lstStyle/>
        <a:p>
          <a:pPr marL="0" lvl="0" indent="0" algn="l" defTabSz="622300" rtl="0">
            <a:lnSpc>
              <a:spcPct val="90000"/>
            </a:lnSpc>
            <a:spcBef>
              <a:spcPct val="0"/>
            </a:spcBef>
            <a:spcAft>
              <a:spcPct val="35000"/>
            </a:spcAft>
            <a:buNone/>
          </a:pPr>
          <a:r>
            <a:rPr lang="en-US" sz="1400" kern="1200" dirty="0">
              <a:solidFill>
                <a:sysClr val="windowText" lastClr="000000">
                  <a:hueOff val="0"/>
                  <a:satOff val="0"/>
                  <a:lumOff val="0"/>
                  <a:alphaOff val="0"/>
                </a:sysClr>
              </a:solidFill>
              <a:latin typeface="Rockwell"/>
              <a:ea typeface="+mn-ea"/>
              <a:cs typeface="+mn-cs"/>
            </a:rPr>
            <a:t>Unaligned access</a:t>
          </a:r>
        </a:p>
        <a:p>
          <a:pPr marL="57150" lvl="1" indent="-57150" algn="l" defTabSz="488950" rtl="0">
            <a:lnSpc>
              <a:spcPct val="90000"/>
            </a:lnSpc>
            <a:spcBef>
              <a:spcPct val="0"/>
            </a:spcBef>
            <a:spcAft>
              <a:spcPct val="15000"/>
            </a:spcAft>
            <a:buChar char="•"/>
          </a:pPr>
          <a:r>
            <a:rPr lang="en-US" sz="1100" kern="1200" dirty="0">
              <a:solidFill>
                <a:sysClr val="windowText" lastClr="000000">
                  <a:hueOff val="0"/>
                  <a:satOff val="0"/>
                  <a:lumOff val="0"/>
                  <a:alphaOff val="0"/>
                </a:sysClr>
              </a:solidFill>
              <a:latin typeface="Rockwell"/>
              <a:ea typeface="+mn-ea"/>
              <a:cs typeface="+mn-cs"/>
            </a:rPr>
            <a:t>When this option is enabled, the processor uses one or more memory accesses to generate the required transfer of adjacent bytes transparently to the programmer</a:t>
          </a:r>
        </a:p>
      </dsp:txBody>
      <dsp:txXfrm>
        <a:off x="6150864" y="4200906"/>
        <a:ext cx="2052523" cy="1437894"/>
      </dsp:txXfrm>
    </dsp:sp>
    <dsp:sp modelId="{178CF4E2-741A-E842-BE8C-25A55749973B}">
      <dsp:nvSpPr>
        <dsp:cNvPr id="0" name=""/>
        <dsp:cNvSpPr/>
      </dsp:nvSpPr>
      <dsp:spPr>
        <a:xfrm>
          <a:off x="3121023" y="3035366"/>
          <a:ext cx="1973579" cy="1973580"/>
        </a:xfrm>
        <a:prstGeom prst="ellipse">
          <a:avLst/>
        </a:prstGeom>
        <a:solidFill>
          <a:srgbClr val="999966"/>
        </a:solidFill>
        <a:ln>
          <a:noFill/>
        </a:ln>
        <a:effectLst/>
      </dsp:spPr>
      <dsp:style>
        <a:lnRef idx="0">
          <a:scrgbClr r="0" g="0" b="0"/>
        </a:lnRef>
        <a:fillRef idx="3">
          <a:scrgbClr r="0" g="0" b="0"/>
        </a:fillRef>
        <a:effectRef idx="0">
          <a:scrgbClr r="0" g="0" b="0"/>
        </a:effectRef>
        <a:fontRef idx="minor">
          <a:schemeClr val="tx1"/>
        </a:fontRef>
      </dsp:style>
    </dsp:sp>
    <dsp:sp modelId="{B0A836E1-B0CC-234C-9BB4-A6D0E050AF2C}">
      <dsp:nvSpPr>
        <dsp:cNvPr id="0" name=""/>
        <dsp:cNvSpPr/>
      </dsp:nvSpPr>
      <dsp:spPr>
        <a:xfrm>
          <a:off x="940612" y="4200906"/>
          <a:ext cx="2052523" cy="1437894"/>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622300" rtl="0">
            <a:lnSpc>
              <a:spcPct val="90000"/>
            </a:lnSpc>
            <a:spcBef>
              <a:spcPct val="0"/>
            </a:spcBef>
            <a:spcAft>
              <a:spcPct val="35000"/>
            </a:spcAft>
            <a:buNone/>
          </a:pPr>
          <a:r>
            <a:rPr lang="en-US" sz="1400" kern="1200" dirty="0">
              <a:solidFill>
                <a:sysClr val="windowText" lastClr="000000">
                  <a:hueOff val="0"/>
                  <a:satOff val="0"/>
                  <a:lumOff val="0"/>
                  <a:alphaOff val="0"/>
                </a:sysClr>
              </a:solidFill>
              <a:latin typeface="Rockwell"/>
              <a:ea typeface="+mn-ea"/>
              <a:cs typeface="+mn-cs"/>
            </a:rPr>
            <a:t>For all three data types an unsigned interpretation is supported in which the value represents an unsigned, nonnegative integer</a:t>
          </a:r>
        </a:p>
      </dsp:txBody>
      <dsp:txXfrm>
        <a:off x="940612" y="4200906"/>
        <a:ext cx="2052523" cy="1437894"/>
      </dsp:txXfrm>
    </dsp:sp>
    <dsp:sp modelId="{C4FC9527-BF26-BE42-851A-08E582AEFD93}">
      <dsp:nvSpPr>
        <dsp:cNvPr id="0" name=""/>
        <dsp:cNvSpPr/>
      </dsp:nvSpPr>
      <dsp:spPr>
        <a:xfrm>
          <a:off x="2834460" y="2152329"/>
          <a:ext cx="1973579" cy="1973580"/>
        </a:xfrm>
        <a:prstGeom prst="ellipse">
          <a:avLst/>
        </a:prstGeom>
        <a:gradFill rotWithShape="0">
          <a:gsLst>
            <a:gs pos="0">
              <a:srgbClr val="663366">
                <a:alpha val="50000"/>
                <a:hueOff val="0"/>
                <a:satOff val="0"/>
                <a:lumOff val="0"/>
                <a:alphaOff val="0"/>
                <a:shade val="40000"/>
                <a:alpha val="100000"/>
                <a:satMod val="150000"/>
                <a:lumMod val="100000"/>
              </a:srgbClr>
            </a:gs>
            <a:gs pos="100000">
              <a:srgbClr val="663366">
                <a:alpha val="50000"/>
                <a:hueOff val="0"/>
                <a:satOff val="0"/>
                <a:lumOff val="0"/>
                <a:alphaOff val="0"/>
                <a:tint val="70000"/>
                <a:shade val="100000"/>
                <a:alpha val="100000"/>
                <a:satMod val="200000"/>
                <a:lumMod val="100000"/>
              </a:srgbClr>
            </a:gs>
          </a:gsLst>
          <a:lin ang="5400000" scaled="1"/>
        </a:gradFill>
        <a:ln>
          <a:noFill/>
        </a:ln>
        <a:effectLst/>
      </dsp:spPr>
      <dsp:style>
        <a:lnRef idx="0">
          <a:scrgbClr r="0" g="0" b="0"/>
        </a:lnRef>
        <a:fillRef idx="3">
          <a:scrgbClr r="0" g="0" b="0"/>
        </a:fillRef>
        <a:effectRef idx="0">
          <a:scrgbClr r="0" g="0" b="0"/>
        </a:effectRef>
        <a:fontRef idx="minor">
          <a:schemeClr val="tx1"/>
        </a:fontRef>
      </dsp:style>
    </dsp:sp>
    <dsp:sp modelId="{BDA09D31-9DF2-854D-8BA1-ACD362668A00}">
      <dsp:nvSpPr>
        <dsp:cNvPr id="0" name=""/>
        <dsp:cNvSpPr/>
      </dsp:nvSpPr>
      <dsp:spPr>
        <a:xfrm>
          <a:off x="624840" y="1748027"/>
          <a:ext cx="2052523" cy="1437894"/>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622300" rtl="0">
            <a:lnSpc>
              <a:spcPct val="90000"/>
            </a:lnSpc>
            <a:spcBef>
              <a:spcPct val="0"/>
            </a:spcBef>
            <a:spcAft>
              <a:spcPct val="35000"/>
            </a:spcAft>
            <a:buNone/>
          </a:pPr>
          <a:r>
            <a:rPr lang="en-US" sz="1400" kern="1200" dirty="0">
              <a:solidFill>
                <a:sysClr val="windowText" lastClr="000000">
                  <a:hueOff val="0"/>
                  <a:satOff val="0"/>
                  <a:lumOff val="0"/>
                  <a:alphaOff val="0"/>
                </a:sysClr>
              </a:solidFill>
              <a:latin typeface="Rockwell"/>
              <a:ea typeface="+mn-ea"/>
              <a:cs typeface="+mn-cs"/>
            </a:rPr>
            <a:t>All three data types can also be used for twos complement signed integers</a:t>
          </a:r>
        </a:p>
      </dsp:txBody>
      <dsp:txXfrm>
        <a:off x="624840" y="1748027"/>
        <a:ext cx="2052523" cy="1437894"/>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2D8596-A6FE-424F-BEA7-4FABD6880221}">
      <dsp:nvSpPr>
        <dsp:cNvPr id="0" name=""/>
        <dsp:cNvSpPr/>
      </dsp:nvSpPr>
      <dsp:spPr>
        <a:xfrm>
          <a:off x="0" y="22820"/>
          <a:ext cx="2533147" cy="1519888"/>
        </a:xfrm>
        <a:prstGeom prst="rect">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kern="1200" dirty="0">
              <a:solidFill>
                <a:sysClr val="window" lastClr="FFFFFF"/>
              </a:solidFill>
              <a:effectLst>
                <a:outerShdw blurRad="38100" dist="38100" dir="2700000" algn="tl">
                  <a:srgbClr val="000000">
                    <a:alpha val="43137"/>
                  </a:srgbClr>
                </a:outerShdw>
              </a:effectLst>
              <a:latin typeface="Rockwell"/>
              <a:ea typeface="+mn-ea"/>
              <a:cs typeface="+mn-cs"/>
            </a:rPr>
            <a:t>Load and store instructions</a:t>
          </a:r>
        </a:p>
      </dsp:txBody>
      <dsp:txXfrm>
        <a:off x="0" y="22820"/>
        <a:ext cx="2533147" cy="1519888"/>
      </dsp:txXfrm>
    </dsp:sp>
    <dsp:sp modelId="{CCA398C2-1718-184C-A4D9-50AF525977D0}">
      <dsp:nvSpPr>
        <dsp:cNvPr id="0" name=""/>
        <dsp:cNvSpPr/>
      </dsp:nvSpPr>
      <dsp:spPr>
        <a:xfrm>
          <a:off x="2786462" y="22820"/>
          <a:ext cx="2533147" cy="1519888"/>
        </a:xfrm>
        <a:prstGeom prst="rect">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kern="1200" dirty="0">
              <a:solidFill>
                <a:sysClr val="window" lastClr="FFFFFF"/>
              </a:solidFill>
              <a:effectLst>
                <a:outerShdw blurRad="38100" dist="38100" dir="2700000" algn="tl">
                  <a:srgbClr val="000000">
                    <a:alpha val="43137"/>
                  </a:srgbClr>
                </a:outerShdw>
              </a:effectLst>
              <a:latin typeface="Rockwell"/>
              <a:ea typeface="+mn-ea"/>
              <a:cs typeface="+mn-cs"/>
            </a:rPr>
            <a:t>Branch instructions</a:t>
          </a:r>
        </a:p>
      </dsp:txBody>
      <dsp:txXfrm>
        <a:off x="2786462" y="22820"/>
        <a:ext cx="2533147" cy="1519888"/>
      </dsp:txXfrm>
    </dsp:sp>
    <dsp:sp modelId="{64A8D5CD-3A52-B548-B685-481505185C5C}">
      <dsp:nvSpPr>
        <dsp:cNvPr id="0" name=""/>
        <dsp:cNvSpPr/>
      </dsp:nvSpPr>
      <dsp:spPr>
        <a:xfrm>
          <a:off x="5572924" y="22820"/>
          <a:ext cx="2533147" cy="1519888"/>
        </a:xfrm>
        <a:prstGeom prst="rect">
          <a:avLst/>
        </a:prstGeom>
        <a:solidFill>
          <a:srgbClr val="999966"/>
        </a:solidFill>
        <a:ln>
          <a:solidFill>
            <a:srgbClr val="999966"/>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kern="1200" dirty="0">
              <a:solidFill>
                <a:sysClr val="window" lastClr="FFFFFF"/>
              </a:solidFill>
              <a:effectLst>
                <a:outerShdw blurRad="38100" dist="38100" dir="2700000" algn="tl">
                  <a:srgbClr val="000000">
                    <a:alpha val="43137"/>
                  </a:srgbClr>
                </a:outerShdw>
              </a:effectLst>
              <a:latin typeface="Rockwell"/>
              <a:ea typeface="+mn-ea"/>
              <a:cs typeface="+mn-cs"/>
            </a:rPr>
            <a:t>Data-processing instructions</a:t>
          </a:r>
        </a:p>
      </dsp:txBody>
      <dsp:txXfrm>
        <a:off x="5572924" y="22820"/>
        <a:ext cx="2533147" cy="1519888"/>
      </dsp:txXfrm>
    </dsp:sp>
    <dsp:sp modelId="{03F6787E-A3EA-ED45-9F3F-75B9DDD7AA05}">
      <dsp:nvSpPr>
        <dsp:cNvPr id="0" name=""/>
        <dsp:cNvSpPr/>
      </dsp:nvSpPr>
      <dsp:spPr>
        <a:xfrm>
          <a:off x="0" y="1796024"/>
          <a:ext cx="2533147" cy="1519888"/>
        </a:xfrm>
        <a:prstGeom prst="rect">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kern="1200" dirty="0">
              <a:solidFill>
                <a:sysClr val="window" lastClr="FFFFFF"/>
              </a:solidFill>
              <a:effectLst>
                <a:outerShdw blurRad="38100" dist="38100" dir="2700000" algn="tl">
                  <a:srgbClr val="000000">
                    <a:alpha val="43137"/>
                  </a:srgbClr>
                </a:outerShdw>
              </a:effectLst>
              <a:latin typeface="Rockwell"/>
              <a:ea typeface="+mn-ea"/>
              <a:cs typeface="+mn-cs"/>
            </a:rPr>
            <a:t>Multiply instructions</a:t>
          </a:r>
        </a:p>
      </dsp:txBody>
      <dsp:txXfrm>
        <a:off x="0" y="1796024"/>
        <a:ext cx="2533147" cy="1519888"/>
      </dsp:txXfrm>
    </dsp:sp>
    <dsp:sp modelId="{4AB18F4A-D2FC-3144-A837-0636156DD7D2}">
      <dsp:nvSpPr>
        <dsp:cNvPr id="0" name=""/>
        <dsp:cNvSpPr/>
      </dsp:nvSpPr>
      <dsp:spPr>
        <a:xfrm>
          <a:off x="2786462" y="1796024"/>
          <a:ext cx="2533147" cy="1519888"/>
        </a:xfrm>
        <a:prstGeom prst="rect">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kern="1200" dirty="0">
              <a:solidFill>
                <a:sysClr val="window" lastClr="FFFFFF"/>
              </a:solidFill>
              <a:effectLst>
                <a:outerShdw blurRad="38100" dist="38100" dir="2700000" algn="tl">
                  <a:srgbClr val="000000">
                    <a:alpha val="43137"/>
                  </a:srgbClr>
                </a:outerShdw>
              </a:effectLst>
              <a:latin typeface="Rockwell"/>
              <a:ea typeface="+mn-ea"/>
              <a:cs typeface="+mn-cs"/>
            </a:rPr>
            <a:t>Parallel addition and subtraction instructions</a:t>
          </a:r>
        </a:p>
      </dsp:txBody>
      <dsp:txXfrm>
        <a:off x="2786462" y="1796024"/>
        <a:ext cx="2533147" cy="1519888"/>
      </dsp:txXfrm>
    </dsp:sp>
    <dsp:sp modelId="{D25A60C3-6ADF-7A4B-933D-007770C77D18}">
      <dsp:nvSpPr>
        <dsp:cNvPr id="0" name=""/>
        <dsp:cNvSpPr/>
      </dsp:nvSpPr>
      <dsp:spPr>
        <a:xfrm>
          <a:off x="5572924" y="1796024"/>
          <a:ext cx="2533147" cy="1519888"/>
        </a:xfrm>
        <a:prstGeom prst="rect">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solidFill>
            <a:srgbClr val="330F42"/>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kern="1200" dirty="0">
              <a:solidFill>
                <a:sysClr val="window" lastClr="FFFFFF"/>
              </a:solidFill>
              <a:effectLst>
                <a:outerShdw blurRad="38100" dist="38100" dir="2700000" algn="tl">
                  <a:srgbClr val="000000">
                    <a:alpha val="43137"/>
                  </a:srgbClr>
                </a:outerShdw>
              </a:effectLst>
              <a:latin typeface="Rockwell"/>
              <a:ea typeface="+mn-ea"/>
              <a:cs typeface="+mn-cs"/>
            </a:rPr>
            <a:t>Extend instructions</a:t>
          </a:r>
        </a:p>
      </dsp:txBody>
      <dsp:txXfrm>
        <a:off x="5572924" y="1796024"/>
        <a:ext cx="2533147" cy="1519888"/>
      </dsp:txXfrm>
    </dsp:sp>
    <dsp:sp modelId="{FE8FE05C-CAD8-8749-AE97-99459466D0E8}">
      <dsp:nvSpPr>
        <dsp:cNvPr id="0" name=""/>
        <dsp:cNvSpPr/>
      </dsp:nvSpPr>
      <dsp:spPr>
        <a:xfrm>
          <a:off x="2848625" y="3592048"/>
          <a:ext cx="2533147" cy="1519888"/>
        </a:xfrm>
        <a:prstGeom prst="rect">
          <a:avLst/>
        </a:prstGeom>
        <a:solidFill>
          <a:srgbClr val="999966"/>
        </a:solidFill>
        <a:ln>
          <a:solidFill>
            <a:srgbClr val="999966"/>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kern="1200" dirty="0">
              <a:solidFill>
                <a:sysClr val="window" lastClr="FFFFFF"/>
              </a:solidFill>
              <a:effectLst>
                <a:outerShdw blurRad="38100" dist="38100" dir="2700000" algn="tl">
                  <a:srgbClr val="000000">
                    <a:alpha val="43137"/>
                  </a:srgbClr>
                </a:outerShdw>
              </a:effectLst>
              <a:latin typeface="Rockwell"/>
              <a:ea typeface="+mn-ea"/>
              <a:cs typeface="+mn-cs"/>
            </a:rPr>
            <a:t>Status register access instructions</a:t>
          </a:r>
        </a:p>
      </dsp:txBody>
      <dsp:txXfrm>
        <a:off x="2848625" y="3592048"/>
        <a:ext cx="2533147" cy="1519888"/>
      </dsp:txXfrm>
    </dsp:sp>
  </dsp:spTree>
</dsp:drawing>
</file>

<file path=ppt/diagrams/layout1.xml><?xml version="1.0" encoding="utf-8"?>
<dgm:layoutDef xmlns:dgm="http://schemas.openxmlformats.org/drawingml/2006/diagram" xmlns:a="http://schemas.openxmlformats.org/drawingml/2006/main" uniqueId="urn:microsoft.com/office/officeart/2005/8/layout/cycle4#3">
  <dgm:title val=""/>
  <dgm:desc val=""/>
  <dgm:catLst>
    <dgm:cat type="relationship" pri="26000"/>
    <dgm:cat type="cycle" pri="13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4.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bProcess2">
  <dgm:title val=""/>
  <dgm:desc val=""/>
  <dgm:catLst>
    <dgm:cat type="process" pri="24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dgm:varLst>
    <dgm:choose name="Name0">
      <dgm:if name="Name1" func="var" arg="dir" op="equ" val="norm">
        <dgm:alg type="snake">
          <dgm:param type="grDir" val="tL"/>
          <dgm:param type="flowDir" val="col"/>
          <dgm:param type="contDir" val="revDir"/>
        </dgm:alg>
      </dgm:if>
      <dgm:else name="Name2">
        <dgm:alg type="snake">
          <dgm:param type="grDir" val="tR"/>
          <dgm:param type="flowDir" val="col"/>
          <dgm:param type="contDir" val="revDir"/>
        </dgm:alg>
      </dgm:else>
    </dgm:choose>
    <dgm:shape xmlns:r="http://schemas.openxmlformats.org/officeDocument/2006/relationships" r:blip="">
      <dgm:adjLst/>
    </dgm:shape>
    <dgm:presOf/>
    <dgm:constrLst>
      <dgm:constr type="w" for="ch" forName="firstNode" refType="w"/>
      <dgm:constr type="w" for="ch" forName="lastNode" refType="w" refFor="ch" refForName="firstNode" op="equ"/>
      <dgm:constr type="w" for="ch" forName="middleNode" refType="w" refFor="ch" refForName="firstNode" op="equ"/>
      <dgm:constr type="h" for="ch" ptType="sibTrans" refType="w" refFor="ch" refForName="middleNode" op="equ" fact="0.35"/>
      <dgm:constr type="sp" refType="w" refFor="ch" refForName="middleNode" fact="0.5"/>
      <dgm:constr type="connDist" for="des" ptType="sibTrans" op="equ"/>
      <dgm:constr type="primFontSz" for="ch" forName="firstNode" val="65"/>
      <dgm:constr type="primFontSz" for="ch" forName="lastNode" refType="primFontSz" refFor="ch" refForName="firstNode" op="equ"/>
      <dgm:constr type="primFontSz" for="des" forName="shape" val="65"/>
      <dgm:constr type="primFontSz" for="des" forName="shape" refType="primFontSz" refFor="ch" refForName="firstNode" op="lte"/>
      <dgm:constr type="primFontSz" for="des" forName="shape" refType="primFontSz" refFor="ch" refForName="lastNode" op="lte"/>
    </dgm:constrLst>
    <dgm:ruleLst/>
    <dgm:forEach name="Name3" axis="ch" ptType="node">
      <dgm:choose name="Name4">
        <dgm:if name="Name5" axis="self" ptType="node" func="pos" op="equ" val="1">
          <dgm:layoutNode name="fir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if name="Name6" axis="self" ptType="node" func="revPos" op="equ" val="1">
          <dgm:layoutNode name="la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7">
          <dgm:layoutNode name="middleNode">
            <dgm:alg type="composite"/>
            <dgm:shape xmlns:r="http://schemas.openxmlformats.org/officeDocument/2006/relationships" r:blip="">
              <dgm:adjLst/>
            </dgm:shape>
            <dgm:presOf/>
            <dgm:constrLst>
              <dgm:constr type="h" refType="w"/>
              <dgm:constr type="w" for="ch" forName="padding" refType="w"/>
              <dgm:constr type="h" for="ch" forName="padding" refType="h"/>
              <dgm:constr type="w" for="ch" forName="shape" refType="w" fact="0.667"/>
              <dgm:constr type="h" for="ch" forName="shape" refType="h" fact="0.667"/>
              <dgm:constr type="ctrX" for="ch" forName="shape" refType="w" fact="0.5"/>
              <dgm:constr type="ctrY" for="ch" forName="shape" refType="h" fact="0.5"/>
            </dgm:constrLst>
            <dgm:ruleLst/>
            <dgm:layoutNode name="padding">
              <dgm:alg type="sp"/>
              <dgm:shape xmlns:r="http://schemas.openxmlformats.org/officeDocument/2006/relationships" type="ellipse" r:blip="" hideGeom="1">
                <dgm:adjLst/>
              </dgm:shape>
              <dgm:presOf/>
              <dgm:constrLst/>
              <dgm:ruleLst/>
            </dgm:layoutNode>
            <dgm:layoutNode name="shap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else>
      </dgm:choose>
      <dgm:forEach name="Name8" axis="followSib" ptType="sibTrans" cnt="1">
        <dgm:layoutNode name="sibTrans">
          <dgm:choose name="Name9">
            <dgm:if name="Name10" func="var" arg="dir" op="equ" val="norm">
              <dgm:choose name="Name11">
                <dgm:if name="Name12" axis="self" ptType="sibTrans" func="pos" op="equ" val="1">
                  <dgm:alg type="conn">
                    <dgm:param type="begPts" val="auto"/>
                    <dgm:param type="endPts" val="auto"/>
                    <dgm:param type="srcNode" val="firstNode"/>
                    <dgm:param type="dstNode" val="shape"/>
                  </dgm:alg>
                </dgm:if>
                <dgm:if name="Name13" axis="self" ptType="sibTrans" func="revPos" op="equ" val="1">
                  <dgm:alg type="conn">
                    <dgm:param type="begPts" val="auto"/>
                    <dgm:param type="endPts" val="auto"/>
                    <dgm:param type="srcNode" val="shape"/>
                    <dgm:param type="dstNode" val="lastNode"/>
                  </dgm:alg>
                </dgm:if>
                <dgm:else name="Name14">
                  <dgm:alg type="conn">
                    <dgm:param type="begPts" val="auto"/>
                    <dgm:param type="endPts" val="auto"/>
                    <dgm:param type="srcNode" val="shape"/>
                    <dgm:param type="dstNode" val="shape"/>
                  </dgm:alg>
                </dgm:else>
              </dgm:choose>
            </dgm:if>
            <dgm:else name="Name15">
              <dgm:choose name="Name16">
                <dgm:if name="Name17" axis="self" ptType="sibTrans" func="pos" op="equ" val="1">
                  <dgm:alg type="conn">
                    <dgm:param type="begPts" val="auto"/>
                    <dgm:param type="endPts" val="auto"/>
                    <dgm:param type="srcNode" val="firstNode"/>
                    <dgm:param type="dstNode" val="shape"/>
                  </dgm:alg>
                </dgm:if>
                <dgm:if name="Name18" axis="self" ptType="sibTrans" func="revPos" op="equ" val="1">
                  <dgm:alg type="conn">
                    <dgm:param type="begPts" val="auto"/>
                    <dgm:param type="endPts" val="auto"/>
                    <dgm:param type="srcNode" val="shape"/>
                    <dgm:param type="dstNode" val="lastNode"/>
                  </dgm:alg>
                </dgm:if>
                <dgm:else name="Name19">
                  <dgm:alg type="conn">
                    <dgm:param type="begPts" val="auto"/>
                    <dgm:param type="endPts" val="auto"/>
                    <dgm:param type="srcNode" val="shape"/>
                    <dgm:param type="dstNode" val="shape"/>
                  </dgm:alg>
                </dgm:else>
              </dgm:choose>
            </dgm:else>
          </dgm:choose>
          <dgm:shape xmlns:r="http://schemas.openxmlformats.org/officeDocument/2006/relationships" rot="90" type="triangle" r:blip="">
            <dgm:adjLst/>
          </dgm:shape>
          <dgm:presOf axis="self"/>
          <dgm:constrLst>
            <dgm:constr type="w" refType="h"/>
            <dgm:constr type="connDist"/>
            <dgm:constr type="begPad" refType="connDist" fact="0.25"/>
            <dgm:constr type="endPad" refType="connDist" fact="0.22"/>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target2">
  <dgm:title val=""/>
  <dgm:desc val=""/>
  <dgm:catLst>
    <dgm:cat type="relationship"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chMax val="3"/>
      <dgm:chPref val="1"/>
      <dgm:dir/>
      <dgm:animLvl val="lvl"/>
      <dgm:resizeHandles/>
    </dgm:varLst>
    <dgm:alg type="composite">
      <dgm:param type="horzAlign" val="none"/>
      <dgm:param type="vertAlign" val="none"/>
    </dgm:alg>
    <dgm:shape xmlns:r="http://schemas.openxmlformats.org/officeDocument/2006/relationships" r:blip="">
      <dgm:adjLst/>
    </dgm:shape>
    <dgm:presOf/>
    <dgm:choose name="Name1">
      <dgm:if name="Name2" func="var" arg="dir" op="equ" val="norm">
        <dgm:choose name="Name3">
          <dgm:if name="Name4" axis="ch ch" ptType="node node" st="1 1" cnt="1 0" func="cnt" op="gt" val="0">
            <dgm:choose name="Name5">
              <dgm:if name="Name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395"/>
                  <dgm:constr type="t" for="ch" forName="centerBox" refType="h" fact="0.5"/>
                  <dgm:constr type="w" for="ch" forName="centerBox" refType="w" fact="0.555"/>
                  <dgm:constr type="h" for="ch" forName="centerBox" refType="h" fact="0.4"/>
                  <dgm:constr type="userA" for="des" forName="outerSibTrans" refType="w"/>
                  <dgm:constr type="userA" for="des" forName="middleSibTrans" refType="w"/>
                  <dgm:constr type="userA" for="des" forName="centerSibTrans" refType="w"/>
                </dgm:constrLst>
              </dgm:if>
              <dgm:else name="Name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22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8">
            <dgm:choose name="Name9">
              <dgm:if name="Name1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26"/>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1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if>
      <dgm:else name="Name12">
        <dgm:choose name="Name13">
          <dgm:if name="Name14" axis="ch ch" ptType="node node" st="1 1" cnt="1 0" func="cnt" op="gt" val="0">
            <dgm:choose name="Name15">
              <dgm:if name="Name1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55"/>
                  <dgm:constr type="h" for="ch" forName="centerBox" refType="h" fact="0.4"/>
                  <dgm:constr type="userA" for="des" forName="outerSibTrans" refType="w"/>
                  <dgm:constr type="userA" for="des" forName="middleSibTrans" refType="w"/>
                  <dgm:constr type="userA" for="des" forName="centerSibTrans" refType="w"/>
                </dgm:constrLst>
              </dgm:if>
              <dgm:else name="Name1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18">
            <dgm:choose name="Name19">
              <dgm:if name="Name2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2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else>
    </dgm:choose>
    <dgm:ruleLst/>
    <dgm:choose name="Name22">
      <dgm:if name="Name23" axis="root ch" ptType="all node" st="1 1" cnt="0 0" func="cnt" op="gte" val="1">
        <dgm:layoutNode name="outerBox" styleLbl="node1">
          <dgm:alg type="composite">
            <dgm:param type="horzAlign" val="none"/>
            <dgm:param type="vertAlign" val="none"/>
          </dgm:alg>
          <dgm:shape xmlns:r="http://schemas.openxmlformats.org/officeDocument/2006/relationships" r:blip="">
            <dgm:adjLst/>
          </dgm:shape>
          <dgm:presOf/>
          <dgm:choose name="Name24">
            <dgm:if name="Name25" axis="root ch" ptType="all node" st="1 1" cnt="0 0" func="cnt" op="gt" val="1">
              <dgm:choose name="Name26">
                <dgm:if name="Name27" func="var" arg="dir" op="equ" val="norm">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025"/>
                    <dgm:constr type="t" for="ch" forName="outerBoxChildren" refType="h" fact="0.25"/>
                    <dgm:constr type="w" for="ch" forName="outerBoxChildren" refType="w" fact="0.15"/>
                    <dgm:constr type="h" for="ch" forName="outerBoxChildren" refType="h" fact="0.7"/>
                  </dgm:constrLst>
                </dgm:if>
                <dgm:else name="Name28">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825"/>
                    <dgm:constr type="t" for="ch" forName="outerBoxChildren" refType="h" fact="0.25"/>
                    <dgm:constr type="w" for="ch" forName="outerBoxChildren" refType="w" fact="0.15"/>
                    <dgm:constr type="h" for="ch" forName="outerBoxChildren" refType="h" fact="0.7"/>
                  </dgm:constrLst>
                </dgm:else>
              </dgm:choose>
            </dgm:if>
            <dgm:else name="Name29">
              <dgm:constrLst>
                <dgm:constr type="l" for="ch" forName="outerBoxParent"/>
                <dgm:constr type="t" for="ch" forName="outerBoxParent"/>
                <dgm:constr type="w" for="ch" forName="outerBoxParent" refType="w"/>
                <dgm:constr type="h" for="ch" forName="outerBoxParent" refType="h"/>
                <dgm:constr type="bMarg" for="ch" forName="outerBoxParent" refType="h" fact="1.75"/>
                <dgm:constr type="l" for="ch" forName="outerBoxChildren" refType="w" fact="0.025"/>
                <dgm:constr type="t" for="ch" forName="outerBoxChildren" refType="h" fact="0.45"/>
                <dgm:constr type="w" for="ch" forName="outerBoxChildren" refType="w" fact="0.95"/>
                <dgm:constr type="h" for="ch" forName="outerBoxChildren" refType="h" fact="0.45"/>
              </dgm:constrLst>
            </dgm:else>
          </dgm:choose>
          <dgm:ruleLst/>
          <dgm:layoutNode name="outerBoxParent" styleLbl="node1">
            <dgm:alg type="tx">
              <dgm:param type="txAnchorVert" val="t"/>
              <dgm:param type="parTxLTRAlign" val="l"/>
              <dgm:param type="parTxRTLAlign" val="r"/>
            </dgm:alg>
            <dgm:shape xmlns:r="http://schemas.openxmlformats.org/officeDocument/2006/relationships" type="roundRect" r:blip="">
              <dgm:adjLst>
                <dgm:adj idx="1" val="0.085"/>
              </dgm:adjLst>
            </dgm:shape>
            <dgm:presOf axis="ch" ptType="node" cnt="1"/>
            <dgm:constrLst>
              <dgm:constr type="tMarg" refType="primFontSz" fact="0.3"/>
              <dgm:constr type="lMarg" refType="primFontSz" fact="0.3"/>
              <dgm:constr type="rMarg" refType="primFontSz" fact="0.3"/>
            </dgm:constrLst>
            <dgm:ruleLst>
              <dgm:rule type="primFontSz" val="5" fact="NaN" max="NaN"/>
            </dgm:ruleLst>
          </dgm:layoutNode>
          <dgm:layoutNode name="outerBoxChildren">
            <dgm:choose name="Name30">
              <dgm:if name="Name31" axis="root ch" ptType="all node" st="1 1" cnt="0 0" func="cnt" op="gt" val="1">
                <dgm:alg type="lin">
                  <dgm:param type="linDir" val="fromT"/>
                  <dgm:param type="vertAlign" val="t"/>
                </dgm:alg>
              </dgm:if>
              <dgm:else name="Name32">
                <dgm:choose name="Name33">
                  <dgm:if name="Name34" func="var" arg="dir" op="equ" val="norm">
                    <dgm:alg type="lin">
                      <dgm:param type="horzAlign" val="l"/>
                    </dgm:alg>
                  </dgm:if>
                  <dgm:else name="Name35">
                    <dgm:alg type="lin">
                      <dgm:param type="linDir" val="fromR"/>
                      <dgm:param type="horzAlign" val="r"/>
                    </dgm:alg>
                  </dgm:else>
                </dgm:choose>
              </dgm:else>
            </dgm:choose>
            <dgm:shape xmlns:r="http://schemas.openxmlformats.org/officeDocument/2006/relationships" r:blip="">
              <dgm:adjLst/>
            </dgm:shape>
            <dgm:presOf/>
            <dgm:constrLst>
              <dgm:constr type="w" for="ch" forName="oChild" refType="w"/>
              <dgm:constr type="h" for="ch" forName="oChild" refType="h"/>
            </dgm:constrLst>
            <dgm:ruleLst/>
            <dgm:forEach name="Name36" axis="ch ch" ptType="node node" st="1 1" cnt="1 0">
              <dgm:layoutNode name="o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37" axis="followSib" ptType="sibTrans" cnt="1">
                <dgm:layoutNode name="ou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38"/>
    </dgm:choose>
    <dgm:choose name="Name39">
      <dgm:if name="Name40" axis="root ch" ptType="all node" st="1 1" cnt="0 0" func="cnt" op="gte" val="2">
        <dgm:layoutNode name="middleBox">
          <dgm:alg type="composite">
            <dgm:param type="horzAlign" val="none"/>
            <dgm:param type="vertAlign" val="none"/>
          </dgm:alg>
          <dgm:shape xmlns:r="http://schemas.openxmlformats.org/officeDocument/2006/relationships" r:blip="">
            <dgm:adjLst/>
          </dgm:shape>
          <dgm:presOf/>
          <dgm:choose name="Name41">
            <dgm:if name="Name42" axis="root ch" ptType="all node" st="1 1" cnt="0 0" func="cnt" op="gt" val="2">
              <dgm:choose name="Name43">
                <dgm:if name="Name44" func="var" arg="dir" op="equ" val="norm">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35"/>
                    <dgm:constr type="w" for="ch" forName="middleBoxChildren" refType="w" fact="0.2"/>
                    <dgm:constr type="h" for="ch" forName="middleBoxChildren" refType="h" fact="0.575"/>
                  </dgm:constrLst>
                </dgm:if>
                <dgm:else name="Name45">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775"/>
                    <dgm:constr type="t" for="ch" forName="middleBoxChildren" refType="h" fact="0.35"/>
                    <dgm:constr type="w" for="ch" forName="middleBoxChildren" refType="w" fact="0.2"/>
                    <dgm:constr type="h" for="ch" forName="middleBoxChildren" refType="h" fact="0.575"/>
                  </dgm:constrLst>
                </dgm:else>
              </dgm:choose>
            </dgm:if>
            <dgm:else name="Name46">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45"/>
                <dgm:constr type="w" for="ch" forName="middleBoxChildren" refType="w" fact="0.95"/>
                <dgm:constr type="h" for="ch" forName="middleBoxChildren" refType="h" fact="0.45"/>
              </dgm:constrLst>
            </dgm:else>
          </dgm:choose>
          <dgm:ruleLst/>
          <dgm:layoutNode name="middle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2" cnt="1"/>
            <dgm:constrLst>
              <dgm:constr type="tMarg" refType="primFontSz" fact="0.3"/>
              <dgm:constr type="lMarg" refType="primFontSz" fact="0.3"/>
              <dgm:constr type="rMarg" refType="primFontSz" fact="0.3"/>
            </dgm:constrLst>
            <dgm:ruleLst>
              <dgm:rule type="primFontSz" val="5" fact="NaN" max="NaN"/>
            </dgm:ruleLst>
          </dgm:layoutNode>
          <dgm:layoutNode name="middleBoxChildren">
            <dgm:choose name="Name47">
              <dgm:if name="Name48" axis="root ch" ptType="all node" st="1 1" cnt="0 0" func="cnt" op="gt" val="2">
                <dgm:alg type="lin">
                  <dgm:param type="linDir" val="fromT"/>
                  <dgm:param type="vertAlign" val="t"/>
                </dgm:alg>
              </dgm:if>
              <dgm:else name="Name49">
                <dgm:choose name="Name50">
                  <dgm:if name="Name51" func="var" arg="dir" op="equ" val="norm">
                    <dgm:alg type="lin">
                      <dgm:param type="horzAlign" val="l"/>
                    </dgm:alg>
                  </dgm:if>
                  <dgm:else name="Name52">
                    <dgm:alg type="lin">
                      <dgm:param type="linDir" val="fromR"/>
                      <dgm:param type="horzAlign" val="r"/>
                    </dgm:alg>
                  </dgm:else>
                </dgm:choose>
              </dgm:else>
            </dgm:choose>
            <dgm:shape xmlns:r="http://schemas.openxmlformats.org/officeDocument/2006/relationships" r:blip="">
              <dgm:adjLst/>
            </dgm:shape>
            <dgm:presOf/>
            <dgm:constrLst>
              <dgm:constr type="w" for="ch" forName="mChild" refType="w"/>
              <dgm:constr type="h" for="ch" forName="mChild" refType="h"/>
            </dgm:constrLst>
            <dgm:ruleLst/>
            <dgm:forEach name="Name53" axis="ch ch" ptType="node node" st="2 1" cnt="1 0">
              <dgm:layoutNode name="m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54" axis="followSib" ptType="sibTrans" cnt="1">
                <dgm:layoutNode name="middle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55"/>
    </dgm:choose>
    <dgm:choose name="Name56">
      <dgm:if name="Name57" axis="root ch" ptType="all node" st="1 1" cnt="0 0" func="cnt" op="gte" val="3">
        <dgm:layoutNode name="centerBox">
          <dgm:alg type="composite">
            <dgm:param type="horzAlign" val="none"/>
            <dgm:param type="vertAlign" val="none"/>
          </dgm:alg>
          <dgm:shape xmlns:r="http://schemas.openxmlformats.org/officeDocument/2006/relationships" r:blip="">
            <dgm:adjLst/>
          </dgm:shape>
          <dgm:presOf/>
          <dgm:choose name="Name58">
            <dgm:if name="Name59" axis="ch ch" ptType="node node" st="3 1" cnt="1 0" func="cnt" op="gt" val="0">
              <dgm:constrLst>
                <dgm:constr type="l" for="ch" forName="centerBoxParent"/>
                <dgm:constr type="t" for="ch" forName="centerBoxParent"/>
                <dgm:constr type="w" for="ch" forName="centerBoxParent" refType="w"/>
                <dgm:constr type="h" for="ch" forName="centerBoxParent" refType="h"/>
                <dgm:constr type="bMarg" for="ch" forName="centerBoxParent" refType="h" fact="1.6"/>
                <dgm:constr type="l" for="ch" forName="centerBoxChildren" refType="w" fact="0.025"/>
                <dgm:constr type="t" for="ch" forName="centerBoxChildren" refType="h" fact="0.45"/>
                <dgm:constr type="w" for="ch" forName="centerBoxChildren" refType="w" fact="0.95"/>
                <dgm:constr type="h" for="ch" forName="centerBoxChildren" refType="h" fact="0.45"/>
              </dgm:constrLst>
            </dgm:if>
            <dgm:else name="Name60">
              <dgm:constrLst>
                <dgm:constr type="l" for="ch" forName="centerBoxParent"/>
                <dgm:constr type="t" for="ch" forName="centerBoxParent"/>
                <dgm:constr type="w" for="ch" forName="centerBoxParent" refType="w"/>
                <dgm:constr type="h" for="ch" forName="centerBoxParent" refType="h"/>
              </dgm:constrLst>
            </dgm:else>
          </dgm:choose>
          <dgm:ruleLst/>
          <dgm:layoutNode name="center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3" cnt="1"/>
            <dgm:constrLst>
              <dgm:constr type="tMarg" refType="primFontSz" fact="0.3"/>
              <dgm:constr type="lMarg" refType="primFontSz" fact="0.3"/>
              <dgm:constr type="rMarg" refType="primFontSz" fact="0.3"/>
            </dgm:constrLst>
            <dgm:ruleLst>
              <dgm:rule type="primFontSz" val="5" fact="NaN" max="NaN"/>
            </dgm:ruleLst>
          </dgm:layoutNode>
          <dgm:choose name="Name61">
            <dgm:if name="Name62" axis="ch ch" ptType="node node" st="3 1" cnt="1 0" func="cnt" op="gt" val="0">
              <dgm:layoutNode name="centerBoxChildren">
                <dgm:choose name="Name63">
                  <dgm:if name="Name64" func="var" arg="dir" op="equ" val="norm">
                    <dgm:alg type="lin">
                      <dgm:param type="horzAlign" val="l"/>
                    </dgm:alg>
                  </dgm:if>
                  <dgm:else name="Name65">
                    <dgm:alg type="lin">
                      <dgm:param type="linDir" val="fromR"/>
                      <dgm:param type="horzAlign" val="r"/>
                    </dgm:alg>
                  </dgm:else>
                </dgm:choose>
                <dgm:shape xmlns:r="http://schemas.openxmlformats.org/officeDocument/2006/relationships" r:blip="">
                  <dgm:adjLst/>
                </dgm:shape>
                <dgm:presOf/>
                <dgm:constrLst>
                  <dgm:constr type="w" for="ch" forName="cChild" refType="w"/>
                  <dgm:constr type="h" for="ch" forName="cChild" refType="h"/>
                </dgm:constrLst>
                <dgm:ruleLst/>
                <dgm:forEach name="Name66" axis="ch ch" ptType="node node" st="3 1" cnt="1 0">
                  <dgm:layoutNode name="c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67" axis="followSib" ptType="sibTrans" cnt="1">
                    <dgm:layoutNode name="cen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if>
            <dgm:else name="Name68"/>
          </dgm:choose>
        </dgm:layoutNode>
      </dgm:if>
      <dgm:else name="Name69"/>
    </dgm:choose>
  </dgm:layoutNode>
</dgm:layoutDef>
</file>

<file path=ppt/diagrams/layout7.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8.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14.xml><?xml version="1.0" encoding="utf-8"?>
<dgm:layoutDef xmlns:dgm="http://schemas.openxmlformats.org/drawingml/2006/diagram" xmlns:a="http://schemas.openxmlformats.org/drawingml/2006/main" uniqueId="urn:microsoft.com/office/officeart/2005/8/layout/default#5">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625171"/>
      </p:ext>
    </p:extLst>
  </p:cSld>
  <p:clrMap bg1="lt1" tx1="dk1" bg2="lt2" tx2="dk2" accent1="accent1" accent2="accent2" accent3="accent3" accent4="accent4" accent5="accent5" accent6="accent6" hlink="hlink" folHlink="folHlink"/>
  <p:hf hdr="0" dt="0"/>
</p:handoutMaster>
</file>

<file path=ppt/ink/ink1.xml><?xml version="1.0" encoding="utf-8"?>
<inkml:ink xmlns:inkml="http://www.w3.org/2003/InkML">
  <inkml:definitions>
    <inkml:context xml:id="ctx0">
      <inkml:inkSource xml:id="inkSrc0">
        <inkml:traceFormat>
          <inkml:channel name="X" type="integer" max="2736" units="cm"/>
          <inkml:channel name="Y" type="integer" max="1824" units="cm"/>
          <inkml:channel name="T" type="integer" max="2.14748E9" units="dev"/>
        </inkml:traceFormat>
        <inkml:channelProperties>
          <inkml:channelProperty channel="X" name="resolution" value="105.23077" units="1/cm"/>
          <inkml:channelProperty channel="Y" name="resolution" value="105.43353" units="1/cm"/>
          <inkml:channelProperty channel="T" name="resolution" value="1" units="1/dev"/>
        </inkml:channelProperties>
      </inkml:inkSource>
      <inkml:timestamp xml:id="ts0" timeString="2020-05-30T21:20:02.866"/>
    </inkml:context>
    <inkml:brush xml:id="br0">
      <inkml:brushProperty name="width" value="0.05292" units="cm"/>
      <inkml:brushProperty name="height" value="0.05292" units="cm"/>
      <inkml:brushProperty name="color" value="#FF0000"/>
    </inkml:brush>
  </inkml:definitions>
  <inkml:trace contextRef="#ctx0" brushRef="#br0">5569 8734 0</inkml:trace>
</inkml:ink>
</file>

<file path=ppt/ink/ink2.xml><?xml version="1.0" encoding="utf-8"?>
<inkml:ink xmlns:inkml="http://www.w3.org/2003/InkML">
  <inkml:definitions>
    <inkml:context xml:id="ctx0">
      <inkml:inkSource xml:id="inkSrc0">
        <inkml:traceFormat>
          <inkml:channel name="X" type="integer" max="2736" units="cm"/>
          <inkml:channel name="Y" type="integer" max="1824" units="cm"/>
          <inkml:channel name="T" type="integer" max="2.14748E9" units="dev"/>
        </inkml:traceFormat>
        <inkml:channelProperties>
          <inkml:channelProperty channel="X" name="resolution" value="105.23077" units="1/cm"/>
          <inkml:channelProperty channel="Y" name="resolution" value="105.43353" units="1/cm"/>
          <inkml:channelProperty channel="T" name="resolution" value="1" units="1/dev"/>
        </inkml:channelProperties>
      </inkml:inkSource>
      <inkml:timestamp xml:id="ts0" timeString="2020-05-30T21:20:44.572"/>
    </inkml:context>
    <inkml:brush xml:id="br0">
      <inkml:brushProperty name="width" value="0.05292" units="cm"/>
      <inkml:brushProperty name="height" value="0.05292" units="cm"/>
      <inkml:brushProperty name="color" value="#FF0000"/>
    </inkml:brush>
  </inkml:definitions>
  <inkml:trace contextRef="#ctx0" brushRef="#br0">5019 4195 0</inkml:trace>
</inkml:ink>
</file>

<file path=ppt/ink/ink3.xml><?xml version="1.0" encoding="utf-8"?>
<inkml:ink xmlns:inkml="http://www.w3.org/2003/InkML">
  <inkml:definitions>
    <inkml:context xml:id="ctx0">
      <inkml:inkSource xml:id="inkSrc0">
        <inkml:traceFormat>
          <inkml:channel name="X" type="integer" max="25977" units="cm"/>
          <inkml:channel name="Y" type="integer" max="17318" units="cm"/>
          <inkml:channel name="T" type="integer" max="2.14748E9" units="dev"/>
        </inkml:traceFormat>
        <inkml:channelProperties>
          <inkml:channelProperty channel="X" name="resolution" value="1000.26953" units="1/cm"/>
          <inkml:channelProperty channel="Y" name="resolution" value="1000.46216" units="1/cm"/>
          <inkml:channelProperty channel="T" name="resolution" value="1" units="1/dev"/>
        </inkml:channelProperties>
      </inkml:inkSource>
      <inkml:timestamp xml:id="ts0" timeString="2020-05-31T02:33:47.291"/>
    </inkml:context>
    <inkml:brush xml:id="br0">
      <inkml:brushProperty name="width" value="0.05292" units="cm"/>
      <inkml:brushProperty name="height" value="0.05292" units="cm"/>
      <inkml:brushProperty name="color" value="#FF0000"/>
    </inkml:brush>
  </inkml:definitions>
  <inkml:trace contextRef="#ctx0" brushRef="#br0">20916 2878 0,'0'0'9</inkml:trace>
  <inkml:trace contextRef="#ctx0" brushRef="#br0" timeOffset="757">21653 1898 0,'0'0'9</inkml:trace>
  <inkml:trace contextRef="#ctx0" brushRef="#br0" timeOffset="821">21631 1899 0,'0'0'6,"96"-27"3</inkml:trace>
</inkml:ink>
</file>

<file path=ppt/ink/ink4.xml><?xml version="1.0" encoding="utf-8"?>
<inkml:ink xmlns:inkml="http://www.w3.org/2003/InkML">
  <inkml:definitions>
    <inkml:context xml:id="ctx0">
      <inkml:inkSource xml:id="inkSrc0">
        <inkml:traceFormat>
          <inkml:channel name="X" type="integer" max="2736" units="cm"/>
          <inkml:channel name="Y" type="integer" max="1824" units="cm"/>
          <inkml:channel name="T" type="integer" max="2.14748E9" units="dev"/>
        </inkml:traceFormat>
        <inkml:channelProperties>
          <inkml:channelProperty channel="X" name="resolution" value="105.23077" units="1/cm"/>
          <inkml:channelProperty channel="Y" name="resolution" value="105.43353" units="1/cm"/>
          <inkml:channelProperty channel="T" name="resolution" value="1" units="1/dev"/>
        </inkml:channelProperties>
      </inkml:inkSource>
      <inkml:timestamp xml:id="ts0" timeString="2020-05-30T21:19:45.199"/>
    </inkml:context>
    <inkml:brush xml:id="br0">
      <inkml:brushProperty name="width" value="0.05292" units="cm"/>
      <inkml:brushProperty name="height" value="0.05292" units="cm"/>
      <inkml:brushProperty name="color" value="#FF0000"/>
    </inkml:brush>
  </inkml:definitions>
  <inkml:trace contextRef="#ctx0" brushRef="#br0">25097 13782 0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Rot="1" noChangeAspect="1" noChangeArrowheads="1" noTextEdit="1"/>
          </p:cNvSpPr>
          <p:nvPr>
            <p:ph type="sldImg" idx="2"/>
          </p:nvPr>
        </p:nvSpPr>
        <p:spPr bwMode="auto">
          <a:xfrm>
            <a:off x="1149350" y="692150"/>
            <a:ext cx="4559300" cy="3416300"/>
          </a:xfrm>
          <a:prstGeom prst="rect">
            <a:avLst/>
          </a:prstGeom>
          <a:noFill/>
          <a:ln w="12700">
            <a:solidFill>
              <a:srgbClr val="000000"/>
            </a:solidFill>
            <a:miter lim="800000"/>
            <a:headEnd/>
            <a:tailEnd/>
          </a:ln>
          <a:effectLst/>
        </p:spPr>
      </p:sp>
      <p:sp>
        <p:nvSpPr>
          <p:cNvPr id="2051" name="Rectangle 3"/>
          <p:cNvSpPr>
            <a:spLocks noGrp="1" noChangeArrowheads="1"/>
          </p:cNvSpPr>
          <p:nvPr>
            <p:ph type="body" sz="quarter" idx="3"/>
          </p:nvPr>
        </p:nvSpPr>
        <p:spPr bwMode="auto">
          <a:xfrm>
            <a:off x="914400" y="4343400"/>
            <a:ext cx="5029200" cy="4114800"/>
          </a:xfrm>
          <a:prstGeom prst="rect">
            <a:avLst/>
          </a:prstGeom>
          <a:noFill/>
          <a:ln w="12700">
            <a:noFill/>
            <a:miter lim="800000"/>
            <a:headEnd/>
            <a:tailEnd/>
          </a:ln>
          <a:effectLst/>
        </p:spPr>
        <p:txBody>
          <a:bodyPr vert="horz" wrap="square" lIns="90488" tIns="44450" rIns="90488" bIns="4445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41431244"/>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Times New Roman" pitchFamily="-1"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10"/>
          </p:nvPr>
        </p:nvSpPr>
        <p:spPr/>
        <p:txBody>
          <a:bodyPr/>
          <a:lstStyle/>
          <a:p>
            <a:r>
              <a:rPr lang="en-US"/>
              <a:t>© 2016 Pearson Education, Inc., Upper Saddle River, NJ. All rights reserved.</a:t>
            </a:r>
            <a:endParaRPr lang="en-US" dirty="0"/>
          </a:p>
        </p:txBody>
      </p:sp>
      <p:sp>
        <p:nvSpPr>
          <p:cNvPr id="5" name="Slide Number Placeholder 4"/>
          <p:cNvSpPr>
            <a:spLocks noGrp="1"/>
          </p:cNvSpPr>
          <p:nvPr>
            <p:ph type="sldNum" sz="quarter" idx="11"/>
          </p:nvPr>
        </p:nvSpPr>
        <p:spPr/>
        <p:txBody>
          <a:bodyPr/>
          <a:lstStyle/>
          <a:p>
            <a:fld id="{56C40E98-D33D-704E-929D-27FB84CF5632}" type="slidenum">
              <a:rPr lang="en-US" smtClean="0"/>
              <a:pPr/>
              <a:t>1</a:t>
            </a:fld>
            <a:endParaRPr lang="en-US" dirty="0"/>
          </a:p>
        </p:txBody>
      </p:sp>
    </p:spTree>
    <p:extLst>
      <p:ext uri="{BB962C8B-B14F-4D97-AF65-F5344CB8AC3E}">
        <p14:creationId xmlns:p14="http://schemas.microsoft.com/office/powerpoint/2010/main" val="2784609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7171"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2</a:t>
            </a:r>
          </a:p>
        </p:txBody>
      </p:sp>
      <p:sp>
        <p:nvSpPr>
          <p:cNvPr id="7172"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7173"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7174" name="Rectangle 6"/>
          <p:cNvSpPr>
            <a:spLocks noGrp="1" noRot="1" noChangeAspect="1" noChangeArrowheads="1" noTextEdit="1"/>
          </p:cNvSpPr>
          <p:nvPr>
            <p:ph type="sldImg"/>
          </p:nvPr>
        </p:nvSpPr>
        <p:spPr>
          <a:xfrm>
            <a:off x="1150938" y="692150"/>
            <a:ext cx="4556125" cy="3416300"/>
          </a:xfrm>
          <a:ln cap="flat"/>
        </p:spPr>
      </p:sp>
      <p:sp>
        <p:nvSpPr>
          <p:cNvPr id="7175" name="Rectangle 7"/>
          <p:cNvSpPr>
            <a:spLocks noGrp="1" noChangeArrowheads="1"/>
          </p:cNvSpPr>
          <p:nvPr>
            <p:ph type="body" idx="1"/>
          </p:nvPr>
        </p:nvSpPr>
        <p:spPr>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The operation of the processor is determined by the instructions it executes, referred to as </a:t>
            </a:r>
            <a:r>
              <a:rPr lang="en-US" sz="1200" i="1" kern="1200" dirty="0">
                <a:solidFill>
                  <a:schemeClr val="tx1"/>
                </a:solidFill>
                <a:latin typeface="Times New Roman" pitchFamily="-1" charset="0"/>
                <a:ea typeface="+mn-ea"/>
                <a:cs typeface="+mn-cs"/>
              </a:rPr>
              <a:t>machine instructions </a:t>
            </a:r>
            <a:r>
              <a:rPr lang="en-US" sz="1200" kern="1200" dirty="0">
                <a:solidFill>
                  <a:schemeClr val="tx1"/>
                </a:solidFill>
                <a:latin typeface="Times New Roman" pitchFamily="-1" charset="0"/>
                <a:ea typeface="+mn-ea"/>
                <a:cs typeface="+mn-cs"/>
              </a:rPr>
              <a:t>or </a:t>
            </a:r>
            <a:r>
              <a:rPr lang="en-US" sz="1200" i="1" kern="1200" dirty="0">
                <a:solidFill>
                  <a:schemeClr val="tx1"/>
                </a:solidFill>
                <a:latin typeface="Times New Roman" pitchFamily="-1" charset="0"/>
                <a:ea typeface="+mn-ea"/>
                <a:cs typeface="+mn-cs"/>
              </a:rPr>
              <a:t>computer instructions. </a:t>
            </a:r>
            <a:r>
              <a:rPr lang="en-US" sz="1200" kern="1200" dirty="0">
                <a:solidFill>
                  <a:schemeClr val="tx1"/>
                </a:solidFill>
                <a:latin typeface="Times New Roman" pitchFamily="-1" charset="0"/>
                <a:ea typeface="+mn-ea"/>
                <a:cs typeface="+mn-cs"/>
              </a:rPr>
              <a:t>The collection of different instructions that the processor can execute is referred to as the processor’s </a:t>
            </a:r>
            <a:r>
              <a:rPr lang="en-US" sz="1200" i="1" kern="1200" dirty="0">
                <a:solidFill>
                  <a:schemeClr val="tx1"/>
                </a:solidFill>
                <a:latin typeface="Times New Roman" pitchFamily="-1" charset="0"/>
                <a:ea typeface="+mn-ea"/>
                <a:cs typeface="+mn-cs"/>
              </a:rPr>
              <a:t>instruction set. </a:t>
            </a:r>
            <a:endParaRPr lang="en-US" dirty="0"/>
          </a:p>
          <a:p>
            <a:endParaRPr lang="en-GB"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Each instruction must contain the information required by the processor for execution. </a:t>
            </a:r>
            <a:endParaRPr lang="en-US" dirty="0"/>
          </a:p>
          <a:p>
            <a:endParaRPr lang="en-GB"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 charset="0"/>
                <a:ea typeface="+mn-ea"/>
                <a:cs typeface="+mn-cs"/>
              </a:rPr>
              <a:t>Each instruction must contain the information required by the processor for execution.</a:t>
            </a:r>
          </a:p>
          <a:p>
            <a:r>
              <a:rPr lang="en-US" sz="1200" kern="1200" dirty="0">
                <a:solidFill>
                  <a:schemeClr val="tx1"/>
                </a:solidFill>
                <a:effectLst/>
                <a:latin typeface="Times New Roman" pitchFamily="-1" charset="0"/>
                <a:ea typeface="+mn-ea"/>
                <a:cs typeface="+mn-cs"/>
              </a:rPr>
              <a:t>Figure 13.1, which repeats Figure 3.6, shows the steps involved in instruction</a:t>
            </a:r>
          </a:p>
          <a:p>
            <a:r>
              <a:rPr lang="en-US" sz="1200" kern="1200" dirty="0">
                <a:solidFill>
                  <a:schemeClr val="tx1"/>
                </a:solidFill>
                <a:effectLst/>
                <a:latin typeface="Times New Roman" pitchFamily="-1" charset="0"/>
                <a:ea typeface="+mn-ea"/>
                <a:cs typeface="+mn-cs"/>
              </a:rPr>
              <a:t>execution and, by implication, defines the elements of a machine instruction. These</a:t>
            </a:r>
          </a:p>
          <a:p>
            <a:r>
              <a:rPr lang="en-US" sz="1200" kern="1200" dirty="0">
                <a:solidFill>
                  <a:schemeClr val="tx1"/>
                </a:solidFill>
                <a:effectLst/>
                <a:latin typeface="Times New Roman" pitchFamily="-1" charset="0"/>
                <a:ea typeface="+mn-ea"/>
                <a:cs typeface="+mn-cs"/>
              </a:rPr>
              <a:t>elements are as follows:</a:t>
            </a:r>
          </a:p>
          <a:p>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 </a:t>
            </a:r>
            <a:r>
              <a:rPr lang="en-US" sz="1200" b="1" kern="1200" dirty="0">
                <a:solidFill>
                  <a:schemeClr val="tx1"/>
                </a:solidFill>
                <a:latin typeface="Times New Roman" pitchFamily="-1" charset="0"/>
                <a:ea typeface="+mn-ea"/>
                <a:cs typeface="+mn-cs"/>
              </a:rPr>
              <a:t>Operation code: </a:t>
            </a:r>
            <a:r>
              <a:rPr lang="en-US" sz="1200" kern="1200" dirty="0">
                <a:solidFill>
                  <a:schemeClr val="tx1"/>
                </a:solidFill>
                <a:latin typeface="Times New Roman" pitchFamily="-1" charset="0"/>
                <a:ea typeface="+mn-ea"/>
                <a:cs typeface="+mn-cs"/>
              </a:rPr>
              <a:t>Specifies the operation to be performed (e.g., ADD, I/O). The operation is specified by a binary code, known as the operation code, or </a:t>
            </a:r>
            <a:r>
              <a:rPr lang="en-US" sz="1200" b="1" kern="1200" dirty="0">
                <a:solidFill>
                  <a:schemeClr val="tx1"/>
                </a:solidFill>
                <a:latin typeface="Times New Roman" pitchFamily="-1" charset="0"/>
                <a:ea typeface="+mn-ea"/>
                <a:cs typeface="+mn-cs"/>
              </a:rPr>
              <a:t>opcode.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b="1"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 </a:t>
            </a:r>
            <a:r>
              <a:rPr lang="en-US" sz="1200" b="1" kern="1200" dirty="0">
                <a:solidFill>
                  <a:schemeClr val="tx1"/>
                </a:solidFill>
                <a:latin typeface="Times New Roman" pitchFamily="-1" charset="0"/>
                <a:ea typeface="+mn-ea"/>
                <a:cs typeface="+mn-cs"/>
              </a:rPr>
              <a:t>Source operand reference: </a:t>
            </a:r>
            <a:r>
              <a:rPr lang="en-US" sz="1200" kern="1200" dirty="0">
                <a:solidFill>
                  <a:schemeClr val="tx1"/>
                </a:solidFill>
                <a:latin typeface="Times New Roman" pitchFamily="-1" charset="0"/>
                <a:ea typeface="+mn-ea"/>
                <a:cs typeface="+mn-cs"/>
              </a:rPr>
              <a:t>The operation may involve one or more source operands, that is, operands that are inputs for the operation.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 </a:t>
            </a:r>
            <a:r>
              <a:rPr lang="en-US" sz="1200" b="1" kern="1200" dirty="0">
                <a:solidFill>
                  <a:schemeClr val="tx1"/>
                </a:solidFill>
                <a:latin typeface="Times New Roman" pitchFamily="-1" charset="0"/>
                <a:ea typeface="+mn-ea"/>
                <a:cs typeface="+mn-cs"/>
              </a:rPr>
              <a:t>Result operand reference: </a:t>
            </a:r>
            <a:r>
              <a:rPr lang="en-US" sz="1200" kern="1200" dirty="0">
                <a:solidFill>
                  <a:schemeClr val="tx1"/>
                </a:solidFill>
                <a:latin typeface="Times New Roman" pitchFamily="-1" charset="0"/>
                <a:ea typeface="+mn-ea"/>
                <a:cs typeface="+mn-cs"/>
              </a:rPr>
              <a:t>The operation may produce a result.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 </a:t>
            </a:r>
            <a:r>
              <a:rPr lang="en-US" sz="1200" b="1" kern="1200" dirty="0">
                <a:solidFill>
                  <a:schemeClr val="tx1"/>
                </a:solidFill>
                <a:latin typeface="Times New Roman" pitchFamily="-1" charset="0"/>
                <a:ea typeface="+mn-ea"/>
                <a:cs typeface="+mn-cs"/>
              </a:rPr>
              <a:t>Next instruction reference: </a:t>
            </a:r>
            <a:r>
              <a:rPr lang="en-US" sz="1200" kern="1200" dirty="0">
                <a:solidFill>
                  <a:schemeClr val="tx1"/>
                </a:solidFill>
                <a:latin typeface="Times New Roman" pitchFamily="-1" charset="0"/>
                <a:ea typeface="+mn-ea"/>
                <a:cs typeface="+mn-cs"/>
              </a:rPr>
              <a:t>This tells the processor where to fetch the next instruction after the execution of this instruction is complete. </a:t>
            </a:r>
            <a:endParaRPr lang="en-US" dirty="0"/>
          </a:p>
          <a:p>
            <a:endParaRPr lang="en-US" dirty="0"/>
          </a:p>
        </p:txBody>
      </p:sp>
    </p:spTree>
    <p:extLst>
      <p:ext uri="{BB962C8B-B14F-4D97-AF65-F5344CB8AC3E}">
        <p14:creationId xmlns:p14="http://schemas.microsoft.com/office/powerpoint/2010/main" val="1001501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1267"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4</a:t>
            </a:r>
          </a:p>
        </p:txBody>
      </p:sp>
      <p:sp>
        <p:nvSpPr>
          <p:cNvPr id="11268"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1269"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1270" name="Rectangle 6"/>
          <p:cNvSpPr>
            <a:spLocks noGrp="1" noRot="1" noChangeAspect="1" noChangeArrowheads="1" noTextEdit="1"/>
          </p:cNvSpPr>
          <p:nvPr>
            <p:ph type="sldImg"/>
          </p:nvPr>
        </p:nvSpPr>
        <p:spPr>
          <a:xfrm>
            <a:off x="1150938" y="692150"/>
            <a:ext cx="4556125" cy="3416300"/>
          </a:xfrm>
          <a:ln cap="flat"/>
        </p:spPr>
      </p:sp>
      <p:sp>
        <p:nvSpPr>
          <p:cNvPr id="11271"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Source and result operands can be in one of four areas: </a:t>
            </a:r>
            <a:endParaRPr lang="en-US" dirty="0"/>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Main or virtual memory: </a:t>
            </a:r>
            <a:r>
              <a:rPr lang="en-US" sz="1200" kern="1200" dirty="0">
                <a:solidFill>
                  <a:schemeClr val="tx1"/>
                </a:solidFill>
                <a:latin typeface="Times New Roman" pitchFamily="-1" charset="0"/>
                <a:ea typeface="+mn-ea"/>
                <a:cs typeface="+mn-cs"/>
              </a:rPr>
              <a:t>As with next instruction references, the main or virtual memory address must be supplied.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Processor register: </a:t>
            </a:r>
            <a:r>
              <a:rPr lang="en-US" sz="1200" kern="1200" dirty="0">
                <a:solidFill>
                  <a:schemeClr val="tx1"/>
                </a:solidFill>
                <a:latin typeface="Times New Roman" pitchFamily="-1" charset="0"/>
                <a:ea typeface="+mn-ea"/>
                <a:cs typeface="+mn-cs"/>
              </a:rPr>
              <a:t>With rare exceptions, a processor contains one or more registers that may be referenced by machine instructions. If only one register exists, reference to it may be implicit. If more than one register exists, then each register is assigned a unique name or number, and the instruction must contain the number of the desired register.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Immediate: </a:t>
            </a:r>
            <a:r>
              <a:rPr lang="en-US" sz="1200" kern="1200" dirty="0">
                <a:solidFill>
                  <a:schemeClr val="tx1"/>
                </a:solidFill>
                <a:latin typeface="Times New Roman" pitchFamily="-1" charset="0"/>
                <a:ea typeface="+mn-ea"/>
                <a:cs typeface="+mn-cs"/>
              </a:rPr>
              <a:t>The value of the operand is contained in a field in the instruction being executed.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I/O device: </a:t>
            </a:r>
            <a:r>
              <a:rPr lang="en-US" sz="1200" kern="1200" dirty="0">
                <a:solidFill>
                  <a:schemeClr val="tx1"/>
                </a:solidFill>
                <a:latin typeface="Times New Roman" pitchFamily="-1" charset="0"/>
                <a:ea typeface="+mn-ea"/>
                <a:cs typeface="+mn-cs"/>
              </a:rPr>
              <a:t>The instruction must specify the I/O module and device for the operation. If memory-mapped I/O is used, this is just another main or virtual memory address. </a:t>
            </a:r>
          </a:p>
          <a:p>
            <a:endParaRPr lang="en-GB"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3315"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5</a:t>
            </a:r>
          </a:p>
        </p:txBody>
      </p:sp>
      <p:sp>
        <p:nvSpPr>
          <p:cNvPr id="13316"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3317"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3318" name="Rectangle 6"/>
          <p:cNvSpPr>
            <a:spLocks noGrp="1" noRot="1" noChangeAspect="1" noChangeArrowheads="1" noTextEdit="1"/>
          </p:cNvSpPr>
          <p:nvPr>
            <p:ph type="sldImg"/>
          </p:nvPr>
        </p:nvSpPr>
        <p:spPr>
          <a:xfrm>
            <a:off x="1150938" y="692150"/>
            <a:ext cx="4556125" cy="3416300"/>
          </a:xfrm>
          <a:ln cap="flat"/>
        </p:spPr>
      </p:sp>
      <p:sp>
        <p:nvSpPr>
          <p:cNvPr id="13319" name="Rectangle 7"/>
          <p:cNvSpPr>
            <a:spLocks noGrp="1" noChangeArrowheads="1"/>
          </p:cNvSpPr>
          <p:nvPr>
            <p:ph type="body" idx="1"/>
          </p:nvPr>
        </p:nvSpPr>
        <p:spPr>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Within the computer, each instruction is represented by a sequence of bits. The instruction is divided into fields, corresponding to the constituent elements of the instruction. </a:t>
            </a:r>
            <a:endParaRPr lang="en-US" dirty="0"/>
          </a:p>
          <a:p>
            <a:endParaRPr lang="en-GB"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A simple example of an instruction format is shown in Figure 13.2. As another example, the IAS instruction format is shown in Figure 1.7. With most instruction sets, more than one format is used. During instruction execution, an instruction is read into an instruction register (IR) in the processor. The processor must be able to extract the data from the various instruction fields to perform the required operation.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It is difficult for both the programmer and the reader of textbooks to deal with binary representations of machine instructions. Thus, it has become common practice to use a </a:t>
            </a:r>
            <a:r>
              <a:rPr lang="en-US" sz="1200" i="1" kern="1200" dirty="0">
                <a:solidFill>
                  <a:schemeClr val="tx1"/>
                </a:solidFill>
                <a:latin typeface="Times New Roman" pitchFamily="-1" charset="0"/>
                <a:ea typeface="+mn-ea"/>
                <a:cs typeface="+mn-cs"/>
              </a:rPr>
              <a:t>symbolic representation </a:t>
            </a:r>
            <a:r>
              <a:rPr lang="en-US" sz="1200" kern="1200" dirty="0">
                <a:solidFill>
                  <a:schemeClr val="tx1"/>
                </a:solidFill>
                <a:latin typeface="Times New Roman" pitchFamily="-1" charset="0"/>
                <a:ea typeface="+mn-ea"/>
                <a:cs typeface="+mn-cs"/>
              </a:rPr>
              <a:t>of machine instructions. An example of this was used for the IAS instruction set, in Table 1.1.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GB"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3315"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5</a:t>
            </a:r>
          </a:p>
        </p:txBody>
      </p:sp>
      <p:sp>
        <p:nvSpPr>
          <p:cNvPr id="13316"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3317"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3318" name="Rectangle 6"/>
          <p:cNvSpPr>
            <a:spLocks noGrp="1" noRot="1" noChangeAspect="1" noChangeArrowheads="1" noTextEdit="1"/>
          </p:cNvSpPr>
          <p:nvPr>
            <p:ph type="sldImg"/>
          </p:nvPr>
        </p:nvSpPr>
        <p:spPr>
          <a:xfrm>
            <a:off x="1150938" y="692150"/>
            <a:ext cx="4556125" cy="3416300"/>
          </a:xfrm>
          <a:ln cap="flat"/>
        </p:spPr>
      </p:sp>
      <p:sp>
        <p:nvSpPr>
          <p:cNvPr id="13319" name="Rectangle 7"/>
          <p:cNvSpPr>
            <a:spLocks noGrp="1" noChangeArrowheads="1"/>
          </p:cNvSpPr>
          <p:nvPr>
            <p:ph type="body" idx="1"/>
          </p:nvPr>
        </p:nvSpPr>
        <p:spPr>
          <a:ln/>
        </p:spPr>
        <p:txBody>
          <a:bodyPr/>
          <a:lstStyle/>
          <a:p>
            <a:r>
              <a:rPr lang="en-US" sz="1200" b="0" i="0" u="none" strike="noStrike" kern="1200" baseline="0" dirty="0" err="1">
                <a:solidFill>
                  <a:schemeClr val="tx1"/>
                </a:solidFill>
                <a:latin typeface="Times New Roman" pitchFamily="-1" charset="0"/>
                <a:ea typeface="+mn-ea"/>
                <a:cs typeface="+mn-cs"/>
              </a:rPr>
              <a:t>Opcodes</a:t>
            </a:r>
            <a:r>
              <a:rPr lang="en-US" sz="1200" b="0" i="0" u="none" strike="noStrike" kern="1200" baseline="0" dirty="0">
                <a:solidFill>
                  <a:schemeClr val="tx1"/>
                </a:solidFill>
                <a:latin typeface="Times New Roman" pitchFamily="-1" charset="0"/>
                <a:ea typeface="+mn-ea"/>
                <a:cs typeface="+mn-cs"/>
              </a:rPr>
              <a:t> are represented by abbreviations, called mnemonics,  that indicate</a:t>
            </a:r>
          </a:p>
          <a:p>
            <a:r>
              <a:rPr lang="en-US" sz="1200" b="0" i="0" u="none" strike="noStrike" kern="1200" baseline="0" dirty="0">
                <a:solidFill>
                  <a:schemeClr val="tx1"/>
                </a:solidFill>
                <a:latin typeface="Times New Roman" pitchFamily="-1" charset="0"/>
                <a:ea typeface="+mn-ea"/>
                <a:cs typeface="+mn-cs"/>
              </a:rPr>
              <a:t>the operation. Common examples include</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ADD 	Add</a:t>
            </a:r>
          </a:p>
          <a:p>
            <a:r>
              <a:rPr lang="en-US" sz="1200" b="0" i="0" u="none" strike="noStrike" kern="1200" baseline="0" dirty="0">
                <a:solidFill>
                  <a:schemeClr val="tx1"/>
                </a:solidFill>
                <a:latin typeface="Times New Roman" pitchFamily="-1" charset="0"/>
                <a:ea typeface="+mn-ea"/>
                <a:cs typeface="+mn-cs"/>
              </a:rPr>
              <a:t>SUB 	Subtract</a:t>
            </a:r>
          </a:p>
          <a:p>
            <a:r>
              <a:rPr lang="en-US" sz="1200" b="0" i="0" u="none" strike="noStrike" kern="1200" baseline="0" dirty="0">
                <a:solidFill>
                  <a:schemeClr val="tx1"/>
                </a:solidFill>
                <a:latin typeface="Times New Roman" pitchFamily="-1" charset="0"/>
                <a:ea typeface="+mn-ea"/>
                <a:cs typeface="+mn-cs"/>
              </a:rPr>
              <a:t>MUL 	Multiply</a:t>
            </a:r>
          </a:p>
          <a:p>
            <a:r>
              <a:rPr lang="en-US" sz="1200" b="0" i="0" u="none" strike="noStrike" kern="1200" baseline="0" dirty="0">
                <a:solidFill>
                  <a:schemeClr val="tx1"/>
                </a:solidFill>
                <a:latin typeface="Times New Roman" pitchFamily="-1" charset="0"/>
                <a:ea typeface="+mn-ea"/>
                <a:cs typeface="+mn-cs"/>
              </a:rPr>
              <a:t>DIV 	Divide</a:t>
            </a:r>
          </a:p>
          <a:p>
            <a:r>
              <a:rPr lang="en-US" sz="1200" b="0" i="0" u="none" strike="noStrike" kern="1200" baseline="0" dirty="0">
                <a:solidFill>
                  <a:schemeClr val="tx1"/>
                </a:solidFill>
                <a:latin typeface="Times New Roman" pitchFamily="-1" charset="0"/>
                <a:ea typeface="+mn-ea"/>
                <a:cs typeface="+mn-cs"/>
              </a:rPr>
              <a:t>LOAD 	Load data from memory</a:t>
            </a:r>
          </a:p>
          <a:p>
            <a:r>
              <a:rPr lang="en-US" sz="1200" b="0" i="0" u="none" strike="noStrike" kern="1200" baseline="0" dirty="0">
                <a:solidFill>
                  <a:schemeClr val="tx1"/>
                </a:solidFill>
                <a:latin typeface="Times New Roman" pitchFamily="-1" charset="0"/>
                <a:ea typeface="+mn-ea"/>
                <a:cs typeface="+mn-cs"/>
              </a:rPr>
              <a:t>STOR 	Store data to memory</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Operands are also represented symbolically. For example, the instruction</a:t>
            </a:r>
          </a:p>
          <a:p>
            <a:r>
              <a:rPr lang="en-US" sz="1200" b="0" i="0" u="none" strike="noStrike" kern="1200" baseline="0" dirty="0">
                <a:solidFill>
                  <a:schemeClr val="tx1"/>
                </a:solidFill>
                <a:latin typeface="Times New Roman" pitchFamily="-1" charset="0"/>
                <a:ea typeface="+mn-ea"/>
                <a:cs typeface="+mn-cs"/>
              </a:rPr>
              <a:t>ADD R, Y may mean add the value contained in data location Y to the contents of register</a:t>
            </a:r>
          </a:p>
          <a:p>
            <a:r>
              <a:rPr lang="en-US" sz="1200" b="0" i="0" u="none" strike="noStrike" kern="1200" baseline="0" dirty="0">
                <a:solidFill>
                  <a:schemeClr val="tx1"/>
                </a:solidFill>
                <a:latin typeface="Times New Roman" pitchFamily="-1" charset="0"/>
                <a:ea typeface="+mn-ea"/>
                <a:cs typeface="+mn-cs"/>
              </a:rPr>
              <a:t>R. In this example, Y refers to the address of a location in memory, and R refers</a:t>
            </a:r>
          </a:p>
          <a:p>
            <a:r>
              <a:rPr lang="en-US" sz="1200" b="0" i="0" u="none" strike="noStrike" kern="1200" baseline="0" dirty="0">
                <a:solidFill>
                  <a:schemeClr val="tx1"/>
                </a:solidFill>
                <a:latin typeface="Times New Roman" pitchFamily="-1" charset="0"/>
                <a:ea typeface="+mn-ea"/>
                <a:cs typeface="+mn-cs"/>
              </a:rPr>
              <a:t>to a particular register. Note that the operation is performed on the contents of a</a:t>
            </a:r>
          </a:p>
          <a:p>
            <a:r>
              <a:rPr lang="en-US" sz="1200" b="0" i="0" u="none" strike="noStrike" kern="1200" baseline="0" dirty="0">
                <a:solidFill>
                  <a:schemeClr val="tx1"/>
                </a:solidFill>
                <a:latin typeface="Times New Roman" pitchFamily="-1" charset="0"/>
                <a:ea typeface="+mn-ea"/>
                <a:cs typeface="+mn-cs"/>
              </a:rPr>
              <a:t>location, not on its address.</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Thus, it is possible to write a machine-language program in symbolic form.</a:t>
            </a:r>
          </a:p>
          <a:p>
            <a:r>
              <a:rPr lang="en-US" sz="1200" b="0" i="0" u="none" strike="noStrike" kern="1200" baseline="0" dirty="0">
                <a:solidFill>
                  <a:schemeClr val="tx1"/>
                </a:solidFill>
                <a:latin typeface="Times New Roman" pitchFamily="-1" charset="0"/>
                <a:ea typeface="+mn-ea"/>
                <a:cs typeface="+mn-cs"/>
              </a:rPr>
              <a:t>Each symbolic </a:t>
            </a:r>
            <a:r>
              <a:rPr lang="en-US" sz="1200" b="0" i="0" u="none" strike="noStrike" kern="1200" baseline="0" dirty="0" err="1">
                <a:solidFill>
                  <a:schemeClr val="tx1"/>
                </a:solidFill>
                <a:latin typeface="Times New Roman" pitchFamily="-1" charset="0"/>
                <a:ea typeface="+mn-ea"/>
                <a:cs typeface="+mn-cs"/>
              </a:rPr>
              <a:t>opcode</a:t>
            </a:r>
            <a:r>
              <a:rPr lang="en-US" sz="1200" b="0" i="0" u="none" strike="noStrike" kern="1200" baseline="0" dirty="0">
                <a:solidFill>
                  <a:schemeClr val="tx1"/>
                </a:solidFill>
                <a:latin typeface="Times New Roman" pitchFamily="-1" charset="0"/>
                <a:ea typeface="+mn-ea"/>
                <a:cs typeface="+mn-cs"/>
              </a:rPr>
              <a:t> has a fixed binary representation, and the programmer specifies</a:t>
            </a:r>
          </a:p>
          <a:p>
            <a:r>
              <a:rPr lang="en-US" sz="1200" b="0" i="0" u="none" strike="noStrike" kern="1200" baseline="0" dirty="0">
                <a:solidFill>
                  <a:schemeClr val="tx1"/>
                </a:solidFill>
                <a:latin typeface="Times New Roman" pitchFamily="-1" charset="0"/>
                <a:ea typeface="+mn-ea"/>
                <a:cs typeface="+mn-cs"/>
              </a:rPr>
              <a:t>the location of each symbolic operand. For example, the programmer might</a:t>
            </a:r>
          </a:p>
          <a:p>
            <a:r>
              <a:rPr lang="en-US" sz="1200" b="0" i="0" u="none" strike="noStrike" kern="1200" baseline="0" dirty="0">
                <a:solidFill>
                  <a:schemeClr val="tx1"/>
                </a:solidFill>
                <a:latin typeface="Times New Roman" pitchFamily="-1" charset="0"/>
                <a:ea typeface="+mn-ea"/>
                <a:cs typeface="+mn-cs"/>
              </a:rPr>
              <a:t>begin with a list of definitions:</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X =  513</a:t>
            </a:r>
          </a:p>
          <a:p>
            <a:r>
              <a:rPr lang="en-US" sz="1200" b="0" i="0" u="none" strike="noStrike" kern="1200" baseline="0" dirty="0">
                <a:solidFill>
                  <a:schemeClr val="tx1"/>
                </a:solidFill>
                <a:latin typeface="Times New Roman" pitchFamily="-1" charset="0"/>
                <a:ea typeface="+mn-ea"/>
                <a:cs typeface="+mn-cs"/>
              </a:rPr>
              <a:t>Y =  514</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and so on. A simple program would accept this symbolic input, convert </a:t>
            </a:r>
            <a:r>
              <a:rPr lang="en-US" sz="1200" b="0" i="0" u="none" strike="noStrike" kern="1200" baseline="0" dirty="0" err="1">
                <a:solidFill>
                  <a:schemeClr val="tx1"/>
                </a:solidFill>
                <a:latin typeface="Times New Roman" pitchFamily="-1" charset="0"/>
                <a:ea typeface="+mn-ea"/>
                <a:cs typeface="+mn-cs"/>
              </a:rPr>
              <a:t>opcodes</a:t>
            </a:r>
            <a:r>
              <a:rPr lang="en-US" sz="1200" b="0" i="0" u="none" strike="noStrike" kern="1200" baseline="0" dirty="0">
                <a:solidFill>
                  <a:schemeClr val="tx1"/>
                </a:solidFill>
                <a:latin typeface="Times New Roman" pitchFamily="-1" charset="0"/>
                <a:ea typeface="+mn-ea"/>
                <a:cs typeface="+mn-cs"/>
              </a:rPr>
              <a:t> and</a:t>
            </a:r>
          </a:p>
          <a:p>
            <a:r>
              <a:rPr lang="en-US" sz="1200" b="0" i="0" u="none" strike="noStrike" kern="1200" baseline="0" dirty="0">
                <a:solidFill>
                  <a:schemeClr val="tx1"/>
                </a:solidFill>
                <a:latin typeface="Times New Roman" pitchFamily="-1" charset="0"/>
                <a:ea typeface="+mn-ea"/>
                <a:cs typeface="+mn-cs"/>
              </a:rPr>
              <a:t>operand references to binary form, and construct binary machine instructions.</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Machine-language programmers are rare to the point of nonexistence. Most</a:t>
            </a:r>
          </a:p>
          <a:p>
            <a:r>
              <a:rPr lang="en-US" sz="1200" b="0" i="0" u="none" strike="noStrike" kern="1200" baseline="0" dirty="0">
                <a:solidFill>
                  <a:schemeClr val="tx1"/>
                </a:solidFill>
                <a:latin typeface="Times New Roman" pitchFamily="-1" charset="0"/>
                <a:ea typeface="+mn-ea"/>
                <a:cs typeface="+mn-cs"/>
              </a:rPr>
              <a:t>programs today are written in a high-level language or, failing that, assembly language,</a:t>
            </a:r>
          </a:p>
          <a:p>
            <a:r>
              <a:rPr lang="en-US" sz="1200" b="0" i="0" u="none" strike="noStrike" kern="1200" baseline="0" dirty="0">
                <a:solidFill>
                  <a:schemeClr val="tx1"/>
                </a:solidFill>
                <a:latin typeface="Times New Roman" pitchFamily="-1" charset="0"/>
                <a:ea typeface="+mn-ea"/>
                <a:cs typeface="+mn-cs"/>
              </a:rPr>
              <a:t>which is discussed in Chapter 15. However, symbolic machine language</a:t>
            </a:r>
          </a:p>
          <a:p>
            <a:r>
              <a:rPr lang="en-US" sz="1200" b="0" i="0" u="none" strike="noStrike" kern="1200" baseline="0" dirty="0">
                <a:solidFill>
                  <a:schemeClr val="tx1"/>
                </a:solidFill>
                <a:latin typeface="Times New Roman" pitchFamily="-1" charset="0"/>
                <a:ea typeface="+mn-ea"/>
                <a:cs typeface="+mn-cs"/>
              </a:rPr>
              <a:t>remains a useful tool for describing machine instructions, and we will use it for that</a:t>
            </a:r>
          </a:p>
          <a:p>
            <a:r>
              <a:rPr lang="en-US" sz="1200" b="0" i="0" u="none" strike="noStrike" kern="1200" baseline="0" dirty="0">
                <a:solidFill>
                  <a:schemeClr val="tx1"/>
                </a:solidFill>
                <a:latin typeface="Times New Roman" pitchFamily="-1" charset="0"/>
                <a:ea typeface="+mn-ea"/>
                <a:cs typeface="+mn-cs"/>
              </a:rPr>
              <a:t>purpose.</a:t>
            </a:r>
            <a:endParaRPr lang="en-GB"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5363"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6</a:t>
            </a:r>
          </a:p>
        </p:txBody>
      </p:sp>
      <p:sp>
        <p:nvSpPr>
          <p:cNvPr id="15364"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5365"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5366" name="Rectangle 6"/>
          <p:cNvSpPr>
            <a:spLocks noGrp="1" noRot="1" noChangeAspect="1" noChangeArrowheads="1" noTextEdit="1"/>
          </p:cNvSpPr>
          <p:nvPr>
            <p:ph type="sldImg"/>
          </p:nvPr>
        </p:nvSpPr>
        <p:spPr>
          <a:xfrm>
            <a:off x="1150938" y="692150"/>
            <a:ext cx="4556125" cy="3416300"/>
          </a:xfrm>
          <a:ln cap="flat"/>
        </p:spPr>
      </p:sp>
      <p:sp>
        <p:nvSpPr>
          <p:cNvPr id="15367"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A computer should have a set of instructions that allows the user to formulate any data processing task. Another way to view it is to consider the capabilities of a high-level programming language. Any program written in a high-level language must be translated into machine language to be executed. Thus, the set of machine instructions must be sufficient to express any of the instructions from a high-level language. With this in mind we can categorize instruction types as follows: </a:t>
            </a:r>
            <a:endParaRPr lang="en-US" dirty="0"/>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Data processing: </a:t>
            </a:r>
            <a:r>
              <a:rPr lang="en-US" sz="1200" kern="1200" dirty="0">
                <a:solidFill>
                  <a:schemeClr val="tx1"/>
                </a:solidFill>
                <a:latin typeface="Times New Roman" pitchFamily="-1" charset="0"/>
                <a:ea typeface="+mn-ea"/>
                <a:cs typeface="+mn-cs"/>
              </a:rPr>
              <a:t>Arithmetic and logic instructions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Data storage: </a:t>
            </a:r>
            <a:r>
              <a:rPr lang="en-US" sz="1200" kern="1200" dirty="0">
                <a:solidFill>
                  <a:schemeClr val="tx1"/>
                </a:solidFill>
                <a:latin typeface="Times New Roman" pitchFamily="-1" charset="0"/>
                <a:ea typeface="+mn-ea"/>
                <a:cs typeface="+mn-cs"/>
              </a:rPr>
              <a:t>Movement of data into or out of register and or memory </a:t>
            </a:r>
          </a:p>
          <a:p>
            <a:r>
              <a:rPr lang="en-US" sz="1200" kern="1200" dirty="0">
                <a:solidFill>
                  <a:schemeClr val="tx1"/>
                </a:solidFill>
                <a:latin typeface="Times New Roman" pitchFamily="-1" charset="0"/>
                <a:ea typeface="+mn-ea"/>
                <a:cs typeface="+mn-cs"/>
              </a:rPr>
              <a:t>locations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Data movement: </a:t>
            </a:r>
            <a:r>
              <a:rPr lang="en-US" sz="1200" kern="1200" dirty="0">
                <a:solidFill>
                  <a:schemeClr val="tx1"/>
                </a:solidFill>
                <a:latin typeface="Times New Roman" pitchFamily="-1" charset="0"/>
                <a:ea typeface="+mn-ea"/>
                <a:cs typeface="+mn-cs"/>
              </a:rPr>
              <a:t>I/O instructions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Control: </a:t>
            </a:r>
            <a:r>
              <a:rPr lang="en-US" sz="1200" kern="1200" dirty="0">
                <a:solidFill>
                  <a:schemeClr val="tx1"/>
                </a:solidFill>
                <a:latin typeface="Times New Roman" pitchFamily="-1" charset="0"/>
                <a:ea typeface="+mn-ea"/>
                <a:cs typeface="+mn-cs"/>
              </a:rPr>
              <a:t>Test and branch instructions </a:t>
            </a:r>
          </a:p>
          <a:p>
            <a:endParaRPr lang="en-US" sz="1200"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i="1" kern="1200" dirty="0">
                <a:solidFill>
                  <a:schemeClr val="tx1"/>
                </a:solidFill>
                <a:latin typeface="Times New Roman" pitchFamily="-1" charset="0"/>
                <a:ea typeface="+mn-ea"/>
                <a:cs typeface="+mn-cs"/>
              </a:rPr>
              <a:t>Arithmetic </a:t>
            </a:r>
            <a:r>
              <a:rPr lang="en-US" sz="1200" kern="1200" dirty="0">
                <a:solidFill>
                  <a:schemeClr val="tx1"/>
                </a:solidFill>
                <a:latin typeface="Times New Roman" pitchFamily="-1" charset="0"/>
                <a:ea typeface="+mn-ea"/>
                <a:cs typeface="+mn-cs"/>
              </a:rPr>
              <a:t>instructions provide computational capabilities for processing numeric data. </a:t>
            </a:r>
            <a:r>
              <a:rPr lang="en-US" sz="1200" i="1" kern="1200" dirty="0">
                <a:solidFill>
                  <a:schemeClr val="tx1"/>
                </a:solidFill>
                <a:latin typeface="Times New Roman" pitchFamily="-1" charset="0"/>
                <a:ea typeface="+mn-ea"/>
                <a:cs typeface="+mn-cs"/>
              </a:rPr>
              <a:t>Logic </a:t>
            </a:r>
            <a:r>
              <a:rPr lang="en-US" sz="1200" kern="1200" dirty="0">
                <a:solidFill>
                  <a:schemeClr val="tx1"/>
                </a:solidFill>
                <a:latin typeface="Times New Roman" pitchFamily="-1" charset="0"/>
                <a:ea typeface="+mn-ea"/>
                <a:cs typeface="+mn-cs"/>
              </a:rPr>
              <a:t>(Boolean) instructions operate on the bits of a word as bits rather than as numbers; thus, they provide capabilities for processing any other type of data the user may wish to employ. These operations are performed primarily on data in processor registers. Therefore, there must be </a:t>
            </a:r>
            <a:r>
              <a:rPr lang="en-US" sz="1200" i="1" kern="1200" dirty="0">
                <a:solidFill>
                  <a:schemeClr val="tx1"/>
                </a:solidFill>
                <a:latin typeface="Times New Roman" pitchFamily="-1" charset="0"/>
                <a:ea typeface="+mn-ea"/>
                <a:cs typeface="+mn-cs"/>
              </a:rPr>
              <a:t>memory </a:t>
            </a:r>
            <a:r>
              <a:rPr lang="en-US" sz="1200" kern="1200" dirty="0">
                <a:solidFill>
                  <a:schemeClr val="tx1"/>
                </a:solidFill>
                <a:latin typeface="Times New Roman" pitchFamily="-1" charset="0"/>
                <a:ea typeface="+mn-ea"/>
                <a:cs typeface="+mn-cs"/>
              </a:rPr>
              <a:t>instructions for moving data between memory and the registers. </a:t>
            </a:r>
            <a:r>
              <a:rPr lang="en-US" sz="1200" i="1" kern="1200" dirty="0">
                <a:solidFill>
                  <a:schemeClr val="tx1"/>
                </a:solidFill>
                <a:latin typeface="Times New Roman" pitchFamily="-1" charset="0"/>
                <a:ea typeface="+mn-ea"/>
                <a:cs typeface="+mn-cs"/>
              </a:rPr>
              <a:t>I/O </a:t>
            </a:r>
            <a:r>
              <a:rPr lang="en-US" sz="1200" kern="1200" dirty="0">
                <a:solidFill>
                  <a:schemeClr val="tx1"/>
                </a:solidFill>
                <a:latin typeface="Times New Roman" pitchFamily="-1" charset="0"/>
                <a:ea typeface="+mn-ea"/>
                <a:cs typeface="+mn-cs"/>
              </a:rPr>
              <a:t>instructions are needed to transfer programs and data into memory and the results of computations back out to the user. </a:t>
            </a:r>
            <a:r>
              <a:rPr lang="en-US" sz="1200" i="1" kern="1200" dirty="0">
                <a:solidFill>
                  <a:schemeClr val="tx1"/>
                </a:solidFill>
                <a:latin typeface="Times New Roman" pitchFamily="-1" charset="0"/>
                <a:ea typeface="+mn-ea"/>
                <a:cs typeface="+mn-cs"/>
              </a:rPr>
              <a:t>Test </a:t>
            </a:r>
            <a:r>
              <a:rPr lang="en-US" sz="1200" kern="1200" dirty="0">
                <a:solidFill>
                  <a:schemeClr val="tx1"/>
                </a:solidFill>
                <a:latin typeface="Times New Roman" pitchFamily="-1" charset="0"/>
                <a:ea typeface="+mn-ea"/>
                <a:cs typeface="+mn-cs"/>
              </a:rPr>
              <a:t>instructions are used to test the value of a data word or the status of a computation</a:t>
            </a:r>
            <a:r>
              <a:rPr lang="en-US" sz="1200" i="1" kern="1200" dirty="0">
                <a:solidFill>
                  <a:schemeClr val="tx1"/>
                </a:solidFill>
                <a:latin typeface="Times New Roman" pitchFamily="-1" charset="0"/>
                <a:ea typeface="+mn-ea"/>
                <a:cs typeface="+mn-cs"/>
              </a:rPr>
              <a:t>. Branch </a:t>
            </a:r>
            <a:r>
              <a:rPr lang="en-US" sz="1200" kern="1200" dirty="0">
                <a:solidFill>
                  <a:schemeClr val="tx1"/>
                </a:solidFill>
                <a:latin typeface="Times New Roman" pitchFamily="-1" charset="0"/>
                <a:ea typeface="+mn-ea"/>
                <a:cs typeface="+mn-cs"/>
              </a:rPr>
              <a:t>instructions are then used to branch to a different set of instructions depending on the decision made. </a:t>
            </a:r>
            <a:endParaRPr lang="en-US" dirty="0"/>
          </a:p>
          <a:p>
            <a:endParaRPr lang="en-US" sz="1200" kern="1200" dirty="0">
              <a:solidFill>
                <a:schemeClr val="tx1"/>
              </a:solidFill>
              <a:latin typeface="Times New Roman" pitchFamily="-1" charset="0"/>
              <a:ea typeface="+mn-ea"/>
              <a:cs typeface="+mn-cs"/>
            </a:endParaRPr>
          </a:p>
          <a:p>
            <a:endParaRPr lang="en-GB"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7411"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7</a:t>
            </a:r>
          </a:p>
        </p:txBody>
      </p:sp>
      <p:sp>
        <p:nvSpPr>
          <p:cNvPr id="17412"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7413"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7414" name="Rectangle 6"/>
          <p:cNvSpPr>
            <a:spLocks noGrp="1" noRot="1" noChangeAspect="1" noChangeArrowheads="1" noTextEdit="1"/>
          </p:cNvSpPr>
          <p:nvPr>
            <p:ph type="sldImg"/>
          </p:nvPr>
        </p:nvSpPr>
        <p:spPr>
          <a:xfrm>
            <a:off x="1150938" y="692150"/>
            <a:ext cx="4556125" cy="3416300"/>
          </a:xfrm>
          <a:ln cap="flat"/>
        </p:spPr>
      </p:sp>
      <p:sp>
        <p:nvSpPr>
          <p:cNvPr id="17415" name="Rectangle 7"/>
          <p:cNvSpPr>
            <a:spLocks noGrp="1" noChangeArrowheads="1"/>
          </p:cNvSpPr>
          <p:nvPr>
            <p:ph type="body" idx="1"/>
          </p:nvPr>
        </p:nvSpPr>
        <p:spPr>
          <a:ln/>
        </p:spPr>
        <p:txBody>
          <a:bodyPr/>
          <a:lstStyle/>
          <a:p>
            <a:r>
              <a:rPr lang="en-US" sz="1200" b="0" i="0" u="none" strike="noStrike" kern="1200" baseline="0" dirty="0">
                <a:solidFill>
                  <a:schemeClr val="tx1"/>
                </a:solidFill>
                <a:latin typeface="Times New Roman" pitchFamily="-1" charset="0"/>
                <a:ea typeface="+mn-ea"/>
                <a:cs typeface="+mn-cs"/>
              </a:rPr>
              <a:t>One of the traditional ways of describing processor architecture is in terms of the</a:t>
            </a:r>
          </a:p>
          <a:p>
            <a:r>
              <a:rPr lang="en-US" sz="1200" b="0" i="0" u="none" strike="noStrike" kern="1200" baseline="0" dirty="0">
                <a:solidFill>
                  <a:schemeClr val="tx1"/>
                </a:solidFill>
                <a:latin typeface="Times New Roman" pitchFamily="-1" charset="0"/>
                <a:ea typeface="+mn-ea"/>
                <a:cs typeface="+mn-cs"/>
              </a:rPr>
              <a:t>number of addresses contained in each instruction. This dimension has become less</a:t>
            </a:r>
          </a:p>
          <a:p>
            <a:r>
              <a:rPr lang="en-US" sz="1200" b="0" i="0" u="none" strike="noStrike" kern="1200" baseline="0" dirty="0">
                <a:solidFill>
                  <a:schemeClr val="tx1"/>
                </a:solidFill>
                <a:latin typeface="Times New Roman" pitchFamily="-1" charset="0"/>
                <a:ea typeface="+mn-ea"/>
                <a:cs typeface="+mn-cs"/>
              </a:rPr>
              <a:t>significant with the increasing complexity of processor design. Nevertheless, it is useful</a:t>
            </a:r>
          </a:p>
          <a:p>
            <a:r>
              <a:rPr lang="en-US" sz="1200" b="0" i="0" u="none" strike="noStrike" kern="1200" baseline="0" dirty="0">
                <a:solidFill>
                  <a:schemeClr val="tx1"/>
                </a:solidFill>
                <a:latin typeface="Times New Roman" pitchFamily="-1" charset="0"/>
                <a:ea typeface="+mn-ea"/>
                <a:cs typeface="+mn-cs"/>
              </a:rPr>
              <a:t>at this point to draw and analyze this distinction.</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What is the maximum number of addresses one might need in an instruction?</a:t>
            </a:r>
          </a:p>
          <a:p>
            <a:r>
              <a:rPr lang="en-US" sz="1200" b="0" i="0" u="none" strike="noStrike" kern="1200" baseline="0" dirty="0">
                <a:solidFill>
                  <a:schemeClr val="tx1"/>
                </a:solidFill>
                <a:latin typeface="Times New Roman" pitchFamily="-1" charset="0"/>
                <a:ea typeface="+mn-ea"/>
                <a:cs typeface="+mn-cs"/>
              </a:rPr>
              <a:t>Evidently, arithmetic and logic instructions will require the most operands.</a:t>
            </a:r>
          </a:p>
          <a:p>
            <a:r>
              <a:rPr lang="en-US" sz="1200" b="0" i="0" u="none" strike="noStrike" kern="1200" baseline="0" dirty="0">
                <a:solidFill>
                  <a:schemeClr val="tx1"/>
                </a:solidFill>
                <a:latin typeface="Times New Roman" pitchFamily="-1" charset="0"/>
                <a:ea typeface="+mn-ea"/>
                <a:cs typeface="+mn-cs"/>
              </a:rPr>
              <a:t>Virtually all arithmetic and logic operations are either unary (one source</a:t>
            </a:r>
          </a:p>
          <a:p>
            <a:r>
              <a:rPr lang="en-US" sz="1200" b="0" i="0" u="none" strike="noStrike" kern="1200" baseline="0" dirty="0">
                <a:solidFill>
                  <a:schemeClr val="tx1"/>
                </a:solidFill>
                <a:latin typeface="Times New Roman" pitchFamily="-1" charset="0"/>
                <a:ea typeface="+mn-ea"/>
                <a:cs typeface="+mn-cs"/>
              </a:rPr>
              <a:t>operand) or binary (two source operands). Thus, we would need a maximum of</a:t>
            </a:r>
          </a:p>
          <a:p>
            <a:r>
              <a:rPr lang="en-US" sz="1200" b="0" i="0" u="none" strike="noStrike" kern="1200" baseline="0" dirty="0">
                <a:solidFill>
                  <a:schemeClr val="tx1"/>
                </a:solidFill>
                <a:latin typeface="Times New Roman" pitchFamily="-1" charset="0"/>
                <a:ea typeface="+mn-ea"/>
                <a:cs typeface="+mn-cs"/>
              </a:rPr>
              <a:t>two addresses to reference source operands. The result of an operation must be</a:t>
            </a:r>
          </a:p>
          <a:p>
            <a:r>
              <a:rPr lang="en-US" sz="1200" b="0" i="0" u="none" strike="noStrike" kern="1200" baseline="0" dirty="0">
                <a:solidFill>
                  <a:schemeClr val="tx1"/>
                </a:solidFill>
                <a:latin typeface="Times New Roman" pitchFamily="-1" charset="0"/>
                <a:ea typeface="+mn-ea"/>
                <a:cs typeface="+mn-cs"/>
              </a:rPr>
              <a:t>stored, suggesting a third address, which defines a destination operand. Finally,</a:t>
            </a:r>
          </a:p>
          <a:p>
            <a:r>
              <a:rPr lang="en-US" sz="1200" b="0" i="0" u="none" strike="noStrike" kern="1200" baseline="0" dirty="0">
                <a:solidFill>
                  <a:schemeClr val="tx1"/>
                </a:solidFill>
                <a:latin typeface="Times New Roman" pitchFamily="-1" charset="0"/>
                <a:ea typeface="+mn-ea"/>
                <a:cs typeface="+mn-cs"/>
              </a:rPr>
              <a:t>after completion of an instruction, the next instruction must be fetched, and its</a:t>
            </a:r>
          </a:p>
          <a:p>
            <a:r>
              <a:rPr lang="en-US" sz="1200" b="0" i="0" u="none" strike="noStrike" kern="1200" baseline="0" dirty="0">
                <a:solidFill>
                  <a:schemeClr val="tx1"/>
                </a:solidFill>
                <a:latin typeface="Times New Roman" pitchFamily="-1" charset="0"/>
                <a:ea typeface="+mn-ea"/>
                <a:cs typeface="+mn-cs"/>
              </a:rPr>
              <a:t>address is needed.</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This line of reasoning suggests that an instruction could plausibly be required</a:t>
            </a:r>
          </a:p>
          <a:p>
            <a:r>
              <a:rPr lang="en-US" sz="1200" b="0" i="0" u="none" strike="noStrike" kern="1200" baseline="0" dirty="0">
                <a:solidFill>
                  <a:schemeClr val="tx1"/>
                </a:solidFill>
                <a:latin typeface="Times New Roman" pitchFamily="-1" charset="0"/>
                <a:ea typeface="+mn-ea"/>
                <a:cs typeface="+mn-cs"/>
              </a:rPr>
              <a:t>to contain four address references: two source operands, one destination operand,</a:t>
            </a:r>
          </a:p>
          <a:p>
            <a:r>
              <a:rPr lang="en-US" sz="1200" b="0" i="0" u="none" strike="noStrike" kern="1200" baseline="0" dirty="0">
                <a:solidFill>
                  <a:schemeClr val="tx1"/>
                </a:solidFill>
                <a:latin typeface="Times New Roman" pitchFamily="-1" charset="0"/>
                <a:ea typeface="+mn-ea"/>
                <a:cs typeface="+mn-cs"/>
              </a:rPr>
              <a:t>and the address of the next instruction. In most architectures, many instructions</a:t>
            </a:r>
          </a:p>
          <a:p>
            <a:r>
              <a:rPr lang="en-US" sz="1200" b="0" i="0" u="none" strike="noStrike" kern="1200" baseline="0" dirty="0">
                <a:solidFill>
                  <a:schemeClr val="tx1"/>
                </a:solidFill>
                <a:latin typeface="Times New Roman" pitchFamily="-1" charset="0"/>
                <a:ea typeface="+mn-ea"/>
                <a:cs typeface="+mn-cs"/>
              </a:rPr>
              <a:t>have one, two, or three operand addresses, with the address of the next instruction</a:t>
            </a:r>
          </a:p>
          <a:p>
            <a:r>
              <a:rPr lang="en-US" sz="1200" b="0" i="0" u="none" strike="noStrike" kern="1200" baseline="0" dirty="0">
                <a:solidFill>
                  <a:schemeClr val="tx1"/>
                </a:solidFill>
                <a:latin typeface="Times New Roman" pitchFamily="-1" charset="0"/>
                <a:ea typeface="+mn-ea"/>
                <a:cs typeface="+mn-cs"/>
              </a:rPr>
              <a:t>being implicit (obtained from the program counter). Most architectures also have</a:t>
            </a:r>
          </a:p>
          <a:p>
            <a:r>
              <a:rPr lang="en-US" sz="1200" b="0" i="0" u="none" strike="noStrike" kern="1200" baseline="0" dirty="0">
                <a:solidFill>
                  <a:schemeClr val="tx1"/>
                </a:solidFill>
                <a:latin typeface="Times New Roman" pitchFamily="-1" charset="0"/>
                <a:ea typeface="+mn-ea"/>
                <a:cs typeface="+mn-cs"/>
              </a:rPr>
              <a:t>a few special-purpose instructions with more operands. For example, the load and</a:t>
            </a:r>
          </a:p>
          <a:p>
            <a:r>
              <a:rPr lang="en-US" sz="1200" b="0" i="0" u="none" strike="noStrike" kern="1200" baseline="0" dirty="0">
                <a:solidFill>
                  <a:schemeClr val="tx1"/>
                </a:solidFill>
                <a:latin typeface="Times New Roman" pitchFamily="-1" charset="0"/>
                <a:ea typeface="+mn-ea"/>
                <a:cs typeface="+mn-cs"/>
              </a:rPr>
              <a:t>store multiple instructions of the ARM architecture, described in Chapter 14, designate</a:t>
            </a:r>
          </a:p>
          <a:p>
            <a:r>
              <a:rPr lang="en-US" sz="1200" b="0" i="0" u="none" strike="noStrike" kern="1200" baseline="0" dirty="0">
                <a:solidFill>
                  <a:schemeClr val="tx1"/>
                </a:solidFill>
                <a:latin typeface="Times New Roman" pitchFamily="-1" charset="0"/>
                <a:ea typeface="+mn-ea"/>
                <a:cs typeface="+mn-cs"/>
              </a:rPr>
              <a:t>up to 17 register operands in a single instruction.</a:t>
            </a:r>
            <a:endParaRPr lang="en-US" sz="1200"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Figure 13.3 compares typical one, two, and three address instructions that</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could be used to compute Y = (A – B)/[C + (D * E)]. With three addresses, each instruction specifies two source operand locations and a destination operand location. Because we choose not to alter the value of any of the operand locations, a temporary location, T, is used to store some intermediate results. Note that there are four instructions and that the original expression had five operands.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Three-address instruction formats are not common because they require a relatively long instruction format to hold the three address references. With two- address instructions, and for binary operations, one address must do double duty as both an operand and a result. Thus, the instruction SUB Y, B carries out the calculation Y - B and stores the result in Y. The two-address format reduces the space requirement but also introduces some awkwardness. To avoid altering the value of an operand, a MOVE instruction is used to move one of the values to a result or temporary location before performing the operation. Our sample program expands to six instructions.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Simpler yet is the one-address instruction. For this to work, a second address must be implicit. This was common in earlier machines, with the implied address being a processor register known as the </a:t>
            </a:r>
            <a:r>
              <a:rPr lang="en-US" sz="1200" b="1" kern="1200" dirty="0">
                <a:solidFill>
                  <a:schemeClr val="tx1"/>
                </a:solidFill>
                <a:latin typeface="Times New Roman" pitchFamily="-1" charset="0"/>
                <a:ea typeface="+mn-ea"/>
                <a:cs typeface="+mn-cs"/>
              </a:rPr>
              <a:t>accumulator </a:t>
            </a:r>
            <a:r>
              <a:rPr lang="en-US" sz="1200" kern="1200" dirty="0">
                <a:solidFill>
                  <a:schemeClr val="tx1"/>
                </a:solidFill>
                <a:latin typeface="Times New Roman" pitchFamily="-1" charset="0"/>
                <a:ea typeface="+mn-ea"/>
                <a:cs typeface="+mn-cs"/>
              </a:rPr>
              <a:t>(AC). The accumulator contains one of the operands and is used to store the result. In our example, eight instructions are needed to accomplish the task.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It is, in fact, possible to make do with zero addresses for some instructions. Zero-address instructions are applicable to a special memory organization called a </a:t>
            </a:r>
            <a:r>
              <a:rPr lang="en-US" sz="1200" i="1" kern="1200" dirty="0">
                <a:solidFill>
                  <a:schemeClr val="tx1"/>
                </a:solidFill>
                <a:latin typeface="Times New Roman" pitchFamily="-1" charset="0"/>
                <a:ea typeface="+mn-ea"/>
                <a:cs typeface="+mn-cs"/>
              </a:rPr>
              <a:t>stack. </a:t>
            </a:r>
            <a:r>
              <a:rPr lang="en-US" sz="1200" kern="1200" dirty="0">
                <a:solidFill>
                  <a:schemeClr val="tx1"/>
                </a:solidFill>
                <a:latin typeface="Times New Roman" pitchFamily="-1" charset="0"/>
                <a:ea typeface="+mn-ea"/>
                <a:cs typeface="+mn-cs"/>
              </a:rPr>
              <a:t>A stack is a last-in-first-out set of locations. The stack is in a known location and, often, at least the top two elements are in processor registers. Thus, zero-address instructions would reference the top two stack elements. Stacks are described in Appendix E. Their use is explored further later in this chapter and in Chapter 14.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GB"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9459"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8</a:t>
            </a:r>
          </a:p>
        </p:txBody>
      </p:sp>
      <p:sp>
        <p:nvSpPr>
          <p:cNvPr id="19460"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9461"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9462" name="Rectangle 6"/>
          <p:cNvSpPr>
            <a:spLocks noGrp="1" noRot="1" noChangeAspect="1" noChangeArrowheads="1" noTextEdit="1"/>
          </p:cNvSpPr>
          <p:nvPr>
            <p:ph type="sldImg"/>
          </p:nvPr>
        </p:nvSpPr>
        <p:spPr>
          <a:xfrm>
            <a:off x="1150938" y="692150"/>
            <a:ext cx="4556125" cy="3416300"/>
          </a:xfrm>
          <a:ln cap="flat"/>
        </p:spPr>
      </p:sp>
      <p:sp>
        <p:nvSpPr>
          <p:cNvPr id="19463" name="Rectangle 7"/>
          <p:cNvSpPr>
            <a:spLocks noGrp="1" noChangeArrowheads="1"/>
          </p:cNvSpPr>
          <p:nvPr>
            <p:ph type="body" idx="1"/>
          </p:nvPr>
        </p:nvSpPr>
        <p:spPr>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Table 13.1 summarizes the interpretations to be placed on instructions with zero, one, two, or three addresses. In each case in the table, it is assumed that the address of the next instruction is implicit, and that one operation with two source operands and one result operand is to be performed. </a:t>
            </a:r>
            <a:endParaRPr lang="en-US" dirty="0"/>
          </a:p>
          <a:p>
            <a:endParaRPr lang="en-GB"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The number of addresses per instruction is a basic design decision. Fewer addresses per instruction result in instructions that are more primitive, requiring a less complex processor. It also results in instructions of shorter length. On the other hand, programs contain more total instructions, which in general results in longer execution times and longer, more complex programs. Also, there is an important threshold between one-address and multiple-address instructions. With one-address instructions, the programmer generally has available only one general-purpose register, the accumulator. With multiple-address instructions, it is common to have multiple general-purpose registers. This allows some operations to be performed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solely on registers. Because register references are faster than memory references, this speeds up execution. For reasons of flexibility and ability to use multiple registers, most contemporary machines employ a mixture of two- and three-address instructions.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The design trade-offs involved in choosing the number of addresses per instruction are complicated by other factors. There is the issue of whether an address references a memory location or a register. Because there are fewer registers, fewer bits are needed for a register reference. Also, as we shall see in Chapter 14, a machine may offer a variety of addressing modes, and the specification of mode takes one or more bits. The result is that most processor designs involve a variety of instruction formats.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GB"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21507"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9</a:t>
            </a:r>
          </a:p>
        </p:txBody>
      </p:sp>
      <p:sp>
        <p:nvSpPr>
          <p:cNvPr id="21508"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21509"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21510" name="Rectangle 6"/>
          <p:cNvSpPr>
            <a:spLocks noGrp="1" noRot="1" noChangeAspect="1" noChangeArrowheads="1" noTextEdit="1"/>
          </p:cNvSpPr>
          <p:nvPr>
            <p:ph type="sldImg"/>
          </p:nvPr>
        </p:nvSpPr>
        <p:spPr>
          <a:xfrm>
            <a:off x="1150938" y="692150"/>
            <a:ext cx="4556125" cy="3416300"/>
          </a:xfrm>
          <a:ln cap="flat"/>
        </p:spPr>
      </p:sp>
      <p:sp>
        <p:nvSpPr>
          <p:cNvPr id="21511"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One of the most interesting, and most analyzed, aspects of computer design is instruction set design. The design of an instruction set is very complex because it affects so many aspects of the computer system. The instruction set defines many of the functions performed by the processor and thus has a significant effect on the implementation of the processor. The instruction set is the programmer’s means of controlling the processor. Thus, programmer requirements must be considered in designing the instruction set.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It may surprise you to know that some of the most fundamental issues relating to the design of instruction sets remain in dispute. Indeed, in recent years, the level of disagreement concerning these fundamentals has actually grown. The most important of these fundamental design issues include the following: </a:t>
            </a:r>
            <a:endParaRPr lang="en-US" dirty="0"/>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Operation repertoire: </a:t>
            </a:r>
            <a:r>
              <a:rPr lang="en-US" sz="1200" kern="1200" dirty="0">
                <a:solidFill>
                  <a:schemeClr val="tx1"/>
                </a:solidFill>
                <a:latin typeface="Times New Roman" pitchFamily="-1" charset="0"/>
                <a:ea typeface="+mn-ea"/>
                <a:cs typeface="+mn-cs"/>
              </a:rPr>
              <a:t>How many and which operations to provide, and how complex operations should be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Data types: </a:t>
            </a:r>
            <a:r>
              <a:rPr lang="en-US" sz="1200" kern="1200" dirty="0">
                <a:solidFill>
                  <a:schemeClr val="tx1"/>
                </a:solidFill>
                <a:latin typeface="Times New Roman" pitchFamily="-1" charset="0"/>
                <a:ea typeface="+mn-ea"/>
                <a:cs typeface="+mn-cs"/>
              </a:rPr>
              <a:t>The various types of data upon which operations are performed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Instruction format: </a:t>
            </a:r>
            <a:r>
              <a:rPr lang="en-US" sz="1200" kern="1200" dirty="0">
                <a:solidFill>
                  <a:schemeClr val="tx1"/>
                </a:solidFill>
                <a:latin typeface="Times New Roman" pitchFamily="-1" charset="0"/>
                <a:ea typeface="+mn-ea"/>
                <a:cs typeface="+mn-cs"/>
              </a:rPr>
              <a:t>Instruction length (in bits), number of addresses, size of </a:t>
            </a:r>
          </a:p>
          <a:p>
            <a:r>
              <a:rPr lang="en-US" sz="1200" kern="1200" dirty="0">
                <a:solidFill>
                  <a:schemeClr val="tx1"/>
                </a:solidFill>
                <a:latin typeface="Times New Roman" pitchFamily="-1" charset="0"/>
                <a:ea typeface="+mn-ea"/>
                <a:cs typeface="+mn-cs"/>
              </a:rPr>
              <a:t>various fields, and so on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Registers: </a:t>
            </a:r>
            <a:r>
              <a:rPr lang="en-US" sz="1200" kern="1200" dirty="0">
                <a:solidFill>
                  <a:schemeClr val="tx1"/>
                </a:solidFill>
                <a:latin typeface="Times New Roman" pitchFamily="-1" charset="0"/>
                <a:ea typeface="+mn-ea"/>
                <a:cs typeface="+mn-cs"/>
              </a:rPr>
              <a:t>Number of processor registers that can be referenced by instructions, and their use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Addressing: </a:t>
            </a:r>
            <a:r>
              <a:rPr lang="en-US" sz="1200" kern="1200" dirty="0">
                <a:solidFill>
                  <a:schemeClr val="tx1"/>
                </a:solidFill>
                <a:latin typeface="Times New Roman" pitchFamily="-1" charset="0"/>
                <a:ea typeface="+mn-ea"/>
                <a:cs typeface="+mn-cs"/>
              </a:rPr>
              <a:t>The mode or modes by which the address of an operand is specified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These issues are highly interrelated and must be considered together in designing an instruction set. This book, of course, must consider them in some sequence, but an attempt is made to show the interrelationships. </a:t>
            </a:r>
          </a:p>
          <a:p>
            <a:endParaRPr lang="en-US" sz="1200" kern="120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Because of the importance of this topic, much of Part Three is devoted to</a:t>
            </a:r>
          </a:p>
          <a:p>
            <a:r>
              <a:rPr lang="en-US" sz="1200" b="0" i="0" u="none" strike="noStrike" kern="1200" baseline="0" dirty="0">
                <a:solidFill>
                  <a:schemeClr val="tx1"/>
                </a:solidFill>
                <a:latin typeface="Times New Roman" pitchFamily="-1" charset="0"/>
                <a:ea typeface="+mn-ea"/>
                <a:cs typeface="+mn-cs"/>
              </a:rPr>
              <a:t>instruction set design. Following this overview section, this chapter examines data</a:t>
            </a:r>
          </a:p>
          <a:p>
            <a:r>
              <a:rPr lang="en-US" sz="1200" b="0" i="0" u="none" strike="noStrike" kern="1200" baseline="0" dirty="0">
                <a:solidFill>
                  <a:schemeClr val="tx1"/>
                </a:solidFill>
                <a:latin typeface="Times New Roman" pitchFamily="-1" charset="0"/>
                <a:ea typeface="+mn-ea"/>
                <a:cs typeface="+mn-cs"/>
              </a:rPr>
              <a:t>types and operation repertoire. Chapter 14 examines addressing modes (which</a:t>
            </a:r>
          </a:p>
          <a:p>
            <a:r>
              <a:rPr lang="en-US" sz="1200" b="0" i="0" u="none" strike="noStrike" kern="1200" baseline="0" dirty="0">
                <a:solidFill>
                  <a:schemeClr val="tx1"/>
                </a:solidFill>
                <a:latin typeface="Times New Roman" pitchFamily="-1" charset="0"/>
                <a:ea typeface="+mn-ea"/>
                <a:cs typeface="+mn-cs"/>
              </a:rPr>
              <a:t>includes a consideration of registers) and instruction formats. Chapter 17 examines</a:t>
            </a:r>
          </a:p>
          <a:p>
            <a:r>
              <a:rPr lang="en-US" sz="1200" b="0" i="0" u="none" strike="noStrike" kern="1200" baseline="0" dirty="0">
                <a:solidFill>
                  <a:schemeClr val="tx1"/>
                </a:solidFill>
                <a:latin typeface="Times New Roman" pitchFamily="-1" charset="0"/>
                <a:ea typeface="+mn-ea"/>
                <a:cs typeface="+mn-cs"/>
              </a:rPr>
              <a:t>the reduced instruction set computer (RISC). RISC architecture calls into question</a:t>
            </a:r>
          </a:p>
          <a:p>
            <a:r>
              <a:rPr lang="en-US" sz="1200" b="0" i="0" u="none" strike="noStrike" kern="1200" baseline="0" dirty="0">
                <a:solidFill>
                  <a:schemeClr val="tx1"/>
                </a:solidFill>
                <a:latin typeface="Times New Roman" pitchFamily="-1" charset="0"/>
                <a:ea typeface="+mn-ea"/>
                <a:cs typeface="+mn-cs"/>
              </a:rPr>
              <a:t>many of the instruction set design decisions traditionally made in commercial</a:t>
            </a:r>
          </a:p>
          <a:p>
            <a:r>
              <a:rPr lang="en-US" sz="1200" b="0" i="0" u="none" strike="noStrike" kern="1200" baseline="0" dirty="0">
                <a:solidFill>
                  <a:schemeClr val="tx1"/>
                </a:solidFill>
                <a:latin typeface="Times New Roman" pitchFamily="-1" charset="0"/>
                <a:ea typeface="+mn-ea"/>
                <a:cs typeface="+mn-cs"/>
              </a:rPr>
              <a:t>computers.</a:t>
            </a:r>
            <a:endParaRPr lang="en-US" sz="1200" kern="1200" dirty="0">
              <a:solidFill>
                <a:schemeClr val="tx1"/>
              </a:solidFill>
              <a:latin typeface="Times New Roman" pitchFamily="-1" charset="0"/>
              <a:ea typeface="+mn-ea"/>
              <a:cs typeface="+mn-cs"/>
            </a:endParaRPr>
          </a:p>
          <a:p>
            <a:endParaRPr lang="en-GB"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1747"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14</a:t>
            </a:r>
          </a:p>
        </p:txBody>
      </p:sp>
      <p:sp>
        <p:nvSpPr>
          <p:cNvPr id="31748"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1749"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1750" name="Rectangle 6"/>
          <p:cNvSpPr>
            <a:spLocks noGrp="1" noRot="1" noChangeAspect="1" noChangeArrowheads="1" noTextEdit="1"/>
          </p:cNvSpPr>
          <p:nvPr>
            <p:ph type="sldImg"/>
          </p:nvPr>
        </p:nvSpPr>
        <p:spPr>
          <a:xfrm>
            <a:off x="1150938" y="692150"/>
            <a:ext cx="4556125" cy="3416300"/>
          </a:xfrm>
          <a:ln cap="flat"/>
        </p:spPr>
      </p:sp>
      <p:sp>
        <p:nvSpPr>
          <p:cNvPr id="31751"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Machine instructions operate on data. The most important general categories of data are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Addresses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Numbers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Characters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Logical data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We shall see, in discussing addressing modes in Chapter 14, that addresses are, in fact, a form of data. In many cases, some calculation must be performed on the operand reference in an instruction to determine the main or virtual memory address. In this context, addresses can be considered to be unsigned integers.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Other common data types are numbers, characters, and logical data, and each of these is briefly examined in this section. Beyond that, some machines define specialized data types or data structures. For example, there may be machine operations that operate directly on a list or a string of characters. </a:t>
            </a:r>
          </a:p>
          <a:p>
            <a:endParaRPr lang="en-GB"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70000" lnSpcReduction="20000"/>
          </a:bodyPr>
          <a:lstStyle/>
          <a:p>
            <a:r>
              <a:rPr lang="en-US" sz="1200" kern="1200" dirty="0">
                <a:solidFill>
                  <a:schemeClr val="tx1"/>
                </a:solidFill>
                <a:latin typeface="Times New Roman" pitchFamily="-1" charset="0"/>
                <a:ea typeface="+mn-ea"/>
                <a:cs typeface="+mn-cs"/>
              </a:rPr>
              <a:t>All machine languages include numeric data types. Even in nonnumeric data processing, there is a need for numbers to act as counters, field widths, and so forth. An important distinction between numbers used in ordinary mathematics and numbers stored in a computer is that the latter are limited. This is true in two senses. First, there is a limit to the magnitude of numbers representable on a machine and second, in the case of floating-point numbers, a limit to their precision. Thus, the programmer is faced with understanding the consequences of rounding, overflow, and underflow.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Three types of numerical data are common in computers: </a:t>
            </a:r>
            <a:endParaRPr lang="en-US" dirty="0"/>
          </a:p>
          <a:p>
            <a:pPr lvl="1"/>
            <a:endParaRPr lang="en-US" sz="1200" kern="1200" dirty="0">
              <a:solidFill>
                <a:schemeClr val="tx1"/>
              </a:solidFill>
              <a:latin typeface="Times New Roman" pitchFamily="-1" charset="0"/>
              <a:ea typeface="ＭＳ Ｐゴシック" pitchFamily="-1" charset="-128"/>
              <a:cs typeface="+mn-cs"/>
            </a:endParaRPr>
          </a:p>
          <a:p>
            <a:pPr lvl="1"/>
            <a:r>
              <a:rPr lang="en-US" sz="1200" kern="1200" dirty="0">
                <a:solidFill>
                  <a:schemeClr val="tx1"/>
                </a:solidFill>
                <a:latin typeface="Times New Roman" pitchFamily="-1" charset="0"/>
                <a:ea typeface="ＭＳ Ｐゴシック" pitchFamily="-1" charset="-128"/>
                <a:cs typeface="+mn-cs"/>
              </a:rPr>
              <a:t>Binary integer or binary fixed point </a:t>
            </a:r>
          </a:p>
          <a:p>
            <a:pPr lvl="1"/>
            <a:endParaRPr lang="en-US" sz="1200" kern="1200" dirty="0">
              <a:solidFill>
                <a:schemeClr val="tx1"/>
              </a:solidFill>
              <a:latin typeface="Times New Roman" pitchFamily="-1" charset="0"/>
              <a:ea typeface="ＭＳ Ｐゴシック" pitchFamily="-1" charset="-128"/>
              <a:cs typeface="+mn-cs"/>
            </a:endParaRPr>
          </a:p>
          <a:p>
            <a:pPr lvl="1"/>
            <a:r>
              <a:rPr lang="en-US" sz="1200" kern="1200" dirty="0">
                <a:solidFill>
                  <a:schemeClr val="tx1"/>
                </a:solidFill>
                <a:latin typeface="Times New Roman" pitchFamily="-1" charset="0"/>
                <a:ea typeface="ＭＳ Ｐゴシック" pitchFamily="-1" charset="-128"/>
                <a:cs typeface="+mn-cs"/>
              </a:rPr>
              <a:t>Binary floating point </a:t>
            </a:r>
          </a:p>
          <a:p>
            <a:pPr lvl="1"/>
            <a:endParaRPr lang="en-US" sz="1200" kern="1200" dirty="0">
              <a:solidFill>
                <a:schemeClr val="tx1"/>
              </a:solidFill>
              <a:latin typeface="Times New Roman" pitchFamily="-1" charset="0"/>
              <a:ea typeface="ＭＳ Ｐゴシック" pitchFamily="-1" charset="-128"/>
              <a:cs typeface="+mn-cs"/>
            </a:endParaRPr>
          </a:p>
          <a:p>
            <a:pPr lvl="1"/>
            <a:r>
              <a:rPr lang="en-US" sz="1200" kern="1200" dirty="0">
                <a:solidFill>
                  <a:schemeClr val="tx1"/>
                </a:solidFill>
                <a:latin typeface="Times New Roman" pitchFamily="-1" charset="0"/>
                <a:ea typeface="ＭＳ Ｐゴシック" pitchFamily="-1" charset="-128"/>
                <a:cs typeface="+mn-cs"/>
              </a:rPr>
              <a:t>Decimal </a:t>
            </a:r>
          </a:p>
          <a:p>
            <a:pPr lvl="1"/>
            <a:endParaRPr lang="en-US" sz="1200" kern="1200" dirty="0">
              <a:solidFill>
                <a:schemeClr val="tx1"/>
              </a:solidFill>
              <a:latin typeface="Times New Roman" pitchFamily="-1" charset="0"/>
              <a:ea typeface="ＭＳ Ｐゴシック" pitchFamily="-1" charset="-128"/>
              <a:cs typeface="+mn-cs"/>
            </a:endParaRPr>
          </a:p>
          <a:p>
            <a:pPr lvl="1"/>
            <a:r>
              <a:rPr lang="en-US" sz="1200" kern="1200" dirty="0">
                <a:solidFill>
                  <a:schemeClr val="tx1"/>
                </a:solidFill>
                <a:latin typeface="Times New Roman" pitchFamily="-1" charset="0"/>
                <a:ea typeface="ＭＳ Ｐゴシック" pitchFamily="-1" charset="-128"/>
                <a:cs typeface="+mn-cs"/>
              </a:rPr>
              <a:t>We examined the first two in some detail in Chapter 10. It remains to say a few words about decimal numbers. </a:t>
            </a:r>
          </a:p>
          <a:p>
            <a:pPr lvl="1"/>
            <a:endParaRPr lang="en-US" sz="1200" kern="1200" dirty="0">
              <a:solidFill>
                <a:schemeClr val="tx1"/>
              </a:solidFill>
              <a:latin typeface="Times New Roman" pitchFamily="-1" charset="0"/>
              <a:ea typeface="ＭＳ Ｐゴシック" pitchFamily="-1" charset="-128"/>
              <a:cs typeface="+mn-cs"/>
            </a:endParaRPr>
          </a:p>
          <a:p>
            <a:pPr lvl="1"/>
            <a:r>
              <a:rPr lang="en-US" sz="1200" kern="1200" dirty="0">
                <a:solidFill>
                  <a:schemeClr val="tx1"/>
                </a:solidFill>
                <a:latin typeface="Times New Roman" pitchFamily="-1" charset="0"/>
                <a:ea typeface="ＭＳ Ｐゴシック" pitchFamily="-1" charset="-128"/>
                <a:cs typeface="+mn-cs"/>
              </a:rPr>
              <a:t>Although all internal computer operations are binary in nature, the human users of the system deal with decimal numbers. Thus, there is a necessity to convert from decimal to binary on input and from binary to decimal on output. For applications in which there is a great deal of I/O and comparatively little, comparatively simple computation, it is preferable to store and operate on the numbers in decimal form. The most common representation for this purpose is </a:t>
            </a:r>
            <a:r>
              <a:rPr lang="en-US" sz="1200" b="1" kern="1200" dirty="0">
                <a:solidFill>
                  <a:schemeClr val="tx1"/>
                </a:solidFill>
                <a:latin typeface="Times New Roman" pitchFamily="-1" charset="0"/>
                <a:ea typeface="ＭＳ Ｐゴシック" pitchFamily="-1" charset="-128"/>
                <a:cs typeface="+mn-cs"/>
              </a:rPr>
              <a:t>packed decimal. </a:t>
            </a:r>
          </a:p>
          <a:p>
            <a:pPr lvl="1"/>
            <a:endParaRPr lang="en-US" sz="1200" b="1" kern="1200" dirty="0">
              <a:solidFill>
                <a:schemeClr val="tx1"/>
              </a:solidFill>
              <a:latin typeface="Times New Roman" pitchFamily="-1" charset="0"/>
              <a:ea typeface="ＭＳ Ｐゴシック" pitchFamily="-1" charset="-128"/>
              <a:cs typeface="+mn-cs"/>
            </a:endParaRPr>
          </a:p>
          <a:p>
            <a:r>
              <a:rPr lang="en-US" sz="1200" kern="1200" dirty="0">
                <a:solidFill>
                  <a:schemeClr val="tx1"/>
                </a:solidFill>
                <a:latin typeface="Times New Roman" pitchFamily="-1" charset="0"/>
                <a:ea typeface="+mn-ea"/>
                <a:cs typeface="+mn-cs"/>
              </a:rPr>
              <a:t>With packed decimal, each decimal digit is represented by a 4-bit code, in the obvious way, with two digits stored per byte. Thus, 0 = 000, 1 = 0001, c, 8 = 1000, and 9 = 1001. Note that this is a rather inefficient code because only 10 of 16 possible 4-bit values are used. To form numbers, 4-bit codes are strung together, usually in multiples of 8 bits. Thus, the code for 246 is 0000 0010 0100 0110. This code is clearly less compact than a straight binary representation, but it avoids the con- version overhead. Negative numbers can be represented by including a 4-bit sign digit at either the left or right end of a string of packed decimal digits. Standard sign values are 1100 for positive (+) and 1101 for negative (-).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Many machines provide arithmetic instructions for performing operations directly on packed decimal numbers. The algorithms are quite similar to those described in Section 10.3 but must take into account the decimal carry operation. </a:t>
            </a:r>
            <a:endParaRPr lang="en-US" dirty="0"/>
          </a:p>
          <a:p>
            <a:pPr lvl="1"/>
            <a:endParaRPr lang="en-US" sz="1200" kern="1200" dirty="0">
              <a:solidFill>
                <a:schemeClr val="tx1"/>
              </a:solidFill>
              <a:latin typeface="Times New Roman" pitchFamily="-1" charset="0"/>
              <a:ea typeface="ＭＳ Ｐゴシック" pitchFamily="-1" charset="-128"/>
              <a:cs typeface="+mn-cs"/>
            </a:endParaRPr>
          </a:p>
          <a:p>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92500" lnSpcReduction="20000"/>
          </a:bodyPr>
          <a:lstStyle/>
          <a:p>
            <a:r>
              <a:rPr lang="en-US" sz="1200" kern="1200" dirty="0">
                <a:solidFill>
                  <a:schemeClr val="tx1"/>
                </a:solidFill>
                <a:latin typeface="Times New Roman" pitchFamily="-1" charset="0"/>
                <a:ea typeface="+mn-ea"/>
                <a:cs typeface="+mn-cs"/>
              </a:rPr>
              <a:t>A common form of data is text or character strings. While textual data are most convenient for human beings, they cannot, in character form, be easily stored or transmitted by data processing and communications systems. Such systems are designed for binary data. Thus, a number of codes have been devised by which characters are represented by a sequence of bits. Perhaps the earliest common example of this is the Morse code. Today, the most commonly used character code in the International Reference Alphabet (IRA), referred to in the United States as the American Standard Code for Information Interchange (ASCII; see Appendix D). Each character in this code is represented by a unique 7-bit pattern; thus, 128 different characters can be represented. This is a larger number than is necessary to represent printable characters, and some of the patterns represent </a:t>
            </a:r>
            <a:r>
              <a:rPr lang="en-US" sz="1200" i="1" kern="1200" dirty="0">
                <a:solidFill>
                  <a:schemeClr val="tx1"/>
                </a:solidFill>
                <a:latin typeface="Times New Roman" pitchFamily="-1" charset="0"/>
                <a:ea typeface="+mn-ea"/>
                <a:cs typeface="+mn-cs"/>
              </a:rPr>
              <a:t>control </a:t>
            </a:r>
            <a:r>
              <a:rPr lang="en-US" sz="1200" kern="1200" dirty="0">
                <a:solidFill>
                  <a:schemeClr val="tx1"/>
                </a:solidFill>
                <a:latin typeface="Times New Roman" pitchFamily="-1" charset="0"/>
                <a:ea typeface="+mn-ea"/>
                <a:cs typeface="+mn-cs"/>
              </a:rPr>
              <a:t>characters. Some of these control characters have to do with controlling the printing of characters on a page. Others are concerned with communications procedures. IRA-encoded characters are almost always stored and transmitted using 8 bits per character. The eighth bit may be set to 0 or used as a parity bit for error detection. In the latter case, the bit is set such that the total number of binary 1s in each octet is always odd (odd parity) or always even (even parity).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Note in Table D.1 (Appendix D) that for the IRA bit pattern 011XXXX, the digits 0 through 9 are represented by their binary equivalents, 0000 through 1001, in the rightmost 4 bits. This is the same code as packed decimal. This facilitates con- version between 7-bit IRA and 4-bit packed decimal representation.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Another code used to encode characters is the Extended Binary Coded Decimal Interchange Code (EBCDIC). EBCDIC is used on IBM mainframes. It is an 8-bit code. As with IRA, EBCDIC is compatible with packed decimal. In the case of EBCDIC, the codes 11110000 through 11111001 represent the digits 0 through 9. </a:t>
            </a:r>
            <a:endParaRPr lang="en-US" dirty="0"/>
          </a:p>
          <a:p>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Normally, each word or other addressable unit (byte, halfword, and so on) is treated as a single unit of data. It is sometimes useful, however, to consider an </a:t>
            </a:r>
            <a:r>
              <a:rPr lang="en-US" sz="1200" i="1" kern="1200" dirty="0">
                <a:solidFill>
                  <a:schemeClr val="tx1"/>
                </a:solidFill>
                <a:latin typeface="Times New Roman" pitchFamily="-1" charset="0"/>
                <a:ea typeface="+mn-ea"/>
                <a:cs typeface="+mn-cs"/>
              </a:rPr>
              <a:t>n-bit </a:t>
            </a:r>
            <a:r>
              <a:rPr lang="en-US" sz="1200" kern="1200" dirty="0">
                <a:solidFill>
                  <a:schemeClr val="tx1"/>
                </a:solidFill>
                <a:latin typeface="Times New Roman" pitchFamily="-1" charset="0"/>
                <a:ea typeface="+mn-ea"/>
                <a:cs typeface="+mn-cs"/>
              </a:rPr>
              <a:t>unit as consisting of </a:t>
            </a:r>
            <a:r>
              <a:rPr lang="en-US" sz="1200" i="1" kern="1200" dirty="0">
                <a:solidFill>
                  <a:schemeClr val="tx1"/>
                </a:solidFill>
                <a:latin typeface="Times New Roman" pitchFamily="-1" charset="0"/>
                <a:ea typeface="+mn-ea"/>
                <a:cs typeface="+mn-cs"/>
              </a:rPr>
              <a:t>n </a:t>
            </a:r>
            <a:r>
              <a:rPr lang="en-US" sz="1200" kern="1200" dirty="0">
                <a:solidFill>
                  <a:schemeClr val="tx1"/>
                </a:solidFill>
                <a:latin typeface="Times New Roman" pitchFamily="-1" charset="0"/>
                <a:ea typeface="+mn-ea"/>
                <a:cs typeface="+mn-cs"/>
              </a:rPr>
              <a:t>1-bit items of data, each item having the value 0 or 1. When data are viewed this way, they are considered to be </a:t>
            </a:r>
            <a:r>
              <a:rPr lang="en-US" sz="1200" i="1" kern="1200" dirty="0">
                <a:solidFill>
                  <a:schemeClr val="tx1"/>
                </a:solidFill>
                <a:latin typeface="Times New Roman" pitchFamily="-1" charset="0"/>
                <a:ea typeface="+mn-ea"/>
                <a:cs typeface="+mn-cs"/>
              </a:rPr>
              <a:t>logical </a:t>
            </a:r>
            <a:r>
              <a:rPr lang="en-US" sz="1200" kern="1200" dirty="0">
                <a:solidFill>
                  <a:schemeClr val="tx1"/>
                </a:solidFill>
                <a:latin typeface="Times New Roman" pitchFamily="-1" charset="0"/>
                <a:ea typeface="+mn-ea"/>
                <a:cs typeface="+mn-cs"/>
              </a:rPr>
              <a:t>data. </a:t>
            </a:r>
            <a:endParaRPr lang="en-US" dirty="0"/>
          </a:p>
          <a:p>
            <a:endParaRPr lang="en-US" dirty="0"/>
          </a:p>
          <a:p>
            <a:r>
              <a:rPr lang="en-US" sz="1200" kern="1200" dirty="0">
                <a:solidFill>
                  <a:schemeClr val="tx1"/>
                </a:solidFill>
                <a:latin typeface="Times New Roman" pitchFamily="-1" charset="0"/>
                <a:ea typeface="+mn-ea"/>
                <a:cs typeface="+mn-cs"/>
              </a:rPr>
              <a:t>There are two advantages to the bit-oriented view. First, we may sometimes wish to store an array of Boolean or binary data items, in which each item can take on only the values 1 (true) and 0 (false). With logical data, memory can be used most efficiently for this storage. Second, there are occasions when we wish to manipulate the bits of a data item. For example, if floating-point operations are implemented in software, we need to be able to shift significant bits in some operations. Another example: To convert from IRA to packed decimal, we need to extract the rightmost 4 bits of each byte.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Note that, in the preceding examples, the same data are treated sometimes as logical and other times as numerical or text. The “type” of a unit of data is deter- mined by the operation being performed on it. While this is not normally the case in high-level languages, it is almost always the case with machine language. </a:t>
            </a:r>
            <a:endParaRPr lang="en-US" dirty="0"/>
          </a:p>
          <a:p>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1987"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19</a:t>
            </a:r>
          </a:p>
        </p:txBody>
      </p:sp>
      <p:sp>
        <p:nvSpPr>
          <p:cNvPr id="41988"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1989"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1990" name="Rectangle 6"/>
          <p:cNvSpPr>
            <a:spLocks noGrp="1" noRot="1" noChangeAspect="1" noChangeArrowheads="1" noTextEdit="1"/>
          </p:cNvSpPr>
          <p:nvPr>
            <p:ph type="sldImg"/>
          </p:nvPr>
        </p:nvSpPr>
        <p:spPr>
          <a:xfrm>
            <a:off x="1150938" y="692150"/>
            <a:ext cx="4556125" cy="3416300"/>
          </a:xfrm>
          <a:ln cap="flat"/>
        </p:spPr>
      </p:sp>
      <p:sp>
        <p:nvSpPr>
          <p:cNvPr id="41991" name="Rectangle 7"/>
          <p:cNvSpPr>
            <a:spLocks noGrp="1" noChangeArrowheads="1"/>
          </p:cNvSpPr>
          <p:nvPr>
            <p:ph type="body" idx="1"/>
          </p:nvPr>
        </p:nvSpPr>
        <p:spPr>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The most fundamental type of machine instruction is the data transfer instruction. The data transfer instruction must specify several things. First, the location of the source and destination operands must be specified. Each location could be memory, a register, or the top of the stack. Second, the length of data to be transferred must be indicated. Third, as with all instructions with operands, the mode of addressing for each operand must be specified. This latter point is discussed in Chapter 14. </a:t>
            </a:r>
            <a:endParaRPr lang="en-US" dirty="0"/>
          </a:p>
          <a:p>
            <a:endParaRPr lang="en-GB"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77500" lnSpcReduction="20000"/>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The choice of data transfer instructions to include in an instruction set exemplifies the kinds of trade-offs the designer must make. For example, the general location (memory or register) of an operand can be indicated in either the specification of the opcode or the operand. Table 13.5 shows examples of the most common IBM EAS/390 data transfer instructions. Note that there are variants to indicate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the amount of data to be transferred (8, 16, 32, or 64 bits). Also, there are different instructions for register to register, register to memory, memory to register, and memory to memory transfers. In contrast, the VAX has a move (MOV) instruction with variants for different amounts of data to be moved, but it specifies whether an operand is register or memory as part of the operand. The VAX approach is some- what easier for the programmer, who has fewer mnemonics to deal with. However, it is also somewhat less compact than the IBM EAS/390 approach because the location (register versus memory) of each operand must be specified separately in the instruction.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In terms of processor action, data transfer operations are perhaps the simplest</a:t>
            </a:r>
          </a:p>
          <a:p>
            <a:r>
              <a:rPr lang="en-US" sz="1200" b="0" i="0" u="none" strike="noStrike" kern="1200" baseline="0" dirty="0">
                <a:solidFill>
                  <a:schemeClr val="tx1"/>
                </a:solidFill>
                <a:latin typeface="Times New Roman" pitchFamily="-1" charset="0"/>
                <a:ea typeface="+mn-ea"/>
                <a:cs typeface="+mn-cs"/>
              </a:rPr>
              <a:t>type. If both source and destination are registers, then the processor simply causes</a:t>
            </a:r>
          </a:p>
          <a:p>
            <a:r>
              <a:rPr lang="en-US" sz="1200" b="0" i="0" u="none" strike="noStrike" kern="1200" baseline="0" dirty="0">
                <a:solidFill>
                  <a:schemeClr val="tx1"/>
                </a:solidFill>
                <a:latin typeface="Times New Roman" pitchFamily="-1" charset="0"/>
                <a:ea typeface="+mn-ea"/>
                <a:cs typeface="+mn-cs"/>
              </a:rPr>
              <a:t>data to be transferred from one register to another; this is an operation internal to</a:t>
            </a:r>
          </a:p>
          <a:p>
            <a:r>
              <a:rPr lang="en-US" sz="1200" b="0" i="0" u="none" strike="noStrike" kern="1200" baseline="0" dirty="0">
                <a:solidFill>
                  <a:schemeClr val="tx1"/>
                </a:solidFill>
                <a:latin typeface="Times New Roman" pitchFamily="-1" charset="0"/>
                <a:ea typeface="+mn-ea"/>
                <a:cs typeface="+mn-cs"/>
              </a:rPr>
              <a:t>the processor. If one or both operands are in memory, then the processor must perform</a:t>
            </a:r>
          </a:p>
          <a:p>
            <a:r>
              <a:rPr lang="en-US" sz="1200" b="0" i="0" u="none" strike="noStrike" kern="1200" baseline="0" dirty="0">
                <a:solidFill>
                  <a:schemeClr val="tx1"/>
                </a:solidFill>
                <a:latin typeface="Times New Roman" pitchFamily="-1" charset="0"/>
                <a:ea typeface="+mn-ea"/>
                <a:cs typeface="+mn-cs"/>
              </a:rPr>
              <a:t>some or all of the following actions:</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1.  Calculate the memory address, based on the address mode (discussed in</a:t>
            </a:r>
          </a:p>
          <a:p>
            <a:r>
              <a:rPr lang="en-US" sz="1200" b="0" i="0" u="none" strike="noStrike" kern="1200" baseline="0" dirty="0">
                <a:solidFill>
                  <a:schemeClr val="tx1"/>
                </a:solidFill>
                <a:latin typeface="Times New Roman" pitchFamily="-1" charset="0"/>
                <a:ea typeface="+mn-ea"/>
                <a:cs typeface="+mn-cs"/>
              </a:rPr>
              <a:t>Chapter 14).</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2.  If the address refers to virtual memory, translate from virtual to real memory</a:t>
            </a:r>
          </a:p>
          <a:p>
            <a:r>
              <a:rPr lang="en-US" sz="1200" b="0" i="0" u="none" strike="noStrike" kern="1200" baseline="0" dirty="0">
                <a:solidFill>
                  <a:schemeClr val="tx1"/>
                </a:solidFill>
                <a:latin typeface="Times New Roman" pitchFamily="-1" charset="0"/>
                <a:ea typeface="+mn-ea"/>
                <a:cs typeface="+mn-cs"/>
              </a:rPr>
              <a:t>address.</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3.  Determine whether the addressed item is in cache.</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4.  If not, issue a command to the memory module.</a:t>
            </a:r>
            <a:endParaRPr lang="en-US" dirty="0"/>
          </a:p>
          <a:p>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4035"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20</a:t>
            </a:r>
          </a:p>
        </p:txBody>
      </p:sp>
      <p:sp>
        <p:nvSpPr>
          <p:cNvPr id="44036"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4037"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4038" name="Rectangle 6"/>
          <p:cNvSpPr>
            <a:spLocks noGrp="1" noRot="1" noChangeAspect="1" noChangeArrowheads="1" noTextEdit="1"/>
          </p:cNvSpPr>
          <p:nvPr>
            <p:ph type="sldImg"/>
          </p:nvPr>
        </p:nvSpPr>
        <p:spPr>
          <a:xfrm>
            <a:off x="1150938" y="692150"/>
            <a:ext cx="4556125" cy="3416300"/>
          </a:xfrm>
          <a:ln cap="flat"/>
        </p:spPr>
      </p:sp>
      <p:sp>
        <p:nvSpPr>
          <p:cNvPr id="44039"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Most machines provide the basic arithmetic operations of add, subtract, multiply, and divide. These are invariably provided for signed integer (fixed-point) numbers. Often they are also provided for floating-point and packed decimal numbers.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Other possible operations include a variety of single-operand instructions; for example,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a:t>
            </a:r>
            <a:r>
              <a:rPr lang="en-US" sz="1200" b="1" kern="1200" dirty="0">
                <a:solidFill>
                  <a:schemeClr val="tx1"/>
                </a:solidFill>
                <a:latin typeface="Times New Roman" pitchFamily="-1" charset="0"/>
                <a:ea typeface="+mn-ea"/>
                <a:cs typeface="+mn-cs"/>
              </a:rPr>
              <a:t>Absolute: </a:t>
            </a:r>
            <a:r>
              <a:rPr lang="en-US" sz="1200" kern="1200" dirty="0">
                <a:solidFill>
                  <a:schemeClr val="tx1"/>
                </a:solidFill>
                <a:latin typeface="Times New Roman" pitchFamily="-1" charset="0"/>
                <a:ea typeface="+mn-ea"/>
                <a:cs typeface="+mn-cs"/>
              </a:rPr>
              <a:t>Take the absolute value of the operand.</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a:t>
            </a:r>
            <a:r>
              <a:rPr lang="en-US" sz="1200" b="1" kern="1200" dirty="0">
                <a:solidFill>
                  <a:schemeClr val="tx1"/>
                </a:solidFill>
                <a:latin typeface="Times New Roman" pitchFamily="-1" charset="0"/>
                <a:ea typeface="+mn-ea"/>
                <a:cs typeface="+mn-cs"/>
              </a:rPr>
              <a:t>Negate: </a:t>
            </a:r>
            <a:r>
              <a:rPr lang="en-US" sz="1200" kern="1200" dirty="0">
                <a:solidFill>
                  <a:schemeClr val="tx1"/>
                </a:solidFill>
                <a:latin typeface="Times New Roman" pitchFamily="-1" charset="0"/>
                <a:ea typeface="+mn-ea"/>
                <a:cs typeface="+mn-cs"/>
              </a:rPr>
              <a:t>Negate the operand.</a:t>
            </a:r>
            <a:br>
              <a:rPr lang="en-US" sz="1200" kern="1200" dirty="0">
                <a:solidFill>
                  <a:schemeClr val="tx1"/>
                </a:solidFill>
                <a:latin typeface="Times New Roman" pitchFamily="-1" charset="0"/>
                <a:ea typeface="+mn-ea"/>
                <a:cs typeface="+mn-cs"/>
              </a:rPr>
            </a:br>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a:t>
            </a:r>
            <a:r>
              <a:rPr lang="en-US" sz="1200" b="1" kern="1200" dirty="0">
                <a:solidFill>
                  <a:schemeClr val="tx1"/>
                </a:solidFill>
                <a:latin typeface="Times New Roman" pitchFamily="-1" charset="0"/>
                <a:ea typeface="+mn-ea"/>
                <a:cs typeface="+mn-cs"/>
              </a:rPr>
              <a:t>Increment: </a:t>
            </a:r>
            <a:r>
              <a:rPr lang="en-US" sz="1200" kern="1200" dirty="0">
                <a:solidFill>
                  <a:schemeClr val="tx1"/>
                </a:solidFill>
                <a:latin typeface="Times New Roman" pitchFamily="-1" charset="0"/>
                <a:ea typeface="+mn-ea"/>
                <a:cs typeface="+mn-cs"/>
              </a:rPr>
              <a:t>Add 1 to the operand.</a:t>
            </a:r>
            <a:br>
              <a:rPr lang="en-US" sz="1200" kern="1200" dirty="0">
                <a:solidFill>
                  <a:schemeClr val="tx1"/>
                </a:solidFill>
                <a:latin typeface="Times New Roman" pitchFamily="-1" charset="0"/>
                <a:ea typeface="+mn-ea"/>
                <a:cs typeface="+mn-cs"/>
              </a:rPr>
            </a:br>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a:t>
            </a:r>
            <a:r>
              <a:rPr lang="en-US" sz="1200" b="1" kern="1200" dirty="0">
                <a:solidFill>
                  <a:schemeClr val="tx1"/>
                </a:solidFill>
                <a:latin typeface="Times New Roman" pitchFamily="-1" charset="0"/>
                <a:ea typeface="+mn-ea"/>
                <a:cs typeface="+mn-cs"/>
              </a:rPr>
              <a:t>Decrement: </a:t>
            </a:r>
            <a:r>
              <a:rPr lang="en-US" sz="1200" kern="1200" dirty="0">
                <a:solidFill>
                  <a:schemeClr val="tx1"/>
                </a:solidFill>
                <a:latin typeface="Times New Roman" pitchFamily="-1" charset="0"/>
                <a:ea typeface="+mn-ea"/>
                <a:cs typeface="+mn-cs"/>
              </a:rPr>
              <a:t>Subtract 1 from the operand.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execution of an arithmetic instruction may involve data transfer operations to position operands for input to the ALU, and to deliver the output of the ALU. Figure 3.5 illustrates the movements involved in both data transfer and arithmetic operations. In addition, of course, the ALU portion of the processor performs the desired operation. </a:t>
            </a:r>
            <a:endParaRPr lang="en-US" dirty="0"/>
          </a:p>
          <a:p>
            <a:endParaRPr lang="en-GB"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6083"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21</a:t>
            </a:r>
          </a:p>
        </p:txBody>
      </p:sp>
      <p:sp>
        <p:nvSpPr>
          <p:cNvPr id="46084"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6085"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6086" name="Rectangle 6"/>
          <p:cNvSpPr>
            <a:spLocks noGrp="1" noRot="1" noChangeAspect="1" noChangeArrowheads="1" noTextEdit="1"/>
          </p:cNvSpPr>
          <p:nvPr>
            <p:ph type="sldImg"/>
          </p:nvPr>
        </p:nvSpPr>
        <p:spPr>
          <a:xfrm>
            <a:off x="1150938" y="692150"/>
            <a:ext cx="4556125" cy="3416300"/>
          </a:xfrm>
          <a:ln cap="flat"/>
        </p:spPr>
      </p:sp>
      <p:sp>
        <p:nvSpPr>
          <p:cNvPr id="46087"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Most machines also provide a variety of operations for manipulating individual bits of a word or other addressable units, often referred to as “bit twiddling.” They are based upon Boolean operations (see Chapter 12).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Some of the basic logical operations that can be performed on Boolean or binary data are shown in Table 13.6. The NOT operation inverts a bit. AND, OR, and Exclusive-OR (XOR) are the most common logical functions with two operands. EQUAL is a useful binary test. </a:t>
            </a:r>
            <a:endParaRPr lang="en-US" dirty="0"/>
          </a:p>
          <a:p>
            <a:endParaRPr lang="en-GB"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77500" lnSpcReduction="20000"/>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In addition to bitwise logical operations, most machines provide a variety of shifting and rotating </a:t>
            </a:r>
            <a:r>
              <a:rPr lang="en-US" sz="1200" b="0" kern="1200" dirty="0">
                <a:solidFill>
                  <a:schemeClr val="tx1"/>
                </a:solidFill>
                <a:latin typeface="Times New Roman" pitchFamily="-1" charset="0"/>
                <a:ea typeface="+mn-ea"/>
                <a:cs typeface="+mn-cs"/>
              </a:rPr>
              <a:t>functions </a:t>
            </a:r>
            <a:r>
              <a:rPr lang="nb-NO" sz="1200" b="0" kern="1200" dirty="0">
                <a:solidFill>
                  <a:schemeClr val="tx1"/>
                </a:solidFill>
                <a:effectLst/>
                <a:latin typeface="Times New Roman" pitchFamily="-1" charset="0"/>
                <a:ea typeface="+mn-ea"/>
                <a:cs typeface="+mn-cs"/>
              </a:rPr>
              <a:t>(e.g., </a:t>
            </a:r>
            <a:r>
              <a:rPr lang="nb-NO" sz="1200" b="0" kern="1200" dirty="0" err="1">
                <a:solidFill>
                  <a:schemeClr val="tx1"/>
                </a:solidFill>
                <a:effectLst/>
                <a:latin typeface="Times New Roman" pitchFamily="-1" charset="0"/>
                <a:ea typeface="+mn-ea"/>
                <a:cs typeface="+mn-cs"/>
              </a:rPr>
              <a:t>Table</a:t>
            </a:r>
            <a:r>
              <a:rPr lang="nb-NO" sz="1200" b="0" kern="1200" dirty="0">
                <a:solidFill>
                  <a:schemeClr val="tx1"/>
                </a:solidFill>
                <a:effectLst/>
                <a:latin typeface="Times New Roman" pitchFamily="-1" charset="0"/>
                <a:ea typeface="+mn-ea"/>
                <a:cs typeface="+mn-cs"/>
              </a:rPr>
              <a:t> 13.3c)</a:t>
            </a:r>
            <a:r>
              <a:rPr lang="en-US" sz="1200" kern="1200" dirty="0">
                <a:solidFill>
                  <a:schemeClr val="tx1"/>
                </a:solidFill>
                <a:latin typeface="Times New Roman" pitchFamily="-1" charset="0"/>
                <a:ea typeface="+mn-ea"/>
                <a:cs typeface="+mn-cs"/>
              </a:rPr>
              <a:t>. The most basic operations are illustrated in Figure 13.6. With a </a:t>
            </a:r>
            <a:r>
              <a:rPr lang="en-US" sz="1200" b="1" kern="1200" dirty="0">
                <a:solidFill>
                  <a:schemeClr val="tx1"/>
                </a:solidFill>
                <a:latin typeface="Times New Roman" pitchFamily="-1" charset="0"/>
                <a:ea typeface="+mn-ea"/>
                <a:cs typeface="+mn-cs"/>
              </a:rPr>
              <a:t>logical shift, </a:t>
            </a:r>
            <a:r>
              <a:rPr lang="en-US" sz="1200" kern="1200" dirty="0">
                <a:solidFill>
                  <a:schemeClr val="tx1"/>
                </a:solidFill>
                <a:latin typeface="Times New Roman" pitchFamily="-1" charset="0"/>
                <a:ea typeface="+mn-ea"/>
                <a:cs typeface="+mn-cs"/>
              </a:rPr>
              <a:t>the bits of a word are shifted left or right. On one end, the bit shifted out is lost. On the other end, a 0 is shifted in. Logical shifts are useful primarily for isolating fields within a word. The 0s that are shifted into a word displace unwanted information that is shifted off the other end.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As an example, suppose we wish to transmit characters of data to an I/O</a:t>
            </a:r>
          </a:p>
          <a:p>
            <a:r>
              <a:rPr lang="en-US" sz="1200" b="0" i="0" u="none" strike="noStrike" kern="1200" baseline="0" dirty="0">
                <a:solidFill>
                  <a:schemeClr val="tx1"/>
                </a:solidFill>
                <a:latin typeface="Times New Roman" pitchFamily="-1" charset="0"/>
                <a:ea typeface="+mn-ea"/>
                <a:cs typeface="+mn-cs"/>
              </a:rPr>
              <a:t>device 1 character at a time. If each memory word is 16 bits in length and contains</a:t>
            </a:r>
          </a:p>
          <a:p>
            <a:r>
              <a:rPr lang="en-US" sz="1200" b="0" i="0" u="none" strike="noStrike" kern="1200" baseline="0" dirty="0">
                <a:solidFill>
                  <a:schemeClr val="tx1"/>
                </a:solidFill>
                <a:latin typeface="Times New Roman" pitchFamily="-1" charset="0"/>
                <a:ea typeface="+mn-ea"/>
                <a:cs typeface="+mn-cs"/>
              </a:rPr>
              <a:t>two characters, we must </a:t>
            </a:r>
            <a:r>
              <a:rPr lang="en-US" sz="1200" b="0" i="1" u="none" strike="noStrike" kern="1200" baseline="0" dirty="0">
                <a:solidFill>
                  <a:schemeClr val="tx1"/>
                </a:solidFill>
                <a:latin typeface="Times New Roman" pitchFamily="-1" charset="0"/>
                <a:ea typeface="+mn-ea"/>
                <a:cs typeface="+mn-cs"/>
              </a:rPr>
              <a:t>unpack </a:t>
            </a:r>
            <a:r>
              <a:rPr lang="en-US" sz="1200" b="0" i="0" u="none" strike="noStrike" kern="1200" baseline="0" dirty="0">
                <a:solidFill>
                  <a:schemeClr val="tx1"/>
                </a:solidFill>
                <a:latin typeface="Times New Roman" pitchFamily="-1" charset="0"/>
                <a:ea typeface="+mn-ea"/>
                <a:cs typeface="+mn-cs"/>
              </a:rPr>
              <a:t> the characters before they can be sent. To send the</a:t>
            </a:r>
          </a:p>
          <a:p>
            <a:r>
              <a:rPr lang="en-US" sz="1200" b="0" i="0" u="none" strike="noStrike" kern="1200" baseline="0" dirty="0">
                <a:solidFill>
                  <a:schemeClr val="tx1"/>
                </a:solidFill>
                <a:latin typeface="Times New Roman" pitchFamily="-1" charset="0"/>
                <a:ea typeface="+mn-ea"/>
                <a:cs typeface="+mn-cs"/>
              </a:rPr>
              <a:t>two characters in a word;</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1.  Load the word into a register.</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2.  Shift to the right eight times. This shifts the remaining character to the right</a:t>
            </a:r>
          </a:p>
          <a:p>
            <a:r>
              <a:rPr lang="en-US" sz="1200" b="0" i="0" u="none" strike="noStrike" kern="1200" baseline="0" dirty="0">
                <a:solidFill>
                  <a:schemeClr val="tx1"/>
                </a:solidFill>
                <a:latin typeface="Times New Roman" pitchFamily="-1" charset="0"/>
                <a:ea typeface="+mn-ea"/>
                <a:cs typeface="+mn-cs"/>
              </a:rPr>
              <a:t>half of the register.</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3.  Perform I/O. The I/O module reads the lower-order 8 bits from the data bus.</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The preceding steps result in sending the left-hand character. To send the right-hand character;</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1.  Load the word again into the register.</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2.  AND with 0000000011111111. This masks out the character on the left.</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3.  Perform I/O.</a:t>
            </a:r>
            <a:endParaRPr lang="en-US" dirty="0"/>
          </a:p>
          <a:p>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lnSpcReduction="10000"/>
          </a:bodyPr>
          <a:lstStyle/>
          <a:p>
            <a:r>
              <a:rPr lang="en-US" sz="1200" kern="1200" dirty="0">
                <a:solidFill>
                  <a:schemeClr val="tx1"/>
                </a:solidFill>
                <a:latin typeface="Times New Roman" pitchFamily="-1" charset="0"/>
                <a:ea typeface="+mn-ea"/>
                <a:cs typeface="+mn-cs"/>
              </a:rPr>
              <a:t>The </a:t>
            </a:r>
            <a:r>
              <a:rPr lang="en-US" sz="1200" b="1" kern="1200" dirty="0">
                <a:solidFill>
                  <a:schemeClr val="tx1"/>
                </a:solidFill>
                <a:latin typeface="Times New Roman" pitchFamily="-1" charset="0"/>
                <a:ea typeface="+mn-ea"/>
                <a:cs typeface="+mn-cs"/>
              </a:rPr>
              <a:t>arithmetic shift </a:t>
            </a:r>
            <a:r>
              <a:rPr lang="en-US" sz="1200" kern="1200" dirty="0">
                <a:solidFill>
                  <a:schemeClr val="tx1"/>
                </a:solidFill>
                <a:latin typeface="Times New Roman" pitchFamily="-1" charset="0"/>
                <a:ea typeface="+mn-ea"/>
                <a:cs typeface="+mn-cs"/>
              </a:rPr>
              <a:t>operation treats the data as a signed integer and does </a:t>
            </a:r>
            <a:endParaRPr lang="en-US" dirty="0"/>
          </a:p>
          <a:p>
            <a:r>
              <a:rPr lang="en-US" sz="1200" kern="1200" dirty="0">
                <a:solidFill>
                  <a:schemeClr val="tx1"/>
                </a:solidFill>
                <a:latin typeface="Times New Roman" pitchFamily="-1" charset="0"/>
                <a:ea typeface="+mn-ea"/>
                <a:cs typeface="+mn-cs"/>
              </a:rPr>
              <a:t>not shift the sign bit. On a right arithmetic shift, the sign bit is replicated into the bit position to its right. On a left arithmetic shift, a logical left shift is performed on all bits but the sign bit, which is retained. These operations can speed up certain arithmetic operations. With numbers in twos complement notation, a right arithmetic shift corresponds to a division by 2, with truncation for odd numbers. Both an arithmetic left shift and a logical left shift correspond to a multiplication by 2 when there is no overflow. If overflow occurs, arithmetic and logical left shift operations produce different results, but the arithmetic left shift retains the sign of the number. Because of the potential for overflow, many processors do not include this instruction, including PowerPC and Itanium. Others, such as the IBM EAS/390, do offer the instruction. Curiously, the x86 architecture includes an arithmetic left shift but defines it to be identical to a logical left shift. </a:t>
            </a:r>
            <a:endParaRPr lang="en-US" dirty="0"/>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Rotate, </a:t>
            </a:r>
            <a:r>
              <a:rPr lang="en-US" sz="1200" kern="1200" dirty="0">
                <a:solidFill>
                  <a:schemeClr val="tx1"/>
                </a:solidFill>
                <a:latin typeface="Times New Roman" pitchFamily="-1" charset="0"/>
                <a:ea typeface="+mn-ea"/>
                <a:cs typeface="+mn-cs"/>
              </a:rPr>
              <a:t>or cyclic shift, operations preserve all of the bits being operated on. One use of a rotate is to bring each bit successively into the leftmost bit, where it can be identified by testing the sign of the data (treated as a number).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As with arithmetic operations, logical operations involve ALU activity and may involve data transfer operations. Table 13.7 gives examples of all of the shift and rotate operations discussed in this subsection. </a:t>
            </a:r>
            <a:endParaRPr lang="en-US" dirty="0"/>
          </a:p>
          <a:p>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8131"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22</a:t>
            </a:r>
          </a:p>
        </p:txBody>
      </p:sp>
      <p:sp>
        <p:nvSpPr>
          <p:cNvPr id="48132"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8133"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8134" name="Rectangle 6"/>
          <p:cNvSpPr>
            <a:spLocks noGrp="1" noRot="1" noChangeAspect="1" noChangeArrowheads="1" noTextEdit="1"/>
          </p:cNvSpPr>
          <p:nvPr>
            <p:ph type="sldImg"/>
          </p:nvPr>
        </p:nvSpPr>
        <p:spPr>
          <a:xfrm>
            <a:off x="1150938" y="692150"/>
            <a:ext cx="4556125" cy="3416300"/>
          </a:xfrm>
          <a:ln cap="flat"/>
        </p:spPr>
      </p:sp>
      <p:sp>
        <p:nvSpPr>
          <p:cNvPr id="48135"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Conversion instructions are those that change the format or operate on the format of data. An example is converting from decimal to binary. An example of a more complex editing instruction is the EAS/390 Translate (TR) instruction. This instruction can be used to convert from one 8-bit code to another, and it takes three operands: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TR R1 (L), R2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operand R2 contains the address of the start of a table of 8-bit codes. The L bytes starting at the address specified in R1 are translated, each byte being replaced by the contents of a table entry indexed by that byte. For example, to translate from EBCDIC to IRA, we first create a 256-byte table in storage locations, say, 1000-10FF hexadecimal. The table contains the characters of the IRA code in the sequence of the binary representation of the EBCDIC code; that is, the IRA code is placed in the table at the relative location equal to the binary value of the EBCDIC code of the same character. Thus, locations 10F0 through 10F9 will contain the values 30 through 39, because F0 is the EBCDIC code for the digit 0, and 30 is the IRA code for the digit 0, and so on through digit 9. Now suppose we have the EBCDIC for the digits 1984 starting at location 2100 and we wish to trans- late to IRA. Assume the following: </a:t>
            </a:r>
          </a:p>
          <a:p>
            <a:endParaRPr lang="en-US" dirty="0"/>
          </a:p>
          <a:p>
            <a:r>
              <a:rPr lang="en-US" sz="1200" kern="1200" dirty="0">
                <a:solidFill>
                  <a:schemeClr val="tx1"/>
                </a:solidFill>
                <a:latin typeface="Times New Roman" pitchFamily="-1" charset="0"/>
                <a:ea typeface="+mn-ea"/>
                <a:cs typeface="+mn-cs"/>
              </a:rPr>
              <a:t>• Locations 2100–2103 contain F1 F9 F8 F4.</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R1 contains 2100.</a:t>
            </a:r>
            <a:br>
              <a:rPr lang="en-US" sz="1200" kern="1200" dirty="0">
                <a:solidFill>
                  <a:schemeClr val="tx1"/>
                </a:solidFill>
                <a:latin typeface="Times New Roman" pitchFamily="-1" charset="0"/>
                <a:ea typeface="+mn-ea"/>
                <a:cs typeface="+mn-cs"/>
              </a:rPr>
            </a:br>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R2 contains 1000.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Then, if we execute</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TR R1 (4),  R2</a:t>
            </a:r>
            <a:br>
              <a:rPr lang="en-US" sz="1200" kern="1200" dirty="0">
                <a:solidFill>
                  <a:schemeClr val="tx1"/>
                </a:solidFill>
                <a:latin typeface="Times New Roman" pitchFamily="-1" charset="0"/>
                <a:ea typeface="+mn-ea"/>
                <a:cs typeface="+mn-cs"/>
              </a:rPr>
            </a:br>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locations 2100–2103 will contain 31 39 38 34. </a:t>
            </a:r>
            <a:endParaRPr lang="en-US" dirty="0"/>
          </a:p>
          <a:p>
            <a:endParaRPr lang="en-GB"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0179"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23</a:t>
            </a:r>
          </a:p>
        </p:txBody>
      </p:sp>
      <p:sp>
        <p:nvSpPr>
          <p:cNvPr id="50180"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0181"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0182" name="Rectangle 6"/>
          <p:cNvSpPr>
            <a:spLocks noGrp="1" noRot="1" noChangeAspect="1" noChangeArrowheads="1" noTextEdit="1"/>
          </p:cNvSpPr>
          <p:nvPr>
            <p:ph type="sldImg"/>
          </p:nvPr>
        </p:nvSpPr>
        <p:spPr>
          <a:xfrm>
            <a:off x="1150938" y="692150"/>
            <a:ext cx="4556125" cy="3416300"/>
          </a:xfrm>
          <a:ln cap="flat"/>
        </p:spPr>
      </p:sp>
      <p:sp>
        <p:nvSpPr>
          <p:cNvPr id="50183" name="Rectangle 7"/>
          <p:cNvSpPr>
            <a:spLocks noGrp="1" noChangeArrowheads="1"/>
          </p:cNvSpPr>
          <p:nvPr>
            <p:ph type="body" idx="1"/>
          </p:nvPr>
        </p:nvSpPr>
        <p:spPr>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Input/output instructions were discussed in some detail in Chapter 8. As we saw, there are a variety of approaches taken, including isolated programmed I/O, memory-mapped programmed I/O, DMA, and the use of an I/O processor. Many implementations provide only a few I/O instructions, with the specific actions specified by parameters, codes, or command words. </a:t>
            </a:r>
            <a:endParaRPr lang="en-US" dirty="0"/>
          </a:p>
          <a:p>
            <a:endParaRPr lang="en-GB"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2227"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24</a:t>
            </a:r>
          </a:p>
        </p:txBody>
      </p:sp>
      <p:sp>
        <p:nvSpPr>
          <p:cNvPr id="52228"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2229"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2230" name="Rectangle 6"/>
          <p:cNvSpPr>
            <a:spLocks noGrp="1" noRot="1" noChangeAspect="1" noChangeArrowheads="1" noTextEdit="1"/>
          </p:cNvSpPr>
          <p:nvPr>
            <p:ph type="sldImg"/>
          </p:nvPr>
        </p:nvSpPr>
        <p:spPr>
          <a:xfrm>
            <a:off x="1150938" y="692150"/>
            <a:ext cx="4556125" cy="3416300"/>
          </a:xfrm>
          <a:ln cap="flat"/>
        </p:spPr>
      </p:sp>
      <p:sp>
        <p:nvSpPr>
          <p:cNvPr id="52231"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System control instructions are those that can be executed only while the processor is in a certain privileged state or is executing a program in a special privileged area of memory. Typically, these instructions are reserved for the use of the operating system.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Some examples of system control operations are as follows. A system control instruction may read or alter a control register; we discuss control registers in Chapter 16. Another example is an instruction to read or modify a storage protection key, such as is used in the EAS/390 memory system. Another example is access to process control blocks in a multiprogramming system. </a:t>
            </a:r>
            <a:endParaRPr lang="en-US" dirty="0"/>
          </a:p>
          <a:p>
            <a:endParaRPr lang="en-GB"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4275"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25</a:t>
            </a:r>
          </a:p>
        </p:txBody>
      </p:sp>
      <p:sp>
        <p:nvSpPr>
          <p:cNvPr id="54276"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4277"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4278" name="Rectangle 6"/>
          <p:cNvSpPr>
            <a:spLocks noGrp="1" noRot="1" noChangeAspect="1" noChangeArrowheads="1" noTextEdit="1"/>
          </p:cNvSpPr>
          <p:nvPr>
            <p:ph type="sldImg"/>
          </p:nvPr>
        </p:nvSpPr>
        <p:spPr>
          <a:xfrm>
            <a:off x="1150938" y="692150"/>
            <a:ext cx="4556125" cy="3416300"/>
          </a:xfrm>
          <a:ln cap="flat"/>
        </p:spPr>
      </p:sp>
      <p:sp>
        <p:nvSpPr>
          <p:cNvPr id="54279"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For all of the operation types discussed so far, the next instruction to be performed is the one that immediately follows, in memory, the current instruction. However, a significant fraction of the instructions in any program have as their function changing the sequence of instruction execution. For these instructions, the operation per- formed by the processor is to update the program counter to contain the address of some instruction in memory.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There are a number of reasons why transfer-of-control operations are required. Among the most important are the following: </a:t>
            </a:r>
            <a:endParaRPr lang="en-US" dirty="0"/>
          </a:p>
          <a:p>
            <a:endParaRPr lang="en-US" sz="1200" b="1" kern="1200" dirty="0">
              <a:solidFill>
                <a:schemeClr val="tx1"/>
              </a:solidFill>
              <a:latin typeface="Times New Roman" pitchFamily="-1" charset="0"/>
              <a:ea typeface="+mn-ea"/>
              <a:cs typeface="+mn-cs"/>
            </a:endParaRPr>
          </a:p>
          <a:p>
            <a:r>
              <a:rPr lang="en-US" sz="1200" b="0" kern="1200" dirty="0">
                <a:solidFill>
                  <a:schemeClr val="tx1"/>
                </a:solidFill>
                <a:latin typeface="Times New Roman" pitchFamily="-1" charset="0"/>
                <a:ea typeface="+mn-ea"/>
                <a:cs typeface="+mn-cs"/>
              </a:rPr>
              <a:t>1. In the practical use of computers, it is essential to be able to execute each instruction more than once and perhaps many thousands of times. It may require thousands or perhaps millions of instructions to implement an application. This would be unthinkable if each instruction had to be written out separately. If a table or a list of items is to be processed, a program loop is needed. One sequence of instructions is executed repeatedly to process all the data. </a:t>
            </a:r>
          </a:p>
          <a:p>
            <a:endParaRPr lang="en-US" sz="1200" b="0" kern="1200" dirty="0">
              <a:solidFill>
                <a:schemeClr val="tx1"/>
              </a:solidFill>
              <a:latin typeface="Times New Roman" pitchFamily="-1" charset="0"/>
              <a:ea typeface="+mn-ea"/>
              <a:cs typeface="+mn-cs"/>
            </a:endParaRPr>
          </a:p>
          <a:p>
            <a:r>
              <a:rPr lang="en-US" sz="1200" b="0" kern="1200" dirty="0">
                <a:solidFill>
                  <a:schemeClr val="tx1"/>
                </a:solidFill>
                <a:latin typeface="Times New Roman" pitchFamily="-1" charset="0"/>
                <a:ea typeface="+mn-ea"/>
                <a:cs typeface="+mn-cs"/>
              </a:rPr>
              <a:t>2. Virtually all programs involve some decision making. We would like the computer to do one thing if one condition holds, and another thing if another condition holds. For example, a sequence of instructions computes the square root of a number. At the start of the sequence, the sign of the number is tested. If the number is negative, the computation is not performed, but an error condition is reported. </a:t>
            </a:r>
          </a:p>
          <a:p>
            <a:endParaRPr lang="en-US" sz="1200" b="0" kern="1200" dirty="0">
              <a:solidFill>
                <a:schemeClr val="tx1"/>
              </a:solidFill>
              <a:latin typeface="Times New Roman" pitchFamily="-1" charset="0"/>
              <a:ea typeface="+mn-ea"/>
              <a:cs typeface="+mn-cs"/>
            </a:endParaRPr>
          </a:p>
          <a:p>
            <a:r>
              <a:rPr lang="en-US" sz="1200" b="0" kern="1200" dirty="0">
                <a:solidFill>
                  <a:schemeClr val="tx1"/>
                </a:solidFill>
                <a:latin typeface="Times New Roman" pitchFamily="-1" charset="0"/>
                <a:ea typeface="+mn-ea"/>
                <a:cs typeface="+mn-cs"/>
              </a:rPr>
              <a:t>3. To compose correctly a large or even medium-size computer program is an exceedingly difficult task. It helps if there are mechanisms for breaking the task up into smaller pieces that can be worked on one at a time. </a:t>
            </a:r>
          </a:p>
          <a:p>
            <a:endParaRPr lang="en-US" sz="1200" b="0" kern="1200" dirty="0">
              <a:solidFill>
                <a:schemeClr val="tx1"/>
              </a:solidFill>
              <a:latin typeface="Times New Roman" pitchFamily="-1" charset="0"/>
              <a:ea typeface="+mn-ea"/>
              <a:cs typeface="+mn-cs"/>
            </a:endParaRPr>
          </a:p>
          <a:p>
            <a:r>
              <a:rPr lang="en-US" sz="1200" kern="1200" dirty="0">
                <a:solidFill>
                  <a:schemeClr val="tx1"/>
                </a:solidFill>
                <a:effectLst/>
                <a:latin typeface="Times New Roman" pitchFamily="-1" charset="0"/>
                <a:ea typeface="+mn-ea"/>
                <a:cs typeface="+mn-cs"/>
              </a:rPr>
              <a:t>We now turn to a discussion of the most common transfer-of-control operations</a:t>
            </a:r>
          </a:p>
          <a:p>
            <a:r>
              <a:rPr lang="en-US" sz="1200" kern="1200" dirty="0">
                <a:solidFill>
                  <a:schemeClr val="tx1"/>
                </a:solidFill>
                <a:effectLst/>
                <a:latin typeface="Times New Roman" pitchFamily="-1" charset="0"/>
                <a:ea typeface="+mn-ea"/>
                <a:cs typeface="+mn-cs"/>
              </a:rPr>
              <a:t>found in instruction sets: </a:t>
            </a:r>
            <a:r>
              <a:rPr lang="en-US" sz="1200" b="1" kern="1200" dirty="0">
                <a:solidFill>
                  <a:schemeClr val="tx1"/>
                </a:solidFill>
                <a:effectLst/>
                <a:latin typeface="Times New Roman" pitchFamily="-1" charset="0"/>
                <a:ea typeface="+mn-ea"/>
                <a:cs typeface="+mn-cs"/>
              </a:rPr>
              <a:t>branch, skip </a:t>
            </a:r>
            <a:r>
              <a:rPr lang="en-US" sz="1200" kern="1200" dirty="0">
                <a:solidFill>
                  <a:schemeClr val="tx1"/>
                </a:solidFill>
                <a:effectLst/>
                <a:latin typeface="Times New Roman" pitchFamily="-1" charset="0"/>
                <a:ea typeface="+mn-ea"/>
                <a:cs typeface="+mn-cs"/>
              </a:rPr>
              <a:t>, and </a:t>
            </a:r>
            <a:r>
              <a:rPr lang="en-US" sz="1200" b="1" kern="1200" dirty="0">
                <a:solidFill>
                  <a:schemeClr val="tx1"/>
                </a:solidFill>
                <a:effectLst/>
                <a:latin typeface="Times New Roman" pitchFamily="-1" charset="0"/>
                <a:ea typeface="+mn-ea"/>
                <a:cs typeface="+mn-cs"/>
              </a:rPr>
              <a:t>procedure call </a:t>
            </a:r>
            <a:r>
              <a:rPr lang="en-US" sz="1200" kern="1200" dirty="0">
                <a:solidFill>
                  <a:schemeClr val="tx1"/>
                </a:solidFill>
                <a:effectLst/>
                <a:latin typeface="Times New Roman" pitchFamily="-1" charset="0"/>
                <a:ea typeface="+mn-ea"/>
                <a:cs typeface="+mn-cs"/>
              </a:rPr>
              <a:t>.</a:t>
            </a:r>
          </a:p>
          <a:p>
            <a:endParaRPr lang="en-GB"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55000" lnSpcReduction="20000"/>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A branch instruction, also called a jump instruction, has as one of its operands the address of the next instruction to be executed. Most often, the instruction is a </a:t>
            </a:r>
            <a:r>
              <a:rPr lang="en-US" sz="1200" b="1" kern="1200" dirty="0">
                <a:solidFill>
                  <a:schemeClr val="tx1"/>
                </a:solidFill>
                <a:latin typeface="Times New Roman" pitchFamily="-1" charset="0"/>
                <a:ea typeface="+mn-ea"/>
                <a:cs typeface="+mn-cs"/>
              </a:rPr>
              <a:t>conditional branch </a:t>
            </a:r>
            <a:r>
              <a:rPr lang="en-US" sz="1200" kern="1200" dirty="0">
                <a:solidFill>
                  <a:schemeClr val="tx1"/>
                </a:solidFill>
                <a:latin typeface="Times New Roman" pitchFamily="-1" charset="0"/>
                <a:ea typeface="+mn-ea"/>
                <a:cs typeface="+mn-cs"/>
              </a:rPr>
              <a:t>instruction. That is, the branch is made (update program counter to equal address specified in operand) only if a certain condition is met. Otherwise, the next instruction in sequence is executed (increment program counter as usual). A branch instruction in which the branch is always taken is an </a:t>
            </a:r>
            <a:r>
              <a:rPr lang="en-US" sz="1200" b="1" kern="1200" dirty="0">
                <a:solidFill>
                  <a:schemeClr val="tx1"/>
                </a:solidFill>
                <a:latin typeface="Times New Roman" pitchFamily="-1" charset="0"/>
                <a:ea typeface="+mn-ea"/>
                <a:cs typeface="+mn-cs"/>
              </a:rPr>
              <a:t>unconditional branch.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b="1" kern="120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There are two common ways of generating the condition to be tested in a conditional</a:t>
            </a:r>
          </a:p>
          <a:p>
            <a:r>
              <a:rPr lang="en-US" sz="1200" b="0" i="0" u="none" strike="noStrike" kern="1200" baseline="0" dirty="0">
                <a:solidFill>
                  <a:schemeClr val="tx1"/>
                </a:solidFill>
                <a:latin typeface="Times New Roman" pitchFamily="-1" charset="0"/>
                <a:ea typeface="+mn-ea"/>
                <a:cs typeface="+mn-cs"/>
              </a:rPr>
              <a:t>branch instruction. First, most machines provide a 1-bit or multiple-bit condition</a:t>
            </a:r>
          </a:p>
          <a:p>
            <a:r>
              <a:rPr lang="en-US" sz="1200" b="0" i="0" u="none" strike="noStrike" kern="1200" baseline="0" dirty="0">
                <a:solidFill>
                  <a:schemeClr val="tx1"/>
                </a:solidFill>
                <a:latin typeface="Times New Roman" pitchFamily="-1" charset="0"/>
                <a:ea typeface="+mn-ea"/>
                <a:cs typeface="+mn-cs"/>
              </a:rPr>
              <a:t>code that is set as the result of some operations. This code can be thought</a:t>
            </a:r>
          </a:p>
          <a:p>
            <a:r>
              <a:rPr lang="en-US" sz="1200" b="0" i="0" u="none" strike="noStrike" kern="1200" baseline="0" dirty="0">
                <a:solidFill>
                  <a:schemeClr val="tx1"/>
                </a:solidFill>
                <a:latin typeface="Times New Roman" pitchFamily="-1" charset="0"/>
                <a:ea typeface="+mn-ea"/>
                <a:cs typeface="+mn-cs"/>
              </a:rPr>
              <a:t>of as a short user-visible register. As an example, an arithmetic operation (ADD,</a:t>
            </a:r>
          </a:p>
          <a:p>
            <a:r>
              <a:rPr lang="en-US" sz="1200" b="0" i="0" u="none" strike="noStrike" kern="1200" baseline="0" dirty="0">
                <a:solidFill>
                  <a:schemeClr val="tx1"/>
                </a:solidFill>
                <a:latin typeface="Times New Roman" pitchFamily="-1" charset="0"/>
                <a:ea typeface="+mn-ea"/>
                <a:cs typeface="+mn-cs"/>
              </a:rPr>
              <a:t>SUBTRACT, and so on) could set a 2-bit condition code with one of the following</a:t>
            </a:r>
          </a:p>
          <a:p>
            <a:r>
              <a:rPr lang="en-US" sz="1200" b="0" i="0" u="none" strike="noStrike" kern="1200" baseline="0" dirty="0">
                <a:solidFill>
                  <a:schemeClr val="tx1"/>
                </a:solidFill>
                <a:latin typeface="Times New Roman" pitchFamily="-1" charset="0"/>
                <a:ea typeface="+mn-ea"/>
                <a:cs typeface="+mn-cs"/>
              </a:rPr>
              <a:t>four values: 0, positive, negative, overflow. On such a machine, there could be four</a:t>
            </a:r>
          </a:p>
          <a:p>
            <a:r>
              <a:rPr lang="en-US" sz="1200" b="0" i="0" u="none" strike="noStrike" kern="1200" baseline="0" dirty="0">
                <a:solidFill>
                  <a:schemeClr val="tx1"/>
                </a:solidFill>
                <a:latin typeface="Times New Roman" pitchFamily="-1" charset="0"/>
                <a:ea typeface="+mn-ea"/>
                <a:cs typeface="+mn-cs"/>
              </a:rPr>
              <a:t>different conditional branch instructions:</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BRP X Branch to location X if result is positive.</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BRN X  Branch to location X if result is negative.</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BRZ X Branch to location X if result is zero.</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BRO X Branch to location X if overflow occurs.</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In all of these cases, the result referred to is the result of the most recent operation</a:t>
            </a:r>
          </a:p>
          <a:p>
            <a:r>
              <a:rPr lang="en-US" sz="1200" b="0" i="0" u="none" strike="noStrike" kern="1200" baseline="0" dirty="0">
                <a:solidFill>
                  <a:schemeClr val="tx1"/>
                </a:solidFill>
                <a:latin typeface="Times New Roman" pitchFamily="-1" charset="0"/>
                <a:ea typeface="+mn-ea"/>
                <a:cs typeface="+mn-cs"/>
              </a:rPr>
              <a:t>that set the condition code. </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Another approach that can be used with a three-</a:t>
            </a:r>
          </a:p>
          <a:p>
            <a:r>
              <a:rPr lang="en-US" sz="1200" b="0" i="0" u="none" strike="noStrike" kern="1200" baseline="0" dirty="0">
                <a:solidFill>
                  <a:schemeClr val="tx1"/>
                </a:solidFill>
                <a:latin typeface="Times New Roman" pitchFamily="-1" charset="0"/>
                <a:ea typeface="+mn-ea"/>
                <a:cs typeface="+mn-cs"/>
              </a:rPr>
              <a:t>address instruction format is to perform a comparison and specify a branch in the same instruction. For example,</a:t>
            </a:r>
          </a:p>
          <a:p>
            <a:r>
              <a:rPr lang="en-US" sz="1200" b="0" i="0" u="none" strike="noStrike" kern="1200" baseline="0" dirty="0">
                <a:solidFill>
                  <a:schemeClr val="tx1"/>
                </a:solidFill>
                <a:latin typeface="Times New Roman" pitchFamily="-1" charset="0"/>
                <a:ea typeface="+mn-ea"/>
                <a:cs typeface="+mn-cs"/>
              </a:rPr>
              <a:t>BRE R1, R2, X Branch to X if contents of R1 =  contents of R2.</a:t>
            </a:r>
            <a:endParaRPr lang="en-US" dirty="0"/>
          </a:p>
          <a:p>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Figure 13.7 shows examples of these operations. Note that a branch can be either </a:t>
            </a:r>
            <a:r>
              <a:rPr lang="en-US" sz="1200" i="1" kern="1200" dirty="0">
                <a:solidFill>
                  <a:schemeClr val="tx1"/>
                </a:solidFill>
                <a:latin typeface="Times New Roman" pitchFamily="-1" charset="0"/>
                <a:ea typeface="+mn-ea"/>
                <a:cs typeface="+mn-cs"/>
              </a:rPr>
              <a:t>forward </a:t>
            </a:r>
            <a:r>
              <a:rPr lang="en-US" sz="1200" kern="1200" dirty="0">
                <a:solidFill>
                  <a:schemeClr val="tx1"/>
                </a:solidFill>
                <a:latin typeface="Times New Roman" pitchFamily="-1" charset="0"/>
                <a:ea typeface="+mn-ea"/>
                <a:cs typeface="+mn-cs"/>
              </a:rPr>
              <a:t>(an instruction with a higher address) or </a:t>
            </a:r>
            <a:r>
              <a:rPr lang="en-US" sz="1200" i="1" kern="1200" dirty="0">
                <a:solidFill>
                  <a:schemeClr val="tx1"/>
                </a:solidFill>
                <a:latin typeface="Times New Roman" pitchFamily="-1" charset="0"/>
                <a:ea typeface="+mn-ea"/>
                <a:cs typeface="+mn-cs"/>
              </a:rPr>
              <a:t>backward </a:t>
            </a:r>
            <a:r>
              <a:rPr lang="en-US" sz="1200" kern="1200" dirty="0">
                <a:solidFill>
                  <a:schemeClr val="tx1"/>
                </a:solidFill>
                <a:latin typeface="Times New Roman" pitchFamily="-1" charset="0"/>
                <a:ea typeface="+mn-ea"/>
                <a:cs typeface="+mn-cs"/>
              </a:rPr>
              <a:t>(lower address). The example shows how an unconditional and a conditional branch can be used to create a repeating loop of instructions. The instructions in locations 202 through 210 will be executed repeatedly until the result of subtracting Y from X is 0. </a:t>
            </a:r>
            <a:endParaRPr lang="en-US" dirty="0"/>
          </a:p>
          <a:p>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Times New Roman" pitchFamily="-1" charset="0"/>
                <a:ea typeface="+mn-ea"/>
                <a:cs typeface="+mn-cs"/>
              </a:rPr>
              <a:t>Perhaps the most important innovation in the development of programming languages is the </a:t>
            </a:r>
            <a:r>
              <a:rPr lang="en-US" sz="1200" i="1" kern="1200" dirty="0">
                <a:solidFill>
                  <a:schemeClr val="tx1"/>
                </a:solidFill>
                <a:latin typeface="Times New Roman" pitchFamily="-1" charset="0"/>
                <a:ea typeface="+mn-ea"/>
                <a:cs typeface="+mn-cs"/>
              </a:rPr>
              <a:t>procedure. </a:t>
            </a:r>
            <a:r>
              <a:rPr lang="en-US" sz="1200" kern="1200" dirty="0">
                <a:solidFill>
                  <a:schemeClr val="tx1"/>
                </a:solidFill>
                <a:latin typeface="Times New Roman" pitchFamily="-1" charset="0"/>
                <a:ea typeface="+mn-ea"/>
                <a:cs typeface="+mn-cs"/>
              </a:rPr>
              <a:t>A procedure is a self- contained computer program that is incorporated into a larger program. At any point in the program the procedure may be invoked, or </a:t>
            </a:r>
            <a:r>
              <a:rPr lang="en-US" sz="1200" i="1" kern="1200" dirty="0">
                <a:solidFill>
                  <a:schemeClr val="tx1"/>
                </a:solidFill>
                <a:latin typeface="Times New Roman" pitchFamily="-1" charset="0"/>
                <a:ea typeface="+mn-ea"/>
                <a:cs typeface="+mn-cs"/>
              </a:rPr>
              <a:t>called. </a:t>
            </a:r>
            <a:r>
              <a:rPr lang="en-US" sz="1200" kern="1200" dirty="0">
                <a:solidFill>
                  <a:schemeClr val="tx1"/>
                </a:solidFill>
                <a:latin typeface="Times New Roman" pitchFamily="-1" charset="0"/>
                <a:ea typeface="+mn-ea"/>
                <a:cs typeface="+mn-cs"/>
              </a:rPr>
              <a:t>The processor is instructed to go and execute the entire procedure and then return to the point from which the call took place.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two principal reasons for the use of procedures are economy and modularity. A procedure allows the same piece of code to be used many times. This is important for economy in programming effort and for making the most efficient use of storage space in the system (the program must be stored). Procedures also allow large programming tasks to be subdivided into smaller units. This use of </a:t>
            </a:r>
            <a:r>
              <a:rPr lang="en-US" sz="1200" i="1" kern="1200" dirty="0">
                <a:solidFill>
                  <a:schemeClr val="tx1"/>
                </a:solidFill>
                <a:latin typeface="Times New Roman" pitchFamily="-1" charset="0"/>
                <a:ea typeface="+mn-ea"/>
                <a:cs typeface="+mn-cs"/>
              </a:rPr>
              <a:t>modularity </a:t>
            </a:r>
            <a:r>
              <a:rPr lang="en-US" sz="1200" kern="1200" dirty="0">
                <a:solidFill>
                  <a:schemeClr val="tx1"/>
                </a:solidFill>
                <a:latin typeface="Times New Roman" pitchFamily="-1" charset="0"/>
                <a:ea typeface="+mn-ea"/>
                <a:cs typeface="+mn-cs"/>
              </a:rPr>
              <a:t>greatly eases the programming task.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procedure mechanism involves two basic instructions: a call instruction that branches from the present location to the procedure, and a return instruction that returns from the procedure to the place from which it was called. Both of these are forms of branching instructions. </a:t>
            </a:r>
            <a:endParaRPr lang="en-US" dirty="0"/>
          </a:p>
          <a:p>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70000" lnSpcReduction="20000"/>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Figure 13.8a illustrates the use of procedures to construct a program. In this example, there is a main program starting at location 4000. This program includes a call to procedure PROC1, starting at location 4500. When this call instruction is encountered, the processor suspends execution of the main program and begins execution of PROC1 by fetching the next instruction from location 4500. Within PROC1, there are two calls to PROC2 at location 4800. In each case, the execution of PROC1 is suspended and PROC2 is executed. The RETURN statement causes the processor to go back to the calling program and continue execution at the instruction after the corresponding CALL instruction. This behavior is illustrated in Figure 13.8b.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Three points are worth noting:</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1.  A procedure can be called from more than one location.</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2.  A procedure call can appear in a procedure. This allows the </a:t>
            </a:r>
            <a:r>
              <a:rPr lang="en-US" sz="1200" b="0" i="1" u="none" strike="noStrike" kern="1200" baseline="0" dirty="0">
                <a:solidFill>
                  <a:schemeClr val="tx1"/>
                </a:solidFill>
                <a:latin typeface="Times New Roman" pitchFamily="-1" charset="0"/>
                <a:ea typeface="+mn-ea"/>
                <a:cs typeface="+mn-cs"/>
              </a:rPr>
              <a:t>nesting</a:t>
            </a:r>
            <a:r>
              <a:rPr lang="en-US" sz="1200" b="0" i="0" u="none" strike="noStrike" kern="1200" baseline="0" dirty="0">
                <a:solidFill>
                  <a:schemeClr val="tx1"/>
                </a:solidFill>
                <a:latin typeface="Times New Roman" pitchFamily="-1" charset="0"/>
                <a:ea typeface="+mn-ea"/>
                <a:cs typeface="+mn-cs"/>
              </a:rPr>
              <a:t>  of procedures to an arbitrary depth.</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3.  Each procedure call is matched by a return in the called program.</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Because we would like to be able to call a procedure from a variety of points,</a:t>
            </a:r>
          </a:p>
          <a:p>
            <a:r>
              <a:rPr lang="en-US" sz="1200" b="0" i="0" u="none" strike="noStrike" kern="1200" baseline="0" dirty="0">
                <a:solidFill>
                  <a:schemeClr val="tx1"/>
                </a:solidFill>
                <a:latin typeface="Times New Roman" pitchFamily="-1" charset="0"/>
                <a:ea typeface="+mn-ea"/>
                <a:cs typeface="+mn-cs"/>
              </a:rPr>
              <a:t>the processor must somehow save the return address so that the return can take</a:t>
            </a:r>
          </a:p>
          <a:p>
            <a:r>
              <a:rPr lang="en-US" sz="1200" b="0" i="0" u="none" strike="noStrike" kern="1200" baseline="0" dirty="0">
                <a:solidFill>
                  <a:schemeClr val="tx1"/>
                </a:solidFill>
                <a:latin typeface="Times New Roman" pitchFamily="-1" charset="0"/>
                <a:ea typeface="+mn-ea"/>
                <a:cs typeface="+mn-cs"/>
              </a:rPr>
              <a:t>place appropriately. There are three common places for storing the return address:</a:t>
            </a:r>
          </a:p>
          <a:p>
            <a:endParaRPr lang="en-US" sz="1200" b="1" i="0" u="none" strike="noStrike" kern="1200" baseline="0" dirty="0">
              <a:solidFill>
                <a:schemeClr val="tx1"/>
              </a:solidFill>
              <a:latin typeface="Times New Roman" pitchFamily="-1" charset="0"/>
              <a:ea typeface="+mn-ea"/>
              <a:cs typeface="+mn-cs"/>
            </a:endParaRPr>
          </a:p>
          <a:p>
            <a:r>
              <a:rPr lang="en-US" sz="1200" b="1" i="0" u="none" strike="noStrike" kern="1200" baseline="0" dirty="0">
                <a:solidFill>
                  <a:schemeClr val="tx1"/>
                </a:solidFill>
                <a:latin typeface="Times New Roman" pitchFamily="-1" charset="0"/>
                <a:ea typeface="+mn-ea"/>
                <a:cs typeface="+mn-cs"/>
              </a:rPr>
              <a:t>■ </a:t>
            </a:r>
            <a:r>
              <a:rPr lang="en-US" sz="1200" b="0" i="0" u="none" strike="noStrike" kern="1200" baseline="0" dirty="0">
                <a:solidFill>
                  <a:schemeClr val="tx1"/>
                </a:solidFill>
                <a:latin typeface="Times New Roman" pitchFamily="-1" charset="0"/>
                <a:ea typeface="+mn-ea"/>
                <a:cs typeface="+mn-cs"/>
              </a:rPr>
              <a:t> Register</a:t>
            </a:r>
          </a:p>
          <a:p>
            <a:endParaRPr lang="en-US" sz="1200" b="1" i="0" u="none" strike="noStrike" kern="1200" baseline="0" dirty="0">
              <a:solidFill>
                <a:schemeClr val="tx1"/>
              </a:solidFill>
              <a:latin typeface="Times New Roman" pitchFamily="-1" charset="0"/>
              <a:ea typeface="+mn-ea"/>
              <a:cs typeface="+mn-cs"/>
            </a:endParaRPr>
          </a:p>
          <a:p>
            <a:r>
              <a:rPr lang="en-US" sz="1200" b="1" i="0" u="none" strike="noStrike" kern="1200" baseline="0" dirty="0">
                <a:solidFill>
                  <a:schemeClr val="tx1"/>
                </a:solidFill>
                <a:latin typeface="Times New Roman" pitchFamily="-1" charset="0"/>
                <a:ea typeface="+mn-ea"/>
                <a:cs typeface="+mn-cs"/>
              </a:rPr>
              <a:t>■ </a:t>
            </a:r>
            <a:r>
              <a:rPr lang="en-US" sz="1200" b="0" i="0" u="none" strike="noStrike" kern="1200" baseline="0" dirty="0">
                <a:solidFill>
                  <a:schemeClr val="tx1"/>
                </a:solidFill>
                <a:latin typeface="Times New Roman" pitchFamily="-1" charset="0"/>
                <a:ea typeface="+mn-ea"/>
                <a:cs typeface="+mn-cs"/>
              </a:rPr>
              <a:t> Start of called procedure</a:t>
            </a:r>
          </a:p>
          <a:p>
            <a:endParaRPr lang="en-US" sz="1200" b="1" i="0" u="none" strike="noStrike" kern="1200" baseline="0" dirty="0">
              <a:solidFill>
                <a:schemeClr val="tx1"/>
              </a:solidFill>
              <a:latin typeface="Times New Roman" pitchFamily="-1" charset="0"/>
              <a:ea typeface="+mn-ea"/>
              <a:cs typeface="+mn-cs"/>
            </a:endParaRPr>
          </a:p>
          <a:p>
            <a:r>
              <a:rPr lang="en-US" sz="1200" b="1" i="0" u="none" strike="noStrike" kern="1200" baseline="0" dirty="0">
                <a:solidFill>
                  <a:schemeClr val="tx1"/>
                </a:solidFill>
                <a:latin typeface="Times New Roman" pitchFamily="-1" charset="0"/>
                <a:ea typeface="+mn-ea"/>
                <a:cs typeface="+mn-cs"/>
              </a:rPr>
              <a:t>■ </a:t>
            </a:r>
            <a:r>
              <a:rPr lang="en-US" sz="1200" b="0" i="0" u="none" strike="noStrike" kern="1200" baseline="0" dirty="0">
                <a:solidFill>
                  <a:schemeClr val="tx1"/>
                </a:solidFill>
                <a:latin typeface="Times New Roman" pitchFamily="-1" charset="0"/>
                <a:ea typeface="+mn-ea"/>
                <a:cs typeface="+mn-cs"/>
              </a:rPr>
              <a:t> Top of stack</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 A </a:t>
            </a:r>
            <a:r>
              <a:rPr lang="en-US" sz="1200" b="1" i="0" u="none" strike="noStrike" kern="1200" baseline="0" dirty="0">
                <a:solidFill>
                  <a:schemeClr val="tx1"/>
                </a:solidFill>
                <a:latin typeface="Times New Roman" pitchFamily="-1" charset="0"/>
                <a:ea typeface="+mn-ea"/>
                <a:cs typeface="+mn-cs"/>
              </a:rPr>
              <a:t>reentrant procedure  </a:t>
            </a:r>
            <a:r>
              <a:rPr lang="en-US" sz="1200" b="0" i="0" u="none" strike="noStrike" kern="1200" baseline="0" dirty="0">
                <a:solidFill>
                  <a:schemeClr val="tx1"/>
                </a:solidFill>
                <a:latin typeface="Times New Roman" pitchFamily="-1" charset="0"/>
                <a:ea typeface="+mn-ea"/>
                <a:cs typeface="+mn-cs"/>
              </a:rPr>
              <a:t>is one in which it is possible to have several calls open to it at</a:t>
            </a:r>
          </a:p>
          <a:p>
            <a:r>
              <a:rPr lang="en-US" sz="1200" b="0" i="0" u="none" strike="noStrike" kern="1200" baseline="0" dirty="0">
                <a:solidFill>
                  <a:schemeClr val="tx1"/>
                </a:solidFill>
                <a:latin typeface="Times New Roman" pitchFamily="-1" charset="0"/>
                <a:ea typeface="+mn-ea"/>
                <a:cs typeface="+mn-cs"/>
              </a:rPr>
              <a:t>the same time. A recursive procedure (one that calls itself) is an example of the use</a:t>
            </a:r>
          </a:p>
          <a:p>
            <a:r>
              <a:rPr lang="en-US" sz="1200" b="0" i="0" u="none" strike="noStrike" kern="1200" baseline="0" dirty="0">
                <a:solidFill>
                  <a:schemeClr val="tx1"/>
                </a:solidFill>
                <a:latin typeface="Times New Roman" pitchFamily="-1" charset="0"/>
                <a:ea typeface="+mn-ea"/>
                <a:cs typeface="+mn-cs"/>
              </a:rPr>
              <a:t>of this feature (see Appendix F). If parameters are passed via registers or memory</a:t>
            </a:r>
          </a:p>
          <a:p>
            <a:r>
              <a:rPr lang="en-US" sz="1200" b="0" i="0" u="none" strike="noStrike" kern="1200" baseline="0" dirty="0">
                <a:solidFill>
                  <a:schemeClr val="tx1"/>
                </a:solidFill>
                <a:latin typeface="Times New Roman" pitchFamily="-1" charset="0"/>
                <a:ea typeface="+mn-ea"/>
                <a:cs typeface="+mn-cs"/>
              </a:rPr>
              <a:t>for a reentrant procedure, some code must be responsible for saving the parameters</a:t>
            </a:r>
          </a:p>
          <a:p>
            <a:r>
              <a:rPr lang="en-US" sz="1200" b="0" i="0" u="none" strike="noStrike" kern="1200" baseline="0" dirty="0">
                <a:solidFill>
                  <a:schemeClr val="tx1"/>
                </a:solidFill>
                <a:latin typeface="Times New Roman" pitchFamily="-1" charset="0"/>
                <a:ea typeface="+mn-ea"/>
                <a:cs typeface="+mn-cs"/>
              </a:rPr>
              <a:t>so that the registers or memory space are available for other procedure calls.</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lnSpcReduction="10000"/>
          </a:bodyPr>
          <a:lstStyle/>
          <a:p>
            <a:r>
              <a:rPr lang="en-US" sz="1200" kern="1200" dirty="0">
                <a:solidFill>
                  <a:schemeClr val="tx1"/>
                </a:solidFill>
                <a:latin typeface="Times New Roman" pitchFamily="-1" charset="0"/>
                <a:ea typeface="+mn-ea"/>
                <a:cs typeface="+mn-cs"/>
              </a:rPr>
              <a:t>A more general and powerful approach is to use a stack (see Appendix E for a discussion of stacks). When the processor executes a call, it places the return address on the stack. When it executes a return, it uses the address on the stack. </a:t>
            </a:r>
            <a:endParaRPr lang="en-US" dirty="0"/>
          </a:p>
          <a:p>
            <a:r>
              <a:rPr lang="en-US" sz="1200" kern="1200" dirty="0">
                <a:solidFill>
                  <a:schemeClr val="tx1"/>
                </a:solidFill>
                <a:latin typeface="Times New Roman" pitchFamily="-1" charset="0"/>
                <a:ea typeface="+mn-ea"/>
                <a:cs typeface="+mn-cs"/>
              </a:rPr>
              <a:t>Figure 13.9 illustrates the use of the stack.</a:t>
            </a:r>
            <a:br>
              <a:rPr lang="en-US" sz="1200" kern="1200" dirty="0">
                <a:solidFill>
                  <a:schemeClr val="tx1"/>
                </a:solidFill>
                <a:latin typeface="Times New Roman" pitchFamily="-1" charset="0"/>
                <a:ea typeface="+mn-ea"/>
                <a:cs typeface="+mn-cs"/>
              </a:rPr>
            </a:br>
            <a:endParaRPr lang="en-US" sz="1200" kern="1200" dirty="0">
              <a:solidFill>
                <a:schemeClr val="tx1"/>
              </a:solidFill>
              <a:latin typeface="Times New Roman" pitchFamily="-1" charset="0"/>
              <a:ea typeface="+mn-ea"/>
              <a:cs typeface="+mn-cs"/>
            </a:endParaRPr>
          </a:p>
          <a:p>
            <a:endParaRPr lang="en-US" sz="1200" kern="120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 In addition to providing a return address, it is also often necessary to pass</a:t>
            </a:r>
          </a:p>
          <a:p>
            <a:r>
              <a:rPr lang="en-US" sz="1200" b="0" i="0" u="none" strike="noStrike" kern="1200" baseline="0" dirty="0">
                <a:solidFill>
                  <a:schemeClr val="tx1"/>
                </a:solidFill>
                <a:latin typeface="Times New Roman" pitchFamily="-1" charset="0"/>
                <a:ea typeface="+mn-ea"/>
                <a:cs typeface="+mn-cs"/>
              </a:rPr>
              <a:t>parameters with a procedure call. These can be passed in registers. Another possibility</a:t>
            </a:r>
          </a:p>
          <a:p>
            <a:r>
              <a:rPr lang="en-US" sz="1200" b="0" i="0" u="none" strike="noStrike" kern="1200" baseline="0" dirty="0">
                <a:solidFill>
                  <a:schemeClr val="tx1"/>
                </a:solidFill>
                <a:latin typeface="Times New Roman" pitchFamily="-1" charset="0"/>
                <a:ea typeface="+mn-ea"/>
                <a:cs typeface="+mn-cs"/>
              </a:rPr>
              <a:t>is to store the parameters in memory just after the CALL instruction. In this</a:t>
            </a:r>
          </a:p>
          <a:p>
            <a:r>
              <a:rPr lang="en-US" sz="1200" b="0" i="0" u="none" strike="noStrike" kern="1200" baseline="0" dirty="0">
                <a:solidFill>
                  <a:schemeClr val="tx1"/>
                </a:solidFill>
                <a:latin typeface="Times New Roman" pitchFamily="-1" charset="0"/>
                <a:ea typeface="+mn-ea"/>
                <a:cs typeface="+mn-cs"/>
              </a:rPr>
              <a:t>case, the return must be to the location following the parameters. Again, both of</a:t>
            </a:r>
          </a:p>
          <a:p>
            <a:r>
              <a:rPr lang="en-US" sz="1200" b="0" i="0" u="none" strike="noStrike" kern="1200" baseline="0" dirty="0">
                <a:solidFill>
                  <a:schemeClr val="tx1"/>
                </a:solidFill>
                <a:latin typeface="Times New Roman" pitchFamily="-1" charset="0"/>
                <a:ea typeface="+mn-ea"/>
                <a:cs typeface="+mn-cs"/>
              </a:rPr>
              <a:t> these approaches have drawbacks. If registers are used, the called program and the</a:t>
            </a:r>
          </a:p>
          <a:p>
            <a:r>
              <a:rPr lang="en-US" sz="1200" b="0" i="0" u="none" strike="noStrike" kern="1200" baseline="0" dirty="0">
                <a:solidFill>
                  <a:schemeClr val="tx1"/>
                </a:solidFill>
                <a:latin typeface="Times New Roman" pitchFamily="-1" charset="0"/>
                <a:ea typeface="+mn-ea"/>
                <a:cs typeface="+mn-cs"/>
              </a:rPr>
              <a:t>calling program must be written to assure that the registers are used properly. The</a:t>
            </a:r>
          </a:p>
          <a:p>
            <a:r>
              <a:rPr lang="en-US" sz="1200" b="0" i="0" u="none" strike="noStrike" kern="1200" baseline="0" dirty="0">
                <a:solidFill>
                  <a:schemeClr val="tx1"/>
                </a:solidFill>
                <a:latin typeface="Times New Roman" pitchFamily="-1" charset="0"/>
                <a:ea typeface="+mn-ea"/>
                <a:cs typeface="+mn-cs"/>
              </a:rPr>
              <a:t>storing of parameters in memory makes it difficult to exchange a variable number of</a:t>
            </a:r>
          </a:p>
          <a:p>
            <a:r>
              <a:rPr lang="en-US" sz="1200" b="0" i="0" u="none" strike="noStrike" kern="1200" baseline="0" dirty="0">
                <a:solidFill>
                  <a:schemeClr val="tx1"/>
                </a:solidFill>
                <a:latin typeface="Times New Roman" pitchFamily="-1" charset="0"/>
                <a:ea typeface="+mn-ea"/>
                <a:cs typeface="+mn-cs"/>
              </a:rPr>
              <a:t>parameters. Both approaches prevent the use of reentrant procedures.</a:t>
            </a:r>
            <a:endParaRPr lang="en-US" dirty="0"/>
          </a:p>
          <a:p>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Times New Roman" pitchFamily="-1" charset="0"/>
                <a:ea typeface="+mn-ea"/>
                <a:cs typeface="+mn-cs"/>
              </a:rPr>
              <a:t>A more flexible approach to parameter passing is the stack. When the processor executes a call, it not only stacks the return address, it stacks parameters to be passed to the called procedure. The called procedure can access the parameters from the stack. Upon return, return parameters can also be placed on the stack. The entire set of parameters, including return address, that is stored for a procedure invocation is referred to as a </a:t>
            </a:r>
            <a:r>
              <a:rPr lang="en-US" sz="1200" i="1" kern="1200" dirty="0">
                <a:solidFill>
                  <a:schemeClr val="tx1"/>
                </a:solidFill>
                <a:latin typeface="Times New Roman" pitchFamily="-1" charset="0"/>
                <a:ea typeface="+mn-ea"/>
                <a:cs typeface="+mn-cs"/>
              </a:rPr>
              <a:t>stack frame. </a:t>
            </a:r>
            <a:endParaRPr lang="en-US" dirty="0"/>
          </a:p>
          <a:p>
            <a:endParaRPr lang="en-US" sz="1200"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An example is provided in Figure 13.10. The example refers to procedure P in which the local variables </a:t>
            </a:r>
            <a:r>
              <a:rPr lang="en-US" sz="1200" i="1" kern="1200" dirty="0">
                <a:solidFill>
                  <a:schemeClr val="tx1"/>
                </a:solidFill>
                <a:latin typeface="Times New Roman" pitchFamily="-1" charset="0"/>
                <a:ea typeface="+mn-ea"/>
                <a:cs typeface="+mn-cs"/>
              </a:rPr>
              <a:t>x1 </a:t>
            </a:r>
            <a:r>
              <a:rPr lang="en-US" sz="1200" kern="1200" dirty="0">
                <a:solidFill>
                  <a:schemeClr val="tx1"/>
                </a:solidFill>
                <a:latin typeface="Times New Roman" pitchFamily="-1" charset="0"/>
                <a:ea typeface="+mn-ea"/>
                <a:cs typeface="+mn-cs"/>
              </a:rPr>
              <a:t>and </a:t>
            </a:r>
            <a:r>
              <a:rPr lang="en-US" sz="1200" i="1" kern="1200" dirty="0">
                <a:solidFill>
                  <a:schemeClr val="tx1"/>
                </a:solidFill>
                <a:latin typeface="Times New Roman" pitchFamily="-1" charset="0"/>
                <a:ea typeface="+mn-ea"/>
                <a:cs typeface="+mn-cs"/>
              </a:rPr>
              <a:t>x2 </a:t>
            </a:r>
            <a:r>
              <a:rPr lang="en-US" sz="1200" kern="1200" dirty="0">
                <a:solidFill>
                  <a:schemeClr val="tx1"/>
                </a:solidFill>
                <a:latin typeface="Times New Roman" pitchFamily="-1" charset="0"/>
                <a:ea typeface="+mn-ea"/>
                <a:cs typeface="+mn-cs"/>
              </a:rPr>
              <a:t>are declared, and procedure Q, which P can call and in which the local variables </a:t>
            </a:r>
            <a:r>
              <a:rPr lang="en-US" sz="1200" i="1" kern="1200" dirty="0">
                <a:solidFill>
                  <a:schemeClr val="tx1"/>
                </a:solidFill>
                <a:latin typeface="Times New Roman" pitchFamily="-1" charset="0"/>
                <a:ea typeface="+mn-ea"/>
                <a:cs typeface="+mn-cs"/>
              </a:rPr>
              <a:t>y1 </a:t>
            </a:r>
            <a:r>
              <a:rPr lang="en-US" sz="1200" kern="1200" dirty="0">
                <a:solidFill>
                  <a:schemeClr val="tx1"/>
                </a:solidFill>
                <a:latin typeface="Times New Roman" pitchFamily="-1" charset="0"/>
                <a:ea typeface="+mn-ea"/>
                <a:cs typeface="+mn-cs"/>
              </a:rPr>
              <a:t>and </a:t>
            </a:r>
            <a:r>
              <a:rPr lang="en-US" sz="1200" i="1" kern="1200" dirty="0">
                <a:solidFill>
                  <a:schemeClr val="tx1"/>
                </a:solidFill>
                <a:latin typeface="Times New Roman" pitchFamily="-1" charset="0"/>
                <a:ea typeface="+mn-ea"/>
                <a:cs typeface="+mn-cs"/>
              </a:rPr>
              <a:t>y2 </a:t>
            </a:r>
            <a:r>
              <a:rPr lang="en-US" sz="1200" kern="1200" dirty="0">
                <a:solidFill>
                  <a:schemeClr val="tx1"/>
                </a:solidFill>
                <a:latin typeface="Times New Roman" pitchFamily="-1" charset="0"/>
                <a:ea typeface="+mn-ea"/>
                <a:cs typeface="+mn-cs"/>
              </a:rPr>
              <a:t>are declared. In this figure, the return  point for each procedure is the first item stored in the corresponding stack frame. Next is stored a pointer to the beginning of the previous frame. This is needed if the number or length of parameters to be stacked is variable. </a:t>
            </a:r>
            <a:endParaRPr lang="en-US" dirty="0"/>
          </a:p>
          <a:p>
            <a:endParaRPr lang="en-US" dirty="0"/>
          </a:p>
          <a:p>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92500" lnSpcReduction="10000"/>
          </a:bodyPr>
          <a:lstStyle/>
          <a:p>
            <a:r>
              <a:rPr lang="en-US" sz="1200" kern="1200" dirty="0">
                <a:solidFill>
                  <a:schemeClr val="tx1"/>
                </a:solidFill>
                <a:latin typeface="Times New Roman" pitchFamily="-1" charset="0"/>
                <a:ea typeface="+mn-ea"/>
                <a:cs typeface="+mn-cs"/>
              </a:rPr>
              <a:t>The address field or fields in a typical instruction format are relatively small. We would like to be able to reference a large range of locations in main memory or, for some systems, virtual memory. To achieve this objective, a variety of addressing techniques has been employed. They all involve some trade-off between address range and/or addressing flexibility, on the one hand, and the number of memory references in the instruction and/or the complexity of address calculation, on the other. In this section, we examine the most common addressing techniques, or modes: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Immediate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Direct</a:t>
            </a:r>
            <a:br>
              <a:rPr lang="en-US" sz="1200" kern="1200" dirty="0">
                <a:solidFill>
                  <a:schemeClr val="tx1"/>
                </a:solidFill>
                <a:latin typeface="Times New Roman" pitchFamily="-1" charset="0"/>
                <a:ea typeface="+mn-ea"/>
                <a:cs typeface="+mn-cs"/>
              </a:rPr>
            </a:br>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Indirect</a:t>
            </a:r>
            <a:br>
              <a:rPr lang="en-US" sz="1200" kern="1200" dirty="0">
                <a:solidFill>
                  <a:schemeClr val="tx1"/>
                </a:solidFill>
                <a:latin typeface="Times New Roman" pitchFamily="-1" charset="0"/>
                <a:ea typeface="+mn-ea"/>
                <a:cs typeface="+mn-cs"/>
              </a:rPr>
            </a:br>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Register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Register indirect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Displacement</a:t>
            </a:r>
            <a:br>
              <a:rPr lang="en-US" sz="1200" kern="1200" dirty="0">
                <a:solidFill>
                  <a:schemeClr val="tx1"/>
                </a:solidFill>
                <a:latin typeface="Times New Roman" pitchFamily="-1" charset="0"/>
                <a:ea typeface="+mn-ea"/>
                <a:cs typeface="+mn-cs"/>
              </a:rPr>
            </a:br>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Stack </a:t>
            </a:r>
            <a:endParaRPr lang="en-US" dirty="0"/>
          </a:p>
          <a:p>
            <a:endParaRPr lang="en-US" dirty="0"/>
          </a:p>
          <a:p>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9219"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3</a:t>
            </a:r>
          </a:p>
        </p:txBody>
      </p:sp>
      <p:sp>
        <p:nvSpPr>
          <p:cNvPr id="9220"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9221"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9222" name="Rectangle 6"/>
          <p:cNvSpPr>
            <a:spLocks noGrp="1" noRot="1" noChangeAspect="1" noChangeArrowheads="1" noTextEdit="1"/>
          </p:cNvSpPr>
          <p:nvPr>
            <p:ph type="sldImg"/>
          </p:nvPr>
        </p:nvSpPr>
        <p:spPr>
          <a:xfrm>
            <a:off x="1150938" y="692150"/>
            <a:ext cx="4556125" cy="3416300"/>
          </a:xfrm>
          <a:ln cap="flat"/>
        </p:spPr>
      </p:sp>
      <p:sp>
        <p:nvSpPr>
          <p:cNvPr id="9223"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The simplest form of addressing is </a:t>
            </a:r>
            <a:r>
              <a:rPr lang="en-US" sz="1200" b="1" kern="1200" dirty="0">
                <a:solidFill>
                  <a:schemeClr val="tx1"/>
                </a:solidFill>
                <a:latin typeface="Times New Roman" pitchFamily="-1" charset="0"/>
                <a:ea typeface="+mn-ea"/>
                <a:cs typeface="+mn-cs"/>
              </a:rPr>
              <a:t>immediate addressing, </a:t>
            </a:r>
            <a:r>
              <a:rPr lang="en-US" sz="1200" kern="1200" dirty="0">
                <a:solidFill>
                  <a:schemeClr val="tx1"/>
                </a:solidFill>
                <a:latin typeface="Times New Roman" pitchFamily="-1" charset="0"/>
                <a:ea typeface="+mn-ea"/>
                <a:cs typeface="+mn-cs"/>
              </a:rPr>
              <a:t>in which the operand value is present in the instruction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Operand = A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This mode can be used to define and use constants or set initial values of variables. Typically, the number will be stored in twos complement form; the leftmost bit of the operand field is used as a sign bit. When the operand is loaded into a data register, the sign bit is extended to the left to the full data </a:t>
            </a:r>
            <a:r>
              <a:rPr lang="en-US" sz="1200" b="1" kern="1200" dirty="0">
                <a:solidFill>
                  <a:schemeClr val="tx1"/>
                </a:solidFill>
                <a:latin typeface="Times New Roman" pitchFamily="-1" charset="0"/>
                <a:ea typeface="+mn-ea"/>
                <a:cs typeface="+mn-cs"/>
              </a:rPr>
              <a:t>word </a:t>
            </a:r>
            <a:r>
              <a:rPr lang="en-US" sz="1200" kern="1200" dirty="0">
                <a:solidFill>
                  <a:schemeClr val="tx1"/>
                </a:solidFill>
                <a:latin typeface="Times New Roman" pitchFamily="-1" charset="0"/>
                <a:ea typeface="+mn-ea"/>
                <a:cs typeface="+mn-cs"/>
              </a:rPr>
              <a:t>size. In some cases, the immediate binary value is interpreted as an unsigned nonnegative integer.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advantage of immediate addressing is that no memory reference other than the instruction fetch is required to obtain the operand, thus saving one memory or cache cycle in the instruction cycle. The disadvantage is that the size of the number is restricted to the size of the address field, which, in most instruction sets, is small compared with the word length. </a:t>
            </a:r>
            <a:endParaRPr lang="en-US" dirty="0"/>
          </a:p>
          <a:p>
            <a:endParaRPr lang="en-GB"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3315"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5</a:t>
            </a:r>
          </a:p>
        </p:txBody>
      </p:sp>
      <p:sp>
        <p:nvSpPr>
          <p:cNvPr id="13316"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3317"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3318" name="Rectangle 6"/>
          <p:cNvSpPr>
            <a:spLocks noGrp="1" noRot="1" noChangeAspect="1" noChangeArrowheads="1" noTextEdit="1"/>
          </p:cNvSpPr>
          <p:nvPr>
            <p:ph type="sldImg"/>
          </p:nvPr>
        </p:nvSpPr>
        <p:spPr>
          <a:xfrm>
            <a:off x="1150938" y="692150"/>
            <a:ext cx="4556125" cy="3416300"/>
          </a:xfrm>
          <a:ln cap="flat"/>
        </p:spPr>
      </p:sp>
      <p:sp>
        <p:nvSpPr>
          <p:cNvPr id="13319"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A very simple form of addressing is direct addressing, in which the address field contains the effective address of the operand: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EA = A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The technique was common in earlier generations of computers but is not common on contemporary architectures. It requires only one memory reference and no special calculation. The obvious limitation is that it provides only a limited address space. </a:t>
            </a:r>
            <a:endParaRPr lang="en-US" dirty="0"/>
          </a:p>
          <a:p>
            <a:endParaRPr lang="en-GB"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7411"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7</a:t>
            </a:r>
          </a:p>
        </p:txBody>
      </p:sp>
      <p:sp>
        <p:nvSpPr>
          <p:cNvPr id="17412"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7413"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7414" name="Rectangle 6"/>
          <p:cNvSpPr>
            <a:spLocks noGrp="1" noRot="1" noChangeAspect="1" noChangeArrowheads="1" noTextEdit="1"/>
          </p:cNvSpPr>
          <p:nvPr>
            <p:ph type="sldImg"/>
          </p:nvPr>
        </p:nvSpPr>
        <p:spPr>
          <a:xfrm>
            <a:off x="1150938" y="692150"/>
            <a:ext cx="4556125" cy="3416300"/>
          </a:xfrm>
          <a:ln cap="flat"/>
        </p:spPr>
      </p:sp>
      <p:sp>
        <p:nvSpPr>
          <p:cNvPr id="17415"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With direct addressing, the length of the address field is usually less than the word length, thus limiting the address range. One solution is to have the address field refer to the address of a word in memory, which in turn contains a full-length address of the operand. This is known as </a:t>
            </a:r>
            <a:r>
              <a:rPr lang="en-US" sz="1200" b="1" kern="1200" dirty="0">
                <a:solidFill>
                  <a:schemeClr val="tx1"/>
                </a:solidFill>
                <a:latin typeface="Times New Roman" pitchFamily="-1" charset="0"/>
                <a:ea typeface="+mn-ea"/>
                <a:cs typeface="+mn-cs"/>
              </a:rPr>
              <a:t>indirect addressing: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EA = (A)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As defined earlier, the parentheses are to be interpreted as meaning </a:t>
            </a:r>
            <a:r>
              <a:rPr lang="en-US" sz="1200" i="1" kern="1200" dirty="0">
                <a:solidFill>
                  <a:schemeClr val="tx1"/>
                </a:solidFill>
                <a:latin typeface="Times New Roman" pitchFamily="-1" charset="0"/>
                <a:ea typeface="+mn-ea"/>
                <a:cs typeface="+mn-cs"/>
              </a:rPr>
              <a:t>contents of. </a:t>
            </a:r>
            <a:r>
              <a:rPr lang="en-US" sz="1200" kern="1200" dirty="0">
                <a:solidFill>
                  <a:schemeClr val="tx1"/>
                </a:solidFill>
                <a:latin typeface="Times New Roman" pitchFamily="-1" charset="0"/>
                <a:ea typeface="+mn-ea"/>
                <a:cs typeface="+mn-cs"/>
              </a:rPr>
              <a:t>The obvious advantage of this approach is that for a word length of </a:t>
            </a:r>
            <a:r>
              <a:rPr lang="en-US" sz="1200" i="1" kern="1200" dirty="0">
                <a:solidFill>
                  <a:schemeClr val="tx1"/>
                </a:solidFill>
                <a:latin typeface="Times New Roman" pitchFamily="-1" charset="0"/>
                <a:ea typeface="+mn-ea"/>
                <a:cs typeface="+mn-cs"/>
              </a:rPr>
              <a:t>N, </a:t>
            </a:r>
            <a:r>
              <a:rPr lang="en-US" sz="1200" kern="1200" dirty="0">
                <a:solidFill>
                  <a:schemeClr val="tx1"/>
                </a:solidFill>
                <a:latin typeface="Times New Roman" pitchFamily="-1" charset="0"/>
                <a:ea typeface="+mn-ea"/>
                <a:cs typeface="+mn-cs"/>
              </a:rPr>
              <a:t>an address space of 2</a:t>
            </a:r>
            <a:r>
              <a:rPr lang="en-US" sz="1200" kern="1200" baseline="30000" dirty="0">
                <a:solidFill>
                  <a:schemeClr val="tx1"/>
                </a:solidFill>
                <a:latin typeface="Times New Roman" pitchFamily="-1" charset="0"/>
                <a:ea typeface="+mn-ea"/>
                <a:cs typeface="+mn-cs"/>
              </a:rPr>
              <a:t>N</a:t>
            </a:r>
            <a:r>
              <a:rPr lang="en-US" sz="1200" kern="1200" dirty="0">
                <a:solidFill>
                  <a:schemeClr val="tx1"/>
                </a:solidFill>
                <a:latin typeface="Times New Roman" pitchFamily="-1" charset="0"/>
                <a:ea typeface="+mn-ea"/>
                <a:cs typeface="+mn-cs"/>
              </a:rPr>
              <a:t> is now available. The disadvantage is that instruction execution requires two memory references to fetch the operand: one to get its address and a second to get its value.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Although the number of words that can be addressed is now equal to 2</a:t>
            </a:r>
            <a:r>
              <a:rPr lang="en-US" sz="1200" kern="1200" baseline="30000" dirty="0">
                <a:solidFill>
                  <a:schemeClr val="tx1"/>
                </a:solidFill>
                <a:latin typeface="Times New Roman" pitchFamily="-1" charset="0"/>
                <a:ea typeface="+mn-ea"/>
                <a:cs typeface="+mn-cs"/>
              </a:rPr>
              <a:t>N</a:t>
            </a:r>
            <a:r>
              <a:rPr lang="en-US" sz="1200" kern="1200" dirty="0">
                <a:solidFill>
                  <a:schemeClr val="tx1"/>
                </a:solidFill>
                <a:latin typeface="Times New Roman" pitchFamily="-1" charset="0"/>
                <a:ea typeface="+mn-ea"/>
                <a:cs typeface="+mn-cs"/>
              </a:rPr>
              <a:t>, the number of different effective addresses that may be referenced at any one time is limited to 2</a:t>
            </a:r>
            <a:r>
              <a:rPr lang="en-US" sz="1200" kern="1200" baseline="30000" dirty="0">
                <a:solidFill>
                  <a:schemeClr val="tx1"/>
                </a:solidFill>
                <a:latin typeface="Times New Roman" pitchFamily="-1" charset="0"/>
                <a:ea typeface="+mn-ea"/>
                <a:cs typeface="+mn-cs"/>
              </a:rPr>
              <a:t>K</a:t>
            </a:r>
            <a:r>
              <a:rPr lang="en-US" sz="1200" kern="1200" dirty="0">
                <a:solidFill>
                  <a:schemeClr val="tx1"/>
                </a:solidFill>
                <a:latin typeface="Times New Roman" pitchFamily="-1" charset="0"/>
                <a:ea typeface="+mn-ea"/>
                <a:cs typeface="+mn-cs"/>
              </a:rPr>
              <a:t>, where </a:t>
            </a:r>
            <a:r>
              <a:rPr lang="en-US" sz="1200" i="1" kern="1200" dirty="0">
                <a:solidFill>
                  <a:schemeClr val="tx1"/>
                </a:solidFill>
                <a:latin typeface="Times New Roman" pitchFamily="-1" charset="0"/>
                <a:ea typeface="+mn-ea"/>
                <a:cs typeface="+mn-cs"/>
              </a:rPr>
              <a:t>K </a:t>
            </a:r>
            <a:r>
              <a:rPr lang="en-US" sz="1200" kern="1200" dirty="0">
                <a:solidFill>
                  <a:schemeClr val="tx1"/>
                </a:solidFill>
                <a:latin typeface="Times New Roman" pitchFamily="-1" charset="0"/>
                <a:ea typeface="+mn-ea"/>
                <a:cs typeface="+mn-cs"/>
              </a:rPr>
              <a:t>is the length of the address field. Typically, this is not a burdensome restriction, and it can be an asset. In a virtual memory environment, all the effective address locations can be confined to page 0 of any process. Because the address field of an instruction is small, it will naturally produce low-numbered direct addresses, which would appear in page 0. (The only restriction is that the page size must be greater than or equal to 2</a:t>
            </a:r>
            <a:r>
              <a:rPr lang="en-US" sz="1200" kern="1200" baseline="30000" dirty="0">
                <a:solidFill>
                  <a:schemeClr val="tx1"/>
                </a:solidFill>
                <a:latin typeface="Times New Roman" pitchFamily="-1" charset="0"/>
                <a:ea typeface="+mn-ea"/>
                <a:cs typeface="+mn-cs"/>
              </a:rPr>
              <a:t>K</a:t>
            </a:r>
            <a:r>
              <a:rPr lang="en-US" sz="1200" kern="1200" dirty="0">
                <a:solidFill>
                  <a:schemeClr val="tx1"/>
                </a:solidFill>
                <a:latin typeface="Times New Roman" pitchFamily="-1" charset="0"/>
                <a:ea typeface="+mn-ea"/>
                <a:cs typeface="+mn-cs"/>
              </a:rPr>
              <a:t>.) When a process is active, there will be repeated references to page 0, causing it to remain in real memory. Thus, an indirect memory reference will involve, at most, one page fault rather than two.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 rarely used variant of indirect addressing is multilevel or cascaded indirect addressing: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EA = (</a:t>
            </a:r>
            <a:r>
              <a:rPr lang="en-US" sz="1200" kern="1200" baseline="0" dirty="0">
                <a:solidFill>
                  <a:schemeClr val="tx1"/>
                </a:solidFill>
                <a:latin typeface="Times New Roman" pitchFamily="-1" charset="0"/>
                <a:ea typeface="+mn-ea"/>
                <a:cs typeface="+mn-cs"/>
              </a:rPr>
              <a:t> . . . </a:t>
            </a:r>
            <a:r>
              <a:rPr lang="en-US" sz="1200" kern="1200" dirty="0">
                <a:solidFill>
                  <a:schemeClr val="tx1"/>
                </a:solidFill>
                <a:latin typeface="Times New Roman" pitchFamily="-1" charset="0"/>
                <a:ea typeface="+mn-ea"/>
                <a:cs typeface="+mn-cs"/>
              </a:rPr>
              <a:t>(A)</a:t>
            </a:r>
            <a:r>
              <a:rPr lang="en-US" sz="1200" kern="1200" baseline="0" dirty="0">
                <a:solidFill>
                  <a:schemeClr val="tx1"/>
                </a:solidFill>
                <a:latin typeface="Times New Roman" pitchFamily="-1" charset="0"/>
                <a:ea typeface="+mn-ea"/>
                <a:cs typeface="+mn-cs"/>
              </a:rPr>
              <a:t> . . . </a:t>
            </a:r>
            <a:r>
              <a:rPr lang="en-US" sz="1200" kern="1200" dirty="0">
                <a:solidFill>
                  <a:schemeClr val="tx1"/>
                </a:solidFill>
                <a:latin typeface="Times New Roman" pitchFamily="-1" charset="0"/>
                <a:ea typeface="+mn-ea"/>
                <a:cs typeface="+mn-cs"/>
              </a:rPr>
              <a:t>)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In this case, one bit of a full-word address is an indirect flag (I). If the I bit is 0, then the word contains the EA. If the I bit is 1, then another level of indirection is invoked. There does not appear to be any particular advantage to this approach, and its disadvantage is that three or more memory references could be required to fetch an operand. </a:t>
            </a:r>
            <a:endParaRPr lang="en-US" dirty="0"/>
          </a:p>
          <a:p>
            <a:endParaRPr lang="en-GB"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23555"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10</a:t>
            </a:r>
          </a:p>
        </p:txBody>
      </p:sp>
      <p:sp>
        <p:nvSpPr>
          <p:cNvPr id="23556"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23557"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23558" name="Rectangle 6"/>
          <p:cNvSpPr>
            <a:spLocks noGrp="1" noRot="1" noChangeAspect="1" noChangeArrowheads="1" noTextEdit="1"/>
          </p:cNvSpPr>
          <p:nvPr>
            <p:ph type="sldImg"/>
          </p:nvPr>
        </p:nvSpPr>
        <p:spPr>
          <a:xfrm>
            <a:off x="1150938" y="692150"/>
            <a:ext cx="4556125" cy="3416300"/>
          </a:xfrm>
          <a:ln cap="flat"/>
        </p:spPr>
      </p:sp>
      <p:sp>
        <p:nvSpPr>
          <p:cNvPr id="23559" name="Rectangle 7"/>
          <p:cNvSpPr>
            <a:spLocks noGrp="1" noChangeArrowheads="1"/>
          </p:cNvSpPr>
          <p:nvPr>
            <p:ph type="body" idx="1"/>
          </p:nvPr>
        </p:nvSpPr>
        <p:spPr>
          <a:ln/>
        </p:spPr>
        <p:txBody>
          <a:bodyPr/>
          <a:lstStyle/>
          <a:p>
            <a:r>
              <a:rPr lang="en-US" sz="1200" b="1" kern="1200" dirty="0">
                <a:solidFill>
                  <a:schemeClr val="tx1"/>
                </a:solidFill>
                <a:latin typeface="Times New Roman" pitchFamily="-1" charset="0"/>
                <a:ea typeface="+mn-ea"/>
                <a:cs typeface="+mn-cs"/>
              </a:rPr>
              <a:t>Register addressing </a:t>
            </a:r>
            <a:r>
              <a:rPr lang="en-US" sz="1200" kern="1200" dirty="0">
                <a:solidFill>
                  <a:schemeClr val="tx1"/>
                </a:solidFill>
                <a:latin typeface="Times New Roman" pitchFamily="-1" charset="0"/>
                <a:ea typeface="+mn-ea"/>
                <a:cs typeface="+mn-cs"/>
              </a:rPr>
              <a:t>is similar to direct addressing. The only difference is that the address field refers to a register rather than a main memory address: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EA = R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To clarify, if the contents of a register address field in an instruction is 5, then register R5 is the intended address, and the operand value is contained in R5. Typically, an address field that references registers will have from 3 to 5 bits, so that a total of from 8 to 32 general-purpose registers can be referenced. </a:t>
            </a:r>
            <a:endParaRPr lang="en-US" dirty="0"/>
          </a:p>
          <a:p>
            <a:endParaRPr lang="en-GB" dirty="0"/>
          </a:p>
          <a:p>
            <a:r>
              <a:rPr lang="en-US" sz="1200" kern="1200" dirty="0">
                <a:solidFill>
                  <a:schemeClr val="tx1"/>
                </a:solidFill>
                <a:latin typeface="Times New Roman" pitchFamily="-1" charset="0"/>
                <a:ea typeface="+mn-ea"/>
                <a:cs typeface="+mn-cs"/>
              </a:rPr>
              <a:t>The advantages of register addressing are that (1) only a small address field is needed in the instruction, and (2) no time-consuming memory references are required. As was discussed in Chapter 5, the memory access time for a register internal to the processor is much less than that for a main memory address. The disadvantage of register addressing is that the address space is very limited.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If register addressing is heavily used in an instruction set, this implies that the processor registers will be heavily used. Because of the severely limited number of registers (compared with main memory locations), their use in this fashion makes sense only if they are employed efficiently. If every operand is brought into a register from main memory, operated on once, and then returned to main memory, then a wasteful intermediate step has been added. If, instead, the operand in a register remains in use for multiple operations, then a real savings is achieved. An example is the intermediate result in a calculation. In particular, suppose that the algorithm for twos complement multiplication were to be implemented in software. The location labeled A in the flowchart (Figure 11.12) is referenced many times and should be implemented in a register rather than a main memory location.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It is up to the programmer or compiler to decide which values should remain in registers and which should be stored in main memory. Most modern processors employ multiple general-purpose registers, placing a burden for efficient execution on the assembly-language programmer (e.g., compiler writer). </a:t>
            </a:r>
            <a:endParaRPr lang="en-US" dirty="0"/>
          </a:p>
          <a:p>
            <a:endParaRPr lang="en-GB"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29699"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13</a:t>
            </a:r>
          </a:p>
        </p:txBody>
      </p:sp>
      <p:sp>
        <p:nvSpPr>
          <p:cNvPr id="29700"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29701"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29702" name="Rectangle 6"/>
          <p:cNvSpPr>
            <a:spLocks noGrp="1" noRot="1" noChangeAspect="1" noChangeArrowheads="1" noTextEdit="1"/>
          </p:cNvSpPr>
          <p:nvPr>
            <p:ph type="sldImg"/>
          </p:nvPr>
        </p:nvSpPr>
        <p:spPr>
          <a:xfrm>
            <a:off x="1150938" y="692150"/>
            <a:ext cx="4556125" cy="3416300"/>
          </a:xfrm>
          <a:ln cap="flat"/>
        </p:spPr>
      </p:sp>
      <p:sp>
        <p:nvSpPr>
          <p:cNvPr id="29703"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Just as register addressing is analogous to direct addressing, </a:t>
            </a:r>
            <a:r>
              <a:rPr lang="en-US" sz="1200" b="1" kern="1200" dirty="0">
                <a:solidFill>
                  <a:schemeClr val="tx1"/>
                </a:solidFill>
                <a:latin typeface="Times New Roman" pitchFamily="-1" charset="0"/>
                <a:ea typeface="+mn-ea"/>
                <a:cs typeface="+mn-cs"/>
              </a:rPr>
              <a:t>register indirect addressing </a:t>
            </a:r>
            <a:r>
              <a:rPr lang="en-US" sz="1200" kern="1200" dirty="0">
                <a:solidFill>
                  <a:schemeClr val="tx1"/>
                </a:solidFill>
                <a:latin typeface="Times New Roman" pitchFamily="-1" charset="0"/>
                <a:ea typeface="+mn-ea"/>
                <a:cs typeface="+mn-cs"/>
              </a:rPr>
              <a:t>is analogous to indirect addressing. In both cases, the only difference is whether the address field refers to a memory location or a register. Thus, for register indirect address,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EA = (R)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advantages and limitations of register indirect addressing are basically the same as for indirect addressing. In both cases, the address space limitation (limited range of addresses) of the address field is overcome by having that field refer to a word- length location containing an address. In addition, register indirect addressing uses one less memory reference than indirect addressing. </a:t>
            </a:r>
            <a:endParaRPr lang="en-US" dirty="0"/>
          </a:p>
          <a:p>
            <a:endParaRPr lang="en-GB"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3795"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15</a:t>
            </a:r>
          </a:p>
        </p:txBody>
      </p:sp>
      <p:sp>
        <p:nvSpPr>
          <p:cNvPr id="33796"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3797"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3798" name="Rectangle 6"/>
          <p:cNvSpPr>
            <a:spLocks noGrp="1" noRot="1" noChangeAspect="1" noChangeArrowheads="1" noTextEdit="1"/>
          </p:cNvSpPr>
          <p:nvPr>
            <p:ph type="sldImg"/>
          </p:nvPr>
        </p:nvSpPr>
        <p:spPr>
          <a:xfrm>
            <a:off x="1150938" y="692150"/>
            <a:ext cx="4556125" cy="3416300"/>
          </a:xfrm>
          <a:ln cap="flat"/>
        </p:spPr>
      </p:sp>
      <p:sp>
        <p:nvSpPr>
          <p:cNvPr id="33799" name="Rectangle 7"/>
          <p:cNvSpPr>
            <a:spLocks noGrp="1" noChangeArrowheads="1"/>
          </p:cNvSpPr>
          <p:nvPr>
            <p:ph type="body" idx="1"/>
          </p:nvPr>
        </p:nvSpPr>
        <p:spPr>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A very powerful mode of addressing combines the capabilities of direct addressing and register indirect addressing. It is known by a variety of names depending on the context of its use, but the basic mechanism is the same. We will refer to this as </a:t>
            </a:r>
            <a:r>
              <a:rPr lang="en-US" sz="1200" b="1" kern="1200" dirty="0">
                <a:solidFill>
                  <a:schemeClr val="tx1"/>
                </a:solidFill>
                <a:latin typeface="Times New Roman" pitchFamily="-1" charset="0"/>
                <a:ea typeface="+mn-ea"/>
                <a:cs typeface="+mn-cs"/>
              </a:rPr>
              <a:t>displacement addressing: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b="1"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0" kern="1200" dirty="0">
                <a:solidFill>
                  <a:schemeClr val="tx1"/>
                </a:solidFill>
                <a:latin typeface="Times New Roman" pitchFamily="-1" charset="0"/>
                <a:ea typeface="+mn-ea"/>
                <a:cs typeface="+mn-cs"/>
              </a:rPr>
              <a:t>EA = A + (</a:t>
            </a:r>
            <a:r>
              <a:rPr lang="en-US" sz="1200" b="0" kern="1200" baseline="0" dirty="0">
                <a:solidFill>
                  <a:schemeClr val="tx1"/>
                </a:solidFill>
                <a:latin typeface="Times New Roman" pitchFamily="-1" charset="0"/>
                <a:ea typeface="+mn-ea"/>
                <a:cs typeface="+mn-cs"/>
              </a:rPr>
              <a:t> R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b="1" kern="1200" baseline="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Displacement addressing requires that the instruction have two address fields, at least one of which is explicit. The value contained in one address field (value = A) is used directly. The other address field, or an implicit reference based on opcode, refers to a register whose contents are added to A to produce the effective address.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r>
              <a:rPr lang="en-US" sz="1200" kern="1200" dirty="0">
                <a:solidFill>
                  <a:schemeClr val="tx1"/>
                </a:solidFill>
                <a:latin typeface="Times New Roman" pitchFamily="-1" charset="0"/>
                <a:ea typeface="+mn-ea"/>
                <a:cs typeface="+mn-cs"/>
              </a:rPr>
              <a:t>We will describe three of the most common uses of displacement addressing: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Relative addressing</a:t>
            </a:r>
            <a:br>
              <a:rPr lang="en-US" sz="1200" kern="1200" dirty="0">
                <a:solidFill>
                  <a:schemeClr val="tx1"/>
                </a:solidFill>
                <a:latin typeface="Times New Roman" pitchFamily="-1" charset="0"/>
                <a:ea typeface="+mn-ea"/>
                <a:cs typeface="+mn-cs"/>
              </a:rPr>
            </a:br>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Base-register addressing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Indexing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GB"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7891"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17</a:t>
            </a:r>
          </a:p>
        </p:txBody>
      </p:sp>
      <p:sp>
        <p:nvSpPr>
          <p:cNvPr id="37892"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7893"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7894" name="Rectangle 6"/>
          <p:cNvSpPr>
            <a:spLocks noGrp="1" noRot="1" noChangeAspect="1" noChangeArrowheads="1" noTextEdit="1"/>
          </p:cNvSpPr>
          <p:nvPr>
            <p:ph type="sldImg"/>
          </p:nvPr>
        </p:nvSpPr>
        <p:spPr>
          <a:xfrm>
            <a:off x="1150938" y="692150"/>
            <a:ext cx="4556125" cy="3416300"/>
          </a:xfrm>
          <a:ln cap="flat"/>
        </p:spPr>
      </p:sp>
      <p:sp>
        <p:nvSpPr>
          <p:cNvPr id="37895"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For relative addressing, also called PC-relative addressing, the implicitly referenced register is the program counter (PC). That is, the next instruction address is added to the address field to produce the EA. Typically, the address field is treated as a twos complement number for this operation. Thus, the effective address is a displacement relative to the address of the instruction.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Relative addressing exploits the concept of locality that was discussed in Chapters 4 and 9. If most memory references are relatively near to the instruction being executed, then the use of relative addressing saves address bits in the instruction. </a:t>
            </a:r>
            <a:endParaRPr lang="en-US" dirty="0"/>
          </a:p>
          <a:p>
            <a:endParaRPr lang="en-GB"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9939"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18</a:t>
            </a:r>
          </a:p>
        </p:txBody>
      </p:sp>
      <p:sp>
        <p:nvSpPr>
          <p:cNvPr id="39940"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9941"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9942" name="Rectangle 6"/>
          <p:cNvSpPr>
            <a:spLocks noGrp="1" noRot="1" noChangeAspect="1" noChangeArrowheads="1" noTextEdit="1"/>
          </p:cNvSpPr>
          <p:nvPr>
            <p:ph type="sldImg"/>
          </p:nvPr>
        </p:nvSpPr>
        <p:spPr>
          <a:xfrm>
            <a:off x="1150938" y="692150"/>
            <a:ext cx="4556125" cy="3416300"/>
          </a:xfrm>
          <a:ln cap="flat"/>
        </p:spPr>
      </p:sp>
      <p:sp>
        <p:nvSpPr>
          <p:cNvPr id="39943"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For </a:t>
            </a:r>
            <a:r>
              <a:rPr lang="en-US" sz="1200" b="1" kern="1200" dirty="0">
                <a:solidFill>
                  <a:schemeClr val="tx1"/>
                </a:solidFill>
                <a:latin typeface="Times New Roman" pitchFamily="-1" charset="0"/>
                <a:ea typeface="+mn-ea"/>
                <a:cs typeface="+mn-cs"/>
              </a:rPr>
              <a:t>base-register addressing, </a:t>
            </a:r>
            <a:r>
              <a:rPr lang="en-US" sz="1200" kern="1200" dirty="0">
                <a:solidFill>
                  <a:schemeClr val="tx1"/>
                </a:solidFill>
                <a:latin typeface="Times New Roman" pitchFamily="-1" charset="0"/>
                <a:ea typeface="+mn-ea"/>
                <a:cs typeface="+mn-cs"/>
              </a:rPr>
              <a:t>the interpretation is the following: The referenced register contains a main memory address, and the address field contains a displacement (usually an unsigned integer representation) from that address. The register reference may be explicit or implicit.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Base-register addressing also exploits the locality of memory references. It is a convenient means of implementing segmentation, which was discussed in Chapter 9. In some implementations, a single segment-base register is employed and is used implicitly. In others, the programmer may choose a register to hold the base address of a segment, and the instruction must reference it explicitly. In this latter case, if the length of the address field is </a:t>
            </a:r>
            <a:r>
              <a:rPr lang="en-US" sz="1200" i="1" kern="1200" dirty="0">
                <a:solidFill>
                  <a:schemeClr val="tx1"/>
                </a:solidFill>
                <a:latin typeface="Times New Roman" pitchFamily="-1" charset="0"/>
                <a:ea typeface="+mn-ea"/>
                <a:cs typeface="+mn-cs"/>
              </a:rPr>
              <a:t>K </a:t>
            </a:r>
            <a:r>
              <a:rPr lang="en-US" sz="1200" kern="1200" dirty="0">
                <a:solidFill>
                  <a:schemeClr val="tx1"/>
                </a:solidFill>
                <a:latin typeface="Times New Roman" pitchFamily="-1" charset="0"/>
                <a:ea typeface="+mn-ea"/>
                <a:cs typeface="+mn-cs"/>
              </a:rPr>
              <a:t>and the number of possible registers is </a:t>
            </a:r>
            <a:r>
              <a:rPr lang="en-US" sz="1200" i="1" kern="1200" dirty="0">
                <a:solidFill>
                  <a:schemeClr val="tx1"/>
                </a:solidFill>
                <a:latin typeface="Times New Roman" pitchFamily="-1" charset="0"/>
                <a:ea typeface="+mn-ea"/>
                <a:cs typeface="+mn-cs"/>
              </a:rPr>
              <a:t>N, </a:t>
            </a:r>
            <a:r>
              <a:rPr lang="en-US" sz="1200" kern="1200" dirty="0">
                <a:solidFill>
                  <a:schemeClr val="tx1"/>
                </a:solidFill>
                <a:latin typeface="Times New Roman" pitchFamily="-1" charset="0"/>
                <a:ea typeface="+mn-ea"/>
                <a:cs typeface="+mn-cs"/>
              </a:rPr>
              <a:t>then one instruction can reference any one of </a:t>
            </a:r>
            <a:r>
              <a:rPr lang="en-US" sz="1200" i="1" kern="1200" dirty="0">
                <a:solidFill>
                  <a:schemeClr val="tx1"/>
                </a:solidFill>
                <a:latin typeface="Times New Roman" pitchFamily="-1" charset="0"/>
                <a:ea typeface="+mn-ea"/>
                <a:cs typeface="+mn-cs"/>
              </a:rPr>
              <a:t>N </a:t>
            </a:r>
            <a:r>
              <a:rPr lang="en-US" sz="1200" kern="1200" dirty="0">
                <a:solidFill>
                  <a:schemeClr val="tx1"/>
                </a:solidFill>
                <a:latin typeface="Times New Roman" pitchFamily="-1" charset="0"/>
                <a:ea typeface="+mn-ea"/>
                <a:cs typeface="+mn-cs"/>
              </a:rPr>
              <a:t>areas of 2</a:t>
            </a:r>
            <a:r>
              <a:rPr lang="en-US" sz="1200" kern="1200" baseline="30000" dirty="0">
                <a:solidFill>
                  <a:schemeClr val="tx1"/>
                </a:solidFill>
                <a:latin typeface="Times New Roman" pitchFamily="-1" charset="0"/>
                <a:ea typeface="+mn-ea"/>
                <a:cs typeface="+mn-cs"/>
              </a:rPr>
              <a:t>K</a:t>
            </a:r>
            <a:r>
              <a:rPr lang="en-US" sz="1200" kern="1200" dirty="0">
                <a:solidFill>
                  <a:schemeClr val="tx1"/>
                </a:solidFill>
                <a:latin typeface="Times New Roman" pitchFamily="-1" charset="0"/>
                <a:ea typeface="+mn-ea"/>
                <a:cs typeface="+mn-cs"/>
              </a:rPr>
              <a:t> words. </a:t>
            </a:r>
            <a:endParaRPr lang="en-US" dirty="0"/>
          </a:p>
          <a:p>
            <a:endParaRPr lang="en-GB"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1987"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19</a:t>
            </a:r>
          </a:p>
        </p:txBody>
      </p:sp>
      <p:sp>
        <p:nvSpPr>
          <p:cNvPr id="41988"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1989"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1990" name="Rectangle 6"/>
          <p:cNvSpPr>
            <a:spLocks noGrp="1" noRot="1" noChangeAspect="1" noChangeArrowheads="1" noTextEdit="1"/>
          </p:cNvSpPr>
          <p:nvPr>
            <p:ph type="sldImg"/>
          </p:nvPr>
        </p:nvSpPr>
        <p:spPr>
          <a:xfrm>
            <a:off x="1150938" y="692150"/>
            <a:ext cx="4556125" cy="3416300"/>
          </a:xfrm>
          <a:ln cap="flat"/>
        </p:spPr>
      </p:sp>
      <p:sp>
        <p:nvSpPr>
          <p:cNvPr id="41991"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For indexing, the interpretation is typically the following: The address field references a main memory address, and the referenced register contains a positive displacement from that address. Note that this usage is just the opposite of the interpretation for base-register addressing. Of course, it is more than just a matter of user interpretation. Because the address field is considered to be a memory address in indexing, it generally contains more bits than an address field in a comparable base-register instruction. Also, we shall see that there are some refinements to indexing that would not be as useful in the base-register context. Nevertheless, the method of calculating the EA is the same for both base-register addressing and indexing, and in both cases the register reference is sometimes explicit and sometimes implicit (for different processor types).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An important use of indexing is to provide an efficient mechanism for per- forming iterative operations. Consider, for example, a list of numbers stored starting at location A. Suppose that we would like to add 1 to each element on the list. We need to fetch each value, add 1 to it, and store it back. The sequence of effective addresses that we need is A, A + 1, A + 2,..., up to the last location on the list. With indexing, this is easily done. The value A is stored in the instruction’s address field, and the chosen register, called an </a:t>
            </a:r>
            <a:r>
              <a:rPr lang="en-US" sz="1200" i="1" kern="1200" dirty="0">
                <a:solidFill>
                  <a:schemeClr val="tx1"/>
                </a:solidFill>
                <a:latin typeface="Times New Roman" pitchFamily="-1" charset="0"/>
                <a:ea typeface="+mn-ea"/>
                <a:cs typeface="+mn-cs"/>
              </a:rPr>
              <a:t>index register, </a:t>
            </a:r>
            <a:r>
              <a:rPr lang="en-US" sz="1200" kern="1200" dirty="0">
                <a:solidFill>
                  <a:schemeClr val="tx1"/>
                </a:solidFill>
                <a:latin typeface="Times New Roman" pitchFamily="-1" charset="0"/>
                <a:ea typeface="+mn-ea"/>
                <a:cs typeface="+mn-cs"/>
              </a:rPr>
              <a:t>is initialized to 0. After each operation, the index register is incremented by 1.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Because index registers are commonly used for such iterative tasks, it is typical that there is a need to increment or decrement the index register after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each reference to it. Because this is such a common operation, some systems will automatically do this as part of the same instruction cycle. This is known as </a:t>
            </a:r>
            <a:r>
              <a:rPr lang="en-US" sz="1200" b="1" kern="1200" dirty="0">
                <a:solidFill>
                  <a:schemeClr val="tx1"/>
                </a:solidFill>
                <a:latin typeface="Times New Roman" pitchFamily="-1" charset="0"/>
                <a:ea typeface="+mn-ea"/>
                <a:cs typeface="+mn-cs"/>
              </a:rPr>
              <a:t>autoindexing. </a:t>
            </a:r>
            <a:r>
              <a:rPr lang="en-US" sz="1200" kern="1200" dirty="0">
                <a:solidFill>
                  <a:schemeClr val="tx1"/>
                </a:solidFill>
                <a:latin typeface="Times New Roman" pitchFamily="-1" charset="0"/>
                <a:ea typeface="+mn-ea"/>
                <a:cs typeface="+mn-cs"/>
              </a:rPr>
              <a:t>If certain registers are devoted exclusively to indexing, then autoindexing can be invoked implicitly and automatically. If general-purpose registers are used, the autoindex operation may need to be signaled by a bit in the instruction.</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In some machines, both indirect addressing and indexing are provided, and it is possible to employ both in the same instruction. There are two possibilities: the indexing is performed either before or after the indirection.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If indexing is performed after the indirection, it is termed </a:t>
            </a:r>
            <a:r>
              <a:rPr lang="en-US" sz="1200" b="1" kern="1200" dirty="0">
                <a:solidFill>
                  <a:schemeClr val="tx1"/>
                </a:solidFill>
                <a:latin typeface="Times New Roman" pitchFamily="-1" charset="0"/>
                <a:ea typeface="+mn-ea"/>
                <a:cs typeface="+mn-cs"/>
              </a:rPr>
              <a:t>postindexing.</a:t>
            </a:r>
          </a:p>
          <a:p>
            <a:endParaRPr lang="en-US" sz="1200" b="1"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First, the contents of the address field are used to access a memory location containing a direct address. This address is then indexed by the register value. This technique is useful for accessing one of a number of blocks of data of a fixed format. For example, it was described in Chapter 8 that the operating system needs to employ a process control block for each process. The operations performed are the same regardless of which block is being manipulated. Thus, the addresses in the instructions that reference the block could point to a location (value = A) containing a variable pointer to the start of a process control block. The index register contains the displacement within the block.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With </a:t>
            </a:r>
            <a:r>
              <a:rPr lang="en-US" sz="1200" b="1" kern="1200" dirty="0">
                <a:solidFill>
                  <a:schemeClr val="tx1"/>
                </a:solidFill>
                <a:latin typeface="Times New Roman" pitchFamily="-1" charset="0"/>
                <a:ea typeface="+mn-ea"/>
                <a:cs typeface="+mn-cs"/>
              </a:rPr>
              <a:t>preindexing, </a:t>
            </a:r>
            <a:r>
              <a:rPr lang="en-US" sz="1200" kern="1200" dirty="0">
                <a:solidFill>
                  <a:schemeClr val="tx1"/>
                </a:solidFill>
                <a:latin typeface="Times New Roman" pitchFamily="-1" charset="0"/>
                <a:ea typeface="+mn-ea"/>
                <a:cs typeface="+mn-cs"/>
              </a:rPr>
              <a:t>the indexing is performed before the indirection.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An address is calculated as with simple indexing. In this case, however, the calculated address contains not the operand, but the address of the operand. An example of the use of this technique is to construct a multiway branch table. At a particular point in a program, there may be a branch to one of a number of locations depending on conditions. A table of addresses can be set up starting at location A. By indexing into this table, the required location can be found.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Typically, an instruction set will not include both preindexing and postindexing. </a:t>
            </a:r>
            <a:endParaRPr lang="en-US" dirty="0"/>
          </a:p>
          <a:p>
            <a:endParaRPr lang="en-US" dirty="0"/>
          </a:p>
          <a:p>
            <a:r>
              <a:rPr lang="en-US" sz="1200" b="1" kern="1200" dirty="0">
                <a:solidFill>
                  <a:schemeClr val="tx1"/>
                </a:solidFill>
                <a:latin typeface="Times New Roman" pitchFamily="-1" charset="0"/>
                <a:ea typeface="+mn-ea"/>
                <a:cs typeface="+mn-cs"/>
              </a:rPr>
              <a:t>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 </a:t>
            </a:r>
            <a:endParaRPr lang="en-US" dirty="0"/>
          </a:p>
          <a:p>
            <a:endParaRPr lang="en-GB"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6083"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21</a:t>
            </a:r>
          </a:p>
        </p:txBody>
      </p:sp>
      <p:sp>
        <p:nvSpPr>
          <p:cNvPr id="46084"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6085"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6086" name="Rectangle 6"/>
          <p:cNvSpPr>
            <a:spLocks noGrp="1" noRot="1" noChangeAspect="1" noChangeArrowheads="1" noTextEdit="1"/>
          </p:cNvSpPr>
          <p:nvPr>
            <p:ph type="sldImg"/>
          </p:nvPr>
        </p:nvSpPr>
        <p:spPr>
          <a:xfrm>
            <a:off x="1150938" y="692150"/>
            <a:ext cx="4556125" cy="3416300"/>
          </a:xfrm>
          <a:ln cap="flat"/>
        </p:spPr>
      </p:sp>
      <p:sp>
        <p:nvSpPr>
          <p:cNvPr id="46087" name="Rectangle 7"/>
          <p:cNvSpPr>
            <a:spLocks noGrp="1" noChangeArrowheads="1"/>
          </p:cNvSpPr>
          <p:nvPr>
            <p:ph type="body" idx="1"/>
          </p:nvPr>
        </p:nvSpPr>
        <p:spPr>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The final addressing mode that we consider is stack addressing. As defined in Appendix E, a stack is a linear array of locations. It is sometimes referred to as a </a:t>
            </a:r>
            <a:r>
              <a:rPr lang="en-US" sz="1200" i="1" kern="1200" dirty="0">
                <a:solidFill>
                  <a:schemeClr val="tx1"/>
                </a:solidFill>
                <a:latin typeface="Times New Roman" pitchFamily="-1" charset="0"/>
                <a:ea typeface="+mn-ea"/>
                <a:cs typeface="+mn-cs"/>
              </a:rPr>
              <a:t>pushdown list </a:t>
            </a:r>
            <a:r>
              <a:rPr lang="en-US" sz="1200" kern="1200" dirty="0">
                <a:solidFill>
                  <a:schemeClr val="tx1"/>
                </a:solidFill>
                <a:latin typeface="Times New Roman" pitchFamily="-1" charset="0"/>
                <a:ea typeface="+mn-ea"/>
                <a:cs typeface="+mn-cs"/>
              </a:rPr>
              <a:t>or </a:t>
            </a:r>
            <a:r>
              <a:rPr lang="en-US" sz="1200" i="1" kern="1200" dirty="0">
                <a:solidFill>
                  <a:schemeClr val="tx1"/>
                </a:solidFill>
                <a:latin typeface="Times New Roman" pitchFamily="-1" charset="0"/>
                <a:ea typeface="+mn-ea"/>
                <a:cs typeface="+mn-cs"/>
              </a:rPr>
              <a:t>last-in-first-out queue. </a:t>
            </a:r>
            <a:r>
              <a:rPr lang="en-US" sz="1200" kern="1200" dirty="0">
                <a:solidFill>
                  <a:schemeClr val="tx1"/>
                </a:solidFill>
                <a:latin typeface="Times New Roman" pitchFamily="-1" charset="0"/>
                <a:ea typeface="+mn-ea"/>
                <a:cs typeface="+mn-cs"/>
              </a:rPr>
              <a:t>The stack is a reserved block of locations. Items are appended to the top of the stack so that, at any given time, the block is partially filled. Associated with the stack is a pointer whose value is the address of the top of the stack. Alternatively, the top two elements of the stack may be in processor registers, in which case the stack pointer references the third element of the stack. The stack pointer is maintained in a register. Thus, references to stack locations in memory are in fact register indirect addresses.</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The stack mode of addressing is a form of implied addressing. The machine instructions need not include a memory reference but implicitly operate on the top of the stack.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 </a:t>
            </a:r>
            <a:endParaRPr lang="en-US" dirty="0"/>
          </a:p>
          <a:p>
            <a:endParaRPr lang="en-GB"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These modes are illustrated in Figure 14.1. In this section, we use the following notation: </a:t>
            </a:r>
            <a:endParaRPr lang="en-US" dirty="0"/>
          </a:p>
          <a:p>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A = contents of an address field in the instruction</a:t>
            </a:r>
            <a:br>
              <a:rPr lang="en-US" sz="1200" kern="1200" dirty="0">
                <a:solidFill>
                  <a:schemeClr val="tx1"/>
                </a:solidFill>
                <a:latin typeface="Times New Roman" pitchFamily="-1" charset="0"/>
                <a:ea typeface="+mn-ea"/>
                <a:cs typeface="+mn-cs"/>
              </a:rPr>
            </a:br>
            <a:r>
              <a:rPr lang="en-US" sz="1200" kern="1200" dirty="0">
                <a:solidFill>
                  <a:schemeClr val="tx1"/>
                </a:solidFill>
                <a:latin typeface="Times New Roman" pitchFamily="-1" charset="0"/>
                <a:ea typeface="+mn-ea"/>
                <a:cs typeface="+mn-cs"/>
              </a:rPr>
              <a:t>R = contents of an address field in the instruction that refers to a register </a:t>
            </a:r>
            <a:endParaRPr lang="en-US" dirty="0"/>
          </a:p>
          <a:p>
            <a:r>
              <a:rPr lang="en-US" sz="1200" kern="1200" dirty="0">
                <a:solidFill>
                  <a:schemeClr val="tx1"/>
                </a:solidFill>
                <a:latin typeface="Times New Roman" pitchFamily="-1" charset="0"/>
                <a:ea typeface="+mn-ea"/>
                <a:cs typeface="+mn-cs"/>
              </a:rPr>
              <a:t>EA = actual (effective) address of the location containing the referenced operand </a:t>
            </a:r>
            <a:endParaRPr lang="en-US" dirty="0"/>
          </a:p>
          <a:p>
            <a:r>
              <a:rPr lang="en-US" sz="1200" kern="1200" dirty="0">
                <a:solidFill>
                  <a:schemeClr val="tx1"/>
                </a:solidFill>
                <a:latin typeface="Times New Roman" pitchFamily="-1" charset="0"/>
                <a:ea typeface="+mn-ea"/>
                <a:cs typeface="+mn-cs"/>
              </a:rPr>
              <a:t>(X) = contents of memory location X or register X</a:t>
            </a:r>
            <a:br>
              <a:rPr lang="en-US" sz="1200" kern="1200" dirty="0">
                <a:solidFill>
                  <a:schemeClr val="tx1"/>
                </a:solidFill>
                <a:latin typeface="Times New Roman" pitchFamily="-1" charset="0"/>
                <a:ea typeface="+mn-ea"/>
                <a:cs typeface="+mn-cs"/>
              </a:rPr>
            </a:br>
            <a:endParaRPr lang="en-US" dirty="0"/>
          </a:p>
          <a:p>
            <a:endParaRPr lang="en-US" dirty="0"/>
          </a:p>
        </p:txBody>
      </p:sp>
    </p:spTree>
    <p:extLst>
      <p:ext uri="{BB962C8B-B14F-4D97-AF65-F5344CB8AC3E}">
        <p14:creationId xmlns:p14="http://schemas.microsoft.com/office/powerpoint/2010/main" val="376232754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Times New Roman" pitchFamily="-1" charset="0"/>
                <a:ea typeface="+mn-ea"/>
                <a:cs typeface="+mn-cs"/>
              </a:rPr>
              <a:t>Table 14.1 indicates the address calculation performed for each addressing  mode. </a:t>
            </a:r>
            <a:endParaRPr lang="en-US" dirty="0"/>
          </a:p>
          <a:p>
            <a:endParaRPr lang="en-US" dirty="0"/>
          </a:p>
          <a:p>
            <a:r>
              <a:rPr lang="en-US" sz="1200" kern="1200" dirty="0">
                <a:solidFill>
                  <a:schemeClr val="tx1"/>
                </a:solidFill>
                <a:latin typeface="Times New Roman" pitchFamily="-1" charset="0"/>
                <a:ea typeface="+mn-ea"/>
                <a:cs typeface="+mn-cs"/>
              </a:rPr>
              <a:t>Before beginning this discussion, two comments need to be made. First, virtually all computer architectures provide more than one of these addressing modes. The question arises as to how the processor can determine which address mode is being used in a particular instruction. Several approaches are taken. Often, different opcodes will use different addressing modes. Also, one or more bits in the instruction format can be used as a </a:t>
            </a:r>
            <a:r>
              <a:rPr lang="en-US" sz="1200" i="1" kern="1200" dirty="0">
                <a:solidFill>
                  <a:schemeClr val="tx1"/>
                </a:solidFill>
                <a:latin typeface="Times New Roman" pitchFamily="-1" charset="0"/>
                <a:ea typeface="+mn-ea"/>
                <a:cs typeface="+mn-cs"/>
              </a:rPr>
              <a:t>mode field. </a:t>
            </a:r>
            <a:r>
              <a:rPr lang="en-US" sz="1200" kern="1200" dirty="0">
                <a:solidFill>
                  <a:schemeClr val="tx1"/>
                </a:solidFill>
                <a:latin typeface="Times New Roman" pitchFamily="-1" charset="0"/>
                <a:ea typeface="+mn-ea"/>
                <a:cs typeface="+mn-cs"/>
              </a:rPr>
              <a:t>The value of the mode field determines which addressing mode is to be used.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second comment concerns the interpretation of the effective address (EA). In a system without virtual memory, the </a:t>
            </a:r>
            <a:r>
              <a:rPr lang="en-US" sz="1200" b="1" kern="1200" dirty="0">
                <a:solidFill>
                  <a:schemeClr val="tx1"/>
                </a:solidFill>
                <a:latin typeface="Times New Roman" pitchFamily="-1" charset="0"/>
                <a:ea typeface="+mn-ea"/>
                <a:cs typeface="+mn-cs"/>
              </a:rPr>
              <a:t>effective address </a:t>
            </a:r>
            <a:r>
              <a:rPr lang="en-US" sz="1200" kern="1200" dirty="0">
                <a:solidFill>
                  <a:schemeClr val="tx1"/>
                </a:solidFill>
                <a:latin typeface="Times New Roman" pitchFamily="-1" charset="0"/>
                <a:ea typeface="+mn-ea"/>
                <a:cs typeface="+mn-cs"/>
              </a:rPr>
              <a:t>will be either a main memory address or a register. In a virtual memory system, the effective address is a virtual address or a register. The actual mapping to a physical address is a function of the memory management unit (MMU) and is invisible to the programmer. </a:t>
            </a:r>
            <a:endParaRPr lang="en-US" dirty="0"/>
          </a:p>
          <a:p>
            <a:endParaRPr lang="en-US" dirty="0"/>
          </a:p>
        </p:txBody>
      </p:sp>
    </p:spTree>
    <p:extLst>
      <p:ext uri="{BB962C8B-B14F-4D97-AF65-F5344CB8AC3E}">
        <p14:creationId xmlns:p14="http://schemas.microsoft.com/office/powerpoint/2010/main" val="342375234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1026"/>
          <p:cNvSpPr>
            <a:spLocks noGrp="1" noRot="1" noChangeAspect="1" noChangeArrowheads="1" noTextEdit="1"/>
          </p:cNvSpPr>
          <p:nvPr>
            <p:ph type="sldImg"/>
          </p:nvPr>
        </p:nvSpPr>
        <p:spPr>
          <a:xfrm>
            <a:off x="1150938" y="692150"/>
            <a:ext cx="4556125" cy="3416300"/>
          </a:xfrm>
          <a:ln/>
        </p:spPr>
      </p:sp>
      <p:sp>
        <p:nvSpPr>
          <p:cNvPr id="110595" name="Rectangle 1027"/>
          <p:cNvSpPr>
            <a:spLocks noGrp="1" noChangeArrowheads="1"/>
          </p:cNvSpPr>
          <p:nvPr>
            <p:ph type="body" idx="1"/>
          </p:nvPr>
        </p:nvSpPr>
        <p:spPr/>
        <p:txBody>
          <a:bodyPr/>
          <a:lstStyle/>
          <a:p>
            <a:r>
              <a:rPr lang="en-US" sz="1200" kern="1200" dirty="0">
                <a:solidFill>
                  <a:schemeClr val="tx1"/>
                </a:solidFill>
                <a:latin typeface="Times New Roman" pitchFamily="-1" charset="0"/>
                <a:ea typeface="+mn-ea"/>
                <a:cs typeface="+mn-cs"/>
              </a:rPr>
              <a:t>An instruction format defines the layout of the bits of an instruction, in terms of its constituent fields. An instruction format must include an opcode and, implicitly or explicitly, zero or more operands. Each explicit operand is referenced using one of the addressing modes described in Section 14.1. The format must, implicitly or explicitly, indicate the addressing mode for each operand. For most instruction sets, more than one instruction format is used.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design of an instruction format is a complex art, and an amazing variety of designs have been implemented. We examine the key design issues, looking briefly at some designs to illustrate points, and then we examine the x86 and ARM solutions in detail. </a:t>
            </a:r>
            <a:endParaRPr lang="en-US" dirty="0"/>
          </a:p>
          <a:p>
            <a:endParaRPr lang="en-GB"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Rot="1" noChangeAspect="1" noChangeArrowheads="1" noTextEdit="1"/>
          </p:cNvSpPr>
          <p:nvPr>
            <p:ph type="sldImg"/>
          </p:nvPr>
        </p:nvSpPr>
        <p:spPr>
          <a:xfrm>
            <a:off x="1150938" y="692150"/>
            <a:ext cx="4556125" cy="3416300"/>
          </a:xfrm>
          <a:ln/>
        </p:spPr>
      </p:sp>
      <p:sp>
        <p:nvSpPr>
          <p:cNvPr id="111619" name="Rectangle 3"/>
          <p:cNvSpPr>
            <a:spLocks noGrp="1" noChangeArrowheads="1"/>
          </p:cNvSpPr>
          <p:nvPr>
            <p:ph type="body" idx="1"/>
          </p:nvPr>
        </p:nvSpPr>
        <p:spPr/>
        <p:txBody>
          <a:bodyPr/>
          <a:lstStyle/>
          <a:p>
            <a:r>
              <a:rPr lang="en-US" sz="1200" kern="1200" dirty="0">
                <a:solidFill>
                  <a:schemeClr val="tx1"/>
                </a:solidFill>
                <a:latin typeface="Times New Roman" pitchFamily="-1" charset="0"/>
                <a:ea typeface="+mn-ea"/>
                <a:cs typeface="+mn-cs"/>
              </a:rPr>
              <a:t>The most basic design issue to be faced is the instruction format length. This decision affects, and is affected by, memory size, memory organization, bus structure, processor complexity, and processor speed. This decision determines the richness and flexibility of the machine as seen by the assembly-language programmer.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most obvious trade-off here is between the desire for a powerful instruction repertoire and a need to save space. Programmers want more opcodes, more operands, more addressing modes, and greater address range. More opcodes and more operands make life easier for the programmer, because shorter programs can be written to accomplish given tasks. Similarly, more addressing modes give the programmer greater flexibility in implementing certain functions, such as table manipulations and multiple-way branching. And, of course, with the increase in main memory size and the increasing use of virtual memory, programmers want to be able to address larger memory ranges. All of these things (opcodes, operands, addressing modes, address range) require bits and push in the direction of longer instruction lengths. But longer instruction length may be wasteful. A 64-bit instruction occupies twice the space of a 32-bit instruction but is probably less than twice as useful.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Beyond this basic trade-off, there are other considerations. Either the instruction length should be equal to the memory-transfer length (in a bus system, data- bus length) or one should be a multiple of the other. Otherwise, we will not get an integral number of instructions during a fetch cycle. A related consideration is the memory transfer rate. This rate has not kept up with increases in processor speed. Accordingly, memory can become a bottleneck if the processor can execute instructions faster than it can fetch them. One solution to this problem is to use cache memory (see Section 4.3); another is to use shorter instructions. Thus, 16-bit instructions can be fetched at twice the rate of 32-bit instructions but probably can be executed less than twice as rapidly.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 seemingly mundane but nevertheless important feature is that the instruction length should be a multiple of the character length, which is usually 8 bits, and of the length of fixed-point numbers. To see this, we need to make use of that unfortunately ill-defined word, </a:t>
            </a:r>
            <a:r>
              <a:rPr lang="en-US" sz="1200" i="1" kern="1200" dirty="0">
                <a:solidFill>
                  <a:schemeClr val="tx1"/>
                </a:solidFill>
                <a:latin typeface="Times New Roman" pitchFamily="-1" charset="0"/>
                <a:ea typeface="+mn-ea"/>
                <a:cs typeface="+mn-cs"/>
              </a:rPr>
              <a:t>word </a:t>
            </a:r>
            <a:r>
              <a:rPr lang="en-US" sz="1200" kern="1200" dirty="0">
                <a:solidFill>
                  <a:schemeClr val="tx1"/>
                </a:solidFill>
                <a:latin typeface="Times New Roman" pitchFamily="-1" charset="0"/>
                <a:ea typeface="+mn-ea"/>
                <a:cs typeface="+mn-cs"/>
              </a:rPr>
              <a:t>[FRAI83]. The word length of memory is, in some sense, the “natural” unit of organization. The size of a word usually determines the size of fixed-point numbers (usually the two are equal). Word size is also typically equal to, or at least integrally related to, the memory transfer size. Because a common form of data is character data, we would like a word to store an integral number of characters. Otherwise, there are wasted bits in each word when storing multiple characters, or a character will have to straddle a word boundary. The importance of this point is such that IBM, when it introduced the System/360 and wanted to employ 8-bit characters, made the wrenching decision to move from the 36-bit architecture of the scientific members of the 700/7000 series to a 32-bit architecture. </a:t>
            </a:r>
            <a:endParaRPr lang="en-US" dirty="0"/>
          </a:p>
          <a:p>
            <a:endParaRPr lang="en-US" dirty="0"/>
          </a:p>
          <a:p>
            <a:endParaRPr lang="en-GB"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a:xfrm>
            <a:off x="1150938" y="692150"/>
            <a:ext cx="4556125" cy="3416300"/>
          </a:xfrm>
          <a:ln/>
        </p:spPr>
      </p:sp>
      <p:sp>
        <p:nvSpPr>
          <p:cNvPr id="112643" name="Rectangle 3"/>
          <p:cNvSpPr>
            <a:spLocks noGrp="1" noChangeArrowheads="1"/>
          </p:cNvSpPr>
          <p:nvPr>
            <p:ph type="body" idx="1"/>
          </p:nvPr>
        </p:nvSpPr>
        <p:spPr/>
        <p:txBody>
          <a:bodyPr/>
          <a:lstStyle/>
          <a:p>
            <a:r>
              <a:rPr lang="en-US" sz="1200" kern="1200" dirty="0">
                <a:solidFill>
                  <a:schemeClr val="tx1"/>
                </a:solidFill>
                <a:latin typeface="Times New Roman" pitchFamily="-1" charset="0"/>
                <a:ea typeface="+mn-ea"/>
                <a:cs typeface="+mn-cs"/>
              </a:rPr>
              <a:t>We’ve looked at some of the factors that go into deciding the length of the instruction format. An equally difficult issue is how to allocate the bits in that format. The trade-offs here are complex.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For a given instruction length, there is clearly a trade-off between the number of opcodes and the power of the addressing capability. More opcodes obviously mean more bits in the opcode field. For an instruction format of a given length, this reduces the number of bits available for addressing. There is one interesting refinement to this trade-off, and that is the use of variable-length opcodes. In this approach, there is a minimum opcode length but, for some opcodes, additional operations may be specified by using additional bits in the instruction. For a fixed- length instruction, this leaves fewer bits for addressing. Thus, this feature is used for those instructions that require fewer operands and/or less powerful addressing.</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following interrelated factors go into determining the use of the addressing bits. </a:t>
            </a:r>
            <a:endParaRPr lang="en-US" dirty="0"/>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Number of addressing modes: </a:t>
            </a:r>
            <a:r>
              <a:rPr lang="en-US" sz="1200" kern="1200" dirty="0">
                <a:solidFill>
                  <a:schemeClr val="tx1"/>
                </a:solidFill>
                <a:latin typeface="Times New Roman" pitchFamily="-1" charset="0"/>
                <a:ea typeface="+mn-ea"/>
                <a:cs typeface="+mn-cs"/>
              </a:rPr>
              <a:t>Sometimes an addressing mode can be indicated implicitly. For example, certain opcodes might always call for indexing. In other cases, the addressing modes must be explicit, and one or more mode bits will be needed.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Number of operands: </a:t>
            </a:r>
            <a:r>
              <a:rPr lang="en-US" sz="1200" b="0" kern="1200" dirty="0">
                <a:solidFill>
                  <a:schemeClr val="tx1"/>
                </a:solidFill>
                <a:latin typeface="Times New Roman" pitchFamily="-1" charset="0"/>
                <a:ea typeface="+mn-ea"/>
                <a:cs typeface="+mn-cs"/>
              </a:rPr>
              <a:t>We have seen that fewer addresses can make for longer, </a:t>
            </a:r>
            <a:r>
              <a:rPr lang="en-US" sz="1200" kern="1200" dirty="0">
                <a:solidFill>
                  <a:schemeClr val="tx1"/>
                </a:solidFill>
                <a:latin typeface="Times New Roman" pitchFamily="-1" charset="0"/>
                <a:ea typeface="+mn-ea"/>
                <a:cs typeface="+mn-cs"/>
              </a:rPr>
              <a:t>more awkward programs (e.g., Figure 13.3). Typical instruction formats on today’s machines include two operands. Each operand address in the instruction might require its own mode indicator, or the use of a mode indicator could be limited to just one of the address fields.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Register versus memory: </a:t>
            </a:r>
            <a:r>
              <a:rPr lang="en-US" sz="1200" kern="1200" dirty="0">
                <a:solidFill>
                  <a:schemeClr val="tx1"/>
                </a:solidFill>
                <a:latin typeface="Times New Roman" pitchFamily="-1" charset="0"/>
                <a:ea typeface="+mn-ea"/>
                <a:cs typeface="+mn-cs"/>
              </a:rPr>
              <a:t>A machine must have registers so that data can be brought into the processor for processing. With a single user-visible register (usually called the accumulator), one operand address is implicit and consumes no instruction bits. However, single-register programming is awkward and requires many instructions. Even with multiple registers, only a few bits are needed to specify the register. The more that registers can be used for operand references, the fewer bits are needed. A number of studies indicate that a total of 8 to 32 user-visible registers is desirable [LUND77, HUCK83]. Most contemporary architectures have at least 32 registers.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Number of register sets: </a:t>
            </a:r>
            <a:r>
              <a:rPr lang="en-US" sz="1200" b="0" kern="1200" dirty="0">
                <a:solidFill>
                  <a:schemeClr val="tx1"/>
                </a:solidFill>
                <a:latin typeface="Times New Roman" pitchFamily="-1" charset="0"/>
                <a:ea typeface="+mn-ea"/>
                <a:cs typeface="+mn-cs"/>
              </a:rPr>
              <a:t>Most contemporary machines have one set of general- </a:t>
            </a:r>
            <a:r>
              <a:rPr lang="en-US" sz="1200" kern="1200" dirty="0">
                <a:solidFill>
                  <a:schemeClr val="tx1"/>
                </a:solidFill>
                <a:latin typeface="Times New Roman" pitchFamily="-1" charset="0"/>
                <a:ea typeface="+mn-ea"/>
                <a:cs typeface="+mn-cs"/>
              </a:rPr>
              <a:t>purpose registers, with typically 32 or more registers in the set. These registers can be used to store data and can be used to store addresses for displacement addressing. Some architectures, including that of the x86, have a collection of two or more specialized sets (such as data and displacement). One advantage of this latter approach is that, for a fixed number of registers, a functional split requires fewer bits to be used in the instruction. For example, with two sets of eight registers, only 3 bits are required to identify a register; the opcode or mode register will determine which set of registers is being referenced.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Address range: </a:t>
            </a:r>
            <a:r>
              <a:rPr lang="en-US" sz="1200" kern="1200" dirty="0">
                <a:solidFill>
                  <a:schemeClr val="tx1"/>
                </a:solidFill>
                <a:latin typeface="Times New Roman" pitchFamily="-1" charset="0"/>
                <a:ea typeface="+mn-ea"/>
                <a:cs typeface="+mn-cs"/>
              </a:rPr>
              <a:t>For addresses that reference memory, the range of addresses that can be referenced is related to the number of address bits. Because this imposes a severe limitation, direct addressing is rarely used. With displacement addressing, the range is opened up to the length of the address register. Even so, it is still convenient to allow rather large displacements from the register address, which requires a relatively large number of address bits in the instruction.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Address granularity: </a:t>
            </a:r>
            <a:r>
              <a:rPr lang="en-US" sz="1200" kern="1200" dirty="0">
                <a:solidFill>
                  <a:schemeClr val="tx1"/>
                </a:solidFill>
                <a:latin typeface="Times New Roman" pitchFamily="-1" charset="0"/>
                <a:ea typeface="+mn-ea"/>
                <a:cs typeface="+mn-cs"/>
              </a:rPr>
              <a:t>For addresses that reference memory rather than registers, another factor is the granularity of addressing. In a system with 16- or 32-bit words, an address can reference a word or a byte at the designer’s choice. Byte addressing is convenient for character manipulation but requires, for a fixed-size memory, more address bits.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Thus, the designer is faced with a host of factors to consider and balance. </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How critical the various choices are is not clear. As an example, we cite one study [CRAG79] that compared various instruction format approaches, including the use of a stack, general-purpose registers, an accumulator, and only memory-to-register approaches. Using a consistent set of assumptions, no significant difference in code space or execution time was observed. </a:t>
            </a:r>
            <a:endParaRPr lang="en-US" dirty="0"/>
          </a:p>
          <a:p>
            <a:endParaRPr lang="en-US" dirty="0"/>
          </a:p>
          <a:p>
            <a:r>
              <a:rPr lang="en-US" sz="1200" kern="1200" dirty="0">
                <a:solidFill>
                  <a:schemeClr val="tx1"/>
                </a:solidFill>
                <a:latin typeface="Times New Roman" pitchFamily="-1" charset="0"/>
                <a:ea typeface="+mn-ea"/>
                <a:cs typeface="+mn-cs"/>
              </a:rPr>
              <a:t> </a:t>
            </a:r>
            <a:endParaRPr lang="en-US" dirty="0"/>
          </a:p>
          <a:p>
            <a:endParaRPr lang="en-GB"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Times New Roman" pitchFamily="-1" charset="0"/>
                <a:ea typeface="+mn-ea"/>
                <a:cs typeface="+mn-cs"/>
              </a:rPr>
              <a:t>The x86 can deal with data types of 8 (byte), 16 (word), 32 (doubleword), 64 (quad- word), and 128 (double quadword) bits in length. To allow maximum flexibility in data structures and efficient memory utilization, words need not be aligned at even- numbered addresses; doublewords need not be aligned at addresses evenly divisible by 4; and quadwords need not be aligned at addresses evenly divisible by 8; and so on. However, when data are accessed across a 32-bit bus, data transfers take place in units of doublewords, beginning at addresses divisible by 4. The processor converts the request for misaligned values into a sequence of requests for the bus transfer. As with all of the Intel 80x86 machines, the x86 uses the little-endian style; that is, the least significant byte is stored in the lowest address (see Appendix 13A for a discussion of endianness).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byte, word, doubleword, quadword, and double quadword are referred to as general data types. In addition, the x86 supports an impressive array of specific data types that are recognized and operated on by particular instructions. Table 13.2 summarizes these types. </a:t>
            </a:r>
            <a:endParaRPr lang="en-US" dirty="0"/>
          </a:p>
          <a:p>
            <a:endParaRPr lang="en-US" dirty="0"/>
          </a:p>
        </p:txBody>
      </p:sp>
    </p:spTree>
    <p:extLst>
      <p:ext uri="{BB962C8B-B14F-4D97-AF65-F5344CB8AC3E}">
        <p14:creationId xmlns:p14="http://schemas.microsoft.com/office/powerpoint/2010/main" val="313218662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Figure 13.4 illustrates the x86 numerical data types. The signed integers are in twos complement representation and may be 16, 32, or 64 bits long. The floating- point type actually refers to a set of types that are used by the floating-point unit and operated on by floating-point instructions. The three floating-point representations conform to the IEEE 754 standard. </a:t>
            </a:r>
            <a:endParaRPr lang="en-US" dirty="0"/>
          </a:p>
          <a:p>
            <a:endParaRPr lang="en-US" dirty="0"/>
          </a:p>
        </p:txBody>
      </p:sp>
    </p:spTree>
    <p:extLst>
      <p:ext uri="{BB962C8B-B14F-4D97-AF65-F5344CB8AC3E}">
        <p14:creationId xmlns:p14="http://schemas.microsoft.com/office/powerpoint/2010/main" val="309587905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5843"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16</a:t>
            </a:r>
          </a:p>
        </p:txBody>
      </p:sp>
      <p:sp>
        <p:nvSpPr>
          <p:cNvPr id="35844"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5845"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5846" name="Rectangle 6"/>
          <p:cNvSpPr>
            <a:spLocks noGrp="1" noRot="1" noChangeAspect="1" noChangeArrowheads="1" noTextEdit="1"/>
          </p:cNvSpPr>
          <p:nvPr>
            <p:ph type="sldImg"/>
          </p:nvPr>
        </p:nvSpPr>
        <p:spPr>
          <a:xfrm>
            <a:off x="1150938" y="692150"/>
            <a:ext cx="4556125" cy="3416300"/>
          </a:xfrm>
          <a:ln cap="flat"/>
        </p:spPr>
      </p:sp>
      <p:sp>
        <p:nvSpPr>
          <p:cNvPr id="35847"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The packed SIMD (single-instruction-multiple-data) data types were introduced to the x86 architecture as part of the extensions of the instruction set to optimize performance of multimedia applications. These extensions include MMX (multimedia extensions) and SSE (streaming SIMD extensions). The basic concept is that multiple operands are packed into a single referenced memory item and that these multiple operands are operated on in parallel. The data types are as follows: </a:t>
            </a:r>
            <a:endParaRPr lang="en-US" dirty="0"/>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Packed byte and packed byte integer: </a:t>
            </a:r>
            <a:r>
              <a:rPr lang="en-US" sz="1200" kern="1200" dirty="0">
                <a:solidFill>
                  <a:schemeClr val="tx1"/>
                </a:solidFill>
                <a:latin typeface="Times New Roman" pitchFamily="-1" charset="0"/>
                <a:ea typeface="+mn-ea"/>
                <a:cs typeface="+mn-cs"/>
              </a:rPr>
              <a:t>Bytes packed into a 64-bit quadword or 128-bit double quadword, interpreted as a bit field or as an integer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Packed word and packed word integer: </a:t>
            </a:r>
            <a:r>
              <a:rPr lang="en-US" sz="1200" b="0" kern="1200" dirty="0">
                <a:solidFill>
                  <a:schemeClr val="tx1"/>
                </a:solidFill>
                <a:latin typeface="Times New Roman" pitchFamily="-1" charset="0"/>
                <a:ea typeface="+mn-ea"/>
                <a:cs typeface="+mn-cs"/>
              </a:rPr>
              <a:t>16-bit words packed into a 64-bit quad-</a:t>
            </a:r>
            <a:r>
              <a:rPr lang="en-US" sz="1200" b="1" kern="1200" dirty="0">
                <a:solidFill>
                  <a:schemeClr val="tx1"/>
                </a:solidFill>
                <a:latin typeface="Times New Roman" pitchFamily="-1" charset="0"/>
                <a:ea typeface="+mn-ea"/>
                <a:cs typeface="+mn-cs"/>
              </a:rPr>
              <a:t> </a:t>
            </a:r>
            <a:r>
              <a:rPr lang="en-US" sz="1200" kern="1200" dirty="0">
                <a:solidFill>
                  <a:schemeClr val="tx1"/>
                </a:solidFill>
                <a:latin typeface="Times New Roman" pitchFamily="-1" charset="0"/>
                <a:ea typeface="+mn-ea"/>
                <a:cs typeface="+mn-cs"/>
              </a:rPr>
              <a:t>word or 128-bit double quadword, interpreted as a bit field or as an integer </a:t>
            </a:r>
          </a:p>
          <a:p>
            <a:endParaRPr lang="en-GB" dirty="0"/>
          </a:p>
          <a:p>
            <a:r>
              <a:rPr lang="en-US" sz="1200" kern="1200" dirty="0">
                <a:solidFill>
                  <a:schemeClr val="tx1"/>
                </a:solidFill>
                <a:latin typeface="Times New Roman" pitchFamily="-1" charset="0"/>
                <a:ea typeface="+mn-ea"/>
                <a:cs typeface="+mn-cs"/>
              </a:rPr>
              <a:t>• </a:t>
            </a:r>
            <a:r>
              <a:rPr lang="en-US" sz="1200" b="1" kern="1200" dirty="0">
                <a:solidFill>
                  <a:schemeClr val="tx1"/>
                </a:solidFill>
                <a:latin typeface="Times New Roman" pitchFamily="-1" charset="0"/>
                <a:ea typeface="+mn-ea"/>
                <a:cs typeface="+mn-cs"/>
              </a:rPr>
              <a:t>Packed doubleword and packed doubleword integer: </a:t>
            </a:r>
            <a:r>
              <a:rPr lang="en-US" sz="1200" kern="1200" dirty="0">
                <a:solidFill>
                  <a:schemeClr val="tx1"/>
                </a:solidFill>
                <a:latin typeface="Times New Roman" pitchFamily="-1" charset="0"/>
                <a:ea typeface="+mn-ea"/>
                <a:cs typeface="+mn-cs"/>
              </a:rPr>
              <a:t>32-bit doublewords packed into a 64-bit quadword or 128-bit double quadword, interpreted as a bit field or as an integer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a:t>
            </a:r>
            <a:r>
              <a:rPr lang="en-US" sz="1200" b="1" kern="1200" dirty="0">
                <a:solidFill>
                  <a:schemeClr val="tx1"/>
                </a:solidFill>
                <a:latin typeface="Times New Roman" pitchFamily="-1" charset="0"/>
                <a:ea typeface="+mn-ea"/>
                <a:cs typeface="+mn-cs"/>
              </a:rPr>
              <a:t>Packed quadword and packed qaudword integer: </a:t>
            </a:r>
            <a:r>
              <a:rPr lang="en-US" sz="1200" kern="1200" dirty="0">
                <a:solidFill>
                  <a:schemeClr val="tx1"/>
                </a:solidFill>
                <a:latin typeface="Times New Roman" pitchFamily="-1" charset="0"/>
                <a:ea typeface="+mn-ea"/>
                <a:cs typeface="+mn-cs"/>
              </a:rPr>
              <a:t>Two 64-bit quadwords packed into a 128-bit double quadword, interpreted as a bit field or as an integer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a:t>
            </a:r>
            <a:r>
              <a:rPr lang="en-US" sz="1200" b="1" kern="1200" dirty="0">
                <a:solidFill>
                  <a:schemeClr val="tx1"/>
                </a:solidFill>
                <a:latin typeface="Times New Roman" pitchFamily="-1" charset="0"/>
                <a:ea typeface="+mn-ea"/>
                <a:cs typeface="+mn-cs"/>
              </a:rPr>
              <a:t>Packed single-precision floating-point and packed double-precision floating- point: </a:t>
            </a:r>
            <a:r>
              <a:rPr lang="en-US" sz="1200" kern="1200" dirty="0">
                <a:solidFill>
                  <a:schemeClr val="tx1"/>
                </a:solidFill>
                <a:latin typeface="Times New Roman" pitchFamily="-1" charset="0"/>
                <a:ea typeface="+mn-ea"/>
                <a:cs typeface="+mn-cs"/>
              </a:rPr>
              <a:t>Four 32-bit floating-point or two 64-bit floating-point values packed into a 128-bit double quadword </a:t>
            </a:r>
            <a:endParaRPr lang="en-US" dirty="0"/>
          </a:p>
          <a:p>
            <a:endParaRPr lang="en-GB" dirty="0"/>
          </a:p>
        </p:txBody>
      </p:sp>
    </p:spTree>
    <p:extLst>
      <p:ext uri="{BB962C8B-B14F-4D97-AF65-F5344CB8AC3E}">
        <p14:creationId xmlns:p14="http://schemas.microsoft.com/office/powerpoint/2010/main" val="272329911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77500" lnSpcReduction="20000"/>
          </a:bodyPr>
          <a:lstStyle/>
          <a:p>
            <a:r>
              <a:rPr lang="en-US" sz="1200" kern="1200" dirty="0">
                <a:solidFill>
                  <a:schemeClr val="tx1"/>
                </a:solidFill>
                <a:latin typeface="Times New Roman" pitchFamily="-1" charset="0"/>
                <a:ea typeface="+mn-ea"/>
                <a:cs typeface="+mn-cs"/>
              </a:rPr>
              <a:t>ARM processors support data types of 8 (byte), 16 (halfword), and 32 (word) bits in length. Normally, halfword access should be halfword aligned and word accesses should be word aligned. For nonaligned access attempts, the architecture supports three alternatives.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Default case: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The address is treated as truncated, with address bits[1:0] treated as zero for word accesses, and address bit[0] treated as zero for halfword accesses.</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Load single word ARM instructions are architecturally defined to rotate right the word-aligned data transferred by a non word-aligned address one, two, or three bytes depending on the value of the two least significant address bits.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a:t>
            </a:r>
            <a:r>
              <a:rPr lang="en-US" sz="1200" b="1" kern="1200" dirty="0">
                <a:solidFill>
                  <a:schemeClr val="tx1"/>
                </a:solidFill>
                <a:latin typeface="Times New Roman" pitchFamily="-1" charset="0"/>
                <a:ea typeface="+mn-ea"/>
                <a:cs typeface="+mn-cs"/>
              </a:rPr>
              <a:t>Alignment checking: </a:t>
            </a:r>
            <a:r>
              <a:rPr lang="en-US" sz="1200" kern="1200" dirty="0">
                <a:solidFill>
                  <a:schemeClr val="tx1"/>
                </a:solidFill>
                <a:latin typeface="Times New Roman" pitchFamily="-1" charset="0"/>
                <a:ea typeface="+mn-ea"/>
                <a:cs typeface="+mn-cs"/>
              </a:rPr>
              <a:t>When the appropriate control bit is set, a data abort signal indicates an alignment fault for attempting unaligned access. </a:t>
            </a:r>
            <a:endParaRPr lang="en-US" dirty="0"/>
          </a:p>
          <a:p>
            <a:endParaRPr lang="en-US" sz="1200"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 </a:t>
            </a:r>
            <a:r>
              <a:rPr lang="en-US" sz="1200" b="1" kern="1200" dirty="0">
                <a:solidFill>
                  <a:schemeClr val="tx1"/>
                </a:solidFill>
                <a:latin typeface="Times New Roman" pitchFamily="-1" charset="0"/>
                <a:ea typeface="+mn-ea"/>
                <a:cs typeface="+mn-cs"/>
              </a:rPr>
              <a:t>Unaligned access: </a:t>
            </a:r>
            <a:r>
              <a:rPr lang="en-US" sz="1200" b="0" kern="1200" dirty="0">
                <a:solidFill>
                  <a:schemeClr val="tx1"/>
                </a:solidFill>
                <a:latin typeface="Times New Roman" pitchFamily="-1" charset="0"/>
                <a:ea typeface="+mn-ea"/>
                <a:cs typeface="+mn-cs"/>
              </a:rPr>
              <a:t>When this option is enabled, the processor uses one or more </a:t>
            </a:r>
            <a:r>
              <a:rPr lang="en-US" sz="1200" kern="1200" dirty="0">
                <a:solidFill>
                  <a:schemeClr val="tx1"/>
                </a:solidFill>
                <a:latin typeface="Times New Roman" pitchFamily="-1" charset="0"/>
                <a:ea typeface="+mn-ea"/>
                <a:cs typeface="+mn-cs"/>
              </a:rPr>
              <a:t>memory accesses to generate the required transfer of adjacent bytes transparently to the programmer.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For all three data types (byte, halfword, and word) an unsigned interpretation is supported, in which the value represents an unsigned, nonnegative integer. All three data types can also be used for twos complement signed integers.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majority of ARM processor implementations do not provide floating- point hardware, which saves power and area. If floating-point arithmetic is required in such processors, it must be implemented in software. ARM does support an optional floating-point coprocessor that supports the single- and double-precision floating point data types defined in IEEE 754. </a:t>
            </a:r>
            <a:endParaRPr lang="en-US" dirty="0"/>
          </a:p>
          <a:p>
            <a:r>
              <a:rPr lang="en-US" sz="1200" kern="1200" dirty="0">
                <a:solidFill>
                  <a:schemeClr val="tx1"/>
                </a:solidFill>
                <a:latin typeface="Times New Roman" pitchFamily="-1" charset="0"/>
                <a:ea typeface="+mn-ea"/>
                <a:cs typeface="+mn-cs"/>
              </a:rPr>
              <a:t> </a:t>
            </a:r>
            <a:endParaRPr lang="en-US" dirty="0"/>
          </a:p>
          <a:p>
            <a:endParaRPr lang="en-US" dirty="0"/>
          </a:p>
        </p:txBody>
      </p:sp>
    </p:spTree>
    <p:extLst>
      <p:ext uri="{BB962C8B-B14F-4D97-AF65-F5344CB8AC3E}">
        <p14:creationId xmlns:p14="http://schemas.microsoft.com/office/powerpoint/2010/main" val="170036561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A state bit (E-bit) in the system control register is set and cleared under program control using the SETEND instruction. The E-bit defines which endian to load and store data. Figure 13.5 illustrates the functionality associated with the E-bit for a word load or store operation. This mechanism enables efficient dynamic data load/store for system designers who know they need to access data structures in the opposite endianness to their OS/environment. Note that the address of each data byte is fixed in memory. However, the byte lane in a register is different. </a:t>
            </a:r>
            <a:endParaRPr lang="en-US" dirty="0"/>
          </a:p>
          <a:p>
            <a:endParaRPr lang="en-US" dirty="0"/>
          </a:p>
        </p:txBody>
      </p:sp>
    </p:spTree>
    <p:extLst>
      <p:ext uri="{BB962C8B-B14F-4D97-AF65-F5344CB8AC3E}">
        <p14:creationId xmlns:p14="http://schemas.microsoft.com/office/powerpoint/2010/main" val="312997768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9939"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18</a:t>
            </a:r>
          </a:p>
        </p:txBody>
      </p:sp>
      <p:sp>
        <p:nvSpPr>
          <p:cNvPr id="39940"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9941"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9942" name="Rectangle 6"/>
          <p:cNvSpPr>
            <a:spLocks noGrp="1" noRot="1" noChangeAspect="1" noChangeArrowheads="1" noTextEdit="1"/>
          </p:cNvSpPr>
          <p:nvPr>
            <p:ph type="sldImg"/>
          </p:nvPr>
        </p:nvSpPr>
        <p:spPr>
          <a:xfrm>
            <a:off x="1150938" y="692150"/>
            <a:ext cx="4556125" cy="3416300"/>
          </a:xfrm>
          <a:ln cap="flat"/>
        </p:spPr>
      </p:sp>
      <p:sp>
        <p:nvSpPr>
          <p:cNvPr id="39943"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The number of different opcodes varies widely from machine to machine. However, the same general types of operations are found on all machines. A useful and typical categorization is the following: </a:t>
            </a:r>
            <a:endParaRPr lang="en-US" dirty="0"/>
          </a:p>
          <a:p>
            <a:endParaRPr lang="en-US" sz="1200" kern="1200" dirty="0">
              <a:solidFill>
                <a:schemeClr val="tx1"/>
              </a:solidFill>
              <a:latin typeface="Times New Roman" pitchFamily="-1" charset="0"/>
              <a:ea typeface="+mn-ea"/>
              <a:cs typeface="+mn-cs"/>
            </a:endParaRPr>
          </a:p>
          <a:p>
            <a:pPr marL="171450" indent="-171450">
              <a:buFont typeface="Arial" charset="0"/>
              <a:buChar char="•"/>
            </a:pPr>
            <a:r>
              <a:rPr lang="en-US" sz="1200" kern="1200" dirty="0">
                <a:solidFill>
                  <a:schemeClr val="tx1"/>
                </a:solidFill>
                <a:latin typeface="Times New Roman" pitchFamily="-1" charset="0"/>
                <a:ea typeface="+mn-ea"/>
                <a:cs typeface="+mn-cs"/>
              </a:rPr>
              <a:t>Data transfer </a:t>
            </a:r>
          </a:p>
          <a:p>
            <a:pPr marL="171450" indent="-171450">
              <a:buFont typeface="Arial" charset="0"/>
              <a:buChar char="•"/>
            </a:pPr>
            <a:endParaRPr lang="en-US" sz="1200" kern="1200" dirty="0">
              <a:solidFill>
                <a:schemeClr val="tx1"/>
              </a:solidFill>
              <a:latin typeface="Times New Roman" pitchFamily="-1" charset="0"/>
              <a:ea typeface="+mn-ea"/>
              <a:cs typeface="+mn-cs"/>
            </a:endParaRPr>
          </a:p>
          <a:p>
            <a:pPr marL="171450" indent="-171450">
              <a:buFont typeface="Arial" charset="0"/>
              <a:buChar char="•"/>
            </a:pPr>
            <a:r>
              <a:rPr lang="en-US" sz="1200" kern="1200" dirty="0">
                <a:solidFill>
                  <a:schemeClr val="tx1"/>
                </a:solidFill>
                <a:latin typeface="Times New Roman" pitchFamily="-1" charset="0"/>
                <a:ea typeface="+mn-ea"/>
                <a:cs typeface="+mn-cs"/>
              </a:rPr>
              <a:t>Arithmetic </a:t>
            </a:r>
          </a:p>
          <a:p>
            <a:pPr marL="171450" indent="-171450">
              <a:buFont typeface="Arial" charset="0"/>
              <a:buChar char="•"/>
            </a:pPr>
            <a:endParaRPr lang="en-US" sz="1200" kern="1200" dirty="0">
              <a:solidFill>
                <a:schemeClr val="tx1"/>
              </a:solidFill>
              <a:latin typeface="Times New Roman" pitchFamily="-1" charset="0"/>
              <a:ea typeface="+mn-ea"/>
              <a:cs typeface="+mn-cs"/>
            </a:endParaRPr>
          </a:p>
          <a:p>
            <a:pPr marL="171450" indent="-171450">
              <a:buFont typeface="Arial" charset="0"/>
              <a:buChar char="•"/>
            </a:pPr>
            <a:r>
              <a:rPr lang="en-US" sz="1200" kern="1200" dirty="0">
                <a:solidFill>
                  <a:schemeClr val="tx1"/>
                </a:solidFill>
                <a:latin typeface="Times New Roman" pitchFamily="-1" charset="0"/>
                <a:ea typeface="+mn-ea"/>
                <a:cs typeface="+mn-cs"/>
              </a:rPr>
              <a:t>Logical </a:t>
            </a:r>
          </a:p>
          <a:p>
            <a:pPr marL="171450" indent="-171450">
              <a:buFont typeface="Arial" charset="0"/>
              <a:buChar char="•"/>
            </a:pPr>
            <a:endParaRPr lang="en-US" sz="1200" kern="1200" dirty="0">
              <a:solidFill>
                <a:schemeClr val="tx1"/>
              </a:solidFill>
              <a:latin typeface="Times New Roman" pitchFamily="-1" charset="0"/>
              <a:ea typeface="+mn-ea"/>
              <a:cs typeface="+mn-cs"/>
            </a:endParaRPr>
          </a:p>
          <a:p>
            <a:pPr marL="171450" indent="-171450">
              <a:buFont typeface="Arial" charset="0"/>
              <a:buChar char="•"/>
            </a:pPr>
            <a:r>
              <a:rPr lang="en-US" sz="1200" kern="1200" dirty="0">
                <a:solidFill>
                  <a:schemeClr val="tx1"/>
                </a:solidFill>
                <a:latin typeface="Times New Roman" pitchFamily="-1" charset="0"/>
                <a:ea typeface="+mn-ea"/>
                <a:cs typeface="+mn-cs"/>
              </a:rPr>
              <a:t>Conversion </a:t>
            </a:r>
          </a:p>
          <a:p>
            <a:pPr marL="171450" indent="-171450">
              <a:buFont typeface="Arial" charset="0"/>
              <a:buChar char="•"/>
            </a:pPr>
            <a:endParaRPr lang="en-US" sz="1200" kern="1200" dirty="0">
              <a:solidFill>
                <a:schemeClr val="tx1"/>
              </a:solidFill>
              <a:latin typeface="Times New Roman" pitchFamily="-1" charset="0"/>
              <a:ea typeface="+mn-ea"/>
              <a:cs typeface="+mn-cs"/>
            </a:endParaRPr>
          </a:p>
          <a:p>
            <a:pPr marL="171450" indent="-171450">
              <a:buFont typeface="Arial" charset="0"/>
              <a:buChar char="•"/>
            </a:pPr>
            <a:r>
              <a:rPr lang="en-US" sz="1200" kern="1200" dirty="0">
                <a:solidFill>
                  <a:schemeClr val="tx1"/>
                </a:solidFill>
                <a:latin typeface="Times New Roman" pitchFamily="-1" charset="0"/>
                <a:ea typeface="+mn-ea"/>
                <a:cs typeface="+mn-cs"/>
              </a:rPr>
              <a:t>I/O </a:t>
            </a:r>
          </a:p>
          <a:p>
            <a:pPr marL="171450" indent="-171450">
              <a:buFont typeface="Arial" charset="0"/>
              <a:buChar char="•"/>
            </a:pPr>
            <a:endParaRPr lang="en-US" sz="1200" kern="1200" dirty="0">
              <a:solidFill>
                <a:schemeClr val="tx1"/>
              </a:solidFill>
              <a:latin typeface="Times New Roman" pitchFamily="-1" charset="0"/>
              <a:ea typeface="+mn-ea"/>
              <a:cs typeface="+mn-cs"/>
            </a:endParaRPr>
          </a:p>
          <a:p>
            <a:pPr marL="171450" indent="-171450">
              <a:buFont typeface="Arial" charset="0"/>
              <a:buChar char="•"/>
            </a:pPr>
            <a:r>
              <a:rPr lang="en-US" sz="1200" kern="1200" dirty="0">
                <a:solidFill>
                  <a:schemeClr val="tx1"/>
                </a:solidFill>
                <a:latin typeface="Times New Roman" pitchFamily="-1" charset="0"/>
                <a:ea typeface="+mn-ea"/>
                <a:cs typeface="+mn-cs"/>
              </a:rPr>
              <a:t>System control </a:t>
            </a:r>
          </a:p>
          <a:p>
            <a:pPr marL="171450" indent="-171450">
              <a:buFont typeface="Arial" charset="0"/>
              <a:buChar char="•"/>
            </a:pPr>
            <a:endParaRPr lang="en-US" sz="1200" kern="1200" dirty="0">
              <a:solidFill>
                <a:schemeClr val="tx1"/>
              </a:solidFill>
              <a:latin typeface="Times New Roman" pitchFamily="-1" charset="0"/>
              <a:ea typeface="+mn-ea"/>
              <a:cs typeface="+mn-cs"/>
            </a:endParaRPr>
          </a:p>
          <a:p>
            <a:pPr marL="171450" indent="-171450">
              <a:buFont typeface="Arial" charset="0"/>
              <a:buChar char="•"/>
            </a:pPr>
            <a:r>
              <a:rPr lang="en-US" sz="1200" kern="1200" dirty="0">
                <a:solidFill>
                  <a:schemeClr val="tx1"/>
                </a:solidFill>
                <a:latin typeface="Times New Roman" pitchFamily="-1" charset="0"/>
                <a:ea typeface="+mn-ea"/>
                <a:cs typeface="+mn-cs"/>
              </a:rPr>
              <a:t>Transfer of control </a:t>
            </a:r>
          </a:p>
          <a:p>
            <a:endParaRPr lang="en-GB" dirty="0"/>
          </a:p>
          <a:p>
            <a:r>
              <a:rPr lang="en-US" sz="1200" kern="1200" dirty="0">
                <a:solidFill>
                  <a:schemeClr val="tx1"/>
                </a:solidFill>
                <a:latin typeface="Times New Roman" pitchFamily="-1" charset="0"/>
                <a:ea typeface="+mn-ea"/>
                <a:cs typeface="+mn-cs"/>
              </a:rPr>
              <a:t>Table 13.3 lists common instruction types in each category. </a:t>
            </a:r>
            <a:r>
              <a:rPr lang="en-US" sz="1200" kern="1200" dirty="0">
                <a:solidFill>
                  <a:schemeClr val="tx1"/>
                </a:solidFill>
                <a:effectLst/>
                <a:latin typeface="Times New Roman" pitchFamily="-1" charset="0"/>
                <a:ea typeface="+mn-ea"/>
                <a:cs typeface="+mn-cs"/>
              </a:rPr>
              <a:t> This section provides</a:t>
            </a:r>
          </a:p>
          <a:p>
            <a:r>
              <a:rPr lang="en-US" sz="1200" kern="1200" dirty="0">
                <a:solidFill>
                  <a:schemeClr val="tx1"/>
                </a:solidFill>
                <a:effectLst/>
                <a:latin typeface="Times New Roman" pitchFamily="-1" charset="0"/>
                <a:ea typeface="+mn-ea"/>
                <a:cs typeface="+mn-cs"/>
              </a:rPr>
              <a:t>a brief survey of these various types of operations, together with a brief discussion</a:t>
            </a:r>
          </a:p>
          <a:p>
            <a:r>
              <a:rPr lang="en-US" sz="1200" kern="1200" dirty="0">
                <a:solidFill>
                  <a:schemeClr val="tx1"/>
                </a:solidFill>
                <a:effectLst/>
                <a:latin typeface="Times New Roman" pitchFamily="-1" charset="0"/>
                <a:ea typeface="+mn-ea"/>
                <a:cs typeface="+mn-cs"/>
              </a:rPr>
              <a:t>of the actions taken by the processor to execute a particular type of operation</a:t>
            </a:r>
          </a:p>
          <a:p>
            <a:r>
              <a:rPr lang="en-US" sz="1200" kern="1200" dirty="0">
                <a:solidFill>
                  <a:schemeClr val="tx1"/>
                </a:solidFill>
                <a:effectLst/>
                <a:latin typeface="Times New Roman" pitchFamily="-1" charset="0"/>
                <a:ea typeface="+mn-ea"/>
                <a:cs typeface="+mn-cs"/>
              </a:rPr>
              <a:t>(summarized in Table 13.4). The latter topic is examined in more detail in Chapter 16.</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GB" dirty="0"/>
          </a:p>
        </p:txBody>
      </p:sp>
    </p:spTree>
    <p:extLst>
      <p:ext uri="{BB962C8B-B14F-4D97-AF65-F5344CB8AC3E}">
        <p14:creationId xmlns:p14="http://schemas.microsoft.com/office/powerpoint/2010/main" val="69973585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9939"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18</a:t>
            </a:r>
          </a:p>
        </p:txBody>
      </p:sp>
      <p:sp>
        <p:nvSpPr>
          <p:cNvPr id="39940"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9941"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9942" name="Rectangle 6"/>
          <p:cNvSpPr>
            <a:spLocks noGrp="1" noRot="1" noChangeAspect="1" noChangeArrowheads="1" noTextEdit="1"/>
          </p:cNvSpPr>
          <p:nvPr>
            <p:ph type="sldImg"/>
          </p:nvPr>
        </p:nvSpPr>
        <p:spPr>
          <a:xfrm>
            <a:off x="1150938" y="692150"/>
            <a:ext cx="4556125" cy="3416300"/>
          </a:xfrm>
          <a:ln cap="flat"/>
        </p:spPr>
      </p:sp>
      <p:sp>
        <p:nvSpPr>
          <p:cNvPr id="39943" name="Rectangle 7"/>
          <p:cNvSpPr>
            <a:spLocks noGrp="1" noChangeArrowheads="1"/>
          </p:cNvSpPr>
          <p:nvPr>
            <p:ph type="body" idx="1"/>
          </p:nvPr>
        </p:nvSpPr>
        <p:spPr>
          <a:ln/>
        </p:spPr>
        <p:txBody>
          <a:bodyPr/>
          <a:lstStyle/>
          <a:p>
            <a:r>
              <a:rPr lang="en-GB" dirty="0"/>
              <a:t>Table 13.3, page 2 of 3</a:t>
            </a:r>
          </a:p>
        </p:txBody>
      </p:sp>
    </p:spTree>
    <p:extLst>
      <p:ext uri="{BB962C8B-B14F-4D97-AF65-F5344CB8AC3E}">
        <p14:creationId xmlns:p14="http://schemas.microsoft.com/office/powerpoint/2010/main" val="130367734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9939"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18</a:t>
            </a:r>
          </a:p>
        </p:txBody>
      </p:sp>
      <p:sp>
        <p:nvSpPr>
          <p:cNvPr id="39940"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9941"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39942" name="Rectangle 6"/>
          <p:cNvSpPr>
            <a:spLocks noGrp="1" noRot="1" noChangeAspect="1" noChangeArrowheads="1" noTextEdit="1"/>
          </p:cNvSpPr>
          <p:nvPr>
            <p:ph type="sldImg"/>
          </p:nvPr>
        </p:nvSpPr>
        <p:spPr>
          <a:xfrm>
            <a:off x="1150938" y="692150"/>
            <a:ext cx="4556125" cy="3416300"/>
          </a:xfrm>
          <a:ln cap="flat"/>
        </p:spPr>
      </p:sp>
      <p:sp>
        <p:nvSpPr>
          <p:cNvPr id="39943" name="Rectangle 7"/>
          <p:cNvSpPr>
            <a:spLocks noGrp="1" noChangeArrowheads="1"/>
          </p:cNvSpPr>
          <p:nvPr>
            <p:ph type="body" idx="1"/>
          </p:nvPr>
        </p:nvSpPr>
        <p:spPr>
          <a:ln/>
        </p:spPr>
        <p:txBody>
          <a:bodyPr/>
          <a:lstStyle/>
          <a:p>
            <a:r>
              <a:rPr lang="en-GB" dirty="0"/>
              <a:t>Table 13.3, page 3 of 3</a:t>
            </a:r>
          </a:p>
        </p:txBody>
      </p:sp>
    </p:spTree>
    <p:extLst>
      <p:ext uri="{BB962C8B-B14F-4D97-AF65-F5344CB8AC3E}">
        <p14:creationId xmlns:p14="http://schemas.microsoft.com/office/powerpoint/2010/main" val="44782871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 charset="0"/>
                <a:ea typeface="+mn-ea"/>
                <a:cs typeface="+mn-cs"/>
              </a:rPr>
              <a:t> The x86 provides a complex array of operation types, including a number of specialized</a:t>
            </a:r>
          </a:p>
          <a:p>
            <a:r>
              <a:rPr lang="en-US" sz="1200" kern="1200" dirty="0">
                <a:solidFill>
                  <a:schemeClr val="tx1"/>
                </a:solidFill>
                <a:effectLst/>
                <a:latin typeface="Times New Roman" pitchFamily="-1" charset="0"/>
                <a:ea typeface="+mn-ea"/>
                <a:cs typeface="+mn-cs"/>
              </a:rPr>
              <a:t>instructions. The intent was to provide tools for the compiler writer to produce</a:t>
            </a:r>
          </a:p>
          <a:p>
            <a:r>
              <a:rPr lang="en-US" sz="1200" kern="1200" dirty="0">
                <a:solidFill>
                  <a:schemeClr val="tx1"/>
                </a:solidFill>
                <a:effectLst/>
                <a:latin typeface="Times New Roman" pitchFamily="-1" charset="0"/>
                <a:ea typeface="+mn-ea"/>
                <a:cs typeface="+mn-cs"/>
              </a:rPr>
              <a:t>optimized machine language translation of high-level language programs. Most of</a:t>
            </a:r>
          </a:p>
          <a:p>
            <a:r>
              <a:rPr lang="en-US" sz="1200" kern="1200" dirty="0">
                <a:solidFill>
                  <a:schemeClr val="tx1"/>
                </a:solidFill>
                <a:effectLst/>
                <a:latin typeface="Times New Roman" pitchFamily="-1" charset="0"/>
                <a:ea typeface="+mn-ea"/>
                <a:cs typeface="+mn-cs"/>
              </a:rPr>
              <a:t>these are the conventional instructions found in most machine instruction sets, but</a:t>
            </a:r>
          </a:p>
          <a:p>
            <a:r>
              <a:rPr lang="en-US" sz="1200" kern="1200" dirty="0">
                <a:solidFill>
                  <a:schemeClr val="tx1"/>
                </a:solidFill>
                <a:effectLst/>
                <a:latin typeface="Times New Roman" pitchFamily="-1" charset="0"/>
                <a:ea typeface="+mn-ea"/>
                <a:cs typeface="+mn-cs"/>
              </a:rPr>
              <a:t>several types of instructions are tailored to the x86 architecture and are of particular</a:t>
            </a:r>
          </a:p>
          <a:p>
            <a:r>
              <a:rPr lang="en-US" sz="1200" kern="1200" dirty="0">
                <a:solidFill>
                  <a:schemeClr val="tx1"/>
                </a:solidFill>
                <a:effectLst/>
                <a:latin typeface="Times New Roman" pitchFamily="-1" charset="0"/>
                <a:ea typeface="+mn-ea"/>
                <a:cs typeface="+mn-cs"/>
              </a:rPr>
              <a:t>interest. Appendix A of [CART06] lists the x86 instructions, together with the operands</a:t>
            </a:r>
          </a:p>
          <a:p>
            <a:r>
              <a:rPr lang="en-US" sz="1200" kern="1200" dirty="0">
                <a:solidFill>
                  <a:schemeClr val="tx1"/>
                </a:solidFill>
                <a:effectLst/>
                <a:latin typeface="Times New Roman" pitchFamily="-1" charset="0"/>
                <a:ea typeface="+mn-ea"/>
                <a:cs typeface="+mn-cs"/>
              </a:rPr>
              <a:t>for each and the effect of the instruction on the condition codes. Appendix B of</a:t>
            </a:r>
          </a:p>
          <a:p>
            <a:r>
              <a:rPr lang="en-US" sz="1200" kern="1200" dirty="0">
                <a:solidFill>
                  <a:schemeClr val="tx1"/>
                </a:solidFill>
                <a:effectLst/>
                <a:latin typeface="Times New Roman" pitchFamily="-1" charset="0"/>
                <a:ea typeface="+mn-ea"/>
                <a:cs typeface="+mn-cs"/>
              </a:rPr>
              <a:t>the NASM assembly language manual [NASM17] provides a more detailed description</a:t>
            </a:r>
          </a:p>
          <a:p>
            <a:r>
              <a:rPr lang="en-US" sz="1200" kern="1200" dirty="0">
                <a:solidFill>
                  <a:schemeClr val="tx1"/>
                </a:solidFill>
                <a:effectLst/>
                <a:latin typeface="Times New Roman" pitchFamily="-1" charset="0"/>
                <a:ea typeface="+mn-ea"/>
                <a:cs typeface="+mn-cs"/>
              </a:rPr>
              <a:t>of each x86 instruction. Both documents are available at </a:t>
            </a:r>
            <a:r>
              <a:rPr lang="en-US" sz="1200" kern="1200" dirty="0" err="1">
                <a:solidFill>
                  <a:schemeClr val="tx1"/>
                </a:solidFill>
                <a:effectLst/>
                <a:latin typeface="Times New Roman" pitchFamily="-1" charset="0"/>
                <a:ea typeface="+mn-ea"/>
                <a:cs typeface="+mn-cs"/>
              </a:rPr>
              <a:t>box.com</a:t>
            </a:r>
            <a:r>
              <a:rPr lang="en-US" sz="1200" kern="1200" dirty="0">
                <a:solidFill>
                  <a:schemeClr val="tx1"/>
                </a:solidFill>
                <a:effectLst/>
                <a:latin typeface="Times New Roman" pitchFamily="-1" charset="0"/>
                <a:ea typeface="+mn-ea"/>
                <a:cs typeface="+mn-cs"/>
              </a:rPr>
              <a:t>/COA11e.</a:t>
            </a:r>
          </a:p>
          <a:p>
            <a:endParaRPr lang="en-US" sz="1200" b="0" i="0" u="none" strike="noStrike" kern="1200" baseline="0" dirty="0">
              <a:solidFill>
                <a:schemeClr val="tx1"/>
              </a:solidFill>
              <a:latin typeface="Times New Roman" pitchFamily="-1" charset="0"/>
              <a:ea typeface="+mn-ea"/>
              <a:cs typeface="+mn-cs"/>
            </a:endParaRPr>
          </a:p>
          <a:p>
            <a:endParaRPr lang="en-GB" dirty="0"/>
          </a:p>
          <a:p>
            <a:r>
              <a:rPr lang="en-US" sz="1200" b="0" i="0" u="none" strike="noStrike" kern="1200" baseline="0" dirty="0">
                <a:solidFill>
                  <a:schemeClr val="tx1"/>
                </a:solidFill>
                <a:latin typeface="Times New Roman" pitchFamily="-1" charset="0"/>
                <a:ea typeface="+mn-ea"/>
                <a:cs typeface="+mn-cs"/>
              </a:rPr>
              <a:t> The x86 provides four instructions to support</a:t>
            </a:r>
          </a:p>
          <a:p>
            <a:r>
              <a:rPr lang="en-US" sz="1200" b="0" i="0" u="none" strike="noStrike" kern="1200" baseline="0" dirty="0">
                <a:solidFill>
                  <a:schemeClr val="tx1"/>
                </a:solidFill>
                <a:latin typeface="Times New Roman" pitchFamily="-1" charset="0"/>
                <a:ea typeface="+mn-ea"/>
                <a:cs typeface="+mn-cs"/>
              </a:rPr>
              <a:t>procedure call/return: CALL, ENTER, LEAVE, RETURN. It will be instructive to</a:t>
            </a:r>
          </a:p>
          <a:p>
            <a:r>
              <a:rPr lang="en-US" sz="1200" b="0" i="0" u="none" strike="noStrike" kern="1200" baseline="0" dirty="0">
                <a:solidFill>
                  <a:schemeClr val="tx1"/>
                </a:solidFill>
                <a:latin typeface="Times New Roman" pitchFamily="-1" charset="0"/>
                <a:ea typeface="+mn-ea"/>
                <a:cs typeface="+mn-cs"/>
              </a:rPr>
              <a:t>look at the support provided by these instructions. Recall from Figure 13.10 that a</a:t>
            </a:r>
          </a:p>
          <a:p>
            <a:r>
              <a:rPr lang="en-US" sz="1200" b="0" i="0" u="none" strike="noStrike" kern="1200" baseline="0" dirty="0">
                <a:solidFill>
                  <a:schemeClr val="tx1"/>
                </a:solidFill>
                <a:latin typeface="Times New Roman" pitchFamily="-1" charset="0"/>
                <a:ea typeface="+mn-ea"/>
                <a:cs typeface="+mn-cs"/>
              </a:rPr>
              <a:t>common means of implementing the procedure call/return mechanism is via the use</a:t>
            </a:r>
          </a:p>
          <a:p>
            <a:r>
              <a:rPr lang="en-US" sz="1200" b="0" i="0" u="none" strike="noStrike" kern="1200" baseline="0" dirty="0">
                <a:solidFill>
                  <a:schemeClr val="tx1"/>
                </a:solidFill>
                <a:latin typeface="Times New Roman" pitchFamily="-1" charset="0"/>
                <a:ea typeface="+mn-ea"/>
                <a:cs typeface="+mn-cs"/>
              </a:rPr>
              <a:t>of stack frames. When a new procedure is called, the following must be performed</a:t>
            </a:r>
          </a:p>
          <a:p>
            <a:r>
              <a:rPr lang="en-US" sz="1200" b="0" i="0" u="none" strike="noStrike" kern="1200" baseline="0" dirty="0">
                <a:solidFill>
                  <a:schemeClr val="tx1"/>
                </a:solidFill>
                <a:latin typeface="Times New Roman" pitchFamily="-1" charset="0"/>
                <a:ea typeface="+mn-ea"/>
                <a:cs typeface="+mn-cs"/>
              </a:rPr>
              <a:t>upon entry to the new procedure:</a:t>
            </a:r>
          </a:p>
          <a:p>
            <a:endParaRPr lang="en-US" sz="1200" b="1" i="0" u="none" strike="noStrike" kern="1200" baseline="0" dirty="0">
              <a:solidFill>
                <a:schemeClr val="tx1"/>
              </a:solidFill>
              <a:latin typeface="Times New Roman" pitchFamily="-1" charset="0"/>
              <a:ea typeface="+mn-ea"/>
              <a:cs typeface="+mn-cs"/>
            </a:endParaRPr>
          </a:p>
          <a:p>
            <a:r>
              <a:rPr lang="en-US" sz="1200" b="1" i="0" u="none" strike="noStrike" kern="1200" baseline="0" dirty="0">
                <a:solidFill>
                  <a:schemeClr val="tx1"/>
                </a:solidFill>
                <a:latin typeface="Times New Roman" pitchFamily="-1" charset="0"/>
                <a:ea typeface="+mn-ea"/>
                <a:cs typeface="+mn-cs"/>
              </a:rPr>
              <a:t>■ </a:t>
            </a:r>
            <a:r>
              <a:rPr lang="en-US" sz="1200" b="0" i="0" u="none" strike="noStrike" kern="1200" baseline="0" dirty="0">
                <a:solidFill>
                  <a:schemeClr val="tx1"/>
                </a:solidFill>
                <a:latin typeface="Times New Roman" pitchFamily="-1" charset="0"/>
                <a:ea typeface="+mn-ea"/>
                <a:cs typeface="+mn-cs"/>
              </a:rPr>
              <a:t> Push the return point on the stack.</a:t>
            </a:r>
          </a:p>
          <a:p>
            <a:endParaRPr lang="en-US" sz="1200" b="1" i="0" u="none" strike="noStrike" kern="1200" baseline="0" dirty="0">
              <a:solidFill>
                <a:schemeClr val="tx1"/>
              </a:solidFill>
              <a:latin typeface="Times New Roman" pitchFamily="-1" charset="0"/>
              <a:ea typeface="+mn-ea"/>
              <a:cs typeface="+mn-cs"/>
            </a:endParaRPr>
          </a:p>
          <a:p>
            <a:r>
              <a:rPr lang="en-US" sz="1200" b="1" i="0" u="none" strike="noStrike" kern="1200" baseline="0" dirty="0">
                <a:solidFill>
                  <a:schemeClr val="tx1"/>
                </a:solidFill>
                <a:latin typeface="Times New Roman" pitchFamily="-1" charset="0"/>
                <a:ea typeface="+mn-ea"/>
                <a:cs typeface="+mn-cs"/>
              </a:rPr>
              <a:t>■ </a:t>
            </a:r>
            <a:r>
              <a:rPr lang="en-US" sz="1200" b="0" i="0" u="none" strike="noStrike" kern="1200" baseline="0" dirty="0">
                <a:solidFill>
                  <a:schemeClr val="tx1"/>
                </a:solidFill>
                <a:latin typeface="Times New Roman" pitchFamily="-1" charset="0"/>
                <a:ea typeface="+mn-ea"/>
                <a:cs typeface="+mn-cs"/>
              </a:rPr>
              <a:t> Push the current frame pointer on the stack.</a:t>
            </a:r>
          </a:p>
          <a:p>
            <a:endParaRPr lang="en-US" sz="1200" b="1" i="0" u="none" strike="noStrike" kern="1200" baseline="0" dirty="0">
              <a:solidFill>
                <a:schemeClr val="tx1"/>
              </a:solidFill>
              <a:latin typeface="Times New Roman" pitchFamily="-1" charset="0"/>
              <a:ea typeface="+mn-ea"/>
              <a:cs typeface="+mn-cs"/>
            </a:endParaRPr>
          </a:p>
          <a:p>
            <a:r>
              <a:rPr lang="en-US" sz="1200" b="1" i="0" u="none" strike="noStrike" kern="1200" baseline="0" dirty="0">
                <a:solidFill>
                  <a:schemeClr val="tx1"/>
                </a:solidFill>
                <a:latin typeface="Times New Roman" pitchFamily="-1" charset="0"/>
                <a:ea typeface="+mn-ea"/>
                <a:cs typeface="+mn-cs"/>
              </a:rPr>
              <a:t>■ </a:t>
            </a:r>
            <a:r>
              <a:rPr lang="en-US" sz="1200" b="0" i="0" u="none" strike="noStrike" kern="1200" baseline="0" dirty="0">
                <a:solidFill>
                  <a:schemeClr val="tx1"/>
                </a:solidFill>
                <a:latin typeface="Times New Roman" pitchFamily="-1" charset="0"/>
                <a:ea typeface="+mn-ea"/>
                <a:cs typeface="+mn-cs"/>
              </a:rPr>
              <a:t> Copy the stack pointer as the new value of the frame pointer.</a:t>
            </a:r>
          </a:p>
          <a:p>
            <a:endParaRPr lang="en-US" sz="1200" b="1" i="0" u="none" strike="noStrike" kern="1200" baseline="0" dirty="0">
              <a:solidFill>
                <a:schemeClr val="tx1"/>
              </a:solidFill>
              <a:latin typeface="Times New Roman" pitchFamily="-1" charset="0"/>
              <a:ea typeface="+mn-ea"/>
              <a:cs typeface="+mn-cs"/>
            </a:endParaRPr>
          </a:p>
          <a:p>
            <a:r>
              <a:rPr lang="en-US" sz="1200" b="1" i="0" u="none" strike="noStrike" kern="1200" baseline="0" dirty="0">
                <a:solidFill>
                  <a:schemeClr val="tx1"/>
                </a:solidFill>
                <a:latin typeface="Times New Roman" pitchFamily="-1" charset="0"/>
                <a:ea typeface="+mn-ea"/>
                <a:cs typeface="+mn-cs"/>
              </a:rPr>
              <a:t>■ </a:t>
            </a:r>
            <a:r>
              <a:rPr lang="en-US" sz="1200" b="0" i="0" u="none" strike="noStrike" kern="1200" baseline="0" dirty="0">
                <a:solidFill>
                  <a:schemeClr val="tx1"/>
                </a:solidFill>
                <a:latin typeface="Times New Roman" pitchFamily="-1" charset="0"/>
                <a:ea typeface="+mn-ea"/>
                <a:cs typeface="+mn-cs"/>
              </a:rPr>
              <a:t> Adjust the stack pointer to allocate a frame.</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The CALL instruction pushes the current instruction pointer value onto the stack</a:t>
            </a:r>
          </a:p>
          <a:p>
            <a:r>
              <a:rPr lang="en-US" sz="1200" b="0" i="0" u="none" strike="noStrike" kern="1200" baseline="0" dirty="0">
                <a:solidFill>
                  <a:schemeClr val="tx1"/>
                </a:solidFill>
                <a:latin typeface="Times New Roman" pitchFamily="-1" charset="0"/>
                <a:ea typeface="+mn-ea"/>
                <a:cs typeface="+mn-cs"/>
              </a:rPr>
              <a:t>and causes a jump to the entry point of the procedure by placing the address of the</a:t>
            </a:r>
          </a:p>
          <a:p>
            <a:r>
              <a:rPr lang="en-US" sz="1200" b="0" i="0" u="none" strike="noStrike" kern="1200" baseline="0" dirty="0">
                <a:solidFill>
                  <a:schemeClr val="tx1"/>
                </a:solidFill>
                <a:latin typeface="Times New Roman" pitchFamily="-1" charset="0"/>
                <a:ea typeface="+mn-ea"/>
                <a:cs typeface="+mn-cs"/>
              </a:rPr>
              <a:t>entry point in the instruction pointer. In the 8088 and 8086 machines, the typical</a:t>
            </a:r>
          </a:p>
          <a:p>
            <a:r>
              <a:rPr lang="en-US" sz="1200" b="0" i="0" u="none" strike="noStrike" kern="1200" baseline="0" dirty="0">
                <a:solidFill>
                  <a:schemeClr val="tx1"/>
                </a:solidFill>
                <a:latin typeface="Times New Roman" pitchFamily="-1" charset="0"/>
                <a:ea typeface="+mn-ea"/>
                <a:cs typeface="+mn-cs"/>
              </a:rPr>
              <a:t>procedure began with the sequence</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PUSH EBP </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MOV EBP, ESP </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SUB ESP, </a:t>
            </a:r>
            <a:r>
              <a:rPr lang="en-US" sz="1200" b="0" i="0" u="none" strike="noStrike" kern="1200" baseline="0" dirty="0" err="1">
                <a:solidFill>
                  <a:schemeClr val="tx1"/>
                </a:solidFill>
                <a:latin typeface="Times New Roman" pitchFamily="-1" charset="0"/>
                <a:ea typeface="+mn-ea"/>
                <a:cs typeface="+mn-cs"/>
              </a:rPr>
              <a:t>space_for_locals</a:t>
            </a:r>
            <a:endParaRPr lang="en-US" sz="1200" b="0" i="0" u="none" strike="noStrike" kern="1200" baseline="0" dirty="0">
              <a:solidFill>
                <a:schemeClr val="tx1"/>
              </a:solidFill>
              <a:latin typeface="Times New Roman" pitchFamily="-1" charset="0"/>
              <a:ea typeface="+mn-ea"/>
              <a:cs typeface="+mn-cs"/>
            </a:endParaRP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 where EBP is the frame pointer and ESP is the stack pointer. In the 80286 and later</a:t>
            </a:r>
          </a:p>
          <a:p>
            <a:r>
              <a:rPr lang="en-US" sz="1200" b="0" i="0" u="none" strike="noStrike" kern="1200" baseline="0" dirty="0">
                <a:solidFill>
                  <a:schemeClr val="tx1"/>
                </a:solidFill>
                <a:latin typeface="Times New Roman" pitchFamily="-1" charset="0"/>
                <a:ea typeface="+mn-ea"/>
                <a:cs typeface="+mn-cs"/>
              </a:rPr>
              <a:t>machines, the ENTER instruction performs all the aforementioned operations in a</a:t>
            </a:r>
          </a:p>
          <a:p>
            <a:r>
              <a:rPr lang="en-US" sz="1200" b="0" i="0" u="none" strike="noStrike" kern="1200" baseline="0" dirty="0">
                <a:solidFill>
                  <a:schemeClr val="tx1"/>
                </a:solidFill>
                <a:latin typeface="Times New Roman" pitchFamily="-1" charset="0"/>
                <a:ea typeface="+mn-ea"/>
                <a:cs typeface="+mn-cs"/>
              </a:rPr>
              <a:t>single instruction.</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The ENTER instruction was added to the instruction set to provide direct support</a:t>
            </a:r>
          </a:p>
          <a:p>
            <a:r>
              <a:rPr lang="en-US" sz="1200" b="0" i="0" u="none" strike="noStrike" kern="1200" baseline="0" dirty="0">
                <a:solidFill>
                  <a:schemeClr val="tx1"/>
                </a:solidFill>
                <a:latin typeface="Times New Roman" pitchFamily="-1" charset="0"/>
                <a:ea typeface="+mn-ea"/>
                <a:cs typeface="+mn-cs"/>
              </a:rPr>
              <a:t>for the compiler. The instruction also includes a feature for support of what are</a:t>
            </a:r>
          </a:p>
          <a:p>
            <a:r>
              <a:rPr lang="en-US" sz="1200" b="0" i="0" u="none" strike="noStrike" kern="1200" baseline="0" dirty="0">
                <a:solidFill>
                  <a:schemeClr val="tx1"/>
                </a:solidFill>
                <a:latin typeface="Times New Roman" pitchFamily="-1" charset="0"/>
                <a:ea typeface="+mn-ea"/>
                <a:cs typeface="+mn-cs"/>
              </a:rPr>
              <a:t>called nested procedures in languages such as Pascal, COBOL, and Ada (not found</a:t>
            </a:r>
          </a:p>
          <a:p>
            <a:r>
              <a:rPr lang="en-US" sz="1200" b="0" i="0" u="none" strike="noStrike" kern="1200" baseline="0" dirty="0">
                <a:solidFill>
                  <a:schemeClr val="tx1"/>
                </a:solidFill>
                <a:latin typeface="Times New Roman" pitchFamily="-1" charset="0"/>
                <a:ea typeface="+mn-ea"/>
                <a:cs typeface="+mn-cs"/>
              </a:rPr>
              <a:t>in C or FORTRAN). It turns out that there are better ways of handling nested procedure</a:t>
            </a:r>
          </a:p>
          <a:p>
            <a:r>
              <a:rPr lang="en-US" sz="1200" b="0" i="0" u="none" strike="noStrike" kern="1200" baseline="0" dirty="0">
                <a:solidFill>
                  <a:schemeClr val="tx1"/>
                </a:solidFill>
                <a:latin typeface="Times New Roman" pitchFamily="-1" charset="0"/>
                <a:ea typeface="+mn-ea"/>
                <a:cs typeface="+mn-cs"/>
              </a:rPr>
              <a:t>calls for these languages. Furthermore, although the ENTER instruction</a:t>
            </a:r>
            <a:endParaRPr lang="en-US" dirty="0"/>
          </a:p>
          <a:p>
            <a:r>
              <a:rPr lang="en-US" sz="1200" b="0" i="0" u="none" strike="noStrike" kern="1200" baseline="0" dirty="0">
                <a:solidFill>
                  <a:schemeClr val="tx1"/>
                </a:solidFill>
                <a:latin typeface="Times New Roman" pitchFamily="-1" charset="0"/>
                <a:ea typeface="+mn-ea"/>
                <a:cs typeface="+mn-cs"/>
              </a:rPr>
              <a:t> saves a few bytes of memory compared with the PUSH, MOV, SUB sequence (4</a:t>
            </a:r>
          </a:p>
          <a:p>
            <a:r>
              <a:rPr lang="en-US" sz="1200" b="0" i="0" u="none" strike="noStrike" kern="1200" baseline="0" dirty="0">
                <a:solidFill>
                  <a:schemeClr val="tx1"/>
                </a:solidFill>
                <a:latin typeface="Times New Roman" pitchFamily="-1" charset="0"/>
                <a:ea typeface="+mn-ea"/>
                <a:cs typeface="+mn-cs"/>
              </a:rPr>
              <a:t>bytes versus 6 bytes), it actually takes longer to execute (10 clock cycles versus 6</a:t>
            </a:r>
          </a:p>
          <a:p>
            <a:r>
              <a:rPr lang="en-US" sz="1200" b="0" i="0" u="none" strike="noStrike" kern="1200" baseline="0" dirty="0">
                <a:solidFill>
                  <a:schemeClr val="tx1"/>
                </a:solidFill>
                <a:latin typeface="Times New Roman" pitchFamily="-1" charset="0"/>
                <a:ea typeface="+mn-ea"/>
                <a:cs typeface="+mn-cs"/>
              </a:rPr>
              <a:t>clock cycles). Thus, although it may have seemed a good idea to the instruction set</a:t>
            </a:r>
          </a:p>
          <a:p>
            <a:r>
              <a:rPr lang="en-US" sz="1200" b="0" i="0" u="none" strike="noStrike" kern="1200" baseline="0" dirty="0">
                <a:solidFill>
                  <a:schemeClr val="tx1"/>
                </a:solidFill>
                <a:latin typeface="Times New Roman" pitchFamily="-1" charset="0"/>
                <a:ea typeface="+mn-ea"/>
                <a:cs typeface="+mn-cs"/>
              </a:rPr>
              <a:t>designers to add this feature, it complicates the implementation of the processor</a:t>
            </a:r>
          </a:p>
          <a:p>
            <a:r>
              <a:rPr lang="en-US" sz="1200" b="0" i="0" u="none" strike="noStrike" kern="1200" baseline="0" dirty="0">
                <a:solidFill>
                  <a:schemeClr val="tx1"/>
                </a:solidFill>
                <a:latin typeface="Times New Roman" pitchFamily="-1" charset="0"/>
                <a:ea typeface="+mn-ea"/>
                <a:cs typeface="+mn-cs"/>
              </a:rPr>
              <a:t>while providing little or no benefit. We will see that, in contrast, a RISC approach</a:t>
            </a:r>
          </a:p>
          <a:p>
            <a:r>
              <a:rPr lang="en-US" sz="1200" b="0" i="0" u="none" strike="noStrike" kern="1200" baseline="0" dirty="0">
                <a:solidFill>
                  <a:schemeClr val="tx1"/>
                </a:solidFill>
                <a:latin typeface="Times New Roman" pitchFamily="-1" charset="0"/>
                <a:ea typeface="+mn-ea"/>
                <a:cs typeface="+mn-cs"/>
              </a:rPr>
              <a:t>to processor design would avoid complex instructions such as ENTER and might</a:t>
            </a:r>
          </a:p>
          <a:p>
            <a:r>
              <a:rPr lang="en-US" sz="1200" b="0" i="0" u="none" strike="noStrike" kern="1200" baseline="0" dirty="0">
                <a:solidFill>
                  <a:schemeClr val="tx1"/>
                </a:solidFill>
                <a:latin typeface="Times New Roman" pitchFamily="-1" charset="0"/>
                <a:ea typeface="+mn-ea"/>
                <a:cs typeface="+mn-cs"/>
              </a:rPr>
              <a:t>produce a more efficient implementation with a sequence of simpler instructions.</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 Another set of specialized instructions deals with memory</a:t>
            </a:r>
          </a:p>
          <a:p>
            <a:r>
              <a:rPr lang="en-US" sz="1200" b="0" i="0" u="none" strike="noStrike" kern="1200" baseline="0" dirty="0">
                <a:solidFill>
                  <a:schemeClr val="tx1"/>
                </a:solidFill>
                <a:latin typeface="Times New Roman" pitchFamily="-1" charset="0"/>
                <a:ea typeface="+mn-ea"/>
                <a:cs typeface="+mn-cs"/>
              </a:rPr>
              <a:t>segmentation. These are privileged instructions that can only be executed from the</a:t>
            </a:r>
          </a:p>
          <a:p>
            <a:r>
              <a:rPr lang="en-US" sz="1200" b="0" i="0" u="none" strike="noStrike" kern="1200" baseline="0" dirty="0">
                <a:solidFill>
                  <a:schemeClr val="tx1"/>
                </a:solidFill>
                <a:latin typeface="Times New Roman" pitchFamily="-1" charset="0"/>
                <a:ea typeface="+mn-ea"/>
                <a:cs typeface="+mn-cs"/>
              </a:rPr>
              <a:t>operating system. They allow local and global segment tables (called descriptor</a:t>
            </a:r>
          </a:p>
          <a:p>
            <a:r>
              <a:rPr lang="en-US" sz="1200" b="0" i="0" u="none" strike="noStrike" kern="1200" baseline="0" dirty="0">
                <a:solidFill>
                  <a:schemeClr val="tx1"/>
                </a:solidFill>
                <a:latin typeface="Times New Roman" pitchFamily="-1" charset="0"/>
                <a:ea typeface="+mn-ea"/>
                <a:cs typeface="+mn-cs"/>
              </a:rPr>
              <a:t>tables) to be loaded and read, and for the privilege level of a segment to be checked</a:t>
            </a:r>
          </a:p>
          <a:p>
            <a:r>
              <a:rPr lang="en-US" sz="1200" b="0" i="0" u="none" strike="noStrike" kern="1200" baseline="0" dirty="0">
                <a:solidFill>
                  <a:schemeClr val="tx1"/>
                </a:solidFill>
                <a:latin typeface="Times New Roman" pitchFamily="-1" charset="0"/>
                <a:ea typeface="+mn-ea"/>
                <a:cs typeface="+mn-cs"/>
              </a:rPr>
              <a:t>and altered.</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The special instructions for dealing with the on-chip cache were discussed in Chapter 5.</a:t>
            </a:r>
            <a:endParaRPr lang="en-US" dirty="0"/>
          </a:p>
        </p:txBody>
      </p:sp>
    </p:spTree>
    <p:extLst>
      <p:ext uri="{BB962C8B-B14F-4D97-AF65-F5344CB8AC3E}">
        <p14:creationId xmlns:p14="http://schemas.microsoft.com/office/powerpoint/2010/main" val="306810595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8371"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27</a:t>
            </a:r>
          </a:p>
        </p:txBody>
      </p:sp>
      <p:sp>
        <p:nvSpPr>
          <p:cNvPr id="58372"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8373"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8374" name="Rectangle 6"/>
          <p:cNvSpPr>
            <a:spLocks noGrp="1" noRot="1" noChangeAspect="1" noChangeArrowheads="1" noTextEdit="1"/>
          </p:cNvSpPr>
          <p:nvPr>
            <p:ph type="sldImg"/>
          </p:nvPr>
        </p:nvSpPr>
        <p:spPr>
          <a:xfrm>
            <a:off x="1150938" y="692150"/>
            <a:ext cx="4556125" cy="3416300"/>
          </a:xfrm>
          <a:ln cap="flat"/>
        </p:spPr>
      </p:sp>
      <p:sp>
        <p:nvSpPr>
          <p:cNvPr id="58375" name="Rectangle 7"/>
          <p:cNvSpPr>
            <a:spLocks noGrp="1" noChangeArrowheads="1"/>
          </p:cNvSpPr>
          <p:nvPr>
            <p:ph type="body" idx="1"/>
          </p:nvPr>
        </p:nvSpPr>
        <p:spPr>
          <a:ln/>
        </p:spPr>
        <p:txBody>
          <a:bodyPr/>
          <a:lstStyle/>
          <a:p>
            <a:r>
              <a:rPr lang="en-US" sz="1200" b="0" i="0" u="none" strike="noStrike" kern="1200" baseline="0" dirty="0">
                <a:solidFill>
                  <a:schemeClr val="tx1"/>
                </a:solidFill>
                <a:latin typeface="Times New Roman" pitchFamily="-1" charset="0"/>
                <a:ea typeface="+mn-ea"/>
                <a:cs typeface="+mn-cs"/>
              </a:rPr>
              <a:t> Status flags are bits in special registers</a:t>
            </a:r>
          </a:p>
          <a:p>
            <a:r>
              <a:rPr lang="en-US" sz="1200" b="0" i="0" u="none" strike="noStrike" kern="1200" baseline="0" dirty="0">
                <a:solidFill>
                  <a:schemeClr val="tx1"/>
                </a:solidFill>
                <a:latin typeface="Times New Roman" pitchFamily="-1" charset="0"/>
                <a:ea typeface="+mn-ea"/>
                <a:cs typeface="+mn-cs"/>
              </a:rPr>
              <a:t>that may be set by certain operations and used in conditional branch instructions.</a:t>
            </a:r>
          </a:p>
          <a:p>
            <a:r>
              <a:rPr lang="en-US" sz="1200" b="0" i="0" u="none" strike="noStrike" kern="1200" baseline="0" dirty="0">
                <a:solidFill>
                  <a:schemeClr val="tx1"/>
                </a:solidFill>
                <a:latin typeface="Times New Roman" pitchFamily="-1" charset="0"/>
                <a:ea typeface="+mn-ea"/>
                <a:cs typeface="+mn-cs"/>
              </a:rPr>
              <a:t>The term </a:t>
            </a:r>
            <a:r>
              <a:rPr lang="en-US" sz="1200" b="0" i="1" u="none" strike="noStrike" kern="1200" baseline="0" dirty="0">
                <a:solidFill>
                  <a:schemeClr val="tx1"/>
                </a:solidFill>
                <a:latin typeface="Times New Roman" pitchFamily="-1" charset="0"/>
                <a:ea typeface="+mn-ea"/>
                <a:cs typeface="+mn-cs"/>
              </a:rPr>
              <a:t>condition code  </a:t>
            </a:r>
            <a:r>
              <a:rPr lang="en-US" sz="1200" b="0" i="0" u="none" strike="noStrike" kern="1200" baseline="0" dirty="0">
                <a:solidFill>
                  <a:schemeClr val="tx1"/>
                </a:solidFill>
                <a:latin typeface="Times New Roman" pitchFamily="-1" charset="0"/>
                <a:ea typeface="+mn-ea"/>
                <a:cs typeface="+mn-cs"/>
              </a:rPr>
              <a:t>refers to the settings of one or more status flags. In the</a:t>
            </a:r>
          </a:p>
          <a:p>
            <a:r>
              <a:rPr lang="en-US" sz="1200" b="0" i="0" u="none" strike="noStrike" kern="1200" baseline="0" dirty="0">
                <a:solidFill>
                  <a:schemeClr val="tx1"/>
                </a:solidFill>
                <a:latin typeface="Times New Roman" pitchFamily="-1" charset="0"/>
                <a:ea typeface="+mn-ea"/>
                <a:cs typeface="+mn-cs"/>
              </a:rPr>
              <a:t>x86 and many other architectures, status flags are set by arithmetic and compare</a:t>
            </a:r>
          </a:p>
          <a:p>
            <a:r>
              <a:rPr lang="en-US" sz="1200" b="0" i="0" u="none" strike="noStrike" kern="1200" baseline="0" dirty="0">
                <a:solidFill>
                  <a:schemeClr val="tx1"/>
                </a:solidFill>
                <a:latin typeface="Times New Roman" pitchFamily="-1" charset="0"/>
                <a:ea typeface="+mn-ea"/>
                <a:cs typeface="+mn-cs"/>
              </a:rPr>
              <a:t>operations. The compare operation in most languages subtracts two operands, as</a:t>
            </a:r>
          </a:p>
          <a:p>
            <a:r>
              <a:rPr lang="en-US" sz="1200" b="0" i="0" u="none" strike="noStrike" kern="1200" baseline="0" dirty="0">
                <a:solidFill>
                  <a:schemeClr val="tx1"/>
                </a:solidFill>
                <a:latin typeface="Times New Roman" pitchFamily="-1" charset="0"/>
                <a:ea typeface="+mn-ea"/>
                <a:cs typeface="+mn-cs"/>
              </a:rPr>
              <a:t>does a subtract operation. The difference is that a compare operation only sets</a:t>
            </a:r>
          </a:p>
          <a:p>
            <a:r>
              <a:rPr lang="en-US" sz="1200" b="0" i="0" u="none" strike="noStrike" kern="1200" baseline="0" dirty="0">
                <a:solidFill>
                  <a:schemeClr val="tx1"/>
                </a:solidFill>
                <a:latin typeface="Times New Roman" pitchFamily="-1" charset="0"/>
                <a:ea typeface="+mn-ea"/>
                <a:cs typeface="+mn-cs"/>
              </a:rPr>
              <a:t>status flags, whereas a subtract operation also stores the result of the subtraction</a:t>
            </a:r>
          </a:p>
          <a:p>
            <a:r>
              <a:rPr lang="en-US" sz="1200" b="0" i="0" u="none" strike="noStrike" kern="1200" baseline="0" dirty="0">
                <a:solidFill>
                  <a:schemeClr val="tx1"/>
                </a:solidFill>
                <a:latin typeface="Times New Roman" pitchFamily="-1" charset="0"/>
                <a:ea typeface="+mn-ea"/>
                <a:cs typeface="+mn-cs"/>
              </a:rPr>
              <a:t>in the destination operand. Some architectures also set status flags for data transfer</a:t>
            </a:r>
          </a:p>
          <a:p>
            <a:r>
              <a:rPr lang="en-US" sz="1200" b="0" i="0" u="none" strike="noStrike" kern="1200" baseline="0" dirty="0">
                <a:solidFill>
                  <a:schemeClr val="tx1"/>
                </a:solidFill>
                <a:latin typeface="Times New Roman" pitchFamily="-1" charset="0"/>
                <a:ea typeface="+mn-ea"/>
                <a:cs typeface="+mn-cs"/>
              </a:rPr>
              <a:t>instructions.</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Table 13.8 lists the status flags used on the x86. Each flag, or combinations</a:t>
            </a:r>
          </a:p>
          <a:p>
            <a:r>
              <a:rPr lang="en-US" sz="1200" b="0" i="0" u="none" strike="noStrike" kern="1200" baseline="0" dirty="0">
                <a:solidFill>
                  <a:schemeClr val="tx1"/>
                </a:solidFill>
                <a:latin typeface="Times New Roman" pitchFamily="-1" charset="0"/>
                <a:ea typeface="+mn-ea"/>
                <a:cs typeface="+mn-cs"/>
              </a:rPr>
              <a:t>of these flags, can be tested for a conditional jump.</a:t>
            </a:r>
            <a:endParaRPr lang="en-GB" dirty="0"/>
          </a:p>
        </p:txBody>
      </p:sp>
    </p:spTree>
    <p:extLst>
      <p:ext uri="{BB962C8B-B14F-4D97-AF65-F5344CB8AC3E}">
        <p14:creationId xmlns:p14="http://schemas.microsoft.com/office/powerpoint/2010/main" val="17526982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Times New Roman" pitchFamily="-1" charset="0"/>
                <a:ea typeface="+mn-ea"/>
                <a:cs typeface="+mn-cs"/>
              </a:rPr>
              <a:t> Table 13.9 shows the condition codes (combinations of status flag values) for which </a:t>
            </a:r>
          </a:p>
          <a:p>
            <a:r>
              <a:rPr lang="en-US" sz="1200" b="0" i="0" u="none" strike="noStrike" kern="1200" baseline="0" dirty="0">
                <a:solidFill>
                  <a:schemeClr val="tx1"/>
                </a:solidFill>
                <a:latin typeface="Times New Roman" pitchFamily="-1" charset="0"/>
                <a:ea typeface="+mn-ea"/>
                <a:cs typeface="+mn-cs"/>
              </a:rPr>
              <a:t>conditional jump </a:t>
            </a:r>
            <a:r>
              <a:rPr lang="en-US" sz="1200" b="0" i="0" u="none" strike="noStrike" kern="1200" baseline="0" dirty="0" err="1">
                <a:solidFill>
                  <a:schemeClr val="tx1"/>
                </a:solidFill>
                <a:latin typeface="Times New Roman" pitchFamily="-1" charset="0"/>
                <a:ea typeface="+mn-ea"/>
                <a:cs typeface="+mn-cs"/>
              </a:rPr>
              <a:t>opcodes</a:t>
            </a:r>
            <a:r>
              <a:rPr lang="en-US" sz="1200" b="0" i="0" u="none" strike="noStrike" kern="1200" baseline="0" dirty="0">
                <a:solidFill>
                  <a:schemeClr val="tx1"/>
                </a:solidFill>
                <a:latin typeface="Times New Roman" pitchFamily="-1" charset="0"/>
                <a:ea typeface="+mn-ea"/>
                <a:cs typeface="+mn-cs"/>
              </a:rPr>
              <a:t> have been defined.</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Several interesting observations can be made about this list. First, we may</a:t>
            </a:r>
          </a:p>
          <a:p>
            <a:r>
              <a:rPr lang="en-US" sz="1200" b="0" i="0" u="none" strike="noStrike" kern="1200" baseline="0" dirty="0">
                <a:solidFill>
                  <a:schemeClr val="tx1"/>
                </a:solidFill>
                <a:latin typeface="Times New Roman" pitchFamily="-1" charset="0"/>
                <a:ea typeface="+mn-ea"/>
                <a:cs typeface="+mn-cs"/>
              </a:rPr>
              <a:t>wish to test two operands to determine if one number is bigger than another. But</a:t>
            </a:r>
          </a:p>
          <a:p>
            <a:r>
              <a:rPr lang="en-US" sz="1200" b="0" i="0" u="none" strike="noStrike" kern="1200" baseline="0" dirty="0">
                <a:solidFill>
                  <a:schemeClr val="tx1"/>
                </a:solidFill>
                <a:latin typeface="Times New Roman" pitchFamily="-1" charset="0"/>
                <a:ea typeface="+mn-ea"/>
                <a:cs typeface="+mn-cs"/>
              </a:rPr>
              <a:t>this will depend on whether the numbers are signed or unsigned. For example, the</a:t>
            </a:r>
          </a:p>
          <a:p>
            <a:r>
              <a:rPr lang="en-US" sz="1200" b="0" i="0" u="none" strike="noStrike" kern="1200" baseline="0" dirty="0">
                <a:solidFill>
                  <a:schemeClr val="tx1"/>
                </a:solidFill>
                <a:latin typeface="Times New Roman" pitchFamily="-1" charset="0"/>
                <a:ea typeface="+mn-ea"/>
                <a:cs typeface="+mn-cs"/>
              </a:rPr>
              <a:t>8-bit number 11111111 is bigger than 00000000 if the two numbers are interpreted</a:t>
            </a:r>
          </a:p>
          <a:p>
            <a:r>
              <a:rPr lang="en-US" sz="1200" b="0" i="0" u="none" strike="noStrike" kern="1200" baseline="0" dirty="0">
                <a:solidFill>
                  <a:schemeClr val="tx1"/>
                </a:solidFill>
                <a:latin typeface="Times New Roman" pitchFamily="-1" charset="0"/>
                <a:ea typeface="+mn-ea"/>
                <a:cs typeface="+mn-cs"/>
              </a:rPr>
              <a:t> as unsigned integers (255 &gt;  0) but is less if they are considered as 8-bit twos complement</a:t>
            </a:r>
          </a:p>
          <a:p>
            <a:r>
              <a:rPr lang="en-US" sz="1200" b="0" i="0" u="none" strike="noStrike" kern="1200" baseline="0" dirty="0">
                <a:solidFill>
                  <a:schemeClr val="tx1"/>
                </a:solidFill>
                <a:latin typeface="Times New Roman" pitchFamily="-1" charset="0"/>
                <a:ea typeface="+mn-ea"/>
                <a:cs typeface="+mn-cs"/>
              </a:rPr>
              <a:t>numbers ( -  1&lt; 0). Many assembly languages therefore introduce two sets</a:t>
            </a:r>
          </a:p>
          <a:p>
            <a:r>
              <a:rPr lang="en-US" sz="1200" b="0" i="0" u="none" strike="noStrike" kern="1200" baseline="0" dirty="0">
                <a:solidFill>
                  <a:schemeClr val="tx1"/>
                </a:solidFill>
                <a:latin typeface="Times New Roman" pitchFamily="-1" charset="0"/>
                <a:ea typeface="+mn-ea"/>
                <a:cs typeface="+mn-cs"/>
              </a:rPr>
              <a:t>of terms to distinguish the two cases: If we are comparing two numbers as signed</a:t>
            </a:r>
          </a:p>
          <a:p>
            <a:r>
              <a:rPr lang="en-US" sz="1200" b="0" i="0" u="none" strike="noStrike" kern="1200" baseline="0" dirty="0">
                <a:solidFill>
                  <a:schemeClr val="tx1"/>
                </a:solidFill>
                <a:latin typeface="Times New Roman" pitchFamily="-1" charset="0"/>
                <a:ea typeface="+mn-ea"/>
                <a:cs typeface="+mn-cs"/>
              </a:rPr>
              <a:t>integers, we use the terms </a:t>
            </a:r>
            <a:r>
              <a:rPr lang="en-US" sz="1200" b="0" i="1" u="none" strike="noStrike" kern="1200" baseline="0" dirty="0">
                <a:solidFill>
                  <a:schemeClr val="tx1"/>
                </a:solidFill>
                <a:latin typeface="Times New Roman" pitchFamily="-1" charset="0"/>
                <a:ea typeface="+mn-ea"/>
                <a:cs typeface="+mn-cs"/>
              </a:rPr>
              <a:t>less than </a:t>
            </a:r>
            <a:r>
              <a:rPr lang="en-US" sz="1200" b="0" i="0" u="none" strike="noStrike" kern="1200" baseline="0" dirty="0">
                <a:solidFill>
                  <a:schemeClr val="tx1"/>
                </a:solidFill>
                <a:latin typeface="Times New Roman" pitchFamily="-1" charset="0"/>
                <a:ea typeface="+mn-ea"/>
                <a:cs typeface="+mn-cs"/>
              </a:rPr>
              <a:t>and </a:t>
            </a:r>
            <a:r>
              <a:rPr lang="en-US" sz="1200" b="0" i="1" u="none" strike="noStrike" kern="1200" baseline="0" dirty="0">
                <a:solidFill>
                  <a:schemeClr val="tx1"/>
                </a:solidFill>
                <a:latin typeface="Times New Roman" pitchFamily="-1" charset="0"/>
                <a:ea typeface="+mn-ea"/>
                <a:cs typeface="+mn-cs"/>
              </a:rPr>
              <a:t>greater than</a:t>
            </a:r>
            <a:r>
              <a:rPr lang="en-US" sz="1200" b="0" i="0" u="none" strike="noStrike" kern="1200" baseline="0" dirty="0">
                <a:solidFill>
                  <a:schemeClr val="tx1"/>
                </a:solidFill>
                <a:latin typeface="Times New Roman" pitchFamily="-1" charset="0"/>
                <a:ea typeface="+mn-ea"/>
                <a:cs typeface="+mn-cs"/>
              </a:rPr>
              <a:t>;  if we are comparing them as</a:t>
            </a:r>
          </a:p>
          <a:p>
            <a:r>
              <a:rPr lang="en-US" sz="1200" b="0" i="0" u="none" strike="noStrike" kern="1200" baseline="0" dirty="0">
                <a:solidFill>
                  <a:schemeClr val="tx1"/>
                </a:solidFill>
                <a:latin typeface="Times New Roman" pitchFamily="-1" charset="0"/>
                <a:ea typeface="+mn-ea"/>
                <a:cs typeface="+mn-cs"/>
              </a:rPr>
              <a:t>unsigned integers, we use the terms </a:t>
            </a:r>
            <a:r>
              <a:rPr lang="en-US" sz="1200" b="0" i="1" u="none" strike="noStrike" kern="1200" baseline="0" dirty="0">
                <a:solidFill>
                  <a:schemeClr val="tx1"/>
                </a:solidFill>
                <a:latin typeface="Times New Roman" pitchFamily="-1" charset="0"/>
                <a:ea typeface="+mn-ea"/>
                <a:cs typeface="+mn-cs"/>
              </a:rPr>
              <a:t>below</a:t>
            </a:r>
            <a:r>
              <a:rPr lang="en-US" sz="1200" b="0" i="0" u="none" strike="noStrike" kern="1200" baseline="0" dirty="0">
                <a:solidFill>
                  <a:schemeClr val="tx1"/>
                </a:solidFill>
                <a:latin typeface="Times New Roman" pitchFamily="-1" charset="0"/>
                <a:ea typeface="+mn-ea"/>
                <a:cs typeface="+mn-cs"/>
              </a:rPr>
              <a:t> and </a:t>
            </a:r>
            <a:r>
              <a:rPr lang="en-US" sz="1200" b="0" i="1" u="none" strike="noStrike" kern="1200" baseline="0" dirty="0">
                <a:solidFill>
                  <a:schemeClr val="tx1"/>
                </a:solidFill>
                <a:latin typeface="Times New Roman" pitchFamily="-1" charset="0"/>
                <a:ea typeface="+mn-ea"/>
                <a:cs typeface="+mn-cs"/>
              </a:rPr>
              <a:t>above.</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 A second observation concerns the complexity of comparing signed integers.</a:t>
            </a:r>
          </a:p>
          <a:p>
            <a:r>
              <a:rPr lang="en-US" sz="1200" b="0" i="0" u="none" strike="noStrike" kern="1200" baseline="0" dirty="0">
                <a:solidFill>
                  <a:schemeClr val="tx1"/>
                </a:solidFill>
                <a:latin typeface="Times New Roman" pitchFamily="-1" charset="0"/>
                <a:ea typeface="+mn-ea"/>
                <a:cs typeface="+mn-cs"/>
              </a:rPr>
              <a:t>A signed result is greater than or equal to zero if (1) the sign bit is zero and there is</a:t>
            </a:r>
          </a:p>
          <a:p>
            <a:r>
              <a:rPr lang="en-US" sz="1200" b="0" i="0" u="none" strike="noStrike" kern="1200" baseline="0" dirty="0">
                <a:solidFill>
                  <a:schemeClr val="tx1"/>
                </a:solidFill>
                <a:latin typeface="Times New Roman" pitchFamily="-1" charset="0"/>
                <a:ea typeface="+mn-ea"/>
                <a:cs typeface="+mn-cs"/>
              </a:rPr>
              <a:t>no overflow (S =  0 AND O =  0), or (2) the sign bit is one and there is an overflow.</a:t>
            </a:r>
          </a:p>
          <a:p>
            <a:r>
              <a:rPr lang="en-US" sz="1200" b="0" i="0" u="none" strike="noStrike" kern="1200" baseline="0" dirty="0">
                <a:solidFill>
                  <a:schemeClr val="tx1"/>
                </a:solidFill>
                <a:latin typeface="Times New Roman" pitchFamily="-1" charset="0"/>
                <a:ea typeface="+mn-ea"/>
                <a:cs typeface="+mn-cs"/>
              </a:rPr>
              <a:t>A study of Figure 11.4 should convince you that the conditions tested for the various</a:t>
            </a:r>
          </a:p>
          <a:p>
            <a:r>
              <a:rPr lang="en-US" sz="1200" b="0" i="0" u="none" strike="noStrike" kern="1200" baseline="0" dirty="0">
                <a:solidFill>
                  <a:schemeClr val="tx1"/>
                </a:solidFill>
                <a:latin typeface="Times New Roman" pitchFamily="-1" charset="0"/>
                <a:ea typeface="+mn-ea"/>
                <a:cs typeface="+mn-cs"/>
              </a:rPr>
              <a:t>signed operations are appropriate.</a:t>
            </a:r>
            <a:endParaRPr lang="en-US" dirty="0"/>
          </a:p>
        </p:txBody>
      </p:sp>
    </p:spTree>
    <p:extLst>
      <p:ext uri="{BB962C8B-B14F-4D97-AF65-F5344CB8AC3E}">
        <p14:creationId xmlns:p14="http://schemas.microsoft.com/office/powerpoint/2010/main" val="178686186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4515"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30</a:t>
            </a:r>
          </a:p>
        </p:txBody>
      </p:sp>
      <p:sp>
        <p:nvSpPr>
          <p:cNvPr id="64516"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4517"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4518" name="Rectangle 6"/>
          <p:cNvSpPr>
            <a:spLocks noGrp="1" noRot="1" noChangeAspect="1" noChangeArrowheads="1" noTextEdit="1"/>
          </p:cNvSpPr>
          <p:nvPr>
            <p:ph type="sldImg"/>
          </p:nvPr>
        </p:nvSpPr>
        <p:spPr>
          <a:xfrm>
            <a:off x="1150938" y="692150"/>
            <a:ext cx="4556125" cy="3416300"/>
          </a:xfrm>
          <a:ln cap="flat"/>
        </p:spPr>
      </p:sp>
      <p:sp>
        <p:nvSpPr>
          <p:cNvPr id="64519"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In 1996, Intel introduced MMX technology into its Pentium product line. MMX is set of highly optimized instructions for multimedia tasks. There are 57 new instructions that treat data in a SIMD (single-instruction, multiple- data) fashion, which makes it possible to perform the same operation, such as addition or multiplication, on multiple data elements at once. Each instruction typically takes a single clock cycle to execute. For the proper application, these fast parallel operations can yield a speedup of two to eight times over comparable algorithms that do not use the MMX instructions [ATKI96]. With the introduction of 64-bit x86 architecture, Intel has expanded this extension to include double quadword (128 bits) operands and floating-point operations. In this subsection, we describe the MMX features. </a:t>
            </a:r>
            <a:endParaRPr lang="en-US" dirty="0"/>
          </a:p>
          <a:p>
            <a:endParaRPr lang="en-US" sz="1200"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The focus of MMX is multimedia programming. Video and audio data are typically composed of large arrays of small data types, such as 8 or 16 bits, whereas conventional instructions are tailored to operate on 32- or 64-bit data. Here are some examples: In graphics and video, a single scene consists of an array of pixels, and there are 8 bits for each pixel or 8 bits for each pixel color component (red, green, blue). Typical audio samples are quantized using 16 bits. For some 3D graphics algorithms, 32 bits are common for basic data types. To provide for parallel operation on these data lengths, three new data types are defined in MMX. Each data type is 64 bits in length and consists of multiple smaller data fields, each of which holds a fixed-point integer. The types are as follows: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latin typeface="Times New Roman" pitchFamily="-1" charset="0"/>
              <a:ea typeface="+mn-ea"/>
              <a:cs typeface="+mn-cs"/>
            </a:endParaRPr>
          </a:p>
          <a:p>
            <a:pPr marL="171450" indent="-171450">
              <a:buFont typeface="Arial" charset="0"/>
              <a:buChar char="•"/>
            </a:pPr>
            <a:r>
              <a:rPr lang="en-US" sz="1200" b="1" kern="1200" dirty="0">
                <a:solidFill>
                  <a:schemeClr val="tx1"/>
                </a:solidFill>
                <a:latin typeface="Times New Roman" pitchFamily="-1" charset="0"/>
                <a:ea typeface="+mn-ea"/>
                <a:cs typeface="+mn-cs"/>
              </a:rPr>
              <a:t>Packed byte: </a:t>
            </a:r>
            <a:r>
              <a:rPr lang="en-US" sz="1200" kern="1200" dirty="0">
                <a:solidFill>
                  <a:schemeClr val="tx1"/>
                </a:solidFill>
                <a:latin typeface="Times New Roman" pitchFamily="-1" charset="0"/>
                <a:ea typeface="+mn-ea"/>
                <a:cs typeface="+mn-cs"/>
              </a:rPr>
              <a:t>Eight bytes packed into one 64-bit quantity </a:t>
            </a:r>
          </a:p>
          <a:p>
            <a:pPr marL="171450" indent="-171450">
              <a:buFont typeface="Arial" charset="0"/>
              <a:buChar char="•"/>
            </a:pPr>
            <a:endParaRPr lang="en-US" sz="1200" b="1" kern="1200" dirty="0">
              <a:solidFill>
                <a:schemeClr val="tx1"/>
              </a:solidFill>
              <a:latin typeface="Times New Roman" pitchFamily="-1" charset="0"/>
              <a:ea typeface="+mn-ea"/>
              <a:cs typeface="+mn-cs"/>
            </a:endParaRPr>
          </a:p>
          <a:p>
            <a:pPr marL="171450" indent="-171450">
              <a:buFont typeface="Arial" charset="0"/>
              <a:buChar char="•"/>
            </a:pPr>
            <a:r>
              <a:rPr lang="en-US" sz="1200" b="1" kern="1200" dirty="0">
                <a:solidFill>
                  <a:schemeClr val="tx1"/>
                </a:solidFill>
                <a:latin typeface="Times New Roman" pitchFamily="-1" charset="0"/>
                <a:ea typeface="+mn-ea"/>
                <a:cs typeface="+mn-cs"/>
              </a:rPr>
              <a:t>Packed word: </a:t>
            </a:r>
            <a:r>
              <a:rPr lang="en-US" sz="1200" kern="1200" dirty="0">
                <a:solidFill>
                  <a:schemeClr val="tx1"/>
                </a:solidFill>
                <a:latin typeface="Times New Roman" pitchFamily="-1" charset="0"/>
                <a:ea typeface="+mn-ea"/>
                <a:cs typeface="+mn-cs"/>
              </a:rPr>
              <a:t>Four 16-bit words packed into 64 bits </a:t>
            </a:r>
          </a:p>
          <a:p>
            <a:pPr marL="171450" indent="-171450">
              <a:buFont typeface="Arial" charset="0"/>
              <a:buChar char="•"/>
            </a:pPr>
            <a:endParaRPr lang="en-US" sz="1200" kern="1200" dirty="0">
              <a:solidFill>
                <a:schemeClr val="tx1"/>
              </a:solidFill>
              <a:latin typeface="Times New Roman" pitchFamily="-1" charset="0"/>
              <a:ea typeface="+mn-ea"/>
              <a:cs typeface="+mn-cs"/>
            </a:endParaRPr>
          </a:p>
          <a:p>
            <a:pPr marL="171450" indent="-171450">
              <a:buFont typeface="Arial" charset="0"/>
              <a:buChar char="•"/>
            </a:pPr>
            <a:r>
              <a:rPr lang="en-US" sz="1200" b="1" kern="1200" dirty="0">
                <a:solidFill>
                  <a:schemeClr val="tx1"/>
                </a:solidFill>
                <a:latin typeface="Times New Roman" pitchFamily="-1" charset="0"/>
                <a:ea typeface="+mn-ea"/>
                <a:cs typeface="+mn-cs"/>
              </a:rPr>
              <a:t>Packed doubleword: </a:t>
            </a:r>
            <a:r>
              <a:rPr lang="en-US" sz="1200" kern="1200" dirty="0">
                <a:solidFill>
                  <a:schemeClr val="tx1"/>
                </a:solidFill>
                <a:latin typeface="Times New Roman" pitchFamily="-1" charset="0"/>
                <a:ea typeface="+mn-ea"/>
                <a:cs typeface="+mn-cs"/>
              </a:rPr>
              <a:t>Two 32-bit doublewords packed into 64 bits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r>
              <a:rPr lang="en-US" sz="1200" kern="1200" dirty="0">
                <a:solidFill>
                  <a:schemeClr val="tx1"/>
                </a:solidFill>
                <a:latin typeface="Times New Roman" pitchFamily="-1" charset="0"/>
                <a:ea typeface="+mn-ea"/>
                <a:cs typeface="+mn-cs"/>
              </a:rPr>
              <a:t> </a:t>
            </a:r>
            <a:endParaRPr lang="en-US" dirty="0"/>
          </a:p>
          <a:p>
            <a:endParaRPr lang="en-GB" dirty="0"/>
          </a:p>
        </p:txBody>
      </p:sp>
    </p:spTree>
    <p:extLst>
      <p:ext uri="{BB962C8B-B14F-4D97-AF65-F5344CB8AC3E}">
        <p14:creationId xmlns:p14="http://schemas.microsoft.com/office/powerpoint/2010/main" val="36113104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lnSpcReduction="10000"/>
          </a:bodyPr>
          <a:lstStyle/>
          <a:p>
            <a:r>
              <a:rPr lang="en-US" sz="1200" b="0" i="0" u="none" strike="noStrike" kern="1200" baseline="0" dirty="0">
                <a:solidFill>
                  <a:schemeClr val="tx1"/>
                </a:solidFill>
                <a:latin typeface="Times New Roman" pitchFamily="-1" charset="0"/>
                <a:ea typeface="+mn-ea"/>
                <a:cs typeface="+mn-cs"/>
              </a:rPr>
              <a:t>Table 13.10 lists the MMX instruction set. Most of the instructions involve</a:t>
            </a:r>
          </a:p>
          <a:p>
            <a:r>
              <a:rPr lang="en-US" sz="1200" b="0" i="0" u="none" strike="noStrike" kern="1200" baseline="0" dirty="0">
                <a:solidFill>
                  <a:schemeClr val="tx1"/>
                </a:solidFill>
                <a:latin typeface="Times New Roman" pitchFamily="-1" charset="0"/>
                <a:ea typeface="+mn-ea"/>
                <a:cs typeface="+mn-cs"/>
              </a:rPr>
              <a:t>parallel operation on bytes, words, or </a:t>
            </a:r>
            <a:r>
              <a:rPr lang="en-US" sz="1200" b="0" i="0" u="none" strike="noStrike" kern="1200" baseline="0" dirty="0" err="1">
                <a:solidFill>
                  <a:schemeClr val="tx1"/>
                </a:solidFill>
                <a:latin typeface="Times New Roman" pitchFamily="-1" charset="0"/>
                <a:ea typeface="+mn-ea"/>
                <a:cs typeface="+mn-cs"/>
              </a:rPr>
              <a:t>doublewords</a:t>
            </a:r>
            <a:r>
              <a:rPr lang="en-US" sz="1200" b="0" i="0" u="none" strike="noStrike" kern="1200" baseline="0" dirty="0">
                <a:solidFill>
                  <a:schemeClr val="tx1"/>
                </a:solidFill>
                <a:latin typeface="Times New Roman" pitchFamily="-1" charset="0"/>
                <a:ea typeface="+mn-ea"/>
                <a:cs typeface="+mn-cs"/>
              </a:rPr>
              <a:t>. For example, the PSLLW</a:t>
            </a:r>
          </a:p>
          <a:p>
            <a:r>
              <a:rPr lang="en-US" sz="1200" b="0" i="0" u="none" strike="noStrike" kern="1200" baseline="0" dirty="0">
                <a:solidFill>
                  <a:schemeClr val="tx1"/>
                </a:solidFill>
                <a:latin typeface="Times New Roman" pitchFamily="-1" charset="0"/>
                <a:ea typeface="+mn-ea"/>
                <a:cs typeface="+mn-cs"/>
              </a:rPr>
              <a:t>instruction performs a left logical shift separately on each of the four words in the</a:t>
            </a:r>
          </a:p>
          <a:p>
            <a:r>
              <a:rPr lang="en-US" sz="1200" b="0" i="0" u="none" strike="noStrike" kern="1200" baseline="0" dirty="0">
                <a:solidFill>
                  <a:schemeClr val="tx1"/>
                </a:solidFill>
                <a:latin typeface="Times New Roman" pitchFamily="-1" charset="0"/>
                <a:ea typeface="+mn-ea"/>
                <a:cs typeface="+mn-cs"/>
              </a:rPr>
              <a:t>packed word operand; the PADDB instruction takes packed byte operands as input</a:t>
            </a:r>
          </a:p>
          <a:p>
            <a:r>
              <a:rPr lang="en-US" sz="1200" b="0" i="0" u="none" strike="noStrike" kern="1200" baseline="0" dirty="0">
                <a:solidFill>
                  <a:schemeClr val="tx1"/>
                </a:solidFill>
                <a:latin typeface="Times New Roman" pitchFamily="-1" charset="0"/>
                <a:ea typeface="+mn-ea"/>
                <a:cs typeface="+mn-cs"/>
              </a:rPr>
              <a:t>and performs parallel additions on each byte position independently to produce a</a:t>
            </a:r>
          </a:p>
          <a:p>
            <a:r>
              <a:rPr lang="en-US" sz="1200" b="0" i="0" u="none" strike="noStrike" kern="1200" baseline="0" dirty="0">
                <a:solidFill>
                  <a:schemeClr val="tx1"/>
                </a:solidFill>
                <a:latin typeface="Times New Roman" pitchFamily="-1" charset="0"/>
                <a:ea typeface="+mn-ea"/>
                <a:cs typeface="+mn-cs"/>
              </a:rPr>
              <a:t>packed byte output.</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 One unusual feature of the new instruction set is the introduction of </a:t>
            </a:r>
            <a:r>
              <a:rPr lang="en-US" sz="1200" b="1" i="0" u="none" strike="noStrike" kern="1200" baseline="0" dirty="0">
                <a:solidFill>
                  <a:schemeClr val="tx1"/>
                </a:solidFill>
                <a:latin typeface="Times New Roman" pitchFamily="-1" charset="0"/>
                <a:ea typeface="+mn-ea"/>
                <a:cs typeface="+mn-cs"/>
              </a:rPr>
              <a:t>saturation</a:t>
            </a:r>
          </a:p>
          <a:p>
            <a:r>
              <a:rPr lang="en-US" sz="1200" b="1" i="0" u="none" strike="noStrike" kern="1200" baseline="0" dirty="0">
                <a:solidFill>
                  <a:schemeClr val="tx1"/>
                </a:solidFill>
                <a:latin typeface="Times New Roman" pitchFamily="-1" charset="0"/>
                <a:ea typeface="+mn-ea"/>
                <a:cs typeface="+mn-cs"/>
              </a:rPr>
              <a:t>arithmetic </a:t>
            </a:r>
            <a:r>
              <a:rPr lang="en-US" sz="1200" b="0" i="0" u="none" strike="noStrike" kern="1200" baseline="0" dirty="0">
                <a:solidFill>
                  <a:schemeClr val="tx1"/>
                </a:solidFill>
                <a:latin typeface="Times New Roman" pitchFamily="-1" charset="0"/>
                <a:ea typeface="+mn-ea"/>
                <a:cs typeface="+mn-cs"/>
              </a:rPr>
              <a:t> for byte and 16-bit word operands. With ordinary unsigned arithmetic,</a:t>
            </a:r>
          </a:p>
          <a:p>
            <a:r>
              <a:rPr lang="en-US" sz="1200" b="0" i="0" u="none" strike="noStrike" kern="1200" baseline="0" dirty="0">
                <a:solidFill>
                  <a:schemeClr val="tx1"/>
                </a:solidFill>
                <a:latin typeface="Times New Roman" pitchFamily="-1" charset="0"/>
                <a:ea typeface="+mn-ea"/>
                <a:cs typeface="+mn-cs"/>
              </a:rPr>
              <a:t>when an operation overflows (i.e., a carry out of the most significant bit), the</a:t>
            </a:r>
          </a:p>
          <a:p>
            <a:r>
              <a:rPr lang="en-US" sz="1200" b="0" i="0" u="none" strike="noStrike" kern="1200" baseline="0" dirty="0">
                <a:solidFill>
                  <a:schemeClr val="tx1"/>
                </a:solidFill>
                <a:latin typeface="Times New Roman" pitchFamily="-1" charset="0"/>
                <a:ea typeface="+mn-ea"/>
                <a:cs typeface="+mn-cs"/>
              </a:rPr>
              <a:t>extra bit is truncated. This is referred to as wraparound, because the effect of the</a:t>
            </a:r>
          </a:p>
          <a:p>
            <a:r>
              <a:rPr lang="en-US" sz="1200" b="0" i="0" u="none" strike="noStrike" kern="1200" baseline="0" dirty="0">
                <a:solidFill>
                  <a:schemeClr val="tx1"/>
                </a:solidFill>
                <a:latin typeface="Times New Roman" pitchFamily="-1" charset="0"/>
                <a:ea typeface="+mn-ea"/>
                <a:cs typeface="+mn-cs"/>
              </a:rPr>
              <a:t>truncation can be, for example, to produce an addition result that is smaller than the</a:t>
            </a:r>
          </a:p>
          <a:p>
            <a:r>
              <a:rPr lang="en-US" sz="1200" b="0" i="0" u="none" strike="noStrike" kern="1200" baseline="0" dirty="0">
                <a:solidFill>
                  <a:schemeClr val="tx1"/>
                </a:solidFill>
                <a:latin typeface="Times New Roman" pitchFamily="-1" charset="0"/>
                <a:ea typeface="+mn-ea"/>
                <a:cs typeface="+mn-cs"/>
              </a:rPr>
              <a:t>two input operands.</a:t>
            </a:r>
            <a:endParaRPr lang="en-US" dirty="0"/>
          </a:p>
        </p:txBody>
      </p:sp>
    </p:spTree>
    <p:extLst>
      <p:ext uri="{BB962C8B-B14F-4D97-AF65-F5344CB8AC3E}">
        <p14:creationId xmlns:p14="http://schemas.microsoft.com/office/powerpoint/2010/main" val="398041102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Figure 13.11 shows the sequence of steps required for one set of pixels. The 8-bit pixel components are converted to 16-bit elements to accommodate the MMX 16-bit multiply capability. If these images use 640 * 480 resolution, and the dissolve technique uses all 255 possible values of the fade value, then the total number of instructions executed using MMX is 535 million. The same calculation, performed without the MMX instructions, requires 1.4 billion instruction executions [INTE98]. </a:t>
            </a:r>
            <a:endParaRPr lang="en-US" dirty="0"/>
          </a:p>
          <a:p>
            <a:endParaRPr lang="en-US" dirty="0"/>
          </a:p>
        </p:txBody>
      </p:sp>
    </p:spTree>
    <p:extLst>
      <p:ext uri="{BB962C8B-B14F-4D97-AF65-F5344CB8AC3E}">
        <p14:creationId xmlns:p14="http://schemas.microsoft.com/office/powerpoint/2010/main" val="52862539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55000" lnSpcReduction="20000"/>
          </a:bodyPr>
          <a:lstStyle/>
          <a:p>
            <a:r>
              <a:rPr lang="en-US" sz="1200" kern="1200" dirty="0">
                <a:solidFill>
                  <a:schemeClr val="tx1"/>
                </a:solidFill>
                <a:latin typeface="Times New Roman" pitchFamily="-1" charset="0"/>
                <a:ea typeface="+mn-ea"/>
                <a:cs typeface="+mn-cs"/>
              </a:rPr>
              <a:t>The ARM architecture provides a large collection of operation types. The following </a:t>
            </a:r>
            <a:endParaRPr lang="en-US" dirty="0"/>
          </a:p>
          <a:p>
            <a:r>
              <a:rPr lang="en-US" sz="1200" kern="1200" dirty="0">
                <a:solidFill>
                  <a:schemeClr val="tx1"/>
                </a:solidFill>
                <a:latin typeface="Times New Roman" pitchFamily="-1" charset="0"/>
                <a:ea typeface="+mn-ea"/>
                <a:cs typeface="+mn-cs"/>
              </a:rPr>
              <a:t>are the principal categories: </a:t>
            </a:r>
            <a:endParaRPr lang="en-US" dirty="0"/>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Load and store instructions: </a:t>
            </a:r>
            <a:r>
              <a:rPr lang="en-US" sz="1200" kern="1200" dirty="0">
                <a:solidFill>
                  <a:schemeClr val="tx1"/>
                </a:solidFill>
                <a:latin typeface="Times New Roman" pitchFamily="-1" charset="0"/>
                <a:ea typeface="+mn-ea"/>
                <a:cs typeface="+mn-cs"/>
              </a:rPr>
              <a:t>In the ARM architecture, only load and store instructions access memory locations; arithmetic and logical instructions are performed only on registers and immediate values encoded in the instruction. This limitation is characteristic of RISC design and it is explored further in Chapter 17. The ARM architecture supports two broad types of instruction that load or store the value of a single register, or a pair of registers, from or to memory: (1) load or store a 32-bit word or an 8-bit unsigned byte, and (2) load or store a 16-bit unsigned halfword, and load and sign extend a 16-bit halfword or an 8-bit byte.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Branch instructions:</a:t>
            </a:r>
            <a:r>
              <a:rPr lang="en-US" sz="1200" kern="1200" dirty="0">
                <a:solidFill>
                  <a:schemeClr val="tx1"/>
                </a:solidFill>
                <a:effectLst/>
                <a:latin typeface="Times New Roman" pitchFamily="-1" charset="0"/>
                <a:ea typeface="+mn-ea"/>
                <a:cs typeface="+mn-cs"/>
              </a:rPr>
              <a:t> ARM supports a branch instruction that allows a conditional</a:t>
            </a:r>
          </a:p>
          <a:p>
            <a:r>
              <a:rPr lang="en-US" sz="1200" kern="1200" dirty="0">
                <a:solidFill>
                  <a:schemeClr val="tx1"/>
                </a:solidFill>
                <a:effectLst/>
                <a:latin typeface="Times New Roman" pitchFamily="-1" charset="0"/>
                <a:ea typeface="+mn-ea"/>
                <a:cs typeface="+mn-cs"/>
              </a:rPr>
              <a:t>branch forwards or backwards up to 32 MB. A subroutine call can be</a:t>
            </a:r>
          </a:p>
          <a:p>
            <a:r>
              <a:rPr lang="en-US" sz="1200" kern="1200" dirty="0">
                <a:solidFill>
                  <a:schemeClr val="tx1"/>
                </a:solidFill>
                <a:effectLst/>
                <a:latin typeface="Times New Roman" pitchFamily="-1" charset="0"/>
                <a:ea typeface="+mn-ea"/>
                <a:cs typeface="+mn-cs"/>
              </a:rPr>
              <a:t>performed by a variant of the standard branch instruction. As well as allowing</a:t>
            </a:r>
          </a:p>
          <a:p>
            <a:r>
              <a:rPr lang="en-US" sz="1200" kern="1200" dirty="0">
                <a:solidFill>
                  <a:schemeClr val="tx1"/>
                </a:solidFill>
                <a:effectLst/>
                <a:latin typeface="Times New Roman" pitchFamily="-1" charset="0"/>
                <a:ea typeface="+mn-ea"/>
                <a:cs typeface="+mn-cs"/>
              </a:rPr>
              <a:t>a branch forward or backward up to 32 MB, the Branch with Link (BL)</a:t>
            </a:r>
          </a:p>
          <a:p>
            <a:r>
              <a:rPr lang="en-US" sz="1200" kern="1200" dirty="0">
                <a:solidFill>
                  <a:schemeClr val="tx1"/>
                </a:solidFill>
                <a:effectLst/>
                <a:latin typeface="Times New Roman" pitchFamily="-1" charset="0"/>
                <a:ea typeface="+mn-ea"/>
                <a:cs typeface="+mn-cs"/>
              </a:rPr>
              <a:t>instruction preserves the address of the instruction after the branch (the return</a:t>
            </a:r>
          </a:p>
          <a:p>
            <a:r>
              <a:rPr lang="en-US" sz="1200" kern="1200" dirty="0">
                <a:solidFill>
                  <a:schemeClr val="tx1"/>
                </a:solidFill>
                <a:effectLst/>
                <a:latin typeface="Times New Roman" pitchFamily="-1" charset="0"/>
                <a:ea typeface="+mn-ea"/>
                <a:cs typeface="+mn-cs"/>
              </a:rPr>
              <a:t>address) in the LR (R14). Branches are determined by a 4-bit condition field</a:t>
            </a:r>
          </a:p>
          <a:p>
            <a:r>
              <a:rPr lang="en-US" sz="1200" kern="1200" dirty="0">
                <a:solidFill>
                  <a:schemeClr val="tx1"/>
                </a:solidFill>
                <a:effectLst/>
                <a:latin typeface="Times New Roman" pitchFamily="-1" charset="0"/>
                <a:ea typeface="+mn-ea"/>
                <a:cs typeface="+mn-cs"/>
              </a:rPr>
              <a:t>in the instruction.</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Data-processing instructions: </a:t>
            </a:r>
            <a:r>
              <a:rPr lang="en-US" sz="1200" kern="1200" dirty="0">
                <a:solidFill>
                  <a:schemeClr val="tx1"/>
                </a:solidFill>
                <a:latin typeface="Times New Roman" pitchFamily="-1" charset="0"/>
                <a:ea typeface="+mn-ea"/>
                <a:cs typeface="+mn-cs"/>
              </a:rPr>
              <a:t>This category includes logical instructions (AND, OR, XOR), add and subtract instructions, and test and compare instructions.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Multiply instructions: </a:t>
            </a:r>
            <a:r>
              <a:rPr lang="en-US" sz="1200" kern="1200" dirty="0">
                <a:solidFill>
                  <a:schemeClr val="tx1"/>
                </a:solidFill>
                <a:latin typeface="Times New Roman" pitchFamily="-1" charset="0"/>
                <a:ea typeface="+mn-ea"/>
                <a:cs typeface="+mn-cs"/>
              </a:rPr>
              <a:t>The integer multiply instructions operate on word or halfword operands and can produce normal or long results. For example, there is a multiply instruction that takes two 32-bit operands and produces a 64-bit result.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Parallel addition and subtraction instructions: </a:t>
            </a:r>
            <a:r>
              <a:rPr lang="en-US" sz="1200" kern="1200" dirty="0">
                <a:solidFill>
                  <a:schemeClr val="tx1"/>
                </a:solidFill>
                <a:latin typeface="Times New Roman" pitchFamily="-1" charset="0"/>
                <a:ea typeface="+mn-ea"/>
                <a:cs typeface="+mn-cs"/>
              </a:rPr>
              <a:t>In addition to the normal data processing and multiply instructions, there are a set of parallel addition and subtraction instructions, in which portions of two operands are operated on in parallel. For example, ADD16 adds the top halfwords of two registers to form the top halfword of the result and adds the bottom halfwords of the same two registers to form the bottom halfword of the result. These instructions are useful in image processing applications, similar to the x86 MMX instructions.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Extend instructions: </a:t>
            </a:r>
            <a:r>
              <a:rPr lang="en-US" sz="1200" kern="1200" dirty="0">
                <a:solidFill>
                  <a:schemeClr val="tx1"/>
                </a:solidFill>
                <a:latin typeface="Times New Roman" pitchFamily="-1" charset="0"/>
                <a:ea typeface="+mn-ea"/>
                <a:cs typeface="+mn-cs"/>
              </a:rPr>
              <a:t>There are several instructions for unpacking data by sign or zero extending bytes to halfwords or words, and halfwords to words.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Status register access instructions: </a:t>
            </a:r>
            <a:r>
              <a:rPr lang="en-US" sz="1200" kern="1200" dirty="0">
                <a:solidFill>
                  <a:schemeClr val="tx1"/>
                </a:solidFill>
                <a:latin typeface="Times New Roman" pitchFamily="-1" charset="0"/>
                <a:ea typeface="+mn-ea"/>
                <a:cs typeface="+mn-cs"/>
              </a:rPr>
              <a:t>ARM provides the ability to read and also to write portions of the status register. </a:t>
            </a:r>
          </a:p>
          <a:p>
            <a:endParaRPr lang="en-US" dirty="0"/>
          </a:p>
        </p:txBody>
      </p:sp>
    </p:spTree>
    <p:extLst>
      <p:ext uri="{BB962C8B-B14F-4D97-AF65-F5344CB8AC3E}">
        <p14:creationId xmlns:p14="http://schemas.microsoft.com/office/powerpoint/2010/main" val="242892227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92500" lnSpcReduction="20000"/>
          </a:bodyPr>
          <a:lstStyle/>
          <a:p>
            <a:r>
              <a:rPr lang="en-US" sz="1200" kern="1200" dirty="0">
                <a:solidFill>
                  <a:schemeClr val="tx1"/>
                </a:solidFill>
                <a:effectLst/>
                <a:latin typeface="Times New Roman" pitchFamily="-1" charset="0"/>
                <a:ea typeface="+mn-ea"/>
                <a:cs typeface="+mn-cs"/>
              </a:rPr>
              <a:t> The ARM architecture defines four condition flags that</a:t>
            </a:r>
          </a:p>
          <a:p>
            <a:r>
              <a:rPr lang="en-US" sz="1200" kern="1200" dirty="0">
                <a:solidFill>
                  <a:schemeClr val="tx1"/>
                </a:solidFill>
                <a:effectLst/>
                <a:latin typeface="Times New Roman" pitchFamily="-1" charset="0"/>
                <a:ea typeface="+mn-ea"/>
                <a:cs typeface="+mn-cs"/>
              </a:rPr>
              <a:t>are stored in the program status register: N, Z, C, and V (Negative, Zero,</a:t>
            </a:r>
          </a:p>
          <a:p>
            <a:r>
              <a:rPr lang="en-US" sz="1200" kern="1200" dirty="0">
                <a:solidFill>
                  <a:schemeClr val="tx1"/>
                </a:solidFill>
                <a:effectLst/>
                <a:latin typeface="Times New Roman" pitchFamily="-1" charset="0"/>
                <a:ea typeface="+mn-ea"/>
                <a:cs typeface="+mn-cs"/>
              </a:rPr>
              <a:t>Carry and </a:t>
            </a:r>
            <a:r>
              <a:rPr lang="en-US" sz="1200" kern="1200" dirty="0" err="1">
                <a:solidFill>
                  <a:schemeClr val="tx1"/>
                </a:solidFill>
                <a:effectLst/>
                <a:latin typeface="Times New Roman" pitchFamily="-1" charset="0"/>
                <a:ea typeface="+mn-ea"/>
                <a:cs typeface="+mn-cs"/>
              </a:rPr>
              <a:t>oVerflow</a:t>
            </a:r>
            <a:r>
              <a:rPr lang="en-US" sz="1200" kern="1200" dirty="0">
                <a:solidFill>
                  <a:schemeClr val="tx1"/>
                </a:solidFill>
                <a:effectLst/>
                <a:latin typeface="Times New Roman" pitchFamily="-1" charset="0"/>
                <a:ea typeface="+mn-ea"/>
                <a:cs typeface="+mn-cs"/>
              </a:rPr>
              <a:t>), with meanings essentially the same as the S, Z, C, and</a:t>
            </a:r>
          </a:p>
          <a:p>
            <a:r>
              <a:rPr lang="en-US" sz="1200" kern="1200" dirty="0">
                <a:solidFill>
                  <a:schemeClr val="tx1"/>
                </a:solidFill>
                <a:effectLst/>
                <a:latin typeface="Times New Roman" pitchFamily="-1" charset="0"/>
                <a:ea typeface="+mn-ea"/>
                <a:cs typeface="+mn-cs"/>
              </a:rPr>
              <a:t> V flags in the x86 architecture. These four flags constitute a condition code</a:t>
            </a:r>
          </a:p>
          <a:p>
            <a:r>
              <a:rPr lang="en-US" sz="1200" kern="1200" dirty="0">
                <a:solidFill>
                  <a:schemeClr val="tx1"/>
                </a:solidFill>
                <a:effectLst/>
                <a:latin typeface="Times New Roman" pitchFamily="-1" charset="0"/>
                <a:ea typeface="+mn-ea"/>
                <a:cs typeface="+mn-cs"/>
              </a:rPr>
              <a:t>in ARM. Table 13.11 shows the combination of conditions for which conditional</a:t>
            </a:r>
          </a:p>
          <a:p>
            <a:r>
              <a:rPr lang="en-US" sz="1200" kern="1200" dirty="0">
                <a:solidFill>
                  <a:schemeClr val="tx1"/>
                </a:solidFill>
                <a:effectLst/>
                <a:latin typeface="Times New Roman" pitchFamily="-1" charset="0"/>
                <a:ea typeface="+mn-ea"/>
                <a:cs typeface="+mn-cs"/>
              </a:rPr>
              <a:t>execution is defined.</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There are two unusual aspects to the use of condition codes in ARM: </a:t>
            </a:r>
            <a:endParaRPr lang="en-US" dirty="0"/>
          </a:p>
          <a:p>
            <a:endParaRPr lang="en-US" sz="1200" b="0" kern="1200" dirty="0">
              <a:solidFill>
                <a:schemeClr val="tx1"/>
              </a:solidFill>
              <a:latin typeface="Times New Roman" pitchFamily="-1" charset="0"/>
              <a:ea typeface="+mn-ea"/>
              <a:cs typeface="+mn-cs"/>
            </a:endParaRPr>
          </a:p>
          <a:p>
            <a:r>
              <a:rPr lang="en-US" sz="1200" b="0" kern="1200" dirty="0">
                <a:solidFill>
                  <a:schemeClr val="tx1"/>
                </a:solidFill>
                <a:latin typeface="Times New Roman" pitchFamily="-1" charset="0"/>
                <a:ea typeface="+mn-ea"/>
                <a:cs typeface="+mn-cs"/>
              </a:rPr>
              <a:t>All instructions, not just branch instructions, include a condition code field, which means that virtually all instructions may be conditionally executed. Any combination of flag settings except 1110 or 1111 in an instruction’s condition code field signifies that the instruction will be executed only if the condition is met. </a:t>
            </a:r>
          </a:p>
          <a:p>
            <a:endParaRPr lang="en-US" sz="1200" b="1" kern="1200" dirty="0">
              <a:solidFill>
                <a:schemeClr val="tx1"/>
              </a:solidFill>
              <a:latin typeface="Times New Roman" pitchFamily="-1" charset="0"/>
              <a:ea typeface="+mn-ea"/>
              <a:cs typeface="+mn-cs"/>
            </a:endParaRPr>
          </a:p>
          <a:p>
            <a:r>
              <a:rPr lang="en-US" sz="1200" b="0" kern="1200" dirty="0">
                <a:solidFill>
                  <a:schemeClr val="tx1"/>
                </a:solidFill>
                <a:latin typeface="Times New Roman" pitchFamily="-1" charset="0"/>
                <a:ea typeface="+mn-ea"/>
                <a:cs typeface="+mn-cs"/>
              </a:rPr>
              <a:t>All data processing instructions (arithmetic, logical) includes an S bit that signifies whether the instruction updates the condition flags. </a:t>
            </a:r>
          </a:p>
          <a:p>
            <a:endParaRPr lang="en-US" sz="1200" b="0" kern="1200" dirty="0">
              <a:solidFill>
                <a:schemeClr val="tx1"/>
              </a:solidFill>
              <a:latin typeface="Times New Roman" pitchFamily="-1" charset="0"/>
              <a:ea typeface="+mn-ea"/>
              <a:cs typeface="+mn-cs"/>
            </a:endParaRPr>
          </a:p>
          <a:p>
            <a:r>
              <a:rPr lang="en-US" sz="1200" b="0" kern="1200" dirty="0">
                <a:solidFill>
                  <a:schemeClr val="tx1"/>
                </a:solidFill>
                <a:latin typeface="Times New Roman" pitchFamily="-1" charset="0"/>
                <a:ea typeface="+mn-ea"/>
                <a:cs typeface="+mn-cs"/>
              </a:rPr>
              <a:t>The use of conditional execution and conditional setting of the condition flags </a:t>
            </a:r>
          </a:p>
          <a:p>
            <a:r>
              <a:rPr lang="en-US" sz="1200" kern="1200" dirty="0">
                <a:solidFill>
                  <a:schemeClr val="tx1"/>
                </a:solidFill>
                <a:latin typeface="Times New Roman" pitchFamily="-1" charset="0"/>
                <a:ea typeface="+mn-ea"/>
                <a:cs typeface="+mn-cs"/>
              </a:rPr>
              <a:t>helps in the design of shorter programs that use less memory. On the other hand, all instructions include 4 bits for the condition code, so there is a trade-off in that fewer bits in the 32-bit instruction are available for opcode and operands. Because the ARM is a RISC design that relies heavily on register addressing, this seems to be a reasonable trade-off. </a:t>
            </a:r>
            <a:endParaRPr lang="en-US" dirty="0"/>
          </a:p>
          <a:p>
            <a:endParaRPr lang="en-US" dirty="0"/>
          </a:p>
        </p:txBody>
      </p:sp>
    </p:spTree>
    <p:extLst>
      <p:ext uri="{BB962C8B-B14F-4D97-AF65-F5344CB8AC3E}">
        <p14:creationId xmlns:p14="http://schemas.microsoft.com/office/powerpoint/2010/main" val="325196965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Times New Roman" pitchFamily="-1" charset="0"/>
                <a:ea typeface="+mn-ea"/>
                <a:cs typeface="+mn-cs"/>
              </a:rPr>
              <a:t>Recall from Figure 9.21 that the x86 address translation mechanism produces an address, called a virtual or effective address, that is an offset into a segment. The sum of the starting address of the segment and the effective address produces a linear address. If paging is being used, this linear address must pass through a page- translation mechanism to produce a physical address. In what follows, we ignore this last step because it is transparent to the instruction set and to the programmer. </a:t>
            </a:r>
            <a:endParaRPr lang="en-US" dirty="0"/>
          </a:p>
          <a:p>
            <a:endParaRPr lang="en-US" sz="1200"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The x86 is equipped with a variety of addressing modes intended to allow the efficient execution of high-level languages. Figure 14.2 indicates the logic involved. The segment register determines the segment that is the subject of the reference. There are six segment registers; the one being used for a particular reference depends on the context of execution and the instruction. Each segment register holds an index into the segment descriptor table (Figure 9.20), which holds the starting address of the corresponding segments. Associated with each user-visible segment register is a segment descriptor register (not programmer visible), which records the access rights for the segment as well as the starting address and limit (length) of the segment. In addition, there are two registers that may be used in constructing an address: the base register and the index register. </a:t>
            </a:r>
            <a:endParaRPr lang="en-US" dirty="0"/>
          </a:p>
          <a:p>
            <a:r>
              <a:rPr lang="en-US" sz="1200" kern="1200" dirty="0">
                <a:solidFill>
                  <a:schemeClr val="tx1"/>
                </a:solidFill>
                <a:latin typeface="Times New Roman" pitchFamily="-1" charset="0"/>
                <a:ea typeface="+mn-ea"/>
                <a:cs typeface="+mn-cs"/>
              </a:rPr>
              <a:t> </a:t>
            </a:r>
            <a:endParaRPr lang="en-US" dirty="0"/>
          </a:p>
          <a:p>
            <a:endParaRPr lang="en-US" dirty="0"/>
          </a:p>
        </p:txBody>
      </p:sp>
    </p:spTree>
    <p:extLst>
      <p:ext uri="{BB962C8B-B14F-4D97-AF65-F5344CB8AC3E}">
        <p14:creationId xmlns:p14="http://schemas.microsoft.com/office/powerpoint/2010/main" val="233144870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40000" lnSpcReduction="20000"/>
          </a:bodyPr>
          <a:lstStyle/>
          <a:p>
            <a:r>
              <a:rPr lang="en-US" sz="1200" kern="1200" dirty="0">
                <a:solidFill>
                  <a:schemeClr val="tx1"/>
                </a:solidFill>
                <a:latin typeface="Times New Roman" pitchFamily="-1" charset="0"/>
                <a:ea typeface="+mn-ea"/>
                <a:cs typeface="+mn-cs"/>
              </a:rPr>
              <a:t>Table 14.2 lists the x86 addressing modes. Let us consider each of these in turn.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For the </a:t>
            </a:r>
            <a:r>
              <a:rPr lang="en-US" sz="1200" b="1" kern="1200" dirty="0">
                <a:solidFill>
                  <a:schemeClr val="tx1"/>
                </a:solidFill>
                <a:latin typeface="Times New Roman" pitchFamily="-1" charset="0"/>
                <a:ea typeface="+mn-ea"/>
                <a:cs typeface="+mn-cs"/>
              </a:rPr>
              <a:t>immediate mode, </a:t>
            </a:r>
            <a:r>
              <a:rPr lang="en-US" sz="1200" kern="1200" dirty="0">
                <a:solidFill>
                  <a:schemeClr val="tx1"/>
                </a:solidFill>
                <a:latin typeface="Times New Roman" pitchFamily="-1" charset="0"/>
                <a:ea typeface="+mn-ea"/>
                <a:cs typeface="+mn-cs"/>
              </a:rPr>
              <a:t>the operand is included in the instruction. The operand can be a byte, word, or doubleword of data.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For </a:t>
            </a:r>
            <a:r>
              <a:rPr lang="en-US" sz="1200" b="1" kern="1200" dirty="0">
                <a:solidFill>
                  <a:schemeClr val="tx1"/>
                </a:solidFill>
                <a:latin typeface="Times New Roman" pitchFamily="-1" charset="0"/>
                <a:ea typeface="+mn-ea"/>
                <a:cs typeface="+mn-cs"/>
              </a:rPr>
              <a:t>register operand mode, </a:t>
            </a:r>
            <a:r>
              <a:rPr lang="en-US" sz="1200" kern="1200" dirty="0">
                <a:solidFill>
                  <a:schemeClr val="tx1"/>
                </a:solidFill>
                <a:latin typeface="Times New Roman" pitchFamily="-1" charset="0"/>
                <a:ea typeface="+mn-ea"/>
                <a:cs typeface="+mn-cs"/>
              </a:rPr>
              <a:t>the operand is located in a register. For general instructions, such as data transfer, arithmetic, and logical instructions, the operand can be one of the 32-bit general registers (EAX, EBX, ECX, EDX, ESI, EDI, ESP, EBP), one of the 16-bit general registers (AX, BX, CX, DX, SI, DI, SP, BP), or one of the 8-bit general registers (AH, BH, CH, DH, AL, BL, CL, DL). There are also some instructions that reference the segment selector registers (CS, DS, ES, SS, FS, GS).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remaining addressing modes reference locations in memory. The memory location must be specified in terms of the segment containing the location and the off- set from the beginning of the segment. In some cases, a segment is specified explicitly; in others, the segment is specified by simple rules that assign a segment by default.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In the </a:t>
            </a:r>
            <a:r>
              <a:rPr lang="en-US" sz="1200" b="1" kern="1200" dirty="0">
                <a:solidFill>
                  <a:schemeClr val="tx1"/>
                </a:solidFill>
                <a:latin typeface="Times New Roman" pitchFamily="-1" charset="0"/>
                <a:ea typeface="+mn-ea"/>
                <a:cs typeface="+mn-cs"/>
              </a:rPr>
              <a:t>displacement mode, </a:t>
            </a:r>
            <a:r>
              <a:rPr lang="en-US" sz="1200" kern="1200" dirty="0">
                <a:solidFill>
                  <a:schemeClr val="tx1"/>
                </a:solidFill>
                <a:latin typeface="Times New Roman" pitchFamily="-1" charset="0"/>
                <a:ea typeface="+mn-ea"/>
                <a:cs typeface="+mn-cs"/>
              </a:rPr>
              <a:t>the operand’s offset (the effective address of Figure14.2) is contained as part of the instruction as an 8-, 16-, or 32-bit displacement. With segmentation, all addresses in instructions refer merely to an offset in a segment. The displacement addressing mode is found on few machines because, as mentioned earlier, it leads to long instructions. In the case of the x86, the displacement value can be as long as 32 bits, making for a 6-byte instruction. Displacement addressing can be useful for referencing global variables.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remaining addressing modes are indirect, in the sense that the address portion of the instruction tells the processor where to look to find the address. The </a:t>
            </a:r>
            <a:r>
              <a:rPr lang="en-US" sz="1200" b="1" kern="1200" dirty="0">
                <a:solidFill>
                  <a:schemeClr val="tx1"/>
                </a:solidFill>
                <a:latin typeface="Times New Roman" pitchFamily="-1" charset="0"/>
                <a:ea typeface="+mn-ea"/>
                <a:cs typeface="+mn-cs"/>
              </a:rPr>
              <a:t>base mode </a:t>
            </a:r>
            <a:r>
              <a:rPr lang="en-US" sz="1200" kern="1200" dirty="0">
                <a:solidFill>
                  <a:schemeClr val="tx1"/>
                </a:solidFill>
                <a:latin typeface="Times New Roman" pitchFamily="-1" charset="0"/>
                <a:ea typeface="+mn-ea"/>
                <a:cs typeface="+mn-cs"/>
              </a:rPr>
              <a:t>specifies that one of the 8-, 16-, or 32-bit registers contains the effective address. This is equivalent to what we have referred to as register indirect addressing.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In the </a:t>
            </a:r>
            <a:r>
              <a:rPr lang="en-US" sz="1200" b="1" kern="1200" dirty="0">
                <a:solidFill>
                  <a:schemeClr val="tx1"/>
                </a:solidFill>
                <a:latin typeface="Times New Roman" pitchFamily="-1" charset="0"/>
                <a:ea typeface="+mn-ea"/>
                <a:cs typeface="+mn-cs"/>
              </a:rPr>
              <a:t>base with displacement mode, </a:t>
            </a:r>
            <a:r>
              <a:rPr lang="en-US" sz="1200" kern="1200" dirty="0">
                <a:solidFill>
                  <a:schemeClr val="tx1"/>
                </a:solidFill>
                <a:latin typeface="Times New Roman" pitchFamily="-1" charset="0"/>
                <a:ea typeface="+mn-ea"/>
                <a:cs typeface="+mn-cs"/>
              </a:rPr>
              <a:t>the instruction includes a displacement to be added to a base register, which may be any of the general-purpose registers. Examples of uses of this mode are as follows: </a:t>
            </a:r>
            <a:endParaRPr lang="en-US" dirty="0"/>
          </a:p>
          <a:p>
            <a:endParaRPr lang="en-US" sz="1200" kern="1200" dirty="0">
              <a:solidFill>
                <a:schemeClr val="tx1"/>
              </a:solidFill>
              <a:latin typeface="Times New Roman" pitchFamily="-1" charset="0"/>
              <a:ea typeface="+mn-ea"/>
              <a:cs typeface="+mn-cs"/>
            </a:endParaRPr>
          </a:p>
          <a:p>
            <a:pPr marL="171450" indent="-171450">
              <a:buFont typeface="Arial" charset="0"/>
              <a:buChar char="•"/>
            </a:pPr>
            <a:r>
              <a:rPr lang="en-US" sz="1200" kern="1200" dirty="0">
                <a:solidFill>
                  <a:schemeClr val="tx1"/>
                </a:solidFill>
                <a:latin typeface="Times New Roman" pitchFamily="-1" charset="0"/>
                <a:ea typeface="+mn-ea"/>
                <a:cs typeface="+mn-cs"/>
              </a:rPr>
              <a:t>Used by a compiler to point to the start of a local variable area. For example, the base register could point to the beginning of a stack frame, which contains the local variables for the corresponding procedure. </a:t>
            </a:r>
          </a:p>
          <a:p>
            <a:endParaRPr lang="en-US" sz="1200" kern="1200" dirty="0">
              <a:solidFill>
                <a:schemeClr val="tx1"/>
              </a:solidFill>
              <a:latin typeface="Times New Roman" pitchFamily="-1" charset="0"/>
              <a:ea typeface="+mn-ea"/>
              <a:cs typeface="+mn-cs"/>
            </a:endParaRPr>
          </a:p>
          <a:p>
            <a:pPr marL="171450" indent="-171450">
              <a:buFont typeface="Arial" charset="0"/>
              <a:buChar char="•"/>
            </a:pPr>
            <a:r>
              <a:rPr lang="en-US" sz="1200" kern="1200" dirty="0">
                <a:solidFill>
                  <a:schemeClr val="tx1"/>
                </a:solidFill>
                <a:latin typeface="Times New Roman" pitchFamily="-1" charset="0"/>
                <a:ea typeface="+mn-ea"/>
                <a:cs typeface="+mn-cs"/>
              </a:rPr>
              <a:t>Used to index into an array when the element size is not 1, 2, 4, or 8 bytes and which therefore cannot be indexed using an index register. In this case, the displacement points to the beginning of the array, and the base register holds the results of a calculation to determine the offset to a specific element within the array. </a:t>
            </a:r>
          </a:p>
          <a:p>
            <a:endParaRPr lang="en-US" sz="1200" kern="1200" dirty="0">
              <a:solidFill>
                <a:schemeClr val="tx1"/>
              </a:solidFill>
              <a:latin typeface="Times New Roman" pitchFamily="-1" charset="0"/>
              <a:ea typeface="+mn-ea"/>
              <a:cs typeface="+mn-cs"/>
            </a:endParaRPr>
          </a:p>
          <a:p>
            <a:pPr marL="171450" indent="-171450">
              <a:buFont typeface="Arial" charset="0"/>
              <a:buChar char="•"/>
            </a:pPr>
            <a:r>
              <a:rPr lang="en-US" sz="1200" kern="1200" dirty="0">
                <a:solidFill>
                  <a:schemeClr val="tx1"/>
                </a:solidFill>
                <a:latin typeface="Times New Roman" pitchFamily="-1" charset="0"/>
                <a:ea typeface="+mn-ea"/>
                <a:cs typeface="+mn-cs"/>
              </a:rPr>
              <a:t>Used to access a field of a record. The base register points to the beginning of the record, while the displacement is an offset to the field.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In the </a:t>
            </a:r>
            <a:r>
              <a:rPr lang="en-US" sz="1200" b="1" kern="1200" dirty="0">
                <a:solidFill>
                  <a:schemeClr val="tx1"/>
                </a:solidFill>
                <a:latin typeface="Times New Roman" pitchFamily="-1" charset="0"/>
                <a:ea typeface="+mn-ea"/>
                <a:cs typeface="+mn-cs"/>
              </a:rPr>
              <a:t>scaled index with displacement mode, </a:t>
            </a:r>
            <a:r>
              <a:rPr lang="en-US" sz="1200" kern="1200" dirty="0">
                <a:solidFill>
                  <a:schemeClr val="tx1"/>
                </a:solidFill>
                <a:latin typeface="Times New Roman" pitchFamily="-1" charset="0"/>
                <a:ea typeface="+mn-ea"/>
                <a:cs typeface="+mn-cs"/>
              </a:rPr>
              <a:t>the instruction includes a displacement to be added to a register, in this case called an index register. The index register may be any of the general-purpose registers except the one called ESP, which is generally used for stack processing. In calculating the effective address, the contents of the index register are multiplied by a scaling factor of 1, 2, 4, or 8, and then added to a displacement. This mode is very convenient for indexing arrays. A scaling factor of 2 can be used for an array of 16-bit integers. A scaling factor of 4 can be used for 32-bit integers or floating-point numbers. Finally, a scaling factor of 8 can be used for an array of double-precision floating-point numbers.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a:t>
            </a:r>
            <a:r>
              <a:rPr lang="en-US" sz="1200" b="1" kern="1200" dirty="0">
                <a:solidFill>
                  <a:schemeClr val="tx1"/>
                </a:solidFill>
                <a:latin typeface="Times New Roman" pitchFamily="-1" charset="0"/>
                <a:ea typeface="+mn-ea"/>
                <a:cs typeface="+mn-cs"/>
              </a:rPr>
              <a:t>base with index and displacement mode </a:t>
            </a:r>
            <a:r>
              <a:rPr lang="en-US" sz="1200" kern="1200" dirty="0">
                <a:solidFill>
                  <a:schemeClr val="tx1"/>
                </a:solidFill>
                <a:latin typeface="Times New Roman" pitchFamily="-1" charset="0"/>
                <a:ea typeface="+mn-ea"/>
                <a:cs typeface="+mn-cs"/>
              </a:rPr>
              <a:t>sums the contents of the base register, the index register, and a displacement to form the effective address. Again, the base register can be any general-purpose register and the index register can be any general-purpose register except ESP. As an example, this addressing mode could be used for accessing a local array on a stack frame. This mode can also be used to support a two-dimensional array; in this case, the displacement points to the beginning of the array, and each register handles one dimension of the array.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a:t>
            </a:r>
            <a:r>
              <a:rPr lang="en-US" sz="1200" b="1" kern="1200" dirty="0">
                <a:solidFill>
                  <a:schemeClr val="tx1"/>
                </a:solidFill>
                <a:latin typeface="Times New Roman" pitchFamily="-1" charset="0"/>
                <a:ea typeface="+mn-ea"/>
                <a:cs typeface="+mn-cs"/>
              </a:rPr>
              <a:t>based scaled index with displacement mode </a:t>
            </a:r>
            <a:r>
              <a:rPr lang="en-US" sz="1200" kern="1200" dirty="0">
                <a:solidFill>
                  <a:schemeClr val="tx1"/>
                </a:solidFill>
                <a:latin typeface="Times New Roman" pitchFamily="-1" charset="0"/>
                <a:ea typeface="+mn-ea"/>
                <a:cs typeface="+mn-cs"/>
              </a:rPr>
              <a:t>sums the contents of the index register multiplied by a scaling factor, the contents of the base register, and the displacement. This is useful if an array is stored in a stack frame; in this case, the array elements would be 2, 4, or 8 bytes each in length. This mode also provides efficient indexing of a two-dimensional array when the array elements are 2, 4, or 8 bytes in length.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Finally, </a:t>
            </a:r>
            <a:r>
              <a:rPr lang="en-US" sz="1200" b="1" kern="1200" dirty="0">
                <a:solidFill>
                  <a:schemeClr val="tx1"/>
                </a:solidFill>
                <a:latin typeface="Times New Roman" pitchFamily="-1" charset="0"/>
                <a:ea typeface="+mn-ea"/>
                <a:cs typeface="+mn-cs"/>
              </a:rPr>
              <a:t>relative addressing </a:t>
            </a:r>
            <a:r>
              <a:rPr lang="en-US" sz="1200" kern="1200" dirty="0">
                <a:solidFill>
                  <a:schemeClr val="tx1"/>
                </a:solidFill>
                <a:latin typeface="Times New Roman" pitchFamily="-1" charset="0"/>
                <a:ea typeface="+mn-ea"/>
                <a:cs typeface="+mn-cs"/>
              </a:rPr>
              <a:t>can be used in transfer-of-control instructions. A displacement is added to the value of the program counter, which points to the next instruction. In this case, the displacement is treated as a signed byte, word, or doubleword value, and that value either increases or decreases the address in the program counter. </a:t>
            </a:r>
          </a:p>
          <a:p>
            <a:endParaRPr lang="en-US" dirty="0"/>
          </a:p>
          <a:p>
            <a:endParaRPr lang="en-US" dirty="0"/>
          </a:p>
        </p:txBody>
      </p:sp>
    </p:spTree>
    <p:extLst>
      <p:ext uri="{BB962C8B-B14F-4D97-AF65-F5344CB8AC3E}">
        <p14:creationId xmlns:p14="http://schemas.microsoft.com/office/powerpoint/2010/main" val="201021845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85000" lnSpcReduction="20000"/>
          </a:bodyPr>
          <a:lstStyle/>
          <a:p>
            <a:r>
              <a:rPr lang="en-US" sz="1200" kern="1200" dirty="0">
                <a:solidFill>
                  <a:schemeClr val="tx1"/>
                </a:solidFill>
                <a:latin typeface="Times New Roman" pitchFamily="-1" charset="0"/>
                <a:ea typeface="+mn-ea"/>
                <a:cs typeface="+mn-cs"/>
              </a:rPr>
              <a:t>Load and store instructions are the only instructions that reference memory. This is always done indirectly through a base register plus offset. There are three alternatives with respect to indexing (Figure 14.3):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a:t>
            </a:r>
            <a:r>
              <a:rPr lang="en-US" sz="1200" b="1" kern="1200" dirty="0">
                <a:solidFill>
                  <a:schemeClr val="tx1"/>
                </a:solidFill>
                <a:latin typeface="Times New Roman" pitchFamily="-1" charset="0"/>
                <a:ea typeface="+mn-ea"/>
                <a:cs typeface="+mn-cs"/>
              </a:rPr>
              <a:t>Offset: </a:t>
            </a:r>
            <a:r>
              <a:rPr lang="en-US" sz="1200" kern="1200" dirty="0">
                <a:solidFill>
                  <a:schemeClr val="tx1"/>
                </a:solidFill>
                <a:latin typeface="Times New Roman" pitchFamily="-1" charset="0"/>
                <a:ea typeface="+mn-ea"/>
                <a:cs typeface="+mn-cs"/>
              </a:rPr>
              <a:t>For this addressing method, </a:t>
            </a:r>
            <a:r>
              <a:rPr lang="en-US" sz="1200" b="1" kern="1200" dirty="0">
                <a:solidFill>
                  <a:schemeClr val="tx1"/>
                </a:solidFill>
                <a:latin typeface="Times New Roman" pitchFamily="-1" charset="0"/>
                <a:ea typeface="+mn-ea"/>
                <a:cs typeface="+mn-cs"/>
              </a:rPr>
              <a:t>indexing </a:t>
            </a:r>
            <a:r>
              <a:rPr lang="en-US" sz="1200" kern="1200" dirty="0">
                <a:solidFill>
                  <a:schemeClr val="tx1"/>
                </a:solidFill>
                <a:latin typeface="Times New Roman" pitchFamily="-1" charset="0"/>
                <a:ea typeface="+mn-ea"/>
                <a:cs typeface="+mn-cs"/>
              </a:rPr>
              <a:t>is not used. An offset value is added to or subtracted from the value in the base register to form the memory address. As an example Figure 14.3a illustrates this method with the assembly language instruction STRB r0, [r1, #12]. This is the store byte instruction. In this case the base address is in register r1 and the displacement is an immediate value of decimal 12. The resulting address (base plus offset) is the location where the least significant byte from r0 is to be stored.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a:t>
            </a:r>
            <a:r>
              <a:rPr lang="en-US" sz="1200" b="1" kern="1200" dirty="0">
                <a:solidFill>
                  <a:schemeClr val="tx1"/>
                </a:solidFill>
                <a:latin typeface="Times New Roman" pitchFamily="-1" charset="0"/>
                <a:ea typeface="+mn-ea"/>
                <a:cs typeface="+mn-cs"/>
              </a:rPr>
              <a:t>Preindex: </a:t>
            </a:r>
            <a:r>
              <a:rPr lang="en-US" sz="1200" b="0" kern="1200" dirty="0">
                <a:solidFill>
                  <a:schemeClr val="tx1"/>
                </a:solidFill>
                <a:latin typeface="Times New Roman" pitchFamily="-1" charset="0"/>
                <a:ea typeface="+mn-ea"/>
                <a:cs typeface="+mn-cs"/>
              </a:rPr>
              <a:t>The memory address is formed in the same way as for off set address</a:t>
            </a:r>
            <a:r>
              <a:rPr lang="en-US" sz="1200" kern="1200" dirty="0">
                <a:solidFill>
                  <a:schemeClr val="tx1"/>
                </a:solidFill>
                <a:latin typeface="Times New Roman" pitchFamily="-1" charset="0"/>
                <a:ea typeface="+mn-ea"/>
                <a:cs typeface="+mn-cs"/>
              </a:rPr>
              <a:t>ing. The memory address is also written back to the base register. In other words, the base register value is incremented or decremented by the offset value. Figure 14.3b illustrates this method with the assembly language instruction STRB r0, [r1, #12]!. The exclamation point signifies preindexing.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a:t>
            </a:r>
            <a:r>
              <a:rPr lang="en-US" sz="1200" b="1" kern="1200" dirty="0">
                <a:solidFill>
                  <a:schemeClr val="tx1"/>
                </a:solidFill>
                <a:latin typeface="Times New Roman" pitchFamily="-1" charset="0"/>
                <a:ea typeface="+mn-ea"/>
                <a:cs typeface="+mn-cs"/>
              </a:rPr>
              <a:t>Postindex: </a:t>
            </a:r>
            <a:r>
              <a:rPr lang="en-US" sz="1200" kern="1200" dirty="0">
                <a:solidFill>
                  <a:schemeClr val="tx1"/>
                </a:solidFill>
                <a:latin typeface="Times New Roman" pitchFamily="-1" charset="0"/>
                <a:ea typeface="+mn-ea"/>
                <a:cs typeface="+mn-cs"/>
              </a:rPr>
              <a:t>The memory address is the base register value. An offset is added to or subtracted from the base register value and the result is written back to the base register. Figure 14.3c illustrates this method with the assembly language instruction STRB r0, [r1], #12.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Note that what ARM refers to as a base register acts as an index register for preindex and postindex addressing. The offset value can either be an immediate value stored in the instruction or it can be in another register. If the offset value is in a register, another useful feature is available: scaled register addressing. The value in the offset register is scaled by one of the shift operators: Logical Shift Left, Logical Shift Right, Arithmetic Shift Right, Rotate Right, or Rotate Right Extended (which includes the carry bit in the rotation). The amount of the shift is specified as an immediate value in the instruction. </a:t>
            </a:r>
            <a:endParaRPr lang="en-US" dirty="0"/>
          </a:p>
          <a:p>
            <a:endParaRPr lang="en-US" dirty="0"/>
          </a:p>
        </p:txBody>
      </p:sp>
    </p:spTree>
    <p:extLst>
      <p:ext uri="{BB962C8B-B14F-4D97-AF65-F5344CB8AC3E}">
        <p14:creationId xmlns:p14="http://schemas.microsoft.com/office/powerpoint/2010/main" val="3759124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Data processing instructions use either register addressing or a mixture of register and immediate addressing. For register addressing, the value in one of the register operands may be scaled using one of the five shift operators defined in the preceding paragraph. </a:t>
            </a:r>
            <a:endParaRPr lang="en-US" dirty="0"/>
          </a:p>
          <a:p>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The only form of addressing for branch instructions is immediate addressing. The branch instruction contains a 24-bit value. For address calculation, this value is shifted left 2 bits, so that the address is on a word boundary. Thus the effective address range is ± 32 MB from the program counter. </a:t>
            </a:r>
            <a:endParaRPr lang="en-US" dirty="0"/>
          </a:p>
          <a:p>
            <a:endParaRPr lang="en-US" dirty="0"/>
          </a:p>
        </p:txBody>
      </p:sp>
    </p:spTree>
    <p:extLst>
      <p:ext uri="{BB962C8B-B14F-4D97-AF65-F5344CB8AC3E}">
        <p14:creationId xmlns:p14="http://schemas.microsoft.com/office/powerpoint/2010/main" val="156409320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Load Multiple instructions load a subset (possibly all) of the general-purpose registers from memory. Store Multiple instructions store a subset (possibly all) of the general-purpose registers to memory. The list of registers for the load or store is specified in a 16-bit field in the instruction with each bit corresponding to one of the 16 registers. Load and Store Multiple addressing modes produce a sequential range of memory addresses. The lowest-numbered register is stored at the lowest memory address and the highest- numbered register at the highest memory address. Four addressing modes are used  (Figure 14.4): increment after, increment before, decrement after, and decrement before. A base register specifies a main memory address where register values are stored in or loaded from in ascending (increment) or descending (decrement) word locations. Incrementing or decrementing starts either before or after the first memory access.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These instructions are useful for block loads or stores, stack operations, and procedure exit sequences.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 </a:t>
            </a:r>
            <a:endParaRPr lang="en-US" dirty="0"/>
          </a:p>
          <a:p>
            <a:endParaRPr lang="en-US" dirty="0"/>
          </a:p>
        </p:txBody>
      </p:sp>
    </p:spTree>
    <p:extLst>
      <p:ext uri="{BB962C8B-B14F-4D97-AF65-F5344CB8AC3E}">
        <p14:creationId xmlns:p14="http://schemas.microsoft.com/office/powerpoint/2010/main" val="3350264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85000" lnSpcReduction="20000"/>
          </a:bodyPr>
          <a:lstStyle/>
          <a:p>
            <a:r>
              <a:rPr lang="en-US" sz="1200" kern="1200" dirty="0">
                <a:solidFill>
                  <a:schemeClr val="tx1"/>
                </a:solidFill>
                <a:latin typeface="Times New Roman" pitchFamily="-1" charset="0"/>
                <a:ea typeface="+mn-ea"/>
                <a:cs typeface="+mn-cs"/>
              </a:rPr>
              <a:t>One of the simplest instruction designs for a general-purpose computer was for the PDP-8 [BELL78b]. The PDP-8 uses 12-bit instructions and operates on 12-bit words. There is a single general-purpose register, the accumulator.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Despite the limitations of this design, the addressing is quite flexible. Each memory reference consists of 7 bits plus two 1-bit modifiers. The memory is divided into fixed-length pages of 2</a:t>
            </a:r>
            <a:r>
              <a:rPr lang="en-US" sz="1200" kern="1200" baseline="30000" dirty="0">
                <a:solidFill>
                  <a:schemeClr val="tx1"/>
                </a:solidFill>
                <a:latin typeface="Times New Roman" pitchFamily="-1" charset="0"/>
                <a:ea typeface="+mn-ea"/>
                <a:cs typeface="+mn-cs"/>
              </a:rPr>
              <a:t>7</a:t>
            </a:r>
            <a:r>
              <a:rPr lang="en-US" sz="1200" kern="1200" dirty="0">
                <a:solidFill>
                  <a:schemeClr val="tx1"/>
                </a:solidFill>
                <a:latin typeface="Times New Roman" pitchFamily="-1" charset="0"/>
                <a:ea typeface="+mn-ea"/>
                <a:cs typeface="+mn-cs"/>
              </a:rPr>
              <a:t> = 128 words each. Address calculation is based on references to page 0 or the current page (page containing this instruction) as determined by the page bit. The second modifier bit indicates whether direct or indirect addressing is to be used. These two modes can be used in combination, so that an indirect address is a 12-bit address contained in a word of page 0 or the current page. In addition, 8 dedicated words on page 0 are autoindex “registers.” When an indirect reference is made to one of these locations, preindexing occurs.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Figure 14.5 shows the PDP-8 instruction format. There are a 3-bit opcode and three types of instructions. For opcodes 0 through 5, the format is a single-address memory reference instruction including a page bit and an indirect bit. Thus, there are only six basic operations. To enlarge the group of operations, opcode 7 defines a register reference or </a:t>
            </a:r>
            <a:r>
              <a:rPr lang="en-US" sz="1200" i="1" kern="1200" dirty="0">
                <a:solidFill>
                  <a:schemeClr val="tx1"/>
                </a:solidFill>
                <a:latin typeface="Times New Roman" pitchFamily="-1" charset="0"/>
                <a:ea typeface="+mn-ea"/>
                <a:cs typeface="+mn-cs"/>
              </a:rPr>
              <a:t>microinstruction. </a:t>
            </a:r>
            <a:r>
              <a:rPr lang="en-US" sz="1200" kern="1200" dirty="0">
                <a:solidFill>
                  <a:schemeClr val="tx1"/>
                </a:solidFill>
                <a:latin typeface="Times New Roman" pitchFamily="-1" charset="0"/>
                <a:ea typeface="+mn-ea"/>
                <a:cs typeface="+mn-cs"/>
              </a:rPr>
              <a:t>In this format, the remaining bits are used to encode additional operations. In general, each bit defines a specific operation (e.g., clear accumulator), and these bits can be combined in a single instruction. The microinstruction strategy was used as far back as the PDP-1 by DEC and is, in a sense, a forerunner of today’s microprogrammed machines, to be discussed in Part Four. Opcode 6 is the I/O operation; 6 bits are used to select one of 64 devices, and 3 bits specify a particular I/O command.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PDP-8 instruction format is remarkably efficient. It supports indirect addressing, displacement addressing, and indexing. With the use of the opcode extension, it supports a total of approximately 35 instructions. Given the constraints of a 12-bit instruction length, the designers could hardly have done better. </a:t>
            </a:r>
            <a:endParaRPr lang="en-US" dirty="0"/>
          </a:p>
          <a:p>
            <a:r>
              <a:rPr lang="en-US" sz="1200" kern="1200" dirty="0">
                <a:solidFill>
                  <a:schemeClr val="tx1"/>
                </a:solidFill>
                <a:latin typeface="Times New Roman" pitchFamily="-1" charset="0"/>
                <a:ea typeface="+mn-ea"/>
                <a:cs typeface="+mn-cs"/>
              </a:rPr>
              <a:t> </a:t>
            </a:r>
            <a:endParaRPr lang="en-US" dirty="0"/>
          </a:p>
          <a:p>
            <a:endParaRPr lang="en-US" dirty="0"/>
          </a:p>
        </p:txBody>
      </p:sp>
    </p:spTree>
    <p:extLst>
      <p:ext uri="{BB962C8B-B14F-4D97-AF65-F5344CB8AC3E}">
        <p14:creationId xmlns:p14="http://schemas.microsoft.com/office/powerpoint/2010/main" val="15583973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55000" lnSpcReduction="20000"/>
          </a:bodyPr>
          <a:lstStyle/>
          <a:p>
            <a:r>
              <a:rPr lang="en-US" sz="1200" kern="1200" dirty="0">
                <a:solidFill>
                  <a:schemeClr val="tx1"/>
                </a:solidFill>
                <a:latin typeface="Times New Roman" pitchFamily="-1" charset="0"/>
                <a:ea typeface="+mn-ea"/>
                <a:cs typeface="+mn-cs"/>
              </a:rPr>
              <a:t>A sharp contrast to the instruction set of the PDP-8 is that of the PDP-10. The PDP-10 was designed to be a large-scale time-shared system, with an emphasis on making the system easy to program, even if additional hardware expense was involved.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Among the design principles employed in designing the instruction set were the following [BELL78c]: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a:t>
            </a:r>
            <a:r>
              <a:rPr lang="en-US" sz="1200" b="1" kern="1200" dirty="0">
                <a:solidFill>
                  <a:schemeClr val="tx1"/>
                </a:solidFill>
                <a:latin typeface="Times New Roman" pitchFamily="-1" charset="0"/>
                <a:ea typeface="+mn-ea"/>
                <a:cs typeface="+mn-cs"/>
              </a:rPr>
              <a:t>Orthogonality: </a:t>
            </a:r>
            <a:r>
              <a:rPr lang="en-US" sz="1200" kern="1200" dirty="0">
                <a:solidFill>
                  <a:schemeClr val="tx1"/>
                </a:solidFill>
                <a:latin typeface="Times New Roman" pitchFamily="-1" charset="0"/>
                <a:ea typeface="+mn-ea"/>
                <a:cs typeface="+mn-cs"/>
              </a:rPr>
              <a:t>Orthogonality is a principle by which two variables are independent of each other. In the context of an instruction set, the term indicates that other elements of an instruction are independent of (not determined by) the opcode. The PDP-10 designers use the term to describe the fact that an address is always computed in the same way, independent of the opcode. This is in contrast to many machines, where the address mode sometimes depends implicitly on the operator being used.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a:t>
            </a:r>
            <a:r>
              <a:rPr lang="en-US" sz="1200" b="1" kern="1200" dirty="0">
                <a:solidFill>
                  <a:schemeClr val="tx1"/>
                </a:solidFill>
                <a:latin typeface="Times New Roman" pitchFamily="-1" charset="0"/>
                <a:ea typeface="+mn-ea"/>
                <a:cs typeface="+mn-cs"/>
              </a:rPr>
              <a:t>Completeness: </a:t>
            </a:r>
            <a:r>
              <a:rPr lang="en-US" sz="1200" kern="1200" dirty="0">
                <a:solidFill>
                  <a:schemeClr val="tx1"/>
                </a:solidFill>
                <a:latin typeface="Times New Roman" pitchFamily="-1" charset="0"/>
                <a:ea typeface="+mn-ea"/>
                <a:cs typeface="+mn-cs"/>
              </a:rPr>
              <a:t>Each arithmetic data type (integer, fixed-point, floating-point) should have a complete and identical set of operations.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a:t>
            </a:r>
            <a:r>
              <a:rPr lang="en-US" sz="1200" b="1" kern="1200" dirty="0">
                <a:solidFill>
                  <a:schemeClr val="tx1"/>
                </a:solidFill>
                <a:latin typeface="Times New Roman" pitchFamily="-1" charset="0"/>
                <a:ea typeface="+mn-ea"/>
                <a:cs typeface="+mn-cs"/>
              </a:rPr>
              <a:t>Direct addressing: </a:t>
            </a:r>
            <a:r>
              <a:rPr lang="en-US" sz="1200" kern="1200" dirty="0">
                <a:solidFill>
                  <a:schemeClr val="tx1"/>
                </a:solidFill>
                <a:latin typeface="Times New Roman" pitchFamily="-1" charset="0"/>
                <a:ea typeface="+mn-ea"/>
                <a:cs typeface="+mn-cs"/>
              </a:rPr>
              <a:t>Base plus displacement addressing, which places a memory organization burden on the programmer, was avoided in favor of direct addressing.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Each of these principles advances the main goal of ease of programming.</a:t>
            </a:r>
            <a:br>
              <a:rPr lang="en-US" sz="1200" kern="1200" dirty="0">
                <a:solidFill>
                  <a:schemeClr val="tx1"/>
                </a:solidFill>
                <a:latin typeface="Times New Roman" pitchFamily="-1" charset="0"/>
                <a:ea typeface="+mn-ea"/>
                <a:cs typeface="+mn-cs"/>
              </a:rPr>
            </a:br>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PDP-10 has a 36-bit word length and a 36-bit instruction length. The fixed instruction format is shown in Figure 14.6. The opcode occupies 9 bits, allowing up to 512 operations. In fact, a total of 365 different instructions are defined. Most instructions have two addresses, one of which is one of 16 general-purpose registers. Thus, this operand reference occupies 4 bits. The other operand reference starts with an 18-bit memory address field. This can be used as an immediate operand or a memory address. In the latter usage, both indexing and indirect addressing are </a:t>
            </a:r>
            <a:endParaRPr lang="en-US" dirty="0"/>
          </a:p>
          <a:p>
            <a:r>
              <a:rPr lang="en-US" sz="1200" kern="1200" dirty="0">
                <a:solidFill>
                  <a:schemeClr val="tx1"/>
                </a:solidFill>
                <a:latin typeface="Times New Roman" pitchFamily="-1" charset="0"/>
                <a:ea typeface="+mn-ea"/>
                <a:cs typeface="+mn-cs"/>
              </a:rPr>
              <a:t>allowed. The same general-purpose registers are also used as index registers.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 36-bit instruction length is true luxury. There is no need to do clever things to get more opcodes; a 9-bit opcode field is more than adequate. Addressing is also straightforward. An 18-bit address field makes direct addressing desirable. For memory sizes greater than 2</a:t>
            </a:r>
            <a:r>
              <a:rPr lang="en-US" sz="1200" kern="1200" baseline="30000" dirty="0">
                <a:solidFill>
                  <a:schemeClr val="tx1"/>
                </a:solidFill>
                <a:latin typeface="Times New Roman" pitchFamily="-1" charset="0"/>
                <a:ea typeface="+mn-ea"/>
                <a:cs typeface="+mn-cs"/>
              </a:rPr>
              <a:t>18</a:t>
            </a:r>
            <a:r>
              <a:rPr lang="en-US" sz="1200" kern="1200" dirty="0">
                <a:solidFill>
                  <a:schemeClr val="tx1"/>
                </a:solidFill>
                <a:latin typeface="Times New Roman" pitchFamily="-1" charset="0"/>
                <a:ea typeface="+mn-ea"/>
                <a:cs typeface="+mn-cs"/>
              </a:rPr>
              <a:t>, indirection is provided. For the ease of the programmer, indexing is provided for table manipulation and iterative programs. Also, with an 18-bit operand field, immediate addressing becomes attractive.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PDP-10 instruction set design does accomplish the objectives listed earlier [LUND77]. It eases the task of the programmer or compiler at the expense of an inefficient utilization of space. This was a conscious choice made by the designers and therefore cannot be faulted as poor design. </a:t>
            </a:r>
            <a:endParaRPr lang="en-US" dirty="0"/>
          </a:p>
          <a:p>
            <a:endParaRPr lang="en-US" dirty="0"/>
          </a:p>
          <a:p>
            <a:endParaRPr lang="en-US" dirty="0"/>
          </a:p>
        </p:txBody>
      </p:sp>
    </p:spTree>
    <p:extLst>
      <p:ext uri="{BB962C8B-B14F-4D97-AF65-F5344CB8AC3E}">
        <p14:creationId xmlns:p14="http://schemas.microsoft.com/office/powerpoint/2010/main" val="299662329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92500"/>
          </a:bodyPr>
          <a:lstStyle/>
          <a:p>
            <a:r>
              <a:rPr lang="en-US" sz="1200" kern="1200" dirty="0">
                <a:solidFill>
                  <a:schemeClr val="tx1"/>
                </a:solidFill>
                <a:latin typeface="Times New Roman" pitchFamily="-1" charset="0"/>
                <a:ea typeface="+mn-ea"/>
                <a:cs typeface="+mn-cs"/>
              </a:rPr>
              <a:t>The examples we have looked at so far have used a single fixed instruction length, and we have implicitly discussed trade-offs in that context. But the designer may choose instead to provide a variety of instruction formats of different lengths. This tactic makes it easy to provide a large repertoire of opcodes, with different opcode lengths. Addressing can be more flexible, with various combinations of register and memory references plus addressing modes. With variable-length instructions, these many variations can be provided efficiently and compactly.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principal price to pay for variable-length instructions is an increase in the complexity of the processor. Falling hardware prices, the use of microprogramming (discussed in Part Four), and a general increase in understanding the principles of processor design have all contributed to making this a small price to pay. However, we will see that RISC and superscalar machines can exploit the use of fixed-length instructions to provide improved performance.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use of variable-length instructions does not remove the desirability of making all of the instruction lengths integrally related to the word length. Because the processor does not know the length of the next instruction to be fetched, a typical strategy is to fetch a number of bytes or words equal to at least the longest possible instruction. This means that sometimes multiple instructions are fetched. However, as we shall see in Chapter 16, this is a good strategy to follow in any case. </a:t>
            </a:r>
            <a:endParaRPr lang="en-US" dirty="0"/>
          </a:p>
          <a:p>
            <a:endParaRPr lang="en-US" dirty="0"/>
          </a:p>
        </p:txBody>
      </p:sp>
    </p:spTree>
    <p:extLst>
      <p:ext uri="{BB962C8B-B14F-4D97-AF65-F5344CB8AC3E}">
        <p14:creationId xmlns:p14="http://schemas.microsoft.com/office/powerpoint/2010/main" val="319688178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92500" lnSpcReduction="10000"/>
          </a:bodyPr>
          <a:lstStyle/>
          <a:p>
            <a:r>
              <a:rPr lang="en-US" sz="1200" kern="1200" dirty="0">
                <a:solidFill>
                  <a:schemeClr val="tx1"/>
                </a:solidFill>
                <a:latin typeface="Times New Roman" pitchFamily="-1" charset="0"/>
                <a:ea typeface="+mn-ea"/>
                <a:cs typeface="+mn-cs"/>
              </a:rPr>
              <a:t>The PDP-11 was designed to provide a powerful and flexible instruction set within the constraints of a 16-bit minicomputer [BELL70].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PDP-11 employs a set of eight 16-bit general-purpose registers. Two of these registers have additional significance: one is used as a stack pointer for special-purpose stack operations, and one is used as the program counter, which contains the address of the next instruction.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Figure 14.7 shows the PDP-11 instruction formats. Thirteen different formats are used, encompassing zero-, one-, and two-address instruction types. The opcode can vary from 4 to 16 bits in length. Register references are 6 bits in length. Three bits identify the register, and the remaining 3 bits identify the addressing mode. The PDP-11 is endowed with a rich set of addressing modes. One advantage of linking the addressing mode to the operand rather than the opcode, as is sometimes done, is that any addressing mode can be used with any opcode. As was mentioned, this independence is referred to as </a:t>
            </a:r>
            <a:r>
              <a:rPr lang="en-US" sz="1200" i="1" kern="1200" dirty="0">
                <a:solidFill>
                  <a:schemeClr val="tx1"/>
                </a:solidFill>
                <a:latin typeface="Times New Roman" pitchFamily="-1" charset="0"/>
                <a:ea typeface="+mn-ea"/>
                <a:cs typeface="+mn-cs"/>
              </a:rPr>
              <a:t>orthogonality. </a:t>
            </a:r>
          </a:p>
          <a:p>
            <a:endParaRPr lang="en-US" sz="1200" i="1"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PDP-11 instructions are usually one word (16 bits) long. For some instructions, one or two memory addresses are appended, so that 32-bit and 48-bit instructions are part of the repertoire. This provides for further flexibility in addressing.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PDP-11 instruction set and addressing capability are complex. This increases both hardware cost and programming complexity. The advantage is that more efficient or compact programs can be developed. </a:t>
            </a:r>
            <a:endParaRPr lang="en-US" dirty="0"/>
          </a:p>
          <a:p>
            <a:endParaRPr lang="en-US" dirty="0"/>
          </a:p>
          <a:p>
            <a:endParaRPr lang="en-US" dirty="0"/>
          </a:p>
        </p:txBody>
      </p:sp>
    </p:spTree>
    <p:extLst>
      <p:ext uri="{BB962C8B-B14F-4D97-AF65-F5344CB8AC3E}">
        <p14:creationId xmlns:p14="http://schemas.microsoft.com/office/powerpoint/2010/main" val="297298902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55000" lnSpcReduction="20000"/>
          </a:bodyPr>
          <a:lstStyle/>
          <a:p>
            <a:r>
              <a:rPr lang="en-US" sz="1200" kern="1200" dirty="0">
                <a:solidFill>
                  <a:schemeClr val="tx1"/>
                </a:solidFill>
                <a:latin typeface="Times New Roman" pitchFamily="-1" charset="0"/>
                <a:ea typeface="+mn-ea"/>
                <a:cs typeface="+mn-cs"/>
              </a:rPr>
              <a:t>Most architectures provide a relatively small number of fixed instruction formats. This can cause two problems for the programmer. First, addressing mode and opcode are not orthogonal. For example, for a given operation, one operand must come from a register and another from memory, or both from registers, and so on. Second, only a limited number of operands can be accommodated: typically up to two or three. Because some operations inherently require more operands, various strategies must be used to achieve the desired result using two or more instructions.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To avoid these problems, two criteria were used in designing the VAX instruction format [STRE78]: </a:t>
            </a:r>
            <a:endParaRPr lang="en-US" dirty="0"/>
          </a:p>
          <a:p>
            <a:endParaRPr lang="en-US" sz="1200" b="1" kern="1200" dirty="0">
              <a:solidFill>
                <a:schemeClr val="tx1"/>
              </a:solidFill>
              <a:latin typeface="Times New Roman" pitchFamily="-1" charset="0"/>
              <a:ea typeface="+mn-ea"/>
              <a:cs typeface="+mn-cs"/>
            </a:endParaRPr>
          </a:p>
          <a:p>
            <a:pPr marL="228600" indent="-228600">
              <a:buFont typeface="+mj-lt"/>
              <a:buAutoNum type="arabicPeriod"/>
            </a:pPr>
            <a:r>
              <a:rPr lang="en-US" sz="1200" b="0" kern="1200" dirty="0">
                <a:solidFill>
                  <a:schemeClr val="tx1"/>
                </a:solidFill>
                <a:latin typeface="Times New Roman" pitchFamily="-1" charset="0"/>
                <a:ea typeface="+mn-ea"/>
                <a:cs typeface="+mn-cs"/>
              </a:rPr>
              <a:t>All instructions should have the “natural” number of operands. </a:t>
            </a:r>
          </a:p>
          <a:p>
            <a:pPr marL="228600" indent="-228600">
              <a:buFont typeface="+mj-lt"/>
              <a:buAutoNum type="arabicPeriod"/>
            </a:pPr>
            <a:endParaRPr lang="en-US" sz="1200" b="0" kern="1200" dirty="0">
              <a:solidFill>
                <a:schemeClr val="tx1"/>
              </a:solidFill>
              <a:latin typeface="Times New Roman" pitchFamily="-1" charset="0"/>
              <a:ea typeface="+mn-ea"/>
              <a:cs typeface="+mn-cs"/>
            </a:endParaRPr>
          </a:p>
          <a:p>
            <a:pPr marL="228600" indent="-228600">
              <a:buFont typeface="+mj-lt"/>
              <a:buAutoNum type="arabicPeriod"/>
            </a:pPr>
            <a:r>
              <a:rPr lang="en-US" sz="1200" b="0" kern="1200" dirty="0">
                <a:solidFill>
                  <a:schemeClr val="tx1"/>
                </a:solidFill>
                <a:latin typeface="Times New Roman" pitchFamily="-1" charset="0"/>
                <a:ea typeface="+mn-ea"/>
                <a:cs typeface="+mn-cs"/>
              </a:rPr>
              <a:t>All operands should have the same generality in specification</a:t>
            </a:r>
            <a:r>
              <a:rPr lang="en-US" sz="1200" b="1" kern="1200" dirty="0">
                <a:solidFill>
                  <a:schemeClr val="tx1"/>
                </a:solidFill>
                <a:latin typeface="Times New Roman" pitchFamily="-1" charset="0"/>
                <a:ea typeface="+mn-ea"/>
                <a:cs typeface="+mn-cs"/>
              </a:rPr>
              <a:t>.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result is a highly variable instruction format. An instruction consists of a 1- or 2-byte opcode followed by from zero to six operand specifiers, depending on the opcode. The minimal instruction length is 1 byte, and instructions up to 37 bytes can be constructed. Figure 14.8 gives a few examples.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VAX instruction begins with a 1-byte opcode. This suffices to handle most VAX instructions. However, as there are over 300 different instructions, 8 bits are not enough. The hexadecimal codes FD and FF indicate an extended opcode, with the actual opcode being specified in the second byte.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remainder of the instruction consists of up to six operand specifiers. An operand specifier is, at minimum, a 1-byte format in which the leftmost 4 bits are the address mode specifier. The only exception to this rule is the literal mode, which is signaled by the pattern 00 in the leftmost 2 bits, leaving space for a 6-bit literal. Because of this exception, a total of 12 different addressing modes can be specified.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An operand specifier often consists of just one byte, with the rightmost 4 bits specifying one of 16 general-purpose registers. The length of the operand specifier can be extended in one of two ways. First, a constant value of one or more bytes may immediately follow the first byte of the operand specifier. An example of this is the displacement mode, in which an 8-, 16-, or 32-bit displacement is used. Second, an index mode of addressing may be used. In this case, the first byte of the operand specifier consists of the 4-bit addressing mode code of 0100 and a 4-bit index register identifier. The remainder of the operand specifier consists of the base address specifier, which may itself be one or more bytes in length.</a:t>
            </a:r>
          </a:p>
          <a:p>
            <a:endParaRPr lang="en-US" sz="1200"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The VAX instruction set provides for a wide variety of operations and addressing modes. This gives a programmer, such as a compiler writer, a very powerful and flexible tool for developing programs. In theory, this should lead to efficient machine-language compilations of high-level language programs and, in general, to effective and efficient use of processor resources. The penalty to be paid for these benefits is the increased complexity of the processor compared with a processor with a simpler instruction set and format. </a:t>
            </a:r>
            <a:endParaRPr lang="en-US" dirty="0"/>
          </a:p>
          <a:p>
            <a:r>
              <a:rPr lang="en-US" sz="1200" kern="1200" dirty="0">
                <a:solidFill>
                  <a:schemeClr val="tx1"/>
                </a:solidFill>
                <a:latin typeface="Times New Roman" pitchFamily="-1" charset="0"/>
                <a:ea typeface="+mn-ea"/>
                <a:cs typeface="+mn-cs"/>
              </a:rPr>
              <a:t> </a:t>
            </a:r>
            <a:endParaRPr lang="en-US" dirty="0"/>
          </a:p>
          <a:p>
            <a:endParaRPr lang="en-US" dirty="0"/>
          </a:p>
        </p:txBody>
      </p:sp>
    </p:spTree>
    <p:extLst>
      <p:ext uri="{BB962C8B-B14F-4D97-AF65-F5344CB8AC3E}">
        <p14:creationId xmlns:p14="http://schemas.microsoft.com/office/powerpoint/2010/main" val="76929121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25000" lnSpcReduction="20000"/>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The x86 is equipped with a variety of instruction formats. Of the elements described in this subsection, only the opcode field is always present. Figure 14.9 illustrates the general instruction format. Instructions are made up of from zero to four optional instruction prefixes, a 1- or 2-byte opcode, an optional address specifier (which consists of the ModR/M byte and the Scale Index Base byte) an optional displacement, and an optional immediate field.</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Let us first consider the prefix bytes:</a:t>
            </a:r>
          </a:p>
          <a:p>
            <a:endParaRPr lang="en-US" sz="1200" b="1" i="0" u="none" strike="noStrike" kern="1200" baseline="0" dirty="0">
              <a:solidFill>
                <a:schemeClr val="tx1"/>
              </a:solidFill>
              <a:latin typeface="Times New Roman" pitchFamily="-1" charset="0"/>
              <a:ea typeface="+mn-ea"/>
              <a:cs typeface="+mn-cs"/>
            </a:endParaRPr>
          </a:p>
          <a:p>
            <a:r>
              <a:rPr lang="en-US" sz="1200" b="1" i="0" u="none" strike="noStrike" kern="1200" baseline="0" dirty="0">
                <a:solidFill>
                  <a:schemeClr val="tx1"/>
                </a:solidFill>
                <a:latin typeface="Times New Roman" pitchFamily="-1" charset="0"/>
                <a:ea typeface="+mn-ea"/>
                <a:cs typeface="+mn-cs"/>
              </a:rPr>
              <a:t>■ Instruction prefixes:  </a:t>
            </a:r>
            <a:r>
              <a:rPr lang="en-US" sz="1200" b="0" i="0" u="none" strike="noStrike" kern="1200" baseline="0" dirty="0">
                <a:solidFill>
                  <a:schemeClr val="tx1"/>
                </a:solidFill>
                <a:latin typeface="Times New Roman" pitchFamily="-1" charset="0"/>
                <a:ea typeface="+mn-ea"/>
                <a:cs typeface="+mn-cs"/>
              </a:rPr>
              <a:t>The instruction prefix, if present, consists of the LOCK</a:t>
            </a:r>
          </a:p>
          <a:p>
            <a:r>
              <a:rPr lang="en-US" sz="1200" b="0" i="0" u="none" strike="noStrike" kern="1200" baseline="0" dirty="0">
                <a:solidFill>
                  <a:schemeClr val="tx1"/>
                </a:solidFill>
                <a:latin typeface="Times New Roman" pitchFamily="-1" charset="0"/>
                <a:ea typeface="+mn-ea"/>
                <a:cs typeface="+mn-cs"/>
              </a:rPr>
              <a:t>prefix or one of the repeat prefixes. The LOCK prefix is used to ensure exclusive</a:t>
            </a:r>
          </a:p>
          <a:p>
            <a:r>
              <a:rPr lang="en-US" sz="1200" b="0" i="0" u="none" strike="noStrike" kern="1200" baseline="0" dirty="0">
                <a:solidFill>
                  <a:schemeClr val="tx1"/>
                </a:solidFill>
                <a:latin typeface="Times New Roman" pitchFamily="-1" charset="0"/>
                <a:ea typeface="+mn-ea"/>
                <a:cs typeface="+mn-cs"/>
              </a:rPr>
              <a:t>use of shared memory in multiprocessor environments. The repeat prefixes</a:t>
            </a:r>
          </a:p>
          <a:p>
            <a:r>
              <a:rPr lang="en-US" sz="1200" b="0" i="0" u="none" strike="noStrike" kern="1200" baseline="0" dirty="0">
                <a:solidFill>
                  <a:schemeClr val="tx1"/>
                </a:solidFill>
                <a:latin typeface="Times New Roman" pitchFamily="-1" charset="0"/>
                <a:ea typeface="+mn-ea"/>
                <a:cs typeface="+mn-cs"/>
              </a:rPr>
              <a:t>specify repeated operation of a string, which enables the x86 to process strings</a:t>
            </a:r>
          </a:p>
          <a:p>
            <a:r>
              <a:rPr lang="en-US" sz="1200" b="0" i="0" u="none" strike="noStrike" kern="1200" baseline="0" dirty="0">
                <a:solidFill>
                  <a:schemeClr val="tx1"/>
                </a:solidFill>
                <a:latin typeface="Times New Roman" pitchFamily="-1" charset="0"/>
                <a:ea typeface="+mn-ea"/>
                <a:cs typeface="+mn-cs"/>
              </a:rPr>
              <a:t>much faster than with a regular software loop. There are five different repeat</a:t>
            </a:r>
          </a:p>
          <a:p>
            <a:r>
              <a:rPr lang="en-US" sz="1200" b="0" i="0" u="none" strike="noStrike" kern="1200" baseline="0" dirty="0">
                <a:solidFill>
                  <a:schemeClr val="tx1"/>
                </a:solidFill>
                <a:latin typeface="Times New Roman" pitchFamily="-1" charset="0"/>
                <a:ea typeface="+mn-ea"/>
                <a:cs typeface="+mn-cs"/>
              </a:rPr>
              <a:t>prefixes: REP, REPE, REPZ, REPNE, and REPNZ. When the absolute REP</a:t>
            </a:r>
          </a:p>
          <a:p>
            <a:r>
              <a:rPr lang="en-US" sz="1200" b="0" i="0" u="none" strike="noStrike" kern="1200" baseline="0" dirty="0">
                <a:solidFill>
                  <a:schemeClr val="tx1"/>
                </a:solidFill>
                <a:latin typeface="Times New Roman" pitchFamily="-1" charset="0"/>
                <a:ea typeface="+mn-ea"/>
                <a:cs typeface="+mn-cs"/>
              </a:rPr>
              <a:t>prefix is present, the operation specified in the instruction is executed repeatedly</a:t>
            </a:r>
          </a:p>
          <a:p>
            <a:r>
              <a:rPr lang="en-US" sz="1200" b="0" i="0" u="none" strike="noStrike" kern="1200" baseline="0" dirty="0">
                <a:solidFill>
                  <a:schemeClr val="tx1"/>
                </a:solidFill>
                <a:latin typeface="Times New Roman" pitchFamily="-1" charset="0"/>
                <a:ea typeface="+mn-ea"/>
                <a:cs typeface="+mn-cs"/>
              </a:rPr>
              <a:t>on successive elements of the string; the number of repetitions is specified</a:t>
            </a:r>
          </a:p>
          <a:p>
            <a:r>
              <a:rPr lang="en-US" sz="1200" b="0" i="0" u="none" strike="noStrike" kern="1200" baseline="0" dirty="0">
                <a:solidFill>
                  <a:schemeClr val="tx1"/>
                </a:solidFill>
                <a:latin typeface="Times New Roman" pitchFamily="-1" charset="0"/>
                <a:ea typeface="+mn-ea"/>
                <a:cs typeface="+mn-cs"/>
              </a:rPr>
              <a:t>in register CX. The conditional REP prefix causes the instruction to repeat</a:t>
            </a:r>
          </a:p>
          <a:p>
            <a:r>
              <a:rPr lang="en-US" sz="1200" b="0" i="0" u="none" strike="noStrike" kern="1200" baseline="0" dirty="0">
                <a:solidFill>
                  <a:schemeClr val="tx1"/>
                </a:solidFill>
                <a:latin typeface="Times New Roman" pitchFamily="-1" charset="0"/>
                <a:ea typeface="+mn-ea"/>
                <a:cs typeface="+mn-cs"/>
              </a:rPr>
              <a:t>until the count in CX goes to zero or until the condition is met.</a:t>
            </a:r>
          </a:p>
          <a:p>
            <a:endParaRPr lang="en-US" sz="1200" b="1" i="0" u="none" strike="noStrike" kern="1200" baseline="0" dirty="0">
              <a:solidFill>
                <a:schemeClr val="tx1"/>
              </a:solidFill>
              <a:latin typeface="Times New Roman" pitchFamily="-1" charset="0"/>
              <a:ea typeface="+mn-ea"/>
              <a:cs typeface="+mn-cs"/>
            </a:endParaRPr>
          </a:p>
          <a:p>
            <a:r>
              <a:rPr lang="en-US" sz="1200" b="1" i="0" u="none" strike="noStrike" kern="1200" baseline="0" dirty="0">
                <a:solidFill>
                  <a:schemeClr val="tx1"/>
                </a:solidFill>
                <a:latin typeface="Times New Roman" pitchFamily="-1" charset="0"/>
                <a:ea typeface="+mn-ea"/>
                <a:cs typeface="+mn-cs"/>
              </a:rPr>
              <a:t>■ Segment override:  </a:t>
            </a:r>
            <a:r>
              <a:rPr lang="en-US" sz="1200" b="0" i="0" u="none" strike="noStrike" kern="1200" baseline="0" dirty="0">
                <a:solidFill>
                  <a:schemeClr val="tx1"/>
                </a:solidFill>
                <a:latin typeface="Times New Roman" pitchFamily="-1" charset="0"/>
                <a:ea typeface="+mn-ea"/>
                <a:cs typeface="+mn-cs"/>
              </a:rPr>
              <a:t>Explicitly specifies which segment register an instruction</a:t>
            </a:r>
          </a:p>
          <a:p>
            <a:r>
              <a:rPr lang="en-US" sz="1200" b="0" i="0" u="none" strike="noStrike" kern="1200" baseline="0" dirty="0">
                <a:solidFill>
                  <a:schemeClr val="tx1"/>
                </a:solidFill>
                <a:latin typeface="Times New Roman" pitchFamily="-1" charset="0"/>
                <a:ea typeface="+mn-ea"/>
                <a:cs typeface="+mn-cs"/>
              </a:rPr>
              <a:t>should use, overriding the default segment-register selection generated by the</a:t>
            </a:r>
          </a:p>
          <a:p>
            <a:r>
              <a:rPr lang="en-US" sz="1200" b="0" i="0" u="none" strike="noStrike" kern="1200" baseline="0" dirty="0">
                <a:solidFill>
                  <a:schemeClr val="tx1"/>
                </a:solidFill>
                <a:latin typeface="Times New Roman" pitchFamily="-1" charset="0"/>
                <a:ea typeface="+mn-ea"/>
                <a:cs typeface="+mn-cs"/>
              </a:rPr>
              <a:t>x86 for that instruction.</a:t>
            </a:r>
          </a:p>
          <a:p>
            <a:endParaRPr lang="en-US" sz="1200" b="1" i="0" u="none" strike="noStrike" kern="1200" baseline="0" dirty="0">
              <a:solidFill>
                <a:schemeClr val="tx1"/>
              </a:solidFill>
              <a:latin typeface="Times New Roman" pitchFamily="-1" charset="0"/>
              <a:ea typeface="+mn-ea"/>
              <a:cs typeface="+mn-cs"/>
            </a:endParaRPr>
          </a:p>
          <a:p>
            <a:r>
              <a:rPr lang="en-US" sz="1200" b="1" i="0" u="none" strike="noStrike" kern="1200" baseline="0" dirty="0">
                <a:solidFill>
                  <a:schemeClr val="tx1"/>
                </a:solidFill>
                <a:latin typeface="Times New Roman" pitchFamily="-1" charset="0"/>
                <a:ea typeface="+mn-ea"/>
                <a:cs typeface="+mn-cs"/>
              </a:rPr>
              <a:t>■ Operand size</a:t>
            </a:r>
            <a:r>
              <a:rPr lang="en-US" sz="1200" b="0" i="0" u="none" strike="noStrike" kern="1200" baseline="0" dirty="0">
                <a:solidFill>
                  <a:schemeClr val="tx1"/>
                </a:solidFill>
                <a:latin typeface="Times New Roman" pitchFamily="-1" charset="0"/>
                <a:ea typeface="+mn-ea"/>
                <a:cs typeface="+mn-cs"/>
              </a:rPr>
              <a:t>:  An instruction has a default operand size of 16 or 32 bits, and</a:t>
            </a:r>
          </a:p>
          <a:p>
            <a:r>
              <a:rPr lang="en-US" sz="1200" b="0" i="0" u="none" strike="noStrike" kern="1200" baseline="0" dirty="0">
                <a:solidFill>
                  <a:schemeClr val="tx1"/>
                </a:solidFill>
                <a:latin typeface="Times New Roman" pitchFamily="-1" charset="0"/>
                <a:ea typeface="+mn-ea"/>
                <a:cs typeface="+mn-cs"/>
              </a:rPr>
              <a:t>the operand prefix switches between 32-bit and 16-bit operands.</a:t>
            </a:r>
          </a:p>
          <a:p>
            <a:endParaRPr lang="en-US" sz="1200" b="1" i="0" u="none" strike="noStrike" kern="1200" baseline="0" dirty="0">
              <a:solidFill>
                <a:schemeClr val="tx1"/>
              </a:solidFill>
              <a:latin typeface="Times New Roman" pitchFamily="-1" charset="0"/>
              <a:ea typeface="+mn-ea"/>
              <a:cs typeface="+mn-cs"/>
            </a:endParaRPr>
          </a:p>
          <a:p>
            <a:r>
              <a:rPr lang="en-US" sz="1200" b="1" i="0" u="none" strike="noStrike" kern="1200" baseline="0" dirty="0">
                <a:solidFill>
                  <a:schemeClr val="tx1"/>
                </a:solidFill>
                <a:latin typeface="Times New Roman" pitchFamily="-1" charset="0"/>
                <a:ea typeface="+mn-ea"/>
                <a:cs typeface="+mn-cs"/>
              </a:rPr>
              <a:t>■ Address size:  </a:t>
            </a:r>
            <a:r>
              <a:rPr lang="en-US" sz="1200" b="0" i="0" u="none" strike="noStrike" kern="1200" baseline="0" dirty="0">
                <a:solidFill>
                  <a:schemeClr val="tx1"/>
                </a:solidFill>
                <a:latin typeface="Times New Roman" pitchFamily="-1" charset="0"/>
                <a:ea typeface="+mn-ea"/>
                <a:cs typeface="+mn-cs"/>
              </a:rPr>
              <a:t>The processor can address memory using either 16- or 32-bit</a:t>
            </a:r>
          </a:p>
          <a:p>
            <a:r>
              <a:rPr lang="en-US" sz="1200" b="0" i="0" u="none" strike="noStrike" kern="1200" baseline="0" dirty="0">
                <a:solidFill>
                  <a:schemeClr val="tx1"/>
                </a:solidFill>
                <a:latin typeface="Times New Roman" pitchFamily="-1" charset="0"/>
                <a:ea typeface="+mn-ea"/>
                <a:cs typeface="+mn-cs"/>
              </a:rPr>
              <a:t>addresses. The address size determines the displacement size in instructions</a:t>
            </a:r>
          </a:p>
          <a:p>
            <a:r>
              <a:rPr lang="en-US" sz="1200" b="0" i="0" u="none" strike="noStrike" kern="1200" baseline="0" dirty="0">
                <a:solidFill>
                  <a:schemeClr val="tx1"/>
                </a:solidFill>
                <a:latin typeface="Times New Roman" pitchFamily="-1" charset="0"/>
                <a:ea typeface="+mn-ea"/>
                <a:cs typeface="+mn-cs"/>
              </a:rPr>
              <a:t>and the size of address offsets generated during effective address calculation.</a:t>
            </a:r>
          </a:p>
          <a:p>
            <a:r>
              <a:rPr lang="en-US" sz="1200" b="0" i="0" u="none" strike="noStrike" kern="1200" baseline="0" dirty="0">
                <a:solidFill>
                  <a:schemeClr val="tx1"/>
                </a:solidFill>
                <a:latin typeface="Times New Roman" pitchFamily="-1" charset="0"/>
                <a:ea typeface="+mn-ea"/>
                <a:cs typeface="+mn-cs"/>
              </a:rPr>
              <a:t>One of these sizes is designated as default, and the address size prefix switches</a:t>
            </a:r>
          </a:p>
          <a:p>
            <a:r>
              <a:rPr lang="en-US" sz="1200" b="0" i="0" u="none" strike="noStrike" kern="1200" baseline="0" dirty="0">
                <a:solidFill>
                  <a:schemeClr val="tx1"/>
                </a:solidFill>
                <a:latin typeface="Times New Roman" pitchFamily="-1" charset="0"/>
                <a:ea typeface="+mn-ea"/>
                <a:cs typeface="+mn-cs"/>
              </a:rPr>
              <a:t>between 32-bit and 16-bit address generation. </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The instruction itself includes the following fields:</a:t>
            </a:r>
          </a:p>
          <a:p>
            <a:endParaRPr lang="en-US" sz="1200" b="1" i="0" u="none" strike="noStrike" kern="1200" baseline="0" dirty="0">
              <a:solidFill>
                <a:schemeClr val="tx1"/>
              </a:solidFill>
              <a:latin typeface="Times New Roman" pitchFamily="-1" charset="0"/>
              <a:ea typeface="+mn-ea"/>
              <a:cs typeface="+mn-cs"/>
            </a:endParaRPr>
          </a:p>
          <a:p>
            <a:r>
              <a:rPr lang="en-US" sz="1200" b="1" i="0" u="none" strike="noStrike" kern="1200" baseline="0" dirty="0">
                <a:solidFill>
                  <a:schemeClr val="tx1"/>
                </a:solidFill>
                <a:latin typeface="Times New Roman" pitchFamily="-1" charset="0"/>
                <a:ea typeface="+mn-ea"/>
                <a:cs typeface="+mn-cs"/>
              </a:rPr>
              <a:t>■ </a:t>
            </a:r>
            <a:r>
              <a:rPr lang="en-US" sz="1200" b="1" i="0" u="none" strike="noStrike" kern="1200" baseline="0" dirty="0" err="1">
                <a:solidFill>
                  <a:schemeClr val="tx1"/>
                </a:solidFill>
                <a:latin typeface="Times New Roman" pitchFamily="-1" charset="0"/>
                <a:ea typeface="+mn-ea"/>
                <a:cs typeface="+mn-cs"/>
              </a:rPr>
              <a:t>Opcode</a:t>
            </a:r>
            <a:r>
              <a:rPr lang="en-US" sz="1200" b="1" i="0" u="none" strike="noStrike" kern="1200" baseline="0" dirty="0">
                <a:solidFill>
                  <a:schemeClr val="tx1"/>
                </a:solidFill>
                <a:latin typeface="Times New Roman" pitchFamily="-1" charset="0"/>
                <a:ea typeface="+mn-ea"/>
                <a:cs typeface="+mn-cs"/>
              </a:rPr>
              <a:t>:  </a:t>
            </a:r>
            <a:r>
              <a:rPr lang="en-US" sz="1200" b="0" i="0" u="none" strike="noStrike" kern="1200" baseline="0" dirty="0">
                <a:solidFill>
                  <a:schemeClr val="tx1"/>
                </a:solidFill>
                <a:latin typeface="Times New Roman" pitchFamily="-1" charset="0"/>
                <a:ea typeface="+mn-ea"/>
                <a:cs typeface="+mn-cs"/>
              </a:rPr>
              <a:t>The </a:t>
            </a:r>
            <a:r>
              <a:rPr lang="en-US" sz="1200" b="0" i="0" u="none" strike="noStrike" kern="1200" baseline="0" dirty="0" err="1">
                <a:solidFill>
                  <a:schemeClr val="tx1"/>
                </a:solidFill>
                <a:latin typeface="Times New Roman" pitchFamily="-1" charset="0"/>
                <a:ea typeface="+mn-ea"/>
                <a:cs typeface="+mn-cs"/>
              </a:rPr>
              <a:t>opcode</a:t>
            </a:r>
            <a:r>
              <a:rPr lang="en-US" sz="1200" b="0" i="0" u="none" strike="noStrike" kern="1200" baseline="0" dirty="0">
                <a:solidFill>
                  <a:schemeClr val="tx1"/>
                </a:solidFill>
                <a:latin typeface="Times New Roman" pitchFamily="-1" charset="0"/>
                <a:ea typeface="+mn-ea"/>
                <a:cs typeface="+mn-cs"/>
              </a:rPr>
              <a:t> field is 1, 2, or 3 bytes in length. The </a:t>
            </a:r>
            <a:r>
              <a:rPr lang="en-US" sz="1200" b="0" i="0" u="none" strike="noStrike" kern="1200" baseline="0" dirty="0" err="1">
                <a:solidFill>
                  <a:schemeClr val="tx1"/>
                </a:solidFill>
                <a:latin typeface="Times New Roman" pitchFamily="-1" charset="0"/>
                <a:ea typeface="+mn-ea"/>
                <a:cs typeface="+mn-cs"/>
              </a:rPr>
              <a:t>opcode</a:t>
            </a:r>
            <a:r>
              <a:rPr lang="en-US" sz="1200" b="0" i="0" u="none" strike="noStrike" kern="1200" baseline="0" dirty="0">
                <a:solidFill>
                  <a:schemeClr val="tx1"/>
                </a:solidFill>
                <a:latin typeface="Times New Roman" pitchFamily="-1" charset="0"/>
                <a:ea typeface="+mn-ea"/>
                <a:cs typeface="+mn-cs"/>
              </a:rPr>
              <a:t> may also</a:t>
            </a:r>
          </a:p>
          <a:p>
            <a:r>
              <a:rPr lang="en-US" sz="1200" b="0" i="0" u="none" strike="noStrike" kern="1200" baseline="0" dirty="0">
                <a:solidFill>
                  <a:schemeClr val="tx1"/>
                </a:solidFill>
                <a:latin typeface="Times New Roman" pitchFamily="-1" charset="0"/>
                <a:ea typeface="+mn-ea"/>
                <a:cs typeface="+mn-cs"/>
              </a:rPr>
              <a:t>include bits that specify if data is byte-</a:t>
            </a:r>
            <a:r>
              <a:rPr lang="en-US" sz="1200" b="0" i="0" u="none" strike="noStrike" kern="1200" baseline="0" dirty="0" err="1">
                <a:solidFill>
                  <a:schemeClr val="tx1"/>
                </a:solidFill>
                <a:latin typeface="Times New Roman" pitchFamily="-1" charset="0"/>
                <a:ea typeface="+mn-ea"/>
                <a:cs typeface="+mn-cs"/>
              </a:rPr>
              <a:t>orfull</a:t>
            </a:r>
            <a:r>
              <a:rPr lang="en-US" sz="1200" b="0" i="0" u="none" strike="noStrike" kern="1200" baseline="0" dirty="0">
                <a:solidFill>
                  <a:schemeClr val="tx1"/>
                </a:solidFill>
                <a:latin typeface="Times New Roman" pitchFamily="-1" charset="0"/>
                <a:ea typeface="+mn-ea"/>
                <a:cs typeface="+mn-cs"/>
              </a:rPr>
              <a:t>-size (16 or 32 bits depending on</a:t>
            </a:r>
          </a:p>
          <a:p>
            <a:r>
              <a:rPr lang="en-US" sz="1200" b="0" i="0" u="none" strike="noStrike" kern="1200" baseline="0" dirty="0">
                <a:solidFill>
                  <a:schemeClr val="tx1"/>
                </a:solidFill>
                <a:latin typeface="Times New Roman" pitchFamily="-1" charset="0"/>
                <a:ea typeface="+mn-ea"/>
                <a:cs typeface="+mn-cs"/>
              </a:rPr>
              <a:t>context), direction of data operation (to or from memory), and whether an</a:t>
            </a:r>
          </a:p>
          <a:p>
            <a:r>
              <a:rPr lang="en-US" sz="1200" b="0" i="0" u="none" strike="noStrike" kern="1200" baseline="0" dirty="0">
                <a:solidFill>
                  <a:schemeClr val="tx1"/>
                </a:solidFill>
                <a:latin typeface="Times New Roman" pitchFamily="-1" charset="0"/>
                <a:ea typeface="+mn-ea"/>
                <a:cs typeface="+mn-cs"/>
              </a:rPr>
              <a:t>immediate data field must be sign extended.</a:t>
            </a:r>
          </a:p>
          <a:p>
            <a:endParaRPr lang="en-US" sz="1200" b="1" i="0" u="none" strike="noStrike" kern="1200" baseline="0" dirty="0">
              <a:solidFill>
                <a:schemeClr val="tx1"/>
              </a:solidFill>
              <a:latin typeface="Times New Roman" pitchFamily="-1" charset="0"/>
              <a:ea typeface="+mn-ea"/>
              <a:cs typeface="+mn-cs"/>
            </a:endParaRPr>
          </a:p>
          <a:p>
            <a:r>
              <a:rPr lang="en-US" sz="1200" b="1" i="0" u="none" strike="noStrike" kern="1200" baseline="0" dirty="0">
                <a:solidFill>
                  <a:schemeClr val="tx1"/>
                </a:solidFill>
                <a:latin typeface="Times New Roman" pitchFamily="-1" charset="0"/>
                <a:ea typeface="+mn-ea"/>
                <a:cs typeface="+mn-cs"/>
              </a:rPr>
              <a:t>■ </a:t>
            </a:r>
            <a:r>
              <a:rPr lang="en-US" sz="1200" b="1" i="0" u="none" strike="noStrike" kern="1200" baseline="0" dirty="0" err="1">
                <a:solidFill>
                  <a:schemeClr val="tx1"/>
                </a:solidFill>
                <a:latin typeface="Times New Roman" pitchFamily="-1" charset="0"/>
                <a:ea typeface="+mn-ea"/>
                <a:cs typeface="+mn-cs"/>
              </a:rPr>
              <a:t>ModR</a:t>
            </a:r>
            <a:r>
              <a:rPr lang="en-US" sz="1200" b="1" i="0" u="none" strike="noStrike" kern="1200" baseline="0" dirty="0">
                <a:solidFill>
                  <a:schemeClr val="tx1"/>
                </a:solidFill>
                <a:latin typeface="Times New Roman" pitchFamily="-1" charset="0"/>
                <a:ea typeface="+mn-ea"/>
                <a:cs typeface="+mn-cs"/>
              </a:rPr>
              <a:t>/M</a:t>
            </a:r>
            <a:r>
              <a:rPr lang="en-US" sz="1200" b="0" i="0" u="none" strike="noStrike" kern="1200" baseline="0" dirty="0">
                <a:solidFill>
                  <a:schemeClr val="tx1"/>
                </a:solidFill>
                <a:latin typeface="Times New Roman" pitchFamily="-1" charset="0"/>
                <a:ea typeface="+mn-ea"/>
                <a:cs typeface="+mn-cs"/>
              </a:rPr>
              <a:t>:  This byte, and the next, provide addressing information. The</a:t>
            </a:r>
          </a:p>
          <a:p>
            <a:r>
              <a:rPr lang="en-US" sz="1200" b="0" i="0" u="none" strike="noStrike" kern="1200" baseline="0" dirty="0" err="1">
                <a:solidFill>
                  <a:schemeClr val="tx1"/>
                </a:solidFill>
                <a:latin typeface="Times New Roman" pitchFamily="-1" charset="0"/>
                <a:ea typeface="+mn-ea"/>
                <a:cs typeface="+mn-cs"/>
              </a:rPr>
              <a:t>ModR</a:t>
            </a:r>
            <a:r>
              <a:rPr lang="en-US" sz="1200" b="0" i="0" u="none" strike="noStrike" kern="1200" baseline="0" dirty="0">
                <a:solidFill>
                  <a:schemeClr val="tx1"/>
                </a:solidFill>
                <a:latin typeface="Times New Roman" pitchFamily="-1" charset="0"/>
                <a:ea typeface="+mn-ea"/>
                <a:cs typeface="+mn-cs"/>
              </a:rPr>
              <a:t>/M byte specifies whether an operand is in a register or in memory; if</a:t>
            </a:r>
          </a:p>
          <a:p>
            <a:r>
              <a:rPr lang="en-US" sz="1200" b="0" i="0" u="none" strike="noStrike" kern="1200" baseline="0" dirty="0">
                <a:solidFill>
                  <a:schemeClr val="tx1"/>
                </a:solidFill>
                <a:latin typeface="Times New Roman" pitchFamily="-1" charset="0"/>
                <a:ea typeface="+mn-ea"/>
                <a:cs typeface="+mn-cs"/>
              </a:rPr>
              <a:t>it is in memory, then fields within the byte specify the addressing mode to</a:t>
            </a:r>
          </a:p>
          <a:p>
            <a:r>
              <a:rPr lang="en-US" sz="1200" b="0" i="0" u="none" strike="noStrike" kern="1200" baseline="0" dirty="0">
                <a:solidFill>
                  <a:schemeClr val="tx1"/>
                </a:solidFill>
                <a:latin typeface="Times New Roman" pitchFamily="-1" charset="0"/>
                <a:ea typeface="+mn-ea"/>
                <a:cs typeface="+mn-cs"/>
              </a:rPr>
              <a:t>be used. The </a:t>
            </a:r>
            <a:r>
              <a:rPr lang="en-US" sz="1200" b="0" i="0" u="none" strike="noStrike" kern="1200" baseline="0" dirty="0" err="1">
                <a:solidFill>
                  <a:schemeClr val="tx1"/>
                </a:solidFill>
                <a:latin typeface="Times New Roman" pitchFamily="-1" charset="0"/>
                <a:ea typeface="+mn-ea"/>
                <a:cs typeface="+mn-cs"/>
              </a:rPr>
              <a:t>ModR</a:t>
            </a:r>
            <a:r>
              <a:rPr lang="en-US" sz="1200" b="0" i="0" u="none" strike="noStrike" kern="1200" baseline="0" dirty="0">
                <a:solidFill>
                  <a:schemeClr val="tx1"/>
                </a:solidFill>
                <a:latin typeface="Times New Roman" pitchFamily="-1" charset="0"/>
                <a:ea typeface="+mn-ea"/>
                <a:cs typeface="+mn-cs"/>
              </a:rPr>
              <a:t>/M byte consists of three fields: The Mod field (2 bits)</a:t>
            </a:r>
          </a:p>
          <a:p>
            <a:r>
              <a:rPr lang="en-US" sz="1200" b="0" i="0" u="none" strike="noStrike" kern="1200" baseline="0" dirty="0">
                <a:solidFill>
                  <a:schemeClr val="tx1"/>
                </a:solidFill>
                <a:latin typeface="Times New Roman" pitchFamily="-1" charset="0"/>
                <a:ea typeface="+mn-ea"/>
                <a:cs typeface="+mn-cs"/>
              </a:rPr>
              <a:t>combines with the R/M field to form 32 possible values: 8 registers and 24</a:t>
            </a:r>
          </a:p>
          <a:p>
            <a:r>
              <a:rPr lang="en-US" sz="1200" b="0" i="0" u="none" strike="noStrike" kern="1200" baseline="0" dirty="0">
                <a:solidFill>
                  <a:schemeClr val="tx1"/>
                </a:solidFill>
                <a:latin typeface="Times New Roman" pitchFamily="-1" charset="0"/>
                <a:ea typeface="+mn-ea"/>
                <a:cs typeface="+mn-cs"/>
              </a:rPr>
              <a:t>indexing modes; the </a:t>
            </a:r>
            <a:r>
              <a:rPr lang="en-US" sz="1200" b="0" i="0" u="none" strike="noStrike" kern="1200" baseline="0" dirty="0" err="1">
                <a:solidFill>
                  <a:schemeClr val="tx1"/>
                </a:solidFill>
                <a:latin typeface="Times New Roman" pitchFamily="-1" charset="0"/>
                <a:ea typeface="+mn-ea"/>
                <a:cs typeface="+mn-cs"/>
              </a:rPr>
              <a:t>Reg</a:t>
            </a:r>
            <a:r>
              <a:rPr lang="en-US" sz="1200" b="0" i="0" u="none" strike="noStrike" kern="1200" baseline="0" dirty="0">
                <a:solidFill>
                  <a:schemeClr val="tx1"/>
                </a:solidFill>
                <a:latin typeface="Times New Roman" pitchFamily="-1" charset="0"/>
                <a:ea typeface="+mn-ea"/>
                <a:cs typeface="+mn-cs"/>
              </a:rPr>
              <a:t>/</a:t>
            </a:r>
            <a:r>
              <a:rPr lang="en-US" sz="1200" b="0" i="0" u="none" strike="noStrike" kern="1200" baseline="0" dirty="0" err="1">
                <a:solidFill>
                  <a:schemeClr val="tx1"/>
                </a:solidFill>
                <a:latin typeface="Times New Roman" pitchFamily="-1" charset="0"/>
                <a:ea typeface="+mn-ea"/>
                <a:cs typeface="+mn-cs"/>
              </a:rPr>
              <a:t>Opcode</a:t>
            </a:r>
            <a:r>
              <a:rPr lang="en-US" sz="1200" b="0" i="0" u="none" strike="noStrike" kern="1200" baseline="0" dirty="0">
                <a:solidFill>
                  <a:schemeClr val="tx1"/>
                </a:solidFill>
                <a:latin typeface="Times New Roman" pitchFamily="-1" charset="0"/>
                <a:ea typeface="+mn-ea"/>
                <a:cs typeface="+mn-cs"/>
              </a:rPr>
              <a:t> field (3 bits) specifies either a register number</a:t>
            </a:r>
          </a:p>
          <a:p>
            <a:r>
              <a:rPr lang="en-US" sz="1200" b="0" i="0" u="none" strike="noStrike" kern="1200" baseline="0" dirty="0">
                <a:solidFill>
                  <a:schemeClr val="tx1"/>
                </a:solidFill>
                <a:latin typeface="Times New Roman" pitchFamily="-1" charset="0"/>
                <a:ea typeface="+mn-ea"/>
                <a:cs typeface="+mn-cs"/>
              </a:rPr>
              <a:t>or three more bits of </a:t>
            </a:r>
            <a:r>
              <a:rPr lang="en-US" sz="1200" b="0" i="0" u="none" strike="noStrike" kern="1200" baseline="0" dirty="0" err="1">
                <a:solidFill>
                  <a:schemeClr val="tx1"/>
                </a:solidFill>
                <a:latin typeface="Times New Roman" pitchFamily="-1" charset="0"/>
                <a:ea typeface="+mn-ea"/>
                <a:cs typeface="+mn-cs"/>
              </a:rPr>
              <a:t>opcode</a:t>
            </a:r>
            <a:r>
              <a:rPr lang="en-US" sz="1200" b="0" i="0" u="none" strike="noStrike" kern="1200" baseline="0" dirty="0">
                <a:solidFill>
                  <a:schemeClr val="tx1"/>
                </a:solidFill>
                <a:latin typeface="Times New Roman" pitchFamily="-1" charset="0"/>
                <a:ea typeface="+mn-ea"/>
                <a:cs typeface="+mn-cs"/>
              </a:rPr>
              <a:t> information; the R/M field (3 bits) can specify</a:t>
            </a:r>
          </a:p>
          <a:p>
            <a:r>
              <a:rPr lang="en-US" sz="1200" b="0" i="0" u="none" strike="noStrike" kern="1200" baseline="0" dirty="0">
                <a:solidFill>
                  <a:schemeClr val="tx1"/>
                </a:solidFill>
                <a:latin typeface="Times New Roman" pitchFamily="-1" charset="0"/>
                <a:ea typeface="+mn-ea"/>
                <a:cs typeface="+mn-cs"/>
              </a:rPr>
              <a:t>a register as the location of an operand, or it can form part of the addressing-</a:t>
            </a:r>
          </a:p>
          <a:p>
            <a:r>
              <a:rPr lang="en-US" sz="1200" b="0" i="0" u="none" strike="noStrike" kern="1200" baseline="0" dirty="0">
                <a:solidFill>
                  <a:schemeClr val="tx1"/>
                </a:solidFill>
                <a:latin typeface="Times New Roman" pitchFamily="-1" charset="0"/>
                <a:ea typeface="+mn-ea"/>
                <a:cs typeface="+mn-cs"/>
              </a:rPr>
              <a:t>mode encoding in combination with the Mod field.</a:t>
            </a:r>
          </a:p>
          <a:p>
            <a:endParaRPr lang="en-US" sz="1200" b="1" i="0" u="none" strike="noStrike" kern="1200" baseline="0" dirty="0">
              <a:solidFill>
                <a:schemeClr val="tx1"/>
              </a:solidFill>
              <a:latin typeface="Times New Roman" pitchFamily="-1" charset="0"/>
              <a:ea typeface="+mn-ea"/>
              <a:cs typeface="+mn-cs"/>
            </a:endParaRPr>
          </a:p>
          <a:p>
            <a:r>
              <a:rPr lang="en-US" sz="1200" b="1" i="0" u="none" strike="noStrike" kern="1200" baseline="0" dirty="0">
                <a:solidFill>
                  <a:schemeClr val="tx1"/>
                </a:solidFill>
                <a:latin typeface="Times New Roman" pitchFamily="-1" charset="0"/>
                <a:ea typeface="+mn-ea"/>
                <a:cs typeface="+mn-cs"/>
              </a:rPr>
              <a:t>■ SIB</a:t>
            </a:r>
            <a:r>
              <a:rPr lang="en-US" sz="1200" b="0" i="0" u="none" strike="noStrike" kern="1200" baseline="0" dirty="0">
                <a:solidFill>
                  <a:schemeClr val="tx1"/>
                </a:solidFill>
                <a:latin typeface="Times New Roman" pitchFamily="-1" charset="0"/>
                <a:ea typeface="+mn-ea"/>
                <a:cs typeface="+mn-cs"/>
              </a:rPr>
              <a:t>:  Certain encoding of the </a:t>
            </a:r>
            <a:r>
              <a:rPr lang="en-US" sz="1200" b="0" i="0" u="none" strike="noStrike" kern="1200" baseline="0" dirty="0" err="1">
                <a:solidFill>
                  <a:schemeClr val="tx1"/>
                </a:solidFill>
                <a:latin typeface="Times New Roman" pitchFamily="-1" charset="0"/>
                <a:ea typeface="+mn-ea"/>
                <a:cs typeface="+mn-cs"/>
              </a:rPr>
              <a:t>ModR</a:t>
            </a:r>
            <a:r>
              <a:rPr lang="en-US" sz="1200" b="0" i="0" u="none" strike="noStrike" kern="1200" baseline="0" dirty="0">
                <a:solidFill>
                  <a:schemeClr val="tx1"/>
                </a:solidFill>
                <a:latin typeface="Times New Roman" pitchFamily="-1" charset="0"/>
                <a:ea typeface="+mn-ea"/>
                <a:cs typeface="+mn-cs"/>
              </a:rPr>
              <a:t>/M byte specifies the inclusion of the SIB byte</a:t>
            </a:r>
          </a:p>
          <a:p>
            <a:r>
              <a:rPr lang="en-US" sz="1200" b="0" i="0" u="none" strike="noStrike" kern="1200" baseline="0" dirty="0">
                <a:solidFill>
                  <a:schemeClr val="tx1"/>
                </a:solidFill>
                <a:latin typeface="Times New Roman" pitchFamily="-1" charset="0"/>
                <a:ea typeface="+mn-ea"/>
                <a:cs typeface="+mn-cs"/>
              </a:rPr>
              <a:t>to specify fully the addressing mode. The SIB byte consists of three fields: The</a:t>
            </a:r>
          </a:p>
          <a:p>
            <a:r>
              <a:rPr lang="en-US" sz="1200" b="0" i="0" u="none" strike="noStrike" kern="1200" baseline="0" dirty="0">
                <a:solidFill>
                  <a:schemeClr val="tx1"/>
                </a:solidFill>
                <a:latin typeface="Times New Roman" pitchFamily="-1" charset="0"/>
                <a:ea typeface="+mn-ea"/>
                <a:cs typeface="+mn-cs"/>
              </a:rPr>
              <a:t>Scale field (2 bits) specifies the scale factor for scaled indexing; the Index field (3</a:t>
            </a:r>
          </a:p>
          <a:p>
            <a:r>
              <a:rPr lang="en-US" sz="1200" b="0" i="0" u="none" strike="noStrike" kern="1200" baseline="0" dirty="0">
                <a:solidFill>
                  <a:schemeClr val="tx1"/>
                </a:solidFill>
                <a:latin typeface="Times New Roman" pitchFamily="-1" charset="0"/>
                <a:ea typeface="+mn-ea"/>
                <a:cs typeface="+mn-cs"/>
              </a:rPr>
              <a:t>bits) specifies the index register; the Base field (3 bits) specifies the base register.</a:t>
            </a:r>
          </a:p>
          <a:p>
            <a:endParaRPr lang="en-US" sz="1200" b="1" i="0" u="none" strike="noStrike" kern="1200" baseline="0" dirty="0">
              <a:solidFill>
                <a:schemeClr val="tx1"/>
              </a:solidFill>
              <a:latin typeface="Times New Roman" pitchFamily="-1" charset="0"/>
              <a:ea typeface="+mn-ea"/>
              <a:cs typeface="+mn-cs"/>
            </a:endParaRPr>
          </a:p>
          <a:p>
            <a:r>
              <a:rPr lang="en-US" sz="1200" b="1" i="0" u="none" strike="noStrike" kern="1200" baseline="0" dirty="0">
                <a:solidFill>
                  <a:schemeClr val="tx1"/>
                </a:solidFill>
                <a:latin typeface="Times New Roman" pitchFamily="-1" charset="0"/>
                <a:ea typeface="+mn-ea"/>
                <a:cs typeface="+mn-cs"/>
              </a:rPr>
              <a:t>■ Displacement:  </a:t>
            </a:r>
            <a:r>
              <a:rPr lang="en-US" sz="1200" b="0" i="0" u="none" strike="noStrike" kern="1200" baseline="0" dirty="0">
                <a:solidFill>
                  <a:schemeClr val="tx1"/>
                </a:solidFill>
                <a:latin typeface="Times New Roman" pitchFamily="-1" charset="0"/>
                <a:ea typeface="+mn-ea"/>
                <a:cs typeface="+mn-cs"/>
              </a:rPr>
              <a:t>When the addressing-mode specifier indicates that a displacement</a:t>
            </a:r>
          </a:p>
          <a:p>
            <a:r>
              <a:rPr lang="en-US" sz="1200" b="0" i="0" u="none" strike="noStrike" kern="1200" baseline="0" dirty="0">
                <a:solidFill>
                  <a:schemeClr val="tx1"/>
                </a:solidFill>
                <a:latin typeface="Times New Roman" pitchFamily="-1" charset="0"/>
                <a:ea typeface="+mn-ea"/>
                <a:cs typeface="+mn-cs"/>
              </a:rPr>
              <a:t>is used, an 8-, 16-, or 32-bit signed integer displacement field is added.</a:t>
            </a:r>
          </a:p>
          <a:p>
            <a:endParaRPr lang="en-US" sz="1200" b="1" i="0" u="none" strike="noStrike" kern="1200" baseline="0" dirty="0">
              <a:solidFill>
                <a:schemeClr val="tx1"/>
              </a:solidFill>
              <a:latin typeface="Times New Roman" pitchFamily="-1" charset="0"/>
              <a:ea typeface="+mn-ea"/>
              <a:cs typeface="+mn-cs"/>
            </a:endParaRPr>
          </a:p>
          <a:p>
            <a:r>
              <a:rPr lang="en-US" sz="1200" b="1" i="0" u="none" strike="noStrike" kern="1200" baseline="0" dirty="0">
                <a:solidFill>
                  <a:schemeClr val="tx1"/>
                </a:solidFill>
                <a:latin typeface="Times New Roman" pitchFamily="-1" charset="0"/>
                <a:ea typeface="+mn-ea"/>
                <a:cs typeface="+mn-cs"/>
              </a:rPr>
              <a:t>■ Immediate</a:t>
            </a:r>
            <a:r>
              <a:rPr lang="en-US" sz="1200" b="0" i="0" u="none" strike="noStrike" kern="1200" baseline="0" dirty="0">
                <a:solidFill>
                  <a:schemeClr val="tx1"/>
                </a:solidFill>
                <a:latin typeface="Times New Roman" pitchFamily="-1" charset="0"/>
                <a:ea typeface="+mn-ea"/>
                <a:cs typeface="+mn-cs"/>
              </a:rPr>
              <a:t>:  Provides the value of an 8-, 16-, or 32-bit operand.</a:t>
            </a:r>
            <a:endParaRPr lang="en-US" sz="1200"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Several comparisons may be useful here. In the x86 format, the addressing</a:t>
            </a:r>
          </a:p>
          <a:p>
            <a:r>
              <a:rPr lang="en-US" sz="1200" b="0" i="0" u="none" strike="noStrike" kern="1200" baseline="0" dirty="0">
                <a:solidFill>
                  <a:schemeClr val="tx1"/>
                </a:solidFill>
                <a:latin typeface="Times New Roman" pitchFamily="-1" charset="0"/>
                <a:ea typeface="+mn-ea"/>
                <a:cs typeface="+mn-cs"/>
              </a:rPr>
              <a:t>mode is provided as part of the opcode sequence rather than with each operand.</a:t>
            </a:r>
            <a:endParaRPr lang="en-US" sz="1200" kern="120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Because only one operand can have address-mode information, only one memory</a:t>
            </a:r>
          </a:p>
          <a:p>
            <a:r>
              <a:rPr lang="en-US" sz="1200" b="0" i="0" u="none" strike="noStrike" kern="1200" baseline="0" dirty="0">
                <a:solidFill>
                  <a:schemeClr val="tx1"/>
                </a:solidFill>
                <a:latin typeface="Times New Roman" pitchFamily="-1" charset="0"/>
                <a:ea typeface="+mn-ea"/>
                <a:cs typeface="+mn-cs"/>
              </a:rPr>
              <a:t>operand can be referenced in an instruction. In contrast, the VAX carries</a:t>
            </a:r>
          </a:p>
          <a:p>
            <a:r>
              <a:rPr lang="en-US" sz="1200" b="0" i="0" u="none" strike="noStrike" kern="1200" baseline="0" dirty="0">
                <a:solidFill>
                  <a:schemeClr val="tx1"/>
                </a:solidFill>
                <a:latin typeface="Times New Roman" pitchFamily="-1" charset="0"/>
                <a:ea typeface="+mn-ea"/>
                <a:cs typeface="+mn-cs"/>
              </a:rPr>
              <a:t>the address-mode information with each operand, allowing memory-to-memory</a:t>
            </a:r>
          </a:p>
          <a:p>
            <a:r>
              <a:rPr lang="en-US" sz="1200" b="0" i="0" u="none" strike="noStrike" kern="1200" baseline="0" dirty="0">
                <a:solidFill>
                  <a:schemeClr val="tx1"/>
                </a:solidFill>
                <a:latin typeface="Times New Roman" pitchFamily="-1" charset="0"/>
                <a:ea typeface="+mn-ea"/>
                <a:cs typeface="+mn-cs"/>
              </a:rPr>
              <a:t>operations. The x86 instructions are therefore more compact. However, if a</a:t>
            </a:r>
          </a:p>
          <a:p>
            <a:r>
              <a:rPr lang="en-US" sz="1200" b="0" i="0" u="none" strike="noStrike" kern="1200" baseline="0" dirty="0">
                <a:solidFill>
                  <a:schemeClr val="tx1"/>
                </a:solidFill>
                <a:latin typeface="Times New Roman" pitchFamily="-1" charset="0"/>
                <a:ea typeface="+mn-ea"/>
                <a:cs typeface="+mn-cs"/>
              </a:rPr>
              <a:t>Memory-to-memory operation is required, the VAX can accomplish this in a</a:t>
            </a:r>
          </a:p>
          <a:p>
            <a:r>
              <a:rPr lang="en-US" sz="1200" b="0" i="0" u="none" strike="noStrike" kern="1200" baseline="0" dirty="0">
                <a:solidFill>
                  <a:schemeClr val="tx1"/>
                </a:solidFill>
                <a:latin typeface="Times New Roman" pitchFamily="-1" charset="0"/>
                <a:ea typeface="+mn-ea"/>
                <a:cs typeface="+mn-cs"/>
              </a:rPr>
              <a:t>single instruction.</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The x86 format allows the use of not only 1-byte, but also 2-byte and 4-byte</a:t>
            </a:r>
          </a:p>
          <a:p>
            <a:r>
              <a:rPr lang="en-US" sz="1200" b="0" i="0" u="none" strike="noStrike" kern="1200" baseline="0" dirty="0">
                <a:solidFill>
                  <a:schemeClr val="tx1"/>
                </a:solidFill>
                <a:latin typeface="Times New Roman" pitchFamily="-1" charset="0"/>
                <a:ea typeface="+mn-ea"/>
                <a:cs typeface="+mn-cs"/>
              </a:rPr>
              <a:t>offsets for indexing. Although the use of the larger index offsets results in longer</a:t>
            </a:r>
          </a:p>
          <a:p>
            <a:r>
              <a:rPr lang="en-US" sz="1200" b="0" i="0" u="none" strike="noStrike" kern="1200" baseline="0" dirty="0">
                <a:solidFill>
                  <a:schemeClr val="tx1"/>
                </a:solidFill>
                <a:latin typeface="Times New Roman" pitchFamily="-1" charset="0"/>
                <a:ea typeface="+mn-ea"/>
                <a:cs typeface="+mn-cs"/>
              </a:rPr>
              <a:t>instructions, this feature provides needed flexibility. For example, it is useful in</a:t>
            </a:r>
          </a:p>
          <a:p>
            <a:r>
              <a:rPr lang="en-US" sz="1200" b="0" i="0" u="none" strike="noStrike" kern="1200" baseline="0" dirty="0">
                <a:solidFill>
                  <a:schemeClr val="tx1"/>
                </a:solidFill>
                <a:latin typeface="Times New Roman" pitchFamily="-1" charset="0"/>
                <a:ea typeface="+mn-ea"/>
                <a:cs typeface="+mn-cs"/>
              </a:rPr>
              <a:t>addressing large arrays or large stack frames. In contrast, the IBM S/370 instruction</a:t>
            </a:r>
          </a:p>
          <a:p>
            <a:r>
              <a:rPr lang="en-US" sz="1200" b="0" i="0" u="none" strike="noStrike" kern="1200" baseline="0" dirty="0">
                <a:solidFill>
                  <a:schemeClr val="tx1"/>
                </a:solidFill>
                <a:latin typeface="Times New Roman" pitchFamily="-1" charset="0"/>
                <a:ea typeface="+mn-ea"/>
                <a:cs typeface="+mn-cs"/>
              </a:rPr>
              <a:t>format allows offsets no greater than 4 Kbytes (12 bits of offset information),</a:t>
            </a:r>
          </a:p>
          <a:p>
            <a:r>
              <a:rPr lang="en-US" sz="1200" b="0" i="0" u="none" strike="noStrike" kern="1200" baseline="0" dirty="0">
                <a:solidFill>
                  <a:schemeClr val="tx1"/>
                </a:solidFill>
                <a:latin typeface="Times New Roman" pitchFamily="-1" charset="0"/>
                <a:ea typeface="+mn-ea"/>
                <a:cs typeface="+mn-cs"/>
              </a:rPr>
              <a:t>and the offset must be positive. When a location is not in reach of this offset, the</a:t>
            </a:r>
          </a:p>
          <a:p>
            <a:r>
              <a:rPr lang="en-US" sz="1200" b="0" i="0" u="none" strike="noStrike" kern="1200" baseline="0" dirty="0">
                <a:solidFill>
                  <a:schemeClr val="tx1"/>
                </a:solidFill>
                <a:latin typeface="Times New Roman" pitchFamily="-1" charset="0"/>
                <a:ea typeface="+mn-ea"/>
                <a:cs typeface="+mn-cs"/>
              </a:rPr>
              <a:t>compiler must generate extra code to generate the needed address. This problem is</a:t>
            </a:r>
          </a:p>
          <a:p>
            <a:r>
              <a:rPr lang="en-US" sz="1200" b="0" i="0" u="none" strike="noStrike" kern="1200" baseline="0" dirty="0">
                <a:solidFill>
                  <a:schemeClr val="tx1"/>
                </a:solidFill>
                <a:latin typeface="Times New Roman" pitchFamily="-1" charset="0"/>
                <a:ea typeface="+mn-ea"/>
                <a:cs typeface="+mn-cs"/>
              </a:rPr>
              <a:t>especially apparent in dealing with stack frames that have local variables occupying</a:t>
            </a:r>
          </a:p>
          <a:p>
            <a:r>
              <a:rPr lang="en-US" sz="1200" b="0" i="0" u="none" strike="noStrike" kern="1200" baseline="0" dirty="0">
                <a:solidFill>
                  <a:schemeClr val="tx1"/>
                </a:solidFill>
                <a:latin typeface="Times New Roman" pitchFamily="-1" charset="0"/>
                <a:ea typeface="+mn-ea"/>
                <a:cs typeface="+mn-cs"/>
              </a:rPr>
              <a:t>in excess of 4 Kbytes. As [DEWA90] puts it, “generating code for the 370 is so painful</a:t>
            </a:r>
          </a:p>
          <a:p>
            <a:r>
              <a:rPr lang="en-US" sz="1200" b="0" i="0" u="none" strike="noStrike" kern="1200" baseline="0" dirty="0">
                <a:solidFill>
                  <a:schemeClr val="tx1"/>
                </a:solidFill>
                <a:latin typeface="Times New Roman" pitchFamily="-1" charset="0"/>
                <a:ea typeface="+mn-ea"/>
                <a:cs typeface="+mn-cs"/>
              </a:rPr>
              <a:t>as a result of that restriction that there have even been compilers for the 370 that</a:t>
            </a:r>
          </a:p>
          <a:p>
            <a:r>
              <a:rPr lang="en-US" sz="1200" b="0" i="0" u="none" strike="noStrike" kern="1200" baseline="0" dirty="0">
                <a:solidFill>
                  <a:schemeClr val="tx1"/>
                </a:solidFill>
                <a:latin typeface="Times New Roman" pitchFamily="-1" charset="0"/>
                <a:ea typeface="+mn-ea"/>
                <a:cs typeface="+mn-cs"/>
              </a:rPr>
              <a:t>simply chose to limit the size of the stack frame to 4 Kbytes.”</a:t>
            </a:r>
            <a:endParaRPr lang="en-US" sz="1200"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As can be seen, the encoding of the x86 instruction set is very complex. This has to do partly with the need to be backward compatible with the 8086 machine and partly with a desire on the part of the designers to provide every possible assistance to the compiler writer in producing efficient code. It is a matter of some debate whether an instruction set as complex as this is preferable to the opposite extreme of the RISC instruction sets.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 </a:t>
            </a:r>
            <a:endParaRPr lang="en-US" dirty="0"/>
          </a:p>
          <a:p>
            <a:endParaRPr lang="en-US" dirty="0"/>
          </a:p>
        </p:txBody>
      </p:sp>
    </p:spTree>
    <p:extLst>
      <p:ext uri="{BB962C8B-B14F-4D97-AF65-F5344CB8AC3E}">
        <p14:creationId xmlns:p14="http://schemas.microsoft.com/office/powerpoint/2010/main" val="22951307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r>
              <a:rPr lang="en-US" sz="1200" b="0" i="0" u="none" strike="noStrike" kern="1200" baseline="0" dirty="0">
                <a:solidFill>
                  <a:schemeClr val="tx1"/>
                </a:solidFill>
                <a:latin typeface="Times New Roman" pitchFamily="-1" charset="0"/>
                <a:ea typeface="+mn-ea"/>
                <a:cs typeface="+mn-cs"/>
              </a:rPr>
              <a:t> All instructions in the ARM architecture are 32 bits long and follow a regular format</a:t>
            </a:r>
          </a:p>
          <a:p>
            <a:r>
              <a:rPr lang="en-US" sz="1200" b="0" i="0" u="none" strike="noStrike" kern="1200" baseline="0" dirty="0">
                <a:solidFill>
                  <a:schemeClr val="tx1"/>
                </a:solidFill>
                <a:latin typeface="Times New Roman" pitchFamily="-1" charset="0"/>
                <a:ea typeface="+mn-ea"/>
                <a:cs typeface="+mn-cs"/>
              </a:rPr>
              <a:t>(Figure 14.10). The first four bits of an instruction are the condition code. As discussed</a:t>
            </a:r>
          </a:p>
          <a:p>
            <a:r>
              <a:rPr lang="en-US" sz="1200" b="0" i="0" u="none" strike="noStrike" kern="1200" baseline="0" dirty="0">
                <a:solidFill>
                  <a:schemeClr val="tx1"/>
                </a:solidFill>
                <a:latin typeface="Times New Roman" pitchFamily="-1" charset="0"/>
                <a:ea typeface="+mn-ea"/>
                <a:cs typeface="+mn-cs"/>
              </a:rPr>
              <a:t>in Chapter 13, virtually all ARM instructions can be conditionally executed.</a:t>
            </a:r>
          </a:p>
          <a:p>
            <a:r>
              <a:rPr lang="en-US" sz="1200" b="0" i="0" u="none" strike="noStrike" kern="1200" baseline="0" dirty="0">
                <a:solidFill>
                  <a:schemeClr val="tx1"/>
                </a:solidFill>
                <a:latin typeface="Times New Roman" pitchFamily="-1" charset="0"/>
                <a:ea typeface="+mn-ea"/>
                <a:cs typeface="+mn-cs"/>
              </a:rPr>
              <a:t>The next three bits specify the general type of instruction. For most instructions</a:t>
            </a:r>
          </a:p>
          <a:p>
            <a:r>
              <a:rPr lang="en-US" sz="1200" b="0" i="0" u="none" strike="noStrike" kern="1200" baseline="0" dirty="0">
                <a:solidFill>
                  <a:schemeClr val="tx1"/>
                </a:solidFill>
                <a:latin typeface="Times New Roman" pitchFamily="-1" charset="0"/>
                <a:ea typeface="+mn-ea"/>
                <a:cs typeface="+mn-cs"/>
              </a:rPr>
              <a:t>other than branch instructions, the next five bits constitute an </a:t>
            </a:r>
            <a:r>
              <a:rPr lang="en-US" sz="1200" b="0" i="0" u="none" strike="noStrike" kern="1200" baseline="0" dirty="0" err="1">
                <a:solidFill>
                  <a:schemeClr val="tx1"/>
                </a:solidFill>
                <a:latin typeface="Times New Roman" pitchFamily="-1" charset="0"/>
                <a:ea typeface="+mn-ea"/>
                <a:cs typeface="+mn-cs"/>
              </a:rPr>
              <a:t>opcode</a:t>
            </a:r>
            <a:r>
              <a:rPr lang="en-US" sz="1200" b="0" i="0" u="none" strike="noStrike" kern="1200" baseline="0" dirty="0">
                <a:solidFill>
                  <a:schemeClr val="tx1"/>
                </a:solidFill>
                <a:latin typeface="Times New Roman" pitchFamily="-1" charset="0"/>
                <a:ea typeface="+mn-ea"/>
                <a:cs typeface="+mn-cs"/>
              </a:rPr>
              <a:t> and/or modifier</a:t>
            </a:r>
          </a:p>
          <a:p>
            <a:r>
              <a:rPr lang="en-US" sz="1200" b="0" i="0" u="none" strike="noStrike" kern="1200" baseline="0" dirty="0">
                <a:solidFill>
                  <a:schemeClr val="tx1"/>
                </a:solidFill>
                <a:latin typeface="Times New Roman" pitchFamily="-1" charset="0"/>
                <a:ea typeface="+mn-ea"/>
                <a:cs typeface="+mn-cs"/>
              </a:rPr>
              <a:t>bits for the operation. The remaining 20 bits are for operand addressing. The regular</a:t>
            </a:r>
          </a:p>
          <a:p>
            <a:r>
              <a:rPr lang="en-US" sz="1200" b="0" i="0" u="none" strike="noStrike" kern="1200" baseline="0" dirty="0">
                <a:solidFill>
                  <a:schemeClr val="tx1"/>
                </a:solidFill>
                <a:latin typeface="Times New Roman" pitchFamily="-1" charset="0"/>
                <a:ea typeface="+mn-ea"/>
                <a:cs typeface="+mn-cs"/>
              </a:rPr>
              <a:t>structure of the instruction formats eases the job of the instruction decode units.</a:t>
            </a:r>
            <a:endParaRPr lang="en-US" dirty="0"/>
          </a:p>
        </p:txBody>
      </p:sp>
    </p:spTree>
    <p:extLst>
      <p:ext uri="{BB962C8B-B14F-4D97-AF65-F5344CB8AC3E}">
        <p14:creationId xmlns:p14="http://schemas.microsoft.com/office/powerpoint/2010/main" val="226040286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To achieve a greater range of immediate values, the data processing immediate format specifies both an immediate value and a rotate value. The 8-bit immediate value is expanded to 32 bits and then rotated right by a number of bits equal to twice the 4-bit rotate value. Several examples are shown in Figure 14.11. </a:t>
            </a:r>
            <a:endParaRPr lang="en-US" dirty="0"/>
          </a:p>
          <a:p>
            <a:endParaRPr lang="en-US" dirty="0"/>
          </a:p>
        </p:txBody>
      </p:sp>
    </p:spTree>
    <p:extLst>
      <p:ext uri="{BB962C8B-B14F-4D97-AF65-F5344CB8AC3E}">
        <p14:creationId xmlns:p14="http://schemas.microsoft.com/office/powerpoint/2010/main" val="304740379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92500" lnSpcReduction="20000"/>
          </a:bodyPr>
          <a:lstStyle/>
          <a:p>
            <a:r>
              <a:rPr lang="en-US" sz="1200" kern="1200" dirty="0">
                <a:solidFill>
                  <a:schemeClr val="tx1"/>
                </a:solidFill>
                <a:latin typeface="Times New Roman" pitchFamily="-1" charset="0"/>
                <a:ea typeface="+mn-ea"/>
                <a:cs typeface="+mn-cs"/>
              </a:rPr>
              <a:t>The Thumb instruction set is a re-encoded subset of the ARM instruction set. Thumb is designed to increase the performance of ARM implementations that use a 16-bit or narrower memory data bus and to allow better code density than provided by the ARM instruction set. The Thumb instruction set contains a subset of the ARM 32-bit instruction set recoded into 16-bit instructions. The savings is achieved in the following way: </a:t>
            </a:r>
            <a:endParaRPr lang="en-US" dirty="0"/>
          </a:p>
          <a:p>
            <a:endParaRPr lang="en-US" sz="1200" b="1" kern="1200" dirty="0">
              <a:solidFill>
                <a:schemeClr val="tx1"/>
              </a:solidFill>
              <a:latin typeface="Times New Roman" pitchFamily="-1" charset="0"/>
              <a:ea typeface="+mn-ea"/>
              <a:cs typeface="+mn-cs"/>
            </a:endParaRPr>
          </a:p>
          <a:p>
            <a:r>
              <a:rPr lang="en-US" sz="1200" b="0" kern="1200" dirty="0">
                <a:solidFill>
                  <a:schemeClr val="tx1"/>
                </a:solidFill>
                <a:latin typeface="Times New Roman" pitchFamily="-1" charset="0"/>
                <a:ea typeface="+mn-ea"/>
                <a:cs typeface="+mn-cs"/>
              </a:rPr>
              <a:t>1.  Thumb instructions are unconditional, so the condition code field is not used. Also, all Thumb arithmetic and logic instructions update the condition flags, so that the update-flag bit is not needed. Savings: 5 bits. </a:t>
            </a:r>
          </a:p>
          <a:p>
            <a:endParaRPr lang="en-US" sz="1200" b="0" kern="1200" dirty="0">
              <a:solidFill>
                <a:schemeClr val="tx1"/>
              </a:solidFill>
              <a:latin typeface="Times New Roman" pitchFamily="-1" charset="0"/>
              <a:ea typeface="+mn-ea"/>
              <a:cs typeface="+mn-cs"/>
            </a:endParaRPr>
          </a:p>
          <a:p>
            <a:r>
              <a:rPr lang="en-US" sz="1200" b="0" kern="1200" dirty="0">
                <a:solidFill>
                  <a:schemeClr val="tx1"/>
                </a:solidFill>
                <a:latin typeface="Times New Roman" pitchFamily="-1" charset="0"/>
                <a:ea typeface="+mn-ea"/>
                <a:cs typeface="+mn-cs"/>
              </a:rPr>
              <a:t>2.  Thumb has only a subset of the operations in the full instruction set and uses only a 2-bit opcode field, plus a 3-bit type field. Savings: 2 bits. </a:t>
            </a:r>
          </a:p>
          <a:p>
            <a:endParaRPr lang="en-US" sz="1200" b="0" kern="1200" dirty="0">
              <a:solidFill>
                <a:schemeClr val="tx1"/>
              </a:solidFill>
              <a:latin typeface="Times New Roman" pitchFamily="-1" charset="0"/>
              <a:ea typeface="+mn-ea"/>
              <a:cs typeface="+mn-cs"/>
            </a:endParaRPr>
          </a:p>
          <a:p>
            <a:r>
              <a:rPr lang="en-US" sz="1200" b="0" kern="1200" dirty="0">
                <a:solidFill>
                  <a:schemeClr val="tx1"/>
                </a:solidFill>
                <a:latin typeface="Times New Roman" pitchFamily="-1" charset="0"/>
                <a:ea typeface="+mn-ea"/>
                <a:cs typeface="+mn-cs"/>
              </a:rPr>
              <a:t>3.  The remaining savings of 9 bits comes from reductions in the operand specifications. For example, Thumb instructions reference only registers r0 through r7, so only 3 bits are required for register references, rather than 4 bits. Immediate values do not include a 4-bit rotate field. </a:t>
            </a:r>
          </a:p>
          <a:p>
            <a:endParaRPr lang="en-US" sz="1200" b="0" kern="1200" dirty="0">
              <a:solidFill>
                <a:schemeClr val="tx1"/>
              </a:solidFill>
              <a:latin typeface="Times New Roman" pitchFamily="-1" charset="0"/>
              <a:ea typeface="+mn-ea"/>
              <a:cs typeface="+mn-cs"/>
            </a:endParaRPr>
          </a:p>
          <a:p>
            <a:r>
              <a:rPr lang="en-US" sz="1200" b="0" kern="1200" dirty="0">
                <a:solidFill>
                  <a:schemeClr val="tx1"/>
                </a:solidFill>
                <a:latin typeface="Times New Roman" pitchFamily="-1" charset="0"/>
                <a:ea typeface="+mn-ea"/>
                <a:cs typeface="+mn-cs"/>
              </a:rPr>
              <a:t>The ARM processor can execute a program consisting of a mixture of Thumb </a:t>
            </a:r>
          </a:p>
          <a:p>
            <a:r>
              <a:rPr lang="en-US" sz="1200" b="0" kern="1200" dirty="0">
                <a:solidFill>
                  <a:schemeClr val="tx1"/>
                </a:solidFill>
                <a:latin typeface="Times New Roman" pitchFamily="-1" charset="0"/>
                <a:ea typeface="+mn-ea"/>
                <a:cs typeface="+mn-cs"/>
              </a:rPr>
              <a:t>instructions and 32-bit ARM instructions. A bit in the processor control register determines which type of instruction is currently being executed. Figure 14.12 shows an example. The figure shows both the general format and a specific instance of an instruction in both 16-bit and 32-bit formats. </a:t>
            </a:r>
            <a:endParaRPr lang="en-US" b="0" dirty="0"/>
          </a:p>
          <a:p>
            <a:endParaRPr lang="en-US" b="0" dirty="0"/>
          </a:p>
        </p:txBody>
      </p:sp>
    </p:spTree>
    <p:extLst>
      <p:ext uri="{BB962C8B-B14F-4D97-AF65-F5344CB8AC3E}">
        <p14:creationId xmlns:p14="http://schemas.microsoft.com/office/powerpoint/2010/main" val="324785852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Times New Roman" pitchFamily="-1" charset="0"/>
                <a:ea typeface="+mn-ea"/>
                <a:cs typeface="+mn-cs"/>
              </a:rPr>
              <a:t>With the introduction of the Thumb instruction set,</a:t>
            </a:r>
          </a:p>
          <a:p>
            <a:r>
              <a:rPr lang="en-US" sz="1200" b="0" i="0" u="none" strike="noStrike" kern="1200" baseline="0" dirty="0">
                <a:solidFill>
                  <a:schemeClr val="tx1"/>
                </a:solidFill>
                <a:latin typeface="Times New Roman" pitchFamily="-1" charset="0"/>
                <a:ea typeface="+mn-ea"/>
                <a:cs typeface="+mn-cs"/>
              </a:rPr>
              <a:t>the user was required to blend instruction sets by compiling performance critical</a:t>
            </a:r>
          </a:p>
          <a:p>
            <a:r>
              <a:rPr lang="en-US" sz="1200" b="0" i="0" u="none" strike="noStrike" kern="1200" baseline="0" dirty="0">
                <a:solidFill>
                  <a:schemeClr val="tx1"/>
                </a:solidFill>
                <a:latin typeface="Times New Roman" pitchFamily="-1" charset="0"/>
                <a:ea typeface="+mn-ea"/>
                <a:cs typeface="+mn-cs"/>
              </a:rPr>
              <a:t>code to ARM and the rest to Thumb. This manual code blending requires additional</a:t>
            </a:r>
          </a:p>
          <a:p>
            <a:r>
              <a:rPr lang="en-US" sz="1200" b="0" i="0" u="none" strike="noStrike" kern="1200" baseline="0" dirty="0">
                <a:solidFill>
                  <a:schemeClr val="tx1"/>
                </a:solidFill>
                <a:latin typeface="Times New Roman" pitchFamily="-1" charset="0"/>
                <a:ea typeface="+mn-ea"/>
                <a:cs typeface="+mn-cs"/>
              </a:rPr>
              <a:t>effort and it is difficult to achieve optimal results. To overcome these problems,</a:t>
            </a:r>
          </a:p>
          <a:p>
            <a:r>
              <a:rPr lang="en-US" sz="1200" b="0" i="0" u="none" strike="noStrike" kern="1200" baseline="0" dirty="0">
                <a:solidFill>
                  <a:schemeClr val="tx1"/>
                </a:solidFill>
                <a:latin typeface="Times New Roman" pitchFamily="-1" charset="0"/>
                <a:ea typeface="+mn-ea"/>
                <a:cs typeface="+mn-cs"/>
              </a:rPr>
              <a:t>ARM developed the Thumb-2 instruction set, which is the only instruction set</a:t>
            </a:r>
          </a:p>
          <a:p>
            <a:r>
              <a:rPr lang="en-US" sz="1200" b="0" i="0" u="none" strike="noStrike" kern="1200" baseline="0" dirty="0">
                <a:solidFill>
                  <a:schemeClr val="tx1"/>
                </a:solidFill>
                <a:latin typeface="Times New Roman" pitchFamily="-1" charset="0"/>
                <a:ea typeface="+mn-ea"/>
                <a:cs typeface="+mn-cs"/>
              </a:rPr>
              <a:t>available on the Cortex-M microcontroller products.</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Thumb-2 is a major enhancement to the Thumb instruction set architecture (ISA).</a:t>
            </a:r>
          </a:p>
          <a:p>
            <a:r>
              <a:rPr lang="en-US" sz="1200" b="0" i="0" u="none" strike="noStrike" kern="1200" baseline="0" dirty="0">
                <a:solidFill>
                  <a:schemeClr val="tx1"/>
                </a:solidFill>
                <a:latin typeface="Times New Roman" pitchFamily="-1" charset="0"/>
                <a:ea typeface="+mn-ea"/>
                <a:cs typeface="+mn-cs"/>
              </a:rPr>
              <a:t>It introduces 32-bit instructions that can be intermixed freely with the older 16-bit</a:t>
            </a:r>
          </a:p>
          <a:p>
            <a:r>
              <a:rPr lang="en-US" sz="1200" b="0" i="0" u="none" strike="noStrike" kern="1200" baseline="0" dirty="0">
                <a:solidFill>
                  <a:schemeClr val="tx1"/>
                </a:solidFill>
                <a:latin typeface="Times New Roman" pitchFamily="-1" charset="0"/>
                <a:ea typeface="+mn-ea"/>
                <a:cs typeface="+mn-cs"/>
              </a:rPr>
              <a:t>Thumb instructions. These new 32-bit instructions cover almost all the functionality</a:t>
            </a:r>
          </a:p>
          <a:p>
            <a:r>
              <a:rPr lang="en-US" sz="1200" b="0" i="0" u="none" strike="noStrike" kern="1200" baseline="0" dirty="0">
                <a:solidFill>
                  <a:schemeClr val="tx1"/>
                </a:solidFill>
                <a:latin typeface="Times New Roman" pitchFamily="-1" charset="0"/>
                <a:ea typeface="+mn-ea"/>
                <a:cs typeface="+mn-cs"/>
              </a:rPr>
              <a:t>of the ARM instruction set. The most important difference between the Thumb ISA</a:t>
            </a:r>
          </a:p>
          <a:p>
            <a:r>
              <a:rPr lang="en-US" sz="1200" b="0" i="0" u="none" strike="noStrike" kern="1200" baseline="0" dirty="0">
                <a:solidFill>
                  <a:schemeClr val="tx1"/>
                </a:solidFill>
                <a:latin typeface="Times New Roman" pitchFamily="-1" charset="0"/>
                <a:ea typeface="+mn-ea"/>
                <a:cs typeface="+mn-cs"/>
              </a:rPr>
              <a:t>and the ARM ISA is that most 32-bit Thumb instructions are unconditional, whereas</a:t>
            </a:r>
          </a:p>
          <a:p>
            <a:r>
              <a:rPr lang="en-US" sz="1200" b="0" i="0" u="none" strike="noStrike" kern="1200" baseline="0" dirty="0">
                <a:solidFill>
                  <a:schemeClr val="tx1"/>
                </a:solidFill>
                <a:latin typeface="Times New Roman" pitchFamily="-1" charset="0"/>
                <a:ea typeface="+mn-ea"/>
                <a:cs typeface="+mn-cs"/>
              </a:rPr>
              <a:t>almost all ARM instructions can be conditional. However, Thumb-2 introduces a new</a:t>
            </a:r>
          </a:p>
          <a:p>
            <a:r>
              <a:rPr lang="en-US" sz="1200" b="0" i="0" u="none" strike="noStrike" kern="1200" baseline="0" dirty="0">
                <a:solidFill>
                  <a:schemeClr val="tx1"/>
                </a:solidFill>
                <a:latin typeface="Times New Roman" pitchFamily="-1" charset="0"/>
                <a:ea typeface="+mn-ea"/>
                <a:cs typeface="+mn-cs"/>
              </a:rPr>
              <a:t>If-Then (IT) instruction that delivers much of the functionality of the condition field</a:t>
            </a:r>
          </a:p>
          <a:p>
            <a:r>
              <a:rPr lang="en-US" sz="1200" b="0" i="0" u="none" strike="noStrike" kern="1200" baseline="0" dirty="0">
                <a:solidFill>
                  <a:schemeClr val="tx1"/>
                </a:solidFill>
                <a:latin typeface="Times New Roman" pitchFamily="-1" charset="0"/>
                <a:ea typeface="+mn-ea"/>
                <a:cs typeface="+mn-cs"/>
              </a:rPr>
              <a:t>in ARM instructions. Thumb-2 delivers overall code density comparable with Thumb,</a:t>
            </a:r>
          </a:p>
          <a:p>
            <a:r>
              <a:rPr lang="en-US" sz="1200" b="0" i="0" u="none" strike="noStrike" kern="1200" baseline="0" dirty="0">
                <a:solidFill>
                  <a:schemeClr val="tx1"/>
                </a:solidFill>
                <a:latin typeface="Times New Roman" pitchFamily="-1" charset="0"/>
                <a:ea typeface="+mn-ea"/>
                <a:cs typeface="+mn-cs"/>
              </a:rPr>
              <a:t>together with the performance levels associated with the ARM ISA. Before Thumb-2,</a:t>
            </a:r>
          </a:p>
          <a:p>
            <a:r>
              <a:rPr lang="en-US" sz="1200" b="0" i="0" u="none" strike="noStrike" kern="1200" baseline="0" dirty="0">
                <a:solidFill>
                  <a:schemeClr val="tx1"/>
                </a:solidFill>
                <a:latin typeface="Times New Roman" pitchFamily="-1" charset="0"/>
                <a:ea typeface="+mn-ea"/>
                <a:cs typeface="+mn-cs"/>
              </a:rPr>
              <a:t>developers had to choose between Thumb for size and ARM for performance.</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[ROBI07] reports on an analysis of the Thumb-2 instruction set compared</a:t>
            </a:r>
          </a:p>
          <a:p>
            <a:r>
              <a:rPr lang="en-US" sz="1200" b="0" i="0" u="none" strike="noStrike" kern="1200" baseline="0" dirty="0">
                <a:solidFill>
                  <a:schemeClr val="tx1"/>
                </a:solidFill>
                <a:latin typeface="Times New Roman" pitchFamily="-1" charset="0"/>
                <a:ea typeface="+mn-ea"/>
                <a:cs typeface="+mn-cs"/>
              </a:rPr>
              <a:t>with the ARM and original Thumb instruction sets. The analysis involved compiling</a:t>
            </a:r>
          </a:p>
          <a:p>
            <a:r>
              <a:rPr lang="en-US" sz="1200" b="0" i="0" u="none" strike="noStrike" kern="1200" baseline="0" dirty="0">
                <a:solidFill>
                  <a:schemeClr val="tx1"/>
                </a:solidFill>
                <a:latin typeface="Times New Roman" pitchFamily="-1" charset="0"/>
                <a:ea typeface="+mn-ea"/>
                <a:cs typeface="+mn-cs"/>
              </a:rPr>
              <a:t>and executing the Embedded Microprocessor Benchmark Consortium (EEMBC)</a:t>
            </a:r>
          </a:p>
          <a:p>
            <a:r>
              <a:rPr lang="en-US" sz="1200" b="0" i="0" u="none" strike="noStrike" kern="1200" baseline="0" dirty="0">
                <a:solidFill>
                  <a:schemeClr val="tx1"/>
                </a:solidFill>
                <a:latin typeface="Times New Roman" pitchFamily="-1" charset="0"/>
                <a:ea typeface="+mn-ea"/>
                <a:cs typeface="+mn-cs"/>
              </a:rPr>
              <a:t>benchmark suite using the three instruction sets, with the following results:</a:t>
            </a:r>
          </a:p>
          <a:p>
            <a:endParaRPr lang="en-US" sz="1200" b="1" i="0" u="none" strike="noStrike" kern="1200" baseline="0" dirty="0">
              <a:solidFill>
                <a:schemeClr val="tx1"/>
              </a:solidFill>
              <a:latin typeface="Times New Roman" pitchFamily="-1" charset="0"/>
              <a:ea typeface="+mn-ea"/>
              <a:cs typeface="+mn-cs"/>
            </a:endParaRPr>
          </a:p>
          <a:p>
            <a:r>
              <a:rPr lang="en-US" sz="1200" b="1" i="0" u="none" strike="noStrike" kern="1200" baseline="0" dirty="0">
                <a:solidFill>
                  <a:schemeClr val="tx1"/>
                </a:solidFill>
                <a:latin typeface="Times New Roman" pitchFamily="-1" charset="0"/>
                <a:ea typeface="+mn-ea"/>
                <a:cs typeface="+mn-cs"/>
              </a:rPr>
              <a:t>■ </a:t>
            </a:r>
            <a:r>
              <a:rPr lang="en-US" sz="1200" b="0" i="0" u="none" strike="noStrike" kern="1200" baseline="0" dirty="0">
                <a:solidFill>
                  <a:schemeClr val="tx1"/>
                </a:solidFill>
                <a:latin typeface="Times New Roman" pitchFamily="-1" charset="0"/>
                <a:ea typeface="+mn-ea"/>
                <a:cs typeface="+mn-cs"/>
              </a:rPr>
              <a:t> With compilers optimized for performance, Thumb-2 size was 26% smaller than ARM, and slightly larger than original Thumb.</a:t>
            </a:r>
          </a:p>
          <a:p>
            <a:endParaRPr lang="en-US" sz="1200" b="1" i="0" u="none" strike="noStrike" kern="1200" baseline="0" dirty="0">
              <a:solidFill>
                <a:schemeClr val="tx1"/>
              </a:solidFill>
              <a:latin typeface="Times New Roman" pitchFamily="-1" charset="0"/>
              <a:ea typeface="+mn-ea"/>
              <a:cs typeface="+mn-cs"/>
            </a:endParaRPr>
          </a:p>
          <a:p>
            <a:r>
              <a:rPr lang="en-US" sz="1200" b="1" i="0" u="none" strike="noStrike" kern="1200" baseline="0" dirty="0">
                <a:solidFill>
                  <a:schemeClr val="tx1"/>
                </a:solidFill>
                <a:latin typeface="Times New Roman" pitchFamily="-1" charset="0"/>
                <a:ea typeface="+mn-ea"/>
                <a:cs typeface="+mn-cs"/>
              </a:rPr>
              <a:t>■ </a:t>
            </a:r>
            <a:r>
              <a:rPr lang="en-US" sz="1200" b="0" i="0" u="none" strike="noStrike" kern="1200" baseline="0" dirty="0">
                <a:solidFill>
                  <a:schemeClr val="tx1"/>
                </a:solidFill>
                <a:latin typeface="Times New Roman" pitchFamily="-1" charset="0"/>
                <a:ea typeface="+mn-ea"/>
                <a:cs typeface="+mn-cs"/>
              </a:rPr>
              <a:t> With compilers optimized for space, Thumb-2 size was 32% smaller than ARM, and slightly smaller than original Thumb.</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With compilers optimized for performance, Thumb-2 performance on the</a:t>
            </a:r>
          </a:p>
          <a:p>
            <a:r>
              <a:rPr lang="en-US" sz="1200" b="0" i="0" u="none" strike="noStrike" kern="1200" baseline="0" dirty="0">
                <a:solidFill>
                  <a:schemeClr val="tx1"/>
                </a:solidFill>
                <a:latin typeface="Times New Roman" pitchFamily="-1" charset="0"/>
                <a:ea typeface="+mn-ea"/>
                <a:cs typeface="+mn-cs"/>
              </a:rPr>
              <a:t>benchmark suite was 98% of ARM performance and 125% of original Thumb performance.</a:t>
            </a:r>
          </a:p>
          <a:p>
            <a:endParaRPr lang="en-US" sz="1200" b="0" i="0" u="none" strike="noStrike" kern="1200" baseline="0" dirty="0">
              <a:solidFill>
                <a:schemeClr val="tx1"/>
              </a:solidFill>
              <a:latin typeface="Times New Roman" pitchFamily="-1" charset="0"/>
              <a:ea typeface="+mn-ea"/>
              <a:cs typeface="+mn-cs"/>
            </a:endParaRPr>
          </a:p>
          <a:p>
            <a:r>
              <a:rPr lang="en-US" sz="1200" b="0" i="0" u="none" strike="noStrike" kern="1200" baseline="0" dirty="0">
                <a:solidFill>
                  <a:schemeClr val="tx1"/>
                </a:solidFill>
                <a:latin typeface="Times New Roman" pitchFamily="-1" charset="0"/>
                <a:ea typeface="+mn-ea"/>
                <a:cs typeface="+mn-cs"/>
              </a:rPr>
              <a:t>These results confirm that Thumb-2 meets its design objectives.</a:t>
            </a:r>
          </a:p>
          <a:p>
            <a:endParaRPr lang="en-US" dirty="0"/>
          </a:p>
        </p:txBody>
      </p:sp>
    </p:spTree>
    <p:extLst>
      <p:ext uri="{BB962C8B-B14F-4D97-AF65-F5344CB8AC3E}">
        <p14:creationId xmlns:p14="http://schemas.microsoft.com/office/powerpoint/2010/main" val="37181407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Times New Roman" pitchFamily="-1" charset="0"/>
                <a:ea typeface="+mn-ea"/>
                <a:cs typeface="+mn-cs"/>
              </a:rPr>
              <a:t> Figure 14.13 shows how the new 32-bit Thumb instructions are encoded. The</a:t>
            </a:r>
          </a:p>
          <a:p>
            <a:r>
              <a:rPr lang="en-US" sz="1200" b="0" i="0" u="none" strike="noStrike" kern="1200" baseline="0" dirty="0">
                <a:solidFill>
                  <a:schemeClr val="tx1"/>
                </a:solidFill>
                <a:latin typeface="Times New Roman" pitchFamily="-1" charset="0"/>
                <a:ea typeface="+mn-ea"/>
                <a:cs typeface="+mn-cs"/>
              </a:rPr>
              <a:t>encoding is compatible with the existing Thumb unconditional branch instructions,</a:t>
            </a:r>
          </a:p>
          <a:p>
            <a:r>
              <a:rPr lang="en-US" sz="1200" b="0" i="0" u="none" strike="noStrike" kern="1200" baseline="0" dirty="0">
                <a:solidFill>
                  <a:schemeClr val="tx1"/>
                </a:solidFill>
                <a:latin typeface="Times New Roman" pitchFamily="-1" charset="0"/>
                <a:ea typeface="+mn-ea"/>
                <a:cs typeface="+mn-cs"/>
              </a:rPr>
              <a:t>which has the bit pattern 11100 in the five leftmost bits of the instruction. No other</a:t>
            </a:r>
          </a:p>
          <a:p>
            <a:r>
              <a:rPr lang="en-US" sz="1200" b="0" i="0" u="none" strike="noStrike" kern="1200" baseline="0" dirty="0">
                <a:solidFill>
                  <a:schemeClr val="tx1"/>
                </a:solidFill>
                <a:latin typeface="Times New Roman" pitchFamily="-1" charset="0"/>
                <a:ea typeface="+mn-ea"/>
                <a:cs typeface="+mn-cs"/>
              </a:rPr>
              <a:t>16-bit instruction begins with the pattern 111 in the three leftmost bits, so the bit</a:t>
            </a:r>
          </a:p>
          <a:p>
            <a:r>
              <a:rPr lang="en-US" sz="1200" b="0" i="0" u="none" strike="noStrike" kern="1200" baseline="0" dirty="0">
                <a:solidFill>
                  <a:schemeClr val="tx1"/>
                </a:solidFill>
                <a:latin typeface="Times New Roman" pitchFamily="-1" charset="0"/>
                <a:ea typeface="+mn-ea"/>
                <a:cs typeface="+mn-cs"/>
              </a:rPr>
              <a:t>patterns 11101, 11110, and 11111 indicate that this is a 32-bit Thumb instruction.</a:t>
            </a:r>
            <a:endParaRPr lang="en-US" dirty="0"/>
          </a:p>
        </p:txBody>
      </p:sp>
    </p:spTree>
    <p:extLst>
      <p:ext uri="{BB962C8B-B14F-4D97-AF65-F5344CB8AC3E}">
        <p14:creationId xmlns:p14="http://schemas.microsoft.com/office/powerpoint/2010/main" val="98616078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9F2598D2-2ED8-8547-B4B7-C382E9B8AC9E}" type="slidenum">
              <a:rPr lang="en-US"/>
              <a:pPr/>
              <a:t>84</a:t>
            </a:fld>
            <a:endParaRPr lang="en-US" dirty="0"/>
          </a:p>
        </p:txBody>
      </p:sp>
      <p:sp>
        <p:nvSpPr>
          <p:cNvPr id="65538" name="Rectangle 2"/>
          <p:cNvSpPr>
            <a:spLocks noGrp="1" noRot="1" noChangeAspect="1" noChangeArrowheads="1" noTextEdit="1"/>
          </p:cNvSpPr>
          <p:nvPr>
            <p:ph type="sldImg"/>
          </p:nvPr>
        </p:nvSpPr>
        <p:spPr>
          <a:xfrm>
            <a:off x="1150938" y="692150"/>
            <a:ext cx="4556125" cy="3416300"/>
          </a:xfrm>
          <a:ln/>
        </p:spPr>
      </p:sp>
      <p:sp>
        <p:nvSpPr>
          <p:cNvPr id="65539" name="Rectangle 3"/>
          <p:cNvSpPr>
            <a:spLocks noGrp="1" noChangeArrowheads="1"/>
          </p:cNvSpPr>
          <p:nvPr>
            <p:ph type="body" idx="1"/>
          </p:nvPr>
        </p:nvSpPr>
        <p:spPr/>
        <p:txBody>
          <a:bodyPr/>
          <a:lstStyle/>
          <a:p>
            <a:r>
              <a:rPr lang="en-GB" dirty="0"/>
              <a:t>Chapter 13 summary.</a:t>
            </a:r>
          </a:p>
        </p:txBody>
      </p:sp>
    </p:spTree>
    <p:extLst>
      <p:ext uri="{BB962C8B-B14F-4D97-AF65-F5344CB8AC3E}">
        <p14:creationId xmlns:p14="http://schemas.microsoft.com/office/powerpoint/2010/main" val="209736923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9F2598D2-2ED8-8547-B4B7-C382E9B8AC9E}" type="slidenum">
              <a:rPr lang="en-US"/>
              <a:pPr/>
              <a:t>85</a:t>
            </a:fld>
            <a:endParaRPr lang="en-US" dirty="0"/>
          </a:p>
        </p:txBody>
      </p:sp>
      <p:sp>
        <p:nvSpPr>
          <p:cNvPr id="65538" name="Rectangle 2"/>
          <p:cNvSpPr>
            <a:spLocks noGrp="1" noRot="1" noChangeAspect="1" noChangeArrowheads="1" noTextEdit="1"/>
          </p:cNvSpPr>
          <p:nvPr>
            <p:ph type="sldImg"/>
          </p:nvPr>
        </p:nvSpPr>
        <p:spPr>
          <a:xfrm>
            <a:off x="1150938" y="692150"/>
            <a:ext cx="4556125" cy="3416300"/>
          </a:xfrm>
          <a:ln/>
        </p:spPr>
      </p:sp>
      <p:sp>
        <p:nvSpPr>
          <p:cNvPr id="65539" name="Rectangle 3"/>
          <p:cNvSpPr>
            <a:spLocks noGrp="1" noChangeArrowheads="1"/>
          </p:cNvSpPr>
          <p:nvPr>
            <p:ph type="body" idx="1"/>
          </p:nvPr>
        </p:nvSpPr>
        <p:spPr/>
        <p:txBody>
          <a:bodyPr/>
          <a:lstStyle/>
          <a:p>
            <a:r>
              <a:rPr lang="en-GB" dirty="0"/>
              <a:t>Chapter 14 summary.</a:t>
            </a:r>
          </a:p>
        </p:txBody>
      </p:sp>
    </p:spTree>
    <p:extLst>
      <p:ext uri="{BB962C8B-B14F-4D97-AF65-F5344CB8AC3E}">
        <p14:creationId xmlns:p14="http://schemas.microsoft.com/office/powerpoint/2010/main" val="9462928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Shape 17"/>
        <p:cNvGrpSpPr/>
        <p:nvPr/>
      </p:nvGrpSpPr>
      <p:grpSpPr>
        <a:xfrm>
          <a:off x="0" y="0"/>
          <a:ext cx="0" cy="0"/>
          <a:chOff x="0" y="0"/>
          <a:chExt cx="0" cy="0"/>
        </a:xfrm>
      </p:grpSpPr>
      <p:sp>
        <p:nvSpPr>
          <p:cNvPr id="4" name="Shape 18"/>
          <p:cNvSpPr>
            <a:spLocks noChangeArrowheads="1"/>
          </p:cNvSpPr>
          <p:nvPr/>
        </p:nvSpPr>
        <p:spPr bwMode="auto">
          <a:xfrm>
            <a:off x="0" y="0"/>
            <a:ext cx="9144000" cy="3886200"/>
          </a:xfrm>
          <a:prstGeom prst="rect">
            <a:avLst/>
          </a:prstGeom>
          <a:solidFill>
            <a:srgbClr val="007FA3"/>
          </a:solidFill>
          <a:ln w="25400">
            <a:solidFill>
              <a:srgbClr val="007FA3"/>
            </a:solidFill>
            <a:round/>
            <a:headEnd/>
            <a:tailEnd/>
          </a:ln>
        </p:spPr>
        <p:txBody>
          <a:bodyPr lIns="91425" tIns="45700" rIns="91425" bIns="45700" anchor="ct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Arial" panose="020B0604020202020204" pitchFamily="34" charset="0"/>
              <a:ea typeface="ヒラギノ角ゴ Pro W3" pitchFamily="1" charset="-128"/>
              <a:cs typeface="Arial" panose="020B0604020202020204" pitchFamily="34" charset="0"/>
              <a:sym typeface="Arial" panose="020B0604020202020204" pitchFamily="34" charset="0"/>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a:lstStyle>
            <a:lvl1pPr marL="0" marR="0" lvl="0" indent="0" algn="l" rtl="0">
              <a:spcBef>
                <a:spcPts val="0"/>
              </a:spcBef>
              <a:buClr>
                <a:srgbClr val="007FA3"/>
              </a:buClr>
              <a:buFont typeface="Arial"/>
              <a:buNone/>
              <a:defRPr sz="18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5" name="Shape 21"/>
          <p:cNvSpPr txBox="1">
            <a:spLocks noGrp="1"/>
          </p:cNvSpPr>
          <p:nvPr>
            <p:ph type="ftr" idx="10"/>
          </p:nvPr>
        </p:nvSpPr>
        <p:spPr/>
        <p:txBody>
          <a:bodyPr/>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6" name="Shape 22"/>
          <p:cNvSpPr txBox="1">
            <a:spLocks noGrp="1"/>
          </p:cNvSpPr>
          <p:nvPr>
            <p:ph type="dt" idx="11"/>
          </p:nvPr>
        </p:nvSpPr>
        <p:spPr/>
        <p:txBody>
          <a:bodyPr/>
          <a:lstStyle>
            <a:lvl1pPr marL="0" marR="0" lvl="0" indent="0" algn="r" rtl="0">
              <a:spcBef>
                <a:spcPts val="0"/>
              </a:spcBef>
              <a:buNone/>
              <a:defRPr sz="900" b="0" i="0" u="none" strike="noStrike" cap="none">
                <a:solidFill>
                  <a:srgbClr val="FFFFFF"/>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7" name="Shape 23"/>
          <p:cNvSpPr txBox="1">
            <a:spLocks noGrp="1"/>
          </p:cNvSpPr>
          <p:nvPr>
            <p:ph type="sldNum" idx="12"/>
          </p:nvPr>
        </p:nvSpPr>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BE14EDEC-0104-4E70-9686-A570F422F167}"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42168469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Shape 24"/>
        <p:cNvGrpSpPr/>
        <p:nvPr/>
      </p:nvGrpSpPr>
      <p:grpSpPr>
        <a:xfrm>
          <a:off x="0" y="0"/>
          <a:ext cx="0" cy="0"/>
          <a:chOff x="0" y="0"/>
          <a:chExt cx="0" cy="0"/>
        </a:xfrm>
      </p:grpSpPr>
      <p:sp>
        <p:nvSpPr>
          <p:cNvPr id="25" name="Shape 25"/>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6" name="Shape 26"/>
          <p:cNvSpPr txBox="1">
            <a:spLocks noGrp="1"/>
          </p:cNvSpPr>
          <p:nvPr>
            <p:ph type="body" idx="1"/>
          </p:nvPr>
        </p:nvSpPr>
        <p:spPr>
          <a:xfrm>
            <a:off x="457200" y="1600200"/>
            <a:ext cx="8229600" cy="4525963"/>
          </a:xfrm>
          <a:prstGeom prst="rect">
            <a:avLst/>
          </a:prstGeom>
          <a:noFill/>
          <a:ln>
            <a:noFill/>
          </a:ln>
        </p:spPr>
        <p:txBody>
          <a:bodyPr/>
          <a:lstStyle>
            <a:lvl1pPr marL="256032" marR="0" lvl="0" indent="-154432" algn="l" rtl="0">
              <a:spcBef>
                <a:spcPts val="1500"/>
              </a:spcBef>
              <a:buClr>
                <a:srgbClr val="007FA3"/>
              </a:buClr>
              <a:buSzPct val="100000"/>
              <a:buFont typeface="Arial"/>
              <a:buChar char="•"/>
              <a:defRPr sz="24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4"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5"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6"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F5A73AF7-22FE-4915-9687-D7E877768588}"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35704808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anchor="t"/>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anchor="b"/>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6" name="Shape 42"/>
          <p:cNvSpPr txBox="1">
            <a:spLocks noGrp="1"/>
          </p:cNvSpPr>
          <p:nvPr>
            <p:ph type="ftr" idx="10"/>
          </p:nvPr>
        </p:nvSpPr>
        <p:spPr>
          <a:xfrm>
            <a:off x="93663" y="6165850"/>
            <a:ext cx="8596312" cy="234950"/>
          </a:xfrm>
        </p:spPr>
        <p:txBody>
          <a:bodyPr/>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7" name="Shape 43"/>
          <p:cNvSpPr txBox="1">
            <a:spLocks noGrp="1"/>
          </p:cNvSpPr>
          <p:nvPr>
            <p:ph type="dt" idx="11"/>
          </p:nvPr>
        </p:nvSpPr>
        <p:spPr/>
        <p:txBody>
          <a:bodyPr/>
          <a:lstStyle>
            <a:lvl1pPr marL="0" marR="0" lvl="0" indent="0" algn="r" rtl="0">
              <a:spcBef>
                <a:spcPts val="0"/>
              </a:spcBef>
              <a:buNone/>
              <a:defRPr sz="900" b="0" i="0" u="none" strike="noStrike" cap="none">
                <a:solidFill>
                  <a:srgbClr val="FFFFFF"/>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8" name="Shape 44"/>
          <p:cNvSpPr txBox="1">
            <a:spLocks noGrp="1"/>
          </p:cNvSpPr>
          <p:nvPr>
            <p:ph type="sldNum" idx="12"/>
          </p:nvPr>
        </p:nvSpPr>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33DA44F4-1B99-478F-9B55-2C5CC45829F7}"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34603474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arning Objectives">
    <p:spTree>
      <p:nvGrpSpPr>
        <p:cNvPr id="1" name="Shape 47"/>
        <p:cNvGrpSpPr/>
        <p:nvPr/>
      </p:nvGrpSpPr>
      <p:grpSpPr>
        <a:xfrm>
          <a:off x="0" y="0"/>
          <a:ext cx="0" cy="0"/>
          <a:chOff x="0" y="0"/>
          <a:chExt cx="0" cy="0"/>
        </a:xfrm>
      </p:grpSpPr>
      <p:sp>
        <p:nvSpPr>
          <p:cNvPr id="48" name="Shape 48"/>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49" name="Shape 49"/>
          <p:cNvSpPr txBox="1">
            <a:spLocks noGrp="1"/>
          </p:cNvSpPr>
          <p:nvPr>
            <p:ph type="body" idx="1"/>
          </p:nvPr>
        </p:nvSpPr>
        <p:spPr>
          <a:xfrm>
            <a:off x="457200" y="1600200"/>
            <a:ext cx="8229600" cy="4525963"/>
          </a:xfrm>
          <a:prstGeom prst="rect">
            <a:avLst/>
          </a:prstGeom>
          <a:noFill/>
          <a:ln>
            <a:noFill/>
          </a:ln>
        </p:spPr>
        <p:txBody>
          <a:bodyPr/>
          <a:lstStyle>
            <a:lvl1pPr marL="118871" marR="0" lvl="0" indent="-93471" algn="l" rtl="0">
              <a:spcBef>
                <a:spcPts val="1500"/>
              </a:spcBef>
              <a:buClr>
                <a:srgbClr val="007FA3"/>
              </a:buClr>
              <a:buSzPct val="25000"/>
              <a:buFont typeface="Arial"/>
              <a:buChar char="•"/>
              <a:defRPr sz="1600" b="0" i="0" u="none" strike="noStrike" cap="none">
                <a:solidFill>
                  <a:schemeClr val="dk1"/>
                </a:solidFill>
                <a:latin typeface="Arial"/>
                <a:ea typeface="Arial"/>
                <a:cs typeface="Arial"/>
                <a:sym typeface="Arial"/>
              </a:defRPr>
            </a:lvl1pPr>
            <a:lvl2pPr marL="569913" marR="0" lvl="1" indent="-188912"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4"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5"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6"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42E91456-BDEE-4569-92BC-96FB5C01DFEB}"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10255257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28600"/>
            <a:ext cx="8229600" cy="1066799"/>
          </a:xfrm>
          <a:prstGeom prst="rect">
            <a:avLst/>
          </a:prstGeom>
          <a:noFill/>
          <a:ln>
            <a:noFill/>
          </a:ln>
        </p:spPr>
        <p:txBody>
          <a:bodyPr anchor="t"/>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5" name="Shape 55"/>
          <p:cNvSpPr txBox="1">
            <a:spLocks noGrp="1"/>
          </p:cNvSpPr>
          <p:nvPr>
            <p:ph type="body" idx="1"/>
          </p:nvPr>
        </p:nvSpPr>
        <p:spPr>
          <a:xfrm>
            <a:off x="457200" y="5368160"/>
            <a:ext cx="8229600" cy="916856"/>
          </a:xfrm>
          <a:prstGeom prst="rect">
            <a:avLst/>
          </a:prstGeom>
          <a:noFill/>
          <a:ln>
            <a:noFill/>
          </a:ln>
        </p:spPr>
        <p:txBody>
          <a:bodyPr anchor="b"/>
          <a:lstStyle>
            <a:lvl1pPr marL="0" marR="0" lvl="0" indent="0" algn="l" rtl="0">
              <a:spcBef>
                <a:spcPts val="0"/>
              </a:spcBef>
              <a:buClr>
                <a:srgbClr val="007FA3"/>
              </a:buClr>
              <a:buFont typeface="Arial"/>
              <a:buNone/>
              <a:defRPr sz="8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 name="Shape 56"/>
          <p:cNvSpPr txBox="1">
            <a:spLocks noGrp="1"/>
          </p:cNvSpPr>
          <p:nvPr>
            <p:ph type="ftr" idx="10"/>
          </p:nvPr>
        </p:nvSpPr>
        <p:spPr/>
        <p:txBody>
          <a:bodyPr/>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5" name="Shape 57"/>
          <p:cNvSpPr txBox="1">
            <a:spLocks noGrp="1"/>
          </p:cNvSpPr>
          <p:nvPr>
            <p:ph type="dt" idx="11"/>
          </p:nvPr>
        </p:nvSpPr>
        <p:spPr/>
        <p:txBody>
          <a:bodyPr/>
          <a:lstStyle>
            <a:lvl1pPr marL="0" marR="0" lvl="0" indent="0" algn="r" rtl="0">
              <a:spcBef>
                <a:spcPts val="0"/>
              </a:spcBef>
              <a:buNone/>
              <a:defRPr sz="9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000000"/>
              </a:solidFill>
              <a:effectLst/>
              <a:uLnTx/>
              <a:uFillTx/>
              <a:latin typeface="Arial"/>
              <a:cs typeface="Arial"/>
              <a:sym typeface="Arial"/>
            </a:endParaRPr>
          </a:p>
        </p:txBody>
      </p:sp>
      <p:sp>
        <p:nvSpPr>
          <p:cNvPr id="6" name="Shape 58"/>
          <p:cNvSpPr txBox="1">
            <a:spLocks noGrp="1"/>
          </p:cNvSpPr>
          <p:nvPr>
            <p:ph type="sldNum" idx="12"/>
          </p:nvPr>
        </p:nvSpPr>
        <p:spPr/>
        <p:txBody>
          <a:bodyPr/>
          <a:lstStyle>
            <a:lvl1pPr>
              <a:defRPr>
                <a:solidFill>
                  <a:srgbClr val="000000"/>
                </a:solidFill>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151861E3-90A7-42D4-9B7A-166EF1A614E7}" type="slidenum">
              <a:rPr kumimoji="0" lang="en-US" sz="900" b="0" i="0" u="none" strike="noStrike" kern="1200" cap="none" spc="0" normalizeH="0" baseline="0" noProof="0">
                <a:ln>
                  <a:noFill/>
                </a:ln>
                <a:solidFill>
                  <a:srgbClr val="000000"/>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9620416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457200" y="215371"/>
            <a:ext cx="8229600" cy="622828"/>
          </a:xfrm>
          <a:prstGeom prst="rect">
            <a:avLst/>
          </a:prstGeom>
          <a:noFill/>
          <a:ln>
            <a:noFill/>
          </a:ln>
        </p:spPr>
        <p:txBody>
          <a:bodyPr anchor="t"/>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63" name="Shape 63"/>
          <p:cNvSpPr txBox="1">
            <a:spLocks noGrp="1"/>
          </p:cNvSpPr>
          <p:nvPr>
            <p:ph type="body" idx="1"/>
          </p:nvPr>
        </p:nvSpPr>
        <p:spPr>
          <a:xfrm>
            <a:off x="457200" y="816429"/>
            <a:ext cx="8229600" cy="402769"/>
          </a:xfrm>
          <a:prstGeom prst="rect">
            <a:avLst/>
          </a:prstGeom>
          <a:noFill/>
          <a:ln>
            <a:noFill/>
          </a:ln>
        </p:spPr>
        <p:txBody>
          <a:bodyPr/>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457200" y="1600200"/>
            <a:ext cx="8229600" cy="4525963"/>
          </a:xfrm>
          <a:prstGeom prst="rect">
            <a:avLst/>
          </a:prstGeom>
          <a:noFill/>
          <a:ln>
            <a:noFill/>
          </a:ln>
        </p:spPr>
        <p:txBody>
          <a:bodyPr/>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5"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6"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7"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846A8B40-492E-4426-BAAD-D80E9F063A91}"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1499764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685800" y="1447800"/>
            <a:ext cx="7772400" cy="2152651"/>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0" name="Shape 70"/>
          <p:cNvSpPr txBox="1">
            <a:spLocks noGrp="1"/>
          </p:cNvSpPr>
          <p:nvPr>
            <p:ph type="body" idx="1"/>
          </p:nvPr>
        </p:nvSpPr>
        <p:spPr>
          <a:xfrm>
            <a:off x="674687" y="3962400"/>
            <a:ext cx="7794626" cy="1752600"/>
          </a:xfrm>
          <a:prstGeom prst="rect">
            <a:avLst/>
          </a:prstGeom>
          <a:noFill/>
          <a:ln>
            <a:noFill/>
          </a:ln>
        </p:spPr>
        <p:txBody>
          <a:bodyPr/>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a:p>
        </p:txBody>
      </p:sp>
      <p:sp>
        <p:nvSpPr>
          <p:cNvPr id="4"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5"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6"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FB951973-C68A-429F-AA58-4C1FE6BDA16A}"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18090960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4"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5"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D0F7696F-A32D-4889-8633-E1B7C5601BE7}"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37809867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Blank">
    <p:spTree>
      <p:nvGrpSpPr>
        <p:cNvPr id="1" name="Shape 79"/>
        <p:cNvGrpSpPr/>
        <p:nvPr/>
      </p:nvGrpSpPr>
      <p:grpSpPr>
        <a:xfrm>
          <a:off x="0" y="0"/>
          <a:ext cx="0" cy="0"/>
          <a:chOff x="0" y="0"/>
          <a:chExt cx="0" cy="0"/>
        </a:xfrm>
      </p:grpSpPr>
      <p:sp>
        <p:nvSpPr>
          <p:cNvPr id="2" name="Shape 80"/>
          <p:cNvSpPr txBox="1">
            <a:spLocks noGrp="1"/>
          </p:cNvSpPr>
          <p:nvPr>
            <p:ph type="ftr" idx="10"/>
          </p:nvPr>
        </p:nvSpPr>
        <p:spPr/>
        <p:txBody>
          <a:bodyPr/>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3" name="Shape 81"/>
          <p:cNvSpPr txBox="1">
            <a:spLocks noGrp="1"/>
          </p:cNvSpPr>
          <p:nvPr>
            <p:ph type="dt" idx="11"/>
          </p:nvPr>
        </p:nvSpPr>
        <p:spPr/>
        <p:txBody>
          <a:bodyPr/>
          <a:lstStyle>
            <a:lvl1pPr marL="0" marR="0" lvl="0" indent="0" algn="r" rtl="0">
              <a:spcBef>
                <a:spcPts val="0"/>
              </a:spcBef>
              <a:buNone/>
              <a:defRPr sz="9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000000"/>
              </a:solidFill>
              <a:effectLst/>
              <a:uLnTx/>
              <a:uFillTx/>
              <a:latin typeface="Arial"/>
              <a:cs typeface="Arial"/>
              <a:sym typeface="Arial"/>
            </a:endParaRPr>
          </a:p>
        </p:txBody>
      </p:sp>
      <p:sp>
        <p:nvSpPr>
          <p:cNvPr id="4" name="Shape 82"/>
          <p:cNvSpPr txBox="1">
            <a:spLocks noGrp="1"/>
          </p:cNvSpPr>
          <p:nvPr>
            <p:ph type="sldNum" idx="12"/>
          </p:nvPr>
        </p:nvSpPr>
        <p:spPr/>
        <p:txBody>
          <a:bodyPr/>
          <a:lstStyle>
            <a:lvl1pPr>
              <a:defRPr>
                <a:solidFill>
                  <a:srgbClr val="000000"/>
                </a:solidFill>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7EEADC32-B7CB-4469-A186-251F1CAA23B8}" type="slidenum">
              <a:rPr kumimoji="0" lang="en-US" sz="900" b="0" i="0" u="none" strike="noStrike" kern="1200" cap="none" spc="0" normalizeH="0" baseline="0" noProof="0">
                <a:ln>
                  <a:noFill/>
                </a:ln>
                <a:solidFill>
                  <a:srgbClr val="000000"/>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5309216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Shape 10"/>
          <p:cNvSpPr txBox="1">
            <a:spLocks noGrp="1"/>
          </p:cNvSpPr>
          <p:nvPr>
            <p:ph type="title"/>
          </p:nvPr>
        </p:nvSpPr>
        <p:spPr bwMode="auto">
          <a:xfrm>
            <a:off x="457200" y="215900"/>
            <a:ext cx="8229600"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b" anchorCtr="0" compatLnSpc="1">
            <a:prstTxWarp prst="textNoShape">
              <a:avLst/>
            </a:prstTxWarp>
          </a:bodyPr>
          <a:lstStyle/>
          <a:p>
            <a:pPr lvl="0"/>
            <a:endParaRPr lang="en-US" altLang="en-US">
              <a:sym typeface="Arial" panose="020B0604020202020204" pitchFamily="34" charset="0"/>
            </a:endParaRPr>
          </a:p>
        </p:txBody>
      </p:sp>
      <p:sp>
        <p:nvSpPr>
          <p:cNvPr id="3075" name="Shape 11"/>
          <p:cNvSpPr txBox="1">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p>
            <a:pPr lvl="0"/>
            <a:endParaRPr lang="en-US" altLang="en-US">
              <a:sym typeface="Arial" panose="020B0604020202020204" pitchFamily="34" charset="0"/>
            </a:endParaRPr>
          </a:p>
        </p:txBody>
      </p:sp>
      <p:sp>
        <p:nvSpPr>
          <p:cNvPr id="12" name="Shape 12"/>
          <p:cNvSpPr txBox="1">
            <a:spLocks noGrp="1"/>
          </p:cNvSpPr>
          <p:nvPr>
            <p:ph type="ftr" idx="11"/>
          </p:nvPr>
        </p:nvSpPr>
        <p:spPr>
          <a:xfrm>
            <a:off x="93663" y="6172200"/>
            <a:ext cx="8596312" cy="234950"/>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13" name="Shape 13"/>
          <p:cNvSpPr txBox="1">
            <a:spLocks noGrp="1"/>
          </p:cNvSpPr>
          <p:nvPr>
            <p:ph type="dt" idx="10"/>
          </p:nvPr>
        </p:nvSpPr>
        <p:spPr>
          <a:xfrm>
            <a:off x="6335713" y="112713"/>
            <a:ext cx="2133600" cy="182562"/>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rgbClr val="FFFFFF"/>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14" name="Shape 14"/>
          <p:cNvSpPr txBox="1">
            <a:spLocks noGrp="1"/>
          </p:cNvSpPr>
          <p:nvPr>
            <p:ph type="sldNum" idx="12"/>
          </p:nvPr>
        </p:nvSpPr>
        <p:spPr>
          <a:xfrm>
            <a:off x="8469313" y="112713"/>
            <a:ext cx="552450" cy="182562"/>
          </a:xfrm>
          <a:prstGeom prst="rect">
            <a:avLst/>
          </a:prstGeom>
          <a:noFill/>
          <a:ln>
            <a:noFill/>
          </a:ln>
        </p:spPr>
        <p:txBody>
          <a:bodyPr lIns="91425" tIns="45700" rIns="91425" bIns="45700" anchor="ctr" anchorCtr="0">
            <a:noAutofit/>
          </a:bodyPr>
          <a:lstStyle>
            <a:lvl1pPr algn="r">
              <a:spcBef>
                <a:spcPts val="0"/>
              </a:spcBef>
              <a:buSzPct val="25000"/>
              <a:defRPr sz="900">
                <a:solidFill>
                  <a:srgbClr val="FFFFFF"/>
                </a:solidFill>
                <a:latin typeface="Arial"/>
                <a:ea typeface="Arial"/>
                <a:cs typeface="Arial"/>
                <a:sym typeface="Arial"/>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0B369858-E052-47C5-B392-6B9F20183AE0}"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pic>
        <p:nvPicPr>
          <p:cNvPr id="3079" name="Shape 15" descr="Pearson Logo"/>
          <p:cNvPicPr preferRelativeResize="0">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4500" y="6429375"/>
            <a:ext cx="917575"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hape 16"/>
          <p:cNvSpPr txBox="1">
            <a:spLocks noChangeArrowheads="1"/>
          </p:cNvSpPr>
          <p:nvPr userDrawn="1"/>
        </p:nvSpPr>
        <p:spPr bwMode="auto">
          <a:xfrm>
            <a:off x="1600200" y="6429375"/>
            <a:ext cx="716280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srgbClr val="000000"/>
                </a:solidFill>
                <a:effectLst/>
                <a:uLnTx/>
                <a:uFillTx/>
                <a:latin typeface="Verdana" panose="020B0604030504040204" pitchFamily="34" charset="0"/>
                <a:ea typeface="ヒラギノ角ゴ Pro W3" pitchFamily="1" charset="-128"/>
                <a:cs typeface="Arial" panose="020B0604020202020204" pitchFamily="34" charset="0"/>
              </a:rPr>
              <a:t>Copyright © 2019, 2016, 2013 Pearson Education, Inc. All Rights Reserved</a:t>
            </a:r>
          </a:p>
        </p:txBody>
      </p:sp>
    </p:spTree>
    <p:extLst>
      <p:ext uri="{BB962C8B-B14F-4D97-AF65-F5344CB8AC3E}">
        <p14:creationId xmlns:p14="http://schemas.microsoft.com/office/powerpoint/2010/main" val="910395429"/>
      </p:ext>
    </p:extLst>
  </p:cSld>
  <p:clrMap bg1="lt1" tx1="dk1" bg2="dk2" tx2="lt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Lst>
  <p:hf sldNum="0" hdr="0" ftr="0" dt="0"/>
  <p:txStyles>
    <p:title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1pPr>
      <a:lvl2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p:titleStyle>
    <p:body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1pPr>
      <a:lvl2pPr lvl="1"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2pPr>
      <a:lvl3pPr lvl="2"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3pPr>
      <a:lvl4pPr lvl="3"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4pPr>
      <a:lvl5pPr lvl="4"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5.xml"/><Relationship Id="rId1" Type="http://schemas.openxmlformats.org/officeDocument/2006/relationships/slideLayout" Target="../slideLayouts/slideLayout2.xml"/><Relationship Id="rId10" Type="http://schemas.openxmlformats.org/officeDocument/2006/relationships/image" Target="../media/image10.png"/><Relationship Id="rId4" Type="http://schemas.openxmlformats.org/officeDocument/2006/relationships/customXml" Target="../ink/ink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customXml" Target="../ink/ink2.xml"/><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image" Target="../media/image10.png"/><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5.emf"/><Relationship Id="rId5" Type="http://schemas.openxmlformats.org/officeDocument/2006/relationships/image" Target="../media/image6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 Target="slide55.xml"/><Relationship Id="rId2" Type="http://schemas.openxmlformats.org/officeDocument/2006/relationships/slide" Target="slide5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 Target="slide57.xm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slide" Target="slide58.xm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6.xml.rels><?xml version="1.0" encoding="UTF-8" standalone="yes"?>
<Relationships xmlns="http://schemas.openxmlformats.org/package/2006/relationships"><Relationship Id="rId3" Type="http://schemas.openxmlformats.org/officeDocument/2006/relationships/slide" Target="slide59.xml"/><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emf"/><Relationship Id="rId7"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customXml" Target="../ink/ink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9.emf"/></Relationships>
</file>

<file path=ppt/slides/_rels/slide31.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slide" Target="slide66.xml"/><Relationship Id="rId2" Type="http://schemas.openxmlformats.org/officeDocument/2006/relationships/slide" Target="slide6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3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38.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slide" Target="slide70.xml"/><Relationship Id="rId2" Type="http://schemas.openxmlformats.org/officeDocument/2006/relationships/slide" Target="slide6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50.xml.rels><?xml version="1.0" encoding="UTF-8" standalone="yes"?>
<Relationships xmlns="http://schemas.openxmlformats.org/package/2006/relationships"><Relationship Id="rId3" Type="http://schemas.openxmlformats.org/officeDocument/2006/relationships/slide" Target="slide77.xml"/><Relationship Id="rId2" Type="http://schemas.openxmlformats.org/officeDocument/2006/relationships/slide" Target="slide73.xml"/><Relationship Id="rId1" Type="http://schemas.openxmlformats.org/officeDocument/2006/relationships/slideLayout" Target="../slideLayouts/slideLayout2.xml"/><Relationship Id="rId5" Type="http://schemas.openxmlformats.org/officeDocument/2006/relationships/slide" Target="slide79.xml"/><Relationship Id="rId4" Type="http://schemas.openxmlformats.org/officeDocument/2006/relationships/slide" Target="slide7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56.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slide" Target="slide15.xml"/></Relationships>
</file>

<file path=ppt/slides/_rels/slide57.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notesSlide" Target="../notesSlides/notesSlide51.xml"/><Relationship Id="rId1" Type="http://schemas.openxmlformats.org/officeDocument/2006/relationships/slideLayout" Target="../slideLayouts/slideLayout2.xml"/><Relationship Id="rId5" Type="http://schemas.openxmlformats.org/officeDocument/2006/relationships/slide" Target="slide19.xml"/><Relationship Id="rId4" Type="http://schemas.openxmlformats.org/officeDocument/2006/relationships/image" Target="../media/image10.png"/></Relationships>
</file>

<file path=ppt/slides/_rels/slide58.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slide" Target="slide32.xml"/></Relationships>
</file>

<file path=ppt/slides/_rels/slide66.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67.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slide" Target="slide46.xml"/></Relationships>
</file>

<file path=ppt/slides/_rels/slide7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66.xml"/><Relationship Id="rId1" Type="http://schemas.openxmlformats.org/officeDocument/2006/relationships/slideLayout" Target="../slideLayouts/slideLayout2.xml"/><Relationship Id="rId5" Type="http://schemas.openxmlformats.org/officeDocument/2006/relationships/slide" Target="slide46.xml"/><Relationship Id="rId4" Type="http://schemas.openxmlformats.org/officeDocument/2006/relationships/slide" Target="slide32.xml"/></Relationships>
</file>

<file path=ppt/slides/_rels/slide73.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70.xml"/><Relationship Id="rId1" Type="http://schemas.openxmlformats.org/officeDocument/2006/relationships/slideLayout" Target="../slideLayouts/slideLayout2.xml"/><Relationship Id="rId5" Type="http://schemas.openxmlformats.org/officeDocument/2006/relationships/slide" Target="slide50.xml"/><Relationship Id="rId4" Type="http://schemas.openxmlformats.org/officeDocument/2006/relationships/slide" Target="slide32.xml"/></Relationships>
</file>

<file path=ppt/slides/_rels/slide77.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71.xml"/><Relationship Id="rId1" Type="http://schemas.openxmlformats.org/officeDocument/2006/relationships/slideLayout" Target="../slideLayouts/slideLayout2.xml"/><Relationship Id="rId5" Type="http://schemas.openxmlformats.org/officeDocument/2006/relationships/slide" Target="slide50.xml"/><Relationship Id="rId4" Type="http://schemas.openxmlformats.org/officeDocument/2006/relationships/slide" Target="slide32.xml"/></Relationships>
</file>

<file path=ppt/slides/_rels/slide78.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72.xml"/><Relationship Id="rId1" Type="http://schemas.openxmlformats.org/officeDocument/2006/relationships/slideLayout" Target="../slideLayouts/slideLayout2.xml"/><Relationship Id="rId5" Type="http://schemas.openxmlformats.org/officeDocument/2006/relationships/slide" Target="slide50.xml"/><Relationship Id="rId4" Type="http://schemas.openxmlformats.org/officeDocument/2006/relationships/slide" Target="slide32.xml"/></Relationships>
</file>

<file path=ppt/slides/_rels/slide79.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77.xml"/><Relationship Id="rId1" Type="http://schemas.openxmlformats.org/officeDocument/2006/relationships/slideLayout" Target="../slideLayouts/slideLayout2.xml"/><Relationship Id="rId5" Type="http://schemas.openxmlformats.org/officeDocument/2006/relationships/slide" Target="slide50.xml"/><Relationship Id="rId4" Type="http://schemas.openxmlformats.org/officeDocument/2006/relationships/slide" Target="slide3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txBox="1">
            <a:spLocks noGrp="1"/>
          </p:cNvSpPr>
          <p:nvPr>
            <p:ph type="title"/>
          </p:nvPr>
        </p:nvSpPr>
        <p:spPr/>
        <p:txBody>
          <a:bodyPr/>
          <a:lstStyle/>
          <a:p>
            <a:pPr>
              <a:spcBef>
                <a:spcPct val="0"/>
              </a:spcBef>
            </a:pPr>
            <a:r>
              <a:rPr lang="en-US" altLang="en-US" dirty="0">
                <a:latin typeface="Times New Roman" panose="02020603050405020304" pitchFamily="18" charset="0"/>
                <a:cs typeface="Times New Roman" panose="02020603050405020304" pitchFamily="18" charset="0"/>
                <a:sym typeface="Times New Roman" panose="02020603050405020304" pitchFamily="18" charset="0"/>
              </a:rPr>
              <a:t>Computer Organization and Architecture</a:t>
            </a:r>
            <a:br>
              <a:rPr lang="en-US" altLang="en-US" dirty="0">
                <a:latin typeface="Times New Roman" panose="02020603050405020304" pitchFamily="18" charset="0"/>
                <a:cs typeface="Times New Roman" panose="02020603050405020304" pitchFamily="18" charset="0"/>
                <a:sym typeface="Times New Roman" panose="02020603050405020304" pitchFamily="18" charset="0"/>
              </a:rPr>
            </a:br>
            <a:r>
              <a:rPr lang="en-US" altLang="en-US" sz="2600" dirty="0">
                <a:latin typeface="Times New Roman" panose="02020603050405020304" pitchFamily="18" charset="0"/>
                <a:cs typeface="Times New Roman" panose="02020603050405020304" pitchFamily="18" charset="0"/>
                <a:sym typeface="Times New Roman" panose="02020603050405020304" pitchFamily="18" charset="0"/>
              </a:rPr>
              <a:t>Designing for Performance</a:t>
            </a:r>
            <a:endParaRPr lang="en-IN" altLang="en-US" sz="2600" dirty="0">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13316" name="Text Placeholder 3"/>
          <p:cNvSpPr txBox="1">
            <a:spLocks noGrp="1"/>
          </p:cNvSpPr>
          <p:nvPr>
            <p:ph type="body" idx="2"/>
          </p:nvPr>
        </p:nvSpPr>
        <p:spPr/>
        <p:txBody>
          <a:bodyPr/>
          <a:lstStyle/>
          <a:p>
            <a:pPr>
              <a:spcBef>
                <a:spcPct val="0"/>
              </a:spcBef>
              <a:buFontTx/>
              <a:buNone/>
            </a:pPr>
            <a:r>
              <a:rPr lang="en-IN" altLang="en-US" dirty="0">
                <a:solidFill>
                  <a:srgbClr val="000000"/>
                </a:solidFill>
                <a:latin typeface="Arial" panose="020B0604020202020204" pitchFamily="34" charset="0"/>
                <a:cs typeface="Arial" panose="020B0604020202020204" pitchFamily="34" charset="0"/>
                <a:sym typeface="Arial" panose="020B0604020202020204" pitchFamily="34" charset="0"/>
              </a:rPr>
              <a:t>Chapter 13</a:t>
            </a:r>
          </a:p>
        </p:txBody>
      </p:sp>
      <p:sp>
        <p:nvSpPr>
          <p:cNvPr id="13317" name="Text Placeholder 4"/>
          <p:cNvSpPr txBox="1">
            <a:spLocks noGrp="1"/>
          </p:cNvSpPr>
          <p:nvPr>
            <p:ph type="body" idx="3"/>
          </p:nvPr>
        </p:nvSpPr>
        <p:spPr/>
        <p:txBody>
          <a:bodyPr/>
          <a:lstStyle/>
          <a:p>
            <a:pPr>
              <a:spcBef>
                <a:spcPct val="0"/>
              </a:spcBef>
            </a:pPr>
            <a:r>
              <a:rPr lang="en-US" altLang="en-US" dirty="0">
                <a:solidFill>
                  <a:srgbClr val="000000"/>
                </a:solidFill>
                <a:latin typeface="Arial" panose="020B0604020202020204" pitchFamily="34" charset="0"/>
                <a:cs typeface="Arial" panose="020B0604020202020204" pitchFamily="34" charset="0"/>
                <a:sym typeface="Arial" panose="020B0604020202020204" pitchFamily="34" charset="0"/>
              </a:rPr>
              <a:t>Instruction Sets:  Characteristics and Functions</a:t>
            </a:r>
          </a:p>
        </p:txBody>
      </p:sp>
      <p:pic>
        <p:nvPicPr>
          <p:cNvPr id="7" name="Shape 197"/>
          <p:cNvPicPr preferRelativeResize="0"/>
          <p:nvPr/>
        </p:nvPicPr>
        <p:blipFill>
          <a:blip r:embed="rId3">
            <a:extLst>
              <a:ext uri="{28A0092B-C50C-407E-A947-70E740481C1C}">
                <a14:useLocalDpi xmlns:a14="http://schemas.microsoft.com/office/drawing/2010/main" val="0"/>
              </a:ext>
            </a:extLst>
          </a:blip>
          <a:stretch>
            <a:fillRect/>
          </a:stretch>
        </p:blipFill>
        <p:spPr>
          <a:xfrm>
            <a:off x="825499" y="1745673"/>
            <a:ext cx="3524827" cy="4402049"/>
          </a:xfrm>
          <a:prstGeom prst="rect">
            <a:avLst/>
          </a:prstGeom>
          <a:noFill/>
          <a:ln w="9525" cap="flat" cmpd="sng">
            <a:solidFill>
              <a:srgbClr val="7F7F7F"/>
            </a:solidFill>
            <a:prstDash val="solid"/>
            <a:round/>
            <a:headEnd type="none" w="med" len="med"/>
            <a:tailEnd type="none" w="med" len="med"/>
          </a:ln>
          <a:effectLst>
            <a:outerShdw blurRad="50799" dist="76200" dir="2700000" algn="tl" rotWithShape="0">
              <a:srgbClr val="000000">
                <a:alpha val="55686"/>
              </a:srgbClr>
            </a:outerShdw>
          </a:effectLst>
        </p:spPr>
      </p:pic>
      <p:sp>
        <p:nvSpPr>
          <p:cNvPr id="8" name="Text Placeholder 2"/>
          <p:cNvSpPr txBox="1">
            <a:spLocks noGrp="1"/>
          </p:cNvSpPr>
          <p:nvPr>
            <p:ph type="body" idx="1"/>
          </p:nvPr>
        </p:nvSpPr>
        <p:spPr>
          <a:xfrm>
            <a:off x="457200" y="1268559"/>
            <a:ext cx="8229600" cy="479425"/>
          </a:xfrm>
        </p:spPr>
        <p:txBody>
          <a:bodyPr/>
          <a:lstStyle/>
          <a:p>
            <a:pPr>
              <a:spcBef>
                <a:spcPct val="0"/>
              </a:spcBef>
              <a:buFontTx/>
              <a:buNone/>
            </a:pPr>
            <a:r>
              <a:rPr lang="en-IN" altLang="en-US" dirty="0">
                <a:latin typeface="Arial" panose="020B0604020202020204" pitchFamily="34" charset="0"/>
                <a:cs typeface="Arial" panose="020B0604020202020204" pitchFamily="34" charset="0"/>
                <a:sym typeface="Arial" panose="020B0604020202020204" pitchFamily="34" charset="0"/>
              </a:rPr>
              <a:t>11</a:t>
            </a:r>
            <a:r>
              <a:rPr lang="en-IN" altLang="en-US" baseline="30000" dirty="0">
                <a:latin typeface="Arial" panose="020B0604020202020204" pitchFamily="34" charset="0"/>
                <a:cs typeface="Arial" panose="020B0604020202020204" pitchFamily="34" charset="0"/>
                <a:sym typeface="Arial" panose="020B0604020202020204" pitchFamily="34" charset="0"/>
              </a:rPr>
              <a:t>th</a:t>
            </a:r>
            <a:r>
              <a:rPr lang="en-IN" altLang="en-US" dirty="0">
                <a:latin typeface="Arial" panose="020B0604020202020204" pitchFamily="34" charset="0"/>
                <a:cs typeface="Arial" panose="020B0604020202020204" pitchFamily="34" charset="0"/>
                <a:sym typeface="Arial" panose="020B0604020202020204" pitchFamily="34" charset="0"/>
              </a:rPr>
              <a:t> Edition</a:t>
            </a:r>
          </a:p>
        </p:txBody>
      </p:sp>
    </p:spTree>
    <p:extLst>
      <p:ext uri="{BB962C8B-B14F-4D97-AF65-F5344CB8AC3E}">
        <p14:creationId xmlns:p14="http://schemas.microsoft.com/office/powerpoint/2010/main" val="15321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4"/>
          <p:cNvSpPr>
            <a:spLocks noGrp="1" noChangeArrowheads="1"/>
          </p:cNvSpPr>
          <p:nvPr>
            <p:ph type="title"/>
          </p:nvPr>
        </p:nvSpPr>
        <p:spPr>
          <a:xfrm>
            <a:off x="457200" y="250996"/>
            <a:ext cx="8229600" cy="1097279"/>
          </a:xfrm>
          <a:noFill/>
          <a:ln/>
        </p:spPr>
        <p:txBody>
          <a:bodyPr lIns="90488" tIns="44450" rIns="90488" bIns="44450"/>
          <a:lstStyle/>
          <a:p>
            <a:r>
              <a:rPr lang="en-US" dirty="0"/>
              <a:t>Machine Instruction Characteristics</a:t>
            </a:r>
          </a:p>
        </p:txBody>
      </p:sp>
      <p:sp>
        <p:nvSpPr>
          <p:cNvPr id="6149" name="Rectangle 5"/>
          <p:cNvSpPr>
            <a:spLocks noGrp="1" noChangeArrowheads="1"/>
          </p:cNvSpPr>
          <p:nvPr>
            <p:ph type="body" idx="1"/>
          </p:nvPr>
        </p:nvSpPr>
        <p:spPr>
          <a:noFill/>
          <a:ln/>
        </p:spPr>
        <p:txBody>
          <a:bodyPr lIns="90488" tIns="44450" rIns="90488" bIns="44450">
            <a:normAutofit/>
          </a:bodyPr>
          <a:lstStyle/>
          <a:p>
            <a:pPr marL="296863" indent="-296863"/>
            <a:r>
              <a:rPr lang="en-US" dirty="0"/>
              <a:t>The operation of the processor is determined by the instructions it executes, referred to as </a:t>
            </a:r>
            <a:r>
              <a:rPr lang="en-US" i="1" dirty="0"/>
              <a:t>machine instructions </a:t>
            </a:r>
            <a:r>
              <a:rPr lang="en-US" dirty="0"/>
              <a:t>or </a:t>
            </a:r>
            <a:r>
              <a:rPr lang="en-US" i="1" dirty="0"/>
              <a:t>computer instructions</a:t>
            </a:r>
          </a:p>
          <a:p>
            <a:pPr marL="296863" indent="-296863"/>
            <a:r>
              <a:rPr lang="en-US" dirty="0"/>
              <a:t>The collection of different instructions that the processor can execute is referred to as the processor’s </a:t>
            </a:r>
            <a:r>
              <a:rPr lang="en-US" i="1" dirty="0"/>
              <a:t>instruction set</a:t>
            </a:r>
          </a:p>
          <a:p>
            <a:pPr marL="296863" indent="-296863"/>
            <a:r>
              <a:rPr lang="en-US" dirty="0"/>
              <a:t>Each instruction must contain the information required by the processor for execution</a:t>
            </a: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8"/>
          <p:cNvSpPr>
            <a:spLocks noGrp="1"/>
          </p:cNvSpPr>
          <p:nvPr>
            <p:ph type="title"/>
          </p:nvPr>
        </p:nvSpPr>
        <p:spPr>
          <a:xfrm>
            <a:off x="447964" y="273341"/>
            <a:ext cx="8229600" cy="1119051"/>
          </a:xfrm>
        </p:spPr>
        <p:txBody>
          <a:bodyPr/>
          <a:lstStyle/>
          <a:p>
            <a:r>
              <a:rPr lang="en-US" dirty="0"/>
              <a:t>Figure 13.1 </a:t>
            </a:r>
            <a:br>
              <a:rPr lang="en-US" dirty="0"/>
            </a:br>
            <a:r>
              <a:rPr lang="en-US" dirty="0"/>
              <a:t>Instruction Cycle State Diagram</a:t>
            </a:r>
            <a:endParaRPr lang="en-IN" dirty="0"/>
          </a:p>
        </p:txBody>
      </p:sp>
      <p:pic>
        <p:nvPicPr>
          <p:cNvPr id="3" name="Picture 2" descr="Instruction fetch leads to instruction operation decoding. Instruction operation decoding leads to Operand address calculation. Operand address calculation leads to operation fetch. In the case of multiple operands, operation fetch leads back to operand address calculation. Operand fetch leads to data operation. Data operation leads to Operand address calculation. Operand address calculation leads to Operand store. In the case of multiple results, operand address store leads back to operand address calculation. Operand store also leads back to operand address calculation in the case of return for string or vector data and instruction address calculation in the case of instruction complete, fetch next instruction." title="A diagrammatic representation of the instruction cycle."/>
          <p:cNvPicPr>
            <a:picLocks noChangeAspect="1"/>
          </p:cNvPicPr>
          <p:nvPr/>
        </p:nvPicPr>
        <p:blipFill rotWithShape="1">
          <a:blip r:embed="rId3">
            <a:extLst>
              <a:ext uri="{28A0092B-C50C-407E-A947-70E740481C1C}">
                <a14:useLocalDpi xmlns:a14="http://schemas.microsoft.com/office/drawing/2010/main" val="0"/>
              </a:ext>
            </a:extLst>
          </a:blip>
          <a:srcRect l="4975" t="25162" r="6286" b="39930"/>
          <a:stretch/>
        </p:blipFill>
        <p:spPr>
          <a:xfrm>
            <a:off x="611560" y="1412776"/>
            <a:ext cx="7920880" cy="4032448"/>
          </a:xfrm>
          <a:prstGeom prst="rect">
            <a:avLst/>
          </a:prstGeom>
        </p:spPr>
      </p:pic>
    </p:spTree>
    <p:extLst>
      <p:ext uri="{BB962C8B-B14F-4D97-AF65-F5344CB8AC3E}">
        <p14:creationId xmlns:p14="http://schemas.microsoft.com/office/powerpoint/2010/main" val="614648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4"/>
          <p:cNvSpPr>
            <a:spLocks noGrp="1" noChangeArrowheads="1"/>
          </p:cNvSpPr>
          <p:nvPr>
            <p:ph type="title"/>
          </p:nvPr>
        </p:nvSpPr>
        <p:spPr>
          <a:xfrm>
            <a:off x="457200" y="243489"/>
            <a:ext cx="8229600" cy="1097279"/>
          </a:xfrm>
          <a:noFill/>
          <a:ln/>
        </p:spPr>
        <p:txBody>
          <a:bodyPr lIns="90488" tIns="44450" rIns="90488" bIns="44450"/>
          <a:lstStyle/>
          <a:p>
            <a:r>
              <a:rPr lang="en-US" dirty="0"/>
              <a:t>Source and result operands can be in one of four areas:</a:t>
            </a:r>
          </a:p>
        </p:txBody>
      </p:sp>
      <p:sp>
        <p:nvSpPr>
          <p:cNvPr id="17" name="Content Placeholder 6"/>
          <p:cNvSpPr txBox="1">
            <a:spLocks/>
          </p:cNvSpPr>
          <p:nvPr/>
        </p:nvSpPr>
        <p:spPr>
          <a:xfrm>
            <a:off x="434852" y="1581300"/>
            <a:ext cx="3777108" cy="1965325"/>
          </a:xfrm>
          <a:prstGeom prst="rect">
            <a:avLst/>
          </a:prstGeom>
        </p:spPr>
        <p:txBody>
          <a:bodyPr vert="horz" lIns="91440" tIns="45720" rIns="91440" bIns="45720" rtlCol="0">
            <a:normAutofit/>
          </a:bodyPr>
          <a:lst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20675" marR="0" lvl="0" indent="-320675" algn="l" defTabSz="914400" rtl="0" eaLnBrk="1" fontAlgn="auto" latinLnBrk="0" hangingPunct="1">
              <a:lnSpc>
                <a:spcPct val="100000"/>
              </a:lnSpc>
              <a:spcBef>
                <a:spcPts val="2000"/>
              </a:spcBef>
              <a:spcAft>
                <a:spcPts val="0"/>
              </a:spcAft>
              <a:buClr>
                <a:schemeClr val="tx2"/>
              </a:buClr>
              <a:buSzPct val="100000"/>
              <a:buFont typeface="+mj-lt"/>
              <a:buAutoNum type="arabicParenR"/>
              <a:tabLst/>
              <a:defRPr/>
            </a:pPr>
            <a:r>
              <a:rPr kumimoji="0" lang="en-US" sz="2000" b="0" i="0" u="none" strike="noStrike" kern="1200" cap="none" spc="0" normalizeH="0" baseline="0" noProof="0" dirty="0">
                <a:ln>
                  <a:noFill/>
                </a:ln>
                <a:solidFill>
                  <a:schemeClr val="tx1"/>
                </a:solidFill>
                <a:effectLst/>
                <a:uLnTx/>
                <a:uFillTx/>
                <a:latin typeface="+mj-lt"/>
                <a:ea typeface="+mn-ea"/>
                <a:cs typeface="+mn-cs"/>
              </a:rPr>
              <a:t>Main or virtual memory</a:t>
            </a:r>
          </a:p>
          <a:p>
            <a:pPr marL="628650" marR="0" lvl="1" indent="-296863" algn="l" defTabSz="914400" rtl="0" eaLnBrk="1" fontAlgn="auto" latinLnBrk="0" hangingPunct="1">
              <a:lnSpc>
                <a:spcPct val="100000"/>
              </a:lnSpc>
              <a:spcBef>
                <a:spcPts val="600"/>
              </a:spcBef>
              <a:spcAft>
                <a:spcPts val="0"/>
              </a:spcAft>
              <a:buClr>
                <a:schemeClr val="tx2"/>
              </a:buClr>
              <a:buSzPct val="75000"/>
              <a:buFont typeface="Arial" panose="020B0604020202020204" pitchFamily="34" charset="0"/>
              <a:buChar char="–"/>
              <a:tabLst/>
              <a:defRPr/>
            </a:pPr>
            <a:r>
              <a:rPr kumimoji="0" lang="en-US" sz="1700" b="0" i="0" u="none" strike="noStrike" kern="1200" cap="none" spc="0" normalizeH="0" baseline="0" noProof="0" dirty="0">
                <a:ln>
                  <a:noFill/>
                </a:ln>
                <a:solidFill>
                  <a:schemeClr val="tx1"/>
                </a:solidFill>
                <a:effectLst/>
                <a:uLnTx/>
                <a:uFillTx/>
                <a:latin typeface="+mj-lt"/>
                <a:ea typeface="+mn-ea"/>
                <a:cs typeface="+mn-cs"/>
              </a:rPr>
              <a:t>As with next instruction references, the main or virtual memory address must be supplied</a:t>
            </a:r>
          </a:p>
        </p:txBody>
      </p:sp>
      <p:sp>
        <p:nvSpPr>
          <p:cNvPr id="16" name="Content Placeholder 5"/>
          <p:cNvSpPr txBox="1">
            <a:spLocks/>
          </p:cNvSpPr>
          <p:nvPr/>
        </p:nvSpPr>
        <p:spPr>
          <a:xfrm>
            <a:off x="406152" y="3791100"/>
            <a:ext cx="3733800" cy="2286000"/>
          </a:xfrm>
          <a:prstGeom prst="rect">
            <a:avLst/>
          </a:prstGeom>
        </p:spPr>
        <p:txBody>
          <a:bodyPr vert="horz" lIns="91440" tIns="45720" rIns="91440" bIns="45720" rtlCol="0">
            <a:normAutofit/>
          </a:bodyPr>
          <a:lst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68300" marR="0" lvl="0" indent="-344488" algn="l" defTabSz="914400" rtl="0" eaLnBrk="1" fontAlgn="auto" latinLnBrk="0" hangingPunct="1">
              <a:lnSpc>
                <a:spcPct val="100000"/>
              </a:lnSpc>
              <a:spcBef>
                <a:spcPts val="2000"/>
              </a:spcBef>
              <a:spcAft>
                <a:spcPts val="0"/>
              </a:spcAft>
              <a:buClr>
                <a:schemeClr val="tx2"/>
              </a:buClr>
              <a:buSzPct val="100000"/>
              <a:buFont typeface="+mj-lt"/>
              <a:buAutoNum type="arabicParenR" startAt="2"/>
              <a:tabLst/>
              <a:defRPr/>
            </a:pPr>
            <a:r>
              <a:rPr kumimoji="0" lang="en-US" sz="2000" b="0" i="0" u="none" strike="noStrike" kern="1200" cap="none" spc="0" normalizeH="0" baseline="0" noProof="0" dirty="0">
                <a:ln>
                  <a:noFill/>
                </a:ln>
                <a:solidFill>
                  <a:schemeClr val="tx1"/>
                </a:solidFill>
                <a:effectLst/>
                <a:uLnTx/>
                <a:uFillTx/>
                <a:latin typeface="+mj-lt"/>
                <a:ea typeface="+mn-ea"/>
                <a:cs typeface="+mn-cs"/>
              </a:rPr>
              <a:t>I/O device</a:t>
            </a:r>
          </a:p>
          <a:p>
            <a:pPr marL="676275" marR="0" lvl="1" indent="-320675" algn="l" defTabSz="914400" rtl="0" eaLnBrk="1" fontAlgn="auto" latinLnBrk="0" hangingPunct="1">
              <a:lnSpc>
                <a:spcPct val="100000"/>
              </a:lnSpc>
              <a:spcBef>
                <a:spcPts val="600"/>
              </a:spcBef>
              <a:spcAft>
                <a:spcPts val="0"/>
              </a:spcAft>
              <a:buClr>
                <a:schemeClr val="tx2"/>
              </a:buClr>
              <a:buSzPct val="75000"/>
              <a:buFont typeface="Arial" panose="020B0604020202020204" pitchFamily="34" charset="0"/>
              <a:buChar char="–"/>
              <a:tabLst/>
              <a:defRPr/>
            </a:pPr>
            <a:r>
              <a:rPr kumimoji="0" lang="en-US" sz="1700" b="0" i="0" u="none" strike="noStrike" kern="1200" cap="none" spc="0" normalizeH="0" baseline="0" noProof="0" dirty="0">
                <a:ln>
                  <a:noFill/>
                </a:ln>
                <a:solidFill>
                  <a:schemeClr val="tx1"/>
                </a:solidFill>
                <a:effectLst/>
                <a:uLnTx/>
                <a:uFillTx/>
                <a:latin typeface="+mj-lt"/>
                <a:ea typeface="+mn-ea"/>
                <a:cs typeface="+mn-cs"/>
              </a:rPr>
              <a:t>The instruction must specify the I/O module and device for the operation.  If memory-mapped I/O is used, this is just another main or virtual memory address</a:t>
            </a:r>
          </a:p>
        </p:txBody>
      </p:sp>
      <p:sp>
        <p:nvSpPr>
          <p:cNvPr id="15" name="Rectangle 5"/>
          <p:cNvSpPr txBox="1">
            <a:spLocks noChangeArrowheads="1"/>
          </p:cNvSpPr>
          <p:nvPr/>
        </p:nvSpPr>
        <p:spPr>
          <a:xfrm>
            <a:off x="5029200" y="1295400"/>
            <a:ext cx="3657600" cy="3429000"/>
          </a:xfrm>
          <a:prstGeom prst="rect">
            <a:avLst/>
          </a:prstGeom>
          <a:noFill/>
          <a:ln/>
        </p:spPr>
        <p:txBody>
          <a:bodyPr vert="horz" lIns="90488" tIns="44450" rIns="90488" bIns="44450" rtlCol="0">
            <a:normAutofit/>
          </a:bodyPr>
          <a:lst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20675" marR="0" lvl="0" indent="-320675" algn="l" defTabSz="914400" rtl="0" eaLnBrk="1" fontAlgn="auto" latinLnBrk="0" hangingPunct="1">
              <a:lnSpc>
                <a:spcPct val="100000"/>
              </a:lnSpc>
              <a:spcBef>
                <a:spcPts val="2000"/>
              </a:spcBef>
              <a:spcAft>
                <a:spcPts val="0"/>
              </a:spcAft>
              <a:buClr>
                <a:schemeClr val="tx2"/>
              </a:buClr>
              <a:buSzPct val="100000"/>
              <a:buFont typeface="+mj-lt"/>
              <a:buAutoNum type="arabicParenR" startAt="3"/>
              <a:tabLst/>
              <a:defRPr/>
            </a:pPr>
            <a:r>
              <a:rPr kumimoji="0" lang="en-US" sz="2000" b="0" i="0" u="none" strike="noStrike" kern="1200" cap="none" spc="0" normalizeH="0" baseline="0" noProof="0" dirty="0">
                <a:ln>
                  <a:noFill/>
                </a:ln>
                <a:solidFill>
                  <a:schemeClr val="tx1"/>
                </a:solidFill>
                <a:effectLst/>
                <a:uLnTx/>
                <a:uFillTx/>
                <a:latin typeface="+mj-lt"/>
                <a:ea typeface="+mn-ea"/>
                <a:cs typeface="+mn-cs"/>
              </a:rPr>
              <a:t>Processor register</a:t>
            </a:r>
          </a:p>
          <a:p>
            <a:pPr marL="558800" marR="0" lvl="1" indent="-227013" algn="l" defTabSz="914400" rtl="0" eaLnBrk="1" fontAlgn="auto" latinLnBrk="0" hangingPunct="1">
              <a:lnSpc>
                <a:spcPct val="110000"/>
              </a:lnSpc>
              <a:spcBef>
                <a:spcPts val="600"/>
              </a:spcBef>
              <a:spcAft>
                <a:spcPts val="0"/>
              </a:spcAft>
              <a:buClr>
                <a:schemeClr val="tx2"/>
              </a:buClr>
              <a:buSzPct val="75000"/>
              <a:buFont typeface="Arial" panose="020B0604020202020204" pitchFamily="34" charset="0"/>
              <a:buChar char="–"/>
              <a:tabLst/>
              <a:defRPr/>
            </a:pPr>
            <a:r>
              <a:rPr kumimoji="0" lang="en-US" sz="1700" b="0" i="0" u="none" strike="noStrike" kern="1200" cap="none" spc="0" normalizeH="0" baseline="0" noProof="0" dirty="0">
                <a:ln>
                  <a:noFill/>
                </a:ln>
                <a:solidFill>
                  <a:schemeClr val="tx1"/>
                </a:solidFill>
                <a:effectLst/>
                <a:uLnTx/>
                <a:uFillTx/>
                <a:latin typeface="+mj-lt"/>
                <a:ea typeface="+mn-ea"/>
                <a:cs typeface="+mn-cs"/>
              </a:rPr>
              <a:t>A processor contains one or more registers that may be referenced by machine instructions. </a:t>
            </a:r>
          </a:p>
          <a:p>
            <a:pPr marL="558800" marR="0" lvl="1" indent="-227013" algn="l" defTabSz="914400" rtl="0" eaLnBrk="1" fontAlgn="auto" latinLnBrk="0" hangingPunct="1">
              <a:lnSpc>
                <a:spcPct val="110000"/>
              </a:lnSpc>
              <a:spcBef>
                <a:spcPts val="600"/>
              </a:spcBef>
              <a:spcAft>
                <a:spcPts val="0"/>
              </a:spcAft>
              <a:buClr>
                <a:schemeClr val="tx2"/>
              </a:buClr>
              <a:buSzPct val="75000"/>
              <a:buFont typeface="Arial" panose="020B0604020202020204" pitchFamily="34" charset="0"/>
              <a:buChar char="–"/>
              <a:tabLst/>
              <a:defRPr/>
            </a:pPr>
            <a:r>
              <a:rPr kumimoji="0" lang="en-US" sz="1700" b="0" i="0" u="none" strike="noStrike" kern="1200" cap="none" spc="0" normalizeH="0" baseline="0" noProof="0" dirty="0">
                <a:ln>
                  <a:noFill/>
                </a:ln>
                <a:solidFill>
                  <a:schemeClr val="tx1"/>
                </a:solidFill>
                <a:effectLst/>
                <a:uLnTx/>
                <a:uFillTx/>
                <a:latin typeface="+mj-lt"/>
                <a:ea typeface="+mn-ea"/>
                <a:cs typeface="+mn-cs"/>
              </a:rPr>
              <a:t>If more than one register exists each register is assigned a unique name or number and the instruction must contain the number of the desired register</a:t>
            </a:r>
          </a:p>
        </p:txBody>
      </p:sp>
      <p:sp>
        <p:nvSpPr>
          <p:cNvPr id="18" name="Content Placeholder 7"/>
          <p:cNvSpPr txBox="1">
            <a:spLocks/>
          </p:cNvSpPr>
          <p:nvPr/>
        </p:nvSpPr>
        <p:spPr>
          <a:xfrm>
            <a:off x="5105400" y="4724400"/>
            <a:ext cx="3657600" cy="1965325"/>
          </a:xfrm>
          <a:prstGeom prst="rect">
            <a:avLst/>
          </a:prstGeom>
        </p:spPr>
        <p:txBody>
          <a:bodyPr vert="horz" lIns="91440" tIns="45720" rIns="91440" bIns="45720" rtlCol="0">
            <a:normAutofit/>
          </a:bodyPr>
          <a:lst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20675" marR="0" lvl="0" indent="-320675" algn="l" defTabSz="914400" rtl="0" eaLnBrk="1" fontAlgn="auto" latinLnBrk="0" hangingPunct="1">
              <a:lnSpc>
                <a:spcPct val="100000"/>
              </a:lnSpc>
              <a:spcBef>
                <a:spcPts val="2000"/>
              </a:spcBef>
              <a:spcAft>
                <a:spcPts val="0"/>
              </a:spcAft>
              <a:buClr>
                <a:schemeClr val="tx2"/>
              </a:buClr>
              <a:buSzPct val="100000"/>
              <a:buFont typeface="+mj-lt"/>
              <a:buAutoNum type="arabicParenR" startAt="4"/>
              <a:tabLst/>
              <a:defRPr/>
            </a:pPr>
            <a:r>
              <a:rPr kumimoji="0" lang="en-US" sz="2000" b="0" i="0" u="none" strike="noStrike" kern="1200" cap="none" spc="0" normalizeH="0" baseline="0" noProof="0" dirty="0">
                <a:ln>
                  <a:noFill/>
                </a:ln>
                <a:solidFill>
                  <a:schemeClr val="tx1"/>
                </a:solidFill>
                <a:effectLst/>
                <a:uLnTx/>
                <a:uFillTx/>
                <a:latin typeface="+mj-lt"/>
                <a:ea typeface="+mn-ea"/>
                <a:cs typeface="+mn-cs"/>
              </a:rPr>
              <a:t>Immediate</a:t>
            </a:r>
          </a:p>
          <a:p>
            <a:pPr marR="0" lvl="1" algn="l" defTabSz="914400" rtl="0" eaLnBrk="1" fontAlgn="auto" latinLnBrk="0" hangingPunct="1">
              <a:lnSpc>
                <a:spcPct val="100000"/>
              </a:lnSpc>
              <a:spcBef>
                <a:spcPts val="600"/>
              </a:spcBef>
              <a:spcAft>
                <a:spcPts val="0"/>
              </a:spcAft>
              <a:buClr>
                <a:schemeClr val="tx2"/>
              </a:buClr>
              <a:buSzPct val="75000"/>
              <a:buFont typeface="Arial" panose="020B0604020202020204" pitchFamily="34" charset="0"/>
              <a:buChar char="–"/>
              <a:tabLst/>
              <a:defRPr/>
            </a:pPr>
            <a:r>
              <a:rPr kumimoji="0" lang="en-US" sz="1700" b="0" i="0" u="none" strike="noStrike" kern="1200" cap="none" spc="0" normalizeH="0" baseline="0" noProof="0" dirty="0">
                <a:ln>
                  <a:noFill/>
                </a:ln>
                <a:solidFill>
                  <a:schemeClr val="tx1"/>
                </a:solidFill>
                <a:effectLst/>
                <a:uLnTx/>
                <a:uFillTx/>
                <a:latin typeface="+mj-lt"/>
                <a:ea typeface="+mn-ea"/>
                <a:cs typeface="+mn-cs"/>
              </a:rPr>
              <a:t>The value of the operand is contained in a field in the instruction being executed</a:t>
            </a: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4"/>
          <p:cNvSpPr>
            <a:spLocks noGrp="1" noChangeArrowheads="1"/>
          </p:cNvSpPr>
          <p:nvPr>
            <p:ph type="title"/>
          </p:nvPr>
        </p:nvSpPr>
        <p:spPr>
          <a:xfrm>
            <a:off x="457200" y="243621"/>
            <a:ext cx="8229600" cy="1097279"/>
          </a:xfrm>
          <a:noFill/>
          <a:ln/>
        </p:spPr>
        <p:txBody>
          <a:bodyPr lIns="90488" tIns="44450" rIns="90488" bIns="44450"/>
          <a:lstStyle/>
          <a:p>
            <a:r>
              <a:rPr lang="en-US" dirty="0"/>
              <a:t>Figure 13.2 </a:t>
            </a:r>
            <a:br>
              <a:rPr lang="en-US" dirty="0"/>
            </a:br>
            <a:r>
              <a:rPr lang="en-US" dirty="0"/>
              <a:t>A Simple Instruction Format</a:t>
            </a:r>
          </a:p>
        </p:txBody>
      </p:sp>
      <p:sp>
        <p:nvSpPr>
          <p:cNvPr id="12293" name="Rectangle 5"/>
          <p:cNvSpPr>
            <a:spLocks noGrp="1" noChangeArrowheads="1"/>
          </p:cNvSpPr>
          <p:nvPr>
            <p:ph type="body" idx="1"/>
          </p:nvPr>
        </p:nvSpPr>
        <p:spPr>
          <a:noFill/>
          <a:ln/>
        </p:spPr>
        <p:txBody>
          <a:bodyPr lIns="90488" tIns="44450" rIns="90488" bIns="44450"/>
          <a:lstStyle/>
          <a:p>
            <a:pPr marL="285750" indent="-285750"/>
            <a:r>
              <a:rPr lang="en-US" dirty="0"/>
              <a:t>Within the computer each instruction is represented by a sequence of bits</a:t>
            </a:r>
          </a:p>
          <a:p>
            <a:pPr marL="285750" indent="-285750"/>
            <a:r>
              <a:rPr lang="en-US" dirty="0"/>
              <a:t>The instruction is divided into fields, corresponding to the constituent elements of the instruction</a:t>
            </a:r>
          </a:p>
        </p:txBody>
      </p:sp>
      <p:pic>
        <p:nvPicPr>
          <p:cNvPr id="3" name="Picture 2" title="A simple instruction contains O P code of 4 bits and two operand references of 6 bits each. The total size of the instruction is 16 bits."/>
          <p:cNvPicPr>
            <a:picLocks noChangeAspect="1"/>
          </p:cNvPicPr>
          <p:nvPr/>
        </p:nvPicPr>
        <p:blipFill rotWithShape="1">
          <a:blip r:embed="rId3">
            <a:extLst>
              <a:ext uri="{28A0092B-C50C-407E-A947-70E740481C1C}">
                <a14:useLocalDpi xmlns:a14="http://schemas.microsoft.com/office/drawing/2010/main" val="0"/>
              </a:ext>
            </a:extLst>
          </a:blip>
          <a:srcRect l="6024" t="33466" r="8137" b="53733"/>
          <a:stretch/>
        </p:blipFill>
        <p:spPr>
          <a:xfrm>
            <a:off x="467544" y="3989438"/>
            <a:ext cx="8208912" cy="1584176"/>
          </a:xfrm>
          <a:prstGeom prst="rect">
            <a:avLst/>
          </a:prstGeom>
        </p:spPr>
      </p:pic>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CD69A2F3-F9D2-4934-A9C2-809D39CD3911}"/>
                  </a:ext>
                </a:extLst>
              </p14:cNvPr>
              <p14:cNvContentPartPr/>
              <p14:nvPr/>
            </p14:nvContentPartPr>
            <p14:xfrm>
              <a:off x="2004840" y="3144240"/>
              <a:ext cx="360" cy="360"/>
            </p14:xfrm>
          </p:contentPart>
        </mc:Choice>
        <mc:Fallback xmlns="">
          <p:pic>
            <p:nvPicPr>
              <p:cNvPr id="5" name="Ink 4">
                <a:extLst>
                  <a:ext uri="{FF2B5EF4-FFF2-40B4-BE49-F238E27FC236}">
                    <a16:creationId xmlns:a16="http://schemas.microsoft.com/office/drawing/2014/main" id="{CD69A2F3-F9D2-4934-A9C2-809D39CD3911}"/>
                  </a:ext>
                </a:extLst>
              </p:cNvPr>
              <p:cNvPicPr/>
              <p:nvPr/>
            </p:nvPicPr>
            <p:blipFill>
              <a:blip r:embed="rId10"/>
              <a:stretch>
                <a:fillRect/>
              </a:stretch>
            </p:blipFill>
            <p:spPr>
              <a:xfrm>
                <a:off x="1995480" y="3134880"/>
                <a:ext cx="19080" cy="19080"/>
              </a:xfrm>
              <a:prstGeom prst="rect">
                <a:avLst/>
              </a:prstGeom>
            </p:spPr>
          </p:pic>
        </mc:Fallback>
      </mc:AlternateContent>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
          <p:cNvSpPr>
            <a:spLocks noGrp="1" noChangeArrowheads="1"/>
          </p:cNvSpPr>
          <p:nvPr>
            <p:ph type="title"/>
          </p:nvPr>
        </p:nvSpPr>
        <p:spPr>
          <a:xfrm>
            <a:off x="457200" y="262871"/>
            <a:ext cx="8229600" cy="1097279"/>
          </a:xfrm>
          <a:noFill/>
          <a:ln/>
        </p:spPr>
        <p:txBody>
          <a:bodyPr lIns="90488" tIns="44450" rIns="90488" bIns="44450"/>
          <a:lstStyle/>
          <a:p>
            <a:r>
              <a:rPr lang="en-US"/>
              <a:t>Instruction Representation</a:t>
            </a:r>
            <a:endParaRPr lang="en-US" dirty="0"/>
          </a:p>
        </p:txBody>
      </p:sp>
      <p:sp>
        <p:nvSpPr>
          <p:cNvPr id="12293" name="Rectangle 5"/>
          <p:cNvSpPr>
            <a:spLocks noGrp="1" noChangeArrowheads="1"/>
          </p:cNvSpPr>
          <p:nvPr>
            <p:ph type="body" idx="1"/>
          </p:nvPr>
        </p:nvSpPr>
        <p:spPr>
          <a:xfrm>
            <a:off x="457200" y="1623950"/>
            <a:ext cx="8229600" cy="4525963"/>
          </a:xfrm>
          <a:noFill/>
          <a:ln/>
        </p:spPr>
        <p:txBody>
          <a:bodyPr lIns="90488" tIns="44450" rIns="90488" bIns="44450">
            <a:normAutofit lnSpcReduction="10000"/>
          </a:bodyPr>
          <a:lstStyle/>
          <a:p>
            <a:pPr marL="285750" indent="-285750">
              <a:buClr>
                <a:schemeClr val="tx2"/>
              </a:buClr>
              <a:buFont typeface="Arial" panose="020B0604020202020204" pitchFamily="34" charset="0"/>
              <a:buChar char="•"/>
            </a:pPr>
            <a:r>
              <a:rPr lang="en-US" sz="2000" dirty="0" err="1"/>
              <a:t>Opcodes</a:t>
            </a:r>
            <a:r>
              <a:rPr lang="en-US" sz="2000" dirty="0"/>
              <a:t> are represented by abbreviations                                                          called  </a:t>
            </a:r>
            <a:r>
              <a:rPr lang="en-US" sz="2000" i="1" dirty="0"/>
              <a:t>mnemonics </a:t>
            </a:r>
            <a:endParaRPr lang="en-US" sz="2000" dirty="0"/>
          </a:p>
          <a:p>
            <a:pPr marL="285750" indent="-285750">
              <a:buClr>
                <a:schemeClr val="tx2"/>
              </a:buClr>
              <a:buFont typeface="Arial" panose="020B0604020202020204" pitchFamily="34" charset="0"/>
              <a:buChar char="•"/>
            </a:pPr>
            <a:r>
              <a:rPr lang="en-US" sz="2000" dirty="0"/>
              <a:t>Examples include:</a:t>
            </a:r>
          </a:p>
          <a:p>
            <a:pPr marL="617538" lvl="1" indent="-320675"/>
            <a:r>
              <a:rPr lang="en-US" sz="1800" dirty="0"/>
              <a:t>ADD	Add</a:t>
            </a:r>
          </a:p>
          <a:p>
            <a:pPr marL="617538" lvl="1" indent="-320675"/>
            <a:r>
              <a:rPr lang="en-US" sz="1800" dirty="0"/>
              <a:t>SUB	Subtract</a:t>
            </a:r>
          </a:p>
          <a:p>
            <a:pPr marL="617538" lvl="1" indent="-320675"/>
            <a:r>
              <a:rPr lang="en-US" sz="1800" dirty="0"/>
              <a:t>MUL	Multiply</a:t>
            </a:r>
          </a:p>
          <a:p>
            <a:pPr marL="617538" lvl="1" indent="-320675"/>
            <a:r>
              <a:rPr lang="en-US" sz="1800" dirty="0"/>
              <a:t>DIV	Divide</a:t>
            </a:r>
          </a:p>
          <a:p>
            <a:pPr marL="617538" lvl="1" indent="-320675"/>
            <a:r>
              <a:rPr lang="en-US" sz="1800" dirty="0"/>
              <a:t>LOAD	Load data from memory</a:t>
            </a:r>
          </a:p>
          <a:p>
            <a:pPr marL="617538" lvl="1" indent="-320675"/>
            <a:r>
              <a:rPr lang="en-US" sz="1800" dirty="0"/>
              <a:t>STOR	Store data to memory</a:t>
            </a:r>
          </a:p>
          <a:p>
            <a:pPr marL="285750" lvl="1" indent="-285750">
              <a:spcBef>
                <a:spcPts val="2000"/>
              </a:spcBef>
              <a:buClr>
                <a:schemeClr val="tx2"/>
              </a:buClr>
              <a:buFont typeface="Arial" panose="020B0604020202020204" pitchFamily="34" charset="0"/>
              <a:buChar char="•"/>
            </a:pPr>
            <a:r>
              <a:rPr lang="en-US" sz="2000" dirty="0"/>
              <a:t>Operands are also represented symbolically</a:t>
            </a:r>
          </a:p>
          <a:p>
            <a:pPr marL="285750" lvl="1" indent="-285750">
              <a:spcBef>
                <a:spcPts val="2000"/>
              </a:spcBef>
              <a:buClr>
                <a:schemeClr val="tx2"/>
              </a:buClr>
              <a:buFont typeface="Arial" panose="020B0604020202020204" pitchFamily="34" charset="0"/>
              <a:buChar char="•"/>
            </a:pPr>
            <a:r>
              <a:rPr lang="en-US" sz="2000" dirty="0"/>
              <a:t>Each symbolic </a:t>
            </a:r>
            <a:r>
              <a:rPr lang="en-US" sz="2000" dirty="0" err="1"/>
              <a:t>opcode</a:t>
            </a:r>
            <a:r>
              <a:rPr lang="en-US" sz="2000" dirty="0"/>
              <a:t> has a fixed binary representation </a:t>
            </a:r>
          </a:p>
          <a:p>
            <a:pPr marL="617538" lvl="1" indent="-320675"/>
            <a:r>
              <a:rPr lang="en-US" sz="1800" dirty="0"/>
              <a:t>The programmer specifies the location of each symbolic operand</a:t>
            </a:r>
          </a:p>
        </p:txBody>
      </p:sp>
    </p:spTree>
    <p:extLst>
      <p:ext uri="{BB962C8B-B14F-4D97-AF65-F5344CB8AC3E}">
        <p14:creationId xmlns:p14="http://schemas.microsoft.com/office/powerpoint/2010/main" val="2769720677"/>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4"/>
          <p:cNvSpPr>
            <a:spLocks noGrp="1" noChangeArrowheads="1"/>
          </p:cNvSpPr>
          <p:nvPr>
            <p:ph type="title"/>
          </p:nvPr>
        </p:nvSpPr>
        <p:spPr>
          <a:xfrm>
            <a:off x="457200" y="129619"/>
            <a:ext cx="8229600" cy="563077"/>
          </a:xfrm>
          <a:noFill/>
          <a:ln/>
        </p:spPr>
        <p:txBody>
          <a:bodyPr lIns="90488" tIns="44450" rIns="90488" bIns="44450"/>
          <a:lstStyle/>
          <a:p>
            <a:pPr algn="ctr"/>
            <a:r>
              <a:rPr lang="en-US" dirty="0"/>
              <a:t>Instruction Types</a:t>
            </a:r>
          </a:p>
        </p:txBody>
      </p:sp>
      <p:graphicFrame>
        <p:nvGraphicFramePr>
          <p:cNvPr id="10" name="Content Placeholder 7"/>
          <p:cNvGraphicFramePr>
            <a:graphicFrameLocks/>
          </p:cNvGraphicFramePr>
          <p:nvPr>
            <p:extLst>
              <p:ext uri="{D42A27DB-BD31-4B8C-83A1-F6EECF244321}">
                <p14:modId xmlns:p14="http://schemas.microsoft.com/office/powerpoint/2010/main" val="2900018392"/>
              </p:ext>
            </p:extLst>
          </p:nvPr>
        </p:nvGraphicFramePr>
        <p:xfrm>
          <a:off x="163945" y="895927"/>
          <a:ext cx="8839200" cy="5486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AlternateContent xmlns:mc="http://schemas.openxmlformats.org/markup-compatibility/2006" xmlns:p14="http://schemas.microsoft.com/office/powerpoint/2010/main">
        <mc:Choice Requires="p14">
          <p:contentPart p14:bwMode="auto" r:id="rId8">
            <p14:nvContentPartPr>
              <p14:cNvPr id="2" name="Ink 1">
                <a:extLst>
                  <a:ext uri="{FF2B5EF4-FFF2-40B4-BE49-F238E27FC236}">
                    <a16:creationId xmlns:a16="http://schemas.microsoft.com/office/drawing/2014/main" id="{515EF646-6CD9-49E6-A286-7FF86C05398B}"/>
                  </a:ext>
                </a:extLst>
              </p14:cNvPr>
              <p14:cNvContentPartPr/>
              <p14:nvPr/>
            </p14:nvContentPartPr>
            <p14:xfrm>
              <a:off x="1806840" y="1510200"/>
              <a:ext cx="360" cy="360"/>
            </p14:xfrm>
          </p:contentPart>
        </mc:Choice>
        <mc:Fallback xmlns="">
          <p:pic>
            <p:nvPicPr>
              <p:cNvPr id="2" name="Ink 1">
                <a:extLst>
                  <a:ext uri="{FF2B5EF4-FFF2-40B4-BE49-F238E27FC236}">
                    <a16:creationId xmlns:a16="http://schemas.microsoft.com/office/drawing/2014/main" id="{515EF646-6CD9-49E6-A286-7FF86C05398B}"/>
                  </a:ext>
                </a:extLst>
              </p:cNvPr>
              <p:cNvPicPr/>
              <p:nvPr/>
            </p:nvPicPr>
            <p:blipFill>
              <a:blip r:embed="rId11"/>
              <a:stretch>
                <a:fillRect/>
              </a:stretch>
            </p:blipFill>
            <p:spPr>
              <a:xfrm>
                <a:off x="1797480" y="1500840"/>
                <a:ext cx="19080" cy="19080"/>
              </a:xfrm>
              <a:prstGeom prst="rect">
                <a:avLst/>
              </a:prstGeom>
            </p:spPr>
          </p:pic>
        </mc:Fallback>
      </mc:AlternateContent>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Rectangle 4"/>
              <p:cNvSpPr>
                <a:spLocks noGrp="1" noChangeArrowheads="1"/>
              </p:cNvSpPr>
              <p:nvPr>
                <p:ph type="title"/>
              </p:nvPr>
            </p:nvSpPr>
            <p:spPr>
              <a:xfrm>
                <a:off x="457200" y="62021"/>
                <a:ext cx="8229600" cy="1460479"/>
              </a:xfrm>
              <a:noFill/>
              <a:ln/>
            </p:spPr>
            <p:txBody>
              <a:bodyPr lIns="90488" tIns="44450" rIns="90488" bIns="44450"/>
              <a:lstStyle/>
              <a:p>
                <a:r>
                  <a:rPr lang="en-US" dirty="0"/>
                  <a:t>Figure 13.3 </a:t>
                </a:r>
                <a:br>
                  <a:rPr lang="en-US" dirty="0"/>
                </a:br>
                <a:r>
                  <a:rPr lang="en-US" dirty="0"/>
                  <a:t>Programs to Execute Y </a:t>
                </a:r>
                <a:r>
                  <a:rPr lang="en-US" dirty="0">
                    <a:latin typeface="+mj-lt"/>
                  </a:rPr>
                  <a:t>= </a:t>
                </a:r>
                <a14:m>
                  <m:oMath xmlns:m="http://schemas.openxmlformats.org/officeDocument/2006/math">
                    <m:f>
                      <m:fPr>
                        <m:ctrlPr>
                          <a:rPr lang="en-US" i="1" smtClean="0">
                            <a:latin typeface="Cambria Math" panose="02040503050406030204" pitchFamily="18" charset="0"/>
                          </a:rPr>
                        </m:ctrlPr>
                      </m:fPr>
                      <m:num>
                        <m:r>
                          <a:rPr lang="en-IN" b="1" i="0" smtClean="0">
                            <a:latin typeface="Cambria Math" panose="02040503050406030204" pitchFamily="18" charset="0"/>
                          </a:rPr>
                          <m:t>𝐀</m:t>
                        </m:r>
                        <m:r>
                          <a:rPr lang="en-IN" b="1" i="0" smtClean="0">
                            <a:latin typeface="Cambria Math" panose="02040503050406030204" pitchFamily="18" charset="0"/>
                          </a:rPr>
                          <m:t> – </m:t>
                        </m:r>
                        <m:r>
                          <a:rPr lang="en-IN" b="1" i="0" smtClean="0">
                            <a:latin typeface="Cambria Math" panose="02040503050406030204" pitchFamily="18" charset="0"/>
                          </a:rPr>
                          <m:t>𝐁</m:t>
                        </m:r>
                      </m:num>
                      <m:den>
                        <m:r>
                          <a:rPr lang="en-IN" b="1" i="0" smtClean="0">
                            <a:latin typeface="Cambria Math" panose="02040503050406030204" pitchFamily="18" charset="0"/>
                          </a:rPr>
                          <m:t>𝐂</m:t>
                        </m:r>
                        <m:r>
                          <a:rPr lang="en-IN" b="1" i="0" smtClean="0">
                            <a:latin typeface="Cambria Math" panose="02040503050406030204" pitchFamily="18" charset="0"/>
                          </a:rPr>
                          <m:t> + (</m:t>
                        </m:r>
                        <m:r>
                          <a:rPr lang="en-IN" b="1" i="0" smtClean="0">
                            <a:latin typeface="Cambria Math" panose="02040503050406030204" pitchFamily="18" charset="0"/>
                          </a:rPr>
                          <m:t>𝐃</m:t>
                        </m:r>
                        <m:r>
                          <a:rPr lang="en-IN" b="1" i="0" smtClean="0">
                            <a:latin typeface="Cambria Math" panose="02040503050406030204" pitchFamily="18" charset="0"/>
                            <a:sym typeface="Symbol" panose="05050102010706020507" pitchFamily="18" charset="2"/>
                          </a:rPr>
                          <m:t></m:t>
                        </m:r>
                        <m:r>
                          <a:rPr lang="en-IN" b="1" i="0" smtClean="0">
                            <a:latin typeface="Cambria Math" panose="02040503050406030204" pitchFamily="18" charset="0"/>
                            <a:sym typeface="Symbol" panose="05050102010706020507" pitchFamily="18" charset="2"/>
                          </a:rPr>
                          <m:t>𝐄</m:t>
                        </m:r>
                        <m:r>
                          <a:rPr lang="en-IN" b="1" i="0" smtClean="0">
                            <a:latin typeface="Cambria Math" panose="02040503050406030204" pitchFamily="18" charset="0"/>
                          </a:rPr>
                          <m:t>)</m:t>
                        </m:r>
                      </m:den>
                    </m:f>
                  </m:oMath>
                </a14:m>
                <a:endParaRPr lang="en-US" dirty="0">
                  <a:latin typeface="+mj-lt"/>
                </a:endParaRPr>
              </a:p>
            </p:txBody>
          </p:sp>
        </mc:Choice>
        <mc:Fallback xmlns="">
          <p:sp>
            <p:nvSpPr>
              <p:cNvPr id="6" name="Rectangle 4"/>
              <p:cNvSpPr>
                <a:spLocks noGrp="1" noRot="1" noChangeAspect="1" noMove="1" noResize="1" noEditPoints="1" noAdjustHandles="1" noChangeArrowheads="1" noChangeShapeType="1" noTextEdit="1"/>
              </p:cNvSpPr>
              <p:nvPr>
                <p:ph type="title"/>
              </p:nvPr>
            </p:nvSpPr>
            <p:spPr>
              <a:xfrm>
                <a:off x="457200" y="62021"/>
                <a:ext cx="8229600" cy="1460479"/>
              </a:xfrm>
              <a:blipFill>
                <a:blip r:embed="rId5"/>
                <a:stretch>
                  <a:fillRect l="-2074" t="-3750" b="-2083"/>
                </a:stretch>
              </a:blipFill>
              <a:ln/>
            </p:spPr>
            <p:txBody>
              <a:bodyPr/>
              <a:lstStyle/>
              <a:p>
                <a:r>
                  <a:rPr lang="en-IN">
                    <a:noFill/>
                  </a:rPr>
                  <a:t> </a:t>
                </a:r>
              </a:p>
            </p:txBody>
          </p:sp>
        </mc:Fallback>
      </mc:AlternateContent>
      <p:pic>
        <p:nvPicPr>
          <p:cNvPr id="3" name="Picture 2" descr="The equation reads, y equals start fraction A minus B over C plus left parenthesis D multiplied with E right parenthesis. Diagram A. Three address instructions. Instruction S U B, Y comma A comma B. Comment Y left headed arrow A minus B. Instruction M P Y, T comma D comma E. Comment T left headed arrow D multiplied with E. Instruction ADD T comma T comma C. Comment T left headed arrow T plus C. Instruction D I V, Y comma Y comma T. Comment Y left headed arrow Y divided by T. Diagram B. Two address instructions. Instruction MOVE Y comma A. Comment Y left headed arrow A. Instruction S U B Y comma B. Comment Y left headed arrow Y minus B. Instruction MOVE T comma D. Comment T left headed arrow D. Instruction M P Y T comma E. Comment T left headed arrow T multiplied with E. Instruction ADD T comma C. Comment T left headed arrow T plus c. Instruction D I V, Y comma T. Comment Y left headed arrow Y divided by T. Diagram C One address instructions. Instruction LOAD D Comment A C left headed arrow D. Instruction M P Y, E Comment A C left headed arrow A C multiplied with E. Instruction ADD C. Comment A C left headed A C plus c. Instruction S T O R, Y. Comment Y left headed arrow A C. Instruction Load A. Comment A C left headed arrow A. Instruction S U B, B. Comment A C left headed arrow A C minus B. Instruction D I V, Y. Comment A C left headed arrow A C divided by Y. Instruction S T O R, Y. Comment Y left headed arrow A C. " title="A diagram compares the one dash, two dash and three dash address instructions that could be used to execute the computer program."/>
          <p:cNvPicPr>
            <a:picLocks noChangeAspect="1"/>
          </p:cNvPicPr>
          <p:nvPr/>
        </p:nvPicPr>
        <p:blipFill rotWithShape="1">
          <a:blip r:embed="rId6">
            <a:extLst>
              <a:ext uri="{28A0092B-C50C-407E-A947-70E740481C1C}">
                <a14:useLocalDpi xmlns:a14="http://schemas.microsoft.com/office/drawing/2010/main" val="0"/>
              </a:ext>
            </a:extLst>
          </a:blip>
          <a:srcRect l="9536" t="10625" r="9928" b="52531"/>
          <a:stretch/>
        </p:blipFill>
        <p:spPr>
          <a:xfrm>
            <a:off x="923244" y="1700213"/>
            <a:ext cx="7297512" cy="4320480"/>
          </a:xfrm>
          <a:prstGeom prst="rect">
            <a:avLst/>
          </a:prstGeom>
        </p:spPr>
      </p:pic>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p:cNvSpPr>
            <a:spLocks noGrp="1" noChangeArrowheads="1"/>
          </p:cNvSpPr>
          <p:nvPr>
            <p:ph type="title"/>
          </p:nvPr>
        </p:nvSpPr>
        <p:spPr>
          <a:xfrm>
            <a:off x="457200" y="238297"/>
            <a:ext cx="8229600" cy="1606527"/>
          </a:xfrm>
          <a:noFill/>
          <a:ln/>
        </p:spPr>
        <p:txBody>
          <a:bodyPr lIns="90488" tIns="44450" rIns="90488" bIns="44450"/>
          <a:lstStyle/>
          <a:p>
            <a:r>
              <a:rPr lang="en-US" dirty="0"/>
              <a:t>Table 13.1 </a:t>
            </a:r>
            <a:br>
              <a:rPr lang="en-US" dirty="0"/>
            </a:br>
            <a:r>
              <a:rPr lang="en-US" dirty="0"/>
              <a:t>Utilization of Instruction Addresses (</a:t>
            </a:r>
            <a:r>
              <a:rPr lang="en-US" dirty="0" err="1"/>
              <a:t>Nonbranching</a:t>
            </a:r>
            <a:r>
              <a:rPr lang="en-US" dirty="0"/>
              <a:t> Instructions)</a:t>
            </a:r>
          </a:p>
        </p:txBody>
      </p:sp>
      <p:graphicFrame>
        <p:nvGraphicFramePr>
          <p:cNvPr id="2" name="Table 1" descr="The table has 3 columns labeled, number of addresses, symbolic representation, and interpretation. The rows read as follows from left to right. Row 1. 3. O P, A, B, C. A, Left arrow, B, O P, C. Row 2. 2 O P, A, B. A, left arrow, A, O P, B. Row 3. 1, O P, A. A C, left arrow, A C, O P, A. Row 4. 0. O P. T left arrow, left parenthesis T minus 1 right parenthesis, O P, T." title="A table titled utilization of instruction addresses, nonbranching instructions"/>
          <p:cNvGraphicFramePr>
            <a:graphicFrameLocks noGrp="1"/>
          </p:cNvGraphicFramePr>
          <p:nvPr>
            <p:extLst>
              <p:ext uri="{D42A27DB-BD31-4B8C-83A1-F6EECF244321}">
                <p14:modId xmlns:p14="http://schemas.microsoft.com/office/powerpoint/2010/main" val="2183800310"/>
              </p:ext>
            </p:extLst>
          </p:nvPr>
        </p:nvGraphicFramePr>
        <p:xfrm>
          <a:off x="323528" y="2227768"/>
          <a:ext cx="8568952" cy="1854200"/>
        </p:xfrm>
        <a:graphic>
          <a:graphicData uri="http://schemas.openxmlformats.org/drawingml/2006/table">
            <a:tbl>
              <a:tblPr firstRow="1" bandRow="1">
                <a:tableStyleId>{08FB837D-C827-4EFA-A057-4D05807E0F7C}</a:tableStyleId>
              </a:tblPr>
              <a:tblGrid>
                <a:gridCol w="2376264">
                  <a:extLst>
                    <a:ext uri="{9D8B030D-6E8A-4147-A177-3AD203B41FA5}">
                      <a16:colId xmlns:a16="http://schemas.microsoft.com/office/drawing/2014/main" val="409927514"/>
                    </a:ext>
                  </a:extLst>
                </a:gridCol>
                <a:gridCol w="3193555">
                  <a:extLst>
                    <a:ext uri="{9D8B030D-6E8A-4147-A177-3AD203B41FA5}">
                      <a16:colId xmlns:a16="http://schemas.microsoft.com/office/drawing/2014/main" val="780522873"/>
                    </a:ext>
                  </a:extLst>
                </a:gridCol>
                <a:gridCol w="2999133">
                  <a:extLst>
                    <a:ext uri="{9D8B030D-6E8A-4147-A177-3AD203B41FA5}">
                      <a16:colId xmlns:a16="http://schemas.microsoft.com/office/drawing/2014/main" val="1707262075"/>
                    </a:ext>
                  </a:extLst>
                </a:gridCol>
              </a:tblGrid>
              <a:tr h="370840">
                <a:tc>
                  <a:txBody>
                    <a:bodyPr/>
                    <a:lstStyle/>
                    <a:p>
                      <a:pPr algn="l"/>
                      <a:r>
                        <a:rPr lang="en-IN" dirty="0">
                          <a:solidFill>
                            <a:schemeClr val="tx1"/>
                          </a:solidFill>
                        </a:rPr>
                        <a:t>Number of Addresses</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l"/>
                      <a:r>
                        <a:rPr lang="en-IN" dirty="0">
                          <a:solidFill>
                            <a:schemeClr val="tx1"/>
                          </a:solidFill>
                        </a:rPr>
                        <a:t>Symbolic Representation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153988" indent="-153988" algn="l"/>
                      <a:r>
                        <a:rPr lang="en-IN" dirty="0">
                          <a:solidFill>
                            <a:schemeClr val="tx1"/>
                          </a:solidFill>
                        </a:rPr>
                        <a:t>	Interpretation</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868139502"/>
                  </a:ext>
                </a:extLst>
              </a:tr>
              <a:tr h="370840">
                <a:tc>
                  <a:txBody>
                    <a:bodyPr/>
                    <a:lstStyle/>
                    <a:p>
                      <a:pPr marL="606425" indent="-606425" algn="l"/>
                      <a:r>
                        <a:rPr lang="en-IN" dirty="0"/>
                        <a:t>	3</a:t>
                      </a:r>
                    </a:p>
                  </a:txBody>
                  <a:tcPr>
                    <a:lnL w="12700" cap="flat" cmpd="sng" algn="ctr">
                      <a:solidFill>
                        <a:schemeClr val="tx1"/>
                      </a:solidFill>
                      <a:prstDash val="solid"/>
                      <a:round/>
                      <a:headEnd type="none" w="med" len="med"/>
                      <a:tailEnd type="none" w="med" len="med"/>
                    </a:lnL>
                    <a:lnR w="9525" cap="flat" cmpd="sng" algn="ctr">
                      <a:noFill/>
                      <a:prstDash val="solid"/>
                    </a:lnR>
                    <a:lnT w="12700" cap="flat" cmpd="sng" algn="ctr">
                      <a:solidFill>
                        <a:schemeClr val="tx1"/>
                      </a:solid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solidFill>
                      <a:schemeClr val="accent6">
                        <a:lumMod val="40000"/>
                        <a:lumOff val="60000"/>
                      </a:schemeClr>
                    </a:solidFill>
                  </a:tcPr>
                </a:tc>
                <a:tc>
                  <a:txBody>
                    <a:bodyPr/>
                    <a:lstStyle/>
                    <a:p>
                      <a:pPr marL="288925" indent="-288925" algn="l"/>
                      <a:r>
                        <a:rPr lang="en-IN" dirty="0"/>
                        <a:t>	OP A, B, C</a:t>
                      </a:r>
                    </a:p>
                  </a:txBody>
                  <a:tcPr>
                    <a:lnL w="9525" cap="flat" cmpd="sng" algn="ctr">
                      <a:noFill/>
                      <a:prstDash val="solid"/>
                    </a:lnL>
                    <a:lnR w="9525" cap="flat" cmpd="sng" algn="ctr">
                      <a:noFill/>
                      <a:prstDash val="solid"/>
                    </a:lnR>
                    <a:lnT w="12700" cap="flat" cmpd="sng" algn="ctr">
                      <a:solidFill>
                        <a:schemeClr val="tx1"/>
                      </a:solid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solidFill>
                      <a:schemeClr val="accent6">
                        <a:lumMod val="40000"/>
                        <a:lumOff val="60000"/>
                      </a:schemeClr>
                    </a:solidFill>
                  </a:tcPr>
                </a:tc>
                <a:tc>
                  <a:txBody>
                    <a:bodyPr/>
                    <a:lstStyle/>
                    <a:p>
                      <a:pPr marL="153988" indent="-153988" algn="l"/>
                      <a:r>
                        <a:rPr lang="en-IN" dirty="0"/>
                        <a:t>	A </a:t>
                      </a:r>
                      <a:r>
                        <a:rPr lang="en-IN" dirty="0">
                          <a:latin typeface="Arial" panose="020B0604020202020204" pitchFamily="34" charset="0"/>
                          <a:cs typeface="Arial" panose="020B0604020202020204" pitchFamily="34" charset="0"/>
                        </a:rPr>
                        <a:t>←</a:t>
                      </a:r>
                      <a:r>
                        <a:rPr lang="en-IN" dirty="0"/>
                        <a:t> B OP C</a:t>
                      </a:r>
                    </a:p>
                  </a:txBody>
                  <a:tcPr>
                    <a:lnL w="9525" cap="flat" cmpd="sng" algn="ctr">
                      <a:no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1611918589"/>
                  </a:ext>
                </a:extLst>
              </a:tr>
              <a:tr h="370840">
                <a:tc>
                  <a:txBody>
                    <a:bodyPr/>
                    <a:lstStyle/>
                    <a:p>
                      <a:pPr marL="606425" marR="0" indent="-606425" algn="l" defTabSz="914400" rtl="0" eaLnBrk="1" fontAlgn="auto" latinLnBrk="0" hangingPunct="1">
                        <a:lnSpc>
                          <a:spcPct val="100000"/>
                        </a:lnSpc>
                        <a:spcBef>
                          <a:spcPts val="0"/>
                        </a:spcBef>
                        <a:spcAft>
                          <a:spcPts val="0"/>
                        </a:spcAft>
                        <a:buClrTx/>
                        <a:buSzTx/>
                        <a:buFontTx/>
                        <a:buNone/>
                        <a:tabLst/>
                        <a:defRPr/>
                      </a:pPr>
                      <a:r>
                        <a:rPr lang="en-IN" dirty="0"/>
                        <a:t>	2</a:t>
                      </a:r>
                    </a:p>
                  </a:txBody>
                  <a:tcPr>
                    <a:lnL w="12700" cap="flat" cmpd="sng" algn="ctr">
                      <a:solidFill>
                        <a:schemeClr val="tx1"/>
                      </a:solidFill>
                      <a:prstDash val="solid"/>
                      <a:round/>
                      <a:headEnd type="none" w="med" len="med"/>
                      <a:tailEnd type="none" w="med" len="me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6">
                        <a:lumMod val="40000"/>
                        <a:lumOff val="60000"/>
                      </a:schemeClr>
                    </a:solidFill>
                  </a:tcPr>
                </a:tc>
                <a:tc>
                  <a:txBody>
                    <a:bodyPr/>
                    <a:lstStyle/>
                    <a:p>
                      <a:pPr marL="288925" indent="-288925" algn="l"/>
                      <a:r>
                        <a:rPr lang="en-IN" dirty="0"/>
                        <a:t>	OP A, B</a:t>
                      </a:r>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6">
                        <a:lumMod val="40000"/>
                        <a:lumOff val="60000"/>
                      </a:schemeClr>
                    </a:solidFill>
                  </a:tcPr>
                </a:tc>
                <a:tc>
                  <a:txBody>
                    <a:bodyPr/>
                    <a:lstStyle/>
                    <a:p>
                      <a:pPr marL="153988" indent="-153988" algn="l"/>
                      <a:r>
                        <a:rPr lang="pt-BR" dirty="0"/>
                        <a:t>	A </a:t>
                      </a:r>
                      <a:r>
                        <a:rPr lang="en-IN" dirty="0">
                          <a:latin typeface="Arial" panose="020B0604020202020204" pitchFamily="34" charset="0"/>
                          <a:cs typeface="Arial" panose="020B0604020202020204" pitchFamily="34" charset="0"/>
                        </a:rPr>
                        <a:t>←</a:t>
                      </a:r>
                      <a:r>
                        <a:rPr lang="pt-BR" dirty="0"/>
                        <a:t> A OP B</a:t>
                      </a:r>
                      <a:endParaRPr lang="en-IN" dirty="0"/>
                    </a:p>
                  </a:txBody>
                  <a:tcPr>
                    <a:lnL w="9525" cap="flat" cmpd="sng" algn="ctr">
                      <a:noFill/>
                      <a:prstDash val="solid"/>
                    </a:lnL>
                    <a:lnR w="12700" cap="flat" cmpd="sng" algn="ctr">
                      <a:solidFill>
                        <a:schemeClr val="tx1"/>
                      </a:solid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1161435984"/>
                  </a:ext>
                </a:extLst>
              </a:tr>
              <a:tr h="370840">
                <a:tc>
                  <a:txBody>
                    <a:bodyPr/>
                    <a:lstStyle/>
                    <a:p>
                      <a:pPr marL="606425" marR="0" indent="-606425" algn="l" defTabSz="914400" rtl="0" eaLnBrk="1" fontAlgn="auto" latinLnBrk="0" hangingPunct="1">
                        <a:lnSpc>
                          <a:spcPct val="100000"/>
                        </a:lnSpc>
                        <a:spcBef>
                          <a:spcPts val="0"/>
                        </a:spcBef>
                        <a:spcAft>
                          <a:spcPts val="0"/>
                        </a:spcAft>
                        <a:buClrTx/>
                        <a:buSzTx/>
                        <a:buFontTx/>
                        <a:buNone/>
                        <a:tabLst/>
                        <a:defRPr/>
                      </a:pPr>
                      <a:r>
                        <a:rPr lang="en-IN" dirty="0"/>
                        <a:t>	1</a:t>
                      </a:r>
                    </a:p>
                  </a:txBody>
                  <a:tcPr>
                    <a:lnL w="12700" cap="flat" cmpd="sng" algn="ctr">
                      <a:solidFill>
                        <a:schemeClr val="tx1"/>
                      </a:solidFill>
                      <a:prstDash val="solid"/>
                      <a:round/>
                      <a:headEnd type="none" w="med" len="med"/>
                      <a:tailEnd type="none" w="med" len="me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6">
                        <a:lumMod val="40000"/>
                        <a:lumOff val="60000"/>
                      </a:schemeClr>
                    </a:solidFill>
                  </a:tcPr>
                </a:tc>
                <a:tc>
                  <a:txBody>
                    <a:bodyPr/>
                    <a:lstStyle/>
                    <a:p>
                      <a:pPr marL="288925" indent="-288925" algn="l"/>
                      <a:r>
                        <a:rPr lang="en-IN" dirty="0"/>
                        <a:t>	OP A</a:t>
                      </a:r>
                    </a:p>
                  </a:txBody>
                  <a:tcPr>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6">
                        <a:lumMod val="40000"/>
                        <a:lumOff val="60000"/>
                      </a:schemeClr>
                    </a:solidFill>
                  </a:tcPr>
                </a:tc>
                <a:tc>
                  <a:txBody>
                    <a:bodyPr/>
                    <a:lstStyle/>
                    <a:p>
                      <a:pPr marL="153988" indent="-153988" algn="l"/>
                      <a:r>
                        <a:rPr lang="en-IN" dirty="0"/>
                        <a:t>	AC </a:t>
                      </a:r>
                      <a:r>
                        <a:rPr lang="en-IN" dirty="0">
                          <a:latin typeface="Arial" panose="020B0604020202020204" pitchFamily="34" charset="0"/>
                          <a:cs typeface="Arial" panose="020B0604020202020204" pitchFamily="34" charset="0"/>
                        </a:rPr>
                        <a:t>←</a:t>
                      </a:r>
                      <a:r>
                        <a:rPr lang="en-IN" dirty="0"/>
                        <a:t> AC OP A</a:t>
                      </a:r>
                    </a:p>
                  </a:txBody>
                  <a:tcPr>
                    <a:lnL w="9525" cap="flat" cmpd="sng" algn="ctr">
                      <a:noFill/>
                      <a:prstDash val="solid"/>
                    </a:lnL>
                    <a:lnR w="12700" cap="flat" cmpd="sng" algn="ctr">
                      <a:solidFill>
                        <a:schemeClr val="tx1"/>
                      </a:solidFill>
                      <a:prstDash val="solid"/>
                      <a:round/>
                      <a:headEnd type="none" w="med" len="med"/>
                      <a:tailEnd type="none" w="med" len="me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1659011706"/>
                  </a:ext>
                </a:extLst>
              </a:tr>
              <a:tr h="370840">
                <a:tc>
                  <a:txBody>
                    <a:bodyPr/>
                    <a:lstStyle/>
                    <a:p>
                      <a:pPr marL="606425" marR="0" indent="-606425" algn="l" defTabSz="914400" rtl="0" eaLnBrk="1" fontAlgn="auto" latinLnBrk="0" hangingPunct="1">
                        <a:lnSpc>
                          <a:spcPct val="100000"/>
                        </a:lnSpc>
                        <a:spcBef>
                          <a:spcPts val="0"/>
                        </a:spcBef>
                        <a:spcAft>
                          <a:spcPts val="0"/>
                        </a:spcAft>
                        <a:buClrTx/>
                        <a:buSzTx/>
                        <a:buFontTx/>
                        <a:buNone/>
                        <a:tabLst/>
                        <a:defRPr/>
                      </a:pPr>
                      <a:r>
                        <a:rPr lang="en-IN" dirty="0"/>
                        <a:t>	0</a:t>
                      </a:r>
                    </a:p>
                  </a:txBody>
                  <a:tcPr>
                    <a:lnL w="12700" cap="flat" cmpd="sng" algn="ctr">
                      <a:solidFill>
                        <a:schemeClr val="tx1"/>
                      </a:solidFill>
                      <a:prstDash val="solid"/>
                      <a:round/>
                      <a:headEnd type="none" w="med" len="med"/>
                      <a:tailEnd type="none" w="med" len="med"/>
                    </a:lnL>
                    <a:lnR w="9525" cap="flat" cmpd="sng" algn="ctr">
                      <a:noFill/>
                      <a:prstDash val="solid"/>
                    </a:lnR>
                    <a:lnT w="9525" cap="flat" cmpd="sng" algn="ctr">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288925" indent="-288925" algn="l"/>
                      <a:r>
                        <a:rPr lang="en-IN" dirty="0"/>
                        <a:t>	OP</a:t>
                      </a:r>
                    </a:p>
                  </a:txBody>
                  <a:tcPr>
                    <a:lnL w="9525" cap="flat" cmpd="sng" algn="ctr">
                      <a:noFill/>
                      <a:prstDash val="solid"/>
                    </a:lnL>
                    <a:lnR w="9525" cap="flat" cmpd="sng" algn="ctr">
                      <a:noFill/>
                      <a:prstDash val="solid"/>
                    </a:lnR>
                    <a:lnT w="9525" cap="flat" cmpd="sng" algn="ctr">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153988" indent="-153988" algn="l"/>
                      <a:r>
                        <a:rPr lang="en-IN" dirty="0"/>
                        <a:t>	T </a:t>
                      </a:r>
                      <a:r>
                        <a:rPr lang="en-IN" dirty="0">
                          <a:latin typeface="Arial" panose="020B0604020202020204" pitchFamily="34" charset="0"/>
                          <a:cs typeface="Arial" panose="020B0604020202020204" pitchFamily="34" charset="0"/>
                        </a:rPr>
                        <a:t>←</a:t>
                      </a:r>
                      <a:r>
                        <a:rPr lang="en-IN" dirty="0"/>
                        <a:t> (T – 1) OP T</a:t>
                      </a:r>
                    </a:p>
                  </a:txBody>
                  <a:tcPr>
                    <a:lnL w="9525" cap="flat" cmpd="sng" algn="ctr">
                      <a:noFill/>
                      <a:prstDash val="solid"/>
                    </a:lnL>
                    <a:lnR w="12700" cap="flat" cmpd="sng" algn="ctr">
                      <a:solidFill>
                        <a:schemeClr val="tx1"/>
                      </a:solidFill>
                      <a:prstDash val="solid"/>
                      <a:round/>
                      <a:headEnd type="none" w="med" len="med"/>
                      <a:tailEnd type="none" w="med" len="med"/>
                    </a:lnR>
                    <a:lnT w="9525" cap="flat" cmpd="sng" algn="ctr">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898558595"/>
                  </a:ext>
                </a:extLst>
              </a:tr>
            </a:tbl>
          </a:graphicData>
        </a:graphic>
      </p:graphicFrame>
      <p:sp>
        <p:nvSpPr>
          <p:cNvPr id="3" name="TextBox 2"/>
          <p:cNvSpPr txBox="1"/>
          <p:nvPr/>
        </p:nvSpPr>
        <p:spPr>
          <a:xfrm>
            <a:off x="298195" y="4151982"/>
            <a:ext cx="3740448" cy="1077218"/>
          </a:xfrm>
          <a:prstGeom prst="rect">
            <a:avLst/>
          </a:prstGeom>
          <a:noFill/>
        </p:spPr>
        <p:txBody>
          <a:bodyPr wrap="none" rtlCol="0">
            <a:spAutoFit/>
          </a:bodyPr>
          <a:lstStyle/>
          <a:p>
            <a:pPr marL="779463" indent="-779463"/>
            <a:r>
              <a:rPr lang="en-US" sz="1600" dirty="0">
                <a:latin typeface="+mj-lt"/>
              </a:rPr>
              <a:t>AC 	= accumulator</a:t>
            </a:r>
          </a:p>
          <a:p>
            <a:pPr marL="779463" indent="-779463"/>
            <a:r>
              <a:rPr lang="en-US" sz="1600" dirty="0">
                <a:latin typeface="+mj-lt"/>
              </a:rPr>
              <a:t>T 	= top of stack</a:t>
            </a:r>
          </a:p>
          <a:p>
            <a:pPr marL="779463" indent="-779463"/>
            <a:r>
              <a:rPr lang="en-US" sz="1600" dirty="0">
                <a:latin typeface="+mj-lt"/>
              </a:rPr>
              <a:t>(T – 1) 	= second element of stack</a:t>
            </a:r>
          </a:p>
          <a:p>
            <a:pPr marL="779463" indent="-779463"/>
            <a:r>
              <a:rPr lang="en-US" sz="1600" dirty="0">
                <a:latin typeface="+mj-lt"/>
              </a:rPr>
              <a:t>A, B, C 	= memory or register locations</a:t>
            </a:r>
            <a:endParaRPr lang="en-IN" sz="1600" dirty="0">
              <a:latin typeface="+mj-lt"/>
            </a:endParaRP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4"/>
          <p:cNvSpPr>
            <a:spLocks noGrp="1" noChangeArrowheads="1"/>
          </p:cNvSpPr>
          <p:nvPr>
            <p:ph type="title"/>
          </p:nvPr>
        </p:nvSpPr>
        <p:spPr>
          <a:xfrm>
            <a:off x="457200" y="188640"/>
            <a:ext cx="8229600" cy="619385"/>
          </a:xfrm>
        </p:spPr>
        <p:txBody>
          <a:bodyPr/>
          <a:lstStyle/>
          <a:p>
            <a:r>
              <a:rPr lang="en-US" dirty="0"/>
              <a:t>Instruction Set Design</a:t>
            </a:r>
          </a:p>
        </p:txBody>
      </p:sp>
      <p:graphicFrame>
        <p:nvGraphicFramePr>
          <p:cNvPr id="9" name="Content Placeholder 30"/>
          <p:cNvGraphicFramePr>
            <a:graphicFrameLocks/>
          </p:cNvGraphicFramePr>
          <p:nvPr>
            <p:extLst>
              <p:ext uri="{D42A27DB-BD31-4B8C-83A1-F6EECF244321}">
                <p14:modId xmlns:p14="http://schemas.microsoft.com/office/powerpoint/2010/main" val="2156778028"/>
              </p:ext>
            </p:extLst>
          </p:nvPr>
        </p:nvGraphicFramePr>
        <p:xfrm>
          <a:off x="327891" y="860463"/>
          <a:ext cx="8534400" cy="5486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4"/>
          <p:cNvSpPr>
            <a:spLocks noGrp="1" noChangeArrowheads="1"/>
          </p:cNvSpPr>
          <p:nvPr>
            <p:ph type="title"/>
          </p:nvPr>
        </p:nvSpPr>
        <p:spPr>
          <a:xfrm>
            <a:off x="457200" y="231614"/>
            <a:ext cx="8229600" cy="1097279"/>
          </a:xfrm>
          <a:noFill/>
          <a:ln/>
        </p:spPr>
        <p:txBody>
          <a:bodyPr lIns="90488" tIns="44450" rIns="90488" bIns="44450"/>
          <a:lstStyle/>
          <a:p>
            <a:r>
              <a:rPr lang="en-US" dirty="0"/>
              <a:t>Types of Operands</a:t>
            </a:r>
          </a:p>
        </p:txBody>
      </p:sp>
      <p:graphicFrame>
        <p:nvGraphicFramePr>
          <p:cNvPr id="9" name="Content Placeholder 5"/>
          <p:cNvGraphicFramePr>
            <a:graphicFrameLocks/>
          </p:cNvGraphicFramePr>
          <p:nvPr>
            <p:extLst>
              <p:ext uri="{D42A27DB-BD31-4B8C-83A1-F6EECF244321}">
                <p14:modId xmlns:p14="http://schemas.microsoft.com/office/powerpoint/2010/main" val="633195565"/>
              </p:ext>
            </p:extLst>
          </p:nvPr>
        </p:nvGraphicFramePr>
        <p:xfrm>
          <a:off x="685800" y="1721922"/>
          <a:ext cx="7888184" cy="457892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9114"/>
            <a:ext cx="8229600" cy="1097279"/>
          </a:xfrm>
        </p:spPr>
        <p:txBody>
          <a:bodyPr/>
          <a:lstStyle/>
          <a:p>
            <a:r>
              <a:rPr lang="en-US" dirty="0"/>
              <a:t>Numbers </a:t>
            </a:r>
          </a:p>
        </p:txBody>
      </p:sp>
      <p:sp>
        <p:nvSpPr>
          <p:cNvPr id="3" name="Content Placeholder 2"/>
          <p:cNvSpPr>
            <a:spLocks noGrp="1"/>
          </p:cNvSpPr>
          <p:nvPr>
            <p:ph type="body" idx="1"/>
          </p:nvPr>
        </p:nvSpPr>
        <p:spPr>
          <a:xfrm>
            <a:off x="457200" y="1600200"/>
            <a:ext cx="8229600" cy="4781128"/>
          </a:xfrm>
        </p:spPr>
        <p:txBody>
          <a:bodyPr>
            <a:normAutofit lnSpcReduction="10000"/>
          </a:bodyPr>
          <a:lstStyle/>
          <a:p>
            <a:pPr marL="296863" indent="-296863">
              <a:buClr>
                <a:schemeClr val="tx2"/>
              </a:buClr>
              <a:buFont typeface="Arial" panose="020B0604020202020204" pitchFamily="34" charset="0"/>
              <a:buChar char="•"/>
            </a:pPr>
            <a:r>
              <a:rPr lang="en-US" sz="2200" dirty="0"/>
              <a:t>All machine languages include numeric data types</a:t>
            </a:r>
          </a:p>
          <a:p>
            <a:pPr marL="296863" indent="-296863">
              <a:buClr>
                <a:schemeClr val="tx2"/>
              </a:buClr>
              <a:buFont typeface="Arial" panose="020B0604020202020204" pitchFamily="34" charset="0"/>
              <a:buChar char="•"/>
            </a:pPr>
            <a:r>
              <a:rPr lang="en-US" sz="2200" dirty="0"/>
              <a:t>Numbers stored in a computer are limited:</a:t>
            </a:r>
          </a:p>
          <a:p>
            <a:pPr marL="606425" lvl="1" indent="-309563"/>
            <a:r>
              <a:rPr lang="en-US" sz="1700" dirty="0"/>
              <a:t>Limit to the magnitude of numbers representable on a machine</a:t>
            </a:r>
          </a:p>
          <a:p>
            <a:pPr marL="606425" lvl="1" indent="-309563"/>
            <a:r>
              <a:rPr lang="en-US" sz="1700" dirty="0"/>
              <a:t>In the case of floating-point numbers, a limit to their precision</a:t>
            </a:r>
          </a:p>
          <a:p>
            <a:pPr marL="296863" lvl="1" indent="-296863">
              <a:spcBef>
                <a:spcPts val="2000"/>
              </a:spcBef>
              <a:buClr>
                <a:schemeClr val="tx2"/>
              </a:buClr>
              <a:buFont typeface="Arial" panose="020B0604020202020204" pitchFamily="34" charset="0"/>
              <a:buChar char="•"/>
            </a:pPr>
            <a:r>
              <a:rPr lang="en-US" sz="2200" dirty="0"/>
              <a:t>Three types of numerical data are common in computers:</a:t>
            </a:r>
          </a:p>
          <a:p>
            <a:pPr marL="606425" lvl="1" indent="-309563"/>
            <a:r>
              <a:rPr lang="en-US" sz="1700" dirty="0"/>
              <a:t>Binary integer or binary fixed point</a:t>
            </a:r>
          </a:p>
          <a:p>
            <a:pPr marL="606425" lvl="1" indent="-309563"/>
            <a:r>
              <a:rPr lang="en-US" sz="1700" dirty="0"/>
              <a:t>Binary floating point</a:t>
            </a:r>
          </a:p>
          <a:p>
            <a:pPr marL="606425" lvl="1" indent="-309563"/>
            <a:r>
              <a:rPr lang="en-US" sz="1700" dirty="0"/>
              <a:t>Decimal</a:t>
            </a:r>
          </a:p>
          <a:p>
            <a:pPr marL="296863" lvl="1" indent="-296863">
              <a:spcBef>
                <a:spcPts val="2000"/>
              </a:spcBef>
              <a:buClr>
                <a:schemeClr val="tx2"/>
              </a:buClr>
              <a:buFont typeface="Arial" panose="020B0604020202020204" pitchFamily="34" charset="0"/>
              <a:buChar char="•"/>
            </a:pPr>
            <a:r>
              <a:rPr lang="en-US" sz="2200" dirty="0"/>
              <a:t>Packed decimal</a:t>
            </a:r>
          </a:p>
          <a:p>
            <a:pPr marL="606425" lvl="1" indent="-309563"/>
            <a:r>
              <a:rPr lang="en-US" sz="1700" dirty="0"/>
              <a:t>Each decimal digit is represented by a 4-bit code with two digits stored per byte </a:t>
            </a:r>
          </a:p>
          <a:p>
            <a:pPr marL="606425" lvl="1" indent="-309563"/>
            <a:r>
              <a:rPr lang="en-US" sz="1700" dirty="0"/>
              <a:t>To form numbers 4-bit codes are strung together, usually in multiples of 8 bits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9872"/>
            <a:ext cx="8229600" cy="1097279"/>
          </a:xfrm>
        </p:spPr>
        <p:txBody>
          <a:bodyPr/>
          <a:lstStyle/>
          <a:p>
            <a:r>
              <a:rPr lang="en-US" dirty="0"/>
              <a:t>Characters </a:t>
            </a:r>
          </a:p>
        </p:txBody>
      </p:sp>
      <p:sp>
        <p:nvSpPr>
          <p:cNvPr id="3" name="Content Placeholder 2"/>
          <p:cNvSpPr>
            <a:spLocks noGrp="1"/>
          </p:cNvSpPr>
          <p:nvPr>
            <p:ph type="body" idx="1"/>
          </p:nvPr>
        </p:nvSpPr>
        <p:spPr>
          <a:xfrm>
            <a:off x="457200" y="1556792"/>
            <a:ext cx="8229600" cy="4925144"/>
          </a:xfrm>
        </p:spPr>
        <p:txBody>
          <a:bodyPr>
            <a:normAutofit/>
          </a:bodyPr>
          <a:lstStyle/>
          <a:p>
            <a:pPr marL="296863" indent="-296863">
              <a:buClr>
                <a:schemeClr val="tx2"/>
              </a:buClr>
              <a:buFont typeface="Arial" panose="020B0604020202020204" pitchFamily="34" charset="0"/>
              <a:buChar char="•"/>
            </a:pPr>
            <a:r>
              <a:rPr lang="en-US" sz="2200" dirty="0"/>
              <a:t>A common form of data is text or character strings</a:t>
            </a:r>
          </a:p>
          <a:p>
            <a:pPr marL="296863" indent="-296863">
              <a:buClr>
                <a:schemeClr val="tx2"/>
              </a:buClr>
              <a:buFont typeface="Arial" panose="020B0604020202020204" pitchFamily="34" charset="0"/>
              <a:buChar char="•"/>
            </a:pPr>
            <a:r>
              <a:rPr lang="en-US" sz="2200" dirty="0"/>
              <a:t>Textual data in character form cannot be easily stored or transmitted by data processing and communications systems because they are designed for binary data</a:t>
            </a:r>
          </a:p>
          <a:p>
            <a:pPr marL="296863" indent="-296863">
              <a:buClr>
                <a:schemeClr val="tx2"/>
              </a:buClr>
              <a:buFont typeface="Arial" panose="020B0604020202020204" pitchFamily="34" charset="0"/>
              <a:buChar char="•"/>
            </a:pPr>
            <a:r>
              <a:rPr lang="en-US" sz="2200" dirty="0"/>
              <a:t>Most commonly used character code is the International Reference Alphabet (IRA)</a:t>
            </a:r>
          </a:p>
          <a:p>
            <a:pPr marL="617538" lvl="1" indent="-320675"/>
            <a:r>
              <a:rPr lang="en-US" sz="2000" dirty="0"/>
              <a:t>Referred to in the United States as the American Standard Code for Information Interchange (ASCII)</a:t>
            </a:r>
          </a:p>
          <a:p>
            <a:pPr marL="296863" lvl="1" indent="-296863">
              <a:spcBef>
                <a:spcPts val="2000"/>
              </a:spcBef>
              <a:buClr>
                <a:schemeClr val="tx2"/>
              </a:buClr>
              <a:buFont typeface="Arial" panose="020B0604020202020204" pitchFamily="34" charset="0"/>
              <a:buChar char="•"/>
            </a:pPr>
            <a:r>
              <a:rPr lang="en-US" sz="2200" dirty="0"/>
              <a:t>Another code used to encode characters is the Extended Binary Coded Decimal Interchange Code (EBCDIC)</a:t>
            </a:r>
          </a:p>
          <a:p>
            <a:pPr marL="617538" lvl="1" indent="-320675"/>
            <a:r>
              <a:rPr lang="en-US" sz="2000" dirty="0"/>
              <a:t>EBCDIC is used on IBM mainframes</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9872"/>
            <a:ext cx="8229600" cy="1097279"/>
          </a:xfrm>
        </p:spPr>
        <p:txBody>
          <a:bodyPr/>
          <a:lstStyle/>
          <a:p>
            <a:r>
              <a:rPr lang="en-US" dirty="0"/>
              <a:t>Logical Data</a:t>
            </a:r>
          </a:p>
        </p:txBody>
      </p:sp>
      <p:sp>
        <p:nvSpPr>
          <p:cNvPr id="3" name="Content Placeholder 2"/>
          <p:cNvSpPr>
            <a:spLocks noGrp="1"/>
          </p:cNvSpPr>
          <p:nvPr>
            <p:ph type="body" idx="1"/>
          </p:nvPr>
        </p:nvSpPr>
        <p:spPr>
          <a:xfrm>
            <a:off x="457200" y="1564575"/>
            <a:ext cx="8229600" cy="4572000"/>
          </a:xfrm>
        </p:spPr>
        <p:txBody>
          <a:bodyPr/>
          <a:lstStyle/>
          <a:p>
            <a:pPr marL="296863" indent="-296863"/>
            <a:r>
              <a:rPr lang="en-US" dirty="0"/>
              <a:t>An </a:t>
            </a:r>
            <a:r>
              <a:rPr lang="en-US" i="1" dirty="0"/>
              <a:t>n</a:t>
            </a:r>
            <a:r>
              <a:rPr lang="en-US" dirty="0"/>
              <a:t>-bit unit consisting of </a:t>
            </a:r>
            <a:r>
              <a:rPr lang="en-US" i="1" dirty="0"/>
              <a:t>n </a:t>
            </a:r>
            <a:r>
              <a:rPr lang="en-US" dirty="0"/>
              <a:t>1-bit items of data, each item having the value 0 or 1</a:t>
            </a:r>
          </a:p>
          <a:p>
            <a:pPr marL="296863" indent="-296863"/>
            <a:r>
              <a:rPr lang="en-US" dirty="0"/>
              <a:t>Two advantages to bit-oriented view:</a:t>
            </a:r>
          </a:p>
          <a:p>
            <a:pPr marL="617538" lvl="1" indent="-320675"/>
            <a:r>
              <a:rPr lang="en-US" sz="2000" dirty="0"/>
              <a:t>Memory can be used most efficiently for storing an array of Boolean or binary data items in which each item can take on only the values 1 (true) and 0 (false)</a:t>
            </a:r>
          </a:p>
          <a:p>
            <a:pPr marL="617538" lvl="1" indent="-320675"/>
            <a:r>
              <a:rPr lang="en-US" sz="2000" dirty="0"/>
              <a:t>To manipulate the bits of a data item</a:t>
            </a:r>
          </a:p>
          <a:p>
            <a:pPr marL="925513" lvl="2" indent="-307975"/>
            <a:r>
              <a:rPr lang="en-US" sz="1800" dirty="0"/>
              <a:t>If floating-point operations are implemented in software, we need to be able to shift significant bits in some operations</a:t>
            </a:r>
          </a:p>
          <a:p>
            <a:pPr marL="925513" lvl="2" indent="-307975"/>
            <a:r>
              <a:rPr lang="en-US" sz="1800" dirty="0"/>
              <a:t>To convert from IRA to packed decimal, we need to extract the rightmost 4 bits of each byte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A4CAF-A811-418A-AE03-2F628F361AA0}"/>
              </a:ext>
            </a:extLst>
          </p:cNvPr>
          <p:cNvSpPr>
            <a:spLocks noGrp="1"/>
          </p:cNvSpPr>
          <p:nvPr>
            <p:ph type="title"/>
          </p:nvPr>
        </p:nvSpPr>
        <p:spPr/>
        <p:txBody>
          <a:bodyPr/>
          <a:lstStyle/>
          <a:p>
            <a:r>
              <a:rPr lang="en-US" dirty="0"/>
              <a:t>x86 and ARM Data Types </a:t>
            </a:r>
            <a:endParaRPr lang="en-MY" dirty="0"/>
          </a:p>
        </p:txBody>
      </p:sp>
      <p:sp>
        <p:nvSpPr>
          <p:cNvPr id="3" name="Text Placeholder 2">
            <a:extLst>
              <a:ext uri="{FF2B5EF4-FFF2-40B4-BE49-F238E27FC236}">
                <a16:creationId xmlns:a16="http://schemas.microsoft.com/office/drawing/2014/main" id="{FDE9346B-FBCC-4E4E-B0CB-9BC50C223688}"/>
              </a:ext>
            </a:extLst>
          </p:cNvPr>
          <p:cNvSpPr>
            <a:spLocks noGrp="1"/>
          </p:cNvSpPr>
          <p:nvPr>
            <p:ph type="body" idx="1"/>
          </p:nvPr>
        </p:nvSpPr>
        <p:spPr/>
        <p:txBody>
          <a:bodyPr/>
          <a:lstStyle/>
          <a:p>
            <a:r>
              <a:rPr lang="en-US" dirty="0"/>
              <a:t>Can refer to the example of x86 and ARM data types in the following slides: </a:t>
            </a:r>
          </a:p>
          <a:p>
            <a:r>
              <a:rPr lang="en-US" dirty="0">
                <a:hlinkClick r:id="rId2" action="ppaction://hlinksldjump"/>
              </a:rPr>
              <a:t>x86</a:t>
            </a:r>
            <a:endParaRPr lang="en-US" dirty="0"/>
          </a:p>
          <a:p>
            <a:r>
              <a:rPr lang="en-MY" dirty="0">
                <a:hlinkClick r:id="rId3" action="ppaction://hlinksldjump"/>
              </a:rPr>
              <a:t>ARM</a:t>
            </a:r>
            <a:r>
              <a:rPr lang="en-MY" dirty="0"/>
              <a:t> </a:t>
            </a:r>
          </a:p>
        </p:txBody>
      </p:sp>
    </p:spTree>
    <p:extLst>
      <p:ext uri="{BB962C8B-B14F-4D97-AF65-F5344CB8AC3E}">
        <p14:creationId xmlns:p14="http://schemas.microsoft.com/office/powerpoint/2010/main" val="5569880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0643F-3568-49DF-BA77-DD68E256240D}"/>
              </a:ext>
            </a:extLst>
          </p:cNvPr>
          <p:cNvSpPr>
            <a:spLocks noGrp="1"/>
          </p:cNvSpPr>
          <p:nvPr>
            <p:ph type="title"/>
          </p:nvPr>
        </p:nvSpPr>
        <p:spPr/>
        <p:txBody>
          <a:bodyPr/>
          <a:lstStyle/>
          <a:p>
            <a:r>
              <a:rPr lang="en-US" dirty="0"/>
              <a:t>Types of Operations</a:t>
            </a:r>
            <a:endParaRPr lang="en-MY" dirty="0"/>
          </a:p>
        </p:txBody>
      </p:sp>
      <p:sp>
        <p:nvSpPr>
          <p:cNvPr id="3" name="Text Placeholder 2">
            <a:extLst>
              <a:ext uri="{FF2B5EF4-FFF2-40B4-BE49-F238E27FC236}">
                <a16:creationId xmlns:a16="http://schemas.microsoft.com/office/drawing/2014/main" id="{6C8DD439-72E6-4ABE-9949-1DE6A3669D06}"/>
              </a:ext>
            </a:extLst>
          </p:cNvPr>
          <p:cNvSpPr>
            <a:spLocks noGrp="1"/>
          </p:cNvSpPr>
          <p:nvPr>
            <p:ph type="body" idx="1"/>
          </p:nvPr>
        </p:nvSpPr>
        <p:spPr/>
        <p:txBody>
          <a:bodyPr/>
          <a:lstStyle/>
          <a:p>
            <a:endParaRPr lang="en-MY" dirty="0"/>
          </a:p>
        </p:txBody>
      </p:sp>
      <p:graphicFrame>
        <p:nvGraphicFramePr>
          <p:cNvPr id="5" name="Table 4" descr="The table reads as follows. Data transfer involves the transfer of data from one location to another. If memory is involved, determine memory address, perform virtual to actual memory address transformation, check cache, and initiate memory read or write. Arithmetic involves the following. It may involve date transfer, before and or after. Perform function in A L U. set condition codes and flags. Logical involves the following. Same as arithmetic. Conversion involves the following. Similar to arithmetic and logical. May involve special logic to perform conversion. Transfer of control corresponds to update program counter. For subroutine call or return, manage parameter passing and linkage. I O involves issuance of command to the I O module. If it is a memory mapped I O, determine memory mapped address." title="A table titled, processor actions for various types of operations.">
            <a:extLst>
              <a:ext uri="{FF2B5EF4-FFF2-40B4-BE49-F238E27FC236}">
                <a16:creationId xmlns:a16="http://schemas.microsoft.com/office/drawing/2014/main" id="{0A73A8DE-99F2-4052-84FC-B24829BE577D}"/>
              </a:ext>
            </a:extLst>
          </p:cNvPr>
          <p:cNvGraphicFramePr>
            <a:graphicFrameLocks noGrp="1"/>
          </p:cNvGraphicFramePr>
          <p:nvPr>
            <p:extLst>
              <p:ext uri="{D42A27DB-BD31-4B8C-83A1-F6EECF244321}">
                <p14:modId xmlns:p14="http://schemas.microsoft.com/office/powerpoint/2010/main" val="4142492465"/>
              </p:ext>
            </p:extLst>
          </p:nvPr>
        </p:nvGraphicFramePr>
        <p:xfrm>
          <a:off x="629279" y="1900410"/>
          <a:ext cx="5526897" cy="4537065"/>
        </p:xfrm>
        <a:graphic>
          <a:graphicData uri="http://schemas.openxmlformats.org/drawingml/2006/table">
            <a:tbl>
              <a:tblPr firstRow="1" bandRow="1">
                <a:tableStyleId>{5C22544A-7EE6-4342-B048-85BDC9FD1C3A}</a:tableStyleId>
              </a:tblPr>
              <a:tblGrid>
                <a:gridCol w="1250157">
                  <a:extLst>
                    <a:ext uri="{9D8B030D-6E8A-4147-A177-3AD203B41FA5}">
                      <a16:colId xmlns:a16="http://schemas.microsoft.com/office/drawing/2014/main" val="3102758518"/>
                    </a:ext>
                  </a:extLst>
                </a:gridCol>
                <a:gridCol w="4276740">
                  <a:extLst>
                    <a:ext uri="{9D8B030D-6E8A-4147-A177-3AD203B41FA5}">
                      <a16:colId xmlns:a16="http://schemas.microsoft.com/office/drawing/2014/main" val="2543019389"/>
                    </a:ext>
                  </a:extLst>
                </a:gridCol>
              </a:tblGrid>
              <a:tr h="294737">
                <a:tc rowSpan="2">
                  <a:txBody>
                    <a:bodyPr/>
                    <a:lstStyle/>
                    <a:p>
                      <a:pPr algn="l"/>
                      <a:r>
                        <a:rPr lang="en-IN" sz="1100" b="0" i="0" u="none" strike="noStrike" cap="none" baseline="0" dirty="0">
                          <a:solidFill>
                            <a:schemeClr val="dk1"/>
                          </a:solidFill>
                          <a:latin typeface="+mn-lt"/>
                          <a:ea typeface="+mn-ea"/>
                          <a:cs typeface="+mn-cs"/>
                          <a:sym typeface="Arial"/>
                        </a:rPr>
                        <a:t>Data transfer</a:t>
                      </a:r>
                      <a:endParaRPr lang="en-IN" sz="1100" dirty="0"/>
                    </a:p>
                  </a:txBody>
                  <a:tcPr marL="74855" marR="74855" marT="37427" marB="374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US" sz="1100" b="0" i="0" u="none" strike="noStrike" cap="none" baseline="0" dirty="0">
                          <a:solidFill>
                            <a:schemeClr val="dk1"/>
                          </a:solidFill>
                          <a:latin typeface="+mn-lt"/>
                          <a:ea typeface="+mn-ea"/>
                          <a:cs typeface="+mn-cs"/>
                          <a:sym typeface="Arial"/>
                        </a:rPr>
                        <a:t>Transfer data from one location to another</a:t>
                      </a:r>
                      <a:endParaRPr lang="en-IN" sz="1100" dirty="0"/>
                    </a:p>
                  </a:txBody>
                  <a:tcPr marL="74855" marR="74855" marT="37427" marB="374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4062764516"/>
                  </a:ext>
                </a:extLst>
              </a:tr>
              <a:tr h="1250790">
                <a:tc vMerge="1">
                  <a:txBody>
                    <a:bodyPr/>
                    <a:lstStyle/>
                    <a:p>
                      <a:pPr algn="l"/>
                      <a:endParaRPr lang="en-IN" sz="11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0" i="0" u="none" strike="noStrike" cap="none" baseline="0" dirty="0">
                          <a:solidFill>
                            <a:schemeClr val="dk1"/>
                          </a:solidFill>
                          <a:latin typeface="+mn-lt"/>
                          <a:ea typeface="+mn-ea"/>
                          <a:cs typeface="+mn-cs"/>
                          <a:sym typeface="Arial"/>
                        </a:rPr>
                        <a:t>If memory is involved:</a:t>
                      </a:r>
                    </a:p>
                    <a:p>
                      <a:pPr marL="192088" marR="0" indent="-192088" algn="l" defTabSz="914400" rtl="0" eaLnBrk="1" fontAlgn="auto" latinLnBrk="0" hangingPunct="1">
                        <a:lnSpc>
                          <a:spcPct val="100000"/>
                        </a:lnSpc>
                        <a:spcBef>
                          <a:spcPts val="0"/>
                        </a:spcBef>
                        <a:spcAft>
                          <a:spcPts val="0"/>
                        </a:spcAft>
                        <a:buClrTx/>
                        <a:buSzTx/>
                        <a:buFontTx/>
                        <a:buNone/>
                        <a:tabLst/>
                        <a:defRPr/>
                      </a:pPr>
                      <a:r>
                        <a:rPr lang="en-US" sz="1100" b="0" i="0" u="none" strike="noStrike" cap="none" baseline="0" dirty="0">
                          <a:solidFill>
                            <a:schemeClr val="dk1"/>
                          </a:solidFill>
                          <a:latin typeface="+mn-lt"/>
                          <a:ea typeface="+mn-ea"/>
                          <a:cs typeface="+mn-cs"/>
                          <a:sym typeface="Arial"/>
                        </a:rPr>
                        <a:t>	Determine memory address</a:t>
                      </a:r>
                    </a:p>
                    <a:p>
                      <a:pPr marL="192088" marR="0" indent="-192088" algn="l" defTabSz="914400" rtl="0" eaLnBrk="1" fontAlgn="auto" latinLnBrk="0" hangingPunct="1">
                        <a:lnSpc>
                          <a:spcPct val="100000"/>
                        </a:lnSpc>
                        <a:spcBef>
                          <a:spcPts val="0"/>
                        </a:spcBef>
                        <a:spcAft>
                          <a:spcPts val="0"/>
                        </a:spcAft>
                        <a:buClrTx/>
                        <a:buSzTx/>
                        <a:buFontTx/>
                        <a:buNone/>
                        <a:tabLst/>
                        <a:defRPr/>
                      </a:pPr>
                      <a:r>
                        <a:rPr lang="en-US" sz="1100" b="0" i="0" u="none" strike="noStrike" cap="none" baseline="0" dirty="0">
                          <a:solidFill>
                            <a:schemeClr val="dk1"/>
                          </a:solidFill>
                          <a:latin typeface="+mn-lt"/>
                          <a:ea typeface="+mn-ea"/>
                          <a:cs typeface="+mn-cs"/>
                          <a:sym typeface="Arial"/>
                        </a:rPr>
                        <a:t>	Perform virtual-to-actual-memory address transformation</a:t>
                      </a:r>
                    </a:p>
                    <a:p>
                      <a:pPr marL="192088" marR="0" indent="-192088" algn="l" defTabSz="914400" rtl="0" eaLnBrk="1" fontAlgn="auto" latinLnBrk="0" hangingPunct="1">
                        <a:lnSpc>
                          <a:spcPct val="100000"/>
                        </a:lnSpc>
                        <a:spcBef>
                          <a:spcPts val="0"/>
                        </a:spcBef>
                        <a:spcAft>
                          <a:spcPts val="0"/>
                        </a:spcAft>
                        <a:buClrTx/>
                        <a:buSzTx/>
                        <a:buFontTx/>
                        <a:buNone/>
                        <a:tabLst/>
                        <a:defRPr/>
                      </a:pPr>
                      <a:r>
                        <a:rPr lang="en-US" sz="1100" b="0" i="0" u="none" strike="noStrike" cap="none" baseline="0" dirty="0">
                          <a:solidFill>
                            <a:schemeClr val="dk1"/>
                          </a:solidFill>
                          <a:latin typeface="+mn-lt"/>
                          <a:ea typeface="+mn-ea"/>
                          <a:cs typeface="+mn-cs"/>
                          <a:sym typeface="Arial"/>
                        </a:rPr>
                        <a:t>	Check cache</a:t>
                      </a:r>
                    </a:p>
                    <a:p>
                      <a:pPr marL="192088" marR="0" indent="-192088" algn="l" defTabSz="914400" rtl="0" eaLnBrk="1" fontAlgn="auto" latinLnBrk="0" hangingPunct="1">
                        <a:lnSpc>
                          <a:spcPct val="100000"/>
                        </a:lnSpc>
                        <a:spcBef>
                          <a:spcPts val="0"/>
                        </a:spcBef>
                        <a:spcAft>
                          <a:spcPts val="0"/>
                        </a:spcAft>
                        <a:buClrTx/>
                        <a:buSzTx/>
                        <a:buFontTx/>
                        <a:buNone/>
                        <a:tabLst/>
                        <a:defRPr/>
                      </a:pPr>
                      <a:r>
                        <a:rPr lang="en-US" sz="1100" b="0" i="0" u="none" strike="noStrike" cap="none" baseline="0" dirty="0">
                          <a:solidFill>
                            <a:schemeClr val="dk1"/>
                          </a:solidFill>
                          <a:latin typeface="+mn-lt"/>
                          <a:ea typeface="+mn-ea"/>
                          <a:cs typeface="+mn-cs"/>
                          <a:sym typeface="Arial"/>
                        </a:rPr>
                        <a:t>	Initiate memory read/write</a:t>
                      </a:r>
                      <a:endParaRPr lang="en-IN" sz="1100" dirty="0"/>
                    </a:p>
                  </a:txBody>
                  <a:tcPr marL="74855" marR="74855" marT="37427" marB="374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801756320"/>
                  </a:ext>
                </a:extLst>
              </a:tr>
              <a:tr h="438408">
                <a:tc rowSpan="3">
                  <a:txBody>
                    <a:bodyPr/>
                    <a:lstStyle/>
                    <a:p>
                      <a:pPr algn="l"/>
                      <a:r>
                        <a:rPr lang="en-IN" sz="1100" b="0" i="0" u="none" strike="noStrike" cap="none" baseline="0" dirty="0">
                          <a:solidFill>
                            <a:schemeClr val="dk1"/>
                          </a:solidFill>
                          <a:latin typeface="+mn-lt"/>
                          <a:ea typeface="+mn-ea"/>
                          <a:cs typeface="+mn-cs"/>
                          <a:sym typeface="Arial"/>
                        </a:rPr>
                        <a:t>Arithmetic</a:t>
                      </a:r>
                      <a:endParaRPr lang="en-IN" sz="1100" dirty="0"/>
                    </a:p>
                  </a:txBody>
                  <a:tcPr marL="74855" marR="74855" marT="37427" marB="374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US" sz="1100" b="0" i="0" u="none" strike="noStrike" cap="none" baseline="0" dirty="0">
                          <a:solidFill>
                            <a:schemeClr val="dk1"/>
                          </a:solidFill>
                          <a:latin typeface="+mn-lt"/>
                          <a:ea typeface="+mn-ea"/>
                          <a:cs typeface="+mn-cs"/>
                          <a:sym typeface="Arial"/>
                        </a:rPr>
                        <a:t>May involve data transfer, before and/or after</a:t>
                      </a:r>
                      <a:endParaRPr lang="en-IN" sz="1100" dirty="0"/>
                    </a:p>
                  </a:txBody>
                  <a:tcPr marL="74855" marR="74855" marT="37427" marB="374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1007438362"/>
                  </a:ext>
                </a:extLst>
              </a:tr>
              <a:tr h="439998">
                <a:tc vMerge="1">
                  <a:txBody>
                    <a:bodyPr/>
                    <a:lstStyle/>
                    <a:p>
                      <a:pPr algn="l"/>
                      <a:endParaRPr lang="en-IN" sz="11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100" dirty="0"/>
                        <a:t>Perform function in ALU</a:t>
                      </a:r>
                      <a:endParaRPr lang="en-IN" sz="1100" dirty="0"/>
                    </a:p>
                  </a:txBody>
                  <a:tcPr marL="74855" marR="74855" marT="37427" marB="374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590917915"/>
                  </a:ext>
                </a:extLst>
              </a:tr>
              <a:tr h="403938">
                <a:tc vMerge="1">
                  <a:txBody>
                    <a:bodyPr/>
                    <a:lstStyle/>
                    <a:p>
                      <a:pPr algn="l"/>
                      <a:endParaRPr lang="en-IN" sz="11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100" dirty="0"/>
                        <a:t>Set condition codes and flags</a:t>
                      </a:r>
                      <a:endParaRPr lang="en-IN" sz="1100" dirty="0"/>
                    </a:p>
                  </a:txBody>
                  <a:tcPr marL="74855" marR="74855" marT="37427" marB="374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116617951"/>
                  </a:ext>
                </a:extLst>
              </a:tr>
              <a:tr h="403938">
                <a:tc>
                  <a:txBody>
                    <a:bodyPr/>
                    <a:lstStyle/>
                    <a:p>
                      <a:pPr algn="l"/>
                      <a:r>
                        <a:rPr lang="en-IN" sz="1100" dirty="0"/>
                        <a:t>Logical</a:t>
                      </a:r>
                    </a:p>
                  </a:txBody>
                  <a:tcPr marL="74855" marR="74855" marT="37427" marB="374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US" sz="1100" dirty="0"/>
                        <a:t>Same as arithmetic</a:t>
                      </a:r>
                      <a:endParaRPr lang="en-IN" sz="1100" dirty="0"/>
                    </a:p>
                  </a:txBody>
                  <a:tcPr marL="74855" marR="74855" marT="37427" marB="374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2344785174"/>
                  </a:ext>
                </a:extLst>
              </a:tr>
              <a:tr h="388210">
                <a:tc>
                  <a:txBody>
                    <a:bodyPr/>
                    <a:lstStyle/>
                    <a:p>
                      <a:pPr algn="l"/>
                      <a:r>
                        <a:rPr lang="en-IN" sz="1100" dirty="0"/>
                        <a:t>Conversion</a:t>
                      </a:r>
                    </a:p>
                  </a:txBody>
                  <a:tcPr marL="74855" marR="74855" marT="37427" marB="374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US" sz="1100" dirty="0"/>
                        <a:t>Similar to arithmetic and logical. May involve special logic to</a:t>
                      </a:r>
                    </a:p>
                    <a:p>
                      <a:pPr algn="l"/>
                      <a:r>
                        <a:rPr lang="en-US" sz="1100" dirty="0"/>
                        <a:t>perform conversion</a:t>
                      </a:r>
                      <a:endParaRPr lang="en-IN" sz="1100" dirty="0"/>
                    </a:p>
                  </a:txBody>
                  <a:tcPr marL="74855" marR="74855" marT="37427" marB="374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1510487134"/>
                  </a:ext>
                </a:extLst>
              </a:tr>
              <a:tr h="388210">
                <a:tc>
                  <a:txBody>
                    <a:bodyPr/>
                    <a:lstStyle/>
                    <a:p>
                      <a:pPr algn="l"/>
                      <a:r>
                        <a:rPr lang="en-IN" sz="1100" dirty="0"/>
                        <a:t>Transfer of control</a:t>
                      </a:r>
                    </a:p>
                  </a:txBody>
                  <a:tcPr marL="74855" marR="74855" marT="37427" marB="374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US" sz="1100" dirty="0"/>
                        <a:t>Update program counter. For subroutine call/return, manage</a:t>
                      </a:r>
                    </a:p>
                    <a:p>
                      <a:pPr algn="l"/>
                      <a:r>
                        <a:rPr lang="en-US" sz="1100" dirty="0"/>
                        <a:t>parameter passing and linkage</a:t>
                      </a:r>
                      <a:endParaRPr lang="en-IN" sz="1100" dirty="0"/>
                    </a:p>
                  </a:txBody>
                  <a:tcPr marL="74855" marR="74855" marT="37427" marB="374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948531353"/>
                  </a:ext>
                </a:extLst>
              </a:tr>
              <a:tr h="231532">
                <a:tc rowSpan="2">
                  <a:txBody>
                    <a:bodyPr/>
                    <a:lstStyle/>
                    <a:p>
                      <a:pPr algn="l"/>
                      <a:r>
                        <a:rPr lang="en-IN" sz="1100" dirty="0"/>
                        <a:t>I/O</a:t>
                      </a:r>
                    </a:p>
                  </a:txBody>
                  <a:tcPr marL="74855" marR="74855" marT="37427" marB="374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US" sz="1100" dirty="0"/>
                        <a:t>Issue command to I/O module</a:t>
                      </a:r>
                      <a:endParaRPr lang="en-IN" sz="1100" dirty="0"/>
                    </a:p>
                  </a:txBody>
                  <a:tcPr marL="74855" marR="74855" marT="37427" marB="374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4240931737"/>
                  </a:ext>
                </a:extLst>
              </a:tr>
              <a:tr h="231532">
                <a:tc vMerge="1">
                  <a:txBody>
                    <a:bodyPr/>
                    <a:lstStyle/>
                    <a:p>
                      <a:pPr algn="l"/>
                      <a:endParaRPr lang="en-IN" sz="11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100" dirty="0"/>
                        <a:t>If memory-mapped I/O, determine memory-mapped address</a:t>
                      </a:r>
                      <a:endParaRPr lang="en-IN" sz="1100" dirty="0"/>
                    </a:p>
                  </a:txBody>
                  <a:tcPr marL="74855" marR="74855" marT="37427" marB="374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2695423305"/>
                  </a:ext>
                </a:extLst>
              </a:tr>
            </a:tbl>
          </a:graphicData>
        </a:graphic>
      </p:graphicFrame>
    </p:spTree>
    <p:extLst>
      <p:ext uri="{BB962C8B-B14F-4D97-AF65-F5344CB8AC3E}">
        <p14:creationId xmlns:p14="http://schemas.microsoft.com/office/powerpoint/2010/main" val="22309686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Rectangle 4"/>
          <p:cNvSpPr>
            <a:spLocks noGrp="1" noChangeArrowheads="1"/>
          </p:cNvSpPr>
          <p:nvPr>
            <p:ph type="title"/>
          </p:nvPr>
        </p:nvSpPr>
        <p:spPr>
          <a:xfrm>
            <a:off x="457200" y="243489"/>
            <a:ext cx="8229600" cy="593223"/>
          </a:xfrm>
          <a:noFill/>
          <a:ln/>
        </p:spPr>
        <p:txBody>
          <a:bodyPr lIns="90488" tIns="44450" rIns="90488" bIns="44450"/>
          <a:lstStyle/>
          <a:p>
            <a:r>
              <a:rPr lang="en-US" dirty="0"/>
              <a:t>Data Transfer</a:t>
            </a:r>
          </a:p>
        </p:txBody>
      </p:sp>
      <p:graphicFrame>
        <p:nvGraphicFramePr>
          <p:cNvPr id="9" name="Content Placeholder 29"/>
          <p:cNvGraphicFramePr>
            <a:graphicFrameLocks/>
          </p:cNvGraphicFramePr>
          <p:nvPr>
            <p:extLst>
              <p:ext uri="{D42A27DB-BD31-4B8C-83A1-F6EECF244321}">
                <p14:modId xmlns:p14="http://schemas.microsoft.com/office/powerpoint/2010/main" val="585883012"/>
              </p:ext>
            </p:extLst>
          </p:nvPr>
        </p:nvGraphicFramePr>
        <p:xfrm>
          <a:off x="304800" y="424408"/>
          <a:ext cx="8458200" cy="4876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4" name="Table 3" descr="The information will be presented in the order, operation name, description. List one, data transfer. 1. M O V d e s t, source. Move data between registers or between register and memory or immediate to register. 2. X C H G O p 1, O p 2. Swap contents between two registers or register and memory. 3. PUSH Source. Decrements stack pointer, the E S P register, then copies the source operand to the top of stack. P O P D e s t Copies top of stack to destination and increments E S P. List 2, arithmetic. 1. A D D d e s t, source. Adds the destination and the source operand and stores the result in the destination. Destination can be register or memory. Source can be register, memory, or immediate. 2. SUB d e s t, source. 2. Subtracts the source from the destination and stores the result in the destination. 3. M U L O p. Unsigned integer multiplication of the operand by the A L, A X, or E A X register and stores in the register. Opcode indicates size of register. 4. I M U L O p. Signed integer multiplication. 5. D I V O p, Divides unsigned the value in the A X, D X colon A X, E D X colon E A X, or R D X colon R A X registers, the dividend, by the source operand, the divisor, and stores the result in the A X, which is A H colon A L, D X colon A X, E D X colon E A X, or R D X colon R A X registers. 6. I D I V O p. signed integer division. 7. I N C O p. Adds 1 to the destination operand, while preserving the state of the C F flag. 8. D E C O p. Subtracts 1 from the destination operand, while preserving the state of the C F flag. 9. N E G O p. Replaces the value of operand with, 0 minus operand, using twos complement representation. 10. C M P O p 1, O p 2. Compares the two operands by subtracting the second operand from the first operand and sets the status flags in the E F L A G S register according to the results. List 3 is titled shift and rotate. It reads as follows. 1. S A L O p, Quantity. Shifts the source operand left by from 1 to 31 bit positions. Empty bit positions are cleared. The C F flag is loaded with the last bit shifted out of the operand. 2. S A R O p, Quantity. Shifts the source operand right by from 1 to 31 bit positions. Empty bit positions are cleared if the operand is positive and set if the operand is negative. The C F flag is loaded with the last bit shifted out of the operand. 3. S H R O p, Quantity. Shifts the source operand right by from 1 to 31 bit positions. Empty bit positions are cleared, and the CF flag is loaded with the last bit shifted out of the operand. 4. R O L O p, Quantity. Rotate bits to the left, with wraparound. The C F flag is loaded with the last bit shifted out of the operand. 5. R O R O p, Quantity. Rotate bits to the right, with wraparound. The C F flag is loaded with the last bit shifted out of the operand. 6. R C L O p, Quantity. Rotate bits to the left, including the C F flag, with wraparound. This instruction treats the C F flag as a one-bit extension on the upper end of the operand. 7. R C R O p, Quantity Rotate bits to the right, including the C F flag, with wraparound. This instruction treats the C F flag as a one-bit extension on the lower end of the operand. The fourth list is titled, logical. 1. NOT O p. Inverts each bit of the operand. 2. AND D e s t, Source Performs a bitwise AND operation on the destination and source operands and stores the result in the destination operand. 3. OR D e s t, Source. Performs a bitwise OR operation on the destination and source operands and stores the result in the destination operand. 4. X O R D e s t, Source. Performs a bitwise X O R operation on the destination and source operands and stores the result in the destination operand. 5. TEST O p 1, O p 2. Performs a bitwise AND operation on the two operands and sets the S, Z, and P status flags. The operands are unchanged." title="A series of lists labeled, data transfer, arithmetic, shift and rotate, and logical.">
            <a:extLst>
              <a:ext uri="{FF2B5EF4-FFF2-40B4-BE49-F238E27FC236}">
                <a16:creationId xmlns:a16="http://schemas.microsoft.com/office/drawing/2014/main" id="{1C0A16F6-6391-4518-A41B-82DF3D8DB052}"/>
              </a:ext>
            </a:extLst>
          </p:cNvPr>
          <p:cNvGraphicFramePr>
            <a:graphicFrameLocks noGrp="1"/>
          </p:cNvGraphicFramePr>
          <p:nvPr>
            <p:extLst>
              <p:ext uri="{D42A27DB-BD31-4B8C-83A1-F6EECF244321}">
                <p14:modId xmlns:p14="http://schemas.microsoft.com/office/powerpoint/2010/main" val="3585540104"/>
              </p:ext>
            </p:extLst>
          </p:nvPr>
        </p:nvGraphicFramePr>
        <p:xfrm>
          <a:off x="971600" y="4941168"/>
          <a:ext cx="6500675" cy="1554410"/>
        </p:xfrm>
        <a:graphic>
          <a:graphicData uri="http://schemas.openxmlformats.org/drawingml/2006/table">
            <a:tbl>
              <a:tblPr firstRow="1" bandRow="1">
                <a:tableStyleId>{5C22544A-7EE6-4342-B048-85BDC9FD1C3A}</a:tableStyleId>
              </a:tblPr>
              <a:tblGrid>
                <a:gridCol w="1748147">
                  <a:extLst>
                    <a:ext uri="{9D8B030D-6E8A-4147-A177-3AD203B41FA5}">
                      <a16:colId xmlns:a16="http://schemas.microsoft.com/office/drawing/2014/main" val="3102758518"/>
                    </a:ext>
                  </a:extLst>
                </a:gridCol>
                <a:gridCol w="4752528">
                  <a:extLst>
                    <a:ext uri="{9D8B030D-6E8A-4147-A177-3AD203B41FA5}">
                      <a16:colId xmlns:a16="http://schemas.microsoft.com/office/drawing/2014/main" val="2543019389"/>
                    </a:ext>
                  </a:extLst>
                </a:gridCol>
              </a:tblGrid>
              <a:tr h="229690">
                <a:tc>
                  <a:txBody>
                    <a:bodyPr/>
                    <a:lstStyle/>
                    <a:p>
                      <a:pPr algn="l"/>
                      <a:r>
                        <a:rPr lang="en-IN" sz="1100" b="1" i="0" u="none" strike="noStrike" cap="none" baseline="0" dirty="0">
                          <a:solidFill>
                            <a:schemeClr val="tx1"/>
                          </a:solidFill>
                          <a:latin typeface="+mn-lt"/>
                          <a:ea typeface="+mn-ea"/>
                          <a:cs typeface="+mn-cs"/>
                          <a:sym typeface="Arial"/>
                        </a:rPr>
                        <a:t>Operation Name</a:t>
                      </a:r>
                      <a:endParaRPr lang="en-IN" sz="1100" b="1" dirty="0">
                        <a:solidFill>
                          <a:schemeClr val="tx1"/>
                        </a:solidFill>
                      </a:endParaRP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100" b="1" i="0" u="none" strike="noStrike" cap="none" baseline="0" dirty="0">
                          <a:solidFill>
                            <a:schemeClr val="tx1"/>
                          </a:solidFill>
                          <a:latin typeface="+mn-lt"/>
                          <a:ea typeface="+mn-ea"/>
                          <a:cs typeface="+mn-cs"/>
                          <a:sym typeface="Arial"/>
                        </a:rPr>
                        <a:t>Description</a:t>
                      </a:r>
                      <a:endParaRPr lang="en-IN" sz="1100" b="1" dirty="0">
                        <a:solidFill>
                          <a:schemeClr val="tx1"/>
                        </a:solidFill>
                      </a:endParaRP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717666487"/>
                  </a:ext>
                </a:extLst>
              </a:tr>
              <a:tr h="334565">
                <a:tc>
                  <a:txBody>
                    <a:bodyPr/>
                    <a:lstStyle/>
                    <a:p>
                      <a:pPr algn="l"/>
                      <a:r>
                        <a:rPr lang="en-IN" sz="1000" b="0" i="0" u="none" strike="noStrike" cap="none" baseline="0" dirty="0">
                          <a:solidFill>
                            <a:schemeClr val="dk1"/>
                          </a:solidFill>
                          <a:latin typeface="+mn-lt"/>
                          <a:ea typeface="+mn-ea"/>
                          <a:cs typeface="+mn-cs"/>
                          <a:sym typeface="Arial"/>
                        </a:rPr>
                        <a:t>MOV </a:t>
                      </a:r>
                      <a:r>
                        <a:rPr lang="en-IN" sz="1000" b="0" i="0" u="none" strike="noStrike" cap="none" baseline="0" dirty="0" err="1">
                          <a:solidFill>
                            <a:schemeClr val="dk1"/>
                          </a:solidFill>
                          <a:latin typeface="+mn-lt"/>
                          <a:ea typeface="+mn-ea"/>
                          <a:cs typeface="+mn-cs"/>
                          <a:sym typeface="Arial"/>
                        </a:rPr>
                        <a:t>Dest</a:t>
                      </a:r>
                      <a:r>
                        <a:rPr lang="en-IN" sz="1000" b="0" i="0" u="none" strike="noStrike" cap="none" baseline="0" dirty="0">
                          <a:solidFill>
                            <a:schemeClr val="dk1"/>
                          </a:solidFill>
                          <a:latin typeface="+mn-lt"/>
                          <a:ea typeface="+mn-ea"/>
                          <a:cs typeface="+mn-cs"/>
                          <a:sym typeface="Arial"/>
                        </a:rPr>
                        <a:t>, Source</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00" b="0" i="0" u="none" strike="noStrike" cap="none" baseline="0" dirty="0">
                          <a:solidFill>
                            <a:schemeClr val="dk1"/>
                          </a:solidFill>
                          <a:latin typeface="+mn-lt"/>
                          <a:ea typeface="+mn-ea"/>
                          <a:cs typeface="+mn-cs"/>
                          <a:sym typeface="Arial"/>
                        </a:rPr>
                        <a:t>Move data between registers or between register and memory or immediate to register.</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062764516"/>
                  </a:ext>
                </a:extLst>
              </a:tr>
              <a:tr h="208776">
                <a:tc>
                  <a:txBody>
                    <a:bodyPr/>
                    <a:lstStyle/>
                    <a:p>
                      <a:pPr algn="l"/>
                      <a:r>
                        <a:rPr lang="en-IN" sz="1000" b="0" i="0" u="none" strike="noStrike" cap="none" baseline="0" dirty="0">
                          <a:solidFill>
                            <a:schemeClr val="dk1"/>
                          </a:solidFill>
                          <a:latin typeface="+mn-lt"/>
                          <a:ea typeface="+mn-ea"/>
                          <a:cs typeface="+mn-cs"/>
                          <a:sym typeface="Arial"/>
                        </a:rPr>
                        <a:t>XCHG Op1, Op2</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0" i="0" u="none" strike="noStrike" cap="none" baseline="0" dirty="0">
                          <a:solidFill>
                            <a:schemeClr val="dk1"/>
                          </a:solidFill>
                          <a:latin typeface="+mn-lt"/>
                          <a:ea typeface="+mn-ea"/>
                          <a:cs typeface="+mn-cs"/>
                          <a:sym typeface="Arial"/>
                        </a:rPr>
                        <a:t>Swap contents between two registers or register and memory.</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801756320"/>
                  </a:ext>
                </a:extLst>
              </a:tr>
              <a:tr h="259010">
                <a:tc>
                  <a:txBody>
                    <a:bodyPr/>
                    <a:lstStyle/>
                    <a:p>
                      <a:pPr algn="l"/>
                      <a:r>
                        <a:rPr lang="en-IN" sz="1000" b="0" i="0" u="none" strike="noStrike" cap="none" baseline="0" dirty="0">
                          <a:solidFill>
                            <a:schemeClr val="dk1"/>
                          </a:solidFill>
                          <a:latin typeface="+mn-lt"/>
                          <a:ea typeface="+mn-ea"/>
                          <a:cs typeface="+mn-cs"/>
                          <a:sym typeface="Arial"/>
                        </a:rPr>
                        <a:t>PUSH Source</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00" b="0" i="0" u="none" strike="noStrike" cap="none" baseline="0" dirty="0">
                          <a:solidFill>
                            <a:schemeClr val="dk1"/>
                          </a:solidFill>
                          <a:latin typeface="+mn-lt"/>
                          <a:ea typeface="+mn-ea"/>
                          <a:cs typeface="+mn-cs"/>
                          <a:sym typeface="Arial"/>
                        </a:rPr>
                        <a:t>Decrements stack pointer (ESP register), then copies the source operand</a:t>
                      </a:r>
                      <a:br>
                        <a:rPr lang="en-US" sz="1000" b="0" i="0" u="none" strike="noStrike" cap="none" baseline="0" dirty="0">
                          <a:solidFill>
                            <a:schemeClr val="dk1"/>
                          </a:solidFill>
                          <a:latin typeface="+mn-lt"/>
                          <a:ea typeface="+mn-ea"/>
                          <a:cs typeface="+mn-cs"/>
                          <a:sym typeface="Arial"/>
                        </a:rPr>
                      </a:br>
                      <a:r>
                        <a:rPr lang="en-US" sz="1000" b="0" i="0" u="none" strike="noStrike" cap="none" baseline="0" dirty="0">
                          <a:solidFill>
                            <a:schemeClr val="dk1"/>
                          </a:solidFill>
                          <a:latin typeface="+mn-lt"/>
                          <a:ea typeface="+mn-ea"/>
                          <a:cs typeface="+mn-cs"/>
                          <a:sym typeface="Arial"/>
                        </a:rPr>
                        <a:t>to the top of stack.</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007438362"/>
                  </a:ext>
                </a:extLst>
              </a:tr>
              <a:tr h="259010">
                <a:tc>
                  <a:txBody>
                    <a:bodyPr/>
                    <a:lstStyle/>
                    <a:p>
                      <a:pPr algn="l"/>
                      <a:r>
                        <a:rPr lang="en-IN" sz="1000" dirty="0"/>
                        <a:t>POP </a:t>
                      </a:r>
                      <a:r>
                        <a:rPr lang="en-IN" sz="1000" dirty="0" err="1"/>
                        <a:t>Dest</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00" dirty="0"/>
                        <a:t>Copies top of stack to destination and increments ESP.</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590917915"/>
                  </a:ext>
                </a:extLst>
              </a:tr>
            </a:tbl>
          </a:graphicData>
        </a:graphic>
      </p:graphicFrame>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Grp="1" noChangeArrowheads="1"/>
          </p:cNvSpPr>
          <p:nvPr>
            <p:ph type="title"/>
          </p:nvPr>
        </p:nvSpPr>
        <p:spPr>
          <a:xfrm>
            <a:off x="457200" y="247922"/>
            <a:ext cx="8229600" cy="1606527"/>
          </a:xfrm>
          <a:noFill/>
          <a:ln/>
        </p:spPr>
        <p:txBody>
          <a:bodyPr lIns="90488" tIns="44450" rIns="90488" bIns="44450"/>
          <a:lstStyle/>
          <a:p>
            <a:r>
              <a:rPr lang="en-US" dirty="0"/>
              <a:t>Table 13.5 </a:t>
            </a:r>
            <a:br>
              <a:rPr lang="en-US" dirty="0"/>
            </a:br>
            <a:r>
              <a:rPr lang="en-US" dirty="0"/>
              <a:t>Examples of IBM EAS/390 Data Transfer Operations</a:t>
            </a:r>
          </a:p>
        </p:txBody>
      </p:sp>
      <p:graphicFrame>
        <p:nvGraphicFramePr>
          <p:cNvPr id="9" name="Table 8" descr="The table has the following column headings. Operation mnemonic, name, number of bits transferred, description. The rows read as follows. 1. L, Load, 32, Transfer from memory to register. 2. L H, Load Halfword, 16, Transfer from memory to register. L R, Load, 32, Transfer from register to register. L E R, Load short, 32, Transfer from floating point register to floating point register. L E, Load short, 32, Transfer from memory to floating point register. LDR, Load long, 64, Transfer from floating point register to floating point register. L D Load long, 64, Transfer from memory to floating point register. S T, Store 32 Transfer from register to memory. S T H, Store Halfword 16 Transfer from register to memory. S T C, Store Character 8 Transfer from register to memory. S T E, Store short, 32, Transfer from floating-  point register to memory. S T D, Store long, 64, Transfer from floating point register to memory." title="A table is labeled, examples of I B M E A S slash 390 data transfer operations."/>
          <p:cNvGraphicFramePr>
            <a:graphicFrameLocks noGrp="1"/>
          </p:cNvGraphicFramePr>
          <p:nvPr>
            <p:extLst>
              <p:ext uri="{D42A27DB-BD31-4B8C-83A1-F6EECF244321}">
                <p14:modId xmlns:p14="http://schemas.microsoft.com/office/powerpoint/2010/main" val="14113755"/>
              </p:ext>
            </p:extLst>
          </p:nvPr>
        </p:nvGraphicFramePr>
        <p:xfrm>
          <a:off x="544077" y="1875430"/>
          <a:ext cx="7412298" cy="4402520"/>
        </p:xfrm>
        <a:graphic>
          <a:graphicData uri="http://schemas.openxmlformats.org/drawingml/2006/table">
            <a:tbl>
              <a:tblPr firstRow="1" bandRow="1">
                <a:tableStyleId>{5C22544A-7EE6-4342-B048-85BDC9FD1C3A}</a:tableStyleId>
              </a:tblPr>
              <a:tblGrid>
                <a:gridCol w="922544">
                  <a:extLst>
                    <a:ext uri="{9D8B030D-6E8A-4147-A177-3AD203B41FA5}">
                      <a16:colId xmlns:a16="http://schemas.microsoft.com/office/drawing/2014/main" val="528802535"/>
                    </a:ext>
                  </a:extLst>
                </a:gridCol>
                <a:gridCol w="1557792">
                  <a:extLst>
                    <a:ext uri="{9D8B030D-6E8A-4147-A177-3AD203B41FA5}">
                      <a16:colId xmlns:a16="http://schemas.microsoft.com/office/drawing/2014/main" val="3102758518"/>
                    </a:ext>
                  </a:extLst>
                </a:gridCol>
                <a:gridCol w="1492392">
                  <a:extLst>
                    <a:ext uri="{9D8B030D-6E8A-4147-A177-3AD203B41FA5}">
                      <a16:colId xmlns:a16="http://schemas.microsoft.com/office/drawing/2014/main" val="2543019389"/>
                    </a:ext>
                  </a:extLst>
                </a:gridCol>
                <a:gridCol w="3439570">
                  <a:extLst>
                    <a:ext uri="{9D8B030D-6E8A-4147-A177-3AD203B41FA5}">
                      <a16:colId xmlns:a16="http://schemas.microsoft.com/office/drawing/2014/main" val="4122312373"/>
                    </a:ext>
                  </a:extLst>
                </a:gridCol>
              </a:tblGrid>
              <a:tr h="491807">
                <a:tc>
                  <a:txBody>
                    <a:bodyPr/>
                    <a:lstStyle/>
                    <a:p>
                      <a:pPr algn="ctr"/>
                      <a:r>
                        <a:rPr lang="en-IN" sz="1000" b="1" i="0" u="none" strike="noStrike" cap="none" baseline="0" dirty="0">
                          <a:solidFill>
                            <a:schemeClr val="dk1"/>
                          </a:solidFill>
                          <a:latin typeface="+mn-lt"/>
                          <a:ea typeface="+mn-ea"/>
                          <a:cs typeface="+mn-cs"/>
                          <a:sym typeface="Arial"/>
                        </a:rPr>
                        <a:t>Operation</a:t>
                      </a:r>
                    </a:p>
                    <a:p>
                      <a:pPr algn="ctr"/>
                      <a:r>
                        <a:rPr lang="en-IN" sz="1000" b="1" i="0" u="none" strike="noStrike" cap="none" baseline="0" dirty="0">
                          <a:solidFill>
                            <a:schemeClr val="dk1"/>
                          </a:solidFill>
                          <a:latin typeface="+mn-lt"/>
                          <a:ea typeface="+mn-ea"/>
                          <a:cs typeface="+mn-cs"/>
                          <a:sym typeface="Arial"/>
                        </a:rPr>
                        <a:t>Mnemonic</a:t>
                      </a:r>
                      <a:endParaRPr lang="en-IN" sz="1000" b="1" dirty="0"/>
                    </a:p>
                  </a:txBody>
                  <a:tcPr marL="82411" marR="82411" marT="41205" marB="4120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000" b="1" i="0" u="none" strike="noStrike" cap="none" baseline="0" dirty="0">
                          <a:solidFill>
                            <a:schemeClr val="dk1"/>
                          </a:solidFill>
                          <a:latin typeface="+mn-lt"/>
                          <a:ea typeface="+mn-ea"/>
                          <a:cs typeface="+mn-cs"/>
                          <a:sym typeface="Arial"/>
                        </a:rPr>
                        <a:t>Name</a:t>
                      </a:r>
                      <a:endParaRPr lang="en-IN" sz="1000" b="1" dirty="0"/>
                    </a:p>
                  </a:txBody>
                  <a:tcPr marL="82411" marR="82411" marT="41205" marB="4120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000" b="1" i="0" u="none" strike="noStrike" cap="none" baseline="0" dirty="0">
                          <a:solidFill>
                            <a:schemeClr val="dk1"/>
                          </a:solidFill>
                          <a:latin typeface="+mn-lt"/>
                          <a:ea typeface="+mn-ea"/>
                          <a:cs typeface="+mn-cs"/>
                          <a:sym typeface="Arial"/>
                        </a:rPr>
                        <a:t>Number of Bits</a:t>
                      </a:r>
                    </a:p>
                    <a:p>
                      <a:pPr algn="ctr"/>
                      <a:r>
                        <a:rPr lang="en-IN" sz="1000" b="1" i="0" u="none" strike="noStrike" cap="none" baseline="0" dirty="0">
                          <a:solidFill>
                            <a:schemeClr val="dk1"/>
                          </a:solidFill>
                          <a:latin typeface="+mn-lt"/>
                          <a:ea typeface="+mn-ea"/>
                          <a:cs typeface="+mn-cs"/>
                          <a:sym typeface="Arial"/>
                        </a:rPr>
                        <a:t>Transferred</a:t>
                      </a:r>
                      <a:endParaRPr lang="en-IN" sz="1000" b="1" dirty="0"/>
                    </a:p>
                  </a:txBody>
                  <a:tcPr marL="82411" marR="82411" marT="41205" marB="4120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000" b="1" i="0" u="none" strike="noStrike" cap="none" baseline="0" dirty="0">
                          <a:solidFill>
                            <a:schemeClr val="dk1"/>
                          </a:solidFill>
                          <a:latin typeface="+mn-lt"/>
                          <a:ea typeface="+mn-ea"/>
                          <a:cs typeface="+mn-cs"/>
                          <a:sym typeface="Arial"/>
                        </a:rPr>
                        <a:t>Description</a:t>
                      </a:r>
                      <a:endParaRPr lang="en-IN" sz="1000" b="1" dirty="0"/>
                    </a:p>
                  </a:txBody>
                  <a:tcPr marL="82411" marR="82411" marT="41205" marB="4120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4062764516"/>
                  </a:ext>
                </a:extLst>
              </a:tr>
              <a:tr h="289172">
                <a:tc>
                  <a:txBody>
                    <a:bodyPr/>
                    <a:lstStyle/>
                    <a:p>
                      <a:pPr algn="l"/>
                      <a:r>
                        <a:rPr lang="en-IN" sz="1000" b="0" i="0" u="none" strike="noStrike" cap="none" baseline="0" dirty="0">
                          <a:solidFill>
                            <a:schemeClr val="dk1"/>
                          </a:solidFill>
                          <a:latin typeface="+mn-lt"/>
                          <a:ea typeface="+mn-ea"/>
                          <a:cs typeface="+mn-cs"/>
                          <a:sym typeface="Arial"/>
                        </a:rPr>
                        <a:t>L</a:t>
                      </a:r>
                      <a:endParaRPr lang="en-IN" sz="1000" dirty="0"/>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IN" sz="1000" b="0" i="0" u="none" strike="noStrike" cap="none" baseline="0" dirty="0">
                          <a:solidFill>
                            <a:schemeClr val="dk1"/>
                          </a:solidFill>
                          <a:latin typeface="+mn-lt"/>
                          <a:ea typeface="+mn-ea"/>
                          <a:cs typeface="+mn-cs"/>
                          <a:sym typeface="Arial"/>
                        </a:rPr>
                        <a:t>Load</a:t>
                      </a:r>
                      <a:endParaRPr lang="en-IN" sz="1000" dirty="0"/>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000" b="0" i="0" u="none" strike="noStrike" cap="none" baseline="0" dirty="0">
                          <a:solidFill>
                            <a:schemeClr val="dk1"/>
                          </a:solidFill>
                          <a:latin typeface="+mn-lt"/>
                          <a:ea typeface="+mn-ea"/>
                          <a:cs typeface="+mn-cs"/>
                          <a:sym typeface="Arial"/>
                        </a:rPr>
                        <a:t>32</a:t>
                      </a:r>
                      <a:endParaRPr lang="en-IN" sz="1000" dirty="0"/>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0" i="0" u="none" strike="noStrike" cap="none" baseline="0" dirty="0">
                          <a:solidFill>
                            <a:schemeClr val="dk1"/>
                          </a:solidFill>
                          <a:latin typeface="+mn-lt"/>
                          <a:ea typeface="+mn-ea"/>
                          <a:cs typeface="+mn-cs"/>
                          <a:sym typeface="Arial"/>
                        </a:rPr>
                        <a:t>Transfer from memory to register</a:t>
                      </a:r>
                      <a:endParaRPr lang="en-IN" sz="1000" dirty="0"/>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801756320"/>
                  </a:ext>
                </a:extLst>
              </a:tr>
              <a:tr h="250680">
                <a:tc>
                  <a:txBody>
                    <a:bodyPr/>
                    <a:lstStyle/>
                    <a:p>
                      <a:pPr algn="l"/>
                      <a:r>
                        <a:rPr lang="en-IN" sz="1000" b="0" i="0" u="none" strike="noStrike" cap="none" baseline="0" dirty="0">
                          <a:solidFill>
                            <a:schemeClr val="dk1"/>
                          </a:solidFill>
                          <a:latin typeface="+mn-lt"/>
                          <a:ea typeface="+mn-ea"/>
                          <a:cs typeface="+mn-cs"/>
                          <a:sym typeface="Arial"/>
                        </a:rPr>
                        <a:t>LH</a:t>
                      </a:r>
                      <a:endParaRPr lang="en-IN" sz="1000" dirty="0"/>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IN" sz="1000" b="0" i="0" u="none" strike="noStrike" cap="none" baseline="0" dirty="0">
                          <a:solidFill>
                            <a:schemeClr val="dk1"/>
                          </a:solidFill>
                          <a:latin typeface="+mn-lt"/>
                          <a:ea typeface="+mn-ea"/>
                          <a:cs typeface="+mn-cs"/>
                          <a:sym typeface="Arial"/>
                        </a:rPr>
                        <a:t>Load </a:t>
                      </a:r>
                      <a:r>
                        <a:rPr lang="en-IN" sz="1000" b="0" i="0" u="none" strike="noStrike" cap="none" baseline="0" dirty="0" err="1">
                          <a:solidFill>
                            <a:schemeClr val="dk1"/>
                          </a:solidFill>
                          <a:latin typeface="+mn-lt"/>
                          <a:ea typeface="+mn-ea"/>
                          <a:cs typeface="+mn-cs"/>
                          <a:sym typeface="Arial"/>
                        </a:rPr>
                        <a:t>Halfword</a:t>
                      </a:r>
                      <a:endParaRPr lang="en-IN" sz="1000" dirty="0"/>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000" dirty="0"/>
                        <a:t>16</a:t>
                      </a:r>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US" sz="1000" b="0" i="0" u="none" strike="noStrike" cap="none" baseline="0" dirty="0">
                          <a:solidFill>
                            <a:schemeClr val="dk1"/>
                          </a:solidFill>
                          <a:latin typeface="+mn-lt"/>
                          <a:ea typeface="+mn-ea"/>
                          <a:cs typeface="+mn-cs"/>
                          <a:sym typeface="Arial"/>
                        </a:rPr>
                        <a:t>Transfer from memory to register</a:t>
                      </a:r>
                      <a:endParaRPr lang="en-IN" sz="1000" dirty="0"/>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1007438362"/>
                  </a:ext>
                </a:extLst>
              </a:tr>
              <a:tr h="250680">
                <a:tc>
                  <a:txBody>
                    <a:bodyPr/>
                    <a:lstStyle/>
                    <a:p>
                      <a:pPr algn="l"/>
                      <a:r>
                        <a:rPr lang="en-IN" sz="1000" b="0" i="0" u="none" strike="noStrike" cap="none" baseline="0" dirty="0">
                          <a:solidFill>
                            <a:schemeClr val="dk1"/>
                          </a:solidFill>
                          <a:latin typeface="+mn-lt"/>
                          <a:ea typeface="+mn-ea"/>
                          <a:cs typeface="+mn-cs"/>
                          <a:sym typeface="Arial"/>
                        </a:rPr>
                        <a:t>LR</a:t>
                      </a:r>
                      <a:endParaRPr lang="en-IN" sz="1000" dirty="0"/>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IN" sz="1000" b="0" i="0" u="none" strike="noStrike" cap="none" baseline="0" dirty="0">
                          <a:solidFill>
                            <a:schemeClr val="dk1"/>
                          </a:solidFill>
                          <a:latin typeface="+mn-lt"/>
                          <a:ea typeface="+mn-ea"/>
                          <a:cs typeface="+mn-cs"/>
                          <a:sym typeface="Arial"/>
                        </a:rPr>
                        <a:t>Load</a:t>
                      </a:r>
                      <a:endParaRPr lang="en-IN" sz="1000" dirty="0"/>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000" dirty="0"/>
                        <a:t>32</a:t>
                      </a:r>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IN" sz="1000" b="0" i="0" u="none" strike="noStrike" cap="none" baseline="0" dirty="0">
                          <a:solidFill>
                            <a:schemeClr val="dk1"/>
                          </a:solidFill>
                          <a:latin typeface="+mn-lt"/>
                          <a:ea typeface="+mn-ea"/>
                          <a:cs typeface="+mn-cs"/>
                          <a:sym typeface="Arial"/>
                        </a:rPr>
                        <a:t>Transfer from register to register</a:t>
                      </a:r>
                      <a:endParaRPr lang="en-IN" sz="1000" dirty="0"/>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794824530"/>
                  </a:ext>
                </a:extLst>
              </a:tr>
              <a:tr h="418952">
                <a:tc>
                  <a:txBody>
                    <a:bodyPr/>
                    <a:lstStyle/>
                    <a:p>
                      <a:pPr algn="l"/>
                      <a:r>
                        <a:rPr lang="en-IN" sz="1000" b="0" i="0" u="none" strike="noStrike" cap="none" baseline="0" dirty="0">
                          <a:solidFill>
                            <a:schemeClr val="dk1"/>
                          </a:solidFill>
                          <a:latin typeface="+mn-lt"/>
                          <a:ea typeface="+mn-ea"/>
                          <a:cs typeface="+mn-cs"/>
                          <a:sym typeface="Arial"/>
                        </a:rPr>
                        <a:t>LER</a:t>
                      </a:r>
                      <a:endParaRPr lang="en-IN" sz="1000" dirty="0"/>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IN" sz="1000" b="0" i="0" u="none" strike="noStrike" cap="none" baseline="0" dirty="0">
                          <a:solidFill>
                            <a:schemeClr val="dk1"/>
                          </a:solidFill>
                          <a:latin typeface="+mn-lt"/>
                          <a:ea typeface="+mn-ea"/>
                          <a:cs typeface="+mn-cs"/>
                          <a:sym typeface="Arial"/>
                        </a:rPr>
                        <a:t>Load (short)</a:t>
                      </a:r>
                      <a:endParaRPr lang="en-IN" sz="1000" dirty="0"/>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000" dirty="0"/>
                        <a:t>32</a:t>
                      </a:r>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US" sz="1000" b="0" i="0" u="none" strike="noStrike" cap="none" baseline="0" dirty="0">
                          <a:solidFill>
                            <a:schemeClr val="dk1"/>
                          </a:solidFill>
                          <a:latin typeface="+mn-lt"/>
                          <a:ea typeface="+mn-ea"/>
                          <a:cs typeface="+mn-cs"/>
                          <a:sym typeface="Arial"/>
                        </a:rPr>
                        <a:t>Transfer from floating-point register to </a:t>
                      </a:r>
                      <a:br>
                        <a:rPr lang="en-US" sz="1000" b="0" i="0" u="none" strike="noStrike" cap="none" baseline="0" dirty="0">
                          <a:solidFill>
                            <a:schemeClr val="dk1"/>
                          </a:solidFill>
                          <a:latin typeface="+mn-lt"/>
                          <a:ea typeface="+mn-ea"/>
                          <a:cs typeface="+mn-cs"/>
                          <a:sym typeface="Arial"/>
                        </a:rPr>
                      </a:br>
                      <a:r>
                        <a:rPr lang="en-US" sz="1000" b="0" i="0" u="none" strike="noStrike" cap="none" baseline="0" dirty="0">
                          <a:solidFill>
                            <a:schemeClr val="dk1"/>
                          </a:solidFill>
                          <a:latin typeface="+mn-lt"/>
                          <a:ea typeface="+mn-ea"/>
                          <a:cs typeface="+mn-cs"/>
                          <a:sym typeface="Arial"/>
                        </a:rPr>
                        <a:t>floating-point register</a:t>
                      </a:r>
                      <a:endParaRPr lang="en-IN" sz="1000" dirty="0"/>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4149877881"/>
                  </a:ext>
                </a:extLst>
              </a:tr>
              <a:tr h="418952">
                <a:tc>
                  <a:txBody>
                    <a:bodyPr/>
                    <a:lstStyle/>
                    <a:p>
                      <a:pPr algn="l"/>
                      <a:r>
                        <a:rPr lang="en-IN" sz="1000" b="0" i="0" u="none" strike="noStrike" cap="none" baseline="0" dirty="0">
                          <a:solidFill>
                            <a:schemeClr val="dk1"/>
                          </a:solidFill>
                          <a:latin typeface="+mn-lt"/>
                          <a:ea typeface="+mn-ea"/>
                          <a:cs typeface="+mn-cs"/>
                          <a:sym typeface="Arial"/>
                        </a:rPr>
                        <a:t>LE</a:t>
                      </a:r>
                      <a:endParaRPr lang="en-IN" sz="1000" dirty="0"/>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IN" sz="1000" dirty="0"/>
                        <a:t>Load (short)</a:t>
                      </a:r>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000" dirty="0"/>
                        <a:t>32</a:t>
                      </a:r>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US" sz="1000" dirty="0"/>
                        <a:t>Transfer from memory to floating-point</a:t>
                      </a:r>
                    </a:p>
                    <a:p>
                      <a:pPr algn="l"/>
                      <a:r>
                        <a:rPr lang="en-US" sz="1000" dirty="0"/>
                        <a:t>register</a:t>
                      </a:r>
                      <a:endParaRPr lang="en-IN" sz="1000" dirty="0"/>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1662666875"/>
                  </a:ext>
                </a:extLst>
              </a:tr>
              <a:tr h="418952">
                <a:tc>
                  <a:txBody>
                    <a:bodyPr/>
                    <a:lstStyle/>
                    <a:p>
                      <a:pPr algn="l"/>
                      <a:r>
                        <a:rPr lang="en-IN" sz="1000" dirty="0"/>
                        <a:t>LDR</a:t>
                      </a:r>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IN" sz="1000" dirty="0"/>
                        <a:t>Load (long)</a:t>
                      </a:r>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000" dirty="0"/>
                        <a:t>64</a:t>
                      </a:r>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US" sz="1000" dirty="0"/>
                        <a:t>Transfer from floating-point register to floating-point</a:t>
                      </a:r>
                    </a:p>
                    <a:p>
                      <a:pPr algn="l"/>
                      <a:r>
                        <a:rPr lang="en-US" sz="1000" dirty="0"/>
                        <a:t>register</a:t>
                      </a:r>
                      <a:endParaRPr lang="en-IN" sz="1000" dirty="0"/>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2243529861"/>
                  </a:ext>
                </a:extLst>
              </a:tr>
              <a:tr h="250680">
                <a:tc>
                  <a:txBody>
                    <a:bodyPr/>
                    <a:lstStyle/>
                    <a:p>
                      <a:pPr algn="l"/>
                      <a:r>
                        <a:rPr lang="en-IN" sz="1000" dirty="0"/>
                        <a:t>LD</a:t>
                      </a:r>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IN" sz="1000" dirty="0"/>
                        <a:t>Load (long)</a:t>
                      </a:r>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000" dirty="0"/>
                        <a:t>64</a:t>
                      </a:r>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US" sz="1000" dirty="0"/>
                        <a:t>Transfer from memory to floating-point register</a:t>
                      </a:r>
                      <a:endParaRPr lang="en-IN" sz="1000" dirty="0"/>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2907864013"/>
                  </a:ext>
                </a:extLst>
              </a:tr>
              <a:tr h="258247">
                <a:tc>
                  <a:txBody>
                    <a:bodyPr/>
                    <a:lstStyle/>
                    <a:p>
                      <a:pPr algn="l"/>
                      <a:r>
                        <a:rPr lang="en-IN" sz="1000" dirty="0"/>
                        <a:t>ST</a:t>
                      </a:r>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IN" sz="1000" dirty="0"/>
                        <a:t>Store</a:t>
                      </a:r>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000" dirty="0"/>
                        <a:t>32</a:t>
                      </a:r>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US" sz="1000" dirty="0"/>
                        <a:t>Transfer from register to memory</a:t>
                      </a:r>
                      <a:endParaRPr lang="en-IN" sz="1000" dirty="0"/>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153971128"/>
                  </a:ext>
                </a:extLst>
              </a:tr>
              <a:tr h="258247">
                <a:tc>
                  <a:txBody>
                    <a:bodyPr/>
                    <a:lstStyle/>
                    <a:p>
                      <a:pPr algn="l"/>
                      <a:r>
                        <a:rPr lang="en-IN" sz="1000" dirty="0"/>
                        <a:t>STH</a:t>
                      </a:r>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IN" sz="1000" dirty="0"/>
                        <a:t>Store </a:t>
                      </a:r>
                      <a:r>
                        <a:rPr lang="en-IN" sz="1000" dirty="0" err="1"/>
                        <a:t>Halfword</a:t>
                      </a:r>
                      <a:endParaRPr lang="en-IN" sz="1000" dirty="0"/>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000" dirty="0"/>
                        <a:t>16</a:t>
                      </a:r>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US" sz="1000" dirty="0"/>
                        <a:t>Transfer from register to memory</a:t>
                      </a:r>
                      <a:endParaRPr lang="en-IN" sz="1000" dirty="0"/>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913120119"/>
                  </a:ext>
                </a:extLst>
              </a:tr>
              <a:tr h="258247">
                <a:tc>
                  <a:txBody>
                    <a:bodyPr/>
                    <a:lstStyle/>
                    <a:p>
                      <a:pPr algn="l"/>
                      <a:r>
                        <a:rPr lang="en-IN" sz="1000" dirty="0"/>
                        <a:t>STC</a:t>
                      </a:r>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IN" sz="1000" dirty="0"/>
                        <a:t>Store Character</a:t>
                      </a:r>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000" dirty="0"/>
                        <a:t>8</a:t>
                      </a:r>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US" sz="1000" dirty="0"/>
                        <a:t>Transfer from register to memory</a:t>
                      </a:r>
                      <a:endParaRPr lang="en-IN" sz="1000" dirty="0"/>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1240898346"/>
                  </a:ext>
                </a:extLst>
              </a:tr>
              <a:tr h="418952">
                <a:tc>
                  <a:txBody>
                    <a:bodyPr/>
                    <a:lstStyle/>
                    <a:p>
                      <a:pPr algn="l"/>
                      <a:r>
                        <a:rPr lang="en-IN" sz="1000" dirty="0"/>
                        <a:t>STE</a:t>
                      </a:r>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IN" sz="1000" dirty="0"/>
                        <a:t>Store (short)</a:t>
                      </a:r>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000" dirty="0"/>
                        <a:t>32</a:t>
                      </a:r>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US" sz="1000" dirty="0"/>
                        <a:t>Transfer from floating-point register</a:t>
                      </a:r>
                    </a:p>
                    <a:p>
                      <a:pPr algn="l"/>
                      <a:r>
                        <a:rPr lang="en-US" sz="1000" dirty="0"/>
                        <a:t>to memory</a:t>
                      </a:r>
                      <a:endParaRPr lang="en-IN" sz="1000" dirty="0"/>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2837265460"/>
                  </a:ext>
                </a:extLst>
              </a:tr>
              <a:tr h="418952">
                <a:tc>
                  <a:txBody>
                    <a:bodyPr/>
                    <a:lstStyle/>
                    <a:p>
                      <a:pPr algn="l"/>
                      <a:r>
                        <a:rPr lang="en-IN" sz="1000" dirty="0"/>
                        <a:t>STD</a:t>
                      </a:r>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IN" sz="1000" dirty="0"/>
                        <a:t>Store (long)</a:t>
                      </a:r>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000" dirty="0"/>
                        <a:t>64</a:t>
                      </a:r>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US" sz="1000" dirty="0"/>
                        <a:t>Transfer from floating-point register </a:t>
                      </a:r>
                      <a:br>
                        <a:rPr lang="en-US" sz="1000" dirty="0"/>
                      </a:br>
                      <a:r>
                        <a:rPr lang="en-US" sz="1000" dirty="0"/>
                        <a:t>to memory</a:t>
                      </a:r>
                      <a:endParaRPr lang="en-IN" sz="1000" dirty="0"/>
                    </a:p>
                  </a:txBody>
                  <a:tcPr marL="82411" marR="82411" marT="41205" marB="41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1181424987"/>
                  </a:ext>
                </a:extLst>
              </a:tr>
            </a:tbl>
          </a:graphicData>
        </a:graphic>
      </p:graphicFrame>
      <p:sp>
        <p:nvSpPr>
          <p:cNvPr id="7" name="Rectangle 6"/>
          <p:cNvSpPr/>
          <p:nvPr/>
        </p:nvSpPr>
        <p:spPr>
          <a:xfrm>
            <a:off x="5220072" y="6275812"/>
            <a:ext cx="3819764" cy="276999"/>
          </a:xfrm>
          <a:prstGeom prst="rect">
            <a:avLst/>
          </a:prstGeom>
        </p:spPr>
        <p:txBody>
          <a:bodyPr wrap="square">
            <a:spAutoFit/>
          </a:bodyPr>
          <a:lstStyle/>
          <a:p>
            <a:pPr algn="ctr"/>
            <a:r>
              <a:rPr lang="en-US" sz="1200" dirty="0">
                <a:latin typeface="+mn-lt"/>
              </a:rPr>
              <a:t>(Table can be found on page 448 in the textbook.)</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Rectangle 4"/>
          <p:cNvSpPr>
            <a:spLocks noGrp="1" noChangeArrowheads="1"/>
          </p:cNvSpPr>
          <p:nvPr>
            <p:ph type="title"/>
          </p:nvPr>
        </p:nvSpPr>
        <p:spPr>
          <a:xfrm>
            <a:off x="457200" y="250996"/>
            <a:ext cx="8229600" cy="1097279"/>
          </a:xfrm>
          <a:noFill/>
          <a:ln/>
        </p:spPr>
        <p:txBody>
          <a:bodyPr lIns="90488" tIns="44450" rIns="90488" bIns="44450">
            <a:normAutofit/>
          </a:bodyPr>
          <a:lstStyle/>
          <a:p>
            <a:r>
              <a:rPr lang="en-US" dirty="0">
                <a:solidFill>
                  <a:schemeClr val="tx2"/>
                </a:solidFill>
              </a:rPr>
              <a:t>Arithmetic</a:t>
            </a:r>
          </a:p>
        </p:txBody>
      </p:sp>
      <p:sp>
        <p:nvSpPr>
          <p:cNvPr id="43013" name="Rectangle 5"/>
          <p:cNvSpPr>
            <a:spLocks noGrp="1" noChangeArrowheads="1"/>
          </p:cNvSpPr>
          <p:nvPr>
            <p:ph type="body" idx="1"/>
          </p:nvPr>
        </p:nvSpPr>
        <p:spPr>
          <a:xfrm>
            <a:off x="457200" y="1671450"/>
            <a:ext cx="6707088" cy="5501208"/>
          </a:xfrm>
          <a:noFill/>
          <a:ln/>
        </p:spPr>
        <p:txBody>
          <a:bodyPr lIns="90488" tIns="44450" rIns="90488" bIns="44450">
            <a:normAutofit/>
          </a:bodyPr>
          <a:lstStyle/>
          <a:p>
            <a:pPr marL="285750" indent="-285750">
              <a:lnSpc>
                <a:spcPct val="80000"/>
              </a:lnSpc>
              <a:buClr>
                <a:schemeClr val="tx2"/>
              </a:buClr>
              <a:buFont typeface="Arial" panose="020B0604020202020204" pitchFamily="34" charset="0"/>
              <a:buChar char="•"/>
            </a:pPr>
            <a:r>
              <a:rPr lang="en-US" sz="1800" dirty="0"/>
              <a:t>Most machines provide the basic arithmetic operations of add, subtract, multiply, and divide</a:t>
            </a:r>
          </a:p>
          <a:p>
            <a:pPr marL="285750" indent="-285750">
              <a:lnSpc>
                <a:spcPct val="80000"/>
              </a:lnSpc>
              <a:buClr>
                <a:schemeClr val="tx2"/>
              </a:buClr>
              <a:buFont typeface="Arial" panose="020B0604020202020204" pitchFamily="34" charset="0"/>
              <a:buChar char="•"/>
            </a:pPr>
            <a:r>
              <a:rPr lang="en-US" sz="1800" dirty="0"/>
              <a:t>These are provided for signed integer (fixed-point) numbers</a:t>
            </a:r>
          </a:p>
          <a:p>
            <a:pPr marL="285750" indent="-285750">
              <a:lnSpc>
                <a:spcPct val="80000"/>
              </a:lnSpc>
              <a:buClr>
                <a:schemeClr val="tx2"/>
              </a:buClr>
              <a:buFont typeface="Arial" panose="020B0604020202020204" pitchFamily="34" charset="0"/>
              <a:buChar char="•"/>
            </a:pPr>
            <a:r>
              <a:rPr lang="en-US" sz="1800" dirty="0"/>
              <a:t>Often they are also provided for floating-point and packed decimal numbers</a:t>
            </a:r>
          </a:p>
          <a:p>
            <a:pPr marL="285750" indent="-285750">
              <a:lnSpc>
                <a:spcPct val="80000"/>
              </a:lnSpc>
              <a:buClr>
                <a:schemeClr val="tx2"/>
              </a:buClr>
              <a:buFont typeface="Arial" panose="020B0604020202020204" pitchFamily="34" charset="0"/>
              <a:buChar char="•"/>
            </a:pPr>
            <a:r>
              <a:rPr lang="en-US" sz="1800" dirty="0"/>
              <a:t>Other possible operations include a variety of single-operand instructions:</a:t>
            </a:r>
          </a:p>
          <a:p>
            <a:pPr marL="617538" lvl="1" indent="-320675">
              <a:spcBef>
                <a:spcPts val="400"/>
              </a:spcBef>
              <a:buFont typeface="Arial" panose="020B0604020202020204" pitchFamily="34" charset="0"/>
              <a:buChar char="–"/>
            </a:pPr>
            <a:r>
              <a:rPr lang="en-US" sz="1800" dirty="0">
                <a:solidFill>
                  <a:schemeClr val="tx1"/>
                </a:solidFill>
              </a:rPr>
              <a:t>Absolute</a:t>
            </a:r>
          </a:p>
          <a:p>
            <a:pPr marL="925513" lvl="2" indent="-307975">
              <a:spcBef>
                <a:spcPts val="400"/>
              </a:spcBef>
              <a:buClr>
                <a:schemeClr val="tx2"/>
              </a:buClr>
              <a:buFont typeface="Wingdings" panose="05000000000000000000" pitchFamily="2" charset="2"/>
              <a:buChar char="§"/>
            </a:pPr>
            <a:r>
              <a:rPr lang="en-US" sz="1600" dirty="0">
                <a:solidFill>
                  <a:schemeClr val="tx1"/>
                </a:solidFill>
              </a:rPr>
              <a:t>Take the absolute value of the operand</a:t>
            </a:r>
          </a:p>
          <a:p>
            <a:pPr marL="617538" lvl="1" indent="-320675">
              <a:spcBef>
                <a:spcPts val="400"/>
              </a:spcBef>
              <a:buFont typeface="Arial" panose="020B0604020202020204" pitchFamily="34" charset="0"/>
              <a:buChar char="–"/>
            </a:pPr>
            <a:r>
              <a:rPr lang="en-US" sz="1800" dirty="0">
                <a:solidFill>
                  <a:schemeClr val="tx1"/>
                </a:solidFill>
              </a:rPr>
              <a:t>Negate</a:t>
            </a:r>
          </a:p>
          <a:p>
            <a:pPr marL="925513" lvl="2" indent="-307975">
              <a:spcBef>
                <a:spcPts val="400"/>
              </a:spcBef>
              <a:buClr>
                <a:schemeClr val="tx2"/>
              </a:buClr>
              <a:buFont typeface="Wingdings" panose="05000000000000000000" pitchFamily="2" charset="2"/>
              <a:buChar char="§"/>
            </a:pPr>
            <a:r>
              <a:rPr lang="en-US" sz="1600" dirty="0">
                <a:solidFill>
                  <a:schemeClr val="tx1"/>
                </a:solidFill>
              </a:rPr>
              <a:t>Negate the operand</a:t>
            </a:r>
          </a:p>
          <a:p>
            <a:pPr marL="617538" lvl="1" indent="-320675">
              <a:spcBef>
                <a:spcPts val="400"/>
              </a:spcBef>
              <a:buFont typeface="Arial" panose="020B0604020202020204" pitchFamily="34" charset="0"/>
              <a:buChar char="–"/>
            </a:pPr>
            <a:r>
              <a:rPr lang="en-US" sz="1800" dirty="0">
                <a:solidFill>
                  <a:schemeClr val="tx1"/>
                </a:solidFill>
              </a:rPr>
              <a:t>Increment</a:t>
            </a:r>
          </a:p>
          <a:p>
            <a:pPr marL="925513" lvl="2" indent="-307975">
              <a:spcBef>
                <a:spcPts val="400"/>
              </a:spcBef>
              <a:buClr>
                <a:schemeClr val="tx2"/>
              </a:buClr>
              <a:buFont typeface="Wingdings" panose="05000000000000000000" pitchFamily="2" charset="2"/>
              <a:buChar char="§"/>
            </a:pPr>
            <a:r>
              <a:rPr lang="en-US" sz="1600" dirty="0">
                <a:solidFill>
                  <a:schemeClr val="tx1"/>
                </a:solidFill>
              </a:rPr>
              <a:t>Add 1 to the operand</a:t>
            </a:r>
          </a:p>
          <a:p>
            <a:pPr lvl="1">
              <a:spcBef>
                <a:spcPts val="400"/>
              </a:spcBef>
            </a:pPr>
            <a:r>
              <a:rPr lang="en-US" sz="1800" dirty="0">
                <a:solidFill>
                  <a:schemeClr val="tx1"/>
                </a:solidFill>
              </a:rPr>
              <a:t>Decrement</a:t>
            </a:r>
            <a:r>
              <a:rPr lang="en-US" dirty="0">
                <a:solidFill>
                  <a:schemeClr val="tx1"/>
                </a:solidFill>
              </a:rPr>
              <a:t> </a:t>
            </a:r>
          </a:p>
          <a:p>
            <a:pPr marL="925513" lvl="2" indent="-307975">
              <a:spcBef>
                <a:spcPts val="400"/>
              </a:spcBef>
              <a:buClr>
                <a:schemeClr val="tx2"/>
              </a:buClr>
              <a:buFont typeface="Wingdings" panose="05000000000000000000" pitchFamily="2" charset="2"/>
              <a:buChar char="§"/>
            </a:pPr>
            <a:r>
              <a:rPr lang="en-US" sz="1600" dirty="0">
                <a:solidFill>
                  <a:schemeClr val="tx1"/>
                </a:solidFill>
              </a:rPr>
              <a:t>Subtract 1 from the operand</a:t>
            </a:r>
          </a:p>
        </p:txBody>
      </p:sp>
      <p:pic>
        <p:nvPicPr>
          <p:cNvPr id="2" name="Picture 1">
            <a:hlinkClick r:id="rId3" action="ppaction://hlinksldjump"/>
            <a:extLst>
              <a:ext uri="{FF2B5EF4-FFF2-40B4-BE49-F238E27FC236}">
                <a16:creationId xmlns:a16="http://schemas.microsoft.com/office/drawing/2014/main" id="{55AF06AE-BBB4-433A-A25A-220B90D2DA08}"/>
              </a:ext>
            </a:extLst>
          </p:cNvPr>
          <p:cNvPicPr>
            <a:picLocks noChangeAspect="1"/>
          </p:cNvPicPr>
          <p:nvPr/>
        </p:nvPicPr>
        <p:blipFill>
          <a:blip r:embed="rId4"/>
          <a:stretch>
            <a:fillRect/>
          </a:stretch>
        </p:blipFill>
        <p:spPr>
          <a:xfrm>
            <a:off x="5076056" y="3789040"/>
            <a:ext cx="3939325" cy="2448272"/>
          </a:xfrm>
          <a:prstGeom prst="rect">
            <a:avLst/>
          </a:prstGeom>
        </p:spPr>
      </p:pic>
      <p:sp>
        <p:nvSpPr>
          <p:cNvPr id="3" name="Rectangle 2">
            <a:extLst>
              <a:ext uri="{FF2B5EF4-FFF2-40B4-BE49-F238E27FC236}">
                <a16:creationId xmlns:a16="http://schemas.microsoft.com/office/drawing/2014/main" id="{B54850B2-EC37-411E-BB29-306C01752290}"/>
              </a:ext>
            </a:extLst>
          </p:cNvPr>
          <p:cNvSpPr/>
          <p:nvPr/>
        </p:nvSpPr>
        <p:spPr>
          <a:xfrm>
            <a:off x="5004048" y="6165304"/>
            <a:ext cx="3671646" cy="276999"/>
          </a:xfrm>
          <a:prstGeom prst="rect">
            <a:avLst/>
          </a:prstGeom>
        </p:spPr>
        <p:txBody>
          <a:bodyPr wrap="none">
            <a:spAutoFit/>
          </a:bodyPr>
          <a:lstStyle/>
          <a:p>
            <a:r>
              <a:rPr lang="en-US" sz="1200" b="1" dirty="0">
                <a:solidFill>
                  <a:srgbClr val="FF0000"/>
                </a:solidFill>
              </a:rPr>
              <a:t>click on this picture to link to the x86 instructions list</a:t>
            </a:r>
            <a:endParaRPr lang="en-MY" sz="1200" b="1" dirty="0">
              <a:solidFill>
                <a:srgbClr val="FF0000"/>
              </a:solidFill>
            </a:endParaRP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noChangeArrowheads="1"/>
          </p:cNvSpPr>
          <p:nvPr>
            <p:ph type="title"/>
          </p:nvPr>
        </p:nvSpPr>
        <p:spPr>
          <a:xfrm>
            <a:off x="457200" y="243621"/>
            <a:ext cx="8229600" cy="1097279"/>
          </a:xfrm>
          <a:noFill/>
          <a:ln/>
        </p:spPr>
        <p:txBody>
          <a:bodyPr lIns="90488" tIns="44450" rIns="90488" bIns="44450"/>
          <a:lstStyle/>
          <a:p>
            <a:r>
              <a:rPr lang="en-US" dirty="0"/>
              <a:t>Table 13.6 </a:t>
            </a:r>
            <a:br>
              <a:rPr lang="en-US" dirty="0"/>
            </a:br>
            <a:r>
              <a:rPr lang="en-US" dirty="0"/>
              <a:t>Basic Logical Operations</a:t>
            </a:r>
          </a:p>
        </p:txBody>
      </p:sp>
      <p:graphicFrame>
        <p:nvGraphicFramePr>
          <p:cNvPr id="6" name="Table 5" descr="The table has the column headings, P, Q, not p, p and q, p or q, p x o r q, and p through q. The rows read as follows. 1. 0 0 1 0 0 0 1. 2. 0 1 1 0 1 1 0. 3. 1 0 0 0 1 1 0. 4. 1 1 0 1 1 0 1." title="A table is titled, basic logical operations."/>
          <p:cNvGraphicFramePr>
            <a:graphicFrameLocks noGrp="1"/>
          </p:cNvGraphicFramePr>
          <p:nvPr>
            <p:extLst>
              <p:ext uri="{D42A27DB-BD31-4B8C-83A1-F6EECF244321}">
                <p14:modId xmlns:p14="http://schemas.microsoft.com/office/powerpoint/2010/main" val="1527605157"/>
              </p:ext>
            </p:extLst>
          </p:nvPr>
        </p:nvGraphicFramePr>
        <p:xfrm>
          <a:off x="364511" y="2636912"/>
          <a:ext cx="8404105" cy="2385657"/>
        </p:xfrm>
        <a:graphic>
          <a:graphicData uri="http://schemas.openxmlformats.org/drawingml/2006/table">
            <a:tbl>
              <a:tblPr firstRow="1" bandRow="1">
                <a:tableStyleId>{5C22544A-7EE6-4342-B048-85BDC9FD1C3A}</a:tableStyleId>
              </a:tblPr>
              <a:tblGrid>
                <a:gridCol w="1039137">
                  <a:extLst>
                    <a:ext uri="{9D8B030D-6E8A-4147-A177-3AD203B41FA5}">
                      <a16:colId xmlns:a16="http://schemas.microsoft.com/office/drawing/2014/main" val="528802535"/>
                    </a:ext>
                  </a:extLst>
                </a:gridCol>
                <a:gridCol w="1008112">
                  <a:extLst>
                    <a:ext uri="{9D8B030D-6E8A-4147-A177-3AD203B41FA5}">
                      <a16:colId xmlns:a16="http://schemas.microsoft.com/office/drawing/2014/main" val="3102758518"/>
                    </a:ext>
                  </a:extLst>
                </a:gridCol>
                <a:gridCol w="1152128">
                  <a:extLst>
                    <a:ext uri="{9D8B030D-6E8A-4147-A177-3AD203B41FA5}">
                      <a16:colId xmlns:a16="http://schemas.microsoft.com/office/drawing/2014/main" val="2543019389"/>
                    </a:ext>
                  </a:extLst>
                </a:gridCol>
                <a:gridCol w="1152128">
                  <a:extLst>
                    <a:ext uri="{9D8B030D-6E8A-4147-A177-3AD203B41FA5}">
                      <a16:colId xmlns:a16="http://schemas.microsoft.com/office/drawing/2014/main" val="4122312373"/>
                    </a:ext>
                  </a:extLst>
                </a:gridCol>
                <a:gridCol w="1152128">
                  <a:extLst>
                    <a:ext uri="{9D8B030D-6E8A-4147-A177-3AD203B41FA5}">
                      <a16:colId xmlns:a16="http://schemas.microsoft.com/office/drawing/2014/main" val="3556703411"/>
                    </a:ext>
                  </a:extLst>
                </a:gridCol>
                <a:gridCol w="1296144">
                  <a:extLst>
                    <a:ext uri="{9D8B030D-6E8A-4147-A177-3AD203B41FA5}">
                      <a16:colId xmlns:a16="http://schemas.microsoft.com/office/drawing/2014/main" val="1608814037"/>
                    </a:ext>
                  </a:extLst>
                </a:gridCol>
                <a:gridCol w="1604328">
                  <a:extLst>
                    <a:ext uri="{9D8B030D-6E8A-4147-A177-3AD203B41FA5}">
                      <a16:colId xmlns:a16="http://schemas.microsoft.com/office/drawing/2014/main" val="254080510"/>
                    </a:ext>
                  </a:extLst>
                </a:gridCol>
              </a:tblGrid>
              <a:tr h="504056">
                <a:tc>
                  <a:txBody>
                    <a:bodyPr/>
                    <a:lstStyle/>
                    <a:p>
                      <a:pPr algn="ctr"/>
                      <a:r>
                        <a:rPr lang="en-IN" sz="1600" b="1" i="0" u="none" strike="noStrike" cap="none" baseline="0" dirty="0">
                          <a:solidFill>
                            <a:schemeClr val="tx1"/>
                          </a:solidFill>
                          <a:latin typeface="+mn-lt"/>
                          <a:ea typeface="+mn-ea"/>
                          <a:cs typeface="+mn-cs"/>
                          <a:sym typeface="Arial"/>
                        </a:rPr>
                        <a:t>P</a:t>
                      </a:r>
                      <a:endParaRPr lang="en-IN" sz="16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600" b="1" i="0" u="none" strike="noStrike" cap="none" baseline="0" dirty="0">
                          <a:solidFill>
                            <a:schemeClr val="tx1"/>
                          </a:solidFill>
                          <a:latin typeface="+mn-lt"/>
                          <a:ea typeface="+mn-ea"/>
                          <a:cs typeface="+mn-cs"/>
                          <a:sym typeface="Arial"/>
                        </a:rPr>
                        <a:t>Q</a:t>
                      </a:r>
                      <a:endParaRPr lang="en-IN" sz="16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600" b="1" i="0" u="none" strike="noStrike" cap="none" baseline="0" dirty="0">
                          <a:solidFill>
                            <a:schemeClr val="tx1"/>
                          </a:solidFill>
                          <a:latin typeface="+mn-lt"/>
                          <a:ea typeface="+mn-ea"/>
                          <a:cs typeface="+mn-cs"/>
                          <a:sym typeface="Arial"/>
                        </a:rPr>
                        <a:t>NOT P</a:t>
                      </a:r>
                      <a:endParaRPr lang="en-IN" sz="16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i="0" u="none" strike="noStrike" cap="none" baseline="0" dirty="0">
                          <a:solidFill>
                            <a:schemeClr val="tx1"/>
                          </a:solidFill>
                          <a:latin typeface="+mn-lt"/>
                          <a:ea typeface="+mn-ea"/>
                          <a:cs typeface="+mn-cs"/>
                          <a:sym typeface="Arial"/>
                        </a:rPr>
                        <a:t>P AND Q</a:t>
                      </a:r>
                      <a:endParaRPr lang="en-IN" sz="16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600" b="1" dirty="0">
                          <a:solidFill>
                            <a:schemeClr val="tx1"/>
                          </a:solidFill>
                        </a:rPr>
                        <a:t>P OR Q</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600" b="1" dirty="0">
                          <a:solidFill>
                            <a:schemeClr val="tx1"/>
                          </a:solidFill>
                        </a:rPr>
                        <a:t>P XOR Q</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600" b="1" dirty="0">
                          <a:solidFill>
                            <a:schemeClr val="tx1"/>
                          </a:solidFill>
                        </a:rPr>
                        <a:t>P = Q</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801756320"/>
                  </a:ext>
                </a:extLst>
              </a:tr>
              <a:tr h="414828">
                <a:tc>
                  <a:txBody>
                    <a:bodyPr/>
                    <a:lstStyle/>
                    <a:p>
                      <a:pPr algn="ctr"/>
                      <a:r>
                        <a:rPr lang="en-IN" sz="16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6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6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6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6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6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6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1007438362"/>
                  </a:ext>
                </a:extLst>
              </a:tr>
              <a:tr h="518309">
                <a:tc>
                  <a:txBody>
                    <a:bodyPr/>
                    <a:lstStyle/>
                    <a:p>
                      <a:pPr algn="ctr"/>
                      <a:r>
                        <a:rPr lang="en-IN" sz="16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6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6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6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6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6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6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794824530"/>
                  </a:ext>
                </a:extLst>
              </a:tr>
              <a:tr h="527601">
                <a:tc>
                  <a:txBody>
                    <a:bodyPr/>
                    <a:lstStyle/>
                    <a:p>
                      <a:pPr algn="ctr"/>
                      <a:r>
                        <a:rPr lang="en-IN" sz="16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6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6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6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6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6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6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4149877881"/>
                  </a:ext>
                </a:extLst>
              </a:tr>
              <a:tr h="420863">
                <a:tc>
                  <a:txBody>
                    <a:bodyPr/>
                    <a:lstStyle/>
                    <a:p>
                      <a:pPr algn="ctr"/>
                      <a:r>
                        <a:rPr lang="en-IN" sz="16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6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6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6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6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6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6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1662666875"/>
                  </a:ext>
                </a:extLst>
              </a:tr>
            </a:tbl>
          </a:graphicData>
        </a:graphic>
      </p:graphicFrame>
      <p:sp>
        <p:nvSpPr>
          <p:cNvPr id="5" name="Rectangle 4">
            <a:hlinkClick r:id="rId3" action="ppaction://hlinksldjump"/>
            <a:extLst>
              <a:ext uri="{FF2B5EF4-FFF2-40B4-BE49-F238E27FC236}">
                <a16:creationId xmlns:a16="http://schemas.microsoft.com/office/drawing/2014/main" id="{95B005FA-D3FF-4771-BB9F-B6EFDA63972E}"/>
              </a:ext>
            </a:extLst>
          </p:cNvPr>
          <p:cNvSpPr/>
          <p:nvPr/>
        </p:nvSpPr>
        <p:spPr>
          <a:xfrm>
            <a:off x="6372200" y="6052272"/>
            <a:ext cx="2447725" cy="276999"/>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en-US" sz="1200" b="1" dirty="0">
                <a:solidFill>
                  <a:srgbClr val="FF0000"/>
                </a:solidFill>
              </a:rPr>
              <a:t>Link to the x86 instructions list</a:t>
            </a:r>
            <a:endParaRPr lang="en-MY" sz="1200" b="1" dirty="0">
              <a:solidFill>
                <a:srgbClr val="FF0000"/>
              </a:solidFill>
            </a:endParaRP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243621"/>
            <a:ext cx="8229600" cy="1097279"/>
          </a:xfrm>
          <a:noFill/>
          <a:ln/>
        </p:spPr>
        <p:txBody>
          <a:bodyPr lIns="90488" tIns="44450" rIns="90488" bIns="44450"/>
          <a:lstStyle/>
          <a:p>
            <a:r>
              <a:rPr lang="en-US" dirty="0"/>
              <a:t>Figure 13.6</a:t>
            </a:r>
            <a:br>
              <a:rPr lang="en-US" dirty="0"/>
            </a:br>
            <a:r>
              <a:rPr lang="en-US" dirty="0"/>
              <a:t>Shift and Rotate Operations</a:t>
            </a:r>
          </a:p>
        </p:txBody>
      </p:sp>
      <p:pic>
        <p:nvPicPr>
          <p:cNvPr id="4" name="Picture 3" descr="Diagram A, Logical right shift. Numeral 0 is sent to the first node of the array and the bits are shifted from left to right. Diagram B, Logical left shift. Numeral 0 is sent to the final node of the array and the bits are shifted from right to left. Diagram C, Arithmetic right shift. The first node contains alphabet S which is shifted to the second node on the right and so on from left to right. Diagram D, Numeral 0 is sent to the last node of the array. The bits are shifted from right to left and they leave without reaching the node 1. Node 1 contains alphabet S which is reverted back to itself. Diagram E, Right rotate. The bits are shifted from left to right and as they reach the final node, they are again reverted to the first node from Right to left. Diagram F, Left rotate. The bits are shifted from right to left. As they reach node 1, the bits are reverted to the last node from left to right." title="A diagram explains the various shift and rotate operations."/>
          <p:cNvPicPr>
            <a:picLocks noChangeAspect="1"/>
          </p:cNvPicPr>
          <p:nvPr/>
        </p:nvPicPr>
        <p:blipFill rotWithShape="1">
          <a:blip r:embed="rId3">
            <a:extLst>
              <a:ext uri="{28A0092B-C50C-407E-A947-70E740481C1C}">
                <a14:useLocalDpi xmlns:a14="http://schemas.microsoft.com/office/drawing/2010/main" val="0"/>
              </a:ext>
            </a:extLst>
          </a:blip>
          <a:srcRect l="18181" t="8666" r="22078" b="11807"/>
          <a:stretch/>
        </p:blipFill>
        <p:spPr>
          <a:xfrm>
            <a:off x="3131182" y="1326138"/>
            <a:ext cx="2881637" cy="501154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Grp="1" noChangeArrowheads="1"/>
          </p:cNvSpPr>
          <p:nvPr>
            <p:ph type="title"/>
          </p:nvPr>
        </p:nvSpPr>
        <p:spPr>
          <a:xfrm>
            <a:off x="457200" y="243621"/>
            <a:ext cx="8229600" cy="1097279"/>
          </a:xfrm>
          <a:noFill/>
          <a:ln/>
        </p:spPr>
        <p:txBody>
          <a:bodyPr lIns="90488" tIns="44450" rIns="90488" bIns="44450"/>
          <a:lstStyle/>
          <a:p>
            <a:r>
              <a:rPr lang="en-US" dirty="0"/>
              <a:t>Table 13.7</a:t>
            </a:r>
            <a:br>
              <a:rPr lang="en-US" dirty="0"/>
            </a:br>
            <a:r>
              <a:rPr lang="en-US" dirty="0"/>
              <a:t>Examples of Shift and Rotate Operations</a:t>
            </a:r>
          </a:p>
        </p:txBody>
      </p:sp>
      <p:graphicFrame>
        <p:nvGraphicFramePr>
          <p:cNvPr id="6" name="Table 5" descr="The table has three columns labeled, input, operation, and result. The rows read as follows. Row 1. 1 0 1 0 0 1 1 0, Logical right shift left parenthesis 3 bits right parenthesis, 0 0 0 1 0 1 0 0. Row 2. 1 0 1 0 0 1 1 0, Logical left shift left parenthesis 3 bits right parenthesis, 0 0 1 1 0 0 0 0. Row 3. 1 0 1 0 0 1 1 0, Arithmetic right shift left parenthesis 3 bits right parenthesis, 1 1 1 1 0 1 0 0. Row 4. 1 0 1 0 0 1 1 0, Arithmetic left shift left parenthesis 3 bits right parenthesis, 1 0 1 1 0 0 0 0. Row 5. 1 0 1 0 0 1 1 0, Right rotate left parenthesis 3 bits right parenthesis, 1 1 0 1 0 1 0 0. Row 6. 1 0 1 0 0 1 1 0, Left rotate left parenthesis 3 bits right parenthesis, 0 0 1 1 0 1 0." title="A table is titled, examples of shift and rotate operations."/>
          <p:cNvGraphicFramePr>
            <a:graphicFrameLocks noGrp="1"/>
          </p:cNvGraphicFramePr>
          <p:nvPr>
            <p:extLst>
              <p:ext uri="{D42A27DB-BD31-4B8C-83A1-F6EECF244321}">
                <p14:modId xmlns:p14="http://schemas.microsoft.com/office/powerpoint/2010/main" val="1393095431"/>
              </p:ext>
            </p:extLst>
          </p:nvPr>
        </p:nvGraphicFramePr>
        <p:xfrm>
          <a:off x="479534" y="1916833"/>
          <a:ext cx="8184932" cy="3024335"/>
        </p:xfrm>
        <a:graphic>
          <a:graphicData uri="http://schemas.openxmlformats.org/drawingml/2006/table">
            <a:tbl>
              <a:tblPr firstRow="1" bandRow="1">
                <a:tableStyleId>{5C22544A-7EE6-4342-B048-85BDC9FD1C3A}</a:tableStyleId>
              </a:tblPr>
              <a:tblGrid>
                <a:gridCol w="2376978">
                  <a:extLst>
                    <a:ext uri="{9D8B030D-6E8A-4147-A177-3AD203B41FA5}">
                      <a16:colId xmlns:a16="http://schemas.microsoft.com/office/drawing/2014/main" val="528802535"/>
                    </a:ext>
                  </a:extLst>
                </a:gridCol>
                <a:gridCol w="3465692">
                  <a:extLst>
                    <a:ext uri="{9D8B030D-6E8A-4147-A177-3AD203B41FA5}">
                      <a16:colId xmlns:a16="http://schemas.microsoft.com/office/drawing/2014/main" val="3102758518"/>
                    </a:ext>
                  </a:extLst>
                </a:gridCol>
                <a:gridCol w="2342262">
                  <a:extLst>
                    <a:ext uri="{9D8B030D-6E8A-4147-A177-3AD203B41FA5}">
                      <a16:colId xmlns:a16="http://schemas.microsoft.com/office/drawing/2014/main" val="2543019389"/>
                    </a:ext>
                  </a:extLst>
                </a:gridCol>
              </a:tblGrid>
              <a:tr h="418357">
                <a:tc>
                  <a:txBody>
                    <a:bodyPr/>
                    <a:lstStyle/>
                    <a:p>
                      <a:pPr algn="ctr"/>
                      <a:r>
                        <a:rPr lang="en-IN" sz="2000" b="1" i="0" u="none" strike="noStrike" cap="none" baseline="0" dirty="0">
                          <a:solidFill>
                            <a:schemeClr val="tx1"/>
                          </a:solidFill>
                          <a:latin typeface="+mn-lt"/>
                          <a:ea typeface="+mn-ea"/>
                          <a:cs typeface="+mn-cs"/>
                          <a:sym typeface="Arial"/>
                        </a:rPr>
                        <a:t>Input</a:t>
                      </a:r>
                      <a:endParaRPr lang="en-IN" sz="2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2000" b="1" i="0" u="none" strike="noStrike" cap="none" baseline="0" dirty="0">
                          <a:solidFill>
                            <a:schemeClr val="tx1"/>
                          </a:solidFill>
                          <a:latin typeface="+mn-lt"/>
                          <a:ea typeface="+mn-ea"/>
                          <a:cs typeface="+mn-cs"/>
                          <a:sym typeface="Arial"/>
                        </a:rPr>
                        <a:t>Operation</a:t>
                      </a:r>
                      <a:endParaRPr lang="en-IN" sz="2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2000" b="1" i="0" u="none" strike="noStrike" cap="none" baseline="0" dirty="0">
                          <a:solidFill>
                            <a:schemeClr val="tx1"/>
                          </a:solidFill>
                          <a:latin typeface="+mn-lt"/>
                          <a:ea typeface="+mn-ea"/>
                          <a:cs typeface="+mn-cs"/>
                          <a:sym typeface="Arial"/>
                        </a:rPr>
                        <a:t>Result</a:t>
                      </a:r>
                      <a:endParaRPr lang="en-IN" sz="2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801756320"/>
                  </a:ext>
                </a:extLst>
              </a:tr>
              <a:tr h="418357">
                <a:tc>
                  <a:txBody>
                    <a:bodyPr/>
                    <a:lstStyle/>
                    <a:p>
                      <a:pPr algn="ctr"/>
                      <a:r>
                        <a:rPr lang="en-IN" sz="1800" b="0" i="0" u="none" strike="noStrike" cap="none" baseline="0" dirty="0">
                          <a:solidFill>
                            <a:schemeClr val="dk1"/>
                          </a:solidFill>
                          <a:latin typeface="+mn-lt"/>
                          <a:ea typeface="+mn-ea"/>
                          <a:cs typeface="+mn-cs"/>
                          <a:sym typeface="Arial"/>
                        </a:rPr>
                        <a:t>10100110</a:t>
                      </a:r>
                      <a:endParaRPr lang="en-IN"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sz="1800" b="0" i="0" u="none" strike="noStrike" cap="none" baseline="0" dirty="0">
                          <a:solidFill>
                            <a:schemeClr val="dk1"/>
                          </a:solidFill>
                          <a:latin typeface="+mn-lt"/>
                          <a:ea typeface="+mn-ea"/>
                          <a:cs typeface="+mn-cs"/>
                          <a:sym typeface="Arial"/>
                        </a:rPr>
                        <a:t>Logical right shift (3 bits)</a:t>
                      </a:r>
                      <a:endParaRPr lang="en-IN"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800" b="0" i="0" u="none" strike="noStrike" cap="none" baseline="0" dirty="0">
                          <a:solidFill>
                            <a:schemeClr val="dk1"/>
                          </a:solidFill>
                          <a:latin typeface="+mn-lt"/>
                          <a:ea typeface="+mn-ea"/>
                          <a:cs typeface="+mn-cs"/>
                          <a:sym typeface="Arial"/>
                        </a:rPr>
                        <a:t>00010100</a:t>
                      </a:r>
                      <a:endParaRPr lang="en-IN"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1007438362"/>
                  </a:ext>
                </a:extLst>
              </a:tr>
              <a:tr h="418357">
                <a:tc>
                  <a:txBody>
                    <a:bodyPr/>
                    <a:lstStyle/>
                    <a:p>
                      <a:pPr algn="ctr"/>
                      <a:r>
                        <a:rPr lang="en-IN" sz="1800" b="0" i="0" u="none" strike="noStrike" cap="none" baseline="0" dirty="0">
                          <a:solidFill>
                            <a:schemeClr val="dk1"/>
                          </a:solidFill>
                          <a:latin typeface="+mn-lt"/>
                          <a:ea typeface="+mn-ea"/>
                          <a:cs typeface="+mn-cs"/>
                          <a:sym typeface="Arial"/>
                        </a:rPr>
                        <a:t>10100110</a:t>
                      </a:r>
                      <a:endParaRPr lang="en-IN"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sz="1800" b="0" i="0" u="none" strike="noStrike" cap="none" baseline="0" dirty="0">
                          <a:solidFill>
                            <a:schemeClr val="dk1"/>
                          </a:solidFill>
                          <a:latin typeface="+mn-lt"/>
                          <a:ea typeface="+mn-ea"/>
                          <a:cs typeface="+mn-cs"/>
                          <a:sym typeface="Arial"/>
                        </a:rPr>
                        <a:t>Logical left shift (3 bits)</a:t>
                      </a:r>
                      <a:endParaRPr lang="en-IN"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800" b="0" i="0" u="none" strike="noStrike" cap="none" baseline="0" dirty="0">
                          <a:solidFill>
                            <a:schemeClr val="dk1"/>
                          </a:solidFill>
                          <a:latin typeface="+mn-lt"/>
                          <a:ea typeface="+mn-ea"/>
                          <a:cs typeface="+mn-cs"/>
                          <a:sym typeface="Arial"/>
                        </a:rPr>
                        <a:t>00110000</a:t>
                      </a:r>
                      <a:endParaRPr lang="en-IN"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794824530"/>
                  </a:ext>
                </a:extLst>
              </a:tr>
              <a:tr h="418357">
                <a:tc>
                  <a:txBody>
                    <a:bodyPr/>
                    <a:lstStyle/>
                    <a:p>
                      <a:pPr algn="ctr"/>
                      <a:r>
                        <a:rPr lang="en-IN" sz="1800" b="0" i="0" u="none" strike="noStrike" cap="none" baseline="0" dirty="0">
                          <a:solidFill>
                            <a:schemeClr val="dk1"/>
                          </a:solidFill>
                          <a:latin typeface="+mn-lt"/>
                          <a:ea typeface="+mn-ea"/>
                          <a:cs typeface="+mn-cs"/>
                          <a:sym typeface="Arial"/>
                        </a:rPr>
                        <a:t>10100110</a:t>
                      </a:r>
                      <a:endParaRPr lang="en-IN"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sz="1800" b="0" i="0" u="none" strike="noStrike" cap="none" baseline="0" dirty="0">
                          <a:solidFill>
                            <a:schemeClr val="dk1"/>
                          </a:solidFill>
                          <a:latin typeface="+mn-lt"/>
                          <a:ea typeface="+mn-ea"/>
                          <a:cs typeface="+mn-cs"/>
                          <a:sym typeface="Arial"/>
                        </a:rPr>
                        <a:t>Arithmetic right shift (3 bits)</a:t>
                      </a:r>
                      <a:endParaRPr lang="en-IN"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800" b="0" i="0" u="none" strike="noStrike" cap="none" baseline="0" dirty="0">
                          <a:solidFill>
                            <a:schemeClr val="dk1"/>
                          </a:solidFill>
                          <a:latin typeface="+mn-lt"/>
                          <a:ea typeface="+mn-ea"/>
                          <a:cs typeface="+mn-cs"/>
                          <a:sym typeface="Arial"/>
                        </a:rPr>
                        <a:t>11110100</a:t>
                      </a:r>
                      <a:endParaRPr lang="en-IN"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4149877881"/>
                  </a:ext>
                </a:extLst>
              </a:tr>
              <a:tr h="418357">
                <a:tc>
                  <a:txBody>
                    <a:bodyPr/>
                    <a:lstStyle/>
                    <a:p>
                      <a:pPr algn="ctr"/>
                      <a:r>
                        <a:rPr lang="en-IN" sz="1800" b="0" i="0" u="none" strike="noStrike" cap="none" baseline="0" dirty="0">
                          <a:solidFill>
                            <a:schemeClr val="dk1"/>
                          </a:solidFill>
                          <a:latin typeface="+mn-lt"/>
                          <a:ea typeface="+mn-ea"/>
                          <a:cs typeface="+mn-cs"/>
                          <a:sym typeface="Arial"/>
                        </a:rPr>
                        <a:t>10100110</a:t>
                      </a:r>
                      <a:endParaRPr lang="en-IN"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sz="1800" b="0" i="0" u="none" strike="noStrike" cap="none" baseline="0" dirty="0">
                          <a:solidFill>
                            <a:schemeClr val="dk1"/>
                          </a:solidFill>
                          <a:latin typeface="+mn-lt"/>
                          <a:ea typeface="+mn-ea"/>
                          <a:cs typeface="+mn-cs"/>
                          <a:sym typeface="Arial"/>
                        </a:rPr>
                        <a:t>Arithmetic left shift (3 bits)</a:t>
                      </a:r>
                      <a:endParaRPr lang="en-IN"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800" b="0" i="0" u="none" strike="noStrike" cap="none" baseline="0" dirty="0">
                          <a:solidFill>
                            <a:schemeClr val="dk1"/>
                          </a:solidFill>
                          <a:latin typeface="+mn-lt"/>
                          <a:ea typeface="+mn-ea"/>
                          <a:cs typeface="+mn-cs"/>
                          <a:sym typeface="Arial"/>
                        </a:rPr>
                        <a:t>10110000</a:t>
                      </a:r>
                      <a:endParaRPr lang="en-IN"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1662666875"/>
                  </a:ext>
                </a:extLst>
              </a:tr>
              <a:tr h="418357">
                <a:tc>
                  <a:txBody>
                    <a:bodyPr/>
                    <a:lstStyle/>
                    <a:p>
                      <a:pPr algn="ctr"/>
                      <a:r>
                        <a:rPr lang="en-IN" sz="1800" b="0" i="0" u="none" strike="noStrike" cap="none" baseline="0" dirty="0">
                          <a:solidFill>
                            <a:schemeClr val="dk1"/>
                          </a:solidFill>
                          <a:latin typeface="+mn-lt"/>
                          <a:ea typeface="+mn-ea"/>
                          <a:cs typeface="+mn-cs"/>
                          <a:sym typeface="Arial"/>
                        </a:rPr>
                        <a:t>10100110</a:t>
                      </a:r>
                      <a:endParaRPr lang="en-IN"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800" b="0" i="0" u="none" strike="noStrike" cap="none" baseline="0" dirty="0">
                          <a:solidFill>
                            <a:schemeClr val="dk1"/>
                          </a:solidFill>
                          <a:latin typeface="+mn-lt"/>
                          <a:ea typeface="+mn-ea"/>
                          <a:cs typeface="+mn-cs"/>
                          <a:sym typeface="Arial"/>
                        </a:rPr>
                        <a:t>Right rotate (3 bits)</a:t>
                      </a:r>
                      <a:endParaRPr lang="en-IN"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800" b="0" i="0" u="none" strike="noStrike" cap="none" baseline="0" dirty="0">
                          <a:solidFill>
                            <a:schemeClr val="dk1"/>
                          </a:solidFill>
                          <a:latin typeface="+mn-lt"/>
                          <a:ea typeface="+mn-ea"/>
                          <a:cs typeface="+mn-cs"/>
                          <a:sym typeface="Arial"/>
                        </a:rPr>
                        <a:t>11010100</a:t>
                      </a:r>
                      <a:endParaRPr lang="en-IN"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771718609"/>
                  </a:ext>
                </a:extLst>
              </a:tr>
              <a:tr h="514193">
                <a:tc>
                  <a:txBody>
                    <a:bodyPr/>
                    <a:lstStyle/>
                    <a:p>
                      <a:pPr algn="ctr"/>
                      <a:r>
                        <a:rPr lang="en-IN" sz="1800" b="0" i="0" u="none" strike="noStrike" cap="none" baseline="0" dirty="0">
                          <a:solidFill>
                            <a:schemeClr val="dk1"/>
                          </a:solidFill>
                          <a:latin typeface="+mn-lt"/>
                          <a:ea typeface="+mn-ea"/>
                          <a:cs typeface="+mn-cs"/>
                          <a:sym typeface="Arial"/>
                        </a:rPr>
                        <a:t>10100110</a:t>
                      </a:r>
                      <a:endParaRPr lang="en-IN"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800" b="0" i="0" u="none" strike="noStrike" cap="none" baseline="0" dirty="0">
                          <a:solidFill>
                            <a:schemeClr val="dk1"/>
                          </a:solidFill>
                          <a:latin typeface="+mn-lt"/>
                          <a:ea typeface="+mn-ea"/>
                          <a:cs typeface="+mn-cs"/>
                          <a:sym typeface="Arial"/>
                        </a:rPr>
                        <a:t>Left rotate (3 bits)</a:t>
                      </a:r>
                      <a:endParaRPr lang="en-IN"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1800" b="0" i="0" u="none" strike="noStrike" cap="none" baseline="0" dirty="0">
                          <a:solidFill>
                            <a:schemeClr val="dk1"/>
                          </a:solidFill>
                          <a:latin typeface="+mn-lt"/>
                          <a:ea typeface="+mn-ea"/>
                          <a:cs typeface="+mn-cs"/>
                          <a:sym typeface="Arial"/>
                        </a:rPr>
                        <a:t>00110101</a:t>
                      </a:r>
                      <a:endParaRPr lang="en-IN"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1368541816"/>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ontent Placeholder 7"/>
          <p:cNvGraphicFramePr>
            <a:graphicFrameLocks/>
          </p:cNvGraphicFramePr>
          <p:nvPr>
            <p:extLst>
              <p:ext uri="{D42A27DB-BD31-4B8C-83A1-F6EECF244321}">
                <p14:modId xmlns:p14="http://schemas.microsoft.com/office/powerpoint/2010/main" val="2007746717"/>
              </p:ext>
            </p:extLst>
          </p:nvPr>
        </p:nvGraphicFramePr>
        <p:xfrm>
          <a:off x="0" y="188640"/>
          <a:ext cx="9684568" cy="7029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a:extLst>
              <a:ext uri="{FF2B5EF4-FFF2-40B4-BE49-F238E27FC236}">
                <a16:creationId xmlns:a16="http://schemas.microsoft.com/office/drawing/2014/main" id="{61C42746-2965-4F87-A60E-E007C4C06C55}"/>
              </a:ext>
            </a:extLst>
          </p:cNvPr>
          <p:cNvSpPr>
            <a:spLocks noGrp="1"/>
          </p:cNvSpPr>
          <p:nvPr>
            <p:ph type="title"/>
          </p:nvPr>
        </p:nvSpPr>
        <p:spPr>
          <a:xfrm>
            <a:off x="4211960" y="476672"/>
            <a:ext cx="3322712" cy="490025"/>
          </a:xfrm>
        </p:spPr>
        <p:txBody>
          <a:bodyPr/>
          <a:lstStyle/>
          <a:p>
            <a:r>
              <a:rPr lang="en-US" dirty="0"/>
              <a:t>Conversion</a:t>
            </a: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Rectangle 4"/>
          <p:cNvSpPr>
            <a:spLocks noGrp="1" noChangeArrowheads="1"/>
          </p:cNvSpPr>
          <p:nvPr>
            <p:ph type="title"/>
          </p:nvPr>
        </p:nvSpPr>
        <p:spPr>
          <a:xfrm>
            <a:off x="457200" y="231614"/>
            <a:ext cx="8229600" cy="1097279"/>
          </a:xfrm>
          <a:noFill/>
          <a:ln/>
        </p:spPr>
        <p:txBody>
          <a:bodyPr lIns="90488" tIns="44450" rIns="90488" bIns="44450"/>
          <a:lstStyle/>
          <a:p>
            <a:r>
              <a:rPr lang="en-US" dirty="0"/>
              <a:t>Input/Output</a:t>
            </a:r>
          </a:p>
        </p:txBody>
      </p:sp>
      <p:sp>
        <p:nvSpPr>
          <p:cNvPr id="49157" name="Rectangle 5"/>
          <p:cNvSpPr>
            <a:spLocks noGrp="1" noChangeArrowheads="1"/>
          </p:cNvSpPr>
          <p:nvPr>
            <p:ph type="body" idx="1"/>
          </p:nvPr>
        </p:nvSpPr>
        <p:spPr>
          <a:noFill/>
          <a:ln/>
        </p:spPr>
        <p:txBody>
          <a:bodyPr lIns="90488" tIns="44450" rIns="90488" bIns="44450"/>
          <a:lstStyle/>
          <a:p>
            <a:pPr marL="285750" indent="-285750">
              <a:buClr>
                <a:schemeClr val="tx2"/>
              </a:buClr>
              <a:buFont typeface="Arial" panose="020B0604020202020204" pitchFamily="34" charset="0"/>
              <a:buChar char="•"/>
            </a:pPr>
            <a:r>
              <a:rPr lang="en-US" sz="2200" dirty="0"/>
              <a:t>Variety of approaches taken:</a:t>
            </a:r>
          </a:p>
          <a:p>
            <a:pPr marL="628650" lvl="1" indent="-320675"/>
            <a:r>
              <a:rPr lang="en-US" sz="1800" dirty="0"/>
              <a:t>Isolated programmed I/O</a:t>
            </a:r>
          </a:p>
          <a:p>
            <a:pPr marL="628650" lvl="1" indent="-320675"/>
            <a:r>
              <a:rPr lang="en-US" sz="1800" dirty="0"/>
              <a:t>Memory-mapped programmed I/O</a:t>
            </a:r>
          </a:p>
          <a:p>
            <a:pPr marL="628650" lvl="1" indent="-320675"/>
            <a:r>
              <a:rPr lang="en-US" sz="1800" dirty="0"/>
              <a:t>DMA</a:t>
            </a:r>
          </a:p>
          <a:p>
            <a:pPr marL="628650" lvl="1" indent="-320675"/>
            <a:r>
              <a:rPr lang="en-US" sz="1800" dirty="0"/>
              <a:t>Use of an I/O processor</a:t>
            </a:r>
          </a:p>
          <a:p>
            <a:pPr marL="285750" lvl="1" indent="-285750">
              <a:spcBef>
                <a:spcPts val="2000"/>
              </a:spcBef>
              <a:buClr>
                <a:schemeClr val="tx2"/>
              </a:buClr>
              <a:buFont typeface="Arial" panose="020B0604020202020204" pitchFamily="34" charset="0"/>
              <a:buChar char="•"/>
            </a:pPr>
            <a:r>
              <a:rPr lang="en-US" sz="2200" dirty="0"/>
              <a:t>Many implementations provide only a few I/O instructions, with the specific actions specified by parameters, codes, or command words</a:t>
            </a:r>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Rectangle 4"/>
          <p:cNvSpPr>
            <a:spLocks noGrp="1" noChangeArrowheads="1"/>
          </p:cNvSpPr>
          <p:nvPr>
            <p:ph type="title"/>
          </p:nvPr>
        </p:nvSpPr>
        <p:spPr>
          <a:xfrm>
            <a:off x="457200" y="239121"/>
            <a:ext cx="8229600" cy="1097279"/>
          </a:xfrm>
          <a:noFill/>
          <a:ln/>
        </p:spPr>
        <p:txBody>
          <a:bodyPr lIns="90488" tIns="44450" rIns="90488" bIns="44450"/>
          <a:lstStyle/>
          <a:p>
            <a:r>
              <a:rPr lang="en-US" dirty="0"/>
              <a:t>System Control</a:t>
            </a:r>
          </a:p>
        </p:txBody>
      </p:sp>
      <p:graphicFrame>
        <p:nvGraphicFramePr>
          <p:cNvPr id="9" name="Content Placeholder 10"/>
          <p:cNvGraphicFramePr>
            <a:graphicFrameLocks/>
          </p:cNvGraphicFramePr>
          <p:nvPr>
            <p:extLst>
              <p:ext uri="{D42A27DB-BD31-4B8C-83A1-F6EECF244321}">
                <p14:modId xmlns:p14="http://schemas.microsoft.com/office/powerpoint/2010/main" val="1823388402"/>
              </p:ext>
            </p:extLst>
          </p:nvPr>
        </p:nvGraphicFramePr>
        <p:xfrm>
          <a:off x="399472" y="1334654"/>
          <a:ext cx="8229600" cy="4876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Rectangle 4"/>
          <p:cNvSpPr>
            <a:spLocks noGrp="1" noChangeArrowheads="1"/>
          </p:cNvSpPr>
          <p:nvPr>
            <p:ph type="title"/>
          </p:nvPr>
        </p:nvSpPr>
        <p:spPr>
          <a:xfrm>
            <a:off x="457200" y="239121"/>
            <a:ext cx="8229600" cy="1097279"/>
          </a:xfrm>
          <a:noFill/>
          <a:ln/>
        </p:spPr>
        <p:txBody>
          <a:bodyPr lIns="90488" tIns="44450" rIns="90488" bIns="44450"/>
          <a:lstStyle/>
          <a:p>
            <a:r>
              <a:rPr lang="en-US" dirty="0"/>
              <a:t>Transfer of Control</a:t>
            </a:r>
          </a:p>
        </p:txBody>
      </p:sp>
      <p:sp>
        <p:nvSpPr>
          <p:cNvPr id="53253" name="Rectangle 5"/>
          <p:cNvSpPr>
            <a:spLocks noGrp="1" noChangeArrowheads="1"/>
          </p:cNvSpPr>
          <p:nvPr>
            <p:ph type="body" idx="1"/>
          </p:nvPr>
        </p:nvSpPr>
        <p:spPr>
          <a:noFill/>
          <a:ln/>
        </p:spPr>
        <p:txBody>
          <a:bodyPr lIns="90488" tIns="44450" rIns="90488" bIns="44450">
            <a:normAutofit/>
          </a:bodyPr>
          <a:lstStyle/>
          <a:p>
            <a:pPr marL="296863" indent="-296863">
              <a:buClr>
                <a:schemeClr val="tx2"/>
              </a:buClr>
              <a:buFont typeface="Arial" panose="020B0604020202020204" pitchFamily="34" charset="0"/>
              <a:buChar char="•"/>
            </a:pPr>
            <a:r>
              <a:rPr lang="en-US" sz="2200" dirty="0"/>
              <a:t>Reasons why transfer-of-control operations are required:</a:t>
            </a:r>
          </a:p>
          <a:p>
            <a:pPr marL="617538" lvl="1" indent="-320675"/>
            <a:r>
              <a:rPr lang="en-US" sz="1800" dirty="0"/>
              <a:t>It is essential to be able to execute each instruction more than once</a:t>
            </a:r>
          </a:p>
          <a:p>
            <a:pPr marL="617538" lvl="1" indent="-320675"/>
            <a:r>
              <a:rPr lang="en-US" sz="1800" dirty="0"/>
              <a:t>Virtually all programs involve some decision making</a:t>
            </a:r>
          </a:p>
          <a:p>
            <a:pPr marL="617538" lvl="1" indent="-320675"/>
            <a:r>
              <a:rPr lang="en-US" sz="1800" dirty="0"/>
              <a:t>It helps if there are mechanisms for breaking the task up into smaller pieces that can be worked on one at a time</a:t>
            </a:r>
          </a:p>
          <a:p>
            <a:pPr marL="296863" lvl="1" indent="-296863">
              <a:spcBef>
                <a:spcPts val="2000"/>
              </a:spcBef>
              <a:buClr>
                <a:schemeClr val="tx2"/>
              </a:buClr>
              <a:buFont typeface="Arial" panose="020B0604020202020204" pitchFamily="34" charset="0"/>
              <a:buChar char="•"/>
            </a:pPr>
            <a:r>
              <a:rPr lang="en-US" sz="2200" dirty="0"/>
              <a:t>Most common transfer-of-control operations found in instruction sets:</a:t>
            </a:r>
          </a:p>
          <a:p>
            <a:pPr marL="617538" lvl="1" indent="-320675"/>
            <a:r>
              <a:rPr lang="en-US" sz="1800" dirty="0"/>
              <a:t>Branch</a:t>
            </a:r>
          </a:p>
          <a:p>
            <a:pPr marL="617538" lvl="1" indent="-320675"/>
            <a:r>
              <a:rPr lang="en-US" sz="1800" dirty="0"/>
              <a:t>Skip</a:t>
            </a:r>
          </a:p>
          <a:p>
            <a:pPr marL="617538" lvl="1" indent="-320675"/>
            <a:r>
              <a:rPr lang="en-US" sz="1800" dirty="0"/>
              <a:t>Procedure call</a:t>
            </a:r>
          </a:p>
        </p:txBody>
      </p:sp>
      <p:sp>
        <p:nvSpPr>
          <p:cNvPr id="7" name="Rectangle 6">
            <a:hlinkClick r:id="rId3" action="ppaction://hlinksldjump"/>
            <a:extLst>
              <a:ext uri="{FF2B5EF4-FFF2-40B4-BE49-F238E27FC236}">
                <a16:creationId xmlns:a16="http://schemas.microsoft.com/office/drawing/2014/main" id="{101E6317-0C2B-493A-A49C-C930C4B8E0DB}"/>
              </a:ext>
            </a:extLst>
          </p:cNvPr>
          <p:cNvSpPr/>
          <p:nvPr/>
        </p:nvSpPr>
        <p:spPr>
          <a:xfrm>
            <a:off x="6372200" y="6052272"/>
            <a:ext cx="2447725" cy="276999"/>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en-US" sz="1200" b="1" dirty="0">
                <a:solidFill>
                  <a:srgbClr val="FF0000"/>
                </a:solidFill>
              </a:rPr>
              <a:t>Link to the x86 instructions list</a:t>
            </a:r>
            <a:endParaRPr lang="en-MY" sz="1200" b="1" dirty="0">
              <a:solidFill>
                <a:srgbClr val="FF0000"/>
              </a:solidFill>
            </a:endParaRP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243621"/>
            <a:ext cx="8229600" cy="1097279"/>
          </a:xfrm>
          <a:noFill/>
          <a:ln/>
        </p:spPr>
        <p:txBody>
          <a:bodyPr lIns="90488" tIns="44450" rIns="90488" bIns="44450"/>
          <a:lstStyle/>
          <a:p>
            <a:r>
              <a:rPr lang="en-US" dirty="0"/>
              <a:t>Figure 13.7 </a:t>
            </a:r>
            <a:br>
              <a:rPr lang="en-US" dirty="0"/>
            </a:br>
            <a:r>
              <a:rPr lang="en-US" dirty="0"/>
              <a:t>Branch Instructions</a:t>
            </a:r>
          </a:p>
        </p:txBody>
      </p:sp>
      <p:pic>
        <p:nvPicPr>
          <p:cNvPr id="4" name="Picture 3" descr="The memory address contains the following addresses. 200, 201, 202, 203 up to 210, 211 up to 225 up to 235. The address range of the memory address from 210 to 202 is labeled as the unconditional branch. The instruction contains, S U B X comma y, B R Z 211 up to B R 202 up to B R E R 1 comma R 2 comma 235 and so on. The instructions from B R Z 2 1 1 to B R 2 0 2 are mentioned as conditional branch. The instructions from B R E R 1, R 2, 235 to the end of the instructions are labeled as conditional branch." title="A diagrammatic representation of branch instructions."/>
          <p:cNvPicPr>
            <a:picLocks noChangeAspect="1"/>
          </p:cNvPicPr>
          <p:nvPr/>
        </p:nvPicPr>
        <p:blipFill rotWithShape="1">
          <a:blip r:embed="rId3">
            <a:extLst>
              <a:ext uri="{28A0092B-C50C-407E-A947-70E740481C1C}">
                <a14:useLocalDpi xmlns:a14="http://schemas.microsoft.com/office/drawing/2010/main" val="0"/>
              </a:ext>
            </a:extLst>
          </a:blip>
          <a:srcRect l="12305" t="20552" r="9579" b="36802"/>
          <a:stretch/>
        </p:blipFill>
        <p:spPr>
          <a:xfrm>
            <a:off x="1259632" y="1484783"/>
            <a:ext cx="6624736" cy="4680521"/>
          </a:xfrm>
          <a:prstGeom prst="rect">
            <a:avLst/>
          </a:prstGeom>
        </p:spPr>
      </p:pic>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CCF80948-B439-4F72-B957-75B0AD91253B}"/>
                  </a:ext>
                </a:extLst>
              </p14:cNvPr>
              <p14:cNvContentPartPr/>
              <p14:nvPr/>
            </p14:nvContentPartPr>
            <p14:xfrm>
              <a:off x="7529760" y="673920"/>
              <a:ext cx="292320" cy="362520"/>
            </p14:xfrm>
          </p:contentPart>
        </mc:Choice>
        <mc:Fallback xmlns="">
          <p:pic>
            <p:nvPicPr>
              <p:cNvPr id="5" name="Ink 4">
                <a:extLst>
                  <a:ext uri="{FF2B5EF4-FFF2-40B4-BE49-F238E27FC236}">
                    <a16:creationId xmlns:a16="http://schemas.microsoft.com/office/drawing/2014/main" id="{CCF80948-B439-4F72-B957-75B0AD91253B}"/>
                  </a:ext>
                </a:extLst>
              </p:cNvPr>
              <p:cNvPicPr/>
              <p:nvPr/>
            </p:nvPicPr>
            <p:blipFill>
              <a:blip r:embed="rId7"/>
              <a:stretch>
                <a:fillRect/>
              </a:stretch>
            </p:blipFill>
            <p:spPr>
              <a:xfrm>
                <a:off x="7520400" y="664560"/>
                <a:ext cx="311040" cy="381240"/>
              </a:xfrm>
              <a:prstGeom prst="rect">
                <a:avLst/>
              </a:prstGeom>
            </p:spPr>
          </p:pic>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9114"/>
            <a:ext cx="8229600" cy="1097279"/>
          </a:xfrm>
        </p:spPr>
        <p:txBody>
          <a:bodyPr/>
          <a:lstStyle/>
          <a:p>
            <a:r>
              <a:rPr lang="en-US" dirty="0"/>
              <a:t>Procedure Call Instructions</a:t>
            </a:r>
          </a:p>
        </p:txBody>
      </p:sp>
      <p:sp>
        <p:nvSpPr>
          <p:cNvPr id="3" name="Content Placeholder 2"/>
          <p:cNvSpPr>
            <a:spLocks noGrp="1"/>
          </p:cNvSpPr>
          <p:nvPr>
            <p:ph type="body" idx="1"/>
          </p:nvPr>
        </p:nvSpPr>
        <p:spPr>
          <a:xfrm>
            <a:off x="457200" y="1552700"/>
            <a:ext cx="8229600" cy="5141168"/>
          </a:xfrm>
        </p:spPr>
        <p:txBody>
          <a:bodyPr>
            <a:normAutofit/>
          </a:bodyPr>
          <a:lstStyle/>
          <a:p>
            <a:pPr marL="285750" indent="-285750"/>
            <a:r>
              <a:rPr lang="en-US" sz="2200" dirty="0"/>
              <a:t>Self-contained computer program that is incorporated into a larger program</a:t>
            </a:r>
          </a:p>
          <a:p>
            <a:pPr marL="617538" lvl="1" indent="-320675"/>
            <a:r>
              <a:rPr lang="en-US" sz="1700" dirty="0"/>
              <a:t>At any point in the program the procedure may be invoked, or </a:t>
            </a:r>
            <a:r>
              <a:rPr lang="en-US" sz="1700" i="1" dirty="0"/>
              <a:t>called</a:t>
            </a:r>
            <a:endParaRPr lang="en-US" sz="1700" dirty="0"/>
          </a:p>
          <a:p>
            <a:pPr marL="617538" lvl="1" indent="-320675"/>
            <a:r>
              <a:rPr lang="en-US" sz="1700" dirty="0"/>
              <a:t>Processor is instructed to go and execute the entire procedure and then return to the point from which the call took place</a:t>
            </a:r>
          </a:p>
          <a:p>
            <a:pPr marL="285750" indent="-285750"/>
            <a:r>
              <a:rPr lang="en-US" sz="2200" dirty="0"/>
              <a:t>Two principal reasons for use of procedures:</a:t>
            </a:r>
          </a:p>
          <a:p>
            <a:pPr marL="617538" lvl="1" indent="-320675"/>
            <a:r>
              <a:rPr lang="en-US" sz="1700" dirty="0"/>
              <a:t>Economy</a:t>
            </a:r>
          </a:p>
          <a:p>
            <a:pPr marL="925513" lvl="2" indent="-307975"/>
            <a:r>
              <a:rPr lang="en-US" dirty="0"/>
              <a:t>A procedure allows the same piece of code to be used many times</a:t>
            </a:r>
          </a:p>
          <a:p>
            <a:pPr marL="617538" lvl="1" indent="-320675"/>
            <a:r>
              <a:rPr lang="en-US" sz="1700" dirty="0"/>
              <a:t>Modularity</a:t>
            </a:r>
          </a:p>
          <a:p>
            <a:pPr marL="285750" indent="-285750"/>
            <a:r>
              <a:rPr lang="en-US" sz="2200" dirty="0"/>
              <a:t>Involves two basic instructions:</a:t>
            </a:r>
          </a:p>
          <a:p>
            <a:pPr marL="617538" lvl="1" indent="-320675"/>
            <a:r>
              <a:rPr lang="en-US" sz="1700" dirty="0"/>
              <a:t>A call instruction that branches from the present location to the procedure</a:t>
            </a:r>
          </a:p>
          <a:p>
            <a:pPr marL="617538" lvl="1" indent="-320675"/>
            <a:r>
              <a:rPr lang="en-US" sz="1700" dirty="0"/>
              <a:t>Return instruction that returns from the procedure to the place from which it was called</a:t>
            </a:r>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243621"/>
            <a:ext cx="8229600" cy="1097279"/>
          </a:xfrm>
          <a:noFill/>
          <a:ln/>
        </p:spPr>
        <p:txBody>
          <a:bodyPr lIns="90488" tIns="44450" rIns="90488" bIns="44450"/>
          <a:lstStyle/>
          <a:p>
            <a:r>
              <a:rPr lang="en-US" dirty="0"/>
              <a:t>Figure 13.8</a:t>
            </a:r>
            <a:br>
              <a:rPr lang="en-US" dirty="0"/>
            </a:br>
            <a:r>
              <a:rPr lang="en-US" dirty="0"/>
              <a:t>Nested Procedures</a:t>
            </a:r>
          </a:p>
        </p:txBody>
      </p:sp>
      <p:pic>
        <p:nvPicPr>
          <p:cNvPr id="4" name="Picture 3" descr="Diagram A, Calls and returns. The main program starts at location 4000 and calls for the procedure P R O C 1 which starts from the location 4500. Post receiving the instruction, the processor executes the P R O C 1 by getting the instruction from the address 4500. Procedure P R O C 1 has two P R O C 2 calls at location 4800 of procedure P R O C 2. Diagram B, Execution sequence. The main program is suspended and the P R O C 1 is executed by getting the instruction from the corresponding address. Execution of procedure 1 is stopped at every stage and procedure 2 is executed every time." title="A diagrammatic representation of the nested procedures with reference to calls and returns and execution sequence."/>
          <p:cNvPicPr>
            <a:picLocks noChangeAspect="1"/>
          </p:cNvPicPr>
          <p:nvPr/>
        </p:nvPicPr>
        <p:blipFill rotWithShape="1">
          <a:blip r:embed="rId3">
            <a:extLst>
              <a:ext uri="{28A0092B-C50C-407E-A947-70E740481C1C}">
                <a14:useLocalDpi xmlns:a14="http://schemas.microsoft.com/office/drawing/2010/main" val="0"/>
              </a:ext>
            </a:extLst>
          </a:blip>
          <a:srcRect l="4198" t="14843" r="10913" b="25093"/>
          <a:stretch/>
        </p:blipFill>
        <p:spPr>
          <a:xfrm>
            <a:off x="1812326" y="1325344"/>
            <a:ext cx="5519349" cy="5053861"/>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247922"/>
            <a:ext cx="8229600" cy="1606527"/>
          </a:xfrm>
          <a:noFill/>
          <a:ln/>
        </p:spPr>
        <p:txBody>
          <a:bodyPr lIns="90488" tIns="44450" rIns="90488" bIns="44450"/>
          <a:lstStyle/>
          <a:p>
            <a:r>
              <a:rPr lang="en-US" dirty="0"/>
              <a:t>Figure 13.9 </a:t>
            </a:r>
            <a:br>
              <a:rPr lang="en-US" dirty="0"/>
            </a:br>
            <a:r>
              <a:rPr lang="en-US" dirty="0"/>
              <a:t>Use of Stack to Implement Nested Subroutines of Figure 13.8</a:t>
            </a:r>
          </a:p>
        </p:txBody>
      </p:sp>
      <p:pic>
        <p:nvPicPr>
          <p:cNvPr id="4" name="Picture 3" descr="Diagram A, Initial stack contents. A null value. Diagram B, After CALL P r o c 1. Null value, 4101. Diagram C, Initial CALL P r o c 2. Null value, 4101, 4601. Diagram D, after return Null value, 4101. Diagram E, After CALL P r o c 2. Null value, 4101, and 4651. Diagram F, after return. Null value, 4101. Diagram G, after return, null value." title="A diagram explains the use of the stack."/>
          <p:cNvPicPr>
            <a:picLocks noChangeAspect="1"/>
          </p:cNvPicPr>
          <p:nvPr/>
        </p:nvPicPr>
        <p:blipFill rotWithShape="1">
          <a:blip r:embed="rId3">
            <a:extLst>
              <a:ext uri="{28A0092B-C50C-407E-A947-70E740481C1C}">
                <a14:useLocalDpi xmlns:a14="http://schemas.microsoft.com/office/drawing/2010/main" val="0"/>
              </a:ext>
            </a:extLst>
          </a:blip>
          <a:srcRect l="4325" t="23703" r="5900" b="58042"/>
          <a:stretch/>
        </p:blipFill>
        <p:spPr>
          <a:xfrm>
            <a:off x="457200" y="4293096"/>
            <a:ext cx="8208912" cy="2160240"/>
          </a:xfrm>
          <a:prstGeom prst="rect">
            <a:avLst/>
          </a:prstGeom>
        </p:spPr>
      </p:pic>
      <p:pic>
        <p:nvPicPr>
          <p:cNvPr id="5" name="Picture 4" descr="Diagram A, Calls and returns. The main program starts at location 4000 and calls for the procedure P R O C 1 which starts from the location 4500. Post receiving the instruction, the processor executes the P R O C 1 by getting the instruction from the address 4500. Procedure P R O C 1 has two P R O C 2 calls at location 4800 of procedure P R O C 2. Diagram B, Execution sequence. The main program is suspended and the P R O C 1 is executed by getting the instruction from the corresponding address. Execution of procedure 1 is stopped at every stage and procedure 2 is executed every time." title="A diagrammatic representation of the nested procedures with reference to calls and returns and execution sequence.">
            <a:extLst>
              <a:ext uri="{FF2B5EF4-FFF2-40B4-BE49-F238E27FC236}">
                <a16:creationId xmlns:a16="http://schemas.microsoft.com/office/drawing/2014/main" id="{768EA7B0-9031-430E-978B-4939A7F30DD0}"/>
              </a:ext>
            </a:extLst>
          </p:cNvPr>
          <p:cNvPicPr>
            <a:picLocks noChangeAspect="1"/>
          </p:cNvPicPr>
          <p:nvPr/>
        </p:nvPicPr>
        <p:blipFill rotWithShape="1">
          <a:blip r:embed="rId4">
            <a:extLst>
              <a:ext uri="{28A0092B-C50C-407E-A947-70E740481C1C}">
                <a14:useLocalDpi xmlns:a14="http://schemas.microsoft.com/office/drawing/2010/main" val="0"/>
              </a:ext>
            </a:extLst>
          </a:blip>
          <a:srcRect l="4198" t="14843" r="45605" b="25093"/>
          <a:stretch/>
        </p:blipFill>
        <p:spPr>
          <a:xfrm>
            <a:off x="6588224" y="167454"/>
            <a:ext cx="2664296" cy="4125642"/>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238297"/>
            <a:ext cx="8229600" cy="1606527"/>
          </a:xfrm>
          <a:noFill/>
          <a:ln/>
        </p:spPr>
        <p:txBody>
          <a:bodyPr lIns="90488" tIns="44450" rIns="90488" bIns="44450"/>
          <a:lstStyle/>
          <a:p>
            <a:r>
              <a:rPr lang="en-US" dirty="0"/>
              <a:t>Figure 13.10</a:t>
            </a:r>
            <a:br>
              <a:rPr lang="en-US" dirty="0"/>
            </a:br>
            <a:r>
              <a:rPr lang="en-US" dirty="0"/>
              <a:t>Stack Frame Growth Using Sample Procedures P and Q</a:t>
            </a:r>
          </a:p>
        </p:txBody>
      </p:sp>
      <p:pic>
        <p:nvPicPr>
          <p:cNvPr id="4" name="Picture 3" descr="Diagram A. P is active. The stack frame is as follows. Return point, P colon, Old frame pointer, labeled as the frame pointer is x 1. x 2 is labeled as the stack pointer. The stack frame grows further. Diagram B. P has called Q. The stack frame is as follows. Return point, P colon. old frame pointer, x 1 x 2. Return point, Q colon, Old frame pointer, labeled as frame pointer. An arrow from this old frame pointer points at the old frame pointer at the bottom. The diagram continues, Y 1. Y 2, the stack pointer. The stack frame continues growing." title="An example of stack frame growth using procedures P and Q."/>
          <p:cNvPicPr>
            <a:picLocks noChangeAspect="1"/>
          </p:cNvPicPr>
          <p:nvPr/>
        </p:nvPicPr>
        <p:blipFill rotWithShape="1">
          <a:blip r:embed="rId3">
            <a:extLst>
              <a:ext uri="{28A0092B-C50C-407E-A947-70E740481C1C}">
                <a14:useLocalDpi xmlns:a14="http://schemas.microsoft.com/office/drawing/2010/main" val="0"/>
              </a:ext>
            </a:extLst>
          </a:blip>
          <a:srcRect l="12949" t="11070" r="13670" b="21996"/>
          <a:stretch/>
        </p:blipFill>
        <p:spPr>
          <a:xfrm>
            <a:off x="1247417" y="1829248"/>
            <a:ext cx="6649167" cy="4686471"/>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A4CAF-A811-418A-AE03-2F628F361AA0}"/>
              </a:ext>
            </a:extLst>
          </p:cNvPr>
          <p:cNvSpPr>
            <a:spLocks noGrp="1"/>
          </p:cNvSpPr>
          <p:nvPr>
            <p:ph type="title"/>
          </p:nvPr>
        </p:nvSpPr>
        <p:spPr/>
        <p:txBody>
          <a:bodyPr/>
          <a:lstStyle/>
          <a:p>
            <a:r>
              <a:rPr lang="en-US" dirty="0"/>
              <a:t>x86 and ARM Operation Types </a:t>
            </a:r>
            <a:endParaRPr lang="en-MY" dirty="0"/>
          </a:p>
        </p:txBody>
      </p:sp>
      <p:sp>
        <p:nvSpPr>
          <p:cNvPr id="3" name="Text Placeholder 2">
            <a:extLst>
              <a:ext uri="{FF2B5EF4-FFF2-40B4-BE49-F238E27FC236}">
                <a16:creationId xmlns:a16="http://schemas.microsoft.com/office/drawing/2014/main" id="{FDE9346B-FBCC-4E4E-B0CB-9BC50C223688}"/>
              </a:ext>
            </a:extLst>
          </p:cNvPr>
          <p:cNvSpPr>
            <a:spLocks noGrp="1"/>
          </p:cNvSpPr>
          <p:nvPr>
            <p:ph type="body" idx="1"/>
          </p:nvPr>
        </p:nvSpPr>
        <p:spPr/>
        <p:txBody>
          <a:bodyPr/>
          <a:lstStyle/>
          <a:p>
            <a:r>
              <a:rPr lang="en-US" dirty="0"/>
              <a:t>Can refer to the example of x86 and ARM operation types in the following slides: </a:t>
            </a:r>
          </a:p>
          <a:p>
            <a:r>
              <a:rPr lang="en-US" dirty="0">
                <a:hlinkClick r:id="rId2" action="ppaction://hlinksldjump"/>
              </a:rPr>
              <a:t>x86</a:t>
            </a:r>
            <a:endParaRPr lang="en-US" dirty="0"/>
          </a:p>
          <a:p>
            <a:r>
              <a:rPr lang="en-MY" dirty="0">
                <a:hlinkClick r:id="rId3" action="ppaction://hlinksldjump"/>
              </a:rPr>
              <a:t>ARM</a:t>
            </a:r>
            <a:r>
              <a:rPr lang="en-MY" dirty="0"/>
              <a:t> </a:t>
            </a:r>
          </a:p>
        </p:txBody>
      </p:sp>
    </p:spTree>
    <p:extLst>
      <p:ext uri="{BB962C8B-B14F-4D97-AF65-F5344CB8AC3E}">
        <p14:creationId xmlns:p14="http://schemas.microsoft.com/office/powerpoint/2010/main" val="21259626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3635"/>
            <a:ext cx="8229600" cy="563077"/>
          </a:xfrm>
        </p:spPr>
        <p:txBody>
          <a:bodyPr/>
          <a:lstStyle/>
          <a:p>
            <a:r>
              <a:rPr lang="en-US" dirty="0"/>
              <a:t>Addressing Modes</a:t>
            </a:r>
          </a:p>
        </p:txBody>
      </p:sp>
      <p:graphicFrame>
        <p:nvGraphicFramePr>
          <p:cNvPr id="5" name="Content Placeholder 4"/>
          <p:cNvGraphicFramePr>
            <a:graphicFrameLocks/>
          </p:cNvGraphicFramePr>
          <p:nvPr/>
        </p:nvGraphicFramePr>
        <p:xfrm>
          <a:off x="467544" y="980728"/>
          <a:ext cx="6588224" cy="54006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8" name="Rectangle 6"/>
          <p:cNvSpPr>
            <a:spLocks noGrp="1" noChangeArrowheads="1"/>
          </p:cNvSpPr>
          <p:nvPr>
            <p:ph type="title"/>
          </p:nvPr>
        </p:nvSpPr>
        <p:spPr/>
        <p:txBody>
          <a:bodyPr/>
          <a:lstStyle/>
          <a:p>
            <a:r>
              <a:rPr lang="en-US" dirty="0"/>
              <a:t>Immediate Addressing</a:t>
            </a:r>
          </a:p>
        </p:txBody>
      </p:sp>
      <p:sp>
        <p:nvSpPr>
          <p:cNvPr id="8199" name="Rectangle 7"/>
          <p:cNvSpPr>
            <a:spLocks noGrp="1" noChangeArrowheads="1"/>
          </p:cNvSpPr>
          <p:nvPr>
            <p:ph type="body" idx="1"/>
          </p:nvPr>
        </p:nvSpPr>
        <p:spPr>
          <a:xfrm>
            <a:off x="457200" y="1600200"/>
            <a:ext cx="8229600" cy="4997152"/>
          </a:xfrm>
        </p:spPr>
        <p:txBody>
          <a:bodyPr>
            <a:normAutofit lnSpcReduction="10000"/>
          </a:bodyPr>
          <a:lstStyle/>
          <a:p>
            <a:pPr marL="296863" indent="-296863">
              <a:buClr>
                <a:schemeClr val="tx2"/>
              </a:buClr>
              <a:buFont typeface="Arial" panose="020B0604020202020204" pitchFamily="34" charset="0"/>
              <a:buChar char="•"/>
            </a:pPr>
            <a:r>
              <a:rPr lang="en-US" dirty="0"/>
              <a:t>Simplest form of addressing</a:t>
            </a:r>
          </a:p>
          <a:p>
            <a:pPr marL="296863" indent="-296863">
              <a:buClr>
                <a:schemeClr val="tx2"/>
              </a:buClr>
              <a:buFont typeface="Arial" panose="020B0604020202020204" pitchFamily="34" charset="0"/>
              <a:buChar char="•"/>
            </a:pPr>
            <a:r>
              <a:rPr lang="en-US" dirty="0"/>
              <a:t>Operand = A</a:t>
            </a:r>
          </a:p>
          <a:p>
            <a:pPr marL="296863" indent="-296863">
              <a:buClr>
                <a:schemeClr val="tx2"/>
              </a:buClr>
              <a:buFont typeface="Arial" panose="020B0604020202020204" pitchFamily="34" charset="0"/>
              <a:buChar char="•"/>
            </a:pPr>
            <a:r>
              <a:rPr lang="en-US" dirty="0"/>
              <a:t>This mode can be used to define and use constants or set initial values of variables</a:t>
            </a:r>
          </a:p>
          <a:p>
            <a:pPr marL="593725" lvl="1" indent="-273050"/>
            <a:r>
              <a:rPr lang="en-US" sz="1700" dirty="0"/>
              <a:t>Typically the number will be stored in twos complement form</a:t>
            </a:r>
          </a:p>
          <a:p>
            <a:pPr marL="593725" lvl="1" indent="-273050"/>
            <a:r>
              <a:rPr lang="en-US" sz="1700" dirty="0"/>
              <a:t>The leftmost bit of the operand field is used as a sign bit</a:t>
            </a:r>
          </a:p>
          <a:p>
            <a:pPr marL="296863" indent="-296863">
              <a:buClr>
                <a:schemeClr val="tx2"/>
              </a:buClr>
              <a:buFont typeface="Arial" panose="020B0604020202020204" pitchFamily="34" charset="0"/>
              <a:buChar char="•"/>
            </a:pPr>
            <a:r>
              <a:rPr lang="en-US" dirty="0"/>
              <a:t>Advantage:</a:t>
            </a:r>
          </a:p>
          <a:p>
            <a:pPr marL="593725" lvl="1" indent="-273050"/>
            <a:r>
              <a:rPr lang="en-US" sz="1700" dirty="0"/>
              <a:t>No memory reference other than the instruction fetch is required to obtain the operand, thus saving one memory or cache cycle in the instruction cycle</a:t>
            </a:r>
          </a:p>
          <a:p>
            <a:pPr marL="296863" lvl="1" indent="-296863">
              <a:spcBef>
                <a:spcPts val="2000"/>
              </a:spcBef>
              <a:buClr>
                <a:schemeClr val="tx2"/>
              </a:buClr>
              <a:buFont typeface="Arial" panose="020B0604020202020204" pitchFamily="34" charset="0"/>
              <a:buChar char="•"/>
            </a:pPr>
            <a:r>
              <a:rPr lang="en-US" sz="2000" dirty="0"/>
              <a:t>Disadvantage:</a:t>
            </a:r>
          </a:p>
          <a:p>
            <a:pPr marL="593725" lvl="1" indent="-273050"/>
            <a:r>
              <a:rPr lang="en-US" sz="1700" dirty="0"/>
              <a:t>The size of the number is restricted to the size of the address field, which, in most instruction sets, is small compared with the word length</a:t>
            </a:r>
          </a:p>
        </p:txBody>
      </p:sp>
      <p:pic>
        <p:nvPicPr>
          <p:cNvPr id="4" name="Picture 3" descr="Diagram a is called immediate addressing. Here the instruction contains the operand directly. The diagram b is called direct addressing. Here the instruction contains the address A, where the operand is stored in memory. The diagram c is called indirect addressing. Here the instruction contains an address, A, which refers to an address in memory. The memory location points to the operand stored in memory. The diagram d is called Register addressing. The instruction contains the address of a Register, R, where the operand is stored. The diagram e is the Register indirect addressing. The instruction has an address R that refers to an address in the Registers, which points to the operand in memory. The diagram f is displacement addressing. The instruction comprises of a reference address of register, R and another address A. Both the addresses are combined to point to the operand in memory. The diagram g is stack addressing. The instruction implicitly refers to value on the top of the stack register." title="Seven diagrams a, b, c, d, e, f, and g, explain the addressing modes used in an instruction.">
            <a:extLst>
              <a:ext uri="{FF2B5EF4-FFF2-40B4-BE49-F238E27FC236}">
                <a16:creationId xmlns:a16="http://schemas.microsoft.com/office/drawing/2014/main" id="{82A3B5C0-9B06-4133-9CC7-A97E19734231}"/>
              </a:ext>
            </a:extLst>
          </p:cNvPr>
          <p:cNvPicPr>
            <a:picLocks noChangeAspect="1"/>
          </p:cNvPicPr>
          <p:nvPr/>
        </p:nvPicPr>
        <p:blipFill rotWithShape="1">
          <a:blip r:embed="rId3">
            <a:extLst>
              <a:ext uri="{28A0092B-C50C-407E-A947-70E740481C1C}">
                <a14:useLocalDpi xmlns:a14="http://schemas.microsoft.com/office/drawing/2010/main" val="0"/>
              </a:ext>
            </a:extLst>
          </a:blip>
          <a:srcRect l="14286" t="11820" r="60756" b="69333"/>
          <a:stretch/>
        </p:blipFill>
        <p:spPr>
          <a:xfrm>
            <a:off x="6084168" y="692696"/>
            <a:ext cx="1760112" cy="1720025"/>
          </a:xfrm>
          <a:prstGeom prst="rect">
            <a:avLst/>
          </a:prstGeom>
        </p:spPr>
      </p:pic>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4" name="Rectangle 6"/>
          <p:cNvSpPr>
            <a:spLocks noGrp="1" noChangeArrowheads="1"/>
          </p:cNvSpPr>
          <p:nvPr>
            <p:ph type="title"/>
          </p:nvPr>
        </p:nvSpPr>
        <p:spPr/>
        <p:txBody>
          <a:bodyPr/>
          <a:lstStyle/>
          <a:p>
            <a:r>
              <a:rPr lang="en-US" dirty="0"/>
              <a:t>Direct Addressing</a:t>
            </a:r>
          </a:p>
        </p:txBody>
      </p:sp>
      <p:graphicFrame>
        <p:nvGraphicFramePr>
          <p:cNvPr id="10" name="Content Placeholder 6"/>
          <p:cNvGraphicFramePr>
            <a:graphicFrameLocks/>
          </p:cNvGraphicFramePr>
          <p:nvPr/>
        </p:nvGraphicFramePr>
        <p:xfrm>
          <a:off x="304800" y="1271736"/>
          <a:ext cx="8515672" cy="5124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descr="Diagram a is called immediate addressing. Here the instruction contains the operand directly. The diagram b is called direct addressing. Here the instruction contains the address A, where the operand is stored in memory. The diagram c is called indirect addressing. Here the instruction contains an address, A, which refers to an address in memory. The memory location points to the operand stored in memory. The diagram d is called Register addressing. The instruction contains the address of a Register, R, where the operand is stored. The diagram e is the Register indirect addressing. The instruction has an address R that refers to an address in the Registers, which points to the operand in memory. The diagram f is displacement addressing. The instruction comprises of a reference address of register, R and another address A. Both the addresses are combined to point to the operand in memory. The diagram g is stack addressing. The instruction implicitly refers to value on the top of the stack register." title="Seven diagrams a, b, c, d, e, f, and g, explain the addressing modes used in an instruction.">
            <a:extLst>
              <a:ext uri="{FF2B5EF4-FFF2-40B4-BE49-F238E27FC236}">
                <a16:creationId xmlns:a16="http://schemas.microsoft.com/office/drawing/2014/main" id="{7C3B225C-3D76-4534-823D-58CEF0E992E8}"/>
              </a:ext>
            </a:extLst>
          </p:cNvPr>
          <p:cNvPicPr>
            <a:picLocks noChangeAspect="1"/>
          </p:cNvPicPr>
          <p:nvPr/>
        </p:nvPicPr>
        <p:blipFill rotWithShape="1">
          <a:blip r:embed="rId8">
            <a:extLst>
              <a:ext uri="{28A0092B-C50C-407E-A947-70E740481C1C}">
                <a14:useLocalDpi xmlns:a14="http://schemas.microsoft.com/office/drawing/2010/main" val="0"/>
              </a:ext>
            </a:extLst>
          </a:blip>
          <a:srcRect l="36750" t="11819" r="36703" b="69244"/>
          <a:stretch/>
        </p:blipFill>
        <p:spPr>
          <a:xfrm>
            <a:off x="5796136" y="1052736"/>
            <a:ext cx="1872208" cy="1728192"/>
          </a:xfrm>
          <a:prstGeom prst="rect">
            <a:avLst/>
          </a:prstGeom>
        </p:spPr>
      </p:pic>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4"/>
          <p:cNvSpPr>
            <a:spLocks noGrp="1" noChangeArrowheads="1"/>
          </p:cNvSpPr>
          <p:nvPr>
            <p:ph type="title"/>
          </p:nvPr>
        </p:nvSpPr>
        <p:spPr>
          <a:xfrm>
            <a:off x="457200" y="171481"/>
            <a:ext cx="8229600" cy="1097279"/>
          </a:xfrm>
          <a:noFill/>
          <a:ln/>
        </p:spPr>
        <p:txBody>
          <a:bodyPr lIns="90488" tIns="44450" rIns="90488" bIns="44450"/>
          <a:lstStyle/>
          <a:p>
            <a:r>
              <a:rPr lang="en-US" dirty="0"/>
              <a:t>Indirect Addressing</a:t>
            </a:r>
          </a:p>
        </p:txBody>
      </p:sp>
      <p:sp>
        <p:nvSpPr>
          <p:cNvPr id="16389" name="Rectangle 5"/>
          <p:cNvSpPr>
            <a:spLocks noGrp="1" noChangeArrowheads="1"/>
          </p:cNvSpPr>
          <p:nvPr>
            <p:ph type="body" idx="1"/>
          </p:nvPr>
        </p:nvSpPr>
        <p:spPr>
          <a:xfrm>
            <a:off x="457200" y="1675724"/>
            <a:ext cx="8229600" cy="4525963"/>
          </a:xfrm>
          <a:noFill/>
          <a:ln/>
        </p:spPr>
        <p:txBody>
          <a:bodyPr lIns="90488" tIns="44450" rIns="90488" bIns="44450">
            <a:normAutofit fontScale="85000" lnSpcReduction="20000"/>
          </a:bodyPr>
          <a:lstStyle/>
          <a:p>
            <a:pPr marL="296863" indent="-296863"/>
            <a:r>
              <a:rPr lang="en-US" dirty="0"/>
              <a:t>Reference to the address of a word in memory which contains a          full-length address of the operand</a:t>
            </a:r>
          </a:p>
          <a:p>
            <a:pPr marL="296863" indent="-296863"/>
            <a:r>
              <a:rPr lang="en-US" dirty="0"/>
              <a:t>EA = (A)</a:t>
            </a:r>
          </a:p>
          <a:p>
            <a:pPr marL="593725" lvl="1" indent="-296863"/>
            <a:r>
              <a:rPr lang="en-US" sz="1900" dirty="0"/>
              <a:t>Parentheses are to be interpreted as meaning </a:t>
            </a:r>
            <a:r>
              <a:rPr lang="en-US" sz="1900" i="1" dirty="0"/>
              <a:t>contents of</a:t>
            </a:r>
          </a:p>
          <a:p>
            <a:pPr marL="296863" indent="-296863"/>
            <a:r>
              <a:rPr lang="en-US" dirty="0"/>
              <a:t>Advantage:</a:t>
            </a:r>
          </a:p>
          <a:p>
            <a:pPr marL="593725" lvl="1" indent="-296863"/>
            <a:r>
              <a:rPr lang="en-US" sz="1900" dirty="0"/>
              <a:t>For a word length of </a:t>
            </a:r>
            <a:r>
              <a:rPr lang="en-US" sz="1900" i="1" dirty="0"/>
              <a:t>N</a:t>
            </a:r>
            <a:r>
              <a:rPr lang="en-US" sz="1900" dirty="0"/>
              <a:t> an address space of 2</a:t>
            </a:r>
            <a:r>
              <a:rPr lang="en-US" sz="1900" baseline="30000" dirty="0"/>
              <a:t>N </a:t>
            </a:r>
            <a:r>
              <a:rPr lang="en-US" sz="1900" dirty="0"/>
              <a:t>is now available</a:t>
            </a:r>
          </a:p>
          <a:p>
            <a:pPr marL="296863" indent="-296863"/>
            <a:r>
              <a:rPr lang="en-US" dirty="0"/>
              <a:t>Disadvantage:</a:t>
            </a:r>
          </a:p>
          <a:p>
            <a:pPr marL="593725" lvl="1" indent="-296863"/>
            <a:r>
              <a:rPr lang="en-US" sz="1900" dirty="0"/>
              <a:t>Instruction execution requires two memory references to fetch the operand</a:t>
            </a:r>
          </a:p>
          <a:p>
            <a:pPr marL="890588" lvl="2" indent="-296863"/>
            <a:r>
              <a:rPr lang="en-US" sz="1800" dirty="0"/>
              <a:t>One to get its address and a second to get its value</a:t>
            </a:r>
          </a:p>
          <a:p>
            <a:pPr marL="296863" lvl="2" indent="-296863">
              <a:spcBef>
                <a:spcPts val="2000"/>
              </a:spcBef>
            </a:pPr>
            <a:r>
              <a:rPr lang="en-US" sz="2054" dirty="0"/>
              <a:t>A rarely used variant of indirect addressing is multilevel or cascaded indirect addressing</a:t>
            </a:r>
          </a:p>
          <a:p>
            <a:pPr marL="593725" lvl="1" indent="-296863"/>
            <a:r>
              <a:rPr lang="en-US" sz="1838" dirty="0"/>
              <a:t>EA = ( . . . (A) . . . )</a:t>
            </a:r>
          </a:p>
          <a:p>
            <a:pPr marL="593725" lvl="1" indent="-296863"/>
            <a:r>
              <a:rPr lang="en-US" sz="1838" dirty="0"/>
              <a:t>Disadvantage is that three or more memory references could be required to fetch an operand</a:t>
            </a:r>
          </a:p>
          <a:p>
            <a:endParaRPr lang="en-US" dirty="0"/>
          </a:p>
        </p:txBody>
      </p:sp>
      <p:pic>
        <p:nvPicPr>
          <p:cNvPr id="4" name="Picture 3" descr="Diagram a is called immediate addressing. Here the instruction contains the operand directly. The diagram b is called direct addressing. Here the instruction contains the address A, where the operand is stored in memory. The diagram c is called indirect addressing. Here the instruction contains an address, A, which refers to an address in memory. The memory location points to the operand stored in memory. The diagram d is called Register addressing. The instruction contains the address of a Register, R, where the operand is stored. The diagram e is the Register indirect addressing. The instruction has an address R that refers to an address in the Registers, which points to the operand in memory. The diagram f is displacement addressing. The instruction comprises of a reference address of register, R and another address A. Both the addresses are combined to point to the operand in memory. The diagram g is stack addressing. The instruction implicitly refers to value on the top of the stack register." title="Seven diagrams a, b, c, d, e, f, and g, explain the addressing modes used in an instruction.">
            <a:extLst>
              <a:ext uri="{FF2B5EF4-FFF2-40B4-BE49-F238E27FC236}">
                <a16:creationId xmlns:a16="http://schemas.microsoft.com/office/drawing/2014/main" id="{7AEFB1DA-8E6B-48F3-B2A7-4695F3DBBF74}"/>
              </a:ext>
            </a:extLst>
          </p:cNvPr>
          <p:cNvPicPr>
            <a:picLocks noChangeAspect="1"/>
          </p:cNvPicPr>
          <p:nvPr/>
        </p:nvPicPr>
        <p:blipFill rotWithShape="1">
          <a:blip r:embed="rId3">
            <a:extLst>
              <a:ext uri="{28A0092B-C50C-407E-A947-70E740481C1C}">
                <a14:useLocalDpi xmlns:a14="http://schemas.microsoft.com/office/drawing/2010/main" val="0"/>
              </a:ext>
            </a:extLst>
          </a:blip>
          <a:srcRect l="61402" t="11819" r="13218" b="69244"/>
          <a:stretch/>
        </p:blipFill>
        <p:spPr>
          <a:xfrm>
            <a:off x="7092280" y="2175877"/>
            <a:ext cx="1789856" cy="1728192"/>
          </a:xfrm>
          <a:prstGeom prst="rect">
            <a:avLst/>
          </a:prstGeom>
        </p:spPr>
      </p:pic>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4"/>
          <p:cNvSpPr>
            <a:spLocks noGrp="1" noChangeArrowheads="1"/>
          </p:cNvSpPr>
          <p:nvPr>
            <p:ph type="title"/>
          </p:nvPr>
        </p:nvSpPr>
        <p:spPr>
          <a:xfrm>
            <a:off x="457200" y="171481"/>
            <a:ext cx="8229600" cy="1097279"/>
          </a:xfrm>
          <a:noFill/>
          <a:ln/>
        </p:spPr>
        <p:txBody>
          <a:bodyPr lIns="90488" tIns="44450" rIns="90488" bIns="44450"/>
          <a:lstStyle/>
          <a:p>
            <a:r>
              <a:rPr lang="en-US" dirty="0"/>
              <a:t>Register Addressing</a:t>
            </a:r>
          </a:p>
        </p:txBody>
      </p:sp>
      <p:graphicFrame>
        <p:nvGraphicFramePr>
          <p:cNvPr id="10" name="Content Placeholder 5"/>
          <p:cNvGraphicFramePr>
            <a:graphicFrameLocks/>
          </p:cNvGraphicFramePr>
          <p:nvPr/>
        </p:nvGraphicFramePr>
        <p:xfrm>
          <a:off x="396172" y="1268760"/>
          <a:ext cx="8064260" cy="50405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descr="Diagram a is called immediate addressing. Here the instruction contains the operand directly. The diagram b is called direct addressing. Here the instruction contains the address A, where the operand is stored in memory. The diagram c is called indirect addressing. Here the instruction contains an address, A, which refers to an address in memory. The memory location points to the operand stored in memory. The diagram d is called Register addressing. The instruction contains the address of a Register, R, where the operand is stored. The diagram e is the Register indirect addressing. The instruction has an address R that refers to an address in the Registers, which points to the operand in memory. The diagram f is displacement addressing. The instruction comprises of a reference address of register, R and another address A. Both the addresses are combined to point to the operand in memory. The diagram g is stack addressing. The instruction implicitly refers to value on the top of the stack register." title="Seven diagrams a, b, c, d, e, f, and g, explain the addressing modes used in an instruction.">
            <a:extLst>
              <a:ext uri="{FF2B5EF4-FFF2-40B4-BE49-F238E27FC236}">
                <a16:creationId xmlns:a16="http://schemas.microsoft.com/office/drawing/2014/main" id="{A55B8BA9-19E7-4BAA-AD0D-9942AD77946F}"/>
              </a:ext>
            </a:extLst>
          </p:cNvPr>
          <p:cNvPicPr>
            <a:picLocks noChangeAspect="1"/>
          </p:cNvPicPr>
          <p:nvPr/>
        </p:nvPicPr>
        <p:blipFill rotWithShape="1">
          <a:blip r:embed="rId8">
            <a:extLst>
              <a:ext uri="{28A0092B-C50C-407E-A947-70E740481C1C}">
                <a14:useLocalDpi xmlns:a14="http://schemas.microsoft.com/office/drawing/2010/main" val="0"/>
              </a:ext>
            </a:extLst>
          </a:blip>
          <a:srcRect l="14433" t="30285" r="61062" b="50778"/>
          <a:stretch/>
        </p:blipFill>
        <p:spPr>
          <a:xfrm>
            <a:off x="7092280" y="1412776"/>
            <a:ext cx="1728192" cy="1728191"/>
          </a:xfrm>
          <a:prstGeom prst="rect">
            <a:avLst/>
          </a:prstGeom>
        </p:spPr>
      </p:pic>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4"/>
          <p:cNvSpPr>
            <a:spLocks noGrp="1" noChangeArrowheads="1"/>
          </p:cNvSpPr>
          <p:nvPr>
            <p:ph type="title"/>
          </p:nvPr>
        </p:nvSpPr>
        <p:spPr>
          <a:xfrm>
            <a:off x="457200" y="171481"/>
            <a:ext cx="8229600" cy="1097279"/>
          </a:xfrm>
          <a:noFill/>
          <a:ln/>
        </p:spPr>
        <p:txBody>
          <a:bodyPr lIns="90488" tIns="44450" rIns="90488" bIns="44450"/>
          <a:lstStyle/>
          <a:p>
            <a:r>
              <a:rPr lang="en-US" dirty="0"/>
              <a:t>Register Indirect Addressing</a:t>
            </a:r>
          </a:p>
        </p:txBody>
      </p:sp>
      <p:sp>
        <p:nvSpPr>
          <p:cNvPr id="28677" name="Rectangle 5"/>
          <p:cNvSpPr>
            <a:spLocks noGrp="1" noChangeArrowheads="1"/>
          </p:cNvSpPr>
          <p:nvPr>
            <p:ph type="body" idx="1"/>
          </p:nvPr>
        </p:nvSpPr>
        <p:spPr>
          <a:xfrm>
            <a:off x="457200" y="1627466"/>
            <a:ext cx="8229600" cy="4525963"/>
          </a:xfrm>
          <a:noFill/>
          <a:ln/>
        </p:spPr>
        <p:txBody>
          <a:bodyPr lIns="90488" tIns="44450" rIns="90488" bIns="44450"/>
          <a:lstStyle/>
          <a:p>
            <a:pPr marL="296863" indent="-296863"/>
            <a:r>
              <a:rPr lang="en-US" dirty="0"/>
              <a:t>Analogous to indirect addressing</a:t>
            </a:r>
          </a:p>
          <a:p>
            <a:pPr marL="593725" lvl="1" indent="-296863"/>
            <a:r>
              <a:rPr lang="en-US" sz="1800" dirty="0"/>
              <a:t>The only difference is whether the address field refers to a memory location or a register</a:t>
            </a:r>
          </a:p>
          <a:p>
            <a:pPr marL="296863" indent="-296863"/>
            <a:r>
              <a:rPr lang="en-US" dirty="0"/>
              <a:t>EA = (R)</a:t>
            </a:r>
          </a:p>
          <a:p>
            <a:pPr marL="296863" indent="-296863"/>
            <a:r>
              <a:rPr lang="en-US" dirty="0"/>
              <a:t>Address space limitation of the address field is overcome by having that field refer to a word-length location containing an address</a:t>
            </a:r>
          </a:p>
          <a:p>
            <a:pPr marL="296863" indent="-296863"/>
            <a:r>
              <a:rPr lang="en-US" dirty="0"/>
              <a:t>Uses one less memory reference than indirect addressing</a:t>
            </a:r>
          </a:p>
          <a:p>
            <a:endParaRPr lang="en-US" dirty="0"/>
          </a:p>
        </p:txBody>
      </p:sp>
      <p:pic>
        <p:nvPicPr>
          <p:cNvPr id="4" name="Picture 3" descr="Diagram a is called immediate addressing. Here the instruction contains the operand directly. The diagram b is called direct addressing. Here the instruction contains the address A, where the operand is stored in memory. The diagram c is called indirect addressing. Here the instruction contains an address, A, which refers to an address in memory. The memory location points to the operand stored in memory. The diagram d is called Register addressing. The instruction contains the address of a Register, R, where the operand is stored. The diagram e is the Register indirect addressing. The instruction has an address R that refers to an address in the Registers, which points to the operand in memory. The diagram f is displacement addressing. The instruction comprises of a reference address of register, R and another address A. Both the addresses are combined to point to the operand in memory. The diagram g is stack addressing. The instruction implicitly refers to value on the top of the stack register." title="Seven diagrams a, b, c, d, e, f, and g, explain the addressing modes used in an instruction.">
            <a:extLst>
              <a:ext uri="{FF2B5EF4-FFF2-40B4-BE49-F238E27FC236}">
                <a16:creationId xmlns:a16="http://schemas.microsoft.com/office/drawing/2014/main" id="{D67E6451-E352-491C-8729-CFC1475372F9}"/>
              </a:ext>
            </a:extLst>
          </p:cNvPr>
          <p:cNvPicPr>
            <a:picLocks noChangeAspect="1"/>
          </p:cNvPicPr>
          <p:nvPr/>
        </p:nvPicPr>
        <p:blipFill rotWithShape="1">
          <a:blip r:embed="rId3">
            <a:extLst>
              <a:ext uri="{28A0092B-C50C-407E-A947-70E740481C1C}">
                <a14:useLocalDpi xmlns:a14="http://schemas.microsoft.com/office/drawing/2010/main" val="0"/>
              </a:ext>
            </a:extLst>
          </a:blip>
          <a:srcRect l="37736" t="29966" r="37758" b="51097"/>
          <a:stretch/>
        </p:blipFill>
        <p:spPr>
          <a:xfrm>
            <a:off x="6876256" y="188107"/>
            <a:ext cx="1728192" cy="1728192"/>
          </a:xfrm>
          <a:prstGeom prst="rect">
            <a:avLst/>
          </a:prstGeom>
        </p:spPr>
      </p:pic>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Rectangle 4"/>
          <p:cNvSpPr>
            <a:spLocks noGrp="1" noChangeArrowheads="1"/>
          </p:cNvSpPr>
          <p:nvPr>
            <p:ph type="title"/>
          </p:nvPr>
        </p:nvSpPr>
        <p:spPr>
          <a:xfrm>
            <a:off x="457200" y="171481"/>
            <a:ext cx="8229600" cy="1097279"/>
          </a:xfrm>
          <a:noFill/>
          <a:ln/>
        </p:spPr>
        <p:txBody>
          <a:bodyPr lIns="90488" tIns="44450" rIns="90488" bIns="44450"/>
          <a:lstStyle/>
          <a:p>
            <a:r>
              <a:rPr lang="en-US" dirty="0"/>
              <a:t>Displacement Addressing</a:t>
            </a:r>
          </a:p>
        </p:txBody>
      </p:sp>
      <p:sp>
        <p:nvSpPr>
          <p:cNvPr id="32773" name="Rectangle 5"/>
          <p:cNvSpPr>
            <a:spLocks noGrp="1" noChangeArrowheads="1"/>
          </p:cNvSpPr>
          <p:nvPr>
            <p:ph type="body" idx="1"/>
          </p:nvPr>
        </p:nvSpPr>
        <p:spPr>
          <a:xfrm>
            <a:off x="457200" y="1651216"/>
            <a:ext cx="8229600" cy="4525963"/>
          </a:xfrm>
          <a:noFill/>
          <a:ln/>
        </p:spPr>
        <p:txBody>
          <a:bodyPr lIns="90488" tIns="44450" rIns="90488" bIns="44450">
            <a:normAutofit lnSpcReduction="10000"/>
          </a:bodyPr>
          <a:lstStyle/>
          <a:p>
            <a:pPr marL="307975" indent="-307975">
              <a:buClr>
                <a:schemeClr val="tx2"/>
              </a:buClr>
              <a:buFont typeface="Arial" panose="020B0604020202020204" pitchFamily="34" charset="0"/>
              <a:buChar char="•"/>
            </a:pPr>
            <a:r>
              <a:rPr lang="en-US" sz="2200" dirty="0"/>
              <a:t>Combines the capabilities of direct addressing and register indirect addressing</a:t>
            </a:r>
          </a:p>
          <a:p>
            <a:pPr marL="307975" indent="-307975">
              <a:buClr>
                <a:schemeClr val="tx2"/>
              </a:buClr>
              <a:buFont typeface="Arial" panose="020B0604020202020204" pitchFamily="34" charset="0"/>
              <a:buChar char="•"/>
            </a:pPr>
            <a:r>
              <a:rPr lang="en-US" sz="2200" dirty="0"/>
              <a:t>EA = A + (R)</a:t>
            </a:r>
          </a:p>
          <a:p>
            <a:pPr marL="307975" indent="-307975">
              <a:buClr>
                <a:schemeClr val="tx2"/>
              </a:buClr>
              <a:buFont typeface="Arial" panose="020B0604020202020204" pitchFamily="34" charset="0"/>
              <a:buChar char="•"/>
            </a:pPr>
            <a:r>
              <a:rPr lang="en-US" sz="2200" dirty="0"/>
              <a:t>Requires that the instruction have two address fields, at least one of which is explicit</a:t>
            </a:r>
          </a:p>
          <a:p>
            <a:pPr marL="593725" lvl="1" indent="-285750"/>
            <a:r>
              <a:rPr lang="en-US" sz="1800" dirty="0"/>
              <a:t>The value contained in one address field (value = A) is used directly</a:t>
            </a:r>
          </a:p>
          <a:p>
            <a:pPr marL="593725" lvl="1" indent="-285750"/>
            <a:r>
              <a:rPr lang="en-US" sz="1800" dirty="0"/>
              <a:t>The other address field refers to a register whose contents are added to A to produce the effective address</a:t>
            </a:r>
          </a:p>
          <a:p>
            <a:pPr marL="307975" lvl="1" indent="-307975">
              <a:spcBef>
                <a:spcPts val="2000"/>
              </a:spcBef>
              <a:buClr>
                <a:schemeClr val="tx2"/>
              </a:buClr>
              <a:buFont typeface="Arial" panose="020B0604020202020204" pitchFamily="34" charset="0"/>
              <a:buChar char="•"/>
            </a:pPr>
            <a:r>
              <a:rPr lang="en-US" sz="2200" dirty="0"/>
              <a:t>Most common uses:</a:t>
            </a:r>
          </a:p>
          <a:p>
            <a:pPr marL="593725" lvl="1" indent="-285750"/>
            <a:r>
              <a:rPr lang="en-US" sz="1800" dirty="0"/>
              <a:t>Relative addressing</a:t>
            </a:r>
          </a:p>
          <a:p>
            <a:pPr marL="593725" lvl="1" indent="-285750"/>
            <a:r>
              <a:rPr lang="en-US" sz="1800" dirty="0"/>
              <a:t>Base-register addressing</a:t>
            </a:r>
          </a:p>
          <a:p>
            <a:pPr marL="593725" lvl="1" indent="-285750"/>
            <a:r>
              <a:rPr lang="en-US" sz="1800" dirty="0"/>
              <a:t>Indexing </a:t>
            </a:r>
          </a:p>
        </p:txBody>
      </p:sp>
      <p:pic>
        <p:nvPicPr>
          <p:cNvPr id="4" name="Picture 3" descr="Diagram a is called immediate addressing. Here the instruction contains the operand directly. The diagram b is called direct addressing. Here the instruction contains the address A, where the operand is stored in memory. The diagram c is called indirect addressing. Here the instruction contains an address, A, which refers to an address in memory. The memory location points to the operand stored in memory. The diagram d is called Register addressing. The instruction contains the address of a Register, R, where the operand is stored. The diagram e is the Register indirect addressing. The instruction has an address R that refers to an address in the Registers, which points to the operand in memory. The diagram f is displacement addressing. The instruction comprises of a reference address of register, R and another address A. Both the addresses are combined to point to the operand in memory. The diagram g is stack addressing. The instruction implicitly refers to value on the top of the stack register." title="Seven diagrams a, b, c, d, e, f, and g, explain the addressing modes used in an instruction.">
            <a:extLst>
              <a:ext uri="{FF2B5EF4-FFF2-40B4-BE49-F238E27FC236}">
                <a16:creationId xmlns:a16="http://schemas.microsoft.com/office/drawing/2014/main" id="{094CE576-0BA9-42D6-AB25-FCDEA5B3BD31}"/>
              </a:ext>
            </a:extLst>
          </p:cNvPr>
          <p:cNvPicPr>
            <a:picLocks noChangeAspect="1"/>
          </p:cNvPicPr>
          <p:nvPr/>
        </p:nvPicPr>
        <p:blipFill rotWithShape="1">
          <a:blip r:embed="rId3">
            <a:extLst>
              <a:ext uri="{28A0092B-C50C-407E-A947-70E740481C1C}">
                <a14:useLocalDpi xmlns:a14="http://schemas.microsoft.com/office/drawing/2010/main" val="0"/>
              </a:ext>
            </a:extLst>
          </a:blip>
          <a:srcRect l="61411" t="30285" r="13064" b="50778"/>
          <a:stretch/>
        </p:blipFill>
        <p:spPr>
          <a:xfrm>
            <a:off x="6156176" y="4448988"/>
            <a:ext cx="1800200" cy="1728191"/>
          </a:xfrm>
          <a:prstGeom prst="rect">
            <a:avLst/>
          </a:prstGeom>
        </p:spPr>
      </p:pic>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Rectangle 4"/>
          <p:cNvSpPr>
            <a:spLocks noGrp="1" noChangeArrowheads="1"/>
          </p:cNvSpPr>
          <p:nvPr>
            <p:ph type="title"/>
          </p:nvPr>
        </p:nvSpPr>
        <p:spPr>
          <a:xfrm>
            <a:off x="457200" y="171481"/>
            <a:ext cx="8229600" cy="1097279"/>
          </a:xfrm>
          <a:noFill/>
          <a:ln/>
        </p:spPr>
        <p:txBody>
          <a:bodyPr lIns="90488" tIns="44450" rIns="90488" bIns="44450"/>
          <a:lstStyle/>
          <a:p>
            <a:r>
              <a:rPr lang="en-US" dirty="0"/>
              <a:t>Relative Addressing</a:t>
            </a:r>
          </a:p>
        </p:txBody>
      </p:sp>
      <p:graphicFrame>
        <p:nvGraphicFramePr>
          <p:cNvPr id="10" name="Content Placeholder 2"/>
          <p:cNvGraphicFramePr>
            <a:graphicFrameLocks/>
          </p:cNvGraphicFramePr>
          <p:nvPr/>
        </p:nvGraphicFramePr>
        <p:xfrm>
          <a:off x="107504" y="1315222"/>
          <a:ext cx="8928992" cy="513811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4"/>
          <p:cNvSpPr>
            <a:spLocks noGrp="1" noChangeArrowheads="1"/>
          </p:cNvSpPr>
          <p:nvPr>
            <p:ph type="title"/>
          </p:nvPr>
        </p:nvSpPr>
        <p:spPr>
          <a:xfrm>
            <a:off x="457200" y="171481"/>
            <a:ext cx="8229600" cy="1097279"/>
          </a:xfrm>
          <a:noFill/>
          <a:ln/>
        </p:spPr>
        <p:txBody>
          <a:bodyPr lIns="90488" tIns="44450" rIns="90488" bIns="44450"/>
          <a:lstStyle/>
          <a:p>
            <a:r>
              <a:rPr lang="en-US" dirty="0"/>
              <a:t>Base-Register Addressing</a:t>
            </a:r>
          </a:p>
        </p:txBody>
      </p:sp>
      <p:sp>
        <p:nvSpPr>
          <p:cNvPr id="38917" name="Rectangle 5"/>
          <p:cNvSpPr>
            <a:spLocks noGrp="1" noChangeArrowheads="1"/>
          </p:cNvSpPr>
          <p:nvPr>
            <p:ph type="body" idx="1"/>
          </p:nvPr>
        </p:nvSpPr>
        <p:spPr>
          <a:xfrm>
            <a:off x="457200" y="1623950"/>
            <a:ext cx="8229600" cy="4525963"/>
          </a:xfrm>
          <a:noFill/>
          <a:ln/>
        </p:spPr>
        <p:txBody>
          <a:bodyPr lIns="90488" tIns="44450" rIns="90488" bIns="44450">
            <a:normAutofit fontScale="92500"/>
          </a:bodyPr>
          <a:lstStyle/>
          <a:p>
            <a:pPr marL="296863" indent="-296863"/>
            <a:r>
              <a:rPr lang="en-US" dirty="0"/>
              <a:t>The referenced register contains a main memory address and the address field contains a displacement from that address</a:t>
            </a:r>
          </a:p>
          <a:p>
            <a:pPr marL="296863" indent="-296863"/>
            <a:r>
              <a:rPr lang="en-US" dirty="0"/>
              <a:t>The register reference may be explicit or implicit</a:t>
            </a:r>
          </a:p>
          <a:p>
            <a:pPr marL="296863" indent="-296863"/>
            <a:r>
              <a:rPr lang="en-US" dirty="0"/>
              <a:t>Exploits the locality of memory references</a:t>
            </a:r>
          </a:p>
          <a:p>
            <a:pPr marL="296863" indent="-296863"/>
            <a:r>
              <a:rPr lang="en-US" dirty="0"/>
              <a:t>Convenient means of implementing segmentation</a:t>
            </a:r>
          </a:p>
          <a:p>
            <a:pPr marL="296863" indent="-296863"/>
            <a:r>
              <a:rPr lang="en-US" dirty="0"/>
              <a:t>In some implementations a single segment base register is employed and is used implicitly</a:t>
            </a:r>
          </a:p>
          <a:p>
            <a:pPr marL="296863" indent="-296863"/>
            <a:r>
              <a:rPr lang="en-US" dirty="0"/>
              <a:t>In others the programmer may choose a register to hold the base address of a segment and the instruction must reference it explicitly</a:t>
            </a:r>
          </a:p>
        </p:txBody>
      </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Rectangle 4"/>
          <p:cNvSpPr>
            <a:spLocks noGrp="1" noChangeArrowheads="1"/>
          </p:cNvSpPr>
          <p:nvPr>
            <p:ph type="title"/>
          </p:nvPr>
        </p:nvSpPr>
        <p:spPr>
          <a:xfrm>
            <a:off x="457200" y="171481"/>
            <a:ext cx="8229600" cy="1097279"/>
          </a:xfrm>
          <a:noFill/>
          <a:ln/>
        </p:spPr>
        <p:txBody>
          <a:bodyPr lIns="90488" tIns="44450" rIns="90488" bIns="44450"/>
          <a:lstStyle/>
          <a:p>
            <a:r>
              <a:rPr lang="en-US" dirty="0"/>
              <a:t>Indexing</a:t>
            </a:r>
          </a:p>
        </p:txBody>
      </p:sp>
      <p:sp>
        <p:nvSpPr>
          <p:cNvPr id="40965" name="Rectangle 5"/>
          <p:cNvSpPr>
            <a:spLocks noGrp="1" noChangeArrowheads="1"/>
          </p:cNvSpPr>
          <p:nvPr>
            <p:ph type="body" idx="1"/>
          </p:nvPr>
        </p:nvSpPr>
        <p:spPr>
          <a:xfrm>
            <a:off x="457200" y="1687599"/>
            <a:ext cx="8229600" cy="4998951"/>
          </a:xfrm>
          <a:noFill/>
          <a:ln/>
        </p:spPr>
        <p:txBody>
          <a:bodyPr lIns="90488" tIns="44450" rIns="90488" bIns="44450">
            <a:normAutofit fontScale="92500" lnSpcReduction="10000"/>
          </a:bodyPr>
          <a:lstStyle/>
          <a:p>
            <a:pPr marL="296863" indent="-296863"/>
            <a:r>
              <a:rPr lang="en-US" sz="1800" dirty="0"/>
              <a:t>The address field references a main memory address and the referenced register contains a positive displacement from that address</a:t>
            </a:r>
          </a:p>
          <a:p>
            <a:pPr marL="296863" indent="-296863"/>
            <a:r>
              <a:rPr lang="en-US" sz="1800" dirty="0"/>
              <a:t>The method of calculating the EA is the same as for base-register addressing</a:t>
            </a:r>
          </a:p>
          <a:p>
            <a:pPr marL="296863" indent="-296863"/>
            <a:r>
              <a:rPr lang="en-US" sz="1800" dirty="0"/>
              <a:t>An important use is to provide an efficient mechanism for performing iterative operations</a:t>
            </a:r>
          </a:p>
          <a:p>
            <a:pPr marL="296863" indent="-296863"/>
            <a:r>
              <a:rPr lang="en-US" sz="1800" dirty="0"/>
              <a:t>Autoindexing</a:t>
            </a:r>
          </a:p>
          <a:p>
            <a:pPr marL="593725" lvl="1" indent="-296863"/>
            <a:r>
              <a:rPr lang="en-US" sz="1500" dirty="0"/>
              <a:t>Automatically increment or decrement the index register after each reference to it</a:t>
            </a:r>
          </a:p>
          <a:p>
            <a:pPr marL="593725" lvl="1" indent="-296863"/>
            <a:r>
              <a:rPr lang="en-US" sz="1500" dirty="0"/>
              <a:t>EA = A + (R)</a:t>
            </a:r>
          </a:p>
          <a:p>
            <a:pPr marL="593725" lvl="1" indent="-296863"/>
            <a:r>
              <a:rPr lang="en-US" sz="1500" dirty="0"/>
              <a:t>(R) = </a:t>
            </a:r>
            <a:r>
              <a:rPr lang="en-US" sz="1500" dirty="0">
                <a:ea typeface="Wingdings"/>
                <a:cs typeface="Wingdings"/>
              </a:rPr>
              <a:t>(R) + 1</a:t>
            </a:r>
            <a:endParaRPr lang="en-US" sz="1500" dirty="0"/>
          </a:p>
          <a:p>
            <a:pPr marL="296863" indent="-296863"/>
            <a:r>
              <a:rPr lang="en-US" sz="1800" dirty="0"/>
              <a:t>Postindexing</a:t>
            </a:r>
          </a:p>
          <a:p>
            <a:pPr marL="593725" lvl="1" indent="-296863"/>
            <a:r>
              <a:rPr lang="en-US" sz="1500" dirty="0"/>
              <a:t>Indexing is performed after the indirection</a:t>
            </a:r>
          </a:p>
          <a:p>
            <a:pPr marL="593725" lvl="1" indent="-296863"/>
            <a:r>
              <a:rPr lang="en-US" sz="1500" dirty="0"/>
              <a:t>EA = (A) + (R)</a:t>
            </a:r>
          </a:p>
          <a:p>
            <a:pPr marL="296863" indent="-296863"/>
            <a:r>
              <a:rPr lang="en-US" sz="1700" dirty="0" err="1"/>
              <a:t>Preindexing</a:t>
            </a:r>
            <a:endParaRPr lang="en-US" sz="1700" dirty="0"/>
          </a:p>
          <a:p>
            <a:pPr marL="593725" lvl="1" indent="-296863"/>
            <a:r>
              <a:rPr lang="en-US" sz="1500" dirty="0"/>
              <a:t>Indexing is performed before the indirection</a:t>
            </a:r>
          </a:p>
          <a:p>
            <a:pPr marL="593725" lvl="1" indent="-296863"/>
            <a:r>
              <a:rPr lang="en-US" sz="1500" dirty="0"/>
              <a:t>EA = (A + (R))</a:t>
            </a:r>
          </a:p>
          <a:p>
            <a:endParaRPr lang="en-US" dirty="0"/>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4"/>
          <p:cNvSpPr>
            <a:spLocks noGrp="1" noChangeArrowheads="1"/>
          </p:cNvSpPr>
          <p:nvPr>
            <p:ph type="title"/>
          </p:nvPr>
        </p:nvSpPr>
        <p:spPr>
          <a:xfrm>
            <a:off x="457200" y="171481"/>
            <a:ext cx="8229600" cy="1097279"/>
          </a:xfrm>
          <a:noFill/>
          <a:ln/>
        </p:spPr>
        <p:txBody>
          <a:bodyPr lIns="90488" tIns="44450" rIns="90488" bIns="44450"/>
          <a:lstStyle/>
          <a:p>
            <a:r>
              <a:rPr lang="en-US" dirty="0"/>
              <a:t>Stack Addressing</a:t>
            </a:r>
          </a:p>
        </p:txBody>
      </p:sp>
      <p:sp>
        <p:nvSpPr>
          <p:cNvPr id="45061" name="Rectangle 5"/>
          <p:cNvSpPr>
            <a:spLocks noGrp="1" noChangeArrowheads="1"/>
          </p:cNvSpPr>
          <p:nvPr>
            <p:ph type="body" idx="1"/>
          </p:nvPr>
        </p:nvSpPr>
        <p:spPr>
          <a:xfrm>
            <a:off x="457200" y="1699474"/>
            <a:ext cx="8363272" cy="4525963"/>
          </a:xfrm>
          <a:noFill/>
          <a:ln/>
        </p:spPr>
        <p:txBody>
          <a:bodyPr lIns="90488" tIns="44450" rIns="90488" bIns="44450">
            <a:normAutofit/>
          </a:bodyPr>
          <a:lstStyle/>
          <a:p>
            <a:pPr marL="296863" indent="-296863">
              <a:lnSpc>
                <a:spcPct val="80000"/>
              </a:lnSpc>
              <a:buClr>
                <a:schemeClr val="tx2"/>
              </a:buClr>
              <a:buFont typeface="Arial" panose="020B0604020202020204" pitchFamily="34" charset="0"/>
              <a:buChar char="•"/>
            </a:pPr>
            <a:r>
              <a:rPr lang="en-US" sz="1800" dirty="0"/>
              <a:t>A stack is a linear array of locations</a:t>
            </a:r>
          </a:p>
          <a:p>
            <a:pPr lvl="1">
              <a:lnSpc>
                <a:spcPct val="80000"/>
              </a:lnSpc>
            </a:pPr>
            <a:r>
              <a:rPr lang="en-US" dirty="0"/>
              <a:t>Sometimes referred to as a </a:t>
            </a:r>
            <a:r>
              <a:rPr lang="en-US" i="1" dirty="0"/>
              <a:t>pushdown list </a:t>
            </a:r>
            <a:r>
              <a:rPr lang="en-US" dirty="0"/>
              <a:t>or </a:t>
            </a:r>
            <a:r>
              <a:rPr lang="en-US" i="1" dirty="0"/>
              <a:t>last-in-first-out queue</a:t>
            </a:r>
          </a:p>
          <a:p>
            <a:pPr marL="296863" indent="-296863">
              <a:lnSpc>
                <a:spcPct val="80000"/>
              </a:lnSpc>
              <a:buClr>
                <a:schemeClr val="tx2"/>
              </a:buClr>
              <a:buFont typeface="Arial" panose="020B0604020202020204" pitchFamily="34" charset="0"/>
              <a:buChar char="•"/>
            </a:pPr>
            <a:r>
              <a:rPr lang="en-US" sz="1800" dirty="0"/>
              <a:t>A stack is a reserved block of locations</a:t>
            </a:r>
          </a:p>
          <a:p>
            <a:pPr lvl="1">
              <a:lnSpc>
                <a:spcPct val="80000"/>
              </a:lnSpc>
            </a:pPr>
            <a:r>
              <a:rPr lang="en-US" dirty="0"/>
              <a:t>Items are appended to the top of the stack so that the block is partially filled</a:t>
            </a:r>
          </a:p>
          <a:p>
            <a:pPr marL="296863" indent="-296863">
              <a:lnSpc>
                <a:spcPct val="80000"/>
              </a:lnSpc>
              <a:buClr>
                <a:schemeClr val="tx2"/>
              </a:buClr>
              <a:buFont typeface="Arial" panose="020B0604020202020204" pitchFamily="34" charset="0"/>
              <a:buChar char="•"/>
            </a:pPr>
            <a:r>
              <a:rPr lang="en-US" sz="1800" dirty="0"/>
              <a:t>Associated with the stack is a pointer whose value is the address of the top of the stack</a:t>
            </a:r>
          </a:p>
          <a:p>
            <a:pPr lvl="1">
              <a:lnSpc>
                <a:spcPct val="80000"/>
              </a:lnSpc>
            </a:pPr>
            <a:r>
              <a:rPr lang="en-US" dirty="0"/>
              <a:t>The stack pointer is maintained in a register</a:t>
            </a:r>
          </a:p>
          <a:p>
            <a:pPr lvl="1">
              <a:lnSpc>
                <a:spcPct val="80000"/>
              </a:lnSpc>
            </a:pPr>
            <a:r>
              <a:rPr lang="en-US" dirty="0"/>
              <a:t>Thus references to stack locations in memory are in fact register indirect addresses</a:t>
            </a:r>
          </a:p>
          <a:p>
            <a:pPr marL="296863" lvl="1" indent="-296863">
              <a:lnSpc>
                <a:spcPct val="80000"/>
              </a:lnSpc>
              <a:spcBef>
                <a:spcPts val="2000"/>
              </a:spcBef>
              <a:buClr>
                <a:schemeClr val="tx2"/>
              </a:buClr>
              <a:buFont typeface="Arial" panose="020B0604020202020204" pitchFamily="34" charset="0"/>
              <a:buChar char="•"/>
            </a:pPr>
            <a:r>
              <a:rPr lang="en-US" sz="1800" dirty="0"/>
              <a:t>Is a form of implied addressing</a:t>
            </a:r>
          </a:p>
          <a:p>
            <a:pPr marL="296863" lvl="1" indent="-296863">
              <a:lnSpc>
                <a:spcPct val="80000"/>
              </a:lnSpc>
              <a:spcBef>
                <a:spcPts val="2000"/>
              </a:spcBef>
              <a:buClr>
                <a:schemeClr val="tx2"/>
              </a:buClr>
              <a:buFont typeface="Arial" panose="020B0604020202020204" pitchFamily="34" charset="0"/>
              <a:buChar char="•"/>
            </a:pPr>
            <a:r>
              <a:rPr lang="en-US" sz="1800" dirty="0"/>
              <a:t>The machine instructions need not </a:t>
            </a:r>
            <a:r>
              <a:rPr lang="en-US" sz="1800" dirty="0">
                <a:solidFill>
                  <a:schemeClr val="tx1"/>
                </a:solidFill>
              </a:rPr>
              <a:t>include a memory </a:t>
            </a:r>
          </a:p>
          <a:p>
            <a:pPr marL="296863" lvl="1" indent="0">
              <a:lnSpc>
                <a:spcPct val="80000"/>
              </a:lnSpc>
              <a:spcBef>
                <a:spcPts val="0"/>
              </a:spcBef>
              <a:buClr>
                <a:schemeClr val="tx2"/>
              </a:buClr>
              <a:buNone/>
            </a:pPr>
            <a:r>
              <a:rPr lang="en-US" sz="1800" dirty="0">
                <a:solidFill>
                  <a:schemeClr val="tx1"/>
                </a:solidFill>
              </a:rPr>
              <a:t>reference </a:t>
            </a:r>
            <a:r>
              <a:rPr lang="en-US" sz="1800" dirty="0"/>
              <a:t>but implicitly operate on the top of the stack</a:t>
            </a:r>
          </a:p>
        </p:txBody>
      </p:sp>
      <p:pic>
        <p:nvPicPr>
          <p:cNvPr id="4" name="Picture 3" descr="Diagram a is called immediate addressing. Here the instruction contains the operand directly. The diagram b is called direct addressing. Here the instruction contains the address A, where the operand is stored in memory. The diagram c is called indirect addressing. Here the instruction contains an address, A, which refers to an address in memory. The memory location points to the operand stored in memory. The diagram d is called Register addressing. The instruction contains the address of a Register, R, where the operand is stored. The diagram e is the Register indirect addressing. The instruction has an address R that refers to an address in the Registers, which points to the operand in memory. The diagram f is displacement addressing. The instruction comprises of a reference address of register, R and another address A. Both the addresses are combined to point to the operand in memory. The diagram g is stack addressing. The instruction implicitly refers to value on the top of the stack register." title="Seven diagrams a, b, c, d, e, f, and g, explain the addressing modes used in an instruction.">
            <a:extLst>
              <a:ext uri="{FF2B5EF4-FFF2-40B4-BE49-F238E27FC236}">
                <a16:creationId xmlns:a16="http://schemas.microsoft.com/office/drawing/2014/main" id="{BAEBA1C9-9236-4597-BE52-F39EDAB4680C}"/>
              </a:ext>
            </a:extLst>
          </p:cNvPr>
          <p:cNvPicPr>
            <a:picLocks noChangeAspect="1"/>
          </p:cNvPicPr>
          <p:nvPr/>
        </p:nvPicPr>
        <p:blipFill rotWithShape="1">
          <a:blip r:embed="rId3">
            <a:extLst>
              <a:ext uri="{28A0092B-C50C-407E-A947-70E740481C1C}">
                <a14:useLocalDpi xmlns:a14="http://schemas.microsoft.com/office/drawing/2010/main" val="0"/>
              </a:ext>
            </a:extLst>
          </a:blip>
          <a:srcRect l="13425" t="48432" r="61050" b="32631"/>
          <a:stretch/>
        </p:blipFill>
        <p:spPr>
          <a:xfrm>
            <a:off x="6804248" y="4497245"/>
            <a:ext cx="1800200" cy="1728192"/>
          </a:xfrm>
          <a:prstGeom prst="rect">
            <a:avLst/>
          </a:prstGeom>
        </p:spPr>
      </p:pic>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170168"/>
            <a:ext cx="8229600" cy="1097279"/>
          </a:xfrm>
          <a:noFill/>
          <a:ln/>
        </p:spPr>
        <p:txBody>
          <a:bodyPr lIns="90488" tIns="44450" rIns="90488" bIns="44450"/>
          <a:lstStyle/>
          <a:p>
            <a:r>
              <a:rPr lang="en-US" dirty="0"/>
              <a:t>Figure 14.1 </a:t>
            </a:r>
            <a:br>
              <a:rPr lang="en-US" dirty="0"/>
            </a:br>
            <a:r>
              <a:rPr lang="en-US" dirty="0"/>
              <a:t>Addressing Modes</a:t>
            </a:r>
          </a:p>
        </p:txBody>
      </p:sp>
      <p:pic>
        <p:nvPicPr>
          <p:cNvPr id="2" name="Picture 1" descr="Diagram a is called immediate addressing. Here the instruction contains the operand directly. The diagram b is called direct addressing. Here the instruction contains the address A, where the operand is stored in memory. The diagram c is called indirect addressing. Here the instruction contains an address, A, which refers to an address in memory. The memory location points to the operand stored in memory. The diagram d is called Register addressing. The instruction contains the address of a Register, R, where the operand is stored. The diagram e is the Register indirect addressing. The instruction has an address R that refers to an address in the Registers, which points to the operand in memory. The diagram f is displacement addressing. The instruction comprises of a reference address of register, R and another address A. Both the addresses are combined to point to the operand in memory. The diagram g is stack addressing. The instruction implicitly refers to value on the top of the stack register." title="Seven diagrams a, b, c, d, e, f, and g, explain the addressing modes used in an instruction."/>
          <p:cNvPicPr>
            <a:picLocks noChangeAspect="1"/>
          </p:cNvPicPr>
          <p:nvPr/>
        </p:nvPicPr>
        <p:blipFill rotWithShape="1">
          <a:blip r:embed="rId3">
            <a:extLst>
              <a:ext uri="{28A0092B-C50C-407E-A947-70E740481C1C}">
                <a14:useLocalDpi xmlns:a14="http://schemas.microsoft.com/office/drawing/2010/main" val="0"/>
              </a:ext>
            </a:extLst>
          </a:blip>
          <a:srcRect l="14286" t="11820" r="13333" b="32249"/>
          <a:stretch/>
        </p:blipFill>
        <p:spPr>
          <a:xfrm>
            <a:off x="2019800" y="1348935"/>
            <a:ext cx="5104400" cy="5104401"/>
          </a:xfrm>
          <a:prstGeom prst="rect">
            <a:avLst/>
          </a:prstGeom>
        </p:spPr>
      </p:pic>
    </p:spTree>
    <p:extLst>
      <p:ext uri="{BB962C8B-B14F-4D97-AF65-F5344CB8AC3E}">
        <p14:creationId xmlns:p14="http://schemas.microsoft.com/office/powerpoint/2010/main" val="39706575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Grp="1" noChangeArrowheads="1"/>
          </p:cNvSpPr>
          <p:nvPr>
            <p:ph type="title"/>
          </p:nvPr>
        </p:nvSpPr>
        <p:spPr>
          <a:xfrm>
            <a:off x="457200" y="169732"/>
            <a:ext cx="8229600" cy="1097279"/>
          </a:xfrm>
          <a:noFill/>
          <a:ln/>
        </p:spPr>
        <p:txBody>
          <a:bodyPr lIns="90488" tIns="44450" rIns="90488" bIns="44450"/>
          <a:lstStyle/>
          <a:p>
            <a:r>
              <a:rPr lang="en-US" dirty="0"/>
              <a:t>Table 14.1 </a:t>
            </a:r>
            <a:br>
              <a:rPr lang="en-US" dirty="0"/>
            </a:br>
            <a:r>
              <a:rPr lang="en-US" dirty="0"/>
              <a:t>Basic Addressing Modes</a:t>
            </a:r>
          </a:p>
        </p:txBody>
      </p:sp>
      <p:graphicFrame>
        <p:nvGraphicFramePr>
          <p:cNvPr id="5" name="Table 4" descr="From left to right, the table has the column headings, mode, algorithm, principal advantage, and principal disadvantage. The rows read as follows. Immediate Operand = A No memory reference, Limited operand magnitude. Direct E A = A Simple, Limited address space. Indirect E A = (A), Large address space, Multiple memory references. Register E A = R, No memory reference, Limited address space. Register indirect, E A = (R) Large address space, Extra memory reference. Displacement E A = A + (R), Flexibility, Complexity. Stack, E A = top of stack, No memory reference, Limited applicability." title="A table titled basic addressing modes. "/>
          <p:cNvGraphicFramePr>
            <a:graphicFrameLocks noGrp="1"/>
          </p:cNvGraphicFramePr>
          <p:nvPr/>
        </p:nvGraphicFramePr>
        <p:xfrm>
          <a:off x="555678" y="1700808"/>
          <a:ext cx="8120779" cy="3270072"/>
        </p:xfrm>
        <a:graphic>
          <a:graphicData uri="http://schemas.openxmlformats.org/drawingml/2006/table">
            <a:tbl>
              <a:tblPr firstRow="1" bandRow="1">
                <a:tableStyleId>{5C22544A-7EE6-4342-B048-85BDC9FD1C3A}</a:tableStyleId>
              </a:tblPr>
              <a:tblGrid>
                <a:gridCol w="1714548">
                  <a:extLst>
                    <a:ext uri="{9D8B030D-6E8A-4147-A177-3AD203B41FA5}">
                      <a16:colId xmlns:a16="http://schemas.microsoft.com/office/drawing/2014/main" val="528802535"/>
                    </a:ext>
                  </a:extLst>
                </a:gridCol>
                <a:gridCol w="1819952">
                  <a:extLst>
                    <a:ext uri="{9D8B030D-6E8A-4147-A177-3AD203B41FA5}">
                      <a16:colId xmlns:a16="http://schemas.microsoft.com/office/drawing/2014/main" val="3102758518"/>
                    </a:ext>
                  </a:extLst>
                </a:gridCol>
                <a:gridCol w="2111144">
                  <a:extLst>
                    <a:ext uri="{9D8B030D-6E8A-4147-A177-3AD203B41FA5}">
                      <a16:colId xmlns:a16="http://schemas.microsoft.com/office/drawing/2014/main" val="2543019389"/>
                    </a:ext>
                  </a:extLst>
                </a:gridCol>
                <a:gridCol w="2475135">
                  <a:extLst>
                    <a:ext uri="{9D8B030D-6E8A-4147-A177-3AD203B41FA5}">
                      <a16:colId xmlns:a16="http://schemas.microsoft.com/office/drawing/2014/main" val="4122312373"/>
                    </a:ext>
                  </a:extLst>
                </a:gridCol>
              </a:tblGrid>
              <a:tr h="414335">
                <a:tc>
                  <a:txBody>
                    <a:bodyPr/>
                    <a:lstStyle/>
                    <a:p>
                      <a:pPr algn="ctr"/>
                      <a:r>
                        <a:rPr lang="en-IN" sz="1400" b="1" dirty="0">
                          <a:solidFill>
                            <a:schemeClr val="tx1"/>
                          </a:solidFill>
                        </a:rPr>
                        <a:t>Mode</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400" b="1" dirty="0">
                          <a:solidFill>
                            <a:schemeClr val="tx1"/>
                          </a:solidFill>
                        </a:rPr>
                        <a:t>Algorithm</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400" b="1" dirty="0">
                          <a:solidFill>
                            <a:schemeClr val="tx1"/>
                          </a:solidFill>
                        </a:rPr>
                        <a:t>Principal Advantage</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400" b="1" dirty="0">
                          <a:solidFill>
                            <a:schemeClr val="tx1"/>
                          </a:solidFill>
                        </a:rPr>
                        <a:t>Principal Disadvantage</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062764516"/>
                  </a:ext>
                </a:extLst>
              </a:tr>
              <a:tr h="358608">
                <a:tc>
                  <a:txBody>
                    <a:bodyPr/>
                    <a:lstStyle/>
                    <a:p>
                      <a:pPr algn="l"/>
                      <a:r>
                        <a:rPr lang="en-IN" sz="1400" b="0" i="0" u="none" strike="noStrike" cap="none" baseline="0" dirty="0">
                          <a:solidFill>
                            <a:schemeClr val="dk1"/>
                          </a:solidFill>
                          <a:latin typeface="+mn-lt"/>
                          <a:ea typeface="+mn-ea"/>
                          <a:cs typeface="+mn-cs"/>
                          <a:sym typeface="Arial"/>
                        </a:rPr>
                        <a:t>Immediate</a:t>
                      </a:r>
                      <a:endParaRPr lang="en-IN" sz="14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400" b="0" i="0" u="none" strike="noStrike" cap="none" baseline="0" dirty="0">
                          <a:solidFill>
                            <a:schemeClr val="dk1"/>
                          </a:solidFill>
                          <a:latin typeface="+mn-lt"/>
                          <a:ea typeface="+mn-ea"/>
                          <a:cs typeface="+mn-cs"/>
                          <a:sym typeface="Arial"/>
                        </a:rPr>
                        <a:t>Operand = A</a:t>
                      </a:r>
                      <a:endParaRPr lang="en-IN" sz="14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400" b="0" i="0" u="none" strike="noStrike" cap="none" baseline="0" dirty="0">
                          <a:solidFill>
                            <a:schemeClr val="dk1"/>
                          </a:solidFill>
                          <a:latin typeface="+mn-lt"/>
                          <a:ea typeface="+mn-ea"/>
                          <a:cs typeface="+mn-cs"/>
                          <a:sym typeface="Arial"/>
                        </a:rPr>
                        <a:t>No memory reference</a:t>
                      </a:r>
                      <a:endParaRPr lang="en-IN" sz="14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400" b="0" i="0" u="none" strike="noStrike" cap="none" baseline="0" dirty="0">
                          <a:solidFill>
                            <a:schemeClr val="dk1"/>
                          </a:solidFill>
                          <a:latin typeface="+mn-lt"/>
                          <a:ea typeface="+mn-ea"/>
                          <a:cs typeface="+mn-cs"/>
                          <a:sym typeface="Arial"/>
                        </a:rPr>
                        <a:t>Limited operand magnitude</a:t>
                      </a:r>
                      <a:endParaRPr lang="en-IN" sz="14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801756320"/>
                  </a:ext>
                </a:extLst>
              </a:tr>
              <a:tr h="379646">
                <a:tc>
                  <a:txBody>
                    <a:bodyPr/>
                    <a:lstStyle/>
                    <a:p>
                      <a:pPr algn="l"/>
                      <a:r>
                        <a:rPr lang="en-IN" sz="1400" b="0" i="0" u="none" strike="noStrike" cap="none" baseline="0" dirty="0">
                          <a:solidFill>
                            <a:schemeClr val="dk1"/>
                          </a:solidFill>
                          <a:latin typeface="+mn-lt"/>
                          <a:ea typeface="+mn-ea"/>
                          <a:cs typeface="+mn-cs"/>
                          <a:sym typeface="Arial"/>
                        </a:rPr>
                        <a:t>Direct</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400" b="0" i="0" u="none" strike="noStrike" cap="none" baseline="0" dirty="0">
                          <a:solidFill>
                            <a:schemeClr val="dk1"/>
                          </a:solidFill>
                          <a:latin typeface="+mn-lt"/>
                          <a:ea typeface="+mn-ea"/>
                          <a:cs typeface="+mn-cs"/>
                          <a:sym typeface="Arial"/>
                        </a:rPr>
                        <a:t>EA = A</a:t>
                      </a:r>
                      <a:endParaRPr lang="en-IN" sz="14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400" b="0" i="0" u="none" strike="noStrike" cap="none" baseline="0" dirty="0">
                          <a:solidFill>
                            <a:schemeClr val="dk1"/>
                          </a:solidFill>
                          <a:latin typeface="+mn-lt"/>
                          <a:ea typeface="+mn-ea"/>
                          <a:cs typeface="+mn-cs"/>
                          <a:sym typeface="Arial"/>
                        </a:rPr>
                        <a:t>Simple</a:t>
                      </a:r>
                      <a:endParaRPr lang="en-IN" sz="14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400" b="0" i="0" u="none" strike="noStrike" cap="none" baseline="0" dirty="0">
                          <a:solidFill>
                            <a:schemeClr val="dk1"/>
                          </a:solidFill>
                          <a:latin typeface="+mn-lt"/>
                          <a:ea typeface="+mn-ea"/>
                          <a:cs typeface="+mn-cs"/>
                          <a:sym typeface="Arial"/>
                        </a:rPr>
                        <a:t>Limited address space</a:t>
                      </a:r>
                      <a:endParaRPr lang="en-IN" sz="14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007438362"/>
                  </a:ext>
                </a:extLst>
              </a:tr>
              <a:tr h="425927">
                <a:tc>
                  <a:txBody>
                    <a:bodyPr/>
                    <a:lstStyle/>
                    <a:p>
                      <a:pPr algn="l"/>
                      <a:r>
                        <a:rPr lang="en-IN" sz="1400" b="0" i="0" u="none" strike="noStrike" cap="none" baseline="0" dirty="0">
                          <a:solidFill>
                            <a:schemeClr val="dk1"/>
                          </a:solidFill>
                          <a:latin typeface="+mn-lt"/>
                          <a:ea typeface="+mn-ea"/>
                          <a:cs typeface="+mn-cs"/>
                          <a:sym typeface="Arial"/>
                        </a:rPr>
                        <a:t>Indirect</a:t>
                      </a:r>
                      <a:endParaRPr lang="en-IN" sz="14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400" b="0" i="0" u="none" strike="noStrike" cap="none" baseline="0" dirty="0">
                          <a:solidFill>
                            <a:schemeClr val="dk1"/>
                          </a:solidFill>
                          <a:latin typeface="+mn-lt"/>
                          <a:ea typeface="+mn-ea"/>
                          <a:cs typeface="+mn-cs"/>
                          <a:sym typeface="Arial"/>
                        </a:rPr>
                        <a:t>EA = (A)</a:t>
                      </a:r>
                      <a:endParaRPr lang="en-IN" sz="14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400" b="0" i="0" u="none" strike="noStrike" cap="none" baseline="0" dirty="0">
                          <a:solidFill>
                            <a:schemeClr val="dk1"/>
                          </a:solidFill>
                          <a:latin typeface="+mn-lt"/>
                          <a:ea typeface="+mn-ea"/>
                          <a:cs typeface="+mn-cs"/>
                          <a:sym typeface="Arial"/>
                        </a:rPr>
                        <a:t>Large address space</a:t>
                      </a:r>
                      <a:endParaRPr lang="en-IN" sz="14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400" b="0" i="0" u="none" strike="noStrike" cap="none" baseline="0" dirty="0">
                          <a:solidFill>
                            <a:schemeClr val="dk1"/>
                          </a:solidFill>
                          <a:latin typeface="+mn-lt"/>
                          <a:ea typeface="+mn-ea"/>
                          <a:cs typeface="+mn-cs"/>
                          <a:sym typeface="Arial"/>
                        </a:rPr>
                        <a:t>Multiple memory references</a:t>
                      </a:r>
                      <a:endParaRPr lang="en-IN" sz="14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794824530"/>
                  </a:ext>
                </a:extLst>
              </a:tr>
              <a:tr h="422889">
                <a:tc>
                  <a:txBody>
                    <a:bodyPr/>
                    <a:lstStyle/>
                    <a:p>
                      <a:pPr algn="l"/>
                      <a:r>
                        <a:rPr lang="en-IN" sz="1400" b="0" i="0" u="none" strike="noStrike" cap="none" baseline="0" dirty="0">
                          <a:solidFill>
                            <a:schemeClr val="dk1"/>
                          </a:solidFill>
                          <a:latin typeface="+mn-lt"/>
                          <a:ea typeface="+mn-ea"/>
                          <a:cs typeface="+mn-cs"/>
                          <a:sym typeface="Arial"/>
                        </a:rPr>
                        <a:t>Register</a:t>
                      </a:r>
                      <a:endParaRPr lang="en-IN" sz="14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400" b="0" i="0" u="none" strike="noStrike" cap="none" baseline="0" dirty="0">
                          <a:solidFill>
                            <a:schemeClr val="dk1"/>
                          </a:solidFill>
                          <a:latin typeface="+mn-lt"/>
                          <a:ea typeface="+mn-ea"/>
                          <a:cs typeface="+mn-cs"/>
                          <a:sym typeface="Arial"/>
                        </a:rPr>
                        <a:t>EA = R</a:t>
                      </a:r>
                      <a:endParaRPr lang="en-IN" sz="14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400" b="0" i="0" u="none" strike="noStrike" cap="none" baseline="0" dirty="0">
                          <a:solidFill>
                            <a:schemeClr val="dk1"/>
                          </a:solidFill>
                          <a:latin typeface="+mn-lt"/>
                          <a:ea typeface="+mn-ea"/>
                          <a:cs typeface="+mn-cs"/>
                          <a:sym typeface="Arial"/>
                        </a:rPr>
                        <a:t>No memory reference</a:t>
                      </a:r>
                      <a:endParaRPr lang="en-IN" sz="14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400" b="0" i="0" u="none" strike="noStrike" cap="none" baseline="0" dirty="0">
                          <a:solidFill>
                            <a:schemeClr val="dk1"/>
                          </a:solidFill>
                          <a:latin typeface="+mn-lt"/>
                          <a:ea typeface="+mn-ea"/>
                          <a:cs typeface="+mn-cs"/>
                          <a:sym typeface="Arial"/>
                        </a:rPr>
                        <a:t>Limited address space</a:t>
                      </a:r>
                      <a:endParaRPr lang="en-IN" sz="14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9877881"/>
                  </a:ext>
                </a:extLst>
              </a:tr>
              <a:tr h="422889">
                <a:tc>
                  <a:txBody>
                    <a:bodyPr/>
                    <a:lstStyle/>
                    <a:p>
                      <a:pPr algn="l"/>
                      <a:r>
                        <a:rPr lang="en-IN" sz="1400" b="0" i="0" u="none" strike="noStrike" cap="none" baseline="0" dirty="0">
                          <a:solidFill>
                            <a:schemeClr val="dk1"/>
                          </a:solidFill>
                          <a:latin typeface="+mn-lt"/>
                          <a:ea typeface="+mn-ea"/>
                          <a:cs typeface="+mn-cs"/>
                          <a:sym typeface="Arial"/>
                        </a:rPr>
                        <a:t>Register indirect</a:t>
                      </a:r>
                      <a:endParaRPr lang="en-IN" sz="14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400" b="0" i="0" u="none" strike="noStrike" cap="none" baseline="0" dirty="0">
                          <a:solidFill>
                            <a:schemeClr val="dk1"/>
                          </a:solidFill>
                          <a:latin typeface="+mn-lt"/>
                          <a:ea typeface="+mn-ea"/>
                          <a:cs typeface="+mn-cs"/>
                          <a:sym typeface="Arial"/>
                        </a:rPr>
                        <a:t>EA = (R)</a:t>
                      </a:r>
                      <a:endParaRPr lang="en-IN" sz="14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400" b="0" i="0" u="none" strike="noStrike" cap="none" baseline="0" dirty="0">
                          <a:solidFill>
                            <a:schemeClr val="dk1"/>
                          </a:solidFill>
                          <a:latin typeface="+mn-lt"/>
                          <a:ea typeface="+mn-ea"/>
                          <a:cs typeface="+mn-cs"/>
                          <a:sym typeface="Arial"/>
                        </a:rPr>
                        <a:t>Large address space</a:t>
                      </a:r>
                      <a:endParaRPr lang="en-IN" sz="14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400" b="0" i="0" u="none" strike="noStrike" cap="none" baseline="0" dirty="0">
                          <a:solidFill>
                            <a:schemeClr val="dk1"/>
                          </a:solidFill>
                          <a:latin typeface="+mn-lt"/>
                          <a:ea typeface="+mn-ea"/>
                          <a:cs typeface="+mn-cs"/>
                          <a:sym typeface="Arial"/>
                        </a:rPr>
                        <a:t>Extra memory reference</a:t>
                      </a:r>
                      <a:endParaRPr lang="en-IN" sz="14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662666875"/>
                  </a:ext>
                </a:extLst>
              </a:tr>
              <a:tr h="422889">
                <a:tc>
                  <a:txBody>
                    <a:bodyPr/>
                    <a:lstStyle/>
                    <a:p>
                      <a:pPr algn="l"/>
                      <a:r>
                        <a:rPr lang="en-IN" sz="1400" b="0" i="0" u="none" strike="noStrike" cap="none" baseline="0" dirty="0">
                          <a:solidFill>
                            <a:schemeClr val="dk1"/>
                          </a:solidFill>
                          <a:latin typeface="+mn-lt"/>
                          <a:ea typeface="+mn-ea"/>
                          <a:cs typeface="+mn-cs"/>
                          <a:sym typeface="Arial"/>
                        </a:rPr>
                        <a:t>Displacement</a:t>
                      </a:r>
                      <a:endParaRPr lang="en-IN" sz="14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400" b="0" i="0" u="none" strike="noStrike" cap="none" baseline="0" dirty="0">
                          <a:solidFill>
                            <a:schemeClr val="dk1"/>
                          </a:solidFill>
                          <a:latin typeface="+mn-lt"/>
                          <a:ea typeface="+mn-ea"/>
                          <a:cs typeface="+mn-cs"/>
                          <a:sym typeface="Arial"/>
                        </a:rPr>
                        <a:t>EA = A + (R)</a:t>
                      </a:r>
                      <a:endParaRPr lang="en-IN" sz="14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400" b="0" i="0" u="none" strike="noStrike" cap="none" baseline="0" dirty="0">
                          <a:solidFill>
                            <a:schemeClr val="dk1"/>
                          </a:solidFill>
                          <a:latin typeface="+mn-lt"/>
                          <a:ea typeface="+mn-ea"/>
                          <a:cs typeface="+mn-cs"/>
                          <a:sym typeface="Arial"/>
                        </a:rPr>
                        <a:t>Flexibility</a:t>
                      </a:r>
                      <a:endParaRPr lang="en-IN" sz="14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400" b="0" i="0" u="none" strike="noStrike" cap="none" baseline="0" dirty="0">
                          <a:solidFill>
                            <a:schemeClr val="dk1"/>
                          </a:solidFill>
                          <a:latin typeface="+mn-lt"/>
                          <a:ea typeface="+mn-ea"/>
                          <a:cs typeface="+mn-cs"/>
                          <a:sym typeface="Arial"/>
                        </a:rPr>
                        <a:t>Complexity</a:t>
                      </a:r>
                      <a:endParaRPr lang="en-IN" sz="14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551477208"/>
                  </a:ext>
                </a:extLst>
              </a:tr>
              <a:tr h="422889">
                <a:tc>
                  <a:txBody>
                    <a:bodyPr/>
                    <a:lstStyle/>
                    <a:p>
                      <a:pPr algn="l"/>
                      <a:r>
                        <a:rPr lang="en-IN" sz="1400" b="0" i="0" u="none" strike="noStrike" cap="none" baseline="0" dirty="0">
                          <a:solidFill>
                            <a:schemeClr val="dk1"/>
                          </a:solidFill>
                          <a:latin typeface="+mn-lt"/>
                          <a:ea typeface="+mn-ea"/>
                          <a:cs typeface="+mn-cs"/>
                          <a:sym typeface="Arial"/>
                        </a:rPr>
                        <a:t>Stack</a:t>
                      </a:r>
                      <a:endParaRPr lang="en-IN" sz="14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400" b="0" i="0" u="none" strike="noStrike" cap="none" baseline="0" dirty="0">
                          <a:solidFill>
                            <a:schemeClr val="dk1"/>
                          </a:solidFill>
                          <a:latin typeface="+mn-lt"/>
                          <a:ea typeface="+mn-ea"/>
                          <a:cs typeface="+mn-cs"/>
                          <a:sym typeface="Arial"/>
                        </a:rPr>
                        <a:t>EA = top of stack</a:t>
                      </a:r>
                      <a:endParaRPr lang="en-IN" sz="14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400" b="0" i="0" u="none" strike="noStrike" cap="none" baseline="0" dirty="0">
                          <a:solidFill>
                            <a:schemeClr val="dk1"/>
                          </a:solidFill>
                          <a:latin typeface="+mn-lt"/>
                          <a:ea typeface="+mn-ea"/>
                          <a:cs typeface="+mn-cs"/>
                          <a:sym typeface="Arial"/>
                        </a:rPr>
                        <a:t>No memory reference</a:t>
                      </a:r>
                      <a:endParaRPr lang="en-IN" sz="14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400" b="0" i="0" u="none" strike="noStrike" cap="none" baseline="0" dirty="0">
                          <a:solidFill>
                            <a:schemeClr val="dk1"/>
                          </a:solidFill>
                          <a:latin typeface="+mn-lt"/>
                          <a:ea typeface="+mn-ea"/>
                          <a:cs typeface="+mn-cs"/>
                          <a:sym typeface="Arial"/>
                        </a:rPr>
                        <a:t>Limited applicability</a:t>
                      </a:r>
                      <a:endParaRPr lang="en-IN" sz="14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647574091"/>
                  </a:ext>
                </a:extLst>
              </a:tr>
            </a:tbl>
          </a:graphicData>
        </a:graphic>
      </p:graphicFrame>
    </p:spTree>
    <p:extLst>
      <p:ext uri="{BB962C8B-B14F-4D97-AF65-F5344CB8AC3E}">
        <p14:creationId xmlns:p14="http://schemas.microsoft.com/office/powerpoint/2010/main" val="9907089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A4CAF-A811-418A-AE03-2F628F361AA0}"/>
              </a:ext>
            </a:extLst>
          </p:cNvPr>
          <p:cNvSpPr>
            <a:spLocks noGrp="1"/>
          </p:cNvSpPr>
          <p:nvPr>
            <p:ph type="title"/>
          </p:nvPr>
        </p:nvSpPr>
        <p:spPr/>
        <p:txBody>
          <a:bodyPr/>
          <a:lstStyle/>
          <a:p>
            <a:r>
              <a:rPr lang="en-US" dirty="0"/>
              <a:t>x86 and ARM Addressing Mode</a:t>
            </a:r>
            <a:endParaRPr lang="en-MY" dirty="0"/>
          </a:p>
        </p:txBody>
      </p:sp>
      <p:sp>
        <p:nvSpPr>
          <p:cNvPr id="3" name="Text Placeholder 2">
            <a:extLst>
              <a:ext uri="{FF2B5EF4-FFF2-40B4-BE49-F238E27FC236}">
                <a16:creationId xmlns:a16="http://schemas.microsoft.com/office/drawing/2014/main" id="{FDE9346B-FBCC-4E4E-B0CB-9BC50C223688}"/>
              </a:ext>
            </a:extLst>
          </p:cNvPr>
          <p:cNvSpPr>
            <a:spLocks noGrp="1"/>
          </p:cNvSpPr>
          <p:nvPr>
            <p:ph type="body" idx="1"/>
          </p:nvPr>
        </p:nvSpPr>
        <p:spPr/>
        <p:txBody>
          <a:bodyPr/>
          <a:lstStyle/>
          <a:p>
            <a:r>
              <a:rPr lang="en-US" dirty="0"/>
              <a:t>Can refer to the example of x86 and ARM addressing mode in the following slides: </a:t>
            </a:r>
          </a:p>
          <a:p>
            <a:r>
              <a:rPr lang="en-US" dirty="0">
                <a:hlinkClick r:id="rId2" action="ppaction://hlinksldjump"/>
              </a:rPr>
              <a:t>x86</a:t>
            </a:r>
            <a:endParaRPr lang="en-US" dirty="0"/>
          </a:p>
          <a:p>
            <a:r>
              <a:rPr lang="en-MY" dirty="0">
                <a:hlinkClick r:id="rId3" action="ppaction://hlinksldjump"/>
              </a:rPr>
              <a:t>ARM</a:t>
            </a:r>
            <a:r>
              <a:rPr lang="en-MY" dirty="0"/>
              <a:t> </a:t>
            </a:r>
          </a:p>
        </p:txBody>
      </p:sp>
    </p:spTree>
    <p:extLst>
      <p:ext uri="{BB962C8B-B14F-4D97-AF65-F5344CB8AC3E}">
        <p14:creationId xmlns:p14="http://schemas.microsoft.com/office/powerpoint/2010/main" val="17763211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r>
              <a:rPr lang="en-US" dirty="0"/>
              <a:t>Instruction Formats</a:t>
            </a:r>
          </a:p>
        </p:txBody>
      </p:sp>
      <p:graphicFrame>
        <p:nvGraphicFramePr>
          <p:cNvPr id="8" name="Content Placeholder 3"/>
          <p:cNvGraphicFramePr>
            <a:graphicFrameLocks/>
          </p:cNvGraphicFramePr>
          <p:nvPr/>
        </p:nvGraphicFramePr>
        <p:xfrm>
          <a:off x="539552" y="1268760"/>
          <a:ext cx="8077200" cy="4906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050"/>
          <p:cNvSpPr>
            <a:spLocks noGrp="1" noChangeArrowheads="1"/>
          </p:cNvSpPr>
          <p:nvPr>
            <p:ph type="title"/>
          </p:nvPr>
        </p:nvSpPr>
        <p:spPr/>
        <p:txBody>
          <a:bodyPr/>
          <a:lstStyle/>
          <a:p>
            <a:r>
              <a:rPr lang="en-US" dirty="0"/>
              <a:t>Instruction Length</a:t>
            </a:r>
          </a:p>
        </p:txBody>
      </p:sp>
      <p:sp>
        <p:nvSpPr>
          <p:cNvPr id="107523" name="Rectangle 2051"/>
          <p:cNvSpPr>
            <a:spLocks noGrp="1" noChangeArrowheads="1"/>
          </p:cNvSpPr>
          <p:nvPr>
            <p:ph type="body" idx="1"/>
          </p:nvPr>
        </p:nvSpPr>
        <p:spPr>
          <a:xfrm>
            <a:off x="457200" y="1600200"/>
            <a:ext cx="8229600" cy="4853136"/>
          </a:xfrm>
        </p:spPr>
        <p:txBody>
          <a:bodyPr>
            <a:normAutofit/>
          </a:bodyPr>
          <a:lstStyle/>
          <a:p>
            <a:pPr marL="296863" indent="-296863">
              <a:buClr>
                <a:schemeClr val="tx2"/>
              </a:buClr>
              <a:buFont typeface="Arial" panose="020B0604020202020204" pitchFamily="34" charset="0"/>
              <a:buChar char="•"/>
            </a:pPr>
            <a:r>
              <a:rPr lang="en-US" sz="2000" dirty="0"/>
              <a:t>Most basic design issue</a:t>
            </a:r>
          </a:p>
          <a:p>
            <a:pPr marL="296863" indent="-296863">
              <a:buClr>
                <a:schemeClr val="tx2"/>
              </a:buClr>
              <a:buFont typeface="Arial" panose="020B0604020202020204" pitchFamily="34" charset="0"/>
              <a:buChar char="•"/>
            </a:pPr>
            <a:r>
              <a:rPr lang="en-US" sz="2000" dirty="0"/>
              <a:t>Affects, and is affected by:</a:t>
            </a:r>
          </a:p>
          <a:p>
            <a:pPr marL="593725" lvl="1" indent="-296863"/>
            <a:r>
              <a:rPr lang="en-US" sz="1800" dirty="0"/>
              <a:t>Memory size</a:t>
            </a:r>
          </a:p>
          <a:p>
            <a:pPr marL="593725" lvl="1" indent="-296863"/>
            <a:r>
              <a:rPr lang="en-US" sz="1800" dirty="0"/>
              <a:t>Memory organization</a:t>
            </a:r>
          </a:p>
          <a:p>
            <a:pPr marL="593725" lvl="1" indent="-296863"/>
            <a:r>
              <a:rPr lang="en-US" sz="1800" dirty="0"/>
              <a:t>Bus structure</a:t>
            </a:r>
          </a:p>
          <a:p>
            <a:pPr marL="593725" lvl="1" indent="-296863"/>
            <a:r>
              <a:rPr lang="en-US" sz="1800" dirty="0"/>
              <a:t>Processor complexity</a:t>
            </a:r>
          </a:p>
          <a:p>
            <a:pPr marL="593725" lvl="1" indent="-296863"/>
            <a:r>
              <a:rPr lang="en-US" sz="1800" dirty="0"/>
              <a:t>Processor speed</a:t>
            </a:r>
          </a:p>
          <a:p>
            <a:pPr marL="296863" lvl="1" indent="-296863">
              <a:spcBef>
                <a:spcPts val="2000"/>
              </a:spcBef>
              <a:buClr>
                <a:schemeClr val="tx2"/>
              </a:buClr>
              <a:buFont typeface="Arial" panose="020B0604020202020204" pitchFamily="34" charset="0"/>
              <a:buChar char="•"/>
            </a:pPr>
            <a:r>
              <a:rPr lang="en-US" sz="2000" dirty="0"/>
              <a:t>Should be equal to the memory-transfer length or one should be a multiple of the other</a:t>
            </a:r>
          </a:p>
          <a:p>
            <a:pPr marL="296863" lvl="1" indent="-296863">
              <a:spcBef>
                <a:spcPts val="2000"/>
              </a:spcBef>
              <a:buClr>
                <a:schemeClr val="tx2"/>
              </a:buClr>
              <a:buFont typeface="Arial" panose="020B0604020202020204" pitchFamily="34" charset="0"/>
              <a:buChar char="•"/>
            </a:pPr>
            <a:r>
              <a:rPr lang="en-US" sz="2000" dirty="0"/>
              <a:t>Should be a multiple of the character length, which is usually 8 bits, and of the length of fixed-point numbers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a:xfrm>
            <a:off x="457200" y="207863"/>
            <a:ext cx="8229600" cy="1097279"/>
          </a:xfrm>
        </p:spPr>
        <p:txBody>
          <a:bodyPr/>
          <a:lstStyle/>
          <a:p>
            <a:r>
              <a:rPr lang="en-US" dirty="0"/>
              <a:t>Allocation of Bits</a:t>
            </a:r>
          </a:p>
        </p:txBody>
      </p:sp>
      <p:graphicFrame>
        <p:nvGraphicFramePr>
          <p:cNvPr id="8" name="Content Placeholder 10"/>
          <p:cNvGraphicFramePr>
            <a:graphicFrameLocks/>
          </p:cNvGraphicFramePr>
          <p:nvPr/>
        </p:nvGraphicFramePr>
        <p:xfrm>
          <a:off x="198086" y="1084082"/>
          <a:ext cx="8694394" cy="500921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A4CAF-A811-418A-AE03-2F628F361AA0}"/>
              </a:ext>
            </a:extLst>
          </p:cNvPr>
          <p:cNvSpPr>
            <a:spLocks noGrp="1"/>
          </p:cNvSpPr>
          <p:nvPr>
            <p:ph type="title"/>
          </p:nvPr>
        </p:nvSpPr>
        <p:spPr/>
        <p:txBody>
          <a:bodyPr/>
          <a:lstStyle/>
          <a:p>
            <a:r>
              <a:rPr lang="en-US" dirty="0"/>
              <a:t>PDP, VAX, x86 and ARM </a:t>
            </a:r>
            <a:br>
              <a:rPr lang="en-US" dirty="0"/>
            </a:br>
            <a:r>
              <a:rPr lang="en-US" dirty="0"/>
              <a:t>Instruction Formats</a:t>
            </a:r>
            <a:endParaRPr lang="en-MY" dirty="0"/>
          </a:p>
        </p:txBody>
      </p:sp>
      <p:sp>
        <p:nvSpPr>
          <p:cNvPr id="3" name="Text Placeholder 2">
            <a:extLst>
              <a:ext uri="{FF2B5EF4-FFF2-40B4-BE49-F238E27FC236}">
                <a16:creationId xmlns:a16="http://schemas.microsoft.com/office/drawing/2014/main" id="{FDE9346B-FBCC-4E4E-B0CB-9BC50C223688}"/>
              </a:ext>
            </a:extLst>
          </p:cNvPr>
          <p:cNvSpPr>
            <a:spLocks noGrp="1"/>
          </p:cNvSpPr>
          <p:nvPr>
            <p:ph type="body" idx="1"/>
          </p:nvPr>
        </p:nvSpPr>
        <p:spPr/>
        <p:txBody>
          <a:bodyPr/>
          <a:lstStyle/>
          <a:p>
            <a:r>
              <a:rPr lang="en-US" dirty="0"/>
              <a:t>Can refer to the example of x86 and ARM addressing mode in the following slides: </a:t>
            </a:r>
          </a:p>
          <a:p>
            <a:r>
              <a:rPr lang="en-US" dirty="0">
                <a:hlinkClick r:id="rId2" action="ppaction://hlinksldjump"/>
              </a:rPr>
              <a:t>PDP</a:t>
            </a:r>
            <a:endParaRPr lang="en-US" dirty="0"/>
          </a:p>
          <a:p>
            <a:r>
              <a:rPr lang="en-US" dirty="0">
                <a:hlinkClick r:id="rId3" action="ppaction://hlinksldjump"/>
              </a:rPr>
              <a:t>VAX</a:t>
            </a:r>
            <a:endParaRPr lang="en-US" dirty="0"/>
          </a:p>
          <a:p>
            <a:r>
              <a:rPr lang="en-US" dirty="0">
                <a:hlinkClick r:id="rId4" action="ppaction://hlinksldjump"/>
              </a:rPr>
              <a:t>x86</a:t>
            </a:r>
            <a:endParaRPr lang="en-US" dirty="0"/>
          </a:p>
          <a:p>
            <a:r>
              <a:rPr lang="en-MY" dirty="0">
                <a:hlinkClick r:id="rId5" action="ppaction://hlinksldjump"/>
              </a:rPr>
              <a:t>ARM</a:t>
            </a:r>
            <a:r>
              <a:rPr lang="en-MY" dirty="0"/>
              <a:t> </a:t>
            </a:r>
          </a:p>
        </p:txBody>
      </p:sp>
    </p:spTree>
    <p:extLst>
      <p:ext uri="{BB962C8B-B14F-4D97-AF65-F5344CB8AC3E}">
        <p14:creationId xmlns:p14="http://schemas.microsoft.com/office/powerpoint/2010/main" val="21603329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973E0-2475-47E8-8B56-A9EF7FBEE504}"/>
              </a:ext>
            </a:extLst>
          </p:cNvPr>
          <p:cNvSpPr>
            <a:spLocks noGrp="1"/>
          </p:cNvSpPr>
          <p:nvPr>
            <p:ph type="title"/>
          </p:nvPr>
        </p:nvSpPr>
        <p:spPr>
          <a:xfrm>
            <a:off x="457200" y="215371"/>
            <a:ext cx="8229600" cy="3357645"/>
          </a:xfrm>
        </p:spPr>
        <p:txBody>
          <a:bodyPr/>
          <a:lstStyle/>
          <a:p>
            <a:r>
              <a:rPr lang="en-US" dirty="0"/>
              <a:t>Additional Notes on x86 and ARM </a:t>
            </a:r>
            <a:endParaRPr lang="en-MY" dirty="0"/>
          </a:p>
        </p:txBody>
      </p:sp>
      <p:sp>
        <p:nvSpPr>
          <p:cNvPr id="3" name="Text Placeholder 2">
            <a:extLst>
              <a:ext uri="{FF2B5EF4-FFF2-40B4-BE49-F238E27FC236}">
                <a16:creationId xmlns:a16="http://schemas.microsoft.com/office/drawing/2014/main" id="{90D36E14-D1F9-43D0-B282-0F698CF8DE44}"/>
              </a:ext>
            </a:extLst>
          </p:cNvPr>
          <p:cNvSpPr>
            <a:spLocks noGrp="1"/>
          </p:cNvSpPr>
          <p:nvPr>
            <p:ph type="body" idx="1"/>
          </p:nvPr>
        </p:nvSpPr>
        <p:spPr/>
        <p:txBody>
          <a:bodyPr/>
          <a:lstStyle/>
          <a:p>
            <a:endParaRPr lang="en-MY" dirty="0"/>
          </a:p>
        </p:txBody>
      </p:sp>
    </p:spTree>
    <p:extLst>
      <p:ext uri="{BB962C8B-B14F-4D97-AF65-F5344CB8AC3E}">
        <p14:creationId xmlns:p14="http://schemas.microsoft.com/office/powerpoint/2010/main" val="6955931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p:cNvSpPr>
            <a:spLocks noGrp="1" noChangeArrowheads="1"/>
          </p:cNvSpPr>
          <p:nvPr>
            <p:ph type="title"/>
          </p:nvPr>
        </p:nvSpPr>
        <p:spPr>
          <a:xfrm>
            <a:off x="6185169" y="272496"/>
            <a:ext cx="3172867" cy="1097279"/>
          </a:xfrm>
          <a:noFill/>
          <a:ln/>
        </p:spPr>
        <p:txBody>
          <a:bodyPr lIns="90488" tIns="44450" rIns="90488" bIns="44450"/>
          <a:lstStyle/>
          <a:p>
            <a:r>
              <a:rPr lang="en-US" dirty="0"/>
              <a:t>Table 13.2 </a:t>
            </a:r>
            <a:br>
              <a:rPr lang="en-US" dirty="0"/>
            </a:br>
            <a:r>
              <a:rPr lang="en-US" dirty="0"/>
              <a:t>x86 Data Types</a:t>
            </a:r>
          </a:p>
        </p:txBody>
      </p:sp>
      <p:graphicFrame>
        <p:nvGraphicFramePr>
          <p:cNvPr id="8" name="Table 7" descr="The list reads as follows 1. General. Byte, word left parenthesis 16 bits right parenthesis, doubleword left parenthesis 32 bits right parenthesis, quadword left parenthesis 64 bits right parenthesis, and double quadword left parenthesis 128 bits right parenthesis locations with arbitrary binary contents. 2. Integer. A signed binary value contained in a byte, word, or doubleword, using twos complement representation. 3. Ordinal. An unsigned integer contained in a byte, word, or doubleword. 4. Unpacked binary coded decimal or B C D. A representation of a B C D digit in the range 0 through 9, with one digit in each byte. 5. Packed B C D. Packed byte representation of two B C D digits. Value in the range 0 to 99. 6. Near pointer. A 16-bit, 32-bit, or 64-bit effective address that represents the offset within a segment. Used for all pointers in a non segmented memory and for references within a segment in a segmented memory. 7. Far pointer. A logical address consisting of a 16-bit segment selector and an offset of 16, 32, or 64 bits. Far pointers are used for memory references in a segmented memory model where the identity of a segment being accessed must be specified explicitly. 8. Bit field. A contiguous sequence of bits in which the position of each bit is considered as an independent unit. A bit string can begin at any bit position of any byte and can contain up to 32 bits. 9. Bit string. A contiguous sequence of bits, containing from zero to 2 to the power of 23, minus 1 bits. 10. Byte string. A contiguous sequence of bytes, words, or doublewords, containing from zero to 2 to the power of 23, minus 1 bytes. 11. Floating point. See figure 13 point 4. 12. Packed S I M D, or single instruction multiple data. Packed 64 bit and 128 bit data types." title="A list of x 86 data types."/>
          <p:cNvGraphicFramePr>
            <a:graphicFrameLocks noGrp="1"/>
          </p:cNvGraphicFramePr>
          <p:nvPr/>
        </p:nvGraphicFramePr>
        <p:xfrm>
          <a:off x="35496" y="404663"/>
          <a:ext cx="6192688" cy="5777948"/>
        </p:xfrm>
        <a:graphic>
          <a:graphicData uri="http://schemas.openxmlformats.org/drawingml/2006/table">
            <a:tbl>
              <a:tblPr firstRow="1" bandRow="1">
                <a:tableStyleId>{5C22544A-7EE6-4342-B048-85BDC9FD1C3A}</a:tableStyleId>
              </a:tblPr>
              <a:tblGrid>
                <a:gridCol w="1656184">
                  <a:extLst>
                    <a:ext uri="{9D8B030D-6E8A-4147-A177-3AD203B41FA5}">
                      <a16:colId xmlns:a16="http://schemas.microsoft.com/office/drawing/2014/main" val="1859018432"/>
                    </a:ext>
                  </a:extLst>
                </a:gridCol>
                <a:gridCol w="4536504">
                  <a:extLst>
                    <a:ext uri="{9D8B030D-6E8A-4147-A177-3AD203B41FA5}">
                      <a16:colId xmlns:a16="http://schemas.microsoft.com/office/drawing/2014/main" val="2543019389"/>
                    </a:ext>
                  </a:extLst>
                </a:gridCol>
              </a:tblGrid>
              <a:tr h="250773">
                <a:tc>
                  <a:txBody>
                    <a:bodyPr/>
                    <a:lstStyle/>
                    <a:p>
                      <a:r>
                        <a:rPr lang="en-IN" sz="1000" b="1" dirty="0">
                          <a:solidFill>
                            <a:schemeClr val="tx1"/>
                          </a:solidFill>
                        </a:rPr>
                        <a:t>Data Type</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1000" b="1" i="0" u="none" strike="noStrike" cap="none" baseline="0" dirty="0">
                          <a:solidFill>
                            <a:schemeClr val="tx1"/>
                          </a:solidFill>
                          <a:latin typeface="+mn-lt"/>
                          <a:ea typeface="+mn-ea"/>
                          <a:cs typeface="+mn-cs"/>
                          <a:sym typeface="Arial"/>
                        </a:rPr>
                        <a:t>Description</a:t>
                      </a:r>
                      <a:endParaRPr lang="en-IN" sz="1000" b="1"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1659986812"/>
                  </a:ext>
                </a:extLst>
              </a:tr>
              <a:tr h="415850">
                <a:tc>
                  <a:txBody>
                    <a:bodyPr/>
                    <a:lstStyle/>
                    <a:p>
                      <a:r>
                        <a:rPr lang="en-IN" sz="1000" dirty="0"/>
                        <a:t>General</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000" b="0" i="0" u="none" strike="noStrike" cap="none" baseline="0" dirty="0">
                          <a:solidFill>
                            <a:schemeClr val="dk1"/>
                          </a:solidFill>
                          <a:latin typeface="+mn-lt"/>
                          <a:ea typeface="+mn-ea"/>
                          <a:cs typeface="+mn-cs"/>
                          <a:sym typeface="Arial"/>
                        </a:rPr>
                        <a:t>Byte, word (16 bits), </a:t>
                      </a:r>
                      <a:r>
                        <a:rPr lang="en-US" sz="1000" b="0" i="0" u="none" strike="noStrike" cap="none" baseline="0" dirty="0" err="1">
                          <a:solidFill>
                            <a:schemeClr val="dk1"/>
                          </a:solidFill>
                          <a:latin typeface="+mn-lt"/>
                          <a:ea typeface="+mn-ea"/>
                          <a:cs typeface="+mn-cs"/>
                          <a:sym typeface="Arial"/>
                        </a:rPr>
                        <a:t>doubleword</a:t>
                      </a:r>
                      <a:r>
                        <a:rPr lang="en-US" sz="1000" b="0" i="0" u="none" strike="noStrike" cap="none" baseline="0" dirty="0">
                          <a:solidFill>
                            <a:schemeClr val="dk1"/>
                          </a:solidFill>
                          <a:latin typeface="+mn-lt"/>
                          <a:ea typeface="+mn-ea"/>
                          <a:cs typeface="+mn-cs"/>
                          <a:sym typeface="Arial"/>
                        </a:rPr>
                        <a:t> (32 bits), </a:t>
                      </a:r>
                      <a:r>
                        <a:rPr lang="en-US" sz="1000" b="0" i="0" u="none" strike="noStrike" cap="none" baseline="0" dirty="0" err="1">
                          <a:solidFill>
                            <a:schemeClr val="dk1"/>
                          </a:solidFill>
                          <a:latin typeface="+mn-lt"/>
                          <a:ea typeface="+mn-ea"/>
                          <a:cs typeface="+mn-cs"/>
                          <a:sym typeface="Arial"/>
                        </a:rPr>
                        <a:t>quadword</a:t>
                      </a:r>
                      <a:r>
                        <a:rPr lang="en-US" sz="1000" b="0" i="0" u="none" strike="noStrike" cap="none" baseline="0" dirty="0">
                          <a:solidFill>
                            <a:schemeClr val="dk1"/>
                          </a:solidFill>
                          <a:latin typeface="+mn-lt"/>
                          <a:ea typeface="+mn-ea"/>
                          <a:cs typeface="+mn-cs"/>
                          <a:sym typeface="Arial"/>
                        </a:rPr>
                        <a:t> (64 bits), and double</a:t>
                      </a:r>
                    </a:p>
                    <a:p>
                      <a:r>
                        <a:rPr lang="en-US" sz="1000" b="0" i="0" u="none" strike="noStrike" cap="none" baseline="0" dirty="0" err="1">
                          <a:solidFill>
                            <a:schemeClr val="dk1"/>
                          </a:solidFill>
                          <a:latin typeface="+mn-lt"/>
                          <a:ea typeface="+mn-ea"/>
                          <a:cs typeface="+mn-cs"/>
                          <a:sym typeface="Arial"/>
                        </a:rPr>
                        <a:t>quadword</a:t>
                      </a:r>
                      <a:r>
                        <a:rPr lang="en-US" sz="1000" b="0" i="0" u="none" strike="noStrike" cap="none" baseline="0" dirty="0">
                          <a:solidFill>
                            <a:schemeClr val="dk1"/>
                          </a:solidFill>
                          <a:latin typeface="+mn-lt"/>
                          <a:ea typeface="+mn-ea"/>
                          <a:cs typeface="+mn-cs"/>
                          <a:sym typeface="Arial"/>
                        </a:rPr>
                        <a:t> (128 bits) locations with arbitrary binary contents.</a:t>
                      </a:r>
                      <a:endParaRPr lang="en-IN" sz="10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717666487"/>
                  </a:ext>
                </a:extLst>
              </a:tr>
              <a:tr h="415850">
                <a:tc>
                  <a:txBody>
                    <a:bodyPr/>
                    <a:lstStyle/>
                    <a:p>
                      <a:r>
                        <a:rPr lang="en-IN" sz="1000" b="0" i="0" u="none" strike="noStrike" cap="none" baseline="0" dirty="0">
                          <a:solidFill>
                            <a:schemeClr val="dk1"/>
                          </a:solidFill>
                          <a:latin typeface="+mn-lt"/>
                          <a:ea typeface="+mn-ea"/>
                          <a:cs typeface="+mn-cs"/>
                          <a:sym typeface="Arial"/>
                        </a:rPr>
                        <a:t>Integer</a:t>
                      </a:r>
                      <a:endParaRPr lang="en-IN" sz="10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000" b="0" i="0" u="none" strike="noStrike" cap="none" baseline="0" dirty="0">
                          <a:solidFill>
                            <a:schemeClr val="dk1"/>
                          </a:solidFill>
                          <a:latin typeface="+mn-lt"/>
                          <a:ea typeface="+mn-ea"/>
                          <a:cs typeface="+mn-cs"/>
                          <a:sym typeface="Arial"/>
                        </a:rPr>
                        <a:t>A signed binary value contained in a byte, word, or </a:t>
                      </a:r>
                      <a:r>
                        <a:rPr lang="en-US" sz="1000" b="0" i="0" u="none" strike="noStrike" cap="none" baseline="0" dirty="0" err="1">
                          <a:solidFill>
                            <a:schemeClr val="dk1"/>
                          </a:solidFill>
                          <a:latin typeface="+mn-lt"/>
                          <a:ea typeface="+mn-ea"/>
                          <a:cs typeface="+mn-cs"/>
                          <a:sym typeface="Arial"/>
                        </a:rPr>
                        <a:t>doubleword</a:t>
                      </a:r>
                      <a:r>
                        <a:rPr lang="en-US" sz="1000" b="0" i="0" u="none" strike="noStrike" cap="none" baseline="0" dirty="0">
                          <a:solidFill>
                            <a:schemeClr val="dk1"/>
                          </a:solidFill>
                          <a:latin typeface="+mn-lt"/>
                          <a:ea typeface="+mn-ea"/>
                          <a:cs typeface="+mn-cs"/>
                          <a:sym typeface="Arial"/>
                        </a:rPr>
                        <a:t>, using twos</a:t>
                      </a:r>
                    </a:p>
                    <a:p>
                      <a:r>
                        <a:rPr lang="en-US" sz="1000" b="0" i="0" u="none" strike="noStrike" cap="none" baseline="0" dirty="0">
                          <a:solidFill>
                            <a:schemeClr val="dk1"/>
                          </a:solidFill>
                          <a:latin typeface="+mn-lt"/>
                          <a:ea typeface="+mn-ea"/>
                          <a:cs typeface="+mn-cs"/>
                          <a:sym typeface="Arial"/>
                        </a:rPr>
                        <a:t>complement representation.</a:t>
                      </a:r>
                      <a:endParaRPr lang="en-IN" sz="10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4062764516"/>
                  </a:ext>
                </a:extLst>
              </a:tr>
              <a:tr h="415850">
                <a:tc>
                  <a:txBody>
                    <a:bodyPr/>
                    <a:lstStyle/>
                    <a:p>
                      <a:r>
                        <a:rPr lang="en-IN" sz="1000" b="0" i="0" u="none" strike="noStrike" cap="none" baseline="0" dirty="0">
                          <a:solidFill>
                            <a:schemeClr val="dk1"/>
                          </a:solidFill>
                          <a:latin typeface="+mn-lt"/>
                          <a:ea typeface="+mn-ea"/>
                          <a:cs typeface="+mn-cs"/>
                          <a:sym typeface="Arial"/>
                        </a:rPr>
                        <a:t>Ordinal</a:t>
                      </a:r>
                      <a:endParaRPr lang="en-IN" sz="10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000" b="0" i="0" u="none" strike="noStrike" cap="none" baseline="0" dirty="0">
                          <a:solidFill>
                            <a:schemeClr val="dk1"/>
                          </a:solidFill>
                          <a:latin typeface="+mn-lt"/>
                          <a:ea typeface="+mn-ea"/>
                          <a:cs typeface="+mn-cs"/>
                          <a:sym typeface="Arial"/>
                        </a:rPr>
                        <a:t>An unsigned integer contained in a byte, word, or </a:t>
                      </a:r>
                      <a:r>
                        <a:rPr lang="en-US" sz="1000" b="0" i="0" u="none" strike="noStrike" cap="none" baseline="0" dirty="0" err="1">
                          <a:solidFill>
                            <a:schemeClr val="dk1"/>
                          </a:solidFill>
                          <a:latin typeface="+mn-lt"/>
                          <a:ea typeface="+mn-ea"/>
                          <a:cs typeface="+mn-cs"/>
                          <a:sym typeface="Arial"/>
                        </a:rPr>
                        <a:t>doubleword</a:t>
                      </a:r>
                      <a:r>
                        <a:rPr lang="en-US" sz="1000" b="0" i="0" u="none" strike="noStrike" cap="none" baseline="0" dirty="0">
                          <a:solidFill>
                            <a:schemeClr val="dk1"/>
                          </a:solidFill>
                          <a:latin typeface="+mn-lt"/>
                          <a:ea typeface="+mn-ea"/>
                          <a:cs typeface="+mn-cs"/>
                          <a:sym typeface="Arial"/>
                        </a:rPr>
                        <a:t>.</a:t>
                      </a:r>
                      <a:endParaRPr lang="en-IN" sz="10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801756320"/>
                  </a:ext>
                </a:extLst>
              </a:tr>
              <a:tr h="443400">
                <a:tc>
                  <a:txBody>
                    <a:bodyPr/>
                    <a:lstStyle/>
                    <a:p>
                      <a:r>
                        <a:rPr lang="en-IN" sz="1000" b="0" i="0" u="none" strike="noStrike" cap="none" baseline="0" dirty="0">
                          <a:solidFill>
                            <a:schemeClr val="dk1"/>
                          </a:solidFill>
                          <a:latin typeface="+mn-lt"/>
                          <a:ea typeface="+mn-ea"/>
                          <a:cs typeface="+mn-cs"/>
                          <a:sym typeface="Arial"/>
                        </a:rPr>
                        <a:t>Unpacked binary coded</a:t>
                      </a:r>
                    </a:p>
                    <a:p>
                      <a:r>
                        <a:rPr lang="en-IN" sz="1000" b="0" i="0" u="none" strike="noStrike" cap="none" baseline="0" dirty="0">
                          <a:solidFill>
                            <a:schemeClr val="dk1"/>
                          </a:solidFill>
                          <a:latin typeface="+mn-lt"/>
                          <a:ea typeface="+mn-ea"/>
                          <a:cs typeface="+mn-cs"/>
                          <a:sym typeface="Arial"/>
                        </a:rPr>
                        <a:t>decimal (BCD)</a:t>
                      </a:r>
                      <a:endParaRPr lang="en-IN" sz="10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000" b="0" i="0" u="none" strike="noStrike" cap="none" baseline="0" dirty="0">
                          <a:solidFill>
                            <a:schemeClr val="dk1"/>
                          </a:solidFill>
                          <a:latin typeface="+mn-lt"/>
                          <a:ea typeface="+mn-ea"/>
                          <a:cs typeface="+mn-cs"/>
                          <a:sym typeface="Arial"/>
                        </a:rPr>
                        <a:t>A representation of a BCD digit in the range 0 through 9, with one digit in</a:t>
                      </a:r>
                    </a:p>
                    <a:p>
                      <a:r>
                        <a:rPr lang="en-US" sz="1000" b="0" i="0" u="none" strike="noStrike" cap="none" baseline="0" dirty="0">
                          <a:solidFill>
                            <a:schemeClr val="dk1"/>
                          </a:solidFill>
                          <a:latin typeface="+mn-lt"/>
                          <a:ea typeface="+mn-ea"/>
                          <a:cs typeface="+mn-cs"/>
                          <a:sym typeface="Arial"/>
                        </a:rPr>
                        <a:t>each byte.</a:t>
                      </a:r>
                      <a:endParaRPr lang="en-IN" sz="10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1007438362"/>
                  </a:ext>
                </a:extLst>
              </a:tr>
              <a:tr h="415850">
                <a:tc>
                  <a:txBody>
                    <a:bodyPr/>
                    <a:lstStyle/>
                    <a:p>
                      <a:r>
                        <a:rPr lang="en-IN" sz="1000" b="0" i="0" u="none" strike="noStrike" cap="none" baseline="0" dirty="0">
                          <a:solidFill>
                            <a:schemeClr val="dk1"/>
                          </a:solidFill>
                          <a:latin typeface="+mn-lt"/>
                          <a:ea typeface="+mn-ea"/>
                          <a:cs typeface="+mn-cs"/>
                          <a:sym typeface="Arial"/>
                        </a:rPr>
                        <a:t>Packed BCD</a:t>
                      </a:r>
                      <a:endParaRPr lang="en-IN" sz="10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000" b="0" i="0" u="none" strike="noStrike" cap="none" baseline="0" dirty="0">
                          <a:solidFill>
                            <a:schemeClr val="dk1"/>
                          </a:solidFill>
                          <a:latin typeface="+mn-lt"/>
                          <a:ea typeface="+mn-ea"/>
                          <a:cs typeface="+mn-cs"/>
                          <a:sym typeface="Arial"/>
                        </a:rPr>
                        <a:t>Packed byte representation of two BCD digits; value in the range 0 to 99.</a:t>
                      </a:r>
                      <a:endParaRPr lang="en-IN" sz="10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794824530"/>
                  </a:ext>
                </a:extLst>
              </a:tr>
              <a:tr h="490307">
                <a:tc>
                  <a:txBody>
                    <a:bodyPr/>
                    <a:lstStyle/>
                    <a:p>
                      <a:r>
                        <a:rPr lang="en-IN" sz="1000" b="0" i="0" u="none" strike="noStrike" cap="none" baseline="0" dirty="0">
                          <a:solidFill>
                            <a:schemeClr val="dk1"/>
                          </a:solidFill>
                          <a:latin typeface="+mn-lt"/>
                          <a:ea typeface="+mn-ea"/>
                          <a:cs typeface="+mn-cs"/>
                          <a:sym typeface="Arial"/>
                        </a:rPr>
                        <a:t>Near pointer</a:t>
                      </a:r>
                      <a:endParaRPr lang="en-IN" sz="10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000" b="0" i="0" u="none" strike="noStrike" cap="none" baseline="0" dirty="0">
                          <a:solidFill>
                            <a:schemeClr val="dk1"/>
                          </a:solidFill>
                          <a:latin typeface="+mn-lt"/>
                          <a:ea typeface="+mn-ea"/>
                          <a:cs typeface="+mn-cs"/>
                          <a:sym typeface="Arial"/>
                        </a:rPr>
                        <a:t>A 16-bit, 32-bit, or 64-bit effective address that represents the offset within a</a:t>
                      </a:r>
                    </a:p>
                    <a:p>
                      <a:r>
                        <a:rPr lang="en-US" sz="1000" b="0" i="0" u="none" strike="noStrike" cap="none" baseline="0" dirty="0">
                          <a:solidFill>
                            <a:schemeClr val="dk1"/>
                          </a:solidFill>
                          <a:latin typeface="+mn-lt"/>
                          <a:ea typeface="+mn-ea"/>
                          <a:cs typeface="+mn-cs"/>
                          <a:sym typeface="Arial"/>
                        </a:rPr>
                        <a:t>segment. Used for all pointers in a </a:t>
                      </a:r>
                      <a:r>
                        <a:rPr lang="en-US" sz="1000" b="0" i="0" u="none" strike="noStrike" cap="none" baseline="0" dirty="0" err="1">
                          <a:solidFill>
                            <a:schemeClr val="dk1"/>
                          </a:solidFill>
                          <a:latin typeface="+mn-lt"/>
                          <a:ea typeface="+mn-ea"/>
                          <a:cs typeface="+mn-cs"/>
                          <a:sym typeface="Arial"/>
                        </a:rPr>
                        <a:t>nonsegmented</a:t>
                      </a:r>
                      <a:r>
                        <a:rPr lang="en-US" sz="1000" b="0" i="0" u="none" strike="noStrike" cap="none" baseline="0" dirty="0">
                          <a:solidFill>
                            <a:schemeClr val="dk1"/>
                          </a:solidFill>
                          <a:latin typeface="+mn-lt"/>
                          <a:ea typeface="+mn-ea"/>
                          <a:cs typeface="+mn-cs"/>
                          <a:sym typeface="Arial"/>
                        </a:rPr>
                        <a:t> memory and for references</a:t>
                      </a:r>
                    </a:p>
                    <a:p>
                      <a:r>
                        <a:rPr lang="en-US" sz="1000" b="0" i="0" u="none" strike="noStrike" cap="none" baseline="0" dirty="0">
                          <a:solidFill>
                            <a:schemeClr val="dk1"/>
                          </a:solidFill>
                          <a:latin typeface="+mn-lt"/>
                          <a:ea typeface="+mn-ea"/>
                          <a:cs typeface="+mn-cs"/>
                          <a:sym typeface="Arial"/>
                        </a:rPr>
                        <a:t>within a segment in a segmented memory.</a:t>
                      </a:r>
                      <a:endParaRPr lang="en-IN" sz="10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4149877881"/>
                  </a:ext>
                </a:extLst>
              </a:tr>
              <a:tr h="621055">
                <a:tc>
                  <a:txBody>
                    <a:bodyPr/>
                    <a:lstStyle/>
                    <a:p>
                      <a:r>
                        <a:rPr lang="en-IN" sz="1000" b="0" i="0" u="none" strike="noStrike" cap="none" baseline="0" dirty="0">
                          <a:solidFill>
                            <a:schemeClr val="dk1"/>
                          </a:solidFill>
                          <a:latin typeface="+mn-lt"/>
                          <a:ea typeface="+mn-ea"/>
                          <a:cs typeface="+mn-cs"/>
                          <a:sym typeface="Arial"/>
                        </a:rPr>
                        <a:t>Far pointer</a:t>
                      </a:r>
                      <a:endParaRPr lang="en-IN" sz="10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000" b="0" i="0" u="none" strike="noStrike" cap="none" baseline="0" dirty="0">
                          <a:solidFill>
                            <a:schemeClr val="dk1"/>
                          </a:solidFill>
                          <a:latin typeface="+mn-lt"/>
                          <a:ea typeface="+mn-ea"/>
                          <a:cs typeface="+mn-cs"/>
                          <a:sym typeface="Arial"/>
                        </a:rPr>
                        <a:t>A logical address consisting of a 16-bit segment selector and an offset of 16,</a:t>
                      </a:r>
                    </a:p>
                    <a:p>
                      <a:r>
                        <a:rPr lang="en-US" sz="1000" b="0" i="0" u="none" strike="noStrike" cap="none" baseline="0" dirty="0">
                          <a:solidFill>
                            <a:schemeClr val="dk1"/>
                          </a:solidFill>
                          <a:latin typeface="+mn-lt"/>
                          <a:ea typeface="+mn-ea"/>
                          <a:cs typeface="+mn-cs"/>
                          <a:sym typeface="Arial"/>
                        </a:rPr>
                        <a:t>32, or 64 bits. Far pointers are used for memory references in a segmented</a:t>
                      </a:r>
                    </a:p>
                    <a:p>
                      <a:r>
                        <a:rPr lang="en-US" sz="1000" b="0" i="0" u="none" strike="noStrike" cap="none" baseline="0" dirty="0">
                          <a:solidFill>
                            <a:schemeClr val="dk1"/>
                          </a:solidFill>
                          <a:latin typeface="+mn-lt"/>
                          <a:ea typeface="+mn-ea"/>
                          <a:cs typeface="+mn-cs"/>
                          <a:sym typeface="Arial"/>
                        </a:rPr>
                        <a:t>memory model where the identity of a segment being accessed must be</a:t>
                      </a:r>
                    </a:p>
                    <a:p>
                      <a:r>
                        <a:rPr lang="en-US" sz="1000" b="0" i="0" u="none" strike="noStrike" cap="none" baseline="0" dirty="0">
                          <a:solidFill>
                            <a:schemeClr val="dk1"/>
                          </a:solidFill>
                          <a:latin typeface="+mn-lt"/>
                          <a:ea typeface="+mn-ea"/>
                          <a:cs typeface="+mn-cs"/>
                          <a:sym typeface="Arial"/>
                        </a:rPr>
                        <a:t>specified explicitly.</a:t>
                      </a:r>
                      <a:endParaRPr lang="en-IN" sz="10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495417200"/>
                  </a:ext>
                </a:extLst>
              </a:tr>
              <a:tr h="490307">
                <a:tc>
                  <a:txBody>
                    <a:bodyPr/>
                    <a:lstStyle/>
                    <a:p>
                      <a:r>
                        <a:rPr lang="en-IN" sz="1000" b="0" i="0" u="none" strike="noStrike" cap="none" baseline="0" dirty="0">
                          <a:solidFill>
                            <a:schemeClr val="dk1"/>
                          </a:solidFill>
                          <a:latin typeface="+mn-lt"/>
                          <a:ea typeface="+mn-ea"/>
                          <a:cs typeface="+mn-cs"/>
                          <a:sym typeface="Arial"/>
                        </a:rPr>
                        <a:t>Bit field</a:t>
                      </a:r>
                      <a:endParaRPr lang="en-IN" sz="10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000" b="0" i="0" u="none" strike="noStrike" cap="none" baseline="0" dirty="0">
                          <a:solidFill>
                            <a:schemeClr val="dk1"/>
                          </a:solidFill>
                          <a:latin typeface="+mn-lt"/>
                          <a:ea typeface="+mn-ea"/>
                          <a:cs typeface="+mn-cs"/>
                          <a:sym typeface="Arial"/>
                        </a:rPr>
                        <a:t>A contiguous sequence of bits in which the position of each bit is considered</a:t>
                      </a:r>
                    </a:p>
                    <a:p>
                      <a:r>
                        <a:rPr lang="en-US" sz="1000" b="0" i="0" u="none" strike="noStrike" cap="none" baseline="0" dirty="0">
                          <a:solidFill>
                            <a:schemeClr val="dk1"/>
                          </a:solidFill>
                          <a:latin typeface="+mn-lt"/>
                          <a:ea typeface="+mn-ea"/>
                          <a:cs typeface="+mn-cs"/>
                          <a:sym typeface="Arial"/>
                        </a:rPr>
                        <a:t>as an independent unit. A bit string can begin at any bit position of any byte</a:t>
                      </a:r>
                    </a:p>
                    <a:p>
                      <a:r>
                        <a:rPr lang="en-US" sz="1000" b="0" i="0" u="none" strike="noStrike" cap="none" baseline="0" dirty="0">
                          <a:solidFill>
                            <a:schemeClr val="dk1"/>
                          </a:solidFill>
                          <a:latin typeface="+mn-lt"/>
                          <a:ea typeface="+mn-ea"/>
                          <a:cs typeface="+mn-cs"/>
                          <a:sym typeface="Arial"/>
                        </a:rPr>
                        <a:t>and can contain up to 32 bits.</a:t>
                      </a:r>
                      <a:endParaRPr lang="en-IN" sz="10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088829845"/>
                  </a:ext>
                </a:extLst>
              </a:tr>
              <a:tr h="415850">
                <a:tc>
                  <a:txBody>
                    <a:bodyPr/>
                    <a:lstStyle/>
                    <a:p>
                      <a:r>
                        <a:rPr lang="en-IN" sz="1000" b="0" i="0" u="none" strike="noStrike" cap="none" baseline="0" dirty="0">
                          <a:solidFill>
                            <a:schemeClr val="dk1"/>
                          </a:solidFill>
                          <a:latin typeface="+mn-lt"/>
                          <a:ea typeface="+mn-ea"/>
                          <a:cs typeface="+mn-cs"/>
                          <a:sym typeface="Arial"/>
                        </a:rPr>
                        <a:t>Bit string</a:t>
                      </a:r>
                      <a:endParaRPr lang="en-IN" sz="10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000" b="0" i="0" u="none" strike="noStrike" cap="none" baseline="0" dirty="0">
                          <a:solidFill>
                            <a:schemeClr val="dk1"/>
                          </a:solidFill>
                          <a:latin typeface="+mn-lt"/>
                          <a:ea typeface="+mn-ea"/>
                          <a:cs typeface="+mn-cs"/>
                          <a:sym typeface="Arial"/>
                        </a:rPr>
                        <a:t>A contiguous sequence of bits, containing from zero to 2</a:t>
                      </a:r>
                      <a:r>
                        <a:rPr lang="en-US" sz="1000" b="0" i="0" u="none" strike="noStrike" cap="none" baseline="30000" dirty="0">
                          <a:solidFill>
                            <a:schemeClr val="dk1"/>
                          </a:solidFill>
                          <a:latin typeface="+mn-lt"/>
                          <a:ea typeface="+mn-ea"/>
                          <a:cs typeface="+mn-cs"/>
                          <a:sym typeface="Arial"/>
                        </a:rPr>
                        <a:t>23</a:t>
                      </a:r>
                      <a:r>
                        <a:rPr lang="en-US" sz="1000" b="0" i="0" u="none" strike="noStrike" cap="none" baseline="0" dirty="0">
                          <a:solidFill>
                            <a:schemeClr val="dk1"/>
                          </a:solidFill>
                          <a:latin typeface="+mn-lt"/>
                          <a:ea typeface="+mn-ea"/>
                          <a:cs typeface="+mn-cs"/>
                          <a:sym typeface="Arial"/>
                        </a:rPr>
                        <a:t> – 1 bits.</a:t>
                      </a:r>
                      <a:endParaRPr lang="en-IN" sz="10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650603847"/>
                  </a:ext>
                </a:extLst>
              </a:tr>
              <a:tr h="415850">
                <a:tc>
                  <a:txBody>
                    <a:bodyPr/>
                    <a:lstStyle/>
                    <a:p>
                      <a:r>
                        <a:rPr lang="en-IN" sz="1000" b="0" i="0" u="none" strike="noStrike" cap="none" baseline="0" dirty="0">
                          <a:solidFill>
                            <a:schemeClr val="dk1"/>
                          </a:solidFill>
                          <a:latin typeface="+mn-lt"/>
                          <a:ea typeface="+mn-ea"/>
                          <a:cs typeface="+mn-cs"/>
                          <a:sym typeface="Arial"/>
                        </a:rPr>
                        <a:t>Byte string</a:t>
                      </a:r>
                      <a:endParaRPr lang="en-IN" sz="10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000" b="0" i="0" u="none" strike="noStrike" cap="none" baseline="0" dirty="0">
                          <a:solidFill>
                            <a:schemeClr val="dk1"/>
                          </a:solidFill>
                          <a:latin typeface="+mn-lt"/>
                          <a:ea typeface="+mn-ea"/>
                          <a:cs typeface="+mn-cs"/>
                          <a:sym typeface="Arial"/>
                        </a:rPr>
                        <a:t>A contiguous sequence of bytes, words, or </a:t>
                      </a:r>
                      <a:r>
                        <a:rPr lang="en-US" sz="1000" b="0" i="0" u="none" strike="noStrike" cap="none" baseline="0" dirty="0" err="1">
                          <a:solidFill>
                            <a:schemeClr val="dk1"/>
                          </a:solidFill>
                          <a:latin typeface="+mn-lt"/>
                          <a:ea typeface="+mn-ea"/>
                          <a:cs typeface="+mn-cs"/>
                          <a:sym typeface="Arial"/>
                        </a:rPr>
                        <a:t>doublewords</a:t>
                      </a:r>
                      <a:r>
                        <a:rPr lang="en-US" sz="1000" b="0" i="0" u="none" strike="noStrike" cap="none" baseline="0" dirty="0">
                          <a:solidFill>
                            <a:schemeClr val="dk1"/>
                          </a:solidFill>
                          <a:latin typeface="+mn-lt"/>
                          <a:ea typeface="+mn-ea"/>
                          <a:cs typeface="+mn-cs"/>
                          <a:sym typeface="Arial"/>
                        </a:rPr>
                        <a:t>, containing from</a:t>
                      </a:r>
                    </a:p>
                    <a:p>
                      <a:r>
                        <a:rPr lang="en-US" sz="1000" b="0" i="0" u="none" strike="noStrike" cap="none" baseline="0" dirty="0">
                          <a:solidFill>
                            <a:schemeClr val="dk1"/>
                          </a:solidFill>
                          <a:latin typeface="+mn-lt"/>
                          <a:ea typeface="+mn-ea"/>
                          <a:cs typeface="+mn-cs"/>
                          <a:sym typeface="Arial"/>
                        </a:rPr>
                        <a:t>zero to 2</a:t>
                      </a:r>
                      <a:r>
                        <a:rPr lang="en-US" sz="1000" b="0" i="0" u="none" strike="noStrike" cap="none" baseline="30000" dirty="0">
                          <a:solidFill>
                            <a:schemeClr val="dk1"/>
                          </a:solidFill>
                          <a:latin typeface="+mn-lt"/>
                          <a:ea typeface="+mn-ea"/>
                          <a:cs typeface="+mn-cs"/>
                          <a:sym typeface="Arial"/>
                        </a:rPr>
                        <a:t>23</a:t>
                      </a:r>
                      <a:r>
                        <a:rPr lang="en-US" sz="1000" b="0" i="0" u="none" strike="noStrike" cap="none" baseline="0" dirty="0">
                          <a:solidFill>
                            <a:schemeClr val="dk1"/>
                          </a:solidFill>
                          <a:latin typeface="+mn-lt"/>
                          <a:ea typeface="+mn-ea"/>
                          <a:cs typeface="+mn-cs"/>
                          <a:sym typeface="Arial"/>
                        </a:rPr>
                        <a:t> – 1 bytes.</a:t>
                      </a:r>
                      <a:endParaRPr lang="en-IN" sz="10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2693729218"/>
                  </a:ext>
                </a:extLst>
              </a:tr>
              <a:tr h="394115">
                <a:tc>
                  <a:txBody>
                    <a:bodyPr/>
                    <a:lstStyle/>
                    <a:p>
                      <a:r>
                        <a:rPr lang="en-IN" sz="1000" b="0" i="0" u="none" strike="noStrike" cap="none" baseline="0" dirty="0">
                          <a:solidFill>
                            <a:schemeClr val="dk1"/>
                          </a:solidFill>
                          <a:latin typeface="+mn-lt"/>
                          <a:ea typeface="+mn-ea"/>
                          <a:cs typeface="+mn-cs"/>
                          <a:sym typeface="Arial"/>
                        </a:rPr>
                        <a:t>Floating point</a:t>
                      </a:r>
                      <a:endParaRPr lang="en-IN" sz="10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000" b="0" i="0" u="none" strike="noStrike" cap="none" baseline="0" dirty="0">
                          <a:solidFill>
                            <a:schemeClr val="dk1"/>
                          </a:solidFill>
                          <a:latin typeface="+mn-lt"/>
                          <a:ea typeface="+mn-ea"/>
                          <a:cs typeface="+mn-cs"/>
                          <a:sym typeface="Arial"/>
                        </a:rPr>
                        <a:t>See Figure 13.4.</a:t>
                      </a:r>
                      <a:endParaRPr lang="en-IN" sz="10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008297481"/>
                  </a:ext>
                </a:extLst>
              </a:tr>
              <a:tr h="359558">
                <a:tc>
                  <a:txBody>
                    <a:bodyPr/>
                    <a:lstStyle/>
                    <a:p>
                      <a:r>
                        <a:rPr lang="en-IN" sz="1000" b="0" i="0" u="none" strike="noStrike" cap="none" baseline="0" dirty="0">
                          <a:solidFill>
                            <a:schemeClr val="dk1"/>
                          </a:solidFill>
                          <a:latin typeface="+mn-lt"/>
                          <a:ea typeface="+mn-ea"/>
                          <a:cs typeface="+mn-cs"/>
                          <a:sym typeface="Arial"/>
                        </a:rPr>
                        <a:t>Packed SIMD (single</a:t>
                      </a:r>
                    </a:p>
                    <a:p>
                      <a:r>
                        <a:rPr lang="en-IN" sz="1000" b="0" i="0" u="none" strike="noStrike" cap="none" baseline="0" dirty="0">
                          <a:solidFill>
                            <a:schemeClr val="dk1"/>
                          </a:solidFill>
                          <a:latin typeface="+mn-lt"/>
                          <a:ea typeface="+mn-ea"/>
                          <a:cs typeface="+mn-cs"/>
                          <a:sym typeface="Arial"/>
                        </a:rPr>
                        <a:t>instruction, multiple data)</a:t>
                      </a:r>
                      <a:endParaRPr lang="en-IN" sz="10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1000" b="0" i="0" u="none" strike="noStrike" cap="none" baseline="0" dirty="0">
                          <a:solidFill>
                            <a:schemeClr val="dk1"/>
                          </a:solidFill>
                          <a:latin typeface="+mn-lt"/>
                          <a:ea typeface="+mn-ea"/>
                          <a:cs typeface="+mn-cs"/>
                          <a:sym typeface="Arial"/>
                        </a:rPr>
                        <a:t>Packed 64-bit and 128-bit data types.</a:t>
                      </a:r>
                      <a:endParaRPr lang="en-IN" sz="10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1923169786"/>
                  </a:ext>
                </a:extLst>
              </a:tr>
            </a:tbl>
          </a:graphicData>
        </a:graphic>
      </p:graphicFrame>
      <p:sp>
        <p:nvSpPr>
          <p:cNvPr id="6" name="TextBox 5"/>
          <p:cNvSpPr txBox="1"/>
          <p:nvPr/>
        </p:nvSpPr>
        <p:spPr>
          <a:xfrm>
            <a:off x="6474088" y="5682580"/>
            <a:ext cx="2536720" cy="523220"/>
          </a:xfrm>
          <a:prstGeom prst="rect">
            <a:avLst/>
          </a:prstGeom>
          <a:noFill/>
        </p:spPr>
        <p:txBody>
          <a:bodyPr wrap="none" rtlCol="0">
            <a:spAutoFit/>
          </a:bodyPr>
          <a:lstStyle/>
          <a:p>
            <a:r>
              <a:rPr lang="en-US" sz="1400" dirty="0"/>
              <a:t>(Table can be found on page 443</a:t>
            </a:r>
          </a:p>
          <a:p>
            <a:r>
              <a:rPr lang="en-US" sz="1400" dirty="0"/>
              <a:t>In the textbook)</a:t>
            </a:r>
          </a:p>
        </p:txBody>
      </p:sp>
    </p:spTree>
    <p:extLst>
      <p:ext uri="{BB962C8B-B14F-4D97-AF65-F5344CB8AC3E}">
        <p14:creationId xmlns:p14="http://schemas.microsoft.com/office/powerpoint/2010/main" val="37801201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243621"/>
            <a:ext cx="8229600" cy="1097279"/>
          </a:xfrm>
          <a:noFill/>
          <a:ln/>
        </p:spPr>
        <p:txBody>
          <a:bodyPr lIns="90488" tIns="44450" rIns="90488" bIns="44450"/>
          <a:lstStyle/>
          <a:p>
            <a:r>
              <a:rPr lang="en-US" dirty="0"/>
              <a:t>Figure 13.4 </a:t>
            </a:r>
            <a:br>
              <a:rPr lang="en-US" dirty="0"/>
            </a:br>
            <a:r>
              <a:rPr lang="en-US" dirty="0"/>
              <a:t>x86 Numeric Data Formats</a:t>
            </a:r>
          </a:p>
        </p:txBody>
      </p:sp>
      <p:pic>
        <p:nvPicPr>
          <p:cNvPr id="2" name="Picture 1" descr="Byte unsigned integer, indices 7 to 0. Word unsigned integer, indices 15 to 0. Double word unsigned integer, indices 31 to 0. Quad word unsigned integer, indices 63 to 0. A byte signed integer, twos complement, contains two components. sign and bit. The indices of the bit are 7 to 0. A word signed integer, twos complement, contains a sign and bit component. The indices of the bit component are from 15 to 0. A double word signed integer twos complement contains a sign and a bit component. The indices of the bit component are 31 to 0. A quad word unsigned integer, twos complement, contains a sign and bit component of indices 63 to 0. A half precision floating point contains a sign, bit component with value e x p, for indices 15 to 9, and a significand with indices 9 to 0. Single precision floating point contains a sign, bit component with value e x p and indices 31 to 22 and significand with indices 22 to 0. Double precision floating point contains a sign, bit with value e x p and indices 63 to 51 and significand of indices 51 to 0. Double extended precision floating point. contains a sign, bit with an exponent and indices from 79 to 63, integer bit of 63 and significand up to index 0." title="A diagram explains the various numeric data formats of X 86 processor."/>
          <p:cNvPicPr>
            <a:picLocks noChangeAspect="1"/>
          </p:cNvPicPr>
          <p:nvPr/>
        </p:nvPicPr>
        <p:blipFill rotWithShape="1">
          <a:blip r:embed="rId3">
            <a:extLst>
              <a:ext uri="{28A0092B-C50C-407E-A947-70E740481C1C}">
                <a14:useLocalDpi xmlns:a14="http://schemas.microsoft.com/office/drawing/2010/main" val="0"/>
              </a:ext>
            </a:extLst>
          </a:blip>
          <a:srcRect l="10257" t="6037" r="2564" b="17682"/>
          <a:stretch/>
        </p:blipFill>
        <p:spPr>
          <a:xfrm>
            <a:off x="2311063" y="1281517"/>
            <a:ext cx="4521875" cy="5120359"/>
          </a:xfrm>
          <a:prstGeom prst="rect">
            <a:avLst/>
          </a:prstGeom>
        </p:spPr>
      </p:pic>
    </p:spTree>
    <p:extLst>
      <p:ext uri="{BB962C8B-B14F-4D97-AF65-F5344CB8AC3E}">
        <p14:creationId xmlns:p14="http://schemas.microsoft.com/office/powerpoint/2010/main" val="197290997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4"/>
          <p:cNvSpPr>
            <a:spLocks noGrp="1" noChangeArrowheads="1"/>
          </p:cNvSpPr>
          <p:nvPr>
            <p:ph type="title"/>
          </p:nvPr>
        </p:nvSpPr>
        <p:spPr>
          <a:noFill/>
          <a:ln/>
        </p:spPr>
        <p:txBody>
          <a:bodyPr lIns="90488" tIns="44450" rIns="90488" bIns="44450"/>
          <a:lstStyle/>
          <a:p>
            <a:r>
              <a:rPr lang="en-US" dirty="0"/>
              <a:t>Single-Instruction-Multiple-Data (SIMD) Data Types</a:t>
            </a:r>
          </a:p>
        </p:txBody>
      </p:sp>
      <p:sp>
        <p:nvSpPr>
          <p:cNvPr id="34821" name="Rectangle 5"/>
          <p:cNvSpPr>
            <a:spLocks noGrp="1" noChangeArrowheads="1"/>
          </p:cNvSpPr>
          <p:nvPr>
            <p:ph type="body" idx="1"/>
          </p:nvPr>
        </p:nvSpPr>
        <p:spPr>
          <a:xfrm>
            <a:off x="457200" y="1659575"/>
            <a:ext cx="8229600" cy="4525963"/>
          </a:xfrm>
          <a:noFill/>
          <a:ln/>
        </p:spPr>
        <p:txBody>
          <a:bodyPr lIns="90488" tIns="44450" rIns="90488" bIns="44450">
            <a:normAutofit/>
          </a:bodyPr>
          <a:lstStyle/>
          <a:p>
            <a:pPr marL="296863" indent="-296863">
              <a:lnSpc>
                <a:spcPct val="80000"/>
              </a:lnSpc>
            </a:pPr>
            <a:r>
              <a:rPr lang="en-US" dirty="0"/>
              <a:t>Introduced to the x86 architecture as part of the extensions of the instruction set to optimize performance of multimedia applications</a:t>
            </a:r>
          </a:p>
          <a:p>
            <a:pPr marL="296863" indent="-296863">
              <a:lnSpc>
                <a:spcPct val="80000"/>
              </a:lnSpc>
            </a:pPr>
            <a:r>
              <a:rPr lang="en-US" dirty="0"/>
              <a:t>These extensions include MMX (multimedia extensions) and SSE (streaming SIMD extensions)</a:t>
            </a:r>
          </a:p>
          <a:p>
            <a:pPr marL="296863" indent="-296863">
              <a:lnSpc>
                <a:spcPct val="80000"/>
              </a:lnSpc>
            </a:pPr>
            <a:r>
              <a:rPr lang="en-US" dirty="0"/>
              <a:t>Data types:</a:t>
            </a:r>
          </a:p>
          <a:p>
            <a:pPr marL="617538" lvl="1" indent="-309563">
              <a:lnSpc>
                <a:spcPct val="80000"/>
              </a:lnSpc>
            </a:pPr>
            <a:r>
              <a:rPr lang="en-US" sz="2200" dirty="0"/>
              <a:t>Packed byte and packed byte integer</a:t>
            </a:r>
          </a:p>
          <a:p>
            <a:pPr marL="617538" lvl="1" indent="-309563">
              <a:lnSpc>
                <a:spcPct val="80000"/>
              </a:lnSpc>
            </a:pPr>
            <a:r>
              <a:rPr lang="en-US" sz="2200" dirty="0"/>
              <a:t>Packed word and packed word integer</a:t>
            </a:r>
          </a:p>
          <a:p>
            <a:pPr marL="617538" lvl="1" indent="-309563">
              <a:lnSpc>
                <a:spcPct val="80000"/>
              </a:lnSpc>
            </a:pPr>
            <a:r>
              <a:rPr lang="en-US" sz="2200" dirty="0"/>
              <a:t>Packed doubleword and packed doubleword integer</a:t>
            </a:r>
          </a:p>
          <a:p>
            <a:pPr marL="617538" lvl="1" indent="-309563">
              <a:lnSpc>
                <a:spcPct val="80000"/>
              </a:lnSpc>
            </a:pPr>
            <a:r>
              <a:rPr lang="en-US" sz="2200" dirty="0"/>
              <a:t>Packed quadword and packed quadword integer</a:t>
            </a:r>
          </a:p>
          <a:p>
            <a:pPr marL="617538" lvl="1" indent="-309563">
              <a:lnSpc>
                <a:spcPct val="80000"/>
              </a:lnSpc>
            </a:pPr>
            <a:r>
              <a:rPr lang="en-US" sz="2200" dirty="0"/>
              <a:t>Packed single-precision floating-point and packed double-precision floating-point</a:t>
            </a:r>
          </a:p>
        </p:txBody>
      </p:sp>
      <p:sp>
        <p:nvSpPr>
          <p:cNvPr id="2" name="TextBox 1">
            <a:extLst>
              <a:ext uri="{FF2B5EF4-FFF2-40B4-BE49-F238E27FC236}">
                <a16:creationId xmlns:a16="http://schemas.microsoft.com/office/drawing/2014/main" id="{4C1D0FA9-8217-437C-AFE0-2692187C822A}"/>
              </a:ext>
            </a:extLst>
          </p:cNvPr>
          <p:cNvSpPr txBox="1"/>
          <p:nvPr/>
        </p:nvSpPr>
        <p:spPr>
          <a:xfrm>
            <a:off x="7677387" y="5805264"/>
            <a:ext cx="1040670" cy="461665"/>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dirty="0">
                <a:hlinkClick r:id="rId3" action="ppaction://hlinksldjump"/>
              </a:rPr>
              <a:t>BACK</a:t>
            </a:r>
            <a:endParaRPr lang="en-MY" dirty="0"/>
          </a:p>
        </p:txBody>
      </p:sp>
    </p:spTree>
    <p:extLst>
      <p:ext uri="{BB962C8B-B14F-4D97-AF65-F5344CB8AC3E}">
        <p14:creationId xmlns:p14="http://schemas.microsoft.com/office/powerpoint/2010/main" val="2414343991"/>
      </p:ext>
    </p:extLst>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457200" y="188640"/>
            <a:ext cx="8229600" cy="681324"/>
          </a:xfrm>
        </p:spPr>
        <p:txBody>
          <a:bodyPr/>
          <a:lstStyle/>
          <a:p>
            <a:r>
              <a:rPr lang="en-GB" dirty="0"/>
              <a:t>ARM Data Types</a:t>
            </a:r>
          </a:p>
        </p:txBody>
      </p:sp>
      <p:graphicFrame>
        <p:nvGraphicFramePr>
          <p:cNvPr id="7" name="Content Placeholder 16"/>
          <p:cNvGraphicFramePr>
            <a:graphicFrameLocks/>
          </p:cNvGraphicFramePr>
          <p:nvPr/>
        </p:nvGraphicFramePr>
        <p:xfrm>
          <a:off x="115455" y="782782"/>
          <a:ext cx="9144000" cy="5638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1105937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247922"/>
            <a:ext cx="8229600" cy="1606527"/>
          </a:xfrm>
          <a:noFill/>
          <a:ln/>
        </p:spPr>
        <p:txBody>
          <a:bodyPr lIns="90488" tIns="44450" rIns="90488" bIns="44450"/>
          <a:lstStyle/>
          <a:p>
            <a:r>
              <a:rPr lang="en-US" dirty="0"/>
              <a:t>Figure 13.5 </a:t>
            </a:r>
            <a:br>
              <a:rPr lang="en-US" dirty="0"/>
            </a:br>
            <a:r>
              <a:rPr lang="en-US" dirty="0"/>
              <a:t>ARM Endian Support—Word Load/Store with E-Bit</a:t>
            </a:r>
          </a:p>
        </p:txBody>
      </p:sp>
      <p:pic>
        <p:nvPicPr>
          <p:cNvPr id="4" name="Picture 3" descr="The data bytes in memory, with ascending address values from byte 0 to byte 3, are as follows. Byte 3, Byte 2, byte 1 and byte 0. Two A R M registers are displayed with indices 31 to 0. The program status register E dash bit equals 0 for the A R M register on the left. The program status register E dash bit equals 1 for the A R M register on the right. Bytes 3, 2 1 and 0 of the memory address are directed towards their corresponding bytes 3, 2, 1 and 0 of both the A R M registers." title="A diagram explains the concept of A R M Endian support with reference to the word Load store with E Bit."/>
          <p:cNvPicPr>
            <a:picLocks noChangeAspect="1"/>
          </p:cNvPicPr>
          <p:nvPr/>
        </p:nvPicPr>
        <p:blipFill rotWithShape="1">
          <a:blip r:embed="rId3">
            <a:extLst>
              <a:ext uri="{28A0092B-C50C-407E-A947-70E740481C1C}">
                <a14:useLocalDpi xmlns:a14="http://schemas.microsoft.com/office/drawing/2010/main" val="0"/>
              </a:ext>
            </a:extLst>
          </a:blip>
          <a:srcRect l="6075" t="28131" r="8621" b="33417"/>
          <a:stretch/>
        </p:blipFill>
        <p:spPr>
          <a:xfrm>
            <a:off x="683568" y="1772817"/>
            <a:ext cx="7776864" cy="4536503"/>
          </a:xfrm>
          <a:prstGeom prst="rect">
            <a:avLst/>
          </a:prstGeom>
        </p:spPr>
      </p:pic>
      <p:sp>
        <p:nvSpPr>
          <p:cNvPr id="5" name="TextBox 4">
            <a:extLst>
              <a:ext uri="{FF2B5EF4-FFF2-40B4-BE49-F238E27FC236}">
                <a16:creationId xmlns:a16="http://schemas.microsoft.com/office/drawing/2014/main" id="{0C3531BE-2A6B-444B-9657-49C9CB0B64DC}"/>
              </a:ext>
            </a:extLst>
          </p:cNvPr>
          <p:cNvSpPr txBox="1"/>
          <p:nvPr/>
        </p:nvSpPr>
        <p:spPr>
          <a:xfrm>
            <a:off x="7884368" y="6290559"/>
            <a:ext cx="1040670" cy="461665"/>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dirty="0">
                <a:hlinkClick r:id="rId4" action="ppaction://hlinksldjump"/>
              </a:rPr>
              <a:t>BACK</a:t>
            </a:r>
            <a:endParaRPr lang="en-MY" dirty="0"/>
          </a:p>
        </p:txBody>
      </p:sp>
    </p:spTree>
    <p:extLst>
      <p:ext uri="{BB962C8B-B14F-4D97-AF65-F5344CB8AC3E}">
        <p14:creationId xmlns:p14="http://schemas.microsoft.com/office/powerpoint/2010/main" val="272750363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
          <p:cNvSpPr>
            <a:spLocks noGrp="1" noChangeArrowheads="1"/>
          </p:cNvSpPr>
          <p:nvPr>
            <p:ph type="title"/>
          </p:nvPr>
        </p:nvSpPr>
        <p:spPr>
          <a:xfrm>
            <a:off x="6416220" y="255199"/>
            <a:ext cx="2884425" cy="3130668"/>
          </a:xfrm>
          <a:noFill/>
          <a:ln/>
        </p:spPr>
        <p:txBody>
          <a:bodyPr lIns="90488" tIns="44450" rIns="90488" bIns="44450"/>
          <a:lstStyle/>
          <a:p>
            <a:pPr algn="ctr"/>
            <a:r>
              <a:rPr lang="en-US" dirty="0"/>
              <a:t>Table 13.3 </a:t>
            </a:r>
            <a:br>
              <a:rPr lang="en-US" dirty="0"/>
            </a:br>
            <a:r>
              <a:rPr lang="en-US" dirty="0"/>
              <a:t>Common x86 Instruction Set Operations</a:t>
            </a:r>
            <a:br>
              <a:rPr lang="en-US" dirty="0"/>
            </a:br>
            <a:r>
              <a:rPr lang="en-US" dirty="0"/>
              <a:t>(1 of 3)</a:t>
            </a:r>
          </a:p>
        </p:txBody>
      </p:sp>
      <p:graphicFrame>
        <p:nvGraphicFramePr>
          <p:cNvPr id="7" name="Table 6" descr="The information will be presented in the order, operation name, description. List one, data transfer. 1. M O V d e s t, source. Move data between registers or between register and memory or immediate to register. 2. X C H G O p 1, O p 2. Swap contents between two registers or register and memory. 3. PUSH Source. Decrements stack pointer, the E S P register, then copies the source operand to the top of stack. P O P D e s t Copies top of stack to destination and increments E S P. List 2, arithmetic. 1. A D D d e s t, source. Adds the destination and the source operand and stores the result in the destination. Destination can be register or memory. Source can be register, memory, or immediate. 2. SUB d e s t, source. 2. Subtracts the source from the destination and stores the result in the destination. 3. M U L O p. Unsigned integer multiplication of the operand by the A L, A X, or E A X register and stores in the register. Opcode indicates size of register. 4. I M U L O p. Signed integer multiplication. 5. D I V O p, Divides unsigned the value in the A X, D X colon A X, E D X colon E A X, or R D X colon R A X registers, the dividend, by the source operand, the divisor, and stores the result in the A X, which is A H colon A L, D X colon A X, E D X colon E A X, or R D X colon R A X registers. 6. I D I V O p. signed integer division. 7. I N C O p. Adds 1 to the destination operand, while preserving the state of the C F flag. 8. D E C O p. Subtracts 1 from the destination operand, while preserving the state of the C F flag. 9. N E G O p. Replaces the value of operand with, 0 minus operand, using twos complement representation. 10. C M P O p 1, O p 2. Compares the two operands by subtracting the second operand from the first operand and sets the status flags in the E F L A G S register according to the results. List 3 is titled shift and rotate. It reads as follows. 1. S A L O p, Quantity. Shifts the source operand left by from 1 to 31 bit positions. Empty bit positions are cleared. The C F flag is loaded with the last bit shifted out of the operand. 2. S A R O p, Quantity. Shifts the source operand right by from 1 to 31 bit positions. Empty bit positions are cleared if the operand is positive and set if the operand is negative. The C F flag is loaded with the last bit shifted out of the operand. 3. S H R O p, Quantity. Shifts the source operand right by from 1 to 31 bit positions. Empty bit positions are cleared, and the CF flag is loaded with the last bit shifted out of the operand. 4. R O L O p, Quantity. Rotate bits to the left, with wraparound. The C F flag is loaded with the last bit shifted out of the operand. 5. R O R O p, Quantity. Rotate bits to the right, with wraparound. The C F flag is loaded with the last bit shifted out of the operand. 6. R C L O p, Quantity. Rotate bits to the left, including the C F flag, with wraparound. This instruction treats the C F flag as a one-bit extension on the upper end of the operand. 7. R C R O p, Quantity Rotate bits to the right, including the C F flag, with wraparound. This instruction treats the C F flag as a one-bit extension on the lower end of the operand. The fourth list is titled, logical. 1. NOT O p. Inverts each bit of the operand. 2. AND D e s t, Source Performs a bitwise AND operation on the destination and source operands and stores the result in the destination operand. 3. OR D e s t, Source. Performs a bitwise OR operation on the destination and source operands and stores the result in the destination operand. 4. X O R D e s t, Source. Performs a bitwise X O R operation on the destination and source operands and stores the result in the destination operand. 5. TEST O p 1, O p 2. Performs a bitwise AND operation on the two operands and sets the S, Z, and P status flags. The operands are unchanged." title="A series of lists labeled, data transfer, arithmetic, shift and rotate, and logical."/>
          <p:cNvGraphicFramePr>
            <a:graphicFrameLocks noGrp="1"/>
          </p:cNvGraphicFramePr>
          <p:nvPr/>
        </p:nvGraphicFramePr>
        <p:xfrm>
          <a:off x="87549" y="332656"/>
          <a:ext cx="6500675" cy="1554410"/>
        </p:xfrm>
        <a:graphic>
          <a:graphicData uri="http://schemas.openxmlformats.org/drawingml/2006/table">
            <a:tbl>
              <a:tblPr firstRow="1" bandRow="1">
                <a:tableStyleId>{5C22544A-7EE6-4342-B048-85BDC9FD1C3A}</a:tableStyleId>
              </a:tblPr>
              <a:tblGrid>
                <a:gridCol w="1748147">
                  <a:extLst>
                    <a:ext uri="{9D8B030D-6E8A-4147-A177-3AD203B41FA5}">
                      <a16:colId xmlns:a16="http://schemas.microsoft.com/office/drawing/2014/main" val="3102758518"/>
                    </a:ext>
                  </a:extLst>
                </a:gridCol>
                <a:gridCol w="4752528">
                  <a:extLst>
                    <a:ext uri="{9D8B030D-6E8A-4147-A177-3AD203B41FA5}">
                      <a16:colId xmlns:a16="http://schemas.microsoft.com/office/drawing/2014/main" val="2543019389"/>
                    </a:ext>
                  </a:extLst>
                </a:gridCol>
              </a:tblGrid>
              <a:tr h="229690">
                <a:tc>
                  <a:txBody>
                    <a:bodyPr/>
                    <a:lstStyle/>
                    <a:p>
                      <a:pPr algn="l"/>
                      <a:r>
                        <a:rPr lang="en-IN" sz="1100" b="1" i="0" u="none" strike="noStrike" cap="none" baseline="0" dirty="0">
                          <a:solidFill>
                            <a:schemeClr val="tx1"/>
                          </a:solidFill>
                          <a:latin typeface="+mn-lt"/>
                          <a:ea typeface="+mn-ea"/>
                          <a:cs typeface="+mn-cs"/>
                          <a:sym typeface="Arial"/>
                        </a:rPr>
                        <a:t>Operation Name</a:t>
                      </a:r>
                      <a:endParaRPr lang="en-IN" sz="1100" b="1" dirty="0">
                        <a:solidFill>
                          <a:schemeClr val="tx1"/>
                        </a:solidFill>
                      </a:endParaRP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100" b="1" i="0" u="none" strike="noStrike" cap="none" baseline="0" dirty="0">
                          <a:solidFill>
                            <a:schemeClr val="tx1"/>
                          </a:solidFill>
                          <a:latin typeface="+mn-lt"/>
                          <a:ea typeface="+mn-ea"/>
                          <a:cs typeface="+mn-cs"/>
                          <a:sym typeface="Arial"/>
                        </a:rPr>
                        <a:t>Description</a:t>
                      </a:r>
                      <a:endParaRPr lang="en-IN" sz="1100" b="1" dirty="0">
                        <a:solidFill>
                          <a:schemeClr val="tx1"/>
                        </a:solidFill>
                      </a:endParaRP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717666487"/>
                  </a:ext>
                </a:extLst>
              </a:tr>
              <a:tr h="334565">
                <a:tc>
                  <a:txBody>
                    <a:bodyPr/>
                    <a:lstStyle/>
                    <a:p>
                      <a:pPr algn="l"/>
                      <a:r>
                        <a:rPr lang="en-IN" sz="1000" b="0" i="0" u="none" strike="noStrike" cap="none" baseline="0" dirty="0">
                          <a:solidFill>
                            <a:schemeClr val="dk1"/>
                          </a:solidFill>
                          <a:latin typeface="+mn-lt"/>
                          <a:ea typeface="+mn-ea"/>
                          <a:cs typeface="+mn-cs"/>
                          <a:sym typeface="Arial"/>
                        </a:rPr>
                        <a:t>MOV </a:t>
                      </a:r>
                      <a:r>
                        <a:rPr lang="en-IN" sz="1000" b="0" i="0" u="none" strike="noStrike" cap="none" baseline="0" dirty="0" err="1">
                          <a:solidFill>
                            <a:schemeClr val="dk1"/>
                          </a:solidFill>
                          <a:latin typeface="+mn-lt"/>
                          <a:ea typeface="+mn-ea"/>
                          <a:cs typeface="+mn-cs"/>
                          <a:sym typeface="Arial"/>
                        </a:rPr>
                        <a:t>Dest</a:t>
                      </a:r>
                      <a:r>
                        <a:rPr lang="en-IN" sz="1000" b="0" i="0" u="none" strike="noStrike" cap="none" baseline="0" dirty="0">
                          <a:solidFill>
                            <a:schemeClr val="dk1"/>
                          </a:solidFill>
                          <a:latin typeface="+mn-lt"/>
                          <a:ea typeface="+mn-ea"/>
                          <a:cs typeface="+mn-cs"/>
                          <a:sym typeface="Arial"/>
                        </a:rPr>
                        <a:t>, Source</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00" b="0" i="0" u="none" strike="noStrike" cap="none" baseline="0" dirty="0">
                          <a:solidFill>
                            <a:schemeClr val="dk1"/>
                          </a:solidFill>
                          <a:latin typeface="+mn-lt"/>
                          <a:ea typeface="+mn-ea"/>
                          <a:cs typeface="+mn-cs"/>
                          <a:sym typeface="Arial"/>
                        </a:rPr>
                        <a:t>Move data between registers or between register and memory or immediate to register.</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062764516"/>
                  </a:ext>
                </a:extLst>
              </a:tr>
              <a:tr h="208776">
                <a:tc>
                  <a:txBody>
                    <a:bodyPr/>
                    <a:lstStyle/>
                    <a:p>
                      <a:pPr algn="l"/>
                      <a:r>
                        <a:rPr lang="en-IN" sz="1000" b="0" i="0" u="none" strike="noStrike" cap="none" baseline="0" dirty="0">
                          <a:solidFill>
                            <a:schemeClr val="dk1"/>
                          </a:solidFill>
                          <a:latin typeface="+mn-lt"/>
                          <a:ea typeface="+mn-ea"/>
                          <a:cs typeface="+mn-cs"/>
                          <a:sym typeface="Arial"/>
                        </a:rPr>
                        <a:t>XCHG Op1, Op2</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0" i="0" u="none" strike="noStrike" cap="none" baseline="0" dirty="0">
                          <a:solidFill>
                            <a:schemeClr val="dk1"/>
                          </a:solidFill>
                          <a:latin typeface="+mn-lt"/>
                          <a:ea typeface="+mn-ea"/>
                          <a:cs typeface="+mn-cs"/>
                          <a:sym typeface="Arial"/>
                        </a:rPr>
                        <a:t>Swap contents between two registers or register and memory.</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801756320"/>
                  </a:ext>
                </a:extLst>
              </a:tr>
              <a:tr h="259010">
                <a:tc>
                  <a:txBody>
                    <a:bodyPr/>
                    <a:lstStyle/>
                    <a:p>
                      <a:pPr algn="l"/>
                      <a:r>
                        <a:rPr lang="en-IN" sz="1000" b="0" i="0" u="none" strike="noStrike" cap="none" baseline="0" dirty="0">
                          <a:solidFill>
                            <a:schemeClr val="dk1"/>
                          </a:solidFill>
                          <a:latin typeface="+mn-lt"/>
                          <a:ea typeface="+mn-ea"/>
                          <a:cs typeface="+mn-cs"/>
                          <a:sym typeface="Arial"/>
                        </a:rPr>
                        <a:t>PUSH Source</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00" b="0" i="0" u="none" strike="noStrike" cap="none" baseline="0" dirty="0">
                          <a:solidFill>
                            <a:schemeClr val="dk1"/>
                          </a:solidFill>
                          <a:latin typeface="+mn-lt"/>
                          <a:ea typeface="+mn-ea"/>
                          <a:cs typeface="+mn-cs"/>
                          <a:sym typeface="Arial"/>
                        </a:rPr>
                        <a:t>Decrements stack pointer (ESP register), then copies the source operand</a:t>
                      </a:r>
                      <a:br>
                        <a:rPr lang="en-US" sz="1000" b="0" i="0" u="none" strike="noStrike" cap="none" baseline="0" dirty="0">
                          <a:solidFill>
                            <a:schemeClr val="dk1"/>
                          </a:solidFill>
                          <a:latin typeface="+mn-lt"/>
                          <a:ea typeface="+mn-ea"/>
                          <a:cs typeface="+mn-cs"/>
                          <a:sym typeface="Arial"/>
                        </a:rPr>
                      </a:br>
                      <a:r>
                        <a:rPr lang="en-US" sz="1000" b="0" i="0" u="none" strike="noStrike" cap="none" baseline="0" dirty="0">
                          <a:solidFill>
                            <a:schemeClr val="dk1"/>
                          </a:solidFill>
                          <a:latin typeface="+mn-lt"/>
                          <a:ea typeface="+mn-ea"/>
                          <a:cs typeface="+mn-cs"/>
                          <a:sym typeface="Arial"/>
                        </a:rPr>
                        <a:t>to the top of stack.</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007438362"/>
                  </a:ext>
                </a:extLst>
              </a:tr>
              <a:tr h="259010">
                <a:tc>
                  <a:txBody>
                    <a:bodyPr/>
                    <a:lstStyle/>
                    <a:p>
                      <a:pPr algn="l"/>
                      <a:r>
                        <a:rPr lang="en-IN" sz="1000" dirty="0"/>
                        <a:t>POP </a:t>
                      </a:r>
                      <a:r>
                        <a:rPr lang="en-IN" sz="1000" dirty="0" err="1"/>
                        <a:t>Dest</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00" dirty="0"/>
                        <a:t>Copies top of stack to destination and increments ESP.</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590917915"/>
                  </a:ext>
                </a:extLst>
              </a:tr>
            </a:tbl>
          </a:graphicData>
        </a:graphic>
      </p:graphicFrame>
      <p:sp>
        <p:nvSpPr>
          <p:cNvPr id="2" name="TextBox 1"/>
          <p:cNvSpPr txBox="1"/>
          <p:nvPr/>
        </p:nvSpPr>
        <p:spPr>
          <a:xfrm>
            <a:off x="2555776" y="-30435"/>
            <a:ext cx="1737848" cy="338554"/>
          </a:xfrm>
          <a:prstGeom prst="rect">
            <a:avLst/>
          </a:prstGeom>
          <a:noFill/>
        </p:spPr>
        <p:txBody>
          <a:bodyPr wrap="none" rtlCol="0">
            <a:spAutoFit/>
          </a:bodyPr>
          <a:lstStyle/>
          <a:p>
            <a:r>
              <a:rPr lang="en-IN" sz="1600" dirty="0">
                <a:latin typeface="+mj-lt"/>
              </a:rPr>
              <a:t>(a) Data Transfer</a:t>
            </a:r>
          </a:p>
        </p:txBody>
      </p:sp>
      <p:graphicFrame>
        <p:nvGraphicFramePr>
          <p:cNvPr id="9" name="Table 8" descr="The information will be presented in the order, operation name, description. List one, data transfer. 1. M O V d e s t, source. Move data between registers or between register and memory or immediate to register. 2. X C H G O p 1, O p 2. Swap contents between two registers or register and memory. 3. PUSH Source. Decrements stack pointer, the E S P register, then copies the source operand to the top of stack. P O P D e s t Copies top of stack to destination and increments E S P. List 2, arithmetic. 1. A D D d e s t, source. Adds the destination and the source operand and stores the result in the destination. Destination can be register or memory. Source can be register, memory, or immediate. 2. SUB d e s t, source. 2. Subtracts the source from the destination and stores the result in the destination. 3. M U L O p. Unsigned integer multiplication of the operand by the A L, A X, or E A X register and stores in the register. Opcode indicates size of register. 4. I M U L O p. Signed integer multiplication. 5. D I V O p, Divides unsigned the value in the A X, D X colon A X, E D X colon E A X, or R D X colon R A X registers, the dividend, by the source operand, the divisor, and stores the result in the A X, which is A H colon A L, D X colon A X, E D X colon E A X, or R D X colon R A X registers. 6. I D I V O p. signed integer division. 7. I N C O p. Adds 1 to the destination operand, while preserving the state of the C F flag. 8. D E C O p. Subtracts 1 from the destination operand, while preserving the state of the C F flag. 9. N E G O p. Replaces the value of operand with, 0 minus operand, using twos complement representation. 10. C M P O p 1, O p 2. Compares the two operands by subtracting the second operand from the first operand and sets the status flags in the E F L A G S register according to the results. List 3 is titled shift and rotate. It reads as follows. 1. S A L O p, Quantity. Shifts the source operand left by from 1 to 31 bit positions. Empty bit positions are cleared. The C F flag is loaded with the last bit shifted out of the operand. 2. S A R O p, Quantity. Shifts the source operand right by from 1 to 31 bit positions. Empty bit positions are cleared if the operand is positive and set if the operand is negative. The C F flag is loaded with the last bit shifted out of the operand. 3. S H R O p, Quantity. Shifts the source operand right by from 1 to 31 bit positions. Empty bit positions are cleared, and the CF flag is loaded with the last bit shifted out of the operand. 4. R O L O p, Quantity. Rotate bits to the left, with wraparound. The C F flag is loaded with the last bit shifted out of the operand. 5. R O R O p, Quantity. Rotate bits to the right, with wraparound. The C F flag is loaded with the last bit shifted out of the operand. 6. R C L O p, Quantity. Rotate bits to the left, including the C F flag, with wraparound. This instruction treats the C F flag as a one-bit extension on the upper end of the operand. 7. R C R O p, Quantity Rotate bits to the right, including the C F flag, with wraparound. This instruction treats the C F flag as a one-bit extension on the lower end of the operand. The fourth list is titled, logical. 1. NOT O p. Inverts each bit of the operand. 2. AND D e s t, Source Performs a bitwise AND operation on the destination and source operands and stores the result in the destination operand. 3. OR D e s t, Source. Performs a bitwise OR operation on the destination and source operands and stores the result in the destination operand. 4. X O R D e s t, Source. Performs a bitwise X O R operation on the destination and source operands and stores the result in the destination operand. 5. TEST O p 1, O p 2. Performs a bitwise AND operation on the two operands and sets the S, Z, and P status flags. The operands are unchanged." title="A series of lists labeled, data transfer, arithmetic, shift and rotate, and logical."/>
          <p:cNvGraphicFramePr>
            <a:graphicFrameLocks noGrp="1"/>
          </p:cNvGraphicFramePr>
          <p:nvPr/>
        </p:nvGraphicFramePr>
        <p:xfrm>
          <a:off x="87549" y="2326378"/>
          <a:ext cx="6500675" cy="4015709"/>
        </p:xfrm>
        <a:graphic>
          <a:graphicData uri="http://schemas.openxmlformats.org/drawingml/2006/table">
            <a:tbl>
              <a:tblPr firstRow="1" bandRow="1">
                <a:tableStyleId>{5C22544A-7EE6-4342-B048-85BDC9FD1C3A}</a:tableStyleId>
              </a:tblPr>
              <a:tblGrid>
                <a:gridCol w="1748147">
                  <a:extLst>
                    <a:ext uri="{9D8B030D-6E8A-4147-A177-3AD203B41FA5}">
                      <a16:colId xmlns:a16="http://schemas.microsoft.com/office/drawing/2014/main" val="3102758518"/>
                    </a:ext>
                  </a:extLst>
                </a:gridCol>
                <a:gridCol w="4752528">
                  <a:extLst>
                    <a:ext uri="{9D8B030D-6E8A-4147-A177-3AD203B41FA5}">
                      <a16:colId xmlns:a16="http://schemas.microsoft.com/office/drawing/2014/main" val="2543019389"/>
                    </a:ext>
                  </a:extLst>
                </a:gridCol>
              </a:tblGrid>
              <a:tr h="239356">
                <a:tc>
                  <a:txBody>
                    <a:bodyPr/>
                    <a:lstStyle/>
                    <a:p>
                      <a:pPr algn="l"/>
                      <a:r>
                        <a:rPr lang="en-IN" sz="1100" b="1" i="0" u="none" strike="noStrike" cap="none" baseline="0" dirty="0">
                          <a:solidFill>
                            <a:schemeClr val="tx1"/>
                          </a:solidFill>
                          <a:latin typeface="+mn-lt"/>
                          <a:ea typeface="+mn-ea"/>
                          <a:cs typeface="+mn-cs"/>
                          <a:sym typeface="Arial"/>
                        </a:rPr>
                        <a:t>Operation Name</a:t>
                      </a:r>
                      <a:endParaRPr lang="en-IN" sz="1100" b="1" dirty="0">
                        <a:solidFill>
                          <a:schemeClr val="tx1"/>
                        </a:solidFill>
                      </a:endParaRP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100" b="1" i="0" u="none" strike="noStrike" cap="none" baseline="0" dirty="0">
                          <a:solidFill>
                            <a:schemeClr val="tx1"/>
                          </a:solidFill>
                          <a:latin typeface="+mn-lt"/>
                          <a:ea typeface="+mn-ea"/>
                          <a:cs typeface="+mn-cs"/>
                          <a:sym typeface="Arial"/>
                        </a:rPr>
                        <a:t>Description</a:t>
                      </a:r>
                      <a:endParaRPr lang="en-IN" sz="1100" b="1" dirty="0">
                        <a:solidFill>
                          <a:schemeClr val="tx1"/>
                        </a:solidFill>
                      </a:endParaRP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717666487"/>
                  </a:ext>
                </a:extLst>
              </a:tr>
              <a:tr h="647669">
                <a:tc>
                  <a:txBody>
                    <a:bodyPr/>
                    <a:lstStyle/>
                    <a:p>
                      <a:pPr algn="l"/>
                      <a:r>
                        <a:rPr lang="en-IN" sz="1000" b="0" i="0" u="none" strike="noStrike" cap="none" baseline="0" dirty="0">
                          <a:solidFill>
                            <a:schemeClr val="dk1"/>
                          </a:solidFill>
                          <a:latin typeface="+mn-lt"/>
                          <a:ea typeface="+mn-ea"/>
                          <a:cs typeface="+mn-cs"/>
                          <a:sym typeface="Arial"/>
                        </a:rPr>
                        <a:t>ADD </a:t>
                      </a:r>
                      <a:r>
                        <a:rPr lang="en-IN" sz="1000" b="0" i="0" u="none" strike="noStrike" cap="none" baseline="0" dirty="0" err="1">
                          <a:solidFill>
                            <a:schemeClr val="dk1"/>
                          </a:solidFill>
                          <a:latin typeface="+mn-lt"/>
                          <a:ea typeface="+mn-ea"/>
                          <a:cs typeface="+mn-cs"/>
                          <a:sym typeface="Arial"/>
                        </a:rPr>
                        <a:t>Dest</a:t>
                      </a:r>
                      <a:r>
                        <a:rPr lang="en-IN" sz="1000" b="0" i="0" u="none" strike="noStrike" cap="none" baseline="0" dirty="0">
                          <a:solidFill>
                            <a:schemeClr val="dk1"/>
                          </a:solidFill>
                          <a:latin typeface="+mn-lt"/>
                          <a:ea typeface="+mn-ea"/>
                          <a:cs typeface="+mn-cs"/>
                          <a:sym typeface="Arial"/>
                        </a:rPr>
                        <a:t>, Source</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00" b="0" i="0" u="none" strike="noStrike" cap="none" baseline="0" dirty="0">
                          <a:solidFill>
                            <a:schemeClr val="dk1"/>
                          </a:solidFill>
                          <a:latin typeface="+mn-lt"/>
                          <a:ea typeface="+mn-ea"/>
                          <a:cs typeface="+mn-cs"/>
                          <a:sym typeface="Arial"/>
                        </a:rPr>
                        <a:t>Adds the destination and the source operand and stores the result in the destination. Destination can be register or memory. Source can be register, memory, or immediate.</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062764516"/>
                  </a:ext>
                </a:extLst>
              </a:tr>
              <a:tr h="225276">
                <a:tc>
                  <a:txBody>
                    <a:bodyPr/>
                    <a:lstStyle/>
                    <a:p>
                      <a:pPr algn="l"/>
                      <a:r>
                        <a:rPr lang="en-IN" sz="1000" b="0" i="0" u="none" strike="noStrike" cap="none" baseline="0" dirty="0">
                          <a:solidFill>
                            <a:schemeClr val="dk1"/>
                          </a:solidFill>
                          <a:latin typeface="+mn-lt"/>
                          <a:ea typeface="+mn-ea"/>
                          <a:cs typeface="+mn-cs"/>
                          <a:sym typeface="Arial"/>
                        </a:rPr>
                        <a:t>SUB </a:t>
                      </a:r>
                      <a:r>
                        <a:rPr lang="en-IN" sz="1000" b="0" i="0" u="none" strike="noStrike" cap="none" baseline="0" dirty="0" err="1">
                          <a:solidFill>
                            <a:schemeClr val="dk1"/>
                          </a:solidFill>
                          <a:latin typeface="+mn-lt"/>
                          <a:ea typeface="+mn-ea"/>
                          <a:cs typeface="+mn-cs"/>
                          <a:sym typeface="Arial"/>
                        </a:rPr>
                        <a:t>Dest</a:t>
                      </a:r>
                      <a:r>
                        <a:rPr lang="en-IN" sz="1000" b="0" i="0" u="none" strike="noStrike" cap="none" baseline="0" dirty="0">
                          <a:solidFill>
                            <a:schemeClr val="dk1"/>
                          </a:solidFill>
                          <a:latin typeface="+mn-lt"/>
                          <a:ea typeface="+mn-ea"/>
                          <a:cs typeface="+mn-cs"/>
                          <a:sym typeface="Arial"/>
                        </a:rPr>
                        <a:t>, Source</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0" i="0" u="none" strike="noStrike" cap="none" baseline="0" dirty="0">
                          <a:solidFill>
                            <a:schemeClr val="dk1"/>
                          </a:solidFill>
                          <a:latin typeface="+mn-lt"/>
                          <a:ea typeface="+mn-ea"/>
                          <a:cs typeface="+mn-cs"/>
                          <a:sym typeface="Arial"/>
                        </a:rPr>
                        <a:t>Subtracts the source from the destination and stores the result in the destination.</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801756320"/>
                  </a:ext>
                </a:extLst>
              </a:tr>
              <a:tr h="366074">
                <a:tc>
                  <a:txBody>
                    <a:bodyPr/>
                    <a:lstStyle/>
                    <a:p>
                      <a:pPr algn="l"/>
                      <a:r>
                        <a:rPr lang="en-IN" sz="1000" b="0" i="0" u="none" strike="noStrike" cap="none" baseline="0" dirty="0">
                          <a:solidFill>
                            <a:schemeClr val="dk1"/>
                          </a:solidFill>
                          <a:latin typeface="+mn-lt"/>
                          <a:ea typeface="+mn-ea"/>
                          <a:cs typeface="+mn-cs"/>
                          <a:sym typeface="Arial"/>
                        </a:rPr>
                        <a:t>MUL Op</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00" b="0" i="0" u="none" strike="noStrike" cap="none" baseline="0" dirty="0">
                          <a:solidFill>
                            <a:schemeClr val="dk1"/>
                          </a:solidFill>
                          <a:latin typeface="+mn-lt"/>
                          <a:ea typeface="+mn-ea"/>
                          <a:cs typeface="+mn-cs"/>
                          <a:sym typeface="Arial"/>
                        </a:rPr>
                        <a:t>Unsigned integer multiplication of the operand by the AL, AX, or EAX register and</a:t>
                      </a:r>
                    </a:p>
                    <a:p>
                      <a:pPr algn="l"/>
                      <a:r>
                        <a:rPr lang="en-US" sz="1000" b="0" i="0" u="none" strike="noStrike" cap="none" baseline="0" dirty="0">
                          <a:solidFill>
                            <a:schemeClr val="dk1"/>
                          </a:solidFill>
                          <a:latin typeface="+mn-lt"/>
                          <a:ea typeface="+mn-ea"/>
                          <a:cs typeface="+mn-cs"/>
                          <a:sym typeface="Arial"/>
                        </a:rPr>
                        <a:t>stores in the register. Opcode indicates size of register.</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007438362"/>
                  </a:ext>
                </a:extLst>
              </a:tr>
              <a:tr h="225276">
                <a:tc>
                  <a:txBody>
                    <a:bodyPr/>
                    <a:lstStyle/>
                    <a:p>
                      <a:pPr algn="l"/>
                      <a:r>
                        <a:rPr lang="en-IN" sz="1000" dirty="0"/>
                        <a:t>IMUL Op</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00" dirty="0"/>
                        <a:t>Signed integer multiplication.</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590917915"/>
                  </a:ext>
                </a:extLst>
              </a:tr>
              <a:tr h="506872">
                <a:tc>
                  <a:txBody>
                    <a:bodyPr/>
                    <a:lstStyle/>
                    <a:p>
                      <a:pPr algn="l"/>
                      <a:r>
                        <a:rPr lang="en-IN" sz="1000" dirty="0"/>
                        <a:t>DIV Op</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00" dirty="0"/>
                        <a:t>Divides unsigned the value in the AX, DX:AX, EDX:EAX, or RDX:RAX registers</a:t>
                      </a:r>
                    </a:p>
                    <a:p>
                      <a:pPr algn="l"/>
                      <a:r>
                        <a:rPr lang="en-US" sz="1000" dirty="0"/>
                        <a:t>(dividend) by the source operand (divisor) and stores the result in the AX (AH:AL), DX:AX, EDX:EAX, or RDX:RAX registers.</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072962322"/>
                  </a:ext>
                </a:extLst>
              </a:tr>
              <a:tr h="225276">
                <a:tc>
                  <a:txBody>
                    <a:bodyPr/>
                    <a:lstStyle/>
                    <a:p>
                      <a:pPr algn="l"/>
                      <a:r>
                        <a:rPr lang="en-IN" sz="1000" dirty="0"/>
                        <a:t>IDIV Op</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000" dirty="0"/>
                        <a:t>Signed integer division.</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067947851"/>
                  </a:ext>
                </a:extLst>
              </a:tr>
              <a:tr h="225276">
                <a:tc>
                  <a:txBody>
                    <a:bodyPr/>
                    <a:lstStyle/>
                    <a:p>
                      <a:pPr algn="l"/>
                      <a:r>
                        <a:rPr lang="en-IN" sz="1000" dirty="0"/>
                        <a:t>INC Op</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00" dirty="0"/>
                        <a:t>Adds 1 to the destination operand, while preserving the state of the CF flag.</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318878054"/>
                  </a:ext>
                </a:extLst>
              </a:tr>
              <a:tr h="366074">
                <a:tc>
                  <a:txBody>
                    <a:bodyPr/>
                    <a:lstStyle/>
                    <a:p>
                      <a:pPr algn="l"/>
                      <a:r>
                        <a:rPr lang="en-IN" sz="1000" dirty="0"/>
                        <a:t>DEC Op</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00" dirty="0"/>
                        <a:t>Subtracts 1 from the destination operand, while preserving the state of the CF flag.</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561539995"/>
                  </a:ext>
                </a:extLst>
              </a:tr>
              <a:tr h="366074">
                <a:tc>
                  <a:txBody>
                    <a:bodyPr/>
                    <a:lstStyle/>
                    <a:p>
                      <a:pPr algn="l"/>
                      <a:r>
                        <a:rPr lang="en-IN" sz="1000" dirty="0"/>
                        <a:t>NEG Op</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00" dirty="0"/>
                        <a:t>Replaces the value of operand with (0 – operand), using twos complement</a:t>
                      </a:r>
                    </a:p>
                    <a:p>
                      <a:pPr algn="l"/>
                      <a:r>
                        <a:rPr lang="en-US" sz="1000" dirty="0"/>
                        <a:t>representation.</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031426045"/>
                  </a:ext>
                </a:extLst>
              </a:tr>
              <a:tr h="147792">
                <a:tc>
                  <a:txBody>
                    <a:bodyPr/>
                    <a:lstStyle/>
                    <a:p>
                      <a:pPr algn="l"/>
                      <a:r>
                        <a:rPr lang="en-IN" sz="1000" dirty="0"/>
                        <a:t>CMP Op1, Op2</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00" dirty="0"/>
                        <a:t>Compares the two operands by subtracting the second operand from the first operand and sets the status flags in the EFLAGS register according to the results.</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908602354"/>
                  </a:ext>
                </a:extLst>
              </a:tr>
            </a:tbl>
          </a:graphicData>
        </a:graphic>
      </p:graphicFrame>
      <p:sp>
        <p:nvSpPr>
          <p:cNvPr id="10" name="TextBox 9"/>
          <p:cNvSpPr txBox="1"/>
          <p:nvPr/>
        </p:nvSpPr>
        <p:spPr>
          <a:xfrm>
            <a:off x="2555776" y="1925985"/>
            <a:ext cx="1394805" cy="338554"/>
          </a:xfrm>
          <a:prstGeom prst="rect">
            <a:avLst/>
          </a:prstGeom>
          <a:noFill/>
        </p:spPr>
        <p:txBody>
          <a:bodyPr wrap="none" rtlCol="0">
            <a:spAutoFit/>
          </a:bodyPr>
          <a:lstStyle/>
          <a:p>
            <a:r>
              <a:rPr lang="en-IN" sz="1600" dirty="0">
                <a:latin typeface="+mj-lt"/>
              </a:rPr>
              <a:t>(b) Arithmetic</a:t>
            </a:r>
          </a:p>
        </p:txBody>
      </p:sp>
      <p:sp>
        <p:nvSpPr>
          <p:cNvPr id="5" name="TextBox 4"/>
          <p:cNvSpPr txBox="1"/>
          <p:nvPr/>
        </p:nvSpPr>
        <p:spPr>
          <a:xfrm>
            <a:off x="6012160" y="5525367"/>
            <a:ext cx="3131840" cy="461665"/>
          </a:xfrm>
          <a:prstGeom prst="rect">
            <a:avLst/>
          </a:prstGeom>
          <a:noFill/>
        </p:spPr>
        <p:txBody>
          <a:bodyPr wrap="square" rtlCol="0">
            <a:spAutoFit/>
          </a:bodyPr>
          <a:lstStyle/>
          <a:p>
            <a:pPr algn="ctr"/>
            <a:r>
              <a:rPr lang="en-US" sz="1200" dirty="0">
                <a:latin typeface="+mn-lt"/>
              </a:rPr>
              <a:t>(Table can be found on page </a:t>
            </a:r>
          </a:p>
          <a:p>
            <a:pPr algn="ctr"/>
            <a:r>
              <a:rPr lang="en-US" sz="1200" dirty="0">
                <a:latin typeface="+mn-lt"/>
              </a:rPr>
              <a:t>446-447 in the textbook.)</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A7FB7C17-67B0-4EFB-A6E9-50D2FE21E329}"/>
                  </a:ext>
                </a:extLst>
              </p14:cNvPr>
              <p14:cNvContentPartPr/>
              <p14:nvPr/>
            </p14:nvContentPartPr>
            <p14:xfrm>
              <a:off x="9034920" y="4961520"/>
              <a:ext cx="360" cy="360"/>
            </p14:xfrm>
          </p:contentPart>
        </mc:Choice>
        <mc:Fallback xmlns="">
          <p:pic>
            <p:nvPicPr>
              <p:cNvPr id="3" name="Ink 2">
                <a:extLst>
                  <a:ext uri="{FF2B5EF4-FFF2-40B4-BE49-F238E27FC236}">
                    <a16:creationId xmlns:a16="http://schemas.microsoft.com/office/drawing/2014/main" id="{A7FB7C17-67B0-4EFB-A6E9-50D2FE21E329}"/>
                  </a:ext>
                </a:extLst>
              </p:cNvPr>
              <p:cNvPicPr/>
              <p:nvPr/>
            </p:nvPicPr>
            <p:blipFill>
              <a:blip r:embed="rId4"/>
              <a:stretch>
                <a:fillRect/>
              </a:stretch>
            </p:blipFill>
            <p:spPr>
              <a:xfrm>
                <a:off x="9025560" y="4952160"/>
                <a:ext cx="19080" cy="19080"/>
              </a:xfrm>
              <a:prstGeom prst="rect">
                <a:avLst/>
              </a:prstGeom>
            </p:spPr>
          </p:pic>
        </mc:Fallback>
      </mc:AlternateContent>
      <p:sp>
        <p:nvSpPr>
          <p:cNvPr id="12" name="TextBox 11">
            <a:extLst>
              <a:ext uri="{FF2B5EF4-FFF2-40B4-BE49-F238E27FC236}">
                <a16:creationId xmlns:a16="http://schemas.microsoft.com/office/drawing/2014/main" id="{A5CF08D0-C9E2-48C4-A103-2C9C723F1CD6}"/>
              </a:ext>
            </a:extLst>
          </p:cNvPr>
          <p:cNvSpPr txBox="1"/>
          <p:nvPr/>
        </p:nvSpPr>
        <p:spPr>
          <a:xfrm>
            <a:off x="7884368" y="6290559"/>
            <a:ext cx="1040670" cy="461665"/>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dirty="0">
                <a:hlinkClick r:id="rId5" action="ppaction://hlinksldjump"/>
              </a:rPr>
              <a:t>BACK</a:t>
            </a:r>
            <a:endParaRPr lang="en-MY" dirty="0"/>
          </a:p>
        </p:txBody>
      </p:sp>
    </p:spTree>
    <p:extLst>
      <p:ext uri="{BB962C8B-B14F-4D97-AF65-F5344CB8AC3E}">
        <p14:creationId xmlns:p14="http://schemas.microsoft.com/office/powerpoint/2010/main" val="2319840883"/>
      </p:ext>
    </p:extLst>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4"/>
          <p:cNvSpPr>
            <a:spLocks noGrp="1" noChangeArrowheads="1"/>
          </p:cNvSpPr>
          <p:nvPr>
            <p:ph type="title"/>
          </p:nvPr>
        </p:nvSpPr>
        <p:spPr>
          <a:xfrm>
            <a:off x="6416220" y="255199"/>
            <a:ext cx="2884425" cy="3130668"/>
          </a:xfrm>
          <a:noFill/>
          <a:ln/>
        </p:spPr>
        <p:txBody>
          <a:bodyPr lIns="90488" tIns="44450" rIns="90488" bIns="44450"/>
          <a:lstStyle/>
          <a:p>
            <a:pPr algn="ctr"/>
            <a:r>
              <a:rPr lang="en-US" dirty="0"/>
              <a:t>Table 13.3 </a:t>
            </a:r>
            <a:br>
              <a:rPr lang="en-US" dirty="0"/>
            </a:br>
            <a:r>
              <a:rPr lang="en-US" dirty="0"/>
              <a:t>Common x86 Instruction Set Operations</a:t>
            </a:r>
            <a:br>
              <a:rPr lang="en-US" dirty="0"/>
            </a:br>
            <a:r>
              <a:rPr lang="en-US" dirty="0"/>
              <a:t>(2 of 3)</a:t>
            </a:r>
          </a:p>
        </p:txBody>
      </p:sp>
      <p:graphicFrame>
        <p:nvGraphicFramePr>
          <p:cNvPr id="8" name="Table 7" descr="The information will be presented in the order, operation name, description. List one, data transfer. 1. M O V d e s t, source. Move data between registers or between register and memory or immediate to register. 2. X C H G O p 1, O p 2. Swap contents between two registers or register and memory. 3. PUSH Source. Decrements stack pointer, the E S P register, then copies the source operand to the top of stack. P O P D e s t Copies top of stack to destination and increments E S P. List 2, arithmetic. 1. A D D d e s t, source. Adds the destination and the source operand and stores the result in the destination. Destination can be register or memory. Source can be register, memory, or immediate. 2. SUB d e s t, source. 2. Subtracts the source from the destination and stores the result in the destination. 3. M U L O p. Unsigned integer multiplication of the operand by the A L, A X, or E A X register and stores in the register. Opcode indicates size of register. 4. I M U L O p. Signed integer multiplication. 5. D I V O p, Divides unsigned the value in the A X, D X colon A X, E D X colon E A X, or R D X colon R A X registers, the dividend, by the source operand, the divisor, and stores the result in the A X, which is A H colon A L, D X colon A X, E D X colon E A X, or R D X colon R A X registers. 6. I D I V O p. signed integer division. 7. I N C O p. Adds 1 to the destination operand, while preserving the state of the C F flag. 8. D E C O p. Subtracts 1 from the destination operand, while preserving the state of the C F flag. 9. N E G O p. Replaces the value of operand with, 0 minus operand, using twos complement representation. 10. C M P O p 1, O p 2. Compares the two operands by subtracting the second operand from the first operand and sets the status flags in the E F L A G S register according to the results. List 3 is titled shift and rotate. It reads as follows. 1. S A L O p, Quantity. Shifts the source operand left by from 1 to 31 bit positions. Empty bit positions are cleared. The C F flag is loaded with the last bit shifted out of the operand. 2. S A R O p, Quantity. Shifts the source operand right by from 1 to 31 bit positions. Empty bit positions are cleared if the operand is positive and set if the operand is negative. The C F flag is loaded with the last bit shifted out of the operand. 3. S H R O p, Quantity. Shifts the source operand right by from 1 to 31 bit positions. Empty bit positions are cleared, and the CF flag is loaded with the last bit shifted out of the operand. 4. R O L O p, Quantity. Rotate bits to the left, with wraparound. The C F flag is loaded with the last bit shifted out of the operand. 5. R O R O p, Quantity. Rotate bits to the right, with wraparound. The C F flag is loaded with the last bit shifted out of the operand. 6. R C L O p, Quantity. Rotate bits to the left, including the C F flag, with wraparound. This instruction treats the C F flag as a one-bit extension on the upper end of the operand. 7. R C R O p, Quantity Rotate bits to the right, including the C F flag, with wraparound. This instruction treats the C F flag as a one-bit extension on the lower end of the operand. The fourth list is titled, logical. 1. NOT O p. Inverts each bit of the operand. 2. AND D e s t, Source Performs a bitwise AND operation on the destination and source operands and stores the result in the destination operand. 3. OR D e s t, Source. Performs a bitwise OR operation on the destination and source operands and stores the result in the destination operand. 4. X O R D e s t, Source. Performs a bitwise X O R operation on the destination and source operands and stores the result in the destination operand. 5. TEST O p 1, O p 2. Performs a bitwise AND operation on the two operands and sets the S, Z, and P status flags. The operands are unchanged." title="A series of lists labeled, data transfer, arithmetic, shift and rotate, and logical."/>
          <p:cNvGraphicFramePr>
            <a:graphicFrameLocks noGrp="1"/>
          </p:cNvGraphicFramePr>
          <p:nvPr/>
        </p:nvGraphicFramePr>
        <p:xfrm>
          <a:off x="87549" y="332656"/>
          <a:ext cx="6500675" cy="3185160"/>
        </p:xfrm>
        <a:graphic>
          <a:graphicData uri="http://schemas.openxmlformats.org/drawingml/2006/table">
            <a:tbl>
              <a:tblPr firstRow="1" bandRow="1">
                <a:tableStyleId>{5C22544A-7EE6-4342-B048-85BDC9FD1C3A}</a:tableStyleId>
              </a:tblPr>
              <a:tblGrid>
                <a:gridCol w="1748147">
                  <a:extLst>
                    <a:ext uri="{9D8B030D-6E8A-4147-A177-3AD203B41FA5}">
                      <a16:colId xmlns:a16="http://schemas.microsoft.com/office/drawing/2014/main" val="3102758518"/>
                    </a:ext>
                  </a:extLst>
                </a:gridCol>
                <a:gridCol w="4752528">
                  <a:extLst>
                    <a:ext uri="{9D8B030D-6E8A-4147-A177-3AD203B41FA5}">
                      <a16:colId xmlns:a16="http://schemas.microsoft.com/office/drawing/2014/main" val="2543019389"/>
                    </a:ext>
                  </a:extLst>
                </a:gridCol>
              </a:tblGrid>
              <a:tr h="229690">
                <a:tc>
                  <a:txBody>
                    <a:bodyPr/>
                    <a:lstStyle/>
                    <a:p>
                      <a:pPr algn="l"/>
                      <a:r>
                        <a:rPr lang="en-IN" sz="1100" b="1" i="0" u="none" strike="noStrike" cap="none" baseline="0" dirty="0">
                          <a:solidFill>
                            <a:schemeClr val="tx1"/>
                          </a:solidFill>
                          <a:latin typeface="+mn-lt"/>
                          <a:ea typeface="+mn-ea"/>
                          <a:cs typeface="+mn-cs"/>
                          <a:sym typeface="Arial"/>
                        </a:rPr>
                        <a:t>Operation Name</a:t>
                      </a:r>
                      <a:endParaRPr lang="en-IN" sz="1100" b="1" dirty="0">
                        <a:solidFill>
                          <a:schemeClr val="tx1"/>
                        </a:solidFill>
                      </a:endParaRP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100" b="1" i="0" u="none" strike="noStrike" cap="none" baseline="0" dirty="0">
                          <a:solidFill>
                            <a:schemeClr val="tx1"/>
                          </a:solidFill>
                          <a:latin typeface="+mn-lt"/>
                          <a:ea typeface="+mn-ea"/>
                          <a:cs typeface="+mn-cs"/>
                          <a:sym typeface="Arial"/>
                        </a:rPr>
                        <a:t>Description</a:t>
                      </a:r>
                      <a:endParaRPr lang="en-IN" sz="1100" b="1" dirty="0">
                        <a:solidFill>
                          <a:schemeClr val="tx1"/>
                        </a:solidFill>
                      </a:endParaRP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717666487"/>
                  </a:ext>
                </a:extLst>
              </a:tr>
              <a:tr h="334565">
                <a:tc>
                  <a:txBody>
                    <a:bodyPr/>
                    <a:lstStyle/>
                    <a:p>
                      <a:pPr algn="l"/>
                      <a:r>
                        <a:rPr lang="en-IN" sz="1000" b="0" i="0" u="none" strike="noStrike" cap="none" baseline="0" dirty="0">
                          <a:solidFill>
                            <a:schemeClr val="dk1"/>
                          </a:solidFill>
                          <a:latin typeface="+mn-lt"/>
                          <a:ea typeface="+mn-ea"/>
                          <a:cs typeface="+mn-cs"/>
                          <a:sym typeface="Arial"/>
                        </a:rPr>
                        <a:t>SAL Op, Quantity</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00" b="0" i="0" u="none" strike="noStrike" cap="none" baseline="0" dirty="0">
                          <a:solidFill>
                            <a:schemeClr val="dk1"/>
                          </a:solidFill>
                          <a:latin typeface="+mn-lt"/>
                          <a:ea typeface="+mn-ea"/>
                          <a:cs typeface="+mn-cs"/>
                          <a:sym typeface="Arial"/>
                        </a:rPr>
                        <a:t>Shifts the source operand left by from 1 to 31 bit positions. Empty bit positions are</a:t>
                      </a:r>
                    </a:p>
                    <a:p>
                      <a:pPr algn="l"/>
                      <a:r>
                        <a:rPr lang="en-US" sz="1000" b="0" i="0" u="none" strike="noStrike" cap="none" baseline="0" dirty="0">
                          <a:solidFill>
                            <a:schemeClr val="dk1"/>
                          </a:solidFill>
                          <a:latin typeface="+mn-lt"/>
                          <a:ea typeface="+mn-ea"/>
                          <a:cs typeface="+mn-cs"/>
                          <a:sym typeface="Arial"/>
                        </a:rPr>
                        <a:t>cleared. The CF flag is loaded with the last bit shifted out of the operand.</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062764516"/>
                  </a:ext>
                </a:extLst>
              </a:tr>
              <a:tr h="208776">
                <a:tc>
                  <a:txBody>
                    <a:bodyPr/>
                    <a:lstStyle/>
                    <a:p>
                      <a:pPr algn="l"/>
                      <a:r>
                        <a:rPr lang="en-IN" sz="1000" b="0" i="0" u="none" strike="noStrike" cap="none" baseline="0" dirty="0">
                          <a:solidFill>
                            <a:schemeClr val="dk1"/>
                          </a:solidFill>
                          <a:latin typeface="+mn-lt"/>
                          <a:ea typeface="+mn-ea"/>
                          <a:cs typeface="+mn-cs"/>
                          <a:sym typeface="Arial"/>
                        </a:rPr>
                        <a:t>SAR Op, Quantity</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0" i="0" u="none" strike="noStrike" cap="none" baseline="0" dirty="0">
                          <a:solidFill>
                            <a:schemeClr val="dk1"/>
                          </a:solidFill>
                          <a:latin typeface="+mn-lt"/>
                          <a:ea typeface="+mn-ea"/>
                          <a:cs typeface="+mn-cs"/>
                          <a:sym typeface="Arial"/>
                        </a:rPr>
                        <a:t>Shifts the source operand right by from 1 to 31 bit positions. Empty bit positions are cleared if the operand is positive and set if the operand is negative. The CF flag is loaded with the last bit shifted out of the operand.</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801756320"/>
                  </a:ext>
                </a:extLst>
              </a:tr>
              <a:tr h="259010">
                <a:tc>
                  <a:txBody>
                    <a:bodyPr/>
                    <a:lstStyle/>
                    <a:p>
                      <a:pPr algn="l"/>
                      <a:r>
                        <a:rPr lang="en-IN" sz="1000" b="0" i="0" u="none" strike="noStrike" cap="none" baseline="0" dirty="0">
                          <a:solidFill>
                            <a:schemeClr val="dk1"/>
                          </a:solidFill>
                          <a:latin typeface="+mn-lt"/>
                          <a:ea typeface="+mn-ea"/>
                          <a:cs typeface="+mn-cs"/>
                          <a:sym typeface="Arial"/>
                        </a:rPr>
                        <a:t>SHR Op, Quantity</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00" b="0" i="0" u="none" strike="noStrike" cap="none" baseline="0" dirty="0">
                          <a:solidFill>
                            <a:schemeClr val="dk1"/>
                          </a:solidFill>
                          <a:latin typeface="+mn-lt"/>
                          <a:ea typeface="+mn-ea"/>
                          <a:cs typeface="+mn-cs"/>
                          <a:sym typeface="Arial"/>
                        </a:rPr>
                        <a:t>Shifts the source operand right by from 1 to 31 bit positions. Empty bit positions are cleared and the CF flag is loaded with the last bit shifted out of the operand.</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007438362"/>
                  </a:ext>
                </a:extLst>
              </a:tr>
              <a:tr h="259010">
                <a:tc>
                  <a:txBody>
                    <a:bodyPr/>
                    <a:lstStyle/>
                    <a:p>
                      <a:pPr algn="l"/>
                      <a:r>
                        <a:rPr lang="en-IN" sz="1000" dirty="0"/>
                        <a:t>ROL Op, Quantity</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00" dirty="0"/>
                        <a:t>Rotate bits to the left, with wraparound. The CF flag is loaded with the last bit shifted out of the operand.</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590917915"/>
                  </a:ext>
                </a:extLst>
              </a:tr>
              <a:tr h="259010">
                <a:tc>
                  <a:txBody>
                    <a:bodyPr/>
                    <a:lstStyle/>
                    <a:p>
                      <a:pPr algn="l"/>
                      <a:r>
                        <a:rPr lang="en-IN" sz="1000" dirty="0"/>
                        <a:t>ROR Op, Quantity</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00" dirty="0"/>
                        <a:t>Rotate bits to the right, with wraparound. The CF flag is loaded with the last bit shifted out of the operand.</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116617951"/>
                  </a:ext>
                </a:extLst>
              </a:tr>
              <a:tr h="259010">
                <a:tc>
                  <a:txBody>
                    <a:bodyPr/>
                    <a:lstStyle/>
                    <a:p>
                      <a:pPr algn="l"/>
                      <a:r>
                        <a:rPr lang="en-IN" sz="1000" dirty="0"/>
                        <a:t>RCL Op, Quantity</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00" dirty="0"/>
                        <a:t>Rotate bits to the left, including the CF flag, with wraparound. This instruction treats the CF flag as a one-bit extension on the upper end of the operand.</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344785174"/>
                  </a:ext>
                </a:extLst>
              </a:tr>
              <a:tr h="259010">
                <a:tc>
                  <a:txBody>
                    <a:bodyPr/>
                    <a:lstStyle/>
                    <a:p>
                      <a:pPr algn="l"/>
                      <a:r>
                        <a:rPr lang="en-IN" sz="1000" dirty="0"/>
                        <a:t>RCR Op, Quantity</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00" dirty="0"/>
                        <a:t>Rotate bits to the right, including the CF flag, with wraparound. This instruction treats the CF flag as a one-bit extension on the lower end of the operand.</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510487134"/>
                  </a:ext>
                </a:extLst>
              </a:tr>
            </a:tbl>
          </a:graphicData>
        </a:graphic>
      </p:graphicFrame>
      <p:sp>
        <p:nvSpPr>
          <p:cNvPr id="10" name="TextBox 9"/>
          <p:cNvSpPr txBox="1"/>
          <p:nvPr/>
        </p:nvSpPr>
        <p:spPr>
          <a:xfrm>
            <a:off x="2555776" y="-30435"/>
            <a:ext cx="1954381" cy="338554"/>
          </a:xfrm>
          <a:prstGeom prst="rect">
            <a:avLst/>
          </a:prstGeom>
          <a:noFill/>
        </p:spPr>
        <p:txBody>
          <a:bodyPr wrap="none" rtlCol="0">
            <a:spAutoFit/>
          </a:bodyPr>
          <a:lstStyle/>
          <a:p>
            <a:r>
              <a:rPr lang="en-IN" sz="1600" dirty="0">
                <a:latin typeface="+mj-lt"/>
              </a:rPr>
              <a:t>(c) Shift and Rotate</a:t>
            </a:r>
          </a:p>
        </p:txBody>
      </p:sp>
      <p:graphicFrame>
        <p:nvGraphicFramePr>
          <p:cNvPr id="12" name="Table 11" descr="The information will be presented in the order, operation name, description. List one, data transfer. 1. M O V d e s t, source. Move data between registers or between register and memory or immediate to register. 2. X C H G O p 1, O p 2. Swap contents between two registers or register and memory. 3. PUSH Source. Decrements stack pointer, the E S P register, then copies the source operand to the top of stack. P O P D e s t Copies top of stack to destination and increments E S P. List 2, arithmetic. 1. A D D d e s t, source. Adds the destination and the source operand and stores the result in the destination. Destination can be register or memory. Source can be register, memory, or immediate. 2. SUB d e s t, source. 2. Subtracts the source from the destination and stores the result in the destination. 3. M U L O p. Unsigned integer multiplication of the operand by the A L, A X, or E A X register and stores in the register. Opcode indicates size of register. 4. I M U L O p. Signed integer multiplication. 5. D I V O p, Divides unsigned the value in the A X, D X colon A X, E D X colon E A X, or R D X colon R A X registers, the dividend, by the source operand, the divisor, and stores the result in the A X, which is A H colon A L, D X colon A X, E D X colon E A X, or R D X colon R A X registers. 6. I D I V O p. signed integer division. 7. I N C O p. Adds 1 to the destination operand, while preserving the state of the C F flag. 8. D E C O p. Subtracts 1 from the destination operand, while preserving the state of the C F flag. 9. N E G O p. Replaces the value of operand with, 0 minus operand, using twos complement representation. 10. C M P O p 1, O p 2. Compares the two operands by subtracting the second operand from the first operand and sets the status flags in the E F L A G S register according to the results. List 3 is titled shift and rotate. It reads as follows. 1. S A L O p, Quantity. Shifts the source operand left by from 1 to 31 bit positions. Empty bit positions are cleared. The C F flag is loaded with the last bit shifted out of the operand. 2. S A R O p, Quantity. Shifts the source operand right by from 1 to 31 bit positions. Empty bit positions are cleared if the operand is positive and set if the operand is negative. The C F flag is loaded with the last bit shifted out of the operand. 3. S H R O p, Quantity. Shifts the source operand right by from 1 to 31 bit positions. Empty bit positions are cleared, and the CF flag is loaded with the last bit shifted out of the operand. 4. R O L O p, Quantity. Rotate bits to the left, with wraparound. The C F flag is loaded with the last bit shifted out of the operand. 5. R O R O p, Quantity. Rotate bits to the right, with wraparound. The C F flag is loaded with the last bit shifted out of the operand. 6. R C L O p, Quantity. Rotate bits to the left, including the C F flag, with wraparound. This instruction treats the C F flag as a one-bit extension on the upper end of the operand. 7. R C R O p, Quantity Rotate bits to the right, including the C F flag, with wraparound. This instruction treats the C F flag as a one-bit extension on the lower end of the operand. The fourth list is titled, logical. 1. NOT O p. Inverts each bit of the operand. 2. AND D e s t, Source Performs a bitwise AND operation on the destination and source operands and stores the result in the destination operand. 3. OR D e s t, Source. Performs a bitwise OR operation on the destination and source operands and stores the result in the destination operand. 4. X O R D e s t, Source. Performs a bitwise X O R operation on the destination and source operands and stores the result in the destination operand. 5. TEST O p 1, O p 2. Performs a bitwise AND operation on the two operands and sets the S, Z, and P status flags. The operands are unchanged." title="A series of lists labeled, data transfer, arithmetic, shift and rotate, and logical."/>
          <p:cNvGraphicFramePr>
            <a:graphicFrameLocks noGrp="1"/>
          </p:cNvGraphicFramePr>
          <p:nvPr/>
        </p:nvGraphicFramePr>
        <p:xfrm>
          <a:off x="87549" y="4031353"/>
          <a:ext cx="6500675" cy="2204985"/>
        </p:xfrm>
        <a:graphic>
          <a:graphicData uri="http://schemas.openxmlformats.org/drawingml/2006/table">
            <a:tbl>
              <a:tblPr firstRow="1" bandRow="1">
                <a:tableStyleId>{5C22544A-7EE6-4342-B048-85BDC9FD1C3A}</a:tableStyleId>
              </a:tblPr>
              <a:tblGrid>
                <a:gridCol w="1748147">
                  <a:extLst>
                    <a:ext uri="{9D8B030D-6E8A-4147-A177-3AD203B41FA5}">
                      <a16:colId xmlns:a16="http://schemas.microsoft.com/office/drawing/2014/main" val="3102758518"/>
                    </a:ext>
                  </a:extLst>
                </a:gridCol>
                <a:gridCol w="4752528">
                  <a:extLst>
                    <a:ext uri="{9D8B030D-6E8A-4147-A177-3AD203B41FA5}">
                      <a16:colId xmlns:a16="http://schemas.microsoft.com/office/drawing/2014/main" val="2543019389"/>
                    </a:ext>
                  </a:extLst>
                </a:gridCol>
              </a:tblGrid>
              <a:tr h="239356">
                <a:tc>
                  <a:txBody>
                    <a:bodyPr/>
                    <a:lstStyle/>
                    <a:p>
                      <a:pPr algn="l"/>
                      <a:r>
                        <a:rPr lang="en-IN" sz="1100" b="1" i="0" u="none" strike="noStrike" cap="none" baseline="0" dirty="0">
                          <a:solidFill>
                            <a:schemeClr val="tx1"/>
                          </a:solidFill>
                          <a:latin typeface="+mn-lt"/>
                          <a:ea typeface="+mn-ea"/>
                          <a:cs typeface="+mn-cs"/>
                          <a:sym typeface="Arial"/>
                        </a:rPr>
                        <a:t>Operation Name</a:t>
                      </a:r>
                      <a:endParaRPr lang="en-IN" sz="1100" b="1" dirty="0">
                        <a:solidFill>
                          <a:schemeClr val="tx1"/>
                        </a:solidFill>
                      </a:endParaRP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100" b="1" i="0" u="none" strike="noStrike" cap="none" baseline="0" dirty="0">
                          <a:solidFill>
                            <a:schemeClr val="tx1"/>
                          </a:solidFill>
                          <a:latin typeface="+mn-lt"/>
                          <a:ea typeface="+mn-ea"/>
                          <a:cs typeface="+mn-cs"/>
                          <a:sym typeface="Arial"/>
                        </a:rPr>
                        <a:t>Description</a:t>
                      </a:r>
                      <a:endParaRPr lang="en-IN" sz="1100" b="1" dirty="0">
                        <a:solidFill>
                          <a:schemeClr val="tx1"/>
                        </a:solidFill>
                      </a:endParaRP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717666487"/>
                  </a:ext>
                </a:extLst>
              </a:tr>
              <a:tr h="250313">
                <a:tc>
                  <a:txBody>
                    <a:bodyPr/>
                    <a:lstStyle/>
                    <a:p>
                      <a:pPr algn="l"/>
                      <a:r>
                        <a:rPr lang="en-IN" sz="1000" b="0" i="0" u="none" strike="noStrike" cap="none" baseline="0" dirty="0">
                          <a:solidFill>
                            <a:schemeClr val="dk1"/>
                          </a:solidFill>
                          <a:latin typeface="+mn-lt"/>
                          <a:ea typeface="+mn-ea"/>
                          <a:cs typeface="+mn-cs"/>
                          <a:sym typeface="Arial"/>
                        </a:rPr>
                        <a:t>NOT Op</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00" b="0" i="0" u="none" strike="noStrike" cap="none" baseline="0" dirty="0">
                          <a:solidFill>
                            <a:schemeClr val="dk1"/>
                          </a:solidFill>
                          <a:latin typeface="+mn-lt"/>
                          <a:ea typeface="+mn-ea"/>
                          <a:cs typeface="+mn-cs"/>
                          <a:sym typeface="Arial"/>
                        </a:rPr>
                        <a:t>Inverts each bit of the operand.</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062764516"/>
                  </a:ext>
                </a:extLst>
              </a:tr>
              <a:tr h="225276">
                <a:tc>
                  <a:txBody>
                    <a:bodyPr/>
                    <a:lstStyle/>
                    <a:p>
                      <a:pPr algn="l"/>
                      <a:r>
                        <a:rPr lang="en-IN" sz="1000" b="0" i="0" u="none" strike="noStrike" cap="none" baseline="0" dirty="0">
                          <a:solidFill>
                            <a:schemeClr val="dk1"/>
                          </a:solidFill>
                          <a:latin typeface="+mn-lt"/>
                          <a:ea typeface="+mn-ea"/>
                          <a:cs typeface="+mn-cs"/>
                          <a:sym typeface="Arial"/>
                        </a:rPr>
                        <a:t>AND </a:t>
                      </a:r>
                      <a:r>
                        <a:rPr lang="en-IN" sz="1000" b="0" i="0" u="none" strike="noStrike" cap="none" baseline="0" dirty="0" err="1">
                          <a:solidFill>
                            <a:schemeClr val="dk1"/>
                          </a:solidFill>
                          <a:latin typeface="+mn-lt"/>
                          <a:ea typeface="+mn-ea"/>
                          <a:cs typeface="+mn-cs"/>
                          <a:sym typeface="Arial"/>
                        </a:rPr>
                        <a:t>Dest</a:t>
                      </a:r>
                      <a:r>
                        <a:rPr lang="en-IN" sz="1000" b="0" i="0" u="none" strike="noStrike" cap="none" baseline="0" dirty="0">
                          <a:solidFill>
                            <a:schemeClr val="dk1"/>
                          </a:solidFill>
                          <a:latin typeface="+mn-lt"/>
                          <a:ea typeface="+mn-ea"/>
                          <a:cs typeface="+mn-cs"/>
                          <a:sym typeface="Arial"/>
                        </a:rPr>
                        <a:t>, Source</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0" i="0" u="none" strike="noStrike" cap="none" baseline="0" dirty="0">
                          <a:solidFill>
                            <a:schemeClr val="dk1"/>
                          </a:solidFill>
                          <a:latin typeface="+mn-lt"/>
                          <a:ea typeface="+mn-ea"/>
                          <a:cs typeface="+mn-cs"/>
                          <a:sym typeface="Arial"/>
                        </a:rPr>
                        <a:t>Performs a bitwise AND operation on the destination and source operands and stores the result in the destination operand.</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801756320"/>
                  </a:ext>
                </a:extLst>
              </a:tr>
              <a:tr h="366074">
                <a:tc>
                  <a:txBody>
                    <a:bodyPr/>
                    <a:lstStyle/>
                    <a:p>
                      <a:pPr algn="l"/>
                      <a:r>
                        <a:rPr lang="en-IN" sz="1000" b="0" i="0" u="none" strike="noStrike" cap="none" baseline="0" dirty="0">
                          <a:solidFill>
                            <a:schemeClr val="dk1"/>
                          </a:solidFill>
                          <a:latin typeface="+mn-lt"/>
                          <a:ea typeface="+mn-ea"/>
                          <a:cs typeface="+mn-cs"/>
                          <a:sym typeface="Arial"/>
                        </a:rPr>
                        <a:t>OR </a:t>
                      </a:r>
                      <a:r>
                        <a:rPr lang="en-IN" sz="1000" b="0" i="0" u="none" strike="noStrike" cap="none" baseline="0" dirty="0" err="1">
                          <a:solidFill>
                            <a:schemeClr val="dk1"/>
                          </a:solidFill>
                          <a:latin typeface="+mn-lt"/>
                          <a:ea typeface="+mn-ea"/>
                          <a:cs typeface="+mn-cs"/>
                          <a:sym typeface="Arial"/>
                        </a:rPr>
                        <a:t>Dest</a:t>
                      </a:r>
                      <a:r>
                        <a:rPr lang="en-IN" sz="1000" b="0" i="0" u="none" strike="noStrike" cap="none" baseline="0" dirty="0">
                          <a:solidFill>
                            <a:schemeClr val="dk1"/>
                          </a:solidFill>
                          <a:latin typeface="+mn-lt"/>
                          <a:ea typeface="+mn-ea"/>
                          <a:cs typeface="+mn-cs"/>
                          <a:sym typeface="Arial"/>
                        </a:rPr>
                        <a:t>, Source</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00" b="0" i="0" u="none" strike="noStrike" cap="none" baseline="0" dirty="0">
                          <a:solidFill>
                            <a:schemeClr val="dk1"/>
                          </a:solidFill>
                          <a:latin typeface="+mn-lt"/>
                          <a:ea typeface="+mn-ea"/>
                          <a:cs typeface="+mn-cs"/>
                          <a:sym typeface="Arial"/>
                        </a:rPr>
                        <a:t>Performs a bitwise OR operation on the destination and source operands and stores the result in the destination operand.</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007438362"/>
                  </a:ext>
                </a:extLst>
              </a:tr>
              <a:tr h="225276">
                <a:tc>
                  <a:txBody>
                    <a:bodyPr/>
                    <a:lstStyle/>
                    <a:p>
                      <a:pPr algn="l"/>
                      <a:r>
                        <a:rPr lang="en-IN" sz="1000" dirty="0"/>
                        <a:t>XOR </a:t>
                      </a:r>
                      <a:r>
                        <a:rPr lang="en-IN" sz="1000" dirty="0" err="1"/>
                        <a:t>Dest</a:t>
                      </a:r>
                      <a:r>
                        <a:rPr lang="en-IN" sz="1000" dirty="0"/>
                        <a:t>, Source</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00" dirty="0"/>
                        <a:t>Performs a bitwise XOR operation on the destination and source operands and stores the result in the destination operand.</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590917915"/>
                  </a:ext>
                </a:extLst>
              </a:tr>
              <a:tr h="506872">
                <a:tc>
                  <a:txBody>
                    <a:bodyPr/>
                    <a:lstStyle/>
                    <a:p>
                      <a:pPr algn="l"/>
                      <a:r>
                        <a:rPr lang="en-IN" sz="1000" dirty="0"/>
                        <a:t>TEST Op1, Op2</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00" dirty="0"/>
                        <a:t>Performs a bitwise AND operation on the two operands and sets the S, Z, and P status flags. The operands are unchanged.</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072962322"/>
                  </a:ext>
                </a:extLst>
              </a:tr>
            </a:tbl>
          </a:graphicData>
        </a:graphic>
      </p:graphicFrame>
      <p:sp>
        <p:nvSpPr>
          <p:cNvPr id="13" name="TextBox 12"/>
          <p:cNvSpPr txBox="1"/>
          <p:nvPr/>
        </p:nvSpPr>
        <p:spPr>
          <a:xfrm>
            <a:off x="2555776" y="3630960"/>
            <a:ext cx="1141659" cy="338554"/>
          </a:xfrm>
          <a:prstGeom prst="rect">
            <a:avLst/>
          </a:prstGeom>
          <a:noFill/>
        </p:spPr>
        <p:txBody>
          <a:bodyPr wrap="none" rtlCol="0">
            <a:spAutoFit/>
          </a:bodyPr>
          <a:lstStyle/>
          <a:p>
            <a:r>
              <a:rPr lang="en-IN" sz="1600" dirty="0">
                <a:latin typeface="+mj-lt"/>
              </a:rPr>
              <a:t>(d) Logical</a:t>
            </a:r>
          </a:p>
        </p:txBody>
      </p:sp>
      <p:sp>
        <p:nvSpPr>
          <p:cNvPr id="4" name="Rectangle 3"/>
          <p:cNvSpPr/>
          <p:nvPr/>
        </p:nvSpPr>
        <p:spPr>
          <a:xfrm>
            <a:off x="6260340" y="5805264"/>
            <a:ext cx="2883660" cy="461665"/>
          </a:xfrm>
          <a:prstGeom prst="rect">
            <a:avLst/>
          </a:prstGeom>
        </p:spPr>
        <p:txBody>
          <a:bodyPr wrap="square">
            <a:spAutoFit/>
          </a:bodyPr>
          <a:lstStyle/>
          <a:p>
            <a:pPr algn="ctr"/>
            <a:r>
              <a:rPr lang="en-US" sz="1200" dirty="0">
                <a:latin typeface="+mn-lt"/>
              </a:rPr>
              <a:t>(Table can be found on page </a:t>
            </a:r>
          </a:p>
          <a:p>
            <a:pPr algn="ctr"/>
            <a:r>
              <a:rPr lang="en-US" sz="1200" dirty="0"/>
              <a:t>446-447</a:t>
            </a:r>
            <a:r>
              <a:rPr lang="en-US" sz="1200" dirty="0">
                <a:latin typeface="+mn-lt"/>
              </a:rPr>
              <a:t> in the textbook.)</a:t>
            </a:r>
          </a:p>
        </p:txBody>
      </p:sp>
      <p:sp>
        <p:nvSpPr>
          <p:cNvPr id="9" name="TextBox 8">
            <a:extLst>
              <a:ext uri="{FF2B5EF4-FFF2-40B4-BE49-F238E27FC236}">
                <a16:creationId xmlns:a16="http://schemas.microsoft.com/office/drawing/2014/main" id="{816567D9-989F-48EA-9808-AC4F9C8CA29C}"/>
              </a:ext>
            </a:extLst>
          </p:cNvPr>
          <p:cNvSpPr txBox="1"/>
          <p:nvPr/>
        </p:nvSpPr>
        <p:spPr>
          <a:xfrm>
            <a:off x="7884368" y="6290559"/>
            <a:ext cx="1040670" cy="461665"/>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dirty="0">
                <a:hlinkClick r:id="rId3" action="ppaction://hlinksldjump"/>
              </a:rPr>
              <a:t>BACK</a:t>
            </a:r>
            <a:endParaRPr lang="en-MY" dirty="0"/>
          </a:p>
        </p:txBody>
      </p:sp>
    </p:spTree>
    <p:extLst>
      <p:ext uri="{BB962C8B-B14F-4D97-AF65-F5344CB8AC3E}">
        <p14:creationId xmlns:p14="http://schemas.microsoft.com/office/powerpoint/2010/main" val="2842490045"/>
      </p:ext>
    </p:extLst>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4"/>
          <p:cNvSpPr>
            <a:spLocks noGrp="1" noChangeArrowheads="1"/>
          </p:cNvSpPr>
          <p:nvPr>
            <p:ph type="title"/>
          </p:nvPr>
        </p:nvSpPr>
        <p:spPr>
          <a:xfrm>
            <a:off x="6416220" y="255199"/>
            <a:ext cx="2884425" cy="3130668"/>
          </a:xfrm>
          <a:noFill/>
          <a:ln/>
        </p:spPr>
        <p:txBody>
          <a:bodyPr lIns="90488" tIns="44450" rIns="90488" bIns="44450"/>
          <a:lstStyle/>
          <a:p>
            <a:pPr algn="ctr"/>
            <a:r>
              <a:rPr lang="en-US" dirty="0"/>
              <a:t>Table 13.3 </a:t>
            </a:r>
            <a:br>
              <a:rPr lang="en-US" dirty="0"/>
            </a:br>
            <a:r>
              <a:rPr lang="en-US" dirty="0"/>
              <a:t>Common x86 Instruction Set Operations</a:t>
            </a:r>
            <a:br>
              <a:rPr lang="en-US" dirty="0"/>
            </a:br>
            <a:r>
              <a:rPr lang="en-US" dirty="0"/>
              <a:t>(3 of 3)</a:t>
            </a:r>
          </a:p>
        </p:txBody>
      </p:sp>
      <p:graphicFrame>
        <p:nvGraphicFramePr>
          <p:cNvPr id="10" name="Table 9" descr="The lists of types of operations continues. The list titled, transfer of control reads as follows. 1. CALL p r o c. Saves procedure linking information on the stack and branches to the called procedure specified using the operand. The operand specifies the address of the first instruction in the called procedure. 2. R E T Transfers program control to a return address located on the top of the stack. The return is made to the instruction that follows the CALL instruction. 3. J M P D e s t Transfers program control to a different point in the instruction stream without recording return information. The operand specifies the address of the instruction being jumped to. 4. J c c D e s t Checks the state of one or more of the status flags in the E F L A G S register, the C F, O F, P F, S F, and Z F, and, if the flags are in the specified state left parenthesis condition right parenthesis, performs a jump to the target instruction specified by the destination operand. See Tables 13 point 8 and 13 point 9. 5. N O P This instruction performs no operation. It is a one-byte or multi-byte N O P that takes up space In the instruction stream but does not impact machine context, except for the E I P register. 6. H L T Stops instruction execution and places the processor in a HALT state. An enabled interrupt, a debug exception, the B I N I T number signal, the I N I T number signal, or the RESET number signal will resume execution. 7. WAIT Causes the processor to repeatedly check for and handle pending, unmasked, floating-point exceptions before proceeding. 8. I N T N r Interrupts current program, runs specified interrupt program. The list labeled, input slash output reads as follows. 1. I N D e s t, Source Copies the data from the I O port specified by the source operand to the destination operand, which is a register location. 2. I N S D e s t, Source Copies the data from the I slash O port specified by the source operand to the destination operand, which is a memory location. 3. OUT D e s t, Source Copies the byte, word, or doubleword value from the source register to the I O port specified by the destination operand. 4. OUTS D e s t, Source Copies byte, word, or doubleword from the source operand to the I O port specified with the destination operand. The source operand is a memory location." title="The lists from the previous page continue."/>
          <p:cNvGraphicFramePr>
            <a:graphicFrameLocks noGrp="1"/>
          </p:cNvGraphicFramePr>
          <p:nvPr/>
        </p:nvGraphicFramePr>
        <p:xfrm>
          <a:off x="87549" y="301105"/>
          <a:ext cx="6500675" cy="3886200"/>
        </p:xfrm>
        <a:graphic>
          <a:graphicData uri="http://schemas.openxmlformats.org/drawingml/2006/table">
            <a:tbl>
              <a:tblPr firstRow="1" bandRow="1">
                <a:tableStyleId>{5C22544A-7EE6-4342-B048-85BDC9FD1C3A}</a:tableStyleId>
              </a:tblPr>
              <a:tblGrid>
                <a:gridCol w="1316099">
                  <a:extLst>
                    <a:ext uri="{9D8B030D-6E8A-4147-A177-3AD203B41FA5}">
                      <a16:colId xmlns:a16="http://schemas.microsoft.com/office/drawing/2014/main" val="3102758518"/>
                    </a:ext>
                  </a:extLst>
                </a:gridCol>
                <a:gridCol w="5184576">
                  <a:extLst>
                    <a:ext uri="{9D8B030D-6E8A-4147-A177-3AD203B41FA5}">
                      <a16:colId xmlns:a16="http://schemas.microsoft.com/office/drawing/2014/main" val="2543019389"/>
                    </a:ext>
                  </a:extLst>
                </a:gridCol>
              </a:tblGrid>
              <a:tr h="233012">
                <a:tc>
                  <a:txBody>
                    <a:bodyPr/>
                    <a:lstStyle/>
                    <a:p>
                      <a:pPr algn="l"/>
                      <a:r>
                        <a:rPr lang="en-IN" sz="1100" b="1" i="0" u="none" strike="noStrike" cap="none" baseline="0" dirty="0">
                          <a:solidFill>
                            <a:schemeClr val="tx1"/>
                          </a:solidFill>
                          <a:latin typeface="+mn-lt"/>
                          <a:ea typeface="+mn-ea"/>
                          <a:cs typeface="+mn-cs"/>
                          <a:sym typeface="Arial"/>
                        </a:rPr>
                        <a:t>Operation Name</a:t>
                      </a:r>
                      <a:endParaRPr lang="en-IN" sz="1100" b="1" dirty="0">
                        <a:solidFill>
                          <a:schemeClr val="tx1"/>
                        </a:solidFill>
                      </a:endParaRP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100" b="1" i="0" u="none" strike="noStrike" cap="none" baseline="0" dirty="0">
                          <a:solidFill>
                            <a:schemeClr val="tx1"/>
                          </a:solidFill>
                          <a:latin typeface="+mn-lt"/>
                          <a:ea typeface="+mn-ea"/>
                          <a:cs typeface="+mn-cs"/>
                          <a:sym typeface="Arial"/>
                        </a:rPr>
                        <a:t>Description</a:t>
                      </a:r>
                      <a:endParaRPr lang="en-IN" sz="1100" b="1" dirty="0">
                        <a:solidFill>
                          <a:schemeClr val="tx1"/>
                        </a:solidFill>
                      </a:endParaRP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717666487"/>
                  </a:ext>
                </a:extLst>
              </a:tr>
              <a:tr h="493437">
                <a:tc>
                  <a:txBody>
                    <a:bodyPr/>
                    <a:lstStyle/>
                    <a:p>
                      <a:pPr algn="l"/>
                      <a:r>
                        <a:rPr lang="en-IN" sz="1000" b="0" i="0" u="none" strike="noStrike" cap="none" baseline="0" dirty="0">
                          <a:solidFill>
                            <a:schemeClr val="dk1"/>
                          </a:solidFill>
                          <a:latin typeface="+mn-lt"/>
                          <a:ea typeface="+mn-ea"/>
                          <a:cs typeface="+mn-cs"/>
                          <a:sym typeface="Arial"/>
                        </a:rPr>
                        <a:t>CALL </a:t>
                      </a:r>
                      <a:r>
                        <a:rPr lang="en-IN" sz="1000" b="0" i="0" u="none" strike="noStrike" cap="none" baseline="0" dirty="0" err="1">
                          <a:solidFill>
                            <a:schemeClr val="dk1"/>
                          </a:solidFill>
                          <a:latin typeface="+mn-lt"/>
                          <a:ea typeface="+mn-ea"/>
                          <a:cs typeface="+mn-cs"/>
                          <a:sym typeface="Arial"/>
                        </a:rPr>
                        <a:t>proc</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00" b="0" i="0" u="none" strike="noStrike" cap="none" baseline="0" dirty="0">
                          <a:solidFill>
                            <a:schemeClr val="dk1"/>
                          </a:solidFill>
                          <a:latin typeface="+mn-lt"/>
                          <a:ea typeface="+mn-ea"/>
                          <a:cs typeface="+mn-cs"/>
                          <a:sym typeface="Arial"/>
                        </a:rPr>
                        <a:t>Saves procedure linking information on the stack and branches to the called procedure specified using the operand. The operand specifies the address of the first instruction in the called procedure.</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062764516"/>
                  </a:ext>
                </a:extLst>
              </a:tr>
              <a:tr h="356371">
                <a:tc>
                  <a:txBody>
                    <a:bodyPr/>
                    <a:lstStyle/>
                    <a:p>
                      <a:pPr algn="l"/>
                      <a:r>
                        <a:rPr lang="en-IN" sz="1000" b="0" i="0" u="none" strike="noStrike" cap="none" baseline="0" dirty="0">
                          <a:solidFill>
                            <a:schemeClr val="dk1"/>
                          </a:solidFill>
                          <a:latin typeface="+mn-lt"/>
                          <a:ea typeface="+mn-ea"/>
                          <a:cs typeface="+mn-cs"/>
                          <a:sym typeface="Arial"/>
                        </a:rPr>
                        <a:t>RET</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0" i="0" u="none" strike="noStrike" cap="none" baseline="0" dirty="0">
                          <a:solidFill>
                            <a:schemeClr val="dk1"/>
                          </a:solidFill>
                          <a:latin typeface="+mn-lt"/>
                          <a:ea typeface="+mn-ea"/>
                          <a:cs typeface="+mn-cs"/>
                          <a:sym typeface="Arial"/>
                        </a:rPr>
                        <a:t>Transfers program control to a return address located on the top of the stack. The</a:t>
                      </a:r>
                    </a:p>
                    <a:p>
                      <a:pPr marL="0" marR="0" indent="0" algn="l" defTabSz="914400" rtl="0" eaLnBrk="1" fontAlgn="auto" latinLnBrk="0" hangingPunct="1">
                        <a:lnSpc>
                          <a:spcPct val="100000"/>
                        </a:lnSpc>
                        <a:spcBef>
                          <a:spcPts val="0"/>
                        </a:spcBef>
                        <a:spcAft>
                          <a:spcPts val="0"/>
                        </a:spcAft>
                        <a:buClrTx/>
                        <a:buSzTx/>
                        <a:buFontTx/>
                        <a:buNone/>
                        <a:tabLst/>
                        <a:defRPr/>
                      </a:pPr>
                      <a:r>
                        <a:rPr lang="en-US" sz="1000" b="0" i="0" u="none" strike="noStrike" cap="none" baseline="0" dirty="0">
                          <a:solidFill>
                            <a:schemeClr val="dk1"/>
                          </a:solidFill>
                          <a:latin typeface="+mn-lt"/>
                          <a:ea typeface="+mn-ea"/>
                          <a:cs typeface="+mn-cs"/>
                          <a:sym typeface="Arial"/>
                        </a:rPr>
                        <a:t>return is made to the instruction that follows the CALL instruction.</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801756320"/>
                  </a:ext>
                </a:extLst>
              </a:tr>
              <a:tr h="356371">
                <a:tc>
                  <a:txBody>
                    <a:bodyPr/>
                    <a:lstStyle/>
                    <a:p>
                      <a:pPr algn="l"/>
                      <a:r>
                        <a:rPr lang="en-IN" sz="1000" b="0" i="0" u="none" strike="noStrike" cap="none" baseline="0" dirty="0">
                          <a:solidFill>
                            <a:schemeClr val="dk1"/>
                          </a:solidFill>
                          <a:latin typeface="+mn-lt"/>
                          <a:ea typeface="+mn-ea"/>
                          <a:cs typeface="+mn-cs"/>
                          <a:sym typeface="Arial"/>
                        </a:rPr>
                        <a:t>JMP </a:t>
                      </a:r>
                      <a:r>
                        <a:rPr lang="en-IN" sz="1000" b="0" i="0" u="none" strike="noStrike" cap="none" baseline="0" dirty="0" err="1">
                          <a:solidFill>
                            <a:schemeClr val="dk1"/>
                          </a:solidFill>
                          <a:latin typeface="+mn-lt"/>
                          <a:ea typeface="+mn-ea"/>
                          <a:cs typeface="+mn-cs"/>
                          <a:sym typeface="Arial"/>
                        </a:rPr>
                        <a:t>Dest</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00" b="0" i="0" u="none" strike="noStrike" cap="none" baseline="0" dirty="0">
                          <a:solidFill>
                            <a:schemeClr val="dk1"/>
                          </a:solidFill>
                          <a:latin typeface="+mn-lt"/>
                          <a:ea typeface="+mn-ea"/>
                          <a:cs typeface="+mn-cs"/>
                          <a:sym typeface="Arial"/>
                        </a:rPr>
                        <a:t>Transfers program control to a different point in the instruction stream without recording return information. The operand specifies the address of the instruction being jumped to.</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007438362"/>
                  </a:ext>
                </a:extLst>
              </a:tr>
              <a:tr h="537486">
                <a:tc>
                  <a:txBody>
                    <a:bodyPr/>
                    <a:lstStyle/>
                    <a:p>
                      <a:pPr algn="l"/>
                      <a:r>
                        <a:rPr lang="en-IN" sz="1000" dirty="0" err="1"/>
                        <a:t>Jcc</a:t>
                      </a:r>
                      <a:r>
                        <a:rPr lang="en-IN" sz="1000" dirty="0"/>
                        <a:t> </a:t>
                      </a:r>
                      <a:r>
                        <a:rPr lang="en-IN" sz="1000" dirty="0" err="1"/>
                        <a:t>Dest</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00" dirty="0"/>
                        <a:t>Checks the state of one or more of the status flags in the EFLAGS register (CF, OF, PF, SF, and ZF) and, if the flags are in the specified state (condition), performs a jump to the target instruction specified by the destination operand. See Tables 13.8 and 13.9.</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590917915"/>
                  </a:ext>
                </a:extLst>
              </a:tr>
              <a:tr h="493437">
                <a:tc>
                  <a:txBody>
                    <a:bodyPr/>
                    <a:lstStyle/>
                    <a:p>
                      <a:pPr algn="l"/>
                      <a:r>
                        <a:rPr lang="en-IN" sz="1000" dirty="0"/>
                        <a:t>NOP</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00" dirty="0"/>
                        <a:t>This instruction performs no operation. It is a one-byte or multi-byte NOP that takes up space in the instruction stream but does not impact machine context, except for the EIP register.</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116617951"/>
                  </a:ext>
                </a:extLst>
              </a:tr>
              <a:tr h="493437">
                <a:tc>
                  <a:txBody>
                    <a:bodyPr/>
                    <a:lstStyle/>
                    <a:p>
                      <a:pPr algn="l"/>
                      <a:r>
                        <a:rPr lang="en-IN" sz="1000" dirty="0"/>
                        <a:t>HLT</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00" dirty="0"/>
                        <a:t>Stops instruction execution and places the processor in a HALT state. An enabled</a:t>
                      </a:r>
                    </a:p>
                    <a:p>
                      <a:pPr algn="l"/>
                      <a:r>
                        <a:rPr lang="en-US" sz="1000" dirty="0"/>
                        <a:t>interrupt, a debug exception, the BINIT# signal, the INIT# signal, or the RESET#</a:t>
                      </a:r>
                    </a:p>
                    <a:p>
                      <a:pPr algn="l"/>
                      <a:r>
                        <a:rPr lang="en-US" sz="1000" dirty="0"/>
                        <a:t>signal will resume execution.</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344785174"/>
                  </a:ext>
                </a:extLst>
              </a:tr>
              <a:tr h="356371">
                <a:tc>
                  <a:txBody>
                    <a:bodyPr/>
                    <a:lstStyle/>
                    <a:p>
                      <a:pPr algn="l"/>
                      <a:r>
                        <a:rPr lang="en-IN" sz="1000" dirty="0"/>
                        <a:t>WAIT</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00" dirty="0"/>
                        <a:t>Causes the processor to repeatedly check for and handle pending, unmasked, floating-point exceptions before proceeding.</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510487134"/>
                  </a:ext>
                </a:extLst>
              </a:tr>
              <a:tr h="219306">
                <a:tc>
                  <a:txBody>
                    <a:bodyPr/>
                    <a:lstStyle/>
                    <a:p>
                      <a:pPr algn="l"/>
                      <a:r>
                        <a:rPr lang="en-IN" sz="1000" dirty="0"/>
                        <a:t>INT </a:t>
                      </a:r>
                      <a:r>
                        <a:rPr lang="en-IN" sz="1000" dirty="0" err="1"/>
                        <a:t>Nr</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000" dirty="0"/>
                        <a:t>Interrupts current program, runs specified interrupt program</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948531353"/>
                  </a:ext>
                </a:extLst>
              </a:tr>
            </a:tbl>
          </a:graphicData>
        </a:graphic>
      </p:graphicFrame>
      <p:graphicFrame>
        <p:nvGraphicFramePr>
          <p:cNvPr id="12" name="Table 11" descr="The lists of types of operations continues. The list titled, transfer of control reads as follows. 1. CALL p r o c. Saves procedure linking information on the stack and branches to the called procedure specified using the operand. The operand specifies the address of the first instruction in the called procedure. 2. R E T Transfers program control to a return address located on the top of the stack. The return is made to the instruction that follows the CALL instruction. 3. J M P D e s t Transfers program control to a different point in the instruction stream without recording return information. The operand specifies the address of the instruction being jumped to. 4. J c c D e s t Checks the state of one or more of the status flags in the E F L A G S register, the C F, O F, P F, S F, and Z F, and, if the flags are in the specified state left parenthesis condition right parenthesis, performs a jump to the target instruction specified by the destination operand. See Tables 13 point 8 and 13 point 9. 5. N O P This instruction performs no operation. It is a one-byte or multi-byte N O P that takes up space In the instruction stream but does not impact machine context, except for the E I P register. 6. H L T Stops instruction execution and places the processor in a HALT state. An enabled interrupt, a debug exception, the B I N I T number signal, the I N I T number signal, or the RESET number signal will resume execution. 7. WAIT Causes the processor to repeatedly check for and handle pending, unmasked, floating-point exceptions before proceeding. 8. I N T N r Interrupts current program, runs specified interrupt program. The list labeled, input slash output reads as follows. 1. I N D e s t, Source Copies the data from the I O port specified by the source operand to the destination operand, which is a register location. 2. I N S D e s t, Source Copies the data from the I slash O port specified by the source operand to the destination operand, which is a memory location. 3. OUT D e s t, Source Copies the byte, word, or doubleword value from the source register to the I O port specified by the destination operand. 4. OUTS D e s t, Source Copies byte, word, or doubleword from the source operand to the I O port specified with the destination operand. The source operand is a memory location." title="The lists from the previous page continue."/>
          <p:cNvGraphicFramePr>
            <a:graphicFrameLocks noGrp="1"/>
          </p:cNvGraphicFramePr>
          <p:nvPr/>
        </p:nvGraphicFramePr>
        <p:xfrm>
          <a:off x="87549" y="4498078"/>
          <a:ext cx="6500675" cy="1844040"/>
        </p:xfrm>
        <a:graphic>
          <a:graphicData uri="http://schemas.openxmlformats.org/drawingml/2006/table">
            <a:tbl>
              <a:tblPr firstRow="1" bandRow="1">
                <a:tableStyleId>{5C22544A-7EE6-4342-B048-85BDC9FD1C3A}</a:tableStyleId>
              </a:tblPr>
              <a:tblGrid>
                <a:gridCol w="1748147">
                  <a:extLst>
                    <a:ext uri="{9D8B030D-6E8A-4147-A177-3AD203B41FA5}">
                      <a16:colId xmlns:a16="http://schemas.microsoft.com/office/drawing/2014/main" val="3102758518"/>
                    </a:ext>
                  </a:extLst>
                </a:gridCol>
                <a:gridCol w="4752528">
                  <a:extLst>
                    <a:ext uri="{9D8B030D-6E8A-4147-A177-3AD203B41FA5}">
                      <a16:colId xmlns:a16="http://schemas.microsoft.com/office/drawing/2014/main" val="2543019389"/>
                    </a:ext>
                  </a:extLst>
                </a:gridCol>
              </a:tblGrid>
              <a:tr h="239356">
                <a:tc>
                  <a:txBody>
                    <a:bodyPr/>
                    <a:lstStyle/>
                    <a:p>
                      <a:pPr algn="l"/>
                      <a:r>
                        <a:rPr lang="en-IN" sz="1100" b="1" i="0" u="none" strike="noStrike" cap="none" baseline="0" dirty="0">
                          <a:solidFill>
                            <a:schemeClr val="tx1"/>
                          </a:solidFill>
                          <a:latin typeface="+mn-lt"/>
                          <a:ea typeface="+mn-ea"/>
                          <a:cs typeface="+mn-cs"/>
                          <a:sym typeface="Arial"/>
                        </a:rPr>
                        <a:t>Operation Name</a:t>
                      </a:r>
                      <a:endParaRPr lang="en-IN" sz="1100" b="1" dirty="0">
                        <a:solidFill>
                          <a:schemeClr val="tx1"/>
                        </a:solidFill>
                      </a:endParaRP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100" b="1" i="0" u="none" strike="noStrike" cap="none" baseline="0" dirty="0">
                          <a:solidFill>
                            <a:schemeClr val="tx1"/>
                          </a:solidFill>
                          <a:latin typeface="+mn-lt"/>
                          <a:ea typeface="+mn-ea"/>
                          <a:cs typeface="+mn-cs"/>
                          <a:sym typeface="Arial"/>
                        </a:rPr>
                        <a:t>Description</a:t>
                      </a:r>
                      <a:endParaRPr lang="en-IN" sz="1100" b="1" dirty="0">
                        <a:solidFill>
                          <a:schemeClr val="tx1"/>
                        </a:solidFill>
                      </a:endParaRP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717666487"/>
                  </a:ext>
                </a:extLst>
              </a:tr>
              <a:tr h="250313">
                <a:tc>
                  <a:txBody>
                    <a:bodyPr/>
                    <a:lstStyle/>
                    <a:p>
                      <a:pPr algn="l"/>
                      <a:r>
                        <a:rPr lang="en-IN" sz="1000" b="0" i="0" u="none" strike="noStrike" cap="none" baseline="0" dirty="0">
                          <a:solidFill>
                            <a:schemeClr val="dk1"/>
                          </a:solidFill>
                          <a:latin typeface="+mn-lt"/>
                          <a:ea typeface="+mn-ea"/>
                          <a:cs typeface="+mn-cs"/>
                          <a:sym typeface="Arial"/>
                        </a:rPr>
                        <a:t>IN </a:t>
                      </a:r>
                      <a:r>
                        <a:rPr lang="en-IN" sz="1000" b="0" i="0" u="none" strike="noStrike" cap="none" baseline="0" dirty="0" err="1">
                          <a:solidFill>
                            <a:schemeClr val="dk1"/>
                          </a:solidFill>
                          <a:latin typeface="+mn-lt"/>
                          <a:ea typeface="+mn-ea"/>
                          <a:cs typeface="+mn-cs"/>
                          <a:sym typeface="Arial"/>
                        </a:rPr>
                        <a:t>Dest</a:t>
                      </a:r>
                      <a:r>
                        <a:rPr lang="en-IN" sz="1000" b="0" i="0" u="none" strike="noStrike" cap="none" baseline="0" dirty="0">
                          <a:solidFill>
                            <a:schemeClr val="dk1"/>
                          </a:solidFill>
                          <a:latin typeface="+mn-lt"/>
                          <a:ea typeface="+mn-ea"/>
                          <a:cs typeface="+mn-cs"/>
                          <a:sym typeface="Arial"/>
                        </a:rPr>
                        <a:t>, Source</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00" b="0" i="0" u="none" strike="noStrike" cap="none" baseline="0" dirty="0">
                          <a:solidFill>
                            <a:schemeClr val="dk1"/>
                          </a:solidFill>
                          <a:latin typeface="+mn-lt"/>
                          <a:ea typeface="+mn-ea"/>
                          <a:cs typeface="+mn-cs"/>
                          <a:sym typeface="Arial"/>
                        </a:rPr>
                        <a:t>Copies the data from the I/O port specified by the source operand to the destination operand, which is a register location.</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062764516"/>
                  </a:ext>
                </a:extLst>
              </a:tr>
              <a:tr h="225276">
                <a:tc>
                  <a:txBody>
                    <a:bodyPr/>
                    <a:lstStyle/>
                    <a:p>
                      <a:pPr algn="l"/>
                      <a:r>
                        <a:rPr lang="en-IN" sz="1000" b="0" i="0" u="none" strike="noStrike" cap="none" baseline="0" dirty="0">
                          <a:solidFill>
                            <a:schemeClr val="dk1"/>
                          </a:solidFill>
                          <a:latin typeface="+mn-lt"/>
                          <a:ea typeface="+mn-ea"/>
                          <a:cs typeface="+mn-cs"/>
                          <a:sym typeface="Arial"/>
                        </a:rPr>
                        <a:t>INS </a:t>
                      </a:r>
                      <a:r>
                        <a:rPr lang="en-IN" sz="1000" b="0" i="0" u="none" strike="noStrike" cap="none" baseline="0" dirty="0" err="1">
                          <a:solidFill>
                            <a:schemeClr val="dk1"/>
                          </a:solidFill>
                          <a:latin typeface="+mn-lt"/>
                          <a:ea typeface="+mn-ea"/>
                          <a:cs typeface="+mn-cs"/>
                          <a:sym typeface="Arial"/>
                        </a:rPr>
                        <a:t>Dest</a:t>
                      </a:r>
                      <a:r>
                        <a:rPr lang="en-IN" sz="1000" b="0" i="0" u="none" strike="noStrike" cap="none" baseline="0" dirty="0">
                          <a:solidFill>
                            <a:schemeClr val="dk1"/>
                          </a:solidFill>
                          <a:latin typeface="+mn-lt"/>
                          <a:ea typeface="+mn-ea"/>
                          <a:cs typeface="+mn-cs"/>
                          <a:sym typeface="Arial"/>
                        </a:rPr>
                        <a:t>, Source</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0" i="0" u="none" strike="noStrike" cap="none" baseline="0" dirty="0">
                          <a:solidFill>
                            <a:schemeClr val="dk1"/>
                          </a:solidFill>
                          <a:latin typeface="+mn-lt"/>
                          <a:ea typeface="+mn-ea"/>
                          <a:cs typeface="+mn-cs"/>
                          <a:sym typeface="Arial"/>
                        </a:rPr>
                        <a:t>Copies the data from the I/O port specified by the source operand to the destination operand, which is a memory location.</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801756320"/>
                  </a:ext>
                </a:extLst>
              </a:tr>
              <a:tr h="366074">
                <a:tc>
                  <a:txBody>
                    <a:bodyPr/>
                    <a:lstStyle/>
                    <a:p>
                      <a:pPr algn="l"/>
                      <a:r>
                        <a:rPr lang="en-IN" sz="1000" b="0" i="0" u="none" strike="noStrike" cap="none" baseline="0" dirty="0">
                          <a:solidFill>
                            <a:schemeClr val="dk1"/>
                          </a:solidFill>
                          <a:latin typeface="+mn-lt"/>
                          <a:ea typeface="+mn-ea"/>
                          <a:cs typeface="+mn-cs"/>
                          <a:sym typeface="Arial"/>
                        </a:rPr>
                        <a:t>OUT </a:t>
                      </a:r>
                      <a:r>
                        <a:rPr lang="en-IN" sz="1000" b="0" i="0" u="none" strike="noStrike" cap="none" baseline="0" dirty="0" err="1">
                          <a:solidFill>
                            <a:schemeClr val="dk1"/>
                          </a:solidFill>
                          <a:latin typeface="+mn-lt"/>
                          <a:ea typeface="+mn-ea"/>
                          <a:cs typeface="+mn-cs"/>
                          <a:sym typeface="Arial"/>
                        </a:rPr>
                        <a:t>Dest</a:t>
                      </a:r>
                      <a:r>
                        <a:rPr lang="en-IN" sz="1000" b="0" i="0" u="none" strike="noStrike" cap="none" baseline="0" dirty="0">
                          <a:solidFill>
                            <a:schemeClr val="dk1"/>
                          </a:solidFill>
                          <a:latin typeface="+mn-lt"/>
                          <a:ea typeface="+mn-ea"/>
                          <a:cs typeface="+mn-cs"/>
                          <a:sym typeface="Arial"/>
                        </a:rPr>
                        <a:t>, Source</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00" b="0" i="0" u="none" strike="noStrike" cap="none" baseline="0" dirty="0">
                          <a:solidFill>
                            <a:schemeClr val="dk1"/>
                          </a:solidFill>
                          <a:latin typeface="+mn-lt"/>
                          <a:ea typeface="+mn-ea"/>
                          <a:cs typeface="+mn-cs"/>
                          <a:sym typeface="Arial"/>
                        </a:rPr>
                        <a:t>Copies the byte, word, or </a:t>
                      </a:r>
                      <a:r>
                        <a:rPr lang="en-US" sz="1000" b="0" i="0" u="none" strike="noStrike" cap="none" baseline="0" dirty="0" err="1">
                          <a:solidFill>
                            <a:schemeClr val="dk1"/>
                          </a:solidFill>
                          <a:latin typeface="+mn-lt"/>
                          <a:ea typeface="+mn-ea"/>
                          <a:cs typeface="+mn-cs"/>
                          <a:sym typeface="Arial"/>
                        </a:rPr>
                        <a:t>doubleword</a:t>
                      </a:r>
                      <a:r>
                        <a:rPr lang="en-US" sz="1000" b="0" i="0" u="none" strike="noStrike" cap="none" baseline="0" dirty="0">
                          <a:solidFill>
                            <a:schemeClr val="dk1"/>
                          </a:solidFill>
                          <a:latin typeface="+mn-lt"/>
                          <a:ea typeface="+mn-ea"/>
                          <a:cs typeface="+mn-cs"/>
                          <a:sym typeface="Arial"/>
                        </a:rPr>
                        <a:t> value from the source register to the I/O port specified by the destination operand.</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007438362"/>
                  </a:ext>
                </a:extLst>
              </a:tr>
              <a:tr h="225276">
                <a:tc>
                  <a:txBody>
                    <a:bodyPr/>
                    <a:lstStyle/>
                    <a:p>
                      <a:pPr algn="l"/>
                      <a:r>
                        <a:rPr lang="en-IN" sz="1000" dirty="0"/>
                        <a:t>XOR </a:t>
                      </a:r>
                      <a:r>
                        <a:rPr lang="en-IN" sz="1000" dirty="0" err="1"/>
                        <a:t>Dest</a:t>
                      </a:r>
                      <a:r>
                        <a:rPr lang="en-IN" sz="1000" dirty="0"/>
                        <a:t>, Source</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000" dirty="0"/>
                        <a:t>Copies byte, word, or </a:t>
                      </a:r>
                      <a:r>
                        <a:rPr lang="en-US" sz="1000" dirty="0" err="1"/>
                        <a:t>doubleword</a:t>
                      </a:r>
                      <a:r>
                        <a:rPr lang="en-US" sz="1000" dirty="0"/>
                        <a:t> from the source operand to the I/O port specified with the destination operand. The source operand is a memory location.</a:t>
                      </a:r>
                      <a:endParaRPr lang="en-IN" sz="1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590917915"/>
                  </a:ext>
                </a:extLst>
              </a:tr>
            </a:tbl>
          </a:graphicData>
        </a:graphic>
      </p:graphicFrame>
      <p:sp>
        <p:nvSpPr>
          <p:cNvPr id="13" name="TextBox 12"/>
          <p:cNvSpPr txBox="1"/>
          <p:nvPr/>
        </p:nvSpPr>
        <p:spPr>
          <a:xfrm>
            <a:off x="2555776" y="4173885"/>
            <a:ext cx="1569660" cy="338554"/>
          </a:xfrm>
          <a:prstGeom prst="rect">
            <a:avLst/>
          </a:prstGeom>
          <a:noFill/>
        </p:spPr>
        <p:txBody>
          <a:bodyPr wrap="none" rtlCol="0">
            <a:spAutoFit/>
          </a:bodyPr>
          <a:lstStyle/>
          <a:p>
            <a:r>
              <a:rPr lang="en-IN" sz="1600" dirty="0">
                <a:latin typeface="+mj-lt"/>
              </a:rPr>
              <a:t>(f) </a:t>
            </a:r>
            <a:r>
              <a:rPr lang="en-IN" sz="1600" dirty="0" err="1">
                <a:latin typeface="+mj-lt"/>
              </a:rPr>
              <a:t>Input/Output</a:t>
            </a:r>
            <a:endParaRPr lang="en-IN" sz="1600" dirty="0">
              <a:latin typeface="+mj-lt"/>
            </a:endParaRPr>
          </a:p>
        </p:txBody>
      </p:sp>
      <p:sp>
        <p:nvSpPr>
          <p:cNvPr id="14" name="TextBox 13"/>
          <p:cNvSpPr txBox="1"/>
          <p:nvPr/>
        </p:nvSpPr>
        <p:spPr>
          <a:xfrm>
            <a:off x="2555776" y="-30435"/>
            <a:ext cx="2194703" cy="338554"/>
          </a:xfrm>
          <a:prstGeom prst="rect">
            <a:avLst/>
          </a:prstGeom>
          <a:noFill/>
        </p:spPr>
        <p:txBody>
          <a:bodyPr wrap="none" rtlCol="0">
            <a:spAutoFit/>
          </a:bodyPr>
          <a:lstStyle/>
          <a:p>
            <a:r>
              <a:rPr lang="en-IN" sz="1600" dirty="0">
                <a:latin typeface="+mj-lt"/>
              </a:rPr>
              <a:t>(e) Transfer of Control</a:t>
            </a:r>
          </a:p>
        </p:txBody>
      </p:sp>
      <p:sp>
        <p:nvSpPr>
          <p:cNvPr id="4" name="Rectangle 3"/>
          <p:cNvSpPr/>
          <p:nvPr/>
        </p:nvSpPr>
        <p:spPr>
          <a:xfrm>
            <a:off x="6260340" y="5805264"/>
            <a:ext cx="2883660" cy="461665"/>
          </a:xfrm>
          <a:prstGeom prst="rect">
            <a:avLst/>
          </a:prstGeom>
        </p:spPr>
        <p:txBody>
          <a:bodyPr wrap="square">
            <a:spAutoFit/>
          </a:bodyPr>
          <a:lstStyle/>
          <a:p>
            <a:pPr algn="ctr"/>
            <a:r>
              <a:rPr lang="en-US" sz="1200" dirty="0">
                <a:latin typeface="+mn-lt"/>
              </a:rPr>
              <a:t>(Table can be found on page </a:t>
            </a:r>
          </a:p>
          <a:p>
            <a:pPr algn="ctr"/>
            <a:r>
              <a:rPr lang="en-US" sz="1200" dirty="0"/>
              <a:t>446-447 </a:t>
            </a:r>
            <a:r>
              <a:rPr lang="en-US" sz="1200" dirty="0">
                <a:latin typeface="+mn-lt"/>
              </a:rPr>
              <a:t>in the textbook.)</a:t>
            </a:r>
          </a:p>
        </p:txBody>
      </p:sp>
      <p:sp>
        <p:nvSpPr>
          <p:cNvPr id="8" name="TextBox 7">
            <a:hlinkClick r:id="rId3" action="ppaction://hlinksldjump"/>
            <a:extLst>
              <a:ext uri="{FF2B5EF4-FFF2-40B4-BE49-F238E27FC236}">
                <a16:creationId xmlns:a16="http://schemas.microsoft.com/office/drawing/2014/main" id="{E7694339-A2E0-4E49-B3BC-1DB7DF5A57A4}"/>
              </a:ext>
            </a:extLst>
          </p:cNvPr>
          <p:cNvSpPr txBox="1"/>
          <p:nvPr/>
        </p:nvSpPr>
        <p:spPr>
          <a:xfrm>
            <a:off x="7884368" y="6290559"/>
            <a:ext cx="1040670" cy="461665"/>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dirty="0">
                <a:hlinkClick r:id="rId3" action="ppaction://hlinksldjump"/>
              </a:rPr>
              <a:t>BACK</a:t>
            </a:r>
            <a:endParaRPr lang="en-MY" dirty="0"/>
          </a:p>
        </p:txBody>
      </p:sp>
    </p:spTree>
    <p:extLst>
      <p:ext uri="{BB962C8B-B14F-4D97-AF65-F5344CB8AC3E}">
        <p14:creationId xmlns:p14="http://schemas.microsoft.com/office/powerpoint/2010/main" val="2272589407"/>
      </p:ext>
    </p:extLst>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84398"/>
            <a:ext cx="8229600" cy="1097279"/>
          </a:xfrm>
        </p:spPr>
        <p:txBody>
          <a:bodyPr/>
          <a:lstStyle/>
          <a:p>
            <a:r>
              <a:rPr lang="en-US" dirty="0"/>
              <a:t>x86 Operation Types</a:t>
            </a:r>
          </a:p>
        </p:txBody>
      </p:sp>
      <p:sp>
        <p:nvSpPr>
          <p:cNvPr id="4" name="Content Placeholder 3"/>
          <p:cNvSpPr>
            <a:spLocks noGrp="1"/>
          </p:cNvSpPr>
          <p:nvPr>
            <p:ph type="body" idx="1"/>
          </p:nvPr>
        </p:nvSpPr>
        <p:spPr>
          <a:xfrm>
            <a:off x="457200" y="1623950"/>
            <a:ext cx="8229600" cy="4525963"/>
          </a:xfrm>
        </p:spPr>
        <p:txBody>
          <a:bodyPr>
            <a:normAutofit fontScale="70000" lnSpcReduction="20000"/>
          </a:bodyPr>
          <a:lstStyle/>
          <a:p>
            <a:pPr marL="296863" indent="-296863"/>
            <a:r>
              <a:rPr lang="en-US" sz="2600" dirty="0"/>
              <a:t>The x86 provides a complex array of operation types including a number of specialized instructions</a:t>
            </a:r>
          </a:p>
          <a:p>
            <a:pPr marL="296863" indent="-296863"/>
            <a:r>
              <a:rPr lang="en-US" sz="2600" dirty="0"/>
              <a:t>The intent was to provide tools for the compiler writer to produce optimized machine language translation of high-level language programs</a:t>
            </a:r>
          </a:p>
          <a:p>
            <a:pPr marL="296863" indent="-296863"/>
            <a:r>
              <a:rPr lang="en-US" sz="2600" dirty="0"/>
              <a:t>Provides four instructions to support procedure call/return:</a:t>
            </a:r>
          </a:p>
          <a:p>
            <a:pPr marL="628650" lvl="1" indent="-331788"/>
            <a:r>
              <a:rPr lang="en-US" sz="2100" dirty="0"/>
              <a:t>CALL</a:t>
            </a:r>
          </a:p>
          <a:p>
            <a:pPr marL="628650" lvl="1" indent="-331788"/>
            <a:r>
              <a:rPr lang="en-US" sz="2100" dirty="0"/>
              <a:t>ENTER</a:t>
            </a:r>
          </a:p>
          <a:p>
            <a:pPr marL="628650" lvl="1" indent="-331788"/>
            <a:r>
              <a:rPr lang="en-US" sz="2100" dirty="0"/>
              <a:t>LEAVE</a:t>
            </a:r>
          </a:p>
          <a:p>
            <a:pPr marL="628650" lvl="1" indent="-331788"/>
            <a:r>
              <a:rPr lang="en-US" sz="2100" dirty="0"/>
              <a:t>RETURN</a:t>
            </a:r>
          </a:p>
          <a:p>
            <a:pPr marL="296863" indent="-296863"/>
            <a:r>
              <a:rPr lang="en-US" sz="2600" dirty="0"/>
              <a:t>When a new procedure is called the following must be performed upon entry to the new procedure:</a:t>
            </a:r>
          </a:p>
          <a:p>
            <a:pPr marL="628650" lvl="1" indent="-331788"/>
            <a:r>
              <a:rPr lang="en-US" sz="2100" dirty="0"/>
              <a:t>Push the return point on the stack</a:t>
            </a:r>
          </a:p>
          <a:p>
            <a:pPr marL="628650" lvl="1" indent="-331788"/>
            <a:r>
              <a:rPr lang="en-US" sz="2100" dirty="0"/>
              <a:t>Push the current frame pointer on the stack</a:t>
            </a:r>
          </a:p>
          <a:p>
            <a:pPr marL="628650" lvl="1" indent="-331788"/>
            <a:r>
              <a:rPr lang="en-US" sz="2100" dirty="0"/>
              <a:t>Copy the stack pointer as the new value of the frame pointer</a:t>
            </a:r>
          </a:p>
          <a:p>
            <a:pPr marL="628650" lvl="1" indent="-331788"/>
            <a:r>
              <a:rPr lang="en-US" sz="2100" dirty="0"/>
              <a:t>Adjust the stack pointer to allocate a frame</a:t>
            </a:r>
          </a:p>
        </p:txBody>
      </p:sp>
    </p:spTree>
    <p:extLst>
      <p:ext uri="{BB962C8B-B14F-4D97-AF65-F5344CB8AC3E}">
        <p14:creationId xmlns:p14="http://schemas.microsoft.com/office/powerpoint/2010/main" val="87773166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noChangeArrowheads="1"/>
          </p:cNvSpPr>
          <p:nvPr>
            <p:ph type="title"/>
          </p:nvPr>
        </p:nvSpPr>
        <p:spPr>
          <a:xfrm>
            <a:off x="457200" y="243621"/>
            <a:ext cx="8229600" cy="1097279"/>
          </a:xfrm>
          <a:noFill/>
          <a:ln/>
        </p:spPr>
        <p:txBody>
          <a:bodyPr lIns="90488" tIns="44450" rIns="90488" bIns="44450"/>
          <a:lstStyle/>
          <a:p>
            <a:r>
              <a:rPr lang="en-US" dirty="0"/>
              <a:t>Table 13.8 </a:t>
            </a:r>
            <a:br>
              <a:rPr lang="en-US" dirty="0"/>
            </a:br>
            <a:r>
              <a:rPr lang="en-US" dirty="0"/>
              <a:t>x86 Status Flags</a:t>
            </a:r>
          </a:p>
        </p:txBody>
      </p:sp>
      <p:graphicFrame>
        <p:nvGraphicFramePr>
          <p:cNvPr id="19" name="Table 18" descr="C Carry Indicates carrying or borrowing out of the left most bit position following an arithmetic operation. Also modified by some of the shift and rotate operations. P Parity. Parity of the least significant byte of the result of an arithmetic or logic  operation. 1 indicates even parity, 0 indicates odd parity. A Auxiliary Carry Represents carrying or borrowing between half bytes of an 8-bit arithmetic or logic operation. Used in binary-  coded decimal arithmetic. Z Zero Indicates that the result of an arithmetic or logic operation is 0. S Sign Indicates the sign of the result of an arithmetic or logic operation. O Overflow Indicates an arithmetic overflow after an addition or subtraction for twos complement arithmetic." title="A table titled, x 86 status flags."/>
          <p:cNvGraphicFramePr>
            <a:graphicFrameLocks noGrp="1"/>
          </p:cNvGraphicFramePr>
          <p:nvPr/>
        </p:nvGraphicFramePr>
        <p:xfrm>
          <a:off x="206033" y="1569019"/>
          <a:ext cx="8686446" cy="4679690"/>
        </p:xfrm>
        <a:graphic>
          <a:graphicData uri="http://schemas.openxmlformats.org/drawingml/2006/table">
            <a:tbl>
              <a:tblPr firstRow="1" bandRow="1">
                <a:tableStyleId>{5C22544A-7EE6-4342-B048-85BDC9FD1C3A}</a:tableStyleId>
              </a:tblPr>
              <a:tblGrid>
                <a:gridCol w="1237756">
                  <a:extLst>
                    <a:ext uri="{9D8B030D-6E8A-4147-A177-3AD203B41FA5}">
                      <a16:colId xmlns:a16="http://schemas.microsoft.com/office/drawing/2014/main" val="528802535"/>
                    </a:ext>
                  </a:extLst>
                </a:gridCol>
                <a:gridCol w="1616043">
                  <a:extLst>
                    <a:ext uri="{9D8B030D-6E8A-4147-A177-3AD203B41FA5}">
                      <a16:colId xmlns:a16="http://schemas.microsoft.com/office/drawing/2014/main" val="3102758518"/>
                    </a:ext>
                  </a:extLst>
                </a:gridCol>
                <a:gridCol w="5832647">
                  <a:extLst>
                    <a:ext uri="{9D8B030D-6E8A-4147-A177-3AD203B41FA5}">
                      <a16:colId xmlns:a16="http://schemas.microsoft.com/office/drawing/2014/main" val="2543019389"/>
                    </a:ext>
                  </a:extLst>
                </a:gridCol>
              </a:tblGrid>
              <a:tr h="453279">
                <a:tc>
                  <a:txBody>
                    <a:bodyPr/>
                    <a:lstStyle/>
                    <a:p>
                      <a:pPr algn="ctr"/>
                      <a:r>
                        <a:rPr lang="en-IN" sz="1600" b="1" i="0" u="none" strike="noStrike" cap="none" baseline="0" dirty="0">
                          <a:solidFill>
                            <a:schemeClr val="tx1"/>
                          </a:solidFill>
                          <a:latin typeface="+mn-lt"/>
                          <a:ea typeface="+mn-ea"/>
                          <a:cs typeface="+mn-cs"/>
                          <a:sym typeface="Arial"/>
                        </a:rPr>
                        <a:t>Status Bit</a:t>
                      </a:r>
                      <a:endParaRPr lang="en-IN" sz="16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IN" sz="1600" b="1" i="0" u="none" strike="noStrike" cap="none" baseline="0" dirty="0">
                          <a:solidFill>
                            <a:schemeClr val="tx1"/>
                          </a:solidFill>
                          <a:latin typeface="+mn-lt"/>
                          <a:ea typeface="+mn-ea"/>
                          <a:cs typeface="+mn-cs"/>
                          <a:sym typeface="Arial"/>
                        </a:rPr>
                        <a:t>Name</a:t>
                      </a:r>
                      <a:endParaRPr lang="en-IN" sz="16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600" b="1" i="0" u="none" strike="noStrike" cap="none" baseline="0" dirty="0">
                          <a:solidFill>
                            <a:schemeClr val="tx1"/>
                          </a:solidFill>
                          <a:latin typeface="+mn-lt"/>
                          <a:ea typeface="+mn-ea"/>
                          <a:cs typeface="+mn-cs"/>
                          <a:sym typeface="Arial"/>
                        </a:rPr>
                        <a:t>Description</a:t>
                      </a:r>
                      <a:endParaRPr lang="en-IN" sz="16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801756320"/>
                  </a:ext>
                </a:extLst>
              </a:tr>
              <a:tr h="792584">
                <a:tc>
                  <a:txBody>
                    <a:bodyPr/>
                    <a:lstStyle/>
                    <a:p>
                      <a:pPr algn="ctr"/>
                      <a:r>
                        <a:rPr lang="en-IN" sz="1600" b="0" i="0" u="none" strike="noStrike" cap="none" baseline="0" dirty="0">
                          <a:solidFill>
                            <a:schemeClr val="dk1"/>
                          </a:solidFill>
                          <a:latin typeface="+mn-lt"/>
                          <a:ea typeface="+mn-ea"/>
                          <a:cs typeface="+mn-cs"/>
                          <a:sym typeface="Arial"/>
                        </a:rPr>
                        <a:t>C</a:t>
                      </a:r>
                      <a:endParaRPr lang="en-IN"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US" sz="1600" b="0" i="0" u="none" strike="noStrike" cap="none" baseline="0" dirty="0">
                          <a:solidFill>
                            <a:schemeClr val="dk1"/>
                          </a:solidFill>
                          <a:latin typeface="+mn-lt"/>
                          <a:ea typeface="+mn-ea"/>
                          <a:cs typeface="+mn-cs"/>
                          <a:sym typeface="Arial"/>
                        </a:rPr>
                        <a:t>Carry</a:t>
                      </a:r>
                      <a:endParaRPr lang="en-IN"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US" sz="1600" b="0" i="0" u="none" strike="noStrike" cap="none" baseline="0" dirty="0">
                          <a:solidFill>
                            <a:schemeClr val="dk1"/>
                          </a:solidFill>
                          <a:latin typeface="+mn-lt"/>
                          <a:ea typeface="+mn-ea"/>
                          <a:cs typeface="+mn-cs"/>
                          <a:sym typeface="Arial"/>
                        </a:rPr>
                        <a:t>Indicates carrying or borrowing out of the left-</a:t>
                      </a:r>
                    </a:p>
                    <a:p>
                      <a:pPr algn="l"/>
                      <a:r>
                        <a:rPr lang="en-US" sz="1600" b="0" i="0" u="none" strike="noStrike" cap="none" baseline="0" dirty="0">
                          <a:solidFill>
                            <a:schemeClr val="dk1"/>
                          </a:solidFill>
                          <a:latin typeface="+mn-lt"/>
                          <a:ea typeface="+mn-ea"/>
                          <a:cs typeface="+mn-cs"/>
                          <a:sym typeface="Arial"/>
                        </a:rPr>
                        <a:t>most bit position following an arithmetic operation. Also modified by some of the shift and rotate operations.</a:t>
                      </a:r>
                      <a:endParaRPr lang="en-IN"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1007438362"/>
                  </a:ext>
                </a:extLst>
              </a:tr>
              <a:tr h="725132">
                <a:tc>
                  <a:txBody>
                    <a:bodyPr/>
                    <a:lstStyle/>
                    <a:p>
                      <a:pPr algn="ctr"/>
                      <a:r>
                        <a:rPr lang="en-IN" sz="1600" b="0" i="0" u="none" strike="noStrike" cap="none" baseline="0" dirty="0">
                          <a:solidFill>
                            <a:schemeClr val="dk1"/>
                          </a:solidFill>
                          <a:latin typeface="+mn-lt"/>
                          <a:ea typeface="+mn-ea"/>
                          <a:cs typeface="+mn-cs"/>
                          <a:sym typeface="Arial"/>
                        </a:rPr>
                        <a:t>P</a:t>
                      </a:r>
                      <a:endParaRPr lang="en-IN"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US" sz="1600" b="0" i="0" u="none" strike="noStrike" cap="none" baseline="0" dirty="0">
                          <a:solidFill>
                            <a:schemeClr val="dk1"/>
                          </a:solidFill>
                          <a:latin typeface="+mn-lt"/>
                          <a:ea typeface="+mn-ea"/>
                          <a:cs typeface="+mn-cs"/>
                          <a:sym typeface="Arial"/>
                        </a:rPr>
                        <a:t>Parity</a:t>
                      </a:r>
                      <a:endParaRPr lang="en-IN"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US" sz="1600" b="0" i="0" u="none" strike="noStrike" cap="none" baseline="0" dirty="0">
                          <a:solidFill>
                            <a:schemeClr val="dk1"/>
                          </a:solidFill>
                          <a:latin typeface="+mn-lt"/>
                          <a:ea typeface="+mn-ea"/>
                          <a:cs typeface="+mn-cs"/>
                          <a:sym typeface="Arial"/>
                        </a:rPr>
                        <a:t>Parity of the least-significant byte of the result of an arithmetic or logic operation. 1 indicates even parity; 0 indicates odd parity.</a:t>
                      </a:r>
                      <a:endParaRPr lang="en-IN"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794824530"/>
                  </a:ext>
                </a:extLst>
              </a:tr>
              <a:tr h="792584">
                <a:tc>
                  <a:txBody>
                    <a:bodyPr/>
                    <a:lstStyle/>
                    <a:p>
                      <a:pPr algn="ctr"/>
                      <a:r>
                        <a:rPr lang="en-IN" sz="1600" b="0" i="0" u="none" strike="noStrike" cap="none" baseline="0" dirty="0">
                          <a:solidFill>
                            <a:schemeClr val="dk1"/>
                          </a:solidFill>
                          <a:latin typeface="+mn-lt"/>
                          <a:ea typeface="+mn-ea"/>
                          <a:cs typeface="+mn-cs"/>
                          <a:sym typeface="Arial"/>
                        </a:rPr>
                        <a:t>A</a:t>
                      </a:r>
                      <a:endParaRPr lang="en-IN"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US" sz="1600" b="0" i="0" u="none" strike="noStrike" cap="none" baseline="0" dirty="0">
                          <a:solidFill>
                            <a:schemeClr val="dk1"/>
                          </a:solidFill>
                          <a:latin typeface="+mn-lt"/>
                          <a:ea typeface="+mn-ea"/>
                          <a:cs typeface="+mn-cs"/>
                          <a:sym typeface="Arial"/>
                        </a:rPr>
                        <a:t>Auxiliary Carry</a:t>
                      </a:r>
                      <a:endParaRPr lang="en-IN"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US" sz="1600" b="0" i="0" u="none" strike="noStrike" cap="none" baseline="0" dirty="0">
                          <a:solidFill>
                            <a:schemeClr val="dk1"/>
                          </a:solidFill>
                          <a:latin typeface="+mn-lt"/>
                          <a:ea typeface="+mn-ea"/>
                          <a:cs typeface="+mn-cs"/>
                          <a:sym typeface="Arial"/>
                        </a:rPr>
                        <a:t>Represents carrying or borrowing between half-</a:t>
                      </a:r>
                    </a:p>
                    <a:p>
                      <a:pPr algn="l"/>
                      <a:r>
                        <a:rPr lang="en-US" sz="1600" b="0" i="0" u="none" strike="noStrike" cap="none" baseline="0" dirty="0">
                          <a:solidFill>
                            <a:schemeClr val="dk1"/>
                          </a:solidFill>
                          <a:latin typeface="+mn-lt"/>
                          <a:ea typeface="+mn-ea"/>
                          <a:cs typeface="+mn-cs"/>
                          <a:sym typeface="Arial"/>
                        </a:rPr>
                        <a:t>bytes of an 8-bit arithmetic or logic operation. Used in binary-coded decimal arithmetic.</a:t>
                      </a:r>
                      <a:endParaRPr lang="en-IN"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4149877881"/>
                  </a:ext>
                </a:extLst>
              </a:tr>
              <a:tr h="453279">
                <a:tc>
                  <a:txBody>
                    <a:bodyPr/>
                    <a:lstStyle/>
                    <a:p>
                      <a:pPr algn="ctr"/>
                      <a:r>
                        <a:rPr lang="en-IN" sz="1600" b="0" i="0" u="none" strike="noStrike" cap="none" baseline="0" dirty="0">
                          <a:solidFill>
                            <a:schemeClr val="dk1"/>
                          </a:solidFill>
                          <a:latin typeface="+mn-lt"/>
                          <a:ea typeface="+mn-ea"/>
                          <a:cs typeface="+mn-cs"/>
                          <a:sym typeface="Arial"/>
                        </a:rPr>
                        <a:t>Z</a:t>
                      </a:r>
                      <a:endParaRPr lang="en-IN"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US" sz="1600" b="0" i="0" u="none" strike="noStrike" cap="none" baseline="0" dirty="0">
                          <a:solidFill>
                            <a:schemeClr val="dk1"/>
                          </a:solidFill>
                          <a:latin typeface="+mn-lt"/>
                          <a:ea typeface="+mn-ea"/>
                          <a:cs typeface="+mn-cs"/>
                          <a:sym typeface="Arial"/>
                        </a:rPr>
                        <a:t>Zero</a:t>
                      </a:r>
                      <a:endParaRPr lang="en-IN"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US" sz="1600" b="0" i="0" u="none" strike="noStrike" cap="none" baseline="0" dirty="0">
                          <a:solidFill>
                            <a:schemeClr val="dk1"/>
                          </a:solidFill>
                          <a:latin typeface="+mn-lt"/>
                          <a:ea typeface="+mn-ea"/>
                          <a:cs typeface="+mn-cs"/>
                          <a:sym typeface="Arial"/>
                        </a:rPr>
                        <a:t>Indicates that the result of an arithmetic or logic operation is 0.</a:t>
                      </a:r>
                      <a:endParaRPr lang="en-IN"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1662666875"/>
                  </a:ext>
                </a:extLst>
              </a:tr>
              <a:tr h="510278">
                <a:tc>
                  <a:txBody>
                    <a:bodyPr/>
                    <a:lstStyle/>
                    <a:p>
                      <a:pPr algn="ctr"/>
                      <a:r>
                        <a:rPr lang="en-IN" sz="1600" b="0" i="0" u="none" strike="noStrike" cap="none" baseline="0" dirty="0">
                          <a:solidFill>
                            <a:schemeClr val="dk1"/>
                          </a:solidFill>
                          <a:latin typeface="+mn-lt"/>
                          <a:ea typeface="+mn-ea"/>
                          <a:cs typeface="+mn-cs"/>
                          <a:sym typeface="Arial"/>
                        </a:rPr>
                        <a:t>S</a:t>
                      </a:r>
                      <a:endParaRPr lang="en-IN"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IN" sz="1600" b="0" i="0" u="none" strike="noStrike" cap="none" baseline="0" dirty="0">
                          <a:solidFill>
                            <a:schemeClr val="dk1"/>
                          </a:solidFill>
                          <a:latin typeface="+mn-lt"/>
                          <a:ea typeface="+mn-ea"/>
                          <a:cs typeface="+mn-cs"/>
                          <a:sym typeface="Arial"/>
                        </a:rPr>
                        <a:t>Sign</a:t>
                      </a:r>
                      <a:endParaRPr lang="en-IN"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US" sz="1600" b="0" i="0" u="none" strike="noStrike" cap="none" baseline="0" dirty="0">
                          <a:solidFill>
                            <a:schemeClr val="dk1"/>
                          </a:solidFill>
                          <a:latin typeface="+mn-lt"/>
                          <a:ea typeface="+mn-ea"/>
                          <a:cs typeface="+mn-cs"/>
                          <a:sym typeface="Arial"/>
                        </a:rPr>
                        <a:t>Indicates the sign of the result of an arithmetic or logic operation.</a:t>
                      </a:r>
                      <a:endParaRPr lang="en-IN"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771718609"/>
                  </a:ext>
                </a:extLst>
              </a:tr>
              <a:tr h="725132">
                <a:tc>
                  <a:txBody>
                    <a:bodyPr/>
                    <a:lstStyle/>
                    <a:p>
                      <a:pPr algn="ctr"/>
                      <a:r>
                        <a:rPr lang="en-IN" sz="1600" b="0" i="0" u="none" strike="noStrike" cap="none" baseline="0" dirty="0">
                          <a:solidFill>
                            <a:schemeClr val="dk1"/>
                          </a:solidFill>
                          <a:latin typeface="+mn-lt"/>
                          <a:ea typeface="+mn-ea"/>
                          <a:cs typeface="+mn-cs"/>
                          <a:sym typeface="Arial"/>
                        </a:rPr>
                        <a:t>O</a:t>
                      </a:r>
                      <a:endParaRPr lang="en-IN"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IN" sz="1600" b="0" i="0" u="none" strike="noStrike" cap="none" baseline="0" dirty="0">
                          <a:solidFill>
                            <a:schemeClr val="dk1"/>
                          </a:solidFill>
                          <a:latin typeface="+mn-lt"/>
                          <a:ea typeface="+mn-ea"/>
                          <a:cs typeface="+mn-cs"/>
                          <a:sym typeface="Arial"/>
                        </a:rPr>
                        <a:t>Overflow</a:t>
                      </a:r>
                      <a:endParaRPr lang="en-IN"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l"/>
                      <a:r>
                        <a:rPr lang="en-US" sz="1600" b="0" i="0" u="none" strike="noStrike" cap="none" baseline="0" dirty="0">
                          <a:solidFill>
                            <a:schemeClr val="dk1"/>
                          </a:solidFill>
                          <a:latin typeface="+mn-lt"/>
                          <a:ea typeface="+mn-ea"/>
                          <a:cs typeface="+mn-cs"/>
                          <a:sym typeface="Arial"/>
                        </a:rPr>
                        <a:t>Indicates an arithmetic overflow after an addition or subtraction for twos complement arithmetic.</a:t>
                      </a:r>
                      <a:endParaRPr lang="en-IN"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1368541816"/>
                  </a:ext>
                </a:extLst>
              </a:tr>
            </a:tbl>
          </a:graphicData>
        </a:graphic>
      </p:graphicFrame>
    </p:spTree>
    <p:extLst>
      <p:ext uri="{BB962C8B-B14F-4D97-AF65-F5344CB8AC3E}">
        <p14:creationId xmlns:p14="http://schemas.microsoft.com/office/powerpoint/2010/main" val="1202925494"/>
      </p:ext>
    </p:extLst>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Grp="1" noChangeArrowheads="1"/>
          </p:cNvSpPr>
          <p:nvPr>
            <p:ph type="title"/>
          </p:nvPr>
        </p:nvSpPr>
        <p:spPr>
          <a:xfrm>
            <a:off x="5940600" y="306697"/>
            <a:ext cx="3172867" cy="2949231"/>
          </a:xfrm>
          <a:noFill/>
          <a:ln/>
        </p:spPr>
        <p:txBody>
          <a:bodyPr lIns="90488" tIns="44450" rIns="90488" bIns="44450"/>
          <a:lstStyle/>
          <a:p>
            <a:pPr algn="ctr"/>
            <a:r>
              <a:rPr lang="en-US" sz="3200" dirty="0"/>
              <a:t>Table 13.9 </a:t>
            </a:r>
            <a:br>
              <a:rPr lang="en-US" sz="3200" dirty="0"/>
            </a:br>
            <a:r>
              <a:rPr lang="en-US" sz="3200" dirty="0"/>
              <a:t>x86 Condition Codes for Conditional Jump and </a:t>
            </a:r>
            <a:r>
              <a:rPr lang="en-US" sz="3200" dirty="0" err="1"/>
              <a:t>SETcc</a:t>
            </a:r>
            <a:r>
              <a:rPr lang="en-US" sz="3200" dirty="0"/>
              <a:t> Instructions</a:t>
            </a:r>
          </a:p>
        </p:txBody>
      </p:sp>
      <p:graphicFrame>
        <p:nvGraphicFramePr>
          <p:cNvPr id="23" name="Table 22" descr="The information is offered in the order symbol, Condition tested, comment as follows. 1. A, N B E. C = 0 AND Z = 0. Above, Not below or equal, greater than, unsigned. 2. A E, N B, N C C = 0. Above or equal, Not below, greater than or equal, unsigned, Not carry. 3. B, N A E, C C = 1 Below, Not above or equal left parenthesis less than, unsigned right parenthesis, Carry set. 4. B E, N A C = 1 OR Z = 1, Below or equal, Not above left parenthesis less than or equal, unsigned right parenthesis. 5. E, Z. Z = 1 Equal, Zero left parenthesis signed or unsigned right parenthesis. G, N L E, [left parenthesis S = 1 AND O = 1 right parenthesis OR left parenthesis S = 0 AND O = 0 right parenthesis] AND [Z = 0] Greater than, Not less than or equal left parenthesis signed right parenthesis. G E, N L. left parenthesis S = 1 AND O = 1 right parenthesis OR left parenthesis S = 0  AND O = 0 right parenthesis Greater than or equal, Not less than left parenthesis signed right parenthesis. L, N G E left parenthesis S = 1 AND O = 0 right parenthesis OR left parenthesis S = 0 AND O = 0 right parenthesis Less than, Not greater than or equal left parenthesis signed right parenthesis. L E, N G left parenthesis S = 1 AND O = 0 right parenthesis OR left parenthesis S = 0 AND O = 1 right parenthesis OR left parenthesis Z = 1 right parenthesis Less than or equal, Not greater than left parenthesis signed right parenthesis. N E, N Z, Z = 0 Not equal, Not zero left parenthesis signed or unsigned right parenthesis. NO, O = 0 No overflow N S S = 0 Not sign left parenthesis not negative right parenthesis. N P, P O, P = 0 Not parity, Parity odd O O = 1 Overflow P P = 1 Parity, Parity even S S = 1 Sign left parenthesis negative right parenthesis." title="A table titled, x 86 condition codes for conditional jump and S E T c c instructions."/>
          <p:cNvGraphicFramePr>
            <a:graphicFrameLocks noGrp="1"/>
          </p:cNvGraphicFramePr>
          <p:nvPr/>
        </p:nvGraphicFramePr>
        <p:xfrm>
          <a:off x="179512" y="260648"/>
          <a:ext cx="5821694" cy="6055625"/>
        </p:xfrm>
        <a:graphic>
          <a:graphicData uri="http://schemas.openxmlformats.org/drawingml/2006/table">
            <a:tbl>
              <a:tblPr firstRow="1" bandRow="1">
                <a:tableStyleId>{5C22544A-7EE6-4342-B048-85BDC9FD1C3A}</a:tableStyleId>
              </a:tblPr>
              <a:tblGrid>
                <a:gridCol w="1005836">
                  <a:extLst>
                    <a:ext uri="{9D8B030D-6E8A-4147-A177-3AD203B41FA5}">
                      <a16:colId xmlns:a16="http://schemas.microsoft.com/office/drawing/2014/main" val="1859018432"/>
                    </a:ext>
                  </a:extLst>
                </a:gridCol>
                <a:gridCol w="1935538">
                  <a:extLst>
                    <a:ext uri="{9D8B030D-6E8A-4147-A177-3AD203B41FA5}">
                      <a16:colId xmlns:a16="http://schemas.microsoft.com/office/drawing/2014/main" val="2543019389"/>
                    </a:ext>
                  </a:extLst>
                </a:gridCol>
                <a:gridCol w="2880320">
                  <a:extLst>
                    <a:ext uri="{9D8B030D-6E8A-4147-A177-3AD203B41FA5}">
                      <a16:colId xmlns:a16="http://schemas.microsoft.com/office/drawing/2014/main" val="3168231750"/>
                    </a:ext>
                  </a:extLst>
                </a:gridCol>
              </a:tblGrid>
              <a:tr h="313727">
                <a:tc>
                  <a:txBody>
                    <a:bodyPr/>
                    <a:lstStyle/>
                    <a:p>
                      <a:r>
                        <a:rPr lang="en-IN" sz="800" b="1" dirty="0">
                          <a:solidFill>
                            <a:schemeClr val="tx1"/>
                          </a:solidFill>
                        </a:rPr>
                        <a:t>Symbol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800" b="1" i="0" u="none" strike="noStrike" cap="none" baseline="0" dirty="0">
                          <a:solidFill>
                            <a:schemeClr val="tx1"/>
                          </a:solidFill>
                          <a:latin typeface="+mn-lt"/>
                          <a:ea typeface="+mn-ea"/>
                          <a:cs typeface="+mn-cs"/>
                          <a:sym typeface="Arial"/>
                        </a:rPr>
                        <a:t>Condition Tested</a:t>
                      </a:r>
                      <a:endParaRPr lang="en-IN" sz="8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800" b="1" dirty="0">
                          <a:solidFill>
                            <a:schemeClr val="tx1"/>
                          </a:solidFill>
                        </a:rPr>
                        <a:t>Comment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1659986812"/>
                  </a:ext>
                </a:extLst>
              </a:tr>
              <a:tr h="410258">
                <a:tc>
                  <a:txBody>
                    <a:bodyPr/>
                    <a:lstStyle/>
                    <a:p>
                      <a:r>
                        <a:rPr lang="en-IN" sz="800" dirty="0"/>
                        <a:t>A, NBE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800" b="0" i="0" u="none" strike="noStrike" cap="none" baseline="0" dirty="0">
                          <a:solidFill>
                            <a:schemeClr val="dk1"/>
                          </a:solidFill>
                          <a:latin typeface="+mn-lt"/>
                          <a:ea typeface="+mn-ea"/>
                          <a:cs typeface="+mn-cs"/>
                          <a:sym typeface="Arial"/>
                        </a:rPr>
                        <a:t>C = 0 AND Z = 0</a:t>
                      </a:r>
                      <a:endParaRPr lang="en-IN"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800" dirty="0"/>
                        <a:t>Above; Not below or equal (greater than, unsigned)</a:t>
                      </a:r>
                      <a:endParaRPr lang="en-IN"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717666487"/>
                  </a:ext>
                </a:extLst>
              </a:tr>
              <a:tr h="410258">
                <a:tc>
                  <a:txBody>
                    <a:bodyPr/>
                    <a:lstStyle/>
                    <a:p>
                      <a:r>
                        <a:rPr lang="en-IN" sz="800" b="0" i="0" u="none" strike="noStrike" cap="none" baseline="0" dirty="0">
                          <a:solidFill>
                            <a:schemeClr val="dk1"/>
                          </a:solidFill>
                          <a:latin typeface="+mn-lt"/>
                          <a:ea typeface="+mn-ea"/>
                          <a:cs typeface="+mn-cs"/>
                          <a:sym typeface="Arial"/>
                        </a:rPr>
                        <a:t>AE, NB, NC</a:t>
                      </a:r>
                      <a:endParaRPr lang="en-IN"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800" b="0" i="0" u="none" strike="noStrike" cap="none" baseline="0" dirty="0">
                          <a:solidFill>
                            <a:schemeClr val="dk1"/>
                          </a:solidFill>
                          <a:latin typeface="+mn-lt"/>
                          <a:ea typeface="+mn-ea"/>
                          <a:cs typeface="+mn-cs"/>
                          <a:sym typeface="Arial"/>
                        </a:rPr>
                        <a:t>C = 0</a:t>
                      </a:r>
                      <a:endParaRPr lang="en-IN"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800" dirty="0"/>
                        <a:t>Above or equal; Not below (greater than or equal,</a:t>
                      </a:r>
                    </a:p>
                    <a:p>
                      <a:r>
                        <a:rPr lang="en-US" sz="800" dirty="0"/>
                        <a:t>unsigned); Not carry</a:t>
                      </a:r>
                      <a:endParaRPr lang="en-IN"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4062764516"/>
                  </a:ext>
                </a:extLst>
              </a:tr>
              <a:tr h="382958">
                <a:tc>
                  <a:txBody>
                    <a:bodyPr/>
                    <a:lstStyle/>
                    <a:p>
                      <a:r>
                        <a:rPr lang="en-IN" sz="800" b="0" i="0" u="none" strike="noStrike" cap="none" baseline="0" dirty="0">
                          <a:solidFill>
                            <a:schemeClr val="dk1"/>
                          </a:solidFill>
                          <a:latin typeface="+mn-lt"/>
                          <a:ea typeface="+mn-ea"/>
                          <a:cs typeface="+mn-cs"/>
                          <a:sym typeface="Arial"/>
                        </a:rPr>
                        <a:t>B, NAE, C</a:t>
                      </a:r>
                      <a:endParaRPr lang="en-IN"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800" b="0" i="0" u="none" strike="noStrike" cap="none" baseline="0" dirty="0">
                          <a:solidFill>
                            <a:schemeClr val="dk1"/>
                          </a:solidFill>
                          <a:latin typeface="+mn-lt"/>
                          <a:ea typeface="+mn-ea"/>
                          <a:cs typeface="+mn-cs"/>
                          <a:sym typeface="Arial"/>
                        </a:rPr>
                        <a:t>C = 1</a:t>
                      </a:r>
                      <a:endParaRPr lang="en-IN"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800" dirty="0"/>
                        <a:t>Below; Not above or equal (less than, unsigned);</a:t>
                      </a:r>
                    </a:p>
                    <a:p>
                      <a:r>
                        <a:rPr lang="en-US" sz="800" dirty="0"/>
                        <a:t>Carry set</a:t>
                      </a:r>
                      <a:endParaRPr lang="en-IN"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801756320"/>
                  </a:ext>
                </a:extLst>
              </a:tr>
              <a:tr h="410258">
                <a:tc>
                  <a:txBody>
                    <a:bodyPr/>
                    <a:lstStyle/>
                    <a:p>
                      <a:r>
                        <a:rPr lang="en-IN" sz="800" b="0" i="0" u="none" strike="noStrike" cap="none" baseline="0" dirty="0">
                          <a:solidFill>
                            <a:schemeClr val="dk1"/>
                          </a:solidFill>
                          <a:latin typeface="+mn-lt"/>
                          <a:ea typeface="+mn-ea"/>
                          <a:cs typeface="+mn-cs"/>
                          <a:sym typeface="Arial"/>
                        </a:rPr>
                        <a:t>BE, NA</a:t>
                      </a:r>
                      <a:endParaRPr lang="en-IN"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pl-PL" sz="800" b="0" i="0" u="none" strike="noStrike" cap="none" baseline="0" dirty="0">
                          <a:solidFill>
                            <a:schemeClr val="dk1"/>
                          </a:solidFill>
                          <a:latin typeface="+mn-lt"/>
                          <a:ea typeface="+mn-ea"/>
                          <a:cs typeface="+mn-cs"/>
                          <a:sym typeface="Arial"/>
                        </a:rPr>
                        <a:t>C = 1 OR Z = 1</a:t>
                      </a:r>
                      <a:endParaRPr lang="en-IN"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800" dirty="0"/>
                        <a:t>Below or equal; Not above (less than or equal, unsigned)</a:t>
                      </a:r>
                      <a:endParaRPr lang="en-IN"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1007438362"/>
                  </a:ext>
                </a:extLst>
              </a:tr>
              <a:tr h="322127">
                <a:tc>
                  <a:txBody>
                    <a:bodyPr/>
                    <a:lstStyle/>
                    <a:p>
                      <a:r>
                        <a:rPr lang="en-IN" sz="800" b="0" i="0" u="none" strike="noStrike" cap="none" baseline="0" dirty="0">
                          <a:solidFill>
                            <a:schemeClr val="dk1"/>
                          </a:solidFill>
                          <a:latin typeface="+mn-lt"/>
                          <a:ea typeface="+mn-ea"/>
                          <a:cs typeface="+mn-cs"/>
                          <a:sym typeface="Arial"/>
                        </a:rPr>
                        <a:t>E, Z</a:t>
                      </a:r>
                      <a:endParaRPr lang="en-IN"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800" b="0" i="0" u="none" strike="noStrike" cap="none" baseline="0" dirty="0">
                          <a:solidFill>
                            <a:schemeClr val="dk1"/>
                          </a:solidFill>
                          <a:latin typeface="+mn-lt"/>
                          <a:ea typeface="+mn-ea"/>
                          <a:cs typeface="+mn-cs"/>
                          <a:sym typeface="Arial"/>
                        </a:rPr>
                        <a:t>Z = 1</a:t>
                      </a:r>
                      <a:endParaRPr lang="en-IN"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800" dirty="0"/>
                        <a:t>Equal; Zero (signed or unsigned)</a:t>
                      </a:r>
                      <a:endParaRPr lang="en-IN"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794824530"/>
                  </a:ext>
                </a:extLst>
              </a:tr>
              <a:tr h="568049">
                <a:tc>
                  <a:txBody>
                    <a:bodyPr/>
                    <a:lstStyle/>
                    <a:p>
                      <a:r>
                        <a:rPr lang="en-IN" sz="800" b="0" i="0" u="none" strike="noStrike" cap="none" baseline="0" dirty="0">
                          <a:solidFill>
                            <a:schemeClr val="dk1"/>
                          </a:solidFill>
                          <a:latin typeface="+mn-lt"/>
                          <a:ea typeface="+mn-ea"/>
                          <a:cs typeface="+mn-cs"/>
                          <a:sym typeface="Arial"/>
                        </a:rPr>
                        <a:t>G, NLE</a:t>
                      </a:r>
                      <a:endParaRPr lang="en-IN"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800" b="0" i="0" u="none" strike="noStrike" cap="none" baseline="0" dirty="0">
                          <a:solidFill>
                            <a:schemeClr val="dk1"/>
                          </a:solidFill>
                          <a:latin typeface="+mn-lt"/>
                          <a:ea typeface="+mn-ea"/>
                          <a:cs typeface="+mn-cs"/>
                          <a:sym typeface="Arial"/>
                        </a:rPr>
                        <a:t>[(S = 1 AND O = 1) OR (S = 0</a:t>
                      </a:r>
                    </a:p>
                    <a:p>
                      <a:r>
                        <a:rPr lang="en-US" sz="800" b="0" i="0" u="none" strike="noStrike" cap="none" baseline="0" dirty="0">
                          <a:solidFill>
                            <a:schemeClr val="dk1"/>
                          </a:solidFill>
                          <a:latin typeface="+mn-lt"/>
                          <a:ea typeface="+mn-ea"/>
                          <a:cs typeface="+mn-cs"/>
                          <a:sym typeface="Arial"/>
                        </a:rPr>
                        <a:t>AND O = 0)]AND[Z = 0]</a:t>
                      </a:r>
                      <a:endParaRPr lang="en-IN"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800" dirty="0"/>
                        <a:t>Greater than; Not less than or equal (signed)</a:t>
                      </a:r>
                      <a:endParaRPr lang="en-IN"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4149877881"/>
                  </a:ext>
                </a:extLst>
              </a:tr>
              <a:tr h="481083">
                <a:tc>
                  <a:txBody>
                    <a:bodyPr/>
                    <a:lstStyle/>
                    <a:p>
                      <a:r>
                        <a:rPr lang="en-IN" sz="800" b="0" i="0" u="none" strike="noStrike" cap="none" baseline="0" dirty="0">
                          <a:solidFill>
                            <a:schemeClr val="dk1"/>
                          </a:solidFill>
                          <a:latin typeface="+mn-lt"/>
                          <a:ea typeface="+mn-ea"/>
                          <a:cs typeface="+mn-cs"/>
                          <a:sym typeface="Arial"/>
                        </a:rPr>
                        <a:t>GE, NL</a:t>
                      </a:r>
                      <a:endParaRPr lang="en-IN"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800" dirty="0"/>
                        <a:t>(S = 1 AND O = 1) OR (S = 0</a:t>
                      </a:r>
                    </a:p>
                    <a:p>
                      <a:r>
                        <a:rPr lang="en-US" sz="800" dirty="0"/>
                        <a:t>AND O = 0)</a:t>
                      </a:r>
                      <a:endParaRPr lang="en-IN"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800" dirty="0"/>
                        <a:t>Greater than or equal; Not less than (signed)</a:t>
                      </a:r>
                      <a:endParaRPr lang="en-IN"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495417200"/>
                  </a:ext>
                </a:extLst>
              </a:tr>
              <a:tr h="382958">
                <a:tc>
                  <a:txBody>
                    <a:bodyPr/>
                    <a:lstStyle/>
                    <a:p>
                      <a:r>
                        <a:rPr lang="en-IN" sz="800" b="0" i="0" u="none" strike="noStrike" cap="none" baseline="0" dirty="0">
                          <a:solidFill>
                            <a:schemeClr val="dk1"/>
                          </a:solidFill>
                          <a:latin typeface="+mn-lt"/>
                          <a:ea typeface="+mn-ea"/>
                          <a:cs typeface="+mn-cs"/>
                          <a:sym typeface="Arial"/>
                        </a:rPr>
                        <a:t>L, NGE</a:t>
                      </a:r>
                      <a:endParaRPr lang="en-IN"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800" dirty="0"/>
                        <a:t>(S = 1 AND O = 0) OR (S = 0</a:t>
                      </a:r>
                    </a:p>
                    <a:p>
                      <a:r>
                        <a:rPr lang="en-US" sz="800" dirty="0"/>
                        <a:t>AND O = 0)</a:t>
                      </a:r>
                      <a:endParaRPr lang="en-IN"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800" dirty="0"/>
                        <a:t>Less than; Not greater than or equal (signed)</a:t>
                      </a:r>
                      <a:endParaRPr lang="en-IN"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088829845"/>
                  </a:ext>
                </a:extLst>
              </a:tr>
              <a:tr h="382958">
                <a:tc>
                  <a:txBody>
                    <a:bodyPr/>
                    <a:lstStyle/>
                    <a:p>
                      <a:r>
                        <a:rPr lang="en-IN" sz="800" b="0" i="0" u="none" strike="noStrike" cap="none" baseline="0" dirty="0">
                          <a:solidFill>
                            <a:schemeClr val="dk1"/>
                          </a:solidFill>
                          <a:latin typeface="+mn-lt"/>
                          <a:ea typeface="+mn-ea"/>
                          <a:cs typeface="+mn-cs"/>
                          <a:sym typeface="Arial"/>
                        </a:rPr>
                        <a:t>LE, NG</a:t>
                      </a:r>
                      <a:endParaRPr lang="en-IN"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800" dirty="0"/>
                        <a:t>(S = 1 AND O = 0) OR (S = 0</a:t>
                      </a:r>
                    </a:p>
                    <a:p>
                      <a:r>
                        <a:rPr lang="en-US" sz="800" dirty="0"/>
                        <a:t>AND O = 1) OR (Z = 1)</a:t>
                      </a:r>
                      <a:endParaRPr lang="en-IN"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800" dirty="0"/>
                        <a:t>Less than or equal; Not greater than (signed)</a:t>
                      </a:r>
                      <a:endParaRPr lang="en-IN"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650603847"/>
                  </a:ext>
                </a:extLst>
              </a:tr>
              <a:tr h="322127">
                <a:tc>
                  <a:txBody>
                    <a:bodyPr/>
                    <a:lstStyle/>
                    <a:p>
                      <a:r>
                        <a:rPr lang="en-IN" sz="800" b="0" i="0" u="none" strike="noStrike" cap="none" baseline="0" dirty="0">
                          <a:solidFill>
                            <a:schemeClr val="dk1"/>
                          </a:solidFill>
                          <a:latin typeface="+mn-lt"/>
                          <a:ea typeface="+mn-ea"/>
                          <a:cs typeface="+mn-cs"/>
                          <a:sym typeface="Arial"/>
                        </a:rPr>
                        <a:t>NE, NZ</a:t>
                      </a:r>
                      <a:endParaRPr lang="en-IN"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800" dirty="0"/>
                        <a:t>Z = 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800" dirty="0"/>
                        <a:t>Not equal; Not zero (signed or unsigned)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2693729218"/>
                  </a:ext>
                </a:extLst>
              </a:tr>
              <a:tr h="305291">
                <a:tc>
                  <a:txBody>
                    <a:bodyPr/>
                    <a:lstStyle/>
                    <a:p>
                      <a:r>
                        <a:rPr lang="en-IN" sz="800" b="0" i="0" u="none" strike="noStrike" cap="none" baseline="0" dirty="0">
                          <a:solidFill>
                            <a:schemeClr val="dk1"/>
                          </a:solidFill>
                          <a:latin typeface="+mn-lt"/>
                          <a:ea typeface="+mn-ea"/>
                          <a:cs typeface="+mn-cs"/>
                          <a:sym typeface="Arial"/>
                        </a:rPr>
                        <a:t>NO</a:t>
                      </a:r>
                      <a:endParaRPr lang="en-IN"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800" dirty="0"/>
                        <a:t>O = 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800" dirty="0"/>
                        <a:t>No overflow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008297481"/>
                  </a:ext>
                </a:extLst>
              </a:tr>
              <a:tr h="314647">
                <a:tc>
                  <a:txBody>
                    <a:bodyPr/>
                    <a:lstStyle/>
                    <a:p>
                      <a:r>
                        <a:rPr lang="en-IN" sz="800" b="0" i="0" u="none" strike="noStrike" cap="none" baseline="0" dirty="0">
                          <a:solidFill>
                            <a:schemeClr val="dk1"/>
                          </a:solidFill>
                          <a:latin typeface="+mn-lt"/>
                          <a:ea typeface="+mn-ea"/>
                          <a:cs typeface="+mn-cs"/>
                          <a:sym typeface="Arial"/>
                        </a:rPr>
                        <a:t>NS</a:t>
                      </a:r>
                      <a:endParaRPr lang="en-IN"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800" dirty="0"/>
                        <a:t>S = 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800" dirty="0"/>
                        <a:t>Not sign (not negative)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1923169786"/>
                  </a:ext>
                </a:extLst>
              </a:tr>
              <a:tr h="278522">
                <a:tc>
                  <a:txBody>
                    <a:bodyPr/>
                    <a:lstStyle/>
                    <a:p>
                      <a:r>
                        <a:rPr lang="en-IN" sz="800" dirty="0"/>
                        <a:t>NP, PO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800" dirty="0"/>
                        <a:t>P = 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800" dirty="0"/>
                        <a:t>Not parity; Parity odd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296931147"/>
                  </a:ext>
                </a:extLst>
              </a:tr>
              <a:tr h="278522">
                <a:tc>
                  <a:txBody>
                    <a:bodyPr/>
                    <a:lstStyle/>
                    <a:p>
                      <a:r>
                        <a:rPr lang="en-IN" sz="800" dirty="0"/>
                        <a: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800" dirty="0"/>
                        <a:t>O =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800" dirty="0"/>
                        <a:t>Overflow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78502401"/>
                  </a:ext>
                </a:extLst>
              </a:tr>
              <a:tr h="278522">
                <a:tc>
                  <a:txBody>
                    <a:bodyPr/>
                    <a:lstStyle/>
                    <a:p>
                      <a:r>
                        <a:rPr lang="en-IN" sz="800" dirty="0"/>
                        <a:t>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800" dirty="0"/>
                        <a:t>P =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800" dirty="0"/>
                        <a:t>Parity; Parity even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543527841"/>
                  </a:ext>
                </a:extLst>
              </a:tr>
              <a:tr h="134399">
                <a:tc>
                  <a:txBody>
                    <a:bodyPr/>
                    <a:lstStyle/>
                    <a:p>
                      <a:r>
                        <a:rPr lang="en-IN" sz="800" dirty="0"/>
                        <a: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800" dirty="0"/>
                        <a:t>S =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800" dirty="0"/>
                        <a:t>Sign (negative)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162541268"/>
                  </a:ext>
                </a:extLst>
              </a:tr>
            </a:tbl>
          </a:graphicData>
        </a:graphic>
      </p:graphicFrame>
      <p:sp>
        <p:nvSpPr>
          <p:cNvPr id="5" name="TextBox 4"/>
          <p:cNvSpPr txBox="1"/>
          <p:nvPr/>
        </p:nvSpPr>
        <p:spPr>
          <a:xfrm>
            <a:off x="5190470" y="6279752"/>
            <a:ext cx="3960440" cy="246221"/>
          </a:xfrm>
          <a:prstGeom prst="rect">
            <a:avLst/>
          </a:prstGeom>
          <a:noFill/>
        </p:spPr>
        <p:txBody>
          <a:bodyPr wrap="square" rtlCol="0">
            <a:spAutoFit/>
          </a:bodyPr>
          <a:lstStyle/>
          <a:p>
            <a:pPr algn="ctr"/>
            <a:r>
              <a:rPr lang="en-US" sz="1000" dirty="0">
                <a:latin typeface="+mn-lt"/>
              </a:rPr>
              <a:t>(Table can be found on page 460 in the textbook.)</a:t>
            </a:r>
          </a:p>
        </p:txBody>
      </p:sp>
    </p:spTree>
    <p:extLst>
      <p:ext uri="{BB962C8B-B14F-4D97-AF65-F5344CB8AC3E}">
        <p14:creationId xmlns:p14="http://schemas.microsoft.com/office/powerpoint/2010/main" val="238250414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2" name="Rectangle 4"/>
          <p:cNvSpPr>
            <a:spLocks noGrp="1" noChangeArrowheads="1"/>
          </p:cNvSpPr>
          <p:nvPr>
            <p:ph type="title"/>
          </p:nvPr>
        </p:nvSpPr>
        <p:spPr>
          <a:xfrm>
            <a:off x="457200" y="227246"/>
            <a:ext cx="8229600" cy="1097279"/>
          </a:xfrm>
          <a:noFill/>
          <a:ln/>
        </p:spPr>
        <p:txBody>
          <a:bodyPr lIns="90488" tIns="44450" rIns="90488" bIns="44450"/>
          <a:lstStyle/>
          <a:p>
            <a:r>
              <a:rPr lang="en-US" dirty="0"/>
              <a:t>x86 Single-Instruction, Multiple-Data (SIMD) Instructions</a:t>
            </a:r>
          </a:p>
        </p:txBody>
      </p:sp>
      <p:sp>
        <p:nvSpPr>
          <p:cNvPr id="63493" name="Rectangle 5"/>
          <p:cNvSpPr>
            <a:spLocks noGrp="1" noChangeArrowheads="1"/>
          </p:cNvSpPr>
          <p:nvPr>
            <p:ph type="body" idx="1"/>
          </p:nvPr>
        </p:nvSpPr>
        <p:spPr>
          <a:noFill/>
          <a:ln/>
        </p:spPr>
        <p:txBody>
          <a:bodyPr lIns="90488" tIns="44450" rIns="90488" bIns="44450">
            <a:normAutofit/>
          </a:bodyPr>
          <a:lstStyle/>
          <a:p>
            <a:pPr marL="296863" indent="-296863"/>
            <a:r>
              <a:rPr lang="en-US" sz="2200" dirty="0"/>
              <a:t>1996 Intel introduced MMX technology into its Pentium product line</a:t>
            </a:r>
          </a:p>
          <a:p>
            <a:pPr marL="628650" lvl="1" indent="-331788"/>
            <a:r>
              <a:rPr lang="en-US" sz="1800" dirty="0"/>
              <a:t>MMX is a set of highly optimized instructions for multimedia tasks</a:t>
            </a:r>
          </a:p>
          <a:p>
            <a:pPr marL="296863" indent="-296863"/>
            <a:r>
              <a:rPr lang="en-US" sz="2200" dirty="0"/>
              <a:t>Video and audio data are typically composed of large arrays of small data types</a:t>
            </a:r>
          </a:p>
          <a:p>
            <a:pPr marL="296863" indent="-296863"/>
            <a:r>
              <a:rPr lang="en-US" sz="2200" dirty="0"/>
              <a:t>Three new data types are defined in MMX</a:t>
            </a:r>
          </a:p>
          <a:p>
            <a:pPr marL="628650" lvl="1" indent="-331788"/>
            <a:r>
              <a:rPr lang="en-US" sz="1800" dirty="0"/>
              <a:t>Packed byte</a:t>
            </a:r>
          </a:p>
          <a:p>
            <a:pPr marL="628650" lvl="1" indent="-331788"/>
            <a:r>
              <a:rPr lang="en-US" sz="1800" dirty="0"/>
              <a:t>Packed word</a:t>
            </a:r>
          </a:p>
          <a:p>
            <a:pPr marL="628650" lvl="1" indent="-331788"/>
            <a:r>
              <a:rPr lang="en-US" sz="1800" dirty="0"/>
              <a:t>Packed doubleword</a:t>
            </a:r>
          </a:p>
          <a:p>
            <a:pPr marL="296863" indent="-296863"/>
            <a:r>
              <a:rPr lang="en-US" sz="2200" dirty="0"/>
              <a:t>Each data type is 64 bits in length and consists of multiple smaller data fields, each of which holds a fixed-point integer</a:t>
            </a:r>
          </a:p>
          <a:p>
            <a:endParaRPr lang="en-US" dirty="0"/>
          </a:p>
        </p:txBody>
      </p:sp>
    </p:spTree>
    <p:extLst>
      <p:ext uri="{BB962C8B-B14F-4D97-AF65-F5344CB8AC3E}">
        <p14:creationId xmlns:p14="http://schemas.microsoft.com/office/powerpoint/2010/main" val="1034456284"/>
      </p:ext>
    </p:extLst>
  </p:cSld>
  <p:clrMapOvr>
    <a:masterClrMapping/>
  </p:clrMapOvr>
  <p:transition spd="slow"/>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Grp="1" noChangeArrowheads="1"/>
          </p:cNvSpPr>
          <p:nvPr>
            <p:ph type="title"/>
          </p:nvPr>
        </p:nvSpPr>
        <p:spPr>
          <a:xfrm>
            <a:off x="99945" y="138584"/>
            <a:ext cx="2383823" cy="2138288"/>
          </a:xfrm>
          <a:noFill/>
          <a:ln/>
        </p:spPr>
        <p:txBody>
          <a:bodyPr lIns="90488" tIns="44450" rIns="90488" bIns="44450"/>
          <a:lstStyle/>
          <a:p>
            <a:pPr algn="ctr"/>
            <a:r>
              <a:rPr lang="en-US" dirty="0"/>
              <a:t>Table 13.10 </a:t>
            </a:r>
            <a:br>
              <a:rPr lang="en-US" dirty="0"/>
            </a:br>
            <a:r>
              <a:rPr lang="en-US" dirty="0"/>
              <a:t>MMX Instruction Set</a:t>
            </a:r>
          </a:p>
        </p:txBody>
      </p:sp>
      <p:sp>
        <p:nvSpPr>
          <p:cNvPr id="7" name="Rectangle 6"/>
          <p:cNvSpPr/>
          <p:nvPr/>
        </p:nvSpPr>
        <p:spPr>
          <a:xfrm>
            <a:off x="2592288" y="6115609"/>
            <a:ext cx="6588224" cy="400110"/>
          </a:xfrm>
          <a:prstGeom prst="rect">
            <a:avLst/>
          </a:prstGeom>
        </p:spPr>
        <p:txBody>
          <a:bodyPr wrap="square">
            <a:spAutoFit/>
          </a:bodyPr>
          <a:lstStyle/>
          <a:p>
            <a:r>
              <a:rPr lang="en-US" sz="1000" i="1" dirty="0">
                <a:latin typeface="+mn-lt"/>
              </a:rPr>
              <a:t>Note:</a:t>
            </a:r>
            <a:r>
              <a:rPr lang="en-US" sz="1000" dirty="0">
                <a:latin typeface="+mn-lt"/>
              </a:rPr>
              <a:t> If an instruction supports multiple data types [byte (B), word (W), </a:t>
            </a:r>
            <a:r>
              <a:rPr lang="en-US" sz="1000" dirty="0" err="1">
                <a:latin typeface="+mn-lt"/>
              </a:rPr>
              <a:t>doubleword</a:t>
            </a:r>
            <a:r>
              <a:rPr lang="en-US" sz="1000" dirty="0">
                <a:latin typeface="+mn-lt"/>
              </a:rPr>
              <a:t> (D), </a:t>
            </a:r>
            <a:r>
              <a:rPr lang="en-US" sz="1000" dirty="0" err="1">
                <a:latin typeface="+mn-lt"/>
              </a:rPr>
              <a:t>quadword</a:t>
            </a:r>
            <a:r>
              <a:rPr lang="en-US" sz="1000" dirty="0">
                <a:latin typeface="+mn-lt"/>
              </a:rPr>
              <a:t> (Q)], the data types are indicated in brackets.</a:t>
            </a:r>
          </a:p>
        </p:txBody>
      </p:sp>
      <p:graphicFrame>
        <p:nvGraphicFramePr>
          <p:cNvPr id="12" name="Table 11" descr="The table is broken up into 7 categories of instructions. Category one is arithmetic, and it has the following instructions and accompanying descriptions. 1. P A D D, B W D. parallel add of packed eight bytes, four 16 bit words, or two 32 bit doublewords, with wraparound. 2. P A D D S, B, W. Add with saturation. 3. P A D D U S, B, W. Add unsigned with saturation. 4. P S U B, B W D, subtract with wraparound. 5. P S U B S, B W. Subtract with saturation. P S U B U S, B W. Subtract unsigned with saturation. P M U L H W. Parallel multiply of four signed 16 bit words, with high order 16 bits of 32 bit result chosen. P M U L L W, parallel multiply of four signed 16 bit words, with low order 16 bits of 32 bit result chosen. P M A D D W D. Parallel multiply of four signed 16-bit words; add together adjacent pairs of 32-bit results. Category two is comparison, and it reads as follows. P C M P E Q [B, W, D]. Parallel compare for equality; result is mask of 1s if true or 0s if false. P C M P G T [B, W, D] Parallel compare for greater than; result is mask of 1s if true or 0s if false. Category 3 is conversion, and it reads as follows. P A C K U S W B, Pack words into bytes with unsigned saturation. P A C K S S [W B, D W] Pack words into bytes, or doublewords into words, with signed saturation. P U N P C K H [B W, W D, D Q] Parallel unpack (interleaved merge) high order bytes, words, or doublewords from M M X register. P U N P C K L [B W, W D, D Q] Parallel unpack (interleaved merge) low-order bytes, words, or doublewords from M M X register. The next category is logical, and it reads as follows. P A N D, 64-bit bitwise logical AND. P N D N, 64-bit bitwise logical AND NOT. P O R, 64-bit bitwise logical O R. P X O R, 64-bit bitwise logical X O R. The next category is labeled shift, and it reads as follows. P S L L [W, D, Q], Parallel logical left shift of packed words, doublewords, or quadword by amount specified in M M X register or immediate value. PSRL [W, D, Q], Parallel logical right shift of packed words, doublewords, or quadword. P S R A [W, D], Parallel arithmetic right shift of packed words, doublewords, or quadword. The next category is data transfer. M O V [D, Q], Move doubleword or quadword to or from the M M X register. The final category is state m g t, E M M S, empty M M X state (empty F P registers tag bits)." title="A table titled, M M X instruction set."/>
          <p:cNvGraphicFramePr>
            <a:graphicFrameLocks noGrp="1"/>
          </p:cNvGraphicFramePr>
          <p:nvPr/>
        </p:nvGraphicFramePr>
        <p:xfrm>
          <a:off x="2627784" y="174394"/>
          <a:ext cx="6288941" cy="5943600"/>
        </p:xfrm>
        <a:graphic>
          <a:graphicData uri="http://schemas.openxmlformats.org/drawingml/2006/table">
            <a:tbl>
              <a:tblPr firstRow="1" bandRow="1">
                <a:tableStyleId>{5C22544A-7EE6-4342-B048-85BDC9FD1C3A}</a:tableStyleId>
              </a:tblPr>
              <a:tblGrid>
                <a:gridCol w="891614">
                  <a:extLst>
                    <a:ext uri="{9D8B030D-6E8A-4147-A177-3AD203B41FA5}">
                      <a16:colId xmlns:a16="http://schemas.microsoft.com/office/drawing/2014/main" val="1859018432"/>
                    </a:ext>
                  </a:extLst>
                </a:gridCol>
                <a:gridCol w="1790440">
                  <a:extLst>
                    <a:ext uri="{9D8B030D-6E8A-4147-A177-3AD203B41FA5}">
                      <a16:colId xmlns:a16="http://schemas.microsoft.com/office/drawing/2014/main" val="2543019389"/>
                    </a:ext>
                  </a:extLst>
                </a:gridCol>
                <a:gridCol w="3606887">
                  <a:extLst>
                    <a:ext uri="{9D8B030D-6E8A-4147-A177-3AD203B41FA5}">
                      <a16:colId xmlns:a16="http://schemas.microsoft.com/office/drawing/2014/main" val="3168231750"/>
                    </a:ext>
                  </a:extLst>
                </a:gridCol>
              </a:tblGrid>
              <a:tr h="198360">
                <a:tc>
                  <a:txBody>
                    <a:bodyPr/>
                    <a:lstStyle/>
                    <a:p>
                      <a:r>
                        <a:rPr lang="en-IN" sz="750" b="1" dirty="0">
                          <a:solidFill>
                            <a:schemeClr val="tx1"/>
                          </a:solidFill>
                        </a:rPr>
                        <a:t>Category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750" b="1" i="0" u="none" strike="noStrike" cap="none" baseline="0" dirty="0">
                          <a:solidFill>
                            <a:schemeClr val="tx1"/>
                          </a:solidFill>
                          <a:latin typeface="+mn-lt"/>
                          <a:ea typeface="+mn-ea"/>
                          <a:cs typeface="+mn-cs"/>
                          <a:sym typeface="Arial"/>
                        </a:rPr>
                        <a:t>Instruction</a:t>
                      </a:r>
                      <a:endParaRPr lang="en-IN" sz="75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IN" sz="750" b="1" dirty="0">
                          <a:solidFill>
                            <a:schemeClr val="tx1"/>
                          </a:solidFill>
                        </a:rPr>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1659986812"/>
                  </a:ext>
                </a:extLst>
              </a:tr>
              <a:tr h="311709">
                <a:tc rowSpan="9">
                  <a:txBody>
                    <a:bodyPr/>
                    <a:lstStyle/>
                    <a:p>
                      <a:r>
                        <a:rPr lang="en-IN" sz="750" dirty="0"/>
                        <a:t>Arithmetic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750" dirty="0"/>
                        <a:t>PADD [B, W, 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750" dirty="0"/>
                        <a:t>Parallel add of packed eight bytes, four 16-bit words, or two</a:t>
                      </a:r>
                    </a:p>
                    <a:p>
                      <a:r>
                        <a:rPr lang="en-US" sz="750" dirty="0"/>
                        <a:t>32-bit </a:t>
                      </a:r>
                      <a:r>
                        <a:rPr lang="en-US" sz="750" dirty="0" err="1"/>
                        <a:t>doublewords</a:t>
                      </a:r>
                      <a:r>
                        <a:rPr lang="en-US" sz="750" dirty="0"/>
                        <a:t>, with wraparound.</a:t>
                      </a:r>
                      <a:endParaRPr lang="en-IN" sz="7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717666487"/>
                  </a:ext>
                </a:extLst>
              </a:tr>
              <a:tr h="198360">
                <a:tc vMerge="1">
                  <a:txBody>
                    <a:bodyPr/>
                    <a:lstStyle/>
                    <a:p>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750" dirty="0"/>
                        <a:t>PADDS [B, 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750" dirty="0"/>
                        <a:t>Add with saturation.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4062764516"/>
                  </a:ext>
                </a:extLst>
              </a:tr>
              <a:tr h="198360">
                <a:tc vMerge="1">
                  <a:txBody>
                    <a:bodyPr/>
                    <a:lstStyle/>
                    <a:p>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750" dirty="0"/>
                        <a:t>PADDUS [B, 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750" dirty="0"/>
                        <a:t>Add unsigned with saturation.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801756320"/>
                  </a:ext>
                </a:extLst>
              </a:tr>
              <a:tr h="198360">
                <a:tc vMerge="1">
                  <a:txBody>
                    <a:bodyPr/>
                    <a:lstStyle/>
                    <a:p>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750" dirty="0"/>
                        <a:t>PSUB [B, W, 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750" dirty="0"/>
                        <a:t>Subtract with wraparound.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1007438362"/>
                  </a:ext>
                </a:extLst>
              </a:tr>
              <a:tr h="198360">
                <a:tc vMerge="1">
                  <a:txBody>
                    <a:bodyPr/>
                    <a:lstStyle/>
                    <a:p>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750" dirty="0"/>
                        <a:t>PSUBS [B, 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750" dirty="0"/>
                        <a:t>Subtract with saturation.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794824530"/>
                  </a:ext>
                </a:extLst>
              </a:tr>
              <a:tr h="198360">
                <a:tc vMerge="1">
                  <a:txBody>
                    <a:bodyPr/>
                    <a:lstStyle/>
                    <a:p>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750" dirty="0"/>
                        <a:t>PSUBUS [B, 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750" dirty="0"/>
                        <a:t>Subtract unsigned with saturation.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4149877881"/>
                  </a:ext>
                </a:extLst>
              </a:tr>
              <a:tr h="311709">
                <a:tc vMerge="1">
                  <a:txBody>
                    <a:bodyPr/>
                    <a:lstStyle/>
                    <a:p>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750" dirty="0"/>
                        <a:t>PMULHW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750" dirty="0"/>
                        <a:t>Parallel multiply of four signed 16-bit words, with high-</a:t>
                      </a:r>
                    </a:p>
                    <a:p>
                      <a:r>
                        <a:rPr lang="en-US" sz="750" dirty="0"/>
                        <a:t>order 16 bits of 32-bit result chosen.</a:t>
                      </a:r>
                      <a:endParaRPr lang="en-IN" sz="7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495417200"/>
                  </a:ext>
                </a:extLst>
              </a:tr>
              <a:tr h="311709">
                <a:tc vMerge="1">
                  <a:txBody>
                    <a:bodyPr/>
                    <a:lstStyle/>
                    <a:p>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750" dirty="0"/>
                        <a:t>PMULLW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750" dirty="0"/>
                        <a:t>Parallel multiply of four signed 16-bit words, with low-order 16 bits of 32-bit result chosen.</a:t>
                      </a:r>
                      <a:endParaRPr lang="en-IN" sz="7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088829845"/>
                  </a:ext>
                </a:extLst>
              </a:tr>
              <a:tr h="311709">
                <a:tc vMerge="1">
                  <a:txBody>
                    <a:bodyPr/>
                    <a:lstStyle/>
                    <a:p>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750" dirty="0"/>
                        <a:t>PMADDWD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750" dirty="0"/>
                        <a:t>Parallel multiply of four signed 16-bit words; add together</a:t>
                      </a:r>
                    </a:p>
                    <a:p>
                      <a:r>
                        <a:rPr lang="en-US" sz="750" dirty="0"/>
                        <a:t>adjacent pairs of 32-bit results.</a:t>
                      </a:r>
                      <a:endParaRPr lang="en-IN" sz="7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650603847"/>
                  </a:ext>
                </a:extLst>
              </a:tr>
              <a:tr h="198360">
                <a:tc rowSpan="2">
                  <a:txBody>
                    <a:bodyPr/>
                    <a:lstStyle/>
                    <a:p>
                      <a:r>
                        <a:rPr lang="en-IN" sz="750" dirty="0"/>
                        <a:t>Comparison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750" dirty="0"/>
                        <a:t>PCMPEQ [B, W, 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750" dirty="0"/>
                        <a:t>Parallel compare for equality; result is mask of 1s if true or 0s if false.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2693729218"/>
                  </a:ext>
                </a:extLst>
              </a:tr>
              <a:tr h="198360">
                <a:tc vMerge="1">
                  <a:txBody>
                    <a:bodyPr/>
                    <a:lstStyle/>
                    <a:p>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750" dirty="0"/>
                        <a:t>PCMPGT [B, W, 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750" dirty="0"/>
                        <a:t>Parallel compare for greater than; result is mask of 1s if true or 0s if false.</a:t>
                      </a:r>
                      <a:endParaRPr lang="en-IN" sz="7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008297481"/>
                  </a:ext>
                </a:extLst>
              </a:tr>
              <a:tr h="198360">
                <a:tc rowSpan="4">
                  <a:txBody>
                    <a:bodyPr/>
                    <a:lstStyle/>
                    <a:p>
                      <a:r>
                        <a:rPr lang="en-IN" sz="750" dirty="0"/>
                        <a:t>Conversion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750" dirty="0"/>
                        <a:t>PACKUSWB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750" dirty="0"/>
                        <a:t>Pack words into bytes with unsigned saturation.</a:t>
                      </a:r>
                      <a:endParaRPr lang="en-IN" sz="7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1923169786"/>
                  </a:ext>
                </a:extLst>
              </a:tr>
              <a:tr h="198360">
                <a:tc vMerge="1">
                  <a:txBody>
                    <a:bodyPr/>
                    <a:lstStyle/>
                    <a:p>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750" dirty="0"/>
                        <a:t>PACKSS [WB, DW]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750" dirty="0"/>
                        <a:t>Pack words into bytes, or </a:t>
                      </a:r>
                      <a:r>
                        <a:rPr lang="en-US" sz="750" dirty="0" err="1"/>
                        <a:t>doublewords</a:t>
                      </a:r>
                      <a:r>
                        <a:rPr lang="en-US" sz="750" dirty="0"/>
                        <a:t> into words, with signed saturation.</a:t>
                      </a:r>
                      <a:endParaRPr lang="en-IN" sz="7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296931147"/>
                  </a:ext>
                </a:extLst>
              </a:tr>
              <a:tr h="311709">
                <a:tc vMerge="1">
                  <a:txBody>
                    <a:bodyPr/>
                    <a:lstStyle/>
                    <a:p>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750" dirty="0"/>
                        <a:t>PUNPCKH [BW, WD, DQ]</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750" dirty="0"/>
                        <a:t>Parallel unpack (interleaved merge) high-</a:t>
                      </a:r>
                    </a:p>
                    <a:p>
                      <a:r>
                        <a:rPr lang="en-US" sz="750" dirty="0"/>
                        <a:t>order bytes, words, or </a:t>
                      </a:r>
                      <a:r>
                        <a:rPr lang="en-US" sz="750" dirty="0" err="1"/>
                        <a:t>doublewords</a:t>
                      </a:r>
                      <a:r>
                        <a:rPr lang="en-US" sz="750" dirty="0"/>
                        <a:t> from MMX register.</a:t>
                      </a:r>
                      <a:endParaRPr lang="en-IN" sz="7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78502401"/>
                  </a:ext>
                </a:extLst>
              </a:tr>
              <a:tr h="311709">
                <a:tc vMerge="1">
                  <a:txBody>
                    <a:bodyPr/>
                    <a:lstStyle/>
                    <a:p>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750" dirty="0"/>
                        <a:t>PUNPCKL [BW, WD, DQ]</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750" dirty="0"/>
                        <a:t>Parallel unpack (interleaved merge) low-</a:t>
                      </a:r>
                    </a:p>
                    <a:p>
                      <a:r>
                        <a:rPr lang="en-US" sz="750" dirty="0"/>
                        <a:t>order bytes, words, or </a:t>
                      </a:r>
                      <a:r>
                        <a:rPr lang="en-US" sz="750" dirty="0" err="1"/>
                        <a:t>doublewords</a:t>
                      </a:r>
                      <a:r>
                        <a:rPr lang="en-US" sz="750" dirty="0"/>
                        <a:t> from MMX register.</a:t>
                      </a:r>
                      <a:endParaRPr lang="en-IN" sz="7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543527841"/>
                  </a:ext>
                </a:extLst>
              </a:tr>
              <a:tr h="198360">
                <a:tc rowSpan="4">
                  <a:txBody>
                    <a:bodyPr/>
                    <a:lstStyle/>
                    <a:p>
                      <a:r>
                        <a:rPr lang="en-IN" sz="750" dirty="0"/>
                        <a:t>Logical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750" dirty="0"/>
                        <a:t>PAND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750" dirty="0"/>
                        <a:t>64-bit bitwise logical AND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162541268"/>
                  </a:ext>
                </a:extLst>
              </a:tr>
              <a:tr h="198360">
                <a:tc vMerge="1">
                  <a:txBody>
                    <a:bodyPr/>
                    <a:lstStyle/>
                    <a:p>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750" dirty="0"/>
                        <a:t>PNDN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750" dirty="0"/>
                        <a:t>64-bit bitwise logical AND NOT</a:t>
                      </a:r>
                      <a:endParaRPr lang="en-IN" sz="7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742709782"/>
                  </a:ext>
                </a:extLst>
              </a:tr>
              <a:tr h="198360">
                <a:tc vMerge="1">
                  <a:txBody>
                    <a:bodyPr/>
                    <a:lstStyle/>
                    <a:p>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750" dirty="0"/>
                        <a:t>POR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750" dirty="0"/>
                        <a:t>64-bit bitwise logical 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368514044"/>
                  </a:ext>
                </a:extLst>
              </a:tr>
              <a:tr h="198360">
                <a:tc vMerge="1">
                  <a:txBody>
                    <a:bodyPr/>
                    <a:lstStyle/>
                    <a:p>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750" dirty="0"/>
                        <a:t>PXOR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750" dirty="0"/>
                        <a:t>64-bit bitwise logical XOR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1564617872"/>
                  </a:ext>
                </a:extLst>
              </a:tr>
              <a:tr h="311709">
                <a:tc rowSpan="3">
                  <a:txBody>
                    <a:bodyPr/>
                    <a:lstStyle/>
                    <a:p>
                      <a:r>
                        <a:rPr lang="en-IN" sz="750" dirty="0"/>
                        <a:t>Shift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750" dirty="0"/>
                        <a:t>PSLL [W, D, Q]</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750" dirty="0"/>
                        <a:t>Parallel logical left shift of packed words, </a:t>
                      </a:r>
                      <a:r>
                        <a:rPr lang="en-US" sz="750" dirty="0" err="1"/>
                        <a:t>doublewords</a:t>
                      </a:r>
                      <a:r>
                        <a:rPr lang="en-US" sz="750" dirty="0"/>
                        <a:t>, or </a:t>
                      </a:r>
                      <a:r>
                        <a:rPr lang="en-US" sz="750" dirty="0" err="1"/>
                        <a:t>quadword</a:t>
                      </a:r>
                      <a:r>
                        <a:rPr lang="en-US" sz="750" dirty="0"/>
                        <a:t> by amount specified in MMX register or immediate value.</a:t>
                      </a:r>
                      <a:endParaRPr lang="en-IN" sz="7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615377485"/>
                  </a:ext>
                </a:extLst>
              </a:tr>
              <a:tr h="198360">
                <a:tc vMerge="1">
                  <a:txBody>
                    <a:bodyPr/>
                    <a:lstStyle/>
                    <a:p>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750" dirty="0"/>
                        <a:t>PSRL [W, D, Q]</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750" dirty="0"/>
                        <a:t>Parallel logical right shift of packed words, </a:t>
                      </a:r>
                      <a:r>
                        <a:rPr lang="en-US" sz="750" dirty="0" err="1"/>
                        <a:t>doublewords</a:t>
                      </a:r>
                      <a:r>
                        <a:rPr lang="en-US" sz="750" dirty="0"/>
                        <a:t>, or </a:t>
                      </a:r>
                      <a:r>
                        <a:rPr lang="en-US" sz="750" dirty="0" err="1"/>
                        <a:t>quadword</a:t>
                      </a:r>
                      <a:r>
                        <a:rPr lang="en-US" sz="750" dirty="0"/>
                        <a:t>.</a:t>
                      </a:r>
                      <a:endParaRPr lang="en-IN" sz="7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459517126"/>
                  </a:ext>
                </a:extLst>
              </a:tr>
              <a:tr h="198360">
                <a:tc vMerge="1">
                  <a:txBody>
                    <a:bodyPr/>
                    <a:lstStyle/>
                    <a:p>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750" dirty="0"/>
                        <a:t>PSRA [W, 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750" dirty="0"/>
                        <a:t>Parallel arithmetic right shift of packed words, </a:t>
                      </a:r>
                      <a:r>
                        <a:rPr lang="en-US" sz="750" dirty="0" err="1"/>
                        <a:t>doublewords</a:t>
                      </a:r>
                      <a:r>
                        <a:rPr lang="en-US" sz="750" dirty="0"/>
                        <a:t>, or </a:t>
                      </a:r>
                      <a:r>
                        <a:rPr lang="en-US" sz="750" dirty="0" err="1"/>
                        <a:t>quadword</a:t>
                      </a:r>
                      <a:r>
                        <a:rPr lang="en-US" sz="750" dirty="0"/>
                        <a:t>.</a:t>
                      </a:r>
                      <a:endParaRPr lang="en-IN" sz="7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943301476"/>
                  </a:ext>
                </a:extLst>
              </a:tr>
              <a:tr h="135737">
                <a:tc>
                  <a:txBody>
                    <a:bodyPr/>
                    <a:lstStyle/>
                    <a:p>
                      <a:r>
                        <a:rPr lang="en-IN" sz="750" dirty="0"/>
                        <a:t>Data transfer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750" dirty="0"/>
                        <a:t>MOV [D, Q]</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750" dirty="0"/>
                        <a:t>Move </a:t>
                      </a:r>
                      <a:r>
                        <a:rPr lang="en-US" sz="750" dirty="0" err="1"/>
                        <a:t>doubleword</a:t>
                      </a:r>
                      <a:r>
                        <a:rPr lang="en-US" sz="750" dirty="0"/>
                        <a:t> or </a:t>
                      </a:r>
                      <a:r>
                        <a:rPr lang="en-US" sz="750" dirty="0" err="1"/>
                        <a:t>quadword</a:t>
                      </a:r>
                      <a:r>
                        <a:rPr lang="en-US" sz="750" dirty="0"/>
                        <a:t> to/from MMX register.</a:t>
                      </a:r>
                      <a:endParaRPr lang="en-IN" sz="7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174382464"/>
                  </a:ext>
                </a:extLst>
              </a:tr>
              <a:tr h="198360">
                <a:tc>
                  <a:txBody>
                    <a:bodyPr/>
                    <a:lstStyle/>
                    <a:p>
                      <a:r>
                        <a:rPr lang="en-IN" sz="750" dirty="0" err="1"/>
                        <a:t>Statemgt</a:t>
                      </a:r>
                      <a:endParaRPr lang="en-IN" sz="7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IN" sz="750" dirty="0"/>
                        <a:t>EMMS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r>
                        <a:rPr lang="en-US" sz="750" dirty="0"/>
                        <a:t>Empty MMX state (empty FP registers tag bits).</a:t>
                      </a:r>
                      <a:endParaRPr lang="en-IN" sz="7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2028364584"/>
                  </a:ext>
                </a:extLst>
              </a:tr>
            </a:tbl>
          </a:graphicData>
        </a:graphic>
      </p:graphicFrame>
      <p:sp>
        <p:nvSpPr>
          <p:cNvPr id="9" name="TextBox 8"/>
          <p:cNvSpPr txBox="1"/>
          <p:nvPr/>
        </p:nvSpPr>
        <p:spPr>
          <a:xfrm>
            <a:off x="5508104" y="6309320"/>
            <a:ext cx="3007484" cy="246221"/>
          </a:xfrm>
          <a:prstGeom prst="rect">
            <a:avLst/>
          </a:prstGeom>
          <a:noFill/>
        </p:spPr>
        <p:txBody>
          <a:bodyPr wrap="square" rtlCol="0">
            <a:spAutoFit/>
          </a:bodyPr>
          <a:lstStyle/>
          <a:p>
            <a:pPr algn="ctr"/>
            <a:r>
              <a:rPr lang="en-US" sz="1000" dirty="0">
                <a:latin typeface="+mn-lt"/>
              </a:rPr>
              <a:t>(Table can be found on page 462 in the textbook.) </a:t>
            </a:r>
          </a:p>
        </p:txBody>
      </p:sp>
    </p:spTree>
    <p:extLst>
      <p:ext uri="{BB962C8B-B14F-4D97-AF65-F5344CB8AC3E}">
        <p14:creationId xmlns:p14="http://schemas.microsoft.com/office/powerpoint/2010/main" val="124904072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107504" y="620488"/>
            <a:ext cx="3839169" cy="2138288"/>
          </a:xfrm>
          <a:noFill/>
          <a:ln/>
        </p:spPr>
        <p:txBody>
          <a:bodyPr lIns="90488" tIns="44450" rIns="90488" bIns="44450"/>
          <a:lstStyle/>
          <a:p>
            <a:pPr algn="ctr"/>
            <a:r>
              <a:rPr lang="en-US" dirty="0"/>
              <a:t>Figure 13.11 </a:t>
            </a:r>
            <a:br>
              <a:rPr lang="en-US" dirty="0"/>
            </a:br>
            <a:r>
              <a:rPr lang="en-US" dirty="0"/>
              <a:t>Image Compositing on Color Plane Representation</a:t>
            </a:r>
          </a:p>
        </p:txBody>
      </p:sp>
      <p:pic>
        <p:nvPicPr>
          <p:cNvPr id="2" name="Picture 1" descr="The 8 bit pixel components are converted to 16 bit components. Image A pixel sequence. Bit 1, vacant. bit 2, vacant. bit 3, vacant. bit 4, vacant. bit 5, A r 3. bit 6, A r 2. bit 7, A r 1. bit 8, A r 0. Image B pixel sequence. Bit 1, vacant. bit 2, vacant. bit 3, vacant. bit 4, vacant. bit 5, B r 3. bit 6, B r 2. bit 7, B r 1. bit 8, B r 0. Step 1. Unpack byte R pixel components from images A and B. 2. Step 2. Subtract image B from image A. The sequence is as follows. r 3, r 2, r 1 and r 0. Step 3. Multiply result by fade value. r 3 multiplied with fade. r 2 multiplied with fade. r 1 multiplied with fade and r 0 multiplied with fade. Step 4. Add image B pixels. The sequence is as follows. Row 1. B r 3, B r 2, B r 1, B r 0. Row 2. New r 3, new r 2, new r 1 and new r 0. Step 5. Pack new composite pixels back to bytes. The sequence is as follows. Bit 1, vacant. bit 2, vacant. bit 3, vacant. bit 4, vacant. bit 5. r 3. bit 6, r 2. bit 7, r 1. bit 8, r 0." title="A diagram explains the sequence of steps required for one set of pixels."/>
          <p:cNvPicPr>
            <a:picLocks noChangeAspect="1"/>
          </p:cNvPicPr>
          <p:nvPr/>
        </p:nvPicPr>
        <p:blipFill rotWithShape="1">
          <a:blip r:embed="rId3">
            <a:extLst>
              <a:ext uri="{28A0092B-C50C-407E-A947-70E740481C1C}">
                <a14:useLocalDpi xmlns:a14="http://schemas.microsoft.com/office/drawing/2010/main" val="0"/>
              </a:ext>
            </a:extLst>
          </a:blip>
          <a:srcRect t="2711" b="5325"/>
          <a:stretch/>
        </p:blipFill>
        <p:spPr>
          <a:xfrm>
            <a:off x="3992951" y="332656"/>
            <a:ext cx="5043545" cy="6002494"/>
          </a:xfrm>
          <a:prstGeom prst="rect">
            <a:avLst/>
          </a:prstGeom>
          <a:solidFill>
            <a:schemeClr val="bg1"/>
          </a:solidFill>
          <a:ln w="19050">
            <a:solidFill>
              <a:schemeClr val="tx1"/>
            </a:solidFill>
          </a:ln>
        </p:spPr>
      </p:pic>
      <p:sp>
        <p:nvSpPr>
          <p:cNvPr id="4" name="TextBox 3">
            <a:hlinkClick r:id="rId4" action="ppaction://hlinksldjump"/>
            <a:extLst>
              <a:ext uri="{FF2B5EF4-FFF2-40B4-BE49-F238E27FC236}">
                <a16:creationId xmlns:a16="http://schemas.microsoft.com/office/drawing/2014/main" id="{58230CEC-4124-48C2-9F73-E83B92A8758E}"/>
              </a:ext>
            </a:extLst>
          </p:cNvPr>
          <p:cNvSpPr txBox="1"/>
          <p:nvPr/>
        </p:nvSpPr>
        <p:spPr>
          <a:xfrm>
            <a:off x="7884368" y="6290559"/>
            <a:ext cx="1023037" cy="461665"/>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dirty="0">
                <a:hlinkClick r:id="rId4" action="ppaction://hlinksldjump"/>
              </a:rPr>
              <a:t>BACK</a:t>
            </a:r>
            <a:endParaRPr lang="en-MY" dirty="0"/>
          </a:p>
        </p:txBody>
      </p:sp>
    </p:spTree>
    <p:extLst>
      <p:ext uri="{BB962C8B-B14F-4D97-AF65-F5344CB8AC3E}">
        <p14:creationId xmlns:p14="http://schemas.microsoft.com/office/powerpoint/2010/main" val="378442842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ARM Operation Types</a:t>
            </a:r>
          </a:p>
        </p:txBody>
      </p:sp>
      <p:graphicFrame>
        <p:nvGraphicFramePr>
          <p:cNvPr id="7" name="Content Placeholder 8"/>
          <p:cNvGraphicFramePr>
            <a:graphicFrameLocks/>
          </p:cNvGraphicFramePr>
          <p:nvPr/>
        </p:nvGraphicFramePr>
        <p:xfrm>
          <a:off x="518964" y="1293142"/>
          <a:ext cx="8106072" cy="51119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4921315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Grp="1" noChangeArrowheads="1"/>
          </p:cNvSpPr>
          <p:nvPr>
            <p:ph type="title"/>
          </p:nvPr>
        </p:nvSpPr>
        <p:spPr>
          <a:xfrm>
            <a:off x="6991" y="116632"/>
            <a:ext cx="3172867" cy="2587329"/>
          </a:xfrm>
          <a:noFill/>
          <a:ln/>
        </p:spPr>
        <p:txBody>
          <a:bodyPr lIns="90488" tIns="44450" rIns="90488" bIns="44450"/>
          <a:lstStyle/>
          <a:p>
            <a:pPr algn="ctr"/>
            <a:r>
              <a:rPr lang="en-US" sz="3200" dirty="0"/>
              <a:t>Table 13.11 </a:t>
            </a:r>
            <a:br>
              <a:rPr lang="en-US" sz="3200" dirty="0"/>
            </a:br>
            <a:r>
              <a:rPr lang="en-US" sz="3200" dirty="0"/>
              <a:t>ARM Conditions for Conditional Instruction Execution</a:t>
            </a:r>
          </a:p>
        </p:txBody>
      </p:sp>
      <p:graphicFrame>
        <p:nvGraphicFramePr>
          <p:cNvPr id="8" name="Table 7" descr="The table has 4 columns with the headings, code, symbol, condition tested, and comment. The rows read as follows. 1. 0 0 0 0 E Q, Z = 1, Equal. 2. 0 0 0 1 N E, Z = 0, Not equal. 3. 0 0 1 0, C S slash H S, C = 1, Carry set slash unsigned higher or same. 4. 0 0 1 1, C C slash L O, C = 0 Carry clear slash unsigned lower. 5. 0 1 0 0 MI N = 1 Minus negative 6. 0 1 0 1 PL N = 0 Plus slash positive or zero. 7. 0 1 1 0 V S V = 1, Overflow 8. 0 1 1 1, V C, V = 0, No overflow. 9. 1 0 0 0, HI, C = 1 AND Z = 0 Unsigned higher. 10. 1 0 0 1, LS, C = 0 OR Z = 1, Unsigned lower or same. 11. 1 0 1 0, G E N = V [(N = 1 AND V = 1) OR (N = 0 AND V = 0)] Signed greater than or equal 12. 1 0 1 1, LT, N times V [(N = 1 AND V = 0) OR (N = 0 AND V = 1)], Signed less than. 13. 1 1 0 0 G T (Z = 0) AND (N = V), Signed greater than. 14. 1 1 0 1 L E (Z = 1) OR (N times V) Signed less than or equal. 15. 1 1 1 0, A L, blank, Always (unconditional), 16. 1 1 1 1, blank, blank, This instruction can only be executed unconditionally." title="A table with the title, A R M conditions for conditional instruction execution."/>
          <p:cNvGraphicFramePr>
            <a:graphicFrameLocks noGrp="1"/>
          </p:cNvGraphicFramePr>
          <p:nvPr/>
        </p:nvGraphicFramePr>
        <p:xfrm>
          <a:off x="3205331" y="107203"/>
          <a:ext cx="5687149" cy="6221367"/>
        </p:xfrm>
        <a:graphic>
          <a:graphicData uri="http://schemas.openxmlformats.org/drawingml/2006/table">
            <a:tbl>
              <a:tblPr firstRow="1" bandRow="1">
                <a:tableStyleId>{5C22544A-7EE6-4342-B048-85BDC9FD1C3A}</a:tableStyleId>
              </a:tblPr>
              <a:tblGrid>
                <a:gridCol w="731406">
                  <a:extLst>
                    <a:ext uri="{9D8B030D-6E8A-4147-A177-3AD203B41FA5}">
                      <a16:colId xmlns:a16="http://schemas.microsoft.com/office/drawing/2014/main" val="1859018432"/>
                    </a:ext>
                  </a:extLst>
                </a:gridCol>
                <a:gridCol w="923295">
                  <a:extLst>
                    <a:ext uri="{9D8B030D-6E8A-4147-A177-3AD203B41FA5}">
                      <a16:colId xmlns:a16="http://schemas.microsoft.com/office/drawing/2014/main" val="2543019389"/>
                    </a:ext>
                  </a:extLst>
                </a:gridCol>
                <a:gridCol w="1728192">
                  <a:extLst>
                    <a:ext uri="{9D8B030D-6E8A-4147-A177-3AD203B41FA5}">
                      <a16:colId xmlns:a16="http://schemas.microsoft.com/office/drawing/2014/main" val="1443014287"/>
                    </a:ext>
                  </a:extLst>
                </a:gridCol>
                <a:gridCol w="2304256">
                  <a:extLst>
                    <a:ext uri="{9D8B030D-6E8A-4147-A177-3AD203B41FA5}">
                      <a16:colId xmlns:a16="http://schemas.microsoft.com/office/drawing/2014/main" val="3168231750"/>
                    </a:ext>
                  </a:extLst>
                </a:gridCol>
              </a:tblGrid>
              <a:tr h="124096">
                <a:tc>
                  <a:txBody>
                    <a:bodyPr/>
                    <a:lstStyle/>
                    <a:p>
                      <a:pPr algn="ctr"/>
                      <a:r>
                        <a:rPr lang="en-IN" sz="1000" b="1" dirty="0">
                          <a:solidFill>
                            <a:schemeClr val="tx1"/>
                          </a:solidFill>
                        </a:rPr>
                        <a:t>Code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b="1" i="0" u="none" strike="noStrike" cap="none" baseline="0" dirty="0">
                          <a:solidFill>
                            <a:schemeClr val="tx1"/>
                          </a:solidFill>
                          <a:latin typeface="+mn-lt"/>
                          <a:ea typeface="+mn-ea"/>
                          <a:cs typeface="+mn-cs"/>
                          <a:sym typeface="Arial"/>
                        </a:rPr>
                        <a:t>Symbol</a:t>
                      </a:r>
                      <a:endParaRPr lang="en-IN" sz="10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b="1" dirty="0">
                          <a:solidFill>
                            <a:schemeClr val="tx1"/>
                          </a:solidFill>
                        </a:rPr>
                        <a:t>Condition Tested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000" b="1" dirty="0">
                          <a:solidFill>
                            <a:schemeClr val="tx1"/>
                          </a:solidFill>
                        </a:rPr>
                        <a:t>Comment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659986812"/>
                  </a:ext>
                </a:extLst>
              </a:tr>
              <a:tr h="350709">
                <a:tc>
                  <a:txBody>
                    <a:bodyPr/>
                    <a:lstStyle/>
                    <a:p>
                      <a:pPr algn="ctr"/>
                      <a:r>
                        <a:rPr lang="en-IN" sz="1000" dirty="0"/>
                        <a:t>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1000" b="0" i="0" u="none" strike="noStrike" cap="none" baseline="0" dirty="0">
                          <a:solidFill>
                            <a:schemeClr val="dk1"/>
                          </a:solidFill>
                          <a:latin typeface="+mn-lt"/>
                          <a:ea typeface="+mn-ea"/>
                          <a:cs typeface="+mn-cs"/>
                          <a:sym typeface="Arial"/>
                        </a:rPr>
                        <a:t>EQ</a:t>
                      </a: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1000" dirty="0"/>
                        <a:t>Z =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1000" dirty="0"/>
                        <a:t>Equal</a:t>
                      </a: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717666487"/>
                  </a:ext>
                </a:extLst>
              </a:tr>
              <a:tr h="485597">
                <a:tc>
                  <a:txBody>
                    <a:bodyPr/>
                    <a:lstStyle/>
                    <a:p>
                      <a:pPr algn="ctr"/>
                      <a:r>
                        <a:rPr lang="en-IN" sz="1000" dirty="0"/>
                        <a:t>0001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1000" b="0" i="0" u="none" strike="noStrike" cap="none" baseline="0" dirty="0">
                          <a:solidFill>
                            <a:schemeClr val="dk1"/>
                          </a:solidFill>
                          <a:latin typeface="+mn-lt"/>
                          <a:ea typeface="+mn-ea"/>
                          <a:cs typeface="+mn-cs"/>
                          <a:sym typeface="Arial"/>
                        </a:rPr>
                        <a:t>NE</a:t>
                      </a: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1000" dirty="0"/>
                        <a:t>Z = 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1000" dirty="0"/>
                        <a:t>Not equal</a:t>
                      </a: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062764516"/>
                  </a:ext>
                </a:extLst>
              </a:tr>
              <a:tr h="329681">
                <a:tc>
                  <a:txBody>
                    <a:bodyPr/>
                    <a:lstStyle/>
                    <a:p>
                      <a:pPr algn="ctr"/>
                      <a:r>
                        <a:rPr lang="en-IN" sz="1000" dirty="0"/>
                        <a:t>0010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1000" b="0" i="0" u="none" strike="noStrike" cap="none" baseline="0" dirty="0">
                          <a:solidFill>
                            <a:schemeClr val="dk1"/>
                          </a:solidFill>
                          <a:latin typeface="+mn-lt"/>
                          <a:ea typeface="+mn-ea"/>
                          <a:cs typeface="+mn-cs"/>
                          <a:sym typeface="Arial"/>
                        </a:rPr>
                        <a:t>CS/HS</a:t>
                      </a: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1000" dirty="0"/>
                        <a:t>C =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1000" dirty="0"/>
                        <a:t>Carry set/unsigned higher or same</a:t>
                      </a: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801756320"/>
                  </a:ext>
                </a:extLst>
              </a:tr>
              <a:tr h="350709">
                <a:tc>
                  <a:txBody>
                    <a:bodyPr/>
                    <a:lstStyle/>
                    <a:p>
                      <a:pPr algn="ctr"/>
                      <a:r>
                        <a:rPr lang="en-IN" sz="1000" dirty="0"/>
                        <a:t>0011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pl-PL" sz="1000" b="0" i="0" u="none" strike="noStrike" cap="none" baseline="0" dirty="0">
                          <a:solidFill>
                            <a:schemeClr val="dk1"/>
                          </a:solidFill>
                          <a:latin typeface="+mn-lt"/>
                          <a:ea typeface="+mn-ea"/>
                          <a:cs typeface="+mn-cs"/>
                          <a:sym typeface="Arial"/>
                        </a:rPr>
                        <a:t>CC/LO</a:t>
                      </a: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1000" dirty="0"/>
                        <a:t>C = 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1000" dirty="0"/>
                        <a:t>Carry clear/unsigned lower</a:t>
                      </a: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007438362"/>
                  </a:ext>
                </a:extLst>
              </a:tr>
              <a:tr h="255701">
                <a:tc>
                  <a:txBody>
                    <a:bodyPr/>
                    <a:lstStyle/>
                    <a:p>
                      <a:pPr algn="ctr"/>
                      <a:r>
                        <a:rPr lang="en-IN" sz="1000" dirty="0"/>
                        <a:t>00100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1000" b="0" i="0" u="none" strike="noStrike" cap="none" baseline="0" dirty="0">
                          <a:solidFill>
                            <a:schemeClr val="dk1"/>
                          </a:solidFill>
                          <a:latin typeface="+mn-lt"/>
                          <a:ea typeface="+mn-ea"/>
                          <a:cs typeface="+mn-cs"/>
                          <a:sym typeface="Arial"/>
                        </a:rPr>
                        <a:t>MI</a:t>
                      </a: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1000" dirty="0"/>
                        <a:t>N =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1000" dirty="0"/>
                        <a:t>Minus/negative</a:t>
                      </a: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794824530"/>
                  </a:ext>
                </a:extLst>
              </a:tr>
              <a:tr h="350709">
                <a:tc>
                  <a:txBody>
                    <a:bodyPr/>
                    <a:lstStyle/>
                    <a:p>
                      <a:pPr algn="ctr"/>
                      <a:r>
                        <a:rPr lang="en-IN" sz="1000" dirty="0"/>
                        <a:t>00101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1000" b="0" i="0" u="none" strike="noStrike" cap="none" baseline="0" dirty="0">
                          <a:solidFill>
                            <a:schemeClr val="dk1"/>
                          </a:solidFill>
                          <a:latin typeface="+mn-lt"/>
                          <a:ea typeface="+mn-ea"/>
                          <a:cs typeface="+mn-cs"/>
                          <a:sym typeface="Arial"/>
                        </a:rPr>
                        <a:t>PL</a:t>
                      </a: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1000" dirty="0"/>
                        <a:t>N = 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1000" dirty="0"/>
                        <a:t>Plus/positive or zero</a:t>
                      </a: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9877881"/>
                  </a:ext>
                </a:extLst>
              </a:tr>
              <a:tr h="350709">
                <a:tc>
                  <a:txBody>
                    <a:bodyPr/>
                    <a:lstStyle/>
                    <a:p>
                      <a:pPr algn="ctr"/>
                      <a:r>
                        <a:rPr lang="en-IN" sz="1000" dirty="0"/>
                        <a:t>00110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1000" dirty="0"/>
                        <a:t>VS</a:t>
                      </a: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1000" dirty="0"/>
                        <a:t>V =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1000" dirty="0"/>
                        <a:t>Overflow</a:t>
                      </a: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495417200"/>
                  </a:ext>
                </a:extLst>
              </a:tr>
              <a:tr h="353407">
                <a:tc>
                  <a:txBody>
                    <a:bodyPr/>
                    <a:lstStyle/>
                    <a:p>
                      <a:pPr algn="ctr"/>
                      <a:r>
                        <a:rPr lang="en-IN" sz="1000" dirty="0"/>
                        <a:t>00111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1000" dirty="0"/>
                        <a:t>VC</a:t>
                      </a: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1000" dirty="0"/>
                        <a:t>V = 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1000" dirty="0"/>
                        <a:t>No overflow</a:t>
                      </a: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088829845"/>
                  </a:ext>
                </a:extLst>
              </a:tr>
              <a:tr h="485597">
                <a:tc>
                  <a:txBody>
                    <a:bodyPr/>
                    <a:lstStyle/>
                    <a:p>
                      <a:pPr algn="ctr"/>
                      <a:r>
                        <a:rPr lang="en-IN" sz="1000" dirty="0"/>
                        <a:t>1000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1000" dirty="0"/>
                        <a:t>HI</a:t>
                      </a: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1000" dirty="0"/>
                        <a:t>C = 1 AND Z = 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1000" dirty="0"/>
                        <a:t>Unsigned higher</a:t>
                      </a: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650603847"/>
                  </a:ext>
                </a:extLst>
              </a:tr>
              <a:tr h="350709">
                <a:tc>
                  <a:txBody>
                    <a:bodyPr/>
                    <a:lstStyle/>
                    <a:p>
                      <a:pPr algn="ctr"/>
                      <a:r>
                        <a:rPr lang="en-IN" sz="1000" dirty="0"/>
                        <a:t>1001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1000" dirty="0"/>
                        <a:t>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pl-PL" sz="1000" dirty="0"/>
                        <a:t>C = 0 OR Z = 1</a:t>
                      </a:r>
                      <a:endParaRPr lang="en-US"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1000" dirty="0"/>
                        <a:t>Unsigned lower or same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693729218"/>
                  </a:ext>
                </a:extLst>
              </a:tr>
              <a:tr h="57532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000" dirty="0"/>
                        <a:t>1010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1000" dirty="0"/>
                        <a:t>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1000" dirty="0"/>
                        <a:t>N = V</a:t>
                      </a:r>
                    </a:p>
                    <a:p>
                      <a:r>
                        <a:rPr lang="en-US" sz="1000" dirty="0"/>
                        <a:t>[(N = 1 AND V = 1)</a:t>
                      </a:r>
                    </a:p>
                    <a:p>
                      <a:r>
                        <a:rPr lang="en-US" sz="1000" dirty="0"/>
                        <a:t>OR (N = 0 AND V = 0)]</a:t>
                      </a: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1000" dirty="0"/>
                        <a:t>Signed greater than or equal</a:t>
                      </a: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008297481"/>
                  </a:ext>
                </a:extLst>
              </a:tr>
              <a:tr h="57532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000" dirty="0"/>
                        <a:t>1011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1000" dirty="0"/>
                        <a:t>LT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1000" dirty="0"/>
                        <a:t>N ≠ V</a:t>
                      </a:r>
                    </a:p>
                    <a:p>
                      <a:r>
                        <a:rPr lang="en-US" sz="1000" dirty="0"/>
                        <a:t>[(N = 1 AND V = 0)</a:t>
                      </a:r>
                    </a:p>
                    <a:p>
                      <a:r>
                        <a:rPr lang="en-US" sz="1000" dirty="0"/>
                        <a:t>OR (N = 0 AND V = 1)]</a:t>
                      </a: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1000" dirty="0"/>
                        <a:t>Signed less than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923169786"/>
                  </a:ext>
                </a:extLst>
              </a:tr>
              <a:tr h="255701">
                <a:tc>
                  <a:txBody>
                    <a:bodyPr/>
                    <a:lstStyle/>
                    <a:p>
                      <a:pPr algn="ctr"/>
                      <a:r>
                        <a:rPr lang="en-IN" sz="1000" dirty="0"/>
                        <a:t>1100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1000" dirty="0"/>
                        <a:t>GT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1000" dirty="0"/>
                        <a:t>(Z = 0) AND (N = 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1000" dirty="0"/>
                        <a:t>Signed greater than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296931147"/>
                  </a:ext>
                </a:extLst>
              </a:tr>
              <a:tr h="255701">
                <a:tc>
                  <a:txBody>
                    <a:bodyPr/>
                    <a:lstStyle/>
                    <a:p>
                      <a:pPr algn="ctr"/>
                      <a:r>
                        <a:rPr lang="en-IN" sz="1000" dirty="0"/>
                        <a:t>1101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1000" dirty="0"/>
                        <a:t>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1000" dirty="0"/>
                        <a:t>(Z = 1) OR (N ≠ 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1000" dirty="0"/>
                        <a:t>Signed less than or equal</a:t>
                      </a: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78502401"/>
                  </a:ext>
                </a:extLst>
              </a:tr>
              <a:tr h="255701">
                <a:tc>
                  <a:txBody>
                    <a:bodyPr/>
                    <a:lstStyle/>
                    <a:p>
                      <a:pPr algn="ctr"/>
                      <a:r>
                        <a:rPr lang="en-IN" sz="1000" dirty="0"/>
                        <a:t>1110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1000" dirty="0"/>
                        <a:t>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10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1000" dirty="0"/>
                        <a:t>Always (unconditional)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543527841"/>
                  </a:ext>
                </a:extLst>
              </a:tr>
              <a:tr h="324232">
                <a:tc>
                  <a:txBody>
                    <a:bodyPr/>
                    <a:lstStyle/>
                    <a:p>
                      <a:pPr algn="ctr"/>
                      <a:r>
                        <a:rPr lang="en-IN" sz="1000" dirty="0"/>
                        <a:t>1111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10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10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1000" dirty="0"/>
                        <a:t>This instruction can only be executed</a:t>
                      </a:r>
                    </a:p>
                    <a:p>
                      <a:r>
                        <a:rPr lang="en-US" sz="1000" dirty="0"/>
                        <a:t>unconditionally</a:t>
                      </a:r>
                      <a:endParaRPr lang="en-IN"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162541268"/>
                  </a:ext>
                </a:extLst>
              </a:tr>
            </a:tbl>
          </a:graphicData>
        </a:graphic>
      </p:graphicFrame>
      <p:sp>
        <p:nvSpPr>
          <p:cNvPr id="7" name="TextBox 6"/>
          <p:cNvSpPr txBox="1"/>
          <p:nvPr/>
        </p:nvSpPr>
        <p:spPr>
          <a:xfrm>
            <a:off x="5467762" y="6282984"/>
            <a:ext cx="3271077" cy="246221"/>
          </a:xfrm>
          <a:prstGeom prst="rect">
            <a:avLst/>
          </a:prstGeom>
          <a:noFill/>
        </p:spPr>
        <p:txBody>
          <a:bodyPr wrap="square" rtlCol="0">
            <a:spAutoFit/>
          </a:bodyPr>
          <a:lstStyle/>
          <a:p>
            <a:r>
              <a:rPr lang="en-US" sz="1000" dirty="0">
                <a:latin typeface="+mn-lt"/>
              </a:rPr>
              <a:t>(Table can be found on page 465 in the textbook.)</a:t>
            </a:r>
          </a:p>
        </p:txBody>
      </p:sp>
      <p:sp>
        <p:nvSpPr>
          <p:cNvPr id="9" name="TextBox 8">
            <a:hlinkClick r:id="rId3" action="ppaction://hlinksldjump"/>
            <a:extLst>
              <a:ext uri="{FF2B5EF4-FFF2-40B4-BE49-F238E27FC236}">
                <a16:creationId xmlns:a16="http://schemas.microsoft.com/office/drawing/2014/main" id="{C68C61D2-462D-4CA2-B10E-3B7455B00C80}"/>
              </a:ext>
            </a:extLst>
          </p:cNvPr>
          <p:cNvSpPr txBox="1"/>
          <p:nvPr/>
        </p:nvSpPr>
        <p:spPr>
          <a:xfrm>
            <a:off x="7884368" y="6290559"/>
            <a:ext cx="1023037" cy="461665"/>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dirty="0">
                <a:hlinkClick r:id="rId3" action="ppaction://hlinksldjump"/>
              </a:rPr>
              <a:t>BACK</a:t>
            </a:r>
            <a:endParaRPr lang="en-MY" dirty="0"/>
          </a:p>
        </p:txBody>
      </p:sp>
    </p:spTree>
    <p:extLst>
      <p:ext uri="{BB962C8B-B14F-4D97-AF65-F5344CB8AC3E}">
        <p14:creationId xmlns:p14="http://schemas.microsoft.com/office/powerpoint/2010/main" val="423726612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170168"/>
            <a:ext cx="8229600" cy="1097279"/>
          </a:xfrm>
          <a:noFill/>
          <a:ln/>
        </p:spPr>
        <p:txBody>
          <a:bodyPr lIns="90488" tIns="44450" rIns="90488" bIns="44450"/>
          <a:lstStyle/>
          <a:p>
            <a:r>
              <a:rPr lang="en-US" dirty="0"/>
              <a:t>Figure 14.2 </a:t>
            </a:r>
            <a:br>
              <a:rPr lang="en-US" dirty="0"/>
            </a:br>
            <a:r>
              <a:rPr lang="en-US" dirty="0"/>
              <a:t>x86 Addressing Mode Calculation</a:t>
            </a:r>
          </a:p>
        </p:txBody>
      </p:sp>
      <p:pic>
        <p:nvPicPr>
          <p:cNvPr id="4" name="Picture 3" descr="The addressing mode calculation starts from the segment registers. Six segment registers labeled, S S, G S, F S, E S, D S, and C S. One of the segment registers are used for execution using the selector lines. The selector is connected to one of the descriptor registers comprised of Access rights, limit, and base address. The other two registers involved in the calculation is the base register and index register. The value of the index register is multiplied by scale 1, 2, 4 or 8. The result of which is summed up with the Base register value, base address value from the descriptor register, and displacement in instruction, which comprises of 0, 8, or 32 bits. The resultant of the adder is the effective address which is summed up with the base address from the descriptor register to give the linear address, which points to an address location. The segment base address points to the top of the segment and limit of the segment is also labeled." title="An illustration explains the calculation of the addressing mode."/>
          <p:cNvPicPr>
            <a:picLocks noChangeAspect="1"/>
          </p:cNvPicPr>
          <p:nvPr/>
        </p:nvPicPr>
        <p:blipFill rotWithShape="1">
          <a:blip r:embed="rId3">
            <a:extLst>
              <a:ext uri="{28A0092B-C50C-407E-A947-70E740481C1C}">
                <a14:useLocalDpi xmlns:a14="http://schemas.microsoft.com/office/drawing/2010/main" val="0"/>
              </a:ext>
            </a:extLst>
          </a:blip>
          <a:srcRect l="6491" t="7187" r="5882" b="7764"/>
          <a:stretch/>
        </p:blipFill>
        <p:spPr>
          <a:xfrm>
            <a:off x="1155381" y="1340768"/>
            <a:ext cx="6833239" cy="5124930"/>
          </a:xfrm>
          <a:prstGeom prst="rect">
            <a:avLst/>
          </a:prstGeom>
        </p:spPr>
      </p:pic>
    </p:spTree>
    <p:extLst>
      <p:ext uri="{BB962C8B-B14F-4D97-AF65-F5344CB8AC3E}">
        <p14:creationId xmlns:p14="http://schemas.microsoft.com/office/powerpoint/2010/main" val="113727026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Grp="1" noChangeArrowheads="1"/>
          </p:cNvSpPr>
          <p:nvPr>
            <p:ph type="title"/>
          </p:nvPr>
        </p:nvSpPr>
        <p:spPr>
          <a:xfrm>
            <a:off x="457200" y="171481"/>
            <a:ext cx="8229600" cy="1097279"/>
          </a:xfrm>
          <a:noFill/>
          <a:ln/>
        </p:spPr>
        <p:txBody>
          <a:bodyPr lIns="90488" tIns="44450" rIns="90488" bIns="44450"/>
          <a:lstStyle/>
          <a:p>
            <a:r>
              <a:rPr lang="en-US" dirty="0"/>
              <a:t>Table 14.2 </a:t>
            </a:r>
            <a:br>
              <a:rPr lang="en-US" dirty="0"/>
            </a:br>
            <a:r>
              <a:rPr lang="en-US" dirty="0"/>
              <a:t>x86 Addressing Modes</a:t>
            </a:r>
          </a:p>
        </p:txBody>
      </p:sp>
      <p:graphicFrame>
        <p:nvGraphicFramePr>
          <p:cNvPr id="8" name="Table 7" descr="The table has two columns labeled, mode and algorithm. The rows read as follows from left to right. 1. Immediate, Operand = A. 2. Register Operand L A = R. 3. Displacement L A = (S R) + A. 4. Base L A = (S R) + (B) 5. Base with Displacement L A = (S R) + (B) + A. 6. Scaled Index with Displacement L A = (S R) + (I) times S + A. 7. Base with Index and Displacement L A = (S R) + (B) + (I) + A. 8. Base with Scaled Index and Displacement L A = (S R) + (I) * S + (B) + A. 9. Relative LA = (PC) + A. Below is a key that reads as follows. L A equals linear address. Parenthesis x parenthesis equals contents of x. S R equals segment register. P C equals program counter. A equals contents of an address field in the instruction. R equals register. B equals base register. I equals index register. S equals scaling factor." title="A table is titled, x 86 addressing modes."/>
          <p:cNvGraphicFramePr>
            <a:graphicFrameLocks noGrp="1"/>
          </p:cNvGraphicFramePr>
          <p:nvPr/>
        </p:nvGraphicFramePr>
        <p:xfrm>
          <a:off x="539750" y="1358860"/>
          <a:ext cx="8120777" cy="3460033"/>
        </p:xfrm>
        <a:graphic>
          <a:graphicData uri="http://schemas.openxmlformats.org/drawingml/2006/table">
            <a:tbl>
              <a:tblPr firstRow="1" bandRow="1">
                <a:tableStyleId>{5C22544A-7EE6-4342-B048-85BDC9FD1C3A}</a:tableStyleId>
              </a:tblPr>
              <a:tblGrid>
                <a:gridCol w="4664393">
                  <a:extLst>
                    <a:ext uri="{9D8B030D-6E8A-4147-A177-3AD203B41FA5}">
                      <a16:colId xmlns:a16="http://schemas.microsoft.com/office/drawing/2014/main" val="528802535"/>
                    </a:ext>
                  </a:extLst>
                </a:gridCol>
                <a:gridCol w="3456384">
                  <a:extLst>
                    <a:ext uri="{9D8B030D-6E8A-4147-A177-3AD203B41FA5}">
                      <a16:colId xmlns:a16="http://schemas.microsoft.com/office/drawing/2014/main" val="4122312373"/>
                    </a:ext>
                  </a:extLst>
                </a:gridCol>
              </a:tblGrid>
              <a:tr h="347948">
                <a:tc>
                  <a:txBody>
                    <a:bodyPr/>
                    <a:lstStyle/>
                    <a:p>
                      <a:pPr algn="l"/>
                      <a:r>
                        <a:rPr lang="en-IN" dirty="0">
                          <a:solidFill>
                            <a:schemeClr val="tx1"/>
                          </a:solidFill>
                        </a:rPr>
                        <a:t>Mode</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solidFill>
                            <a:schemeClr val="tx1"/>
                          </a:solidFill>
                        </a:rPr>
                        <a:t>Algorithm</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062764516"/>
                  </a:ext>
                </a:extLst>
              </a:tr>
              <a:tr h="301150">
                <a:tc>
                  <a:txBody>
                    <a:bodyPr/>
                    <a:lstStyle/>
                    <a:p>
                      <a:pPr algn="l"/>
                      <a:r>
                        <a:rPr lang="en-IN" dirty="0">
                          <a:sym typeface="Arial"/>
                        </a:rPr>
                        <a:t>Immediate</a:t>
                      </a:r>
                      <a:endParaRPr lang="en-IN"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sym typeface="Arial"/>
                        </a:rPr>
                        <a:t>Operand = A</a:t>
                      </a:r>
                      <a:endParaRPr lang="en-IN"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801756320"/>
                  </a:ext>
                </a:extLst>
              </a:tr>
              <a:tr h="318817">
                <a:tc>
                  <a:txBody>
                    <a:bodyPr/>
                    <a:lstStyle/>
                    <a:p>
                      <a:pPr algn="l"/>
                      <a:r>
                        <a:rPr lang="en-IN" dirty="0">
                          <a:sym typeface="Arial"/>
                        </a:rPr>
                        <a:t>Register Operand</a:t>
                      </a:r>
                      <a:endParaRPr lang="en-IN" dirty="0"/>
                    </a:p>
                  </a:txBody>
                  <a:tcPr anchor="ctr">
                    <a:lnL w="12700" cap="flat" cmpd="sng" algn="ctr">
                      <a:solidFill>
                        <a:schemeClr val="tx1"/>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dirty="0">
                          <a:sym typeface="Arial"/>
                        </a:rPr>
                        <a:t>LA = R</a:t>
                      </a:r>
                      <a:endParaRPr lang="en-IN"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007438362"/>
                  </a:ext>
                </a:extLst>
              </a:tr>
              <a:tr h="357682">
                <a:tc>
                  <a:txBody>
                    <a:bodyPr/>
                    <a:lstStyle/>
                    <a:p>
                      <a:pPr algn="l"/>
                      <a:r>
                        <a:rPr lang="en-IN" dirty="0">
                          <a:sym typeface="Arial"/>
                        </a:rPr>
                        <a:t>Displacement</a:t>
                      </a:r>
                      <a:endParaRPr lang="en-IN"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dirty="0">
                          <a:sym typeface="Arial"/>
                        </a:rPr>
                        <a:t>LA = (SR) + A</a:t>
                      </a:r>
                      <a:endParaRPr lang="en-IN"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794824530"/>
                  </a:ext>
                </a:extLst>
              </a:tr>
              <a:tr h="355131">
                <a:tc>
                  <a:txBody>
                    <a:bodyPr/>
                    <a:lstStyle/>
                    <a:p>
                      <a:pPr algn="l"/>
                      <a:r>
                        <a:rPr lang="en-IN" dirty="0">
                          <a:sym typeface="Arial"/>
                        </a:rPr>
                        <a:t>Base</a:t>
                      </a:r>
                      <a:endParaRPr lang="en-IN"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dirty="0">
                          <a:sym typeface="Arial"/>
                        </a:rPr>
                        <a:t>LA = (SR) + (B)</a:t>
                      </a:r>
                      <a:endParaRPr lang="en-IN"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9877881"/>
                  </a:ext>
                </a:extLst>
              </a:tr>
              <a:tr h="355131">
                <a:tc>
                  <a:txBody>
                    <a:bodyPr/>
                    <a:lstStyle/>
                    <a:p>
                      <a:pPr algn="l"/>
                      <a:r>
                        <a:rPr lang="en-IN" dirty="0">
                          <a:sym typeface="Arial"/>
                        </a:rPr>
                        <a:t>Base with Displacement</a:t>
                      </a:r>
                      <a:endParaRPr lang="en-IN"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dirty="0">
                          <a:sym typeface="Arial"/>
                        </a:rPr>
                        <a:t>LA = (SR) + (B) + A</a:t>
                      </a:r>
                      <a:endParaRPr lang="en-IN"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662666875"/>
                  </a:ext>
                </a:extLst>
              </a:tr>
              <a:tr h="355131">
                <a:tc>
                  <a:txBody>
                    <a:bodyPr/>
                    <a:lstStyle/>
                    <a:p>
                      <a:pPr algn="l"/>
                      <a:r>
                        <a:rPr lang="en-IN" dirty="0">
                          <a:sym typeface="Arial"/>
                        </a:rPr>
                        <a:t>Scaled Index with Displacement</a:t>
                      </a:r>
                      <a:endParaRPr lang="en-IN"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pt-BR" dirty="0">
                          <a:sym typeface="Arial"/>
                        </a:rPr>
                        <a:t>LA = (SR) + (I) × S + A</a:t>
                      </a:r>
                      <a:endParaRPr lang="en-IN"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551477208"/>
                  </a:ext>
                </a:extLst>
              </a:tr>
              <a:tr h="355131">
                <a:tc>
                  <a:txBody>
                    <a:bodyPr/>
                    <a:lstStyle/>
                    <a:p>
                      <a:pPr algn="l"/>
                      <a:r>
                        <a:rPr lang="en-US" dirty="0">
                          <a:sym typeface="Arial"/>
                        </a:rPr>
                        <a:t>Base with Index and Displacement</a:t>
                      </a:r>
                      <a:endParaRPr lang="en-IN"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dirty="0">
                          <a:sym typeface="Arial"/>
                        </a:rPr>
                        <a:t>LA = (SR) + (B) + (I) + A</a:t>
                      </a:r>
                      <a:endParaRPr lang="en-IN"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647574091"/>
                  </a:ext>
                </a:extLst>
              </a:tr>
              <a:tr h="355131">
                <a:tc>
                  <a:txBody>
                    <a:bodyPr/>
                    <a:lstStyle/>
                    <a:p>
                      <a:pPr algn="l"/>
                      <a:r>
                        <a:rPr lang="en-US" dirty="0">
                          <a:sym typeface="Arial"/>
                        </a:rPr>
                        <a:t>Base with Scaled Index and Displacement</a:t>
                      </a:r>
                      <a:endParaRPr lang="en-IN"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pt-BR" dirty="0">
                          <a:sym typeface="Arial"/>
                        </a:rPr>
                        <a:t>LA = (SR) + (I) × S + (B) + A</a:t>
                      </a:r>
                      <a:endParaRPr lang="en-IN"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338664424"/>
                  </a:ext>
                </a:extLst>
              </a:tr>
              <a:tr h="355131">
                <a:tc>
                  <a:txBody>
                    <a:bodyPr/>
                    <a:lstStyle/>
                    <a:p>
                      <a:pPr algn="l"/>
                      <a:r>
                        <a:rPr lang="en-IN" dirty="0">
                          <a:sym typeface="Arial"/>
                        </a:rPr>
                        <a:t>Relative</a:t>
                      </a:r>
                      <a:endParaRPr lang="en-IN"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dirty="0">
                          <a:sym typeface="Arial"/>
                        </a:rPr>
                        <a:t>LA = (PC) + A</a:t>
                      </a:r>
                      <a:endParaRPr lang="en-IN"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133842576"/>
                  </a:ext>
                </a:extLst>
              </a:tr>
            </a:tbl>
          </a:graphicData>
        </a:graphic>
      </p:graphicFrame>
      <p:sp>
        <p:nvSpPr>
          <p:cNvPr id="2" name="TextBox 1"/>
          <p:cNvSpPr txBox="1"/>
          <p:nvPr/>
        </p:nvSpPr>
        <p:spPr>
          <a:xfrm>
            <a:off x="520328" y="4866393"/>
            <a:ext cx="3835648" cy="1169551"/>
          </a:xfrm>
          <a:prstGeom prst="rect">
            <a:avLst/>
          </a:prstGeom>
          <a:noFill/>
        </p:spPr>
        <p:txBody>
          <a:bodyPr wrap="square" rtlCol="0">
            <a:spAutoFit/>
          </a:bodyPr>
          <a:lstStyle/>
          <a:p>
            <a:r>
              <a:rPr lang="en-US" sz="1400" dirty="0"/>
              <a:t>LA = linear address</a:t>
            </a:r>
          </a:p>
          <a:p>
            <a:r>
              <a:rPr lang="en-US" sz="1400" dirty="0"/>
              <a:t>(X) = contents of X</a:t>
            </a:r>
          </a:p>
          <a:p>
            <a:r>
              <a:rPr lang="en-US" sz="1400" dirty="0"/>
              <a:t>SR = segment register</a:t>
            </a:r>
          </a:p>
          <a:p>
            <a:r>
              <a:rPr lang="en-US" sz="1400" dirty="0"/>
              <a:t>PC = program counter</a:t>
            </a:r>
          </a:p>
          <a:p>
            <a:r>
              <a:rPr lang="en-US" sz="1400" dirty="0"/>
              <a:t>A = contents of an address field in the instruction</a:t>
            </a:r>
          </a:p>
        </p:txBody>
      </p:sp>
      <p:sp>
        <p:nvSpPr>
          <p:cNvPr id="6" name="TextBox 5"/>
          <p:cNvSpPr txBox="1"/>
          <p:nvPr/>
        </p:nvSpPr>
        <p:spPr>
          <a:xfrm>
            <a:off x="5148064" y="4866393"/>
            <a:ext cx="3331592" cy="954107"/>
          </a:xfrm>
          <a:prstGeom prst="rect">
            <a:avLst/>
          </a:prstGeom>
          <a:noFill/>
        </p:spPr>
        <p:txBody>
          <a:bodyPr wrap="square" rtlCol="0">
            <a:spAutoFit/>
          </a:bodyPr>
          <a:lstStyle/>
          <a:p>
            <a:r>
              <a:rPr lang="en-US" sz="1400" dirty="0"/>
              <a:t>R = register</a:t>
            </a:r>
          </a:p>
          <a:p>
            <a:r>
              <a:rPr lang="en-US" sz="1400" dirty="0"/>
              <a:t>B = base register</a:t>
            </a:r>
          </a:p>
          <a:p>
            <a:r>
              <a:rPr lang="en-US" sz="1400" dirty="0"/>
              <a:t>I = index register</a:t>
            </a:r>
          </a:p>
          <a:p>
            <a:r>
              <a:rPr lang="en-US" sz="1400" dirty="0"/>
              <a:t>S = scaling factor</a:t>
            </a:r>
            <a:endParaRPr lang="en-IN" sz="1400" dirty="0"/>
          </a:p>
        </p:txBody>
      </p:sp>
      <p:sp>
        <p:nvSpPr>
          <p:cNvPr id="7" name="TextBox 6">
            <a:hlinkClick r:id="rId3" action="ppaction://hlinksldjump"/>
            <a:extLst>
              <a:ext uri="{FF2B5EF4-FFF2-40B4-BE49-F238E27FC236}">
                <a16:creationId xmlns:a16="http://schemas.microsoft.com/office/drawing/2014/main" id="{61F66446-01AC-4CC1-9C62-162F942C3C8A}"/>
              </a:ext>
            </a:extLst>
          </p:cNvPr>
          <p:cNvSpPr txBox="1"/>
          <p:nvPr/>
        </p:nvSpPr>
        <p:spPr>
          <a:xfrm>
            <a:off x="7884368" y="6290559"/>
            <a:ext cx="1023037" cy="461665"/>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dirty="0">
                <a:hlinkClick r:id="rId4" action="ppaction://hlinksldjump"/>
              </a:rPr>
              <a:t>BACK</a:t>
            </a:r>
            <a:endParaRPr lang="en-MY" dirty="0"/>
          </a:p>
        </p:txBody>
      </p:sp>
    </p:spTree>
    <p:extLst>
      <p:ext uri="{BB962C8B-B14F-4D97-AF65-F5344CB8AC3E}">
        <p14:creationId xmlns:p14="http://schemas.microsoft.com/office/powerpoint/2010/main" val="6381795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179404"/>
            <a:ext cx="8229600" cy="1097279"/>
          </a:xfrm>
          <a:noFill/>
          <a:ln/>
        </p:spPr>
        <p:txBody>
          <a:bodyPr lIns="90488" tIns="44450" rIns="90488" bIns="44450"/>
          <a:lstStyle/>
          <a:p>
            <a:r>
              <a:rPr lang="en-US" dirty="0"/>
              <a:t>Figure 14.3 </a:t>
            </a:r>
            <a:br>
              <a:rPr lang="en-US" dirty="0"/>
            </a:br>
            <a:r>
              <a:rPr lang="en-US" dirty="0"/>
              <a:t>ARM Indexing Methods</a:t>
            </a:r>
          </a:p>
        </p:txBody>
      </p:sp>
      <p:pic>
        <p:nvPicPr>
          <p:cNvPr id="4" name="Picture 3" descr="The first illustration a, for offset has an original base register r 1 assigned with value, 0 x 2 0 0. The value in the original base register is combined with the offset value which points to the location in the memory, 0 x 2 0 C with value, 0 x 5, which is present in the destination register for S T R, r 0 with value 0 x 5. Another location in the memory indicated in the diagram is 0 x 2 0 0. The corresponding instruction reads S T R B r 0 comma square bracket r 1 comma hash 12 square bracket. The second illustration, b reads the instruction, S T R B r 0 comma square bracket r 1 comma hash 12 square bracket exclamation point. The original base register r 1 with value 0 x 2 0 0 with combined with the offset value which is updated in the updated base register r 1 with value, 0 x 2 0 C. The offset points to the memory location 0 x 2 0 C in the memory. The location 0 x 2 0 C contains the value, 0 x 5 which is also stored in the destination register for S T R. The third illustration c for post index reads, S T R B r 0 comma square bracket r 1 square bracket comma hash 12. The original base register r 1 has the value 0 x 2 0 0, which is combined with the offset value, 0 x C. The value 0 x 2 0 C is updated in the updated base register, r 1. After combing the base and offset, the corresponding memory location pointed is 0 x 20 0 with value 0 x 5. The value 0 x 5 is stored in r 0, the destination register for S T R. Another memory location shown in the diagram is 0 x 2 0 C." title="Three illustrations a, b, and c explains the indexing methods, offset, pre index, and post index."/>
          <p:cNvPicPr>
            <a:picLocks noChangeAspect="1"/>
          </p:cNvPicPr>
          <p:nvPr/>
        </p:nvPicPr>
        <p:blipFill rotWithShape="1">
          <a:blip r:embed="rId3">
            <a:extLst>
              <a:ext uri="{28A0092B-C50C-407E-A947-70E740481C1C}">
                <a14:useLocalDpi xmlns:a14="http://schemas.microsoft.com/office/drawing/2010/main" val="0"/>
              </a:ext>
            </a:extLst>
          </a:blip>
          <a:srcRect t="5943" r="4242" b="15803"/>
          <a:stretch/>
        </p:blipFill>
        <p:spPr>
          <a:xfrm>
            <a:off x="2123728" y="1292181"/>
            <a:ext cx="4896544" cy="5178373"/>
          </a:xfrm>
          <a:prstGeom prst="rect">
            <a:avLst/>
          </a:prstGeom>
        </p:spPr>
      </p:pic>
    </p:spTree>
    <p:extLst>
      <p:ext uri="{BB962C8B-B14F-4D97-AF65-F5344CB8AC3E}">
        <p14:creationId xmlns:p14="http://schemas.microsoft.com/office/powerpoint/2010/main" val="53915145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p:txBody>
          <a:bodyPr/>
          <a:lstStyle/>
          <a:p>
            <a:r>
              <a:rPr lang="en-GB" sz="2800" dirty="0"/>
              <a:t>ARM Data Processing Instruction Addressing</a:t>
            </a:r>
            <a:br>
              <a:rPr lang="en-GB" sz="2800" dirty="0"/>
            </a:br>
            <a:r>
              <a:rPr lang="en-GB" sz="2800" dirty="0"/>
              <a:t>and Branch Instructions</a:t>
            </a:r>
          </a:p>
        </p:txBody>
      </p:sp>
      <p:sp>
        <p:nvSpPr>
          <p:cNvPr id="7" name="Rectangle 3"/>
          <p:cNvSpPr txBox="1">
            <a:spLocks noChangeArrowheads="1"/>
          </p:cNvSpPr>
          <p:nvPr/>
        </p:nvSpPr>
        <p:spPr bwMode="auto">
          <a:xfrm>
            <a:off x="458347" y="1556792"/>
            <a:ext cx="8114262" cy="1965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normAutofit/>
          </a:bodyPr>
          <a:lstStyle>
            <a:defPPr marR="0" lvl="0" algn="l" rtl="0">
              <a:lnSpc>
                <a:spcPct val="100000"/>
              </a:lnSpc>
              <a:spcBef>
                <a:spcPts val="0"/>
              </a:spcBef>
              <a:spcAft>
                <a:spcPts val="0"/>
              </a:spcAft>
            </a:defPPr>
            <a:lvl1pPr marL="256032" marR="0" lvl="0" indent="-154432" algn="l" rtl="0" eaLnBrk="0" fontAlgn="base" hangingPunct="0">
              <a:spcBef>
                <a:spcPts val="1500"/>
              </a:spcBef>
              <a:spcAft>
                <a:spcPct val="0"/>
              </a:spcAft>
              <a:buClr>
                <a:srgbClr val="007FA3"/>
              </a:buClr>
              <a:buSzPct val="100000"/>
              <a:buFont typeface="Arial"/>
              <a:buChar char="•"/>
              <a:defRPr sz="2400" b="0" i="0" u="none" strike="noStrike" cap="none">
                <a:solidFill>
                  <a:schemeClr val="dk1"/>
                </a:solidFill>
                <a:latin typeface="Arial"/>
                <a:ea typeface="Arial"/>
                <a:cs typeface="Arial"/>
                <a:sym typeface="Arial"/>
              </a:defRPr>
            </a:lvl1pPr>
            <a:lvl2pPr marL="742950" marR="0" lvl="1" indent="-184150" algn="l" rtl="0" eaLnBrk="0" fontAlgn="base" hangingPunct="0">
              <a:spcBef>
                <a:spcPts val="600"/>
              </a:spcBef>
              <a:spcAft>
                <a:spcPct val="0"/>
              </a:spcAft>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eaLnBrk="0" fontAlgn="base" hangingPunct="0">
              <a:spcBef>
                <a:spcPts val="600"/>
              </a:spcBef>
              <a:spcAft>
                <a:spcPct val="0"/>
              </a:spcAft>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eaLnBrk="0" fontAlgn="base" hangingPunct="0">
              <a:spcBef>
                <a:spcPts val="600"/>
              </a:spcBef>
              <a:spcAft>
                <a:spcPct val="0"/>
              </a:spcAft>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eaLnBrk="0" fontAlgn="base" hangingPunct="0">
              <a:spcBef>
                <a:spcPts val="600"/>
              </a:spcBef>
              <a:spcAft>
                <a:spcPct val="0"/>
              </a:spcAft>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pPr marL="255588" indent="-255588"/>
            <a:r>
              <a:rPr lang="en-GB" kern="0" dirty="0"/>
              <a:t>Data processing instructions </a:t>
            </a:r>
          </a:p>
          <a:p>
            <a:pPr marL="558800" lvl="1" indent="-261938"/>
            <a:r>
              <a:rPr lang="en-GB" sz="1900" kern="0" dirty="0"/>
              <a:t>Use either register addressing or a mixture of register and immediate addressing</a:t>
            </a:r>
          </a:p>
          <a:p>
            <a:pPr marL="558800" lvl="1" indent="-261938"/>
            <a:r>
              <a:rPr lang="en-GB" sz="1900" kern="0" dirty="0"/>
              <a:t>For register addressing the value in one of the register operands may be scaled using one of the five shift operators</a:t>
            </a:r>
          </a:p>
        </p:txBody>
      </p:sp>
      <p:sp>
        <p:nvSpPr>
          <p:cNvPr id="9" name="Rectangle 3"/>
          <p:cNvSpPr txBox="1">
            <a:spLocks noChangeArrowheads="1"/>
          </p:cNvSpPr>
          <p:nvPr/>
        </p:nvSpPr>
        <p:spPr bwMode="auto">
          <a:xfrm>
            <a:off x="458347" y="3766894"/>
            <a:ext cx="8114262" cy="1965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normAutofit/>
          </a:bodyPr>
          <a:lstStyle>
            <a:defPPr marR="0" lvl="0" algn="l" rtl="0">
              <a:lnSpc>
                <a:spcPct val="100000"/>
              </a:lnSpc>
              <a:spcBef>
                <a:spcPts val="0"/>
              </a:spcBef>
              <a:spcAft>
                <a:spcPts val="0"/>
              </a:spcAft>
            </a:defPPr>
            <a:lvl1pPr marL="256032" marR="0" lvl="0" indent="-154432" algn="l" rtl="0" eaLnBrk="0" fontAlgn="base" hangingPunct="0">
              <a:spcBef>
                <a:spcPts val="1500"/>
              </a:spcBef>
              <a:spcAft>
                <a:spcPct val="0"/>
              </a:spcAft>
              <a:buClr>
                <a:srgbClr val="007FA3"/>
              </a:buClr>
              <a:buSzPct val="100000"/>
              <a:buFont typeface="Arial"/>
              <a:buChar char="•"/>
              <a:defRPr sz="2400" b="0" i="0" u="none" strike="noStrike" cap="none">
                <a:solidFill>
                  <a:schemeClr val="dk1"/>
                </a:solidFill>
                <a:latin typeface="Arial"/>
                <a:ea typeface="Arial"/>
                <a:cs typeface="Arial"/>
                <a:sym typeface="Arial"/>
              </a:defRPr>
            </a:lvl1pPr>
            <a:lvl2pPr marL="742950" marR="0" lvl="1" indent="-184150" algn="l" rtl="0" eaLnBrk="0" fontAlgn="base" hangingPunct="0">
              <a:spcBef>
                <a:spcPts val="600"/>
              </a:spcBef>
              <a:spcAft>
                <a:spcPct val="0"/>
              </a:spcAft>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eaLnBrk="0" fontAlgn="base" hangingPunct="0">
              <a:spcBef>
                <a:spcPts val="600"/>
              </a:spcBef>
              <a:spcAft>
                <a:spcPct val="0"/>
              </a:spcAft>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eaLnBrk="0" fontAlgn="base" hangingPunct="0">
              <a:spcBef>
                <a:spcPts val="600"/>
              </a:spcBef>
              <a:spcAft>
                <a:spcPct val="0"/>
              </a:spcAft>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eaLnBrk="0" fontAlgn="base" hangingPunct="0">
              <a:spcBef>
                <a:spcPts val="600"/>
              </a:spcBef>
              <a:spcAft>
                <a:spcPct val="0"/>
              </a:spcAft>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pPr marL="255588" indent="-255588"/>
            <a:r>
              <a:rPr lang="en-GB" dirty="0"/>
              <a:t>Branch instructions</a:t>
            </a:r>
          </a:p>
          <a:p>
            <a:pPr marL="593725" lvl="1" indent="-296863"/>
            <a:r>
              <a:rPr lang="en-GB" sz="1900" dirty="0"/>
              <a:t>The only form of addressing for branch instructions is immediate</a:t>
            </a:r>
          </a:p>
          <a:p>
            <a:pPr marL="593725" lvl="1" indent="-296863"/>
            <a:r>
              <a:rPr lang="en-GB" sz="1900" dirty="0"/>
              <a:t>Instruction contains 24 bit value</a:t>
            </a:r>
          </a:p>
          <a:p>
            <a:pPr marL="890588" lvl="2" indent="-296863"/>
            <a:r>
              <a:rPr lang="en-GB" sz="1700" dirty="0"/>
              <a:t>Shifted 2 bits left so that the address is on a word boundary</a:t>
            </a:r>
          </a:p>
          <a:p>
            <a:pPr marL="890588" lvl="2" indent="-296863"/>
            <a:r>
              <a:rPr lang="en-GB" sz="1700" dirty="0"/>
              <a:t>Effective range ± 32MB from </a:t>
            </a:r>
            <a:r>
              <a:rPr lang="en-GB" sz="1700" dirty="0" err="1"/>
              <a:t>from</a:t>
            </a:r>
            <a:r>
              <a:rPr lang="en-GB" sz="1700" dirty="0"/>
              <a:t> the program counter</a:t>
            </a:r>
          </a:p>
        </p:txBody>
      </p:sp>
    </p:spTree>
    <p:extLst>
      <p:ext uri="{BB962C8B-B14F-4D97-AF65-F5344CB8AC3E}">
        <p14:creationId xmlns:p14="http://schemas.microsoft.com/office/powerpoint/2010/main" val="146979283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170168"/>
            <a:ext cx="8229600" cy="1097279"/>
          </a:xfrm>
          <a:noFill/>
          <a:ln/>
        </p:spPr>
        <p:txBody>
          <a:bodyPr lIns="90488" tIns="44450" rIns="90488" bIns="44450"/>
          <a:lstStyle/>
          <a:p>
            <a:r>
              <a:rPr lang="en-US" dirty="0"/>
              <a:t>Figure 14.4 </a:t>
            </a:r>
            <a:br>
              <a:rPr lang="en-US" dirty="0"/>
            </a:br>
            <a:r>
              <a:rPr lang="en-US" dirty="0"/>
              <a:t>ARM Load/Store Multiple Addressing</a:t>
            </a:r>
          </a:p>
        </p:txBody>
      </p:sp>
      <p:pic>
        <p:nvPicPr>
          <p:cNvPr id="4" name="Picture 3" descr="The illustration reads two instructions, L D M x x r 10 comma left brace r 0 comma r 1 comma r 4 right brace and S T M x x r 10 comma left brace r 0 comma r 1 comma r 4 right brace. The increment after (I A), increment before (I B), Decrement after (D A), and Decrement before (D B) are represented in the memory with memory locations 0 x 2 1 8, 0 x 2 1 4, 0 x 2 1 0, 0 x 2 0 C, 0 x 2 0 8, 0 x 2 0 4, and 0 x 2 0 0 marked from top to bottom. In case of Increment after (I A), the base register r 10 stores the address 0 x 2 0 C which points to the memory location 0 x 2 0 C which stores r 0 and the above two locations store r 1 and r 4. Increment before (I B) stores r 0, r 1, and r 4 from bottom to top from the memory location, 0 x 2 1 0. Decrement after (D A) stores r 4, r 1, and r 0 from top to bottom from the memory location, 0 x 2 0 C. Decrement before (D B) stores r 4, r 1, and r 0 from top to bottom from the memory location, 0 x 2 0 8." title="An illustration explains the A R M load or store multiple addressing"/>
          <p:cNvPicPr>
            <a:picLocks noChangeAspect="1"/>
          </p:cNvPicPr>
          <p:nvPr/>
        </p:nvPicPr>
        <p:blipFill rotWithShape="1">
          <a:blip r:embed="rId3">
            <a:extLst>
              <a:ext uri="{28A0092B-C50C-407E-A947-70E740481C1C}">
                <a14:useLocalDpi xmlns:a14="http://schemas.microsoft.com/office/drawing/2010/main" val="0"/>
              </a:ext>
            </a:extLst>
          </a:blip>
          <a:srcRect l="2999" t="21021" r="5545" b="47699"/>
          <a:stretch/>
        </p:blipFill>
        <p:spPr>
          <a:xfrm>
            <a:off x="179512" y="1780165"/>
            <a:ext cx="8784976" cy="3888432"/>
          </a:xfrm>
          <a:prstGeom prst="rect">
            <a:avLst/>
          </a:prstGeom>
        </p:spPr>
      </p:pic>
      <p:sp>
        <p:nvSpPr>
          <p:cNvPr id="5" name="TextBox 4">
            <a:hlinkClick r:id="rId4" action="ppaction://hlinksldjump"/>
            <a:extLst>
              <a:ext uri="{FF2B5EF4-FFF2-40B4-BE49-F238E27FC236}">
                <a16:creationId xmlns:a16="http://schemas.microsoft.com/office/drawing/2014/main" id="{AB5CCE1D-0232-4085-AA01-DCE48D0E7C9F}"/>
              </a:ext>
            </a:extLst>
          </p:cNvPr>
          <p:cNvSpPr txBox="1"/>
          <p:nvPr/>
        </p:nvSpPr>
        <p:spPr>
          <a:xfrm>
            <a:off x="7884368" y="6290559"/>
            <a:ext cx="1023037" cy="461665"/>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dirty="0">
                <a:hlinkClick r:id="rId5" action="ppaction://hlinksldjump"/>
              </a:rPr>
              <a:t>BACK</a:t>
            </a:r>
            <a:endParaRPr lang="en-MY" dirty="0"/>
          </a:p>
        </p:txBody>
      </p:sp>
    </p:spTree>
    <p:extLst>
      <p:ext uri="{BB962C8B-B14F-4D97-AF65-F5344CB8AC3E}">
        <p14:creationId xmlns:p14="http://schemas.microsoft.com/office/powerpoint/2010/main" val="173951121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170168"/>
            <a:ext cx="8229600" cy="1097279"/>
          </a:xfrm>
          <a:noFill/>
          <a:ln/>
        </p:spPr>
        <p:txBody>
          <a:bodyPr lIns="90488" tIns="44450" rIns="90488" bIns="44450"/>
          <a:lstStyle/>
          <a:p>
            <a:r>
              <a:rPr lang="fr-FR" dirty="0"/>
              <a:t>Figure 14.5 </a:t>
            </a:r>
            <a:br>
              <a:rPr lang="fr-FR" dirty="0"/>
            </a:br>
            <a:r>
              <a:rPr lang="fr-FR" dirty="0"/>
              <a:t>PDP-8 Instruction Formats</a:t>
            </a:r>
            <a:endParaRPr lang="en-US" dirty="0"/>
          </a:p>
        </p:txBody>
      </p:sp>
      <p:pic>
        <p:nvPicPr>
          <p:cNvPr id="4" name="Picture 3" descr="The first format explains the memory reference instructions. The instruction has four parts, O p code, Direct or indirect address, page 0 or current page, and displacement. The O p code covers the bits, 0 to 2, direct or indirect address covers the bit 3, page 0 or current page covers bit 4, and displacement covers bits 5 to 11. The second format explains the input or output instructions. The instruction has three parts, bits 0 to 2 have values 1 1 0, device from bits 3 to 8, and O p code covering bits from 9 to 11. The third format explains the register reference instructions. The instruction has 8 parts, Group 1 microinstructions storing values 1 1 1 0 from bits 0 to 3, Clear Accumulator covering bit 4, Clear link covering bit 5, Complement Accumulator covering bit 6, complement link covering bit 7, rotate accumulator right covering bit 8, rotate accumulator left covering bit 9, byte swap covering bit 10, and Increment accumulator covering bit 11. The fourth format comprises of Group 2 micro instructions with values, 1 1 1 0 covering bits 0 to 3, clear accumulator covering bit 4, skip on minus accumulator covering bit 5, skip on zero accumulator covering bit 6, skip on nonzero link covering bit 7, Reverse Skip Sense covering bit 8, or with switch register covering bit 9, halt covering bit 10, and the eleventh bit with value 0. The fifth format comprises of Group 3 microinstructions with values, 1 1 1 0 stored in bits, 0 to 3, clear accumulator covering bit 4, multiplier quotient into accumulator covering bit 5, bit 6 with value 0, Multiplier Quotient Load covering bit 7, bit 8 with value 0, bit 9 with value 0, bit 10 with value 0, and bit 11 with value 1." title="Five diagrams demonstrate five P D P 8 instruction formats. "/>
          <p:cNvPicPr>
            <a:picLocks noChangeAspect="1"/>
          </p:cNvPicPr>
          <p:nvPr/>
        </p:nvPicPr>
        <p:blipFill rotWithShape="1">
          <a:blip r:embed="rId3">
            <a:extLst>
              <a:ext uri="{28A0092B-C50C-407E-A947-70E740481C1C}">
                <a14:useLocalDpi xmlns:a14="http://schemas.microsoft.com/office/drawing/2010/main" val="0"/>
              </a:ext>
            </a:extLst>
          </a:blip>
          <a:srcRect l="10771" t="9169" r="10239" b="37423"/>
          <a:stretch/>
        </p:blipFill>
        <p:spPr>
          <a:xfrm>
            <a:off x="1675049" y="1352757"/>
            <a:ext cx="5793902" cy="5069662"/>
          </a:xfrm>
          <a:prstGeom prst="rect">
            <a:avLst/>
          </a:prstGeom>
        </p:spPr>
      </p:pic>
    </p:spTree>
    <p:extLst>
      <p:ext uri="{BB962C8B-B14F-4D97-AF65-F5344CB8AC3E}">
        <p14:creationId xmlns:p14="http://schemas.microsoft.com/office/powerpoint/2010/main" val="175088181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171481"/>
            <a:ext cx="8229600" cy="1097279"/>
          </a:xfrm>
          <a:noFill/>
          <a:ln/>
        </p:spPr>
        <p:txBody>
          <a:bodyPr lIns="90488" tIns="44450" rIns="90488" bIns="44450"/>
          <a:lstStyle/>
          <a:p>
            <a:r>
              <a:rPr lang="fr-FR" dirty="0"/>
              <a:t>Figure 14.6 </a:t>
            </a:r>
            <a:br>
              <a:rPr lang="fr-FR" dirty="0"/>
            </a:br>
            <a:r>
              <a:rPr lang="fr-FR" dirty="0"/>
              <a:t>PDP-10 Instruction Format</a:t>
            </a:r>
            <a:endParaRPr lang="en-US" dirty="0"/>
          </a:p>
        </p:txBody>
      </p:sp>
      <p:pic>
        <p:nvPicPr>
          <p:cNvPr id="6" name="Picture 5" descr="The instruction format has 5 parts. The first part is the O p code covering bits 0 to 8, the second part is the Register covering bits 9 to 12, third part is the indirect bit covering bit 13, fourth part is the index register covering bits, 14 to 17, and the fifth part covering bits 18 to 35." title="A diagram explains the P D P 10 instruction format."/>
          <p:cNvPicPr>
            <a:picLocks noChangeAspect="1"/>
          </p:cNvPicPr>
          <p:nvPr/>
        </p:nvPicPr>
        <p:blipFill rotWithShape="1">
          <a:blip r:embed="rId3">
            <a:extLst>
              <a:ext uri="{28A0092B-C50C-407E-A947-70E740481C1C}">
                <a14:useLocalDpi xmlns:a14="http://schemas.microsoft.com/office/drawing/2010/main" val="0"/>
              </a:ext>
            </a:extLst>
          </a:blip>
          <a:srcRect l="7703" t="13252" r="7917" b="70999"/>
          <a:stretch/>
        </p:blipFill>
        <p:spPr>
          <a:xfrm>
            <a:off x="683568" y="3140968"/>
            <a:ext cx="7488832" cy="1080120"/>
          </a:xfrm>
          <a:prstGeom prst="rect">
            <a:avLst/>
          </a:prstGeom>
        </p:spPr>
      </p:pic>
    </p:spTree>
    <p:extLst>
      <p:ext uri="{BB962C8B-B14F-4D97-AF65-F5344CB8AC3E}">
        <p14:creationId xmlns:p14="http://schemas.microsoft.com/office/powerpoint/2010/main" val="303605517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Variable-Length Instructions</a:t>
            </a:r>
          </a:p>
        </p:txBody>
      </p:sp>
      <p:sp>
        <p:nvSpPr>
          <p:cNvPr id="3" name="Content Placeholder 2"/>
          <p:cNvSpPr>
            <a:spLocks noGrp="1"/>
          </p:cNvSpPr>
          <p:nvPr>
            <p:ph type="body" idx="1"/>
          </p:nvPr>
        </p:nvSpPr>
        <p:spPr/>
        <p:txBody>
          <a:bodyPr/>
          <a:lstStyle/>
          <a:p>
            <a:pPr marL="296863" indent="-296863"/>
            <a:r>
              <a:rPr lang="en-US" dirty="0"/>
              <a:t>Variations can be provided efficiently and compactly</a:t>
            </a:r>
          </a:p>
          <a:p>
            <a:pPr marL="296863" indent="-296863"/>
            <a:r>
              <a:rPr lang="en-US" dirty="0"/>
              <a:t>Increases the complexity of the processor</a:t>
            </a:r>
          </a:p>
          <a:p>
            <a:pPr marL="296863" indent="-296863"/>
            <a:r>
              <a:rPr lang="en-US" dirty="0"/>
              <a:t>Does not remove the desirability of making all of the instruction lengths integrally related to word length</a:t>
            </a:r>
          </a:p>
          <a:p>
            <a:pPr marL="593725" lvl="1" indent="-285750"/>
            <a:r>
              <a:rPr lang="en-US" sz="2000" dirty="0"/>
              <a:t>Because the processor does not know the length of the next instruction to be fetched a typical strategy is to fetch a number of bytes or words equal to at least the longest possible instruction</a:t>
            </a:r>
          </a:p>
          <a:p>
            <a:pPr marL="593725" lvl="1" indent="-285750"/>
            <a:r>
              <a:rPr lang="en-US" sz="2000" dirty="0"/>
              <a:t>Sometimes multiple instructions are fetched</a:t>
            </a:r>
          </a:p>
        </p:txBody>
      </p:sp>
    </p:spTree>
    <p:extLst>
      <p:ext uri="{BB962C8B-B14F-4D97-AF65-F5344CB8AC3E}">
        <p14:creationId xmlns:p14="http://schemas.microsoft.com/office/powerpoint/2010/main" val="112977994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178969"/>
            <a:ext cx="8229600" cy="1097279"/>
          </a:xfrm>
          <a:noFill/>
          <a:ln/>
        </p:spPr>
        <p:txBody>
          <a:bodyPr lIns="90488" tIns="44450" rIns="90488" bIns="44450"/>
          <a:lstStyle/>
          <a:p>
            <a:r>
              <a:rPr lang="en-US" dirty="0"/>
              <a:t>Figure 14.7 </a:t>
            </a:r>
            <a:br>
              <a:rPr lang="en-US" dirty="0"/>
            </a:br>
            <a:r>
              <a:rPr lang="en-US" dirty="0"/>
              <a:t>Instruction Formats for the PDP-11</a:t>
            </a:r>
          </a:p>
        </p:txBody>
      </p:sp>
      <p:pic>
        <p:nvPicPr>
          <p:cNvPr id="4" name="Picture 3" descr="Diagram 1 represents a format with three parts, O p code with 4 bits, Source with 6 bits, and destination with 6 bits. Diagram 2 represents a format with three parts, O p code with 7 bits, R with 3 bits, and Source with 6 bits. Diagram 3 represents a format with two parts, O p code with 8 bits and offset with 8 bits. Diagram 4 represents a format with three parts, O p code with 8 bits, F P with 2 bits, and destination with 6 bits. Diagram 5 represents a format with 2 parts, O p code with 10 bits and destination with 6 bits. Diagram 6 represents a format with two parts, O p code with 12 bits and condition code covering 4 bits. Diagram 7 represents a format with two parts, 13 bits for O p code and 3 bits for one of the general purpose registers. Diagram 8 has 16 bits dedicated to O p code alone. Diagram 9 represents a format with 4 parts, O p code covering 7 bits, one of the general purpose registers covering 3 bits, Source covering 6 bits, and memory address covering 16 bits. Diagram 11 represents a format with 4 parts, O p code covering 8 bits, one of the floating point registers covering 2 bits, source covering 6 bits, and memory address covering 16 bits. Diagram 12 represents a format with 3 parts, O p code covering 10 bits, destination covering 6 bits, and memory address covering 16 bits. Diagram 13 represents a format with 5 parts, O p code covering 4 bits, Source covering 6 bits, destination covering 6 bits, memory address 1 covering 16 bits, and memory address 2 covering 16 bits. The text below reads, source and destination each contain a 3 bit addressing mode field and a 3 bit register number." title="Thirteen diagrams demonstrate 13 instruction formats for P D P 11."/>
          <p:cNvPicPr>
            <a:picLocks noChangeAspect="1"/>
          </p:cNvPicPr>
          <p:nvPr/>
        </p:nvPicPr>
        <p:blipFill rotWithShape="1">
          <a:blip r:embed="rId3">
            <a:extLst>
              <a:ext uri="{28A0092B-C50C-407E-A947-70E740481C1C}">
                <a14:useLocalDpi xmlns:a14="http://schemas.microsoft.com/office/drawing/2010/main" val="0"/>
              </a:ext>
            </a:extLst>
          </a:blip>
          <a:srcRect l="3529" t="9724" r="4706" b="21185"/>
          <a:stretch/>
        </p:blipFill>
        <p:spPr>
          <a:xfrm>
            <a:off x="1952637" y="1346497"/>
            <a:ext cx="5238727" cy="5104401"/>
          </a:xfrm>
          <a:prstGeom prst="rect">
            <a:avLst/>
          </a:prstGeom>
        </p:spPr>
      </p:pic>
      <p:sp>
        <p:nvSpPr>
          <p:cNvPr id="5" name="TextBox 4">
            <a:hlinkClick r:id="rId4" action="ppaction://hlinksldjump"/>
            <a:extLst>
              <a:ext uri="{FF2B5EF4-FFF2-40B4-BE49-F238E27FC236}">
                <a16:creationId xmlns:a16="http://schemas.microsoft.com/office/drawing/2014/main" id="{6BB2F518-B4D8-454F-8815-771A4B3DD797}"/>
              </a:ext>
            </a:extLst>
          </p:cNvPr>
          <p:cNvSpPr txBox="1"/>
          <p:nvPr/>
        </p:nvSpPr>
        <p:spPr>
          <a:xfrm>
            <a:off x="7884368" y="6290559"/>
            <a:ext cx="1023037" cy="461665"/>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dirty="0">
                <a:hlinkClick r:id="rId5" action="ppaction://hlinksldjump"/>
              </a:rPr>
              <a:t>BACK</a:t>
            </a:r>
            <a:endParaRPr lang="en-MY" dirty="0"/>
          </a:p>
        </p:txBody>
      </p:sp>
    </p:spTree>
    <p:extLst>
      <p:ext uri="{BB962C8B-B14F-4D97-AF65-F5344CB8AC3E}">
        <p14:creationId xmlns:p14="http://schemas.microsoft.com/office/powerpoint/2010/main" val="361381817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179404"/>
            <a:ext cx="8229600" cy="1097279"/>
          </a:xfrm>
          <a:noFill/>
          <a:ln/>
        </p:spPr>
        <p:txBody>
          <a:bodyPr lIns="90488" tIns="44450" rIns="90488" bIns="44450"/>
          <a:lstStyle/>
          <a:p>
            <a:r>
              <a:rPr lang="en-US" dirty="0"/>
              <a:t>Figure 14.8 </a:t>
            </a:r>
            <a:br>
              <a:rPr lang="en-US" dirty="0"/>
            </a:br>
            <a:r>
              <a:rPr lang="en-US" dirty="0"/>
              <a:t>Example of VAX Instructions</a:t>
            </a:r>
          </a:p>
        </p:txBody>
      </p:sp>
      <p:pic>
        <p:nvPicPr>
          <p:cNvPr id="4" name="Picture 3" descr="The table depicts four hexadecimal formats. The first hexadecimal format includes two squares in a single dimensional array has 8 bits with value 0 5. The corresponding explanation is O p code for R S B and Assembler Notation and Description is R S B, which means return from subroutine. The second hexadecimal format represented in a two dimensional array with 2 rows and 2 columns. The table stores D and 4 in the first row and 5 and 9 in the second row. The corresponding explanation is O p code for C L R L and Register R 9 and the Assembler Notation and description is C L R L, R 9, which means Clear register R 9. The third hexadecimal format depicts a table with 6 rows and 2 columns. The values are as follows. Row 1. B, 0. Row 2. C, 4. Row 3. 6, 4. Row 4. 0, 1. Row 5. A, B. Row 6. 1, 9. The rows 3 and 4 are grouped. The corresponding explanation is O p code for M O V, W. Word displacement mode, Register R 4, 356 in hexadecimal. Byte displacement mode, Register R 11, 25 in hexadecimal. The corresponding Assembler notation and description is M O V, W 356 (R 4), 25 (R 11). Move a word from address that is 356 plus contents of R 4 to address that is 25 plus contents of R 11. The fourth hexadecimal format depicts a table with 6 rows and 2 columns. The sixth row is left blank and not divided into columns. The values are as follows. Row 1. C, 1. Row 2. 0, 5. Row 3. 5, 0. Row 4. 4, 2. Row 5. D, F. The corresponding explanation is O p code for ADD L 3. Short literal 5. Register mode R 0. Index prefix R 2. Indirect word relative (displacement from P C). Amount of displacement from P C relative to location A. The corresponding Assembler Notation and Description is ADD L 3 hash 5, R 0, at the rate A (R 2). Add 5 to a 32 bit integer in R 0 and store the result in location whose address is sum of A and 4 times the contents of R 2." title="A table provides hexadecimal format, explanation, and Assembler notation and description."/>
          <p:cNvPicPr>
            <a:picLocks noChangeAspect="1"/>
          </p:cNvPicPr>
          <p:nvPr/>
        </p:nvPicPr>
        <p:blipFill rotWithShape="1">
          <a:blip r:embed="rId3">
            <a:extLst>
              <a:ext uri="{28A0092B-C50C-407E-A947-70E740481C1C}">
                <a14:useLocalDpi xmlns:a14="http://schemas.microsoft.com/office/drawing/2010/main" val="0"/>
              </a:ext>
            </a:extLst>
          </a:blip>
          <a:srcRect l="10682" t="6951" r="6431" b="16400"/>
          <a:stretch/>
        </p:blipFill>
        <p:spPr>
          <a:xfrm>
            <a:off x="2267744" y="1368857"/>
            <a:ext cx="4188503" cy="5012471"/>
          </a:xfrm>
          <a:prstGeom prst="rect">
            <a:avLst/>
          </a:prstGeom>
        </p:spPr>
      </p:pic>
      <p:sp>
        <p:nvSpPr>
          <p:cNvPr id="5" name="TextBox 4">
            <a:hlinkClick r:id="rId4" action="ppaction://hlinksldjump"/>
            <a:extLst>
              <a:ext uri="{FF2B5EF4-FFF2-40B4-BE49-F238E27FC236}">
                <a16:creationId xmlns:a16="http://schemas.microsoft.com/office/drawing/2014/main" id="{042D254E-B27D-4C0C-9631-B80781A7D471}"/>
              </a:ext>
            </a:extLst>
          </p:cNvPr>
          <p:cNvSpPr txBox="1"/>
          <p:nvPr/>
        </p:nvSpPr>
        <p:spPr>
          <a:xfrm>
            <a:off x="7884368" y="6290559"/>
            <a:ext cx="1023037" cy="461665"/>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dirty="0">
                <a:hlinkClick r:id="rId5" action="ppaction://hlinksldjump"/>
              </a:rPr>
              <a:t>BACK</a:t>
            </a:r>
            <a:endParaRPr lang="en-MY" dirty="0"/>
          </a:p>
        </p:txBody>
      </p:sp>
    </p:spTree>
    <p:extLst>
      <p:ext uri="{BB962C8B-B14F-4D97-AF65-F5344CB8AC3E}">
        <p14:creationId xmlns:p14="http://schemas.microsoft.com/office/powerpoint/2010/main" val="53018735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180717"/>
            <a:ext cx="8229600" cy="1097279"/>
          </a:xfrm>
          <a:noFill/>
          <a:ln/>
        </p:spPr>
        <p:txBody>
          <a:bodyPr lIns="90488" tIns="44450" rIns="90488" bIns="44450"/>
          <a:lstStyle/>
          <a:p>
            <a:r>
              <a:rPr lang="fr-FR" dirty="0"/>
              <a:t>Figure 14.9 </a:t>
            </a:r>
            <a:br>
              <a:rPr lang="fr-FR" dirty="0"/>
            </a:br>
            <a:r>
              <a:rPr lang="fr-FR" dirty="0"/>
              <a:t>x86 Instruction Format</a:t>
            </a:r>
            <a:endParaRPr lang="en-US" dirty="0"/>
          </a:p>
        </p:txBody>
      </p:sp>
      <p:pic>
        <p:nvPicPr>
          <p:cNvPr id="4" name="Picture 3" descr="The six parts include instruction prefixes from 0 to 3 or 4 bits, O p code comprised of 1, 2 or 3 bytes, Mod R slash M with 0 or 1 byte, Scale Index Base with 0 or 1 byte, displacement with 0, 1, 2, or 4 bytes, and immediate with 0, 1, 2, or 4 bytes. The Mod R slash M comprises of bits 8 bits from 0 to 7 with 0 to 2 bits dedicated to R slash M, 3 to 5 bits dedicated to R e g slash O p code, and Mod dedicated to sixth and seventh bit. The Scale index base comprises of bits 0 to 7 with base from 0 to 2 bits, index from 3 to 5 bits, and Scale in 6 and 7 bits. The instruction prefixes comprise of four parts, instruction prefix occupying 0 or 1 byte, segment override 0 or 1 byte, operand size override occupying 0 or 1 byte, and address size override occupying 0 or 1 byte." title="A diagram explains the x 86 instruction format, comprised of 6 parts."/>
          <p:cNvPicPr>
            <a:picLocks noChangeAspect="1"/>
          </p:cNvPicPr>
          <p:nvPr/>
        </p:nvPicPr>
        <p:blipFill rotWithShape="1">
          <a:blip r:embed="rId3">
            <a:extLst>
              <a:ext uri="{28A0092B-C50C-407E-A947-70E740481C1C}">
                <a14:useLocalDpi xmlns:a14="http://schemas.microsoft.com/office/drawing/2010/main" val="0"/>
              </a:ext>
            </a:extLst>
          </a:blip>
          <a:srcRect l="4448" t="22474" r="4858" b="36854"/>
          <a:stretch/>
        </p:blipFill>
        <p:spPr>
          <a:xfrm>
            <a:off x="433079" y="1484784"/>
            <a:ext cx="8064896" cy="4680520"/>
          </a:xfrm>
          <a:prstGeom prst="rect">
            <a:avLst/>
          </a:prstGeom>
        </p:spPr>
      </p:pic>
      <p:sp>
        <p:nvSpPr>
          <p:cNvPr id="5" name="TextBox 4">
            <a:hlinkClick r:id="rId4" action="ppaction://hlinksldjump"/>
            <a:extLst>
              <a:ext uri="{FF2B5EF4-FFF2-40B4-BE49-F238E27FC236}">
                <a16:creationId xmlns:a16="http://schemas.microsoft.com/office/drawing/2014/main" id="{04AF2680-ED40-4C15-A4D4-CF0714B1A79B}"/>
              </a:ext>
            </a:extLst>
          </p:cNvPr>
          <p:cNvSpPr txBox="1"/>
          <p:nvPr/>
        </p:nvSpPr>
        <p:spPr>
          <a:xfrm>
            <a:off x="7884368" y="6290559"/>
            <a:ext cx="1023037" cy="461665"/>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dirty="0">
                <a:hlinkClick r:id="rId5" action="ppaction://hlinksldjump"/>
              </a:rPr>
              <a:t>BACK</a:t>
            </a:r>
            <a:endParaRPr lang="en-MY" dirty="0"/>
          </a:p>
        </p:txBody>
      </p:sp>
    </p:spTree>
    <p:extLst>
      <p:ext uri="{BB962C8B-B14F-4D97-AF65-F5344CB8AC3E}">
        <p14:creationId xmlns:p14="http://schemas.microsoft.com/office/powerpoint/2010/main" val="175150017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179404"/>
            <a:ext cx="8229600" cy="1097279"/>
          </a:xfrm>
          <a:noFill/>
          <a:ln/>
        </p:spPr>
        <p:txBody>
          <a:bodyPr lIns="90488" tIns="44450" rIns="90488" bIns="44450"/>
          <a:lstStyle/>
          <a:p>
            <a:r>
              <a:rPr lang="en-US" dirty="0"/>
              <a:t>Figure 14.10 </a:t>
            </a:r>
            <a:br>
              <a:rPr lang="en-US" dirty="0"/>
            </a:br>
            <a:r>
              <a:rPr lang="en-US" dirty="0"/>
              <a:t>ARM Instruction Formats</a:t>
            </a:r>
          </a:p>
        </p:txBody>
      </p:sp>
      <p:pic>
        <p:nvPicPr>
          <p:cNvPr id="4" name="Picture 3" descr="The formats are represented in 32 bits from 0 to 31. The first diagram represents the format for data processing immediate shift. In this format, R m occupies bits 0 to 3, fourth bit is 0, shift occupies bits 5 and 6, shift amount occupies bits 7 to 11, R d occupies bits 12 to 15, R n occupies bits 16 to 19, S occupies the bit 20, o p code occupy the bits 21 to 24, bits 25 to 27 are set to 0, and bits 29 to 31 contain a condition code. The second diagram represents the format for data processing register shift. In this format, R m occupies bits 0 to 3, fourth bit is 1, shift occupies bits 5 and 6, 7 bit is set to 0, R s occupies bits 8 to 11, R d occupies bits 12 to 15, R n occupies bits 16 to 19, S occupies the bit 20, o p code occupy the bits 21 to 24, bits 25 to 27 are set to 0, and bits 29 to 31 contain a condition code. The third diagram represents the format for data processing immediate. In this format, immediate occupies the bits 0 to 7, rotate occupies the bits 8 to 11, R d occupies the bits 12 to 15, R n occupies the bits 16 to 19, S occupies the bit 20, o p code occupies the bits 21 to 24, the bits 25 to 27 are set to the value 1, 0, 0, and the condition occupies the bits 28 to 31. The fourth diagram represents the format for load or store immediate offset. In this format, the immediate occupies bits 0 to 11, R d occupies bits 12 to 15, R n occupies bits 16 to 19, L occupies the bit 20, W occupies bit 21, B occupies the bit 22, U occupies the bit 23, P occupies the bit 24, bits 25 to 27 are set to 0 1 0, and the condition code occupies bits 28 to 31. The fifth diagram represents load or store register offset. In this format, R m occupies bits 0 to 3, bit 4 is set to 0, shift occupies bits 5 and 6, shift amount occupies bits 7 to 11, R d occupies bits 12 to 15, R n occupies bits 16 to 19, L occupies the bit 20, W occupies bit 21, B occupies the bit 22, U occupies the bit 23, P occupies the bit 24, bits 25 to 27 are set to 1 1 0, and the condition code occupies bits 28 to 31. The sixth diagram represents load or store multiple. In this format, register list occupies bits 0 to 15, R n occupies bits 16 to 19, L occupies the bit 20, W occupies bit 21, B occupies the bit 22, U occupies the bit 23, P occupies the bit 24, bits 25 to 27 are set to 0 0 1, and the condition code occupies bits 28 to 31. The seventh diagram represents branch or branch with link. In this format, the 24 bit offset occupies the bits 0 to 24, L occupies the bit 25, the bits 25 to 27 are set to 1 0 1, and the condition code occupies the bits 28 to 31. The legend below reads, S equals for any data processing instructions, signifies that the instruction updates the condition codes, S equals for load or store multiple instructions, signifies whether instruction execution is restricted to supervisor mode, P, U, W equals bits that distinguish among different types of addressing mode, B equals distinguishes between an unsigned byte, where B double equals 1 and a word B double equals 0 access, L equals for load or store instructions, distinguishes between a load, where L double equals 1 and Store, L double equals 0, and L equals for branch instructions, determines whether a return address is stored in the link register." title="Seven diagrams for representing 7 instruction formats."/>
          <p:cNvPicPr>
            <a:picLocks noChangeAspect="1"/>
          </p:cNvPicPr>
          <p:nvPr/>
        </p:nvPicPr>
        <p:blipFill rotWithShape="1">
          <a:blip r:embed="rId3">
            <a:extLst>
              <a:ext uri="{28A0092B-C50C-407E-A947-70E740481C1C}">
                <a14:useLocalDpi xmlns:a14="http://schemas.microsoft.com/office/drawing/2010/main" val="0"/>
              </a:ext>
            </a:extLst>
          </a:blip>
          <a:srcRect l="8355" t="11670" r="3929" b="44037"/>
          <a:stretch/>
        </p:blipFill>
        <p:spPr>
          <a:xfrm>
            <a:off x="683568" y="1484784"/>
            <a:ext cx="7272808" cy="4752528"/>
          </a:xfrm>
          <a:prstGeom prst="rect">
            <a:avLst/>
          </a:prstGeom>
        </p:spPr>
      </p:pic>
    </p:spTree>
    <p:extLst>
      <p:ext uri="{BB962C8B-B14F-4D97-AF65-F5344CB8AC3E}">
        <p14:creationId xmlns:p14="http://schemas.microsoft.com/office/powerpoint/2010/main" val="353146359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184761"/>
            <a:ext cx="8229600" cy="1606527"/>
          </a:xfrm>
          <a:noFill/>
          <a:ln/>
        </p:spPr>
        <p:txBody>
          <a:bodyPr lIns="90488" tIns="44450" rIns="90488" bIns="44450"/>
          <a:lstStyle/>
          <a:p>
            <a:r>
              <a:rPr lang="en-US" dirty="0"/>
              <a:t>Figure 14.11 </a:t>
            </a:r>
            <a:br>
              <a:rPr lang="en-US" dirty="0"/>
            </a:br>
            <a:r>
              <a:rPr lang="en-US" dirty="0"/>
              <a:t>Examples of Use of ARM Immediate Constants</a:t>
            </a:r>
          </a:p>
        </p:txBody>
      </p:sp>
      <p:pic>
        <p:nvPicPr>
          <p:cNvPr id="4" name="Picture 3" descr="The representations start from bits 0 to 31, comprised of 32 bits. The first diagram, r o r hash 0 dash range 0 through 0 x 0 0 0 0 0 0 F F dash step 0 x 0 0 0 0 0 0 0 1 have the bits 8 to 31 set to 0 and the bits 0 to 7 left blank. The second diagram, r o r hash 8 dash range 0 through 0 x F F 0 0 0 0 0 0 dash step 0 x 0 1 0 0 0 0 0 0 have the bits 0 to 23 set to 0 and bits 24 to 31 left blank. The third diagram, r o r hash 30 dash range 0 through 0 x 0 0 0 0 0 3 F C dash step 0 x 0 0 0 0 0 0 0 4 have the bits 0 and 1 set to 0, bits 2 to 9 left blank, bits 10 to 31 set to 0." title="Three diagrams represent the examples of use of A R M immediate constants. "/>
          <p:cNvPicPr>
            <a:picLocks noChangeAspect="1"/>
          </p:cNvPicPr>
          <p:nvPr/>
        </p:nvPicPr>
        <p:blipFill rotWithShape="1">
          <a:blip r:embed="rId3">
            <a:extLst>
              <a:ext uri="{28A0092B-C50C-407E-A947-70E740481C1C}">
                <a14:useLocalDpi xmlns:a14="http://schemas.microsoft.com/office/drawing/2010/main" val="0"/>
              </a:ext>
            </a:extLst>
          </a:blip>
          <a:srcRect l="11246" t="11634" r="12370" b="53458"/>
          <a:stretch/>
        </p:blipFill>
        <p:spPr>
          <a:xfrm>
            <a:off x="873932" y="1947340"/>
            <a:ext cx="7324129" cy="4331473"/>
          </a:xfrm>
          <a:prstGeom prst="rect">
            <a:avLst/>
          </a:prstGeom>
        </p:spPr>
      </p:pic>
    </p:spTree>
    <p:extLst>
      <p:ext uri="{BB962C8B-B14F-4D97-AF65-F5344CB8AC3E}">
        <p14:creationId xmlns:p14="http://schemas.microsoft.com/office/powerpoint/2010/main" val="239578880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175525"/>
            <a:ext cx="8229600" cy="1606527"/>
          </a:xfrm>
          <a:noFill/>
          <a:ln/>
        </p:spPr>
        <p:txBody>
          <a:bodyPr lIns="90488" tIns="44450" rIns="90488" bIns="44450"/>
          <a:lstStyle/>
          <a:p>
            <a:r>
              <a:rPr lang="en-US" dirty="0"/>
              <a:t>Figure 14.12</a:t>
            </a:r>
            <a:br>
              <a:rPr lang="en-US" dirty="0"/>
            </a:br>
            <a:r>
              <a:rPr lang="en-US" dirty="0"/>
              <a:t>Expanding a Thumb ADD Instruction into its ARM Equivalent</a:t>
            </a:r>
          </a:p>
        </p:txBody>
      </p:sp>
      <p:pic>
        <p:nvPicPr>
          <p:cNvPr id="4" name="Picture 3" descr="The Add or subtract or compare or move immediate format comprises of 0 to 15 bits with immediate occupying 0 to 7 bits, R d slash R n occupying 8 to 10 bits, o p code occupying 11 and 12 bits, and 13 to 15 bits are set to 1 0 0. For the instruction ADD r 3 comma hash 19, the corresponding format would be 1 1 0 0 1 0 0 0 for bits 0 to 7, 1 1 0 for bits 8 to 10, 0 1 for bits 11 and 12, and 1 0 0 for bits 13 to 15. When the instruction is expanded into the data processing immediate format, immediate occupies bits 0 to 7, rotate occupies bits 8 to 11, R d occupies bits 12 to 15, R n occupies bits 16 to 19, S occupies bit 20, O p code occupies bits 21 to 24, bits 25 to 27 are set to 1 0 0, condition code occupies bits 28 to 31. The corresponding instruction ADD S r 3 comma r 3 comma hash 19 occupies 32 bits. The expanded format contains the values 1 1 0 0 1 0 0 0 0 0 0 0 1 1 0 0 1 1 0 0 1 0 1 0 0 1 0 0 0 1 1 1 from bits 0 to 31. The bits 13 to 15 in the add or subtract or compare or move immediate format is expanded to bits 25 to 27 in the data processing immediate format with major o p code denoting format 3 move or compare or add or subtract with immediate value. The bits 11 and 12 with values 0 and 1 in the add or subtract or compare or move immediate format is expanded to the bits 21 to 24 of data processing immediate format with minor o p code denoting ADD instruction. The bit 20 in the expanded data processing immediate format comprises of update condition flags. The bits 8 to 10 in the add or subtract or compare or move immediate format is expanded to the bits 12 to 19 with destination and source register. The immediate value from bits 0 to 7 in add or subtract or compare or move immediate format are expanded to the immediate values from bits 0 to 7 in the data processing immediate format. The rotate bits in the data processing immediate format is labeled, zero rotation."/>
          <p:cNvPicPr>
            <a:picLocks noChangeAspect="1"/>
          </p:cNvPicPr>
          <p:nvPr/>
        </p:nvPicPr>
        <p:blipFill rotWithShape="1">
          <a:blip r:embed="rId3">
            <a:extLst>
              <a:ext uri="{28A0092B-C50C-407E-A947-70E740481C1C}">
                <a14:useLocalDpi xmlns:a14="http://schemas.microsoft.com/office/drawing/2010/main" val="0"/>
              </a:ext>
            </a:extLst>
          </a:blip>
          <a:srcRect l="4851" t="25346" r="3179" b="42642"/>
          <a:stretch/>
        </p:blipFill>
        <p:spPr>
          <a:xfrm>
            <a:off x="413285" y="2202688"/>
            <a:ext cx="8317431" cy="3746592"/>
          </a:xfrm>
          <a:prstGeom prst="rect">
            <a:avLst/>
          </a:prstGeom>
        </p:spPr>
      </p:pic>
    </p:spTree>
    <p:extLst>
      <p:ext uri="{BB962C8B-B14F-4D97-AF65-F5344CB8AC3E}">
        <p14:creationId xmlns:p14="http://schemas.microsoft.com/office/powerpoint/2010/main" val="46145801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Thumb-2 Instruction Set</a:t>
            </a:r>
          </a:p>
        </p:txBody>
      </p:sp>
      <p:sp>
        <p:nvSpPr>
          <p:cNvPr id="4" name="Content Placeholder 3"/>
          <p:cNvSpPr>
            <a:spLocks noGrp="1"/>
          </p:cNvSpPr>
          <p:nvPr>
            <p:ph type="body" idx="1"/>
          </p:nvPr>
        </p:nvSpPr>
        <p:spPr/>
        <p:txBody>
          <a:bodyPr>
            <a:normAutofit fontScale="92500" lnSpcReduction="10000"/>
          </a:bodyPr>
          <a:lstStyle/>
          <a:p>
            <a:pPr marL="307975" indent="-307975"/>
            <a:r>
              <a:rPr lang="en-US" sz="2200" dirty="0"/>
              <a:t>The only instruction set available on the Cortex-M microcontroller products</a:t>
            </a:r>
          </a:p>
          <a:p>
            <a:pPr marL="307975" indent="-307975"/>
            <a:r>
              <a:rPr lang="en-US" sz="2200" dirty="0"/>
              <a:t>Is a major enhancement to the Thumb instruction set architecture (ISA)</a:t>
            </a:r>
          </a:p>
          <a:p>
            <a:pPr marL="593725" lvl="1" indent="-296863"/>
            <a:r>
              <a:rPr lang="en-US" sz="1700" dirty="0"/>
              <a:t>Introduces 32-bit instructions that can be intermixed freely with the older 16-bit Thumb instructions</a:t>
            </a:r>
          </a:p>
          <a:p>
            <a:pPr marL="593725" lvl="1" indent="-296863"/>
            <a:r>
              <a:rPr lang="en-US" sz="1700" dirty="0"/>
              <a:t>Most 32-bit Thumb instructions are unconditional, whereas almost all ARM instructions can be conditional</a:t>
            </a:r>
          </a:p>
          <a:p>
            <a:pPr marL="593725" lvl="1" indent="-296863"/>
            <a:r>
              <a:rPr lang="en-US" sz="1700" dirty="0"/>
              <a:t>Introduces a new If-Then (IT) instruction that delivers much of the functionality of the condition field in ARM instructions</a:t>
            </a:r>
          </a:p>
          <a:p>
            <a:pPr marL="307975" indent="-307975"/>
            <a:r>
              <a:rPr lang="en-US" sz="2200" dirty="0"/>
              <a:t>Delivers overall code density comparable with Thumb, together with the performance levels associated with the ARM ISA</a:t>
            </a:r>
          </a:p>
          <a:p>
            <a:pPr marL="307975" indent="-307975"/>
            <a:r>
              <a:rPr lang="en-US" sz="2200" dirty="0"/>
              <a:t>Before Thumb-2 developers had to choose between Thumb for size and ARM for performance</a:t>
            </a:r>
          </a:p>
        </p:txBody>
      </p:sp>
    </p:spTree>
    <p:extLst>
      <p:ext uri="{BB962C8B-B14F-4D97-AF65-F5344CB8AC3E}">
        <p14:creationId xmlns:p14="http://schemas.microsoft.com/office/powerpoint/2010/main" val="67027640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171481"/>
            <a:ext cx="8229600" cy="1097279"/>
          </a:xfrm>
          <a:noFill/>
          <a:ln/>
        </p:spPr>
        <p:txBody>
          <a:bodyPr lIns="90488" tIns="44450" rIns="90488" bIns="44450"/>
          <a:lstStyle/>
          <a:p>
            <a:r>
              <a:rPr lang="en-US" dirty="0"/>
              <a:t>Figure 14.13 </a:t>
            </a:r>
            <a:br>
              <a:rPr lang="en-US" dirty="0"/>
            </a:br>
            <a:r>
              <a:rPr lang="en-US" dirty="0"/>
              <a:t>Thumb-2 Encoding</a:t>
            </a:r>
          </a:p>
        </p:txBody>
      </p:sp>
      <p:pic>
        <p:nvPicPr>
          <p:cNvPr id="4" name="Picture 3" descr="The illustration depicts an instruction flow comprised of t h m labeled, i, half word 1 labeled, i + 2, half word 2 labeled, i + 4, half word t h m labeled, i + 6, half word 1 labeled, i + 8, and half word 2 labeled, i + 10, and extends further to t h m instruction flow. A Table below has 3 rows and 4 columns. The columns have the following headings from left to right. Half word 1 (15: 13), Half word 1 (12: 11), Length, Functionality. The row entries are as follows. Row 1. Half word 1 (15: 13), Not 111. Half word 1 (12: 11), x x. Length, 16 bits (1 half word). Functionality, 16 bit Thumb instruction. Row 2. Half word 1 (15: 13), 111. Half word 1 (12: 11), 0 0. Length, 16 bits (1 half word). Functionality, 16 bit Thumb unconditional branch instruction. Row 3. Half word 1 (15: 13), 111. Half word 1 (12: 11), Not 0 0. Length, 32 bits (2 half words). Functionality, 32 bit Thumb dash 2 instruction." title="An illustration comprises of a diagram and a table, explaining encoding."/>
          <p:cNvPicPr>
            <a:picLocks noChangeAspect="1"/>
          </p:cNvPicPr>
          <p:nvPr/>
        </p:nvPicPr>
        <p:blipFill rotWithShape="1">
          <a:blip r:embed="rId3">
            <a:extLst>
              <a:ext uri="{28A0092B-C50C-407E-A947-70E740481C1C}">
                <a14:useLocalDpi xmlns:a14="http://schemas.microsoft.com/office/drawing/2010/main" val="0"/>
              </a:ext>
            </a:extLst>
          </a:blip>
          <a:srcRect l="7247" t="30400" r="9420" b="46642"/>
          <a:stretch/>
        </p:blipFill>
        <p:spPr>
          <a:xfrm>
            <a:off x="431540" y="1916832"/>
            <a:ext cx="8280920" cy="2952328"/>
          </a:xfrm>
          <a:prstGeom prst="rect">
            <a:avLst/>
          </a:prstGeom>
        </p:spPr>
      </p:pic>
      <p:sp>
        <p:nvSpPr>
          <p:cNvPr id="5" name="TextBox 4">
            <a:hlinkClick r:id="rId4" action="ppaction://hlinksldjump"/>
            <a:extLst>
              <a:ext uri="{FF2B5EF4-FFF2-40B4-BE49-F238E27FC236}">
                <a16:creationId xmlns:a16="http://schemas.microsoft.com/office/drawing/2014/main" id="{6C0BE080-B562-40E4-86EA-DDB163FA055A}"/>
              </a:ext>
            </a:extLst>
          </p:cNvPr>
          <p:cNvSpPr txBox="1"/>
          <p:nvPr/>
        </p:nvSpPr>
        <p:spPr>
          <a:xfrm>
            <a:off x="7884368" y="6290559"/>
            <a:ext cx="1023037" cy="461665"/>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US" dirty="0">
                <a:hlinkClick r:id="rId5" action="ppaction://hlinksldjump"/>
              </a:rPr>
              <a:t>BACK</a:t>
            </a:r>
            <a:endParaRPr lang="en-MY" dirty="0"/>
          </a:p>
        </p:txBody>
      </p:sp>
    </p:spTree>
    <p:extLst>
      <p:ext uri="{BB962C8B-B14F-4D97-AF65-F5344CB8AC3E}">
        <p14:creationId xmlns:p14="http://schemas.microsoft.com/office/powerpoint/2010/main" val="131873664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457200" y="315497"/>
            <a:ext cx="8229600" cy="1097279"/>
          </a:xfrm>
        </p:spPr>
        <p:txBody>
          <a:bodyPr>
            <a:normAutofit/>
          </a:bodyPr>
          <a:lstStyle/>
          <a:p>
            <a:r>
              <a:rPr lang="en-US" dirty="0"/>
              <a:t>Summary</a:t>
            </a:r>
          </a:p>
        </p:txBody>
      </p:sp>
      <p:sp>
        <p:nvSpPr>
          <p:cNvPr id="44035" name="Rectangle 3"/>
          <p:cNvSpPr>
            <a:spLocks noGrp="1" noChangeArrowheads="1"/>
          </p:cNvSpPr>
          <p:nvPr>
            <p:ph type="body" idx="1"/>
          </p:nvPr>
        </p:nvSpPr>
        <p:spPr>
          <a:xfrm>
            <a:off x="332518" y="1521167"/>
            <a:ext cx="8478965" cy="4525963"/>
          </a:xfrm>
        </p:spPr>
        <p:txBody>
          <a:bodyPr>
            <a:normAutofit/>
          </a:bodyPr>
          <a:lstStyle/>
          <a:p>
            <a:pPr marL="101600" indent="0">
              <a:buNone/>
            </a:pPr>
            <a:r>
              <a:rPr lang="en-US" sz="3200" dirty="0">
                <a:solidFill>
                  <a:srgbClr val="007FA3"/>
                </a:solidFill>
              </a:rPr>
              <a:t>Chapter 13</a:t>
            </a:r>
          </a:p>
          <a:p>
            <a:endParaRPr lang="en-US" dirty="0"/>
          </a:p>
        </p:txBody>
      </p:sp>
      <p:sp>
        <p:nvSpPr>
          <p:cNvPr id="30" name="Content Placeholder 29"/>
          <p:cNvSpPr>
            <a:spLocks noGrp="1"/>
          </p:cNvSpPr>
          <p:nvPr>
            <p:ph sz="half" idx="4294967295"/>
          </p:nvPr>
        </p:nvSpPr>
        <p:spPr>
          <a:xfrm>
            <a:off x="473968" y="2133600"/>
            <a:ext cx="3810000" cy="4464050"/>
          </a:xfrm>
        </p:spPr>
        <p:txBody>
          <a:bodyPr>
            <a:normAutofit/>
          </a:bodyPr>
          <a:lstStyle/>
          <a:p>
            <a:pPr marL="285750" indent="-285750">
              <a:spcBef>
                <a:spcPts val="600"/>
              </a:spcBef>
              <a:buClr>
                <a:schemeClr val="tx2"/>
              </a:buClr>
              <a:buFont typeface="Arial" panose="020B0604020202020204" pitchFamily="34" charset="0"/>
              <a:buChar char="•"/>
            </a:pPr>
            <a:r>
              <a:rPr lang="en-US" sz="2200" dirty="0"/>
              <a:t>Machine instruction characteristics</a:t>
            </a:r>
          </a:p>
          <a:p>
            <a:pPr marL="606425" lvl="1" indent="-320675">
              <a:buClr>
                <a:schemeClr val="tx2"/>
              </a:buClr>
              <a:buFont typeface="Arial" panose="020B0604020202020204" pitchFamily="34" charset="0"/>
              <a:buChar char="–"/>
            </a:pPr>
            <a:r>
              <a:rPr lang="en-US" sz="1800" dirty="0"/>
              <a:t>Elements of a machine instruction</a:t>
            </a:r>
          </a:p>
          <a:p>
            <a:pPr marL="606425" lvl="1" indent="-320675">
              <a:buClr>
                <a:schemeClr val="tx2"/>
              </a:buClr>
              <a:buFont typeface="Arial" panose="020B0604020202020204" pitchFamily="34" charset="0"/>
              <a:buChar char="–"/>
            </a:pPr>
            <a:r>
              <a:rPr lang="en-US" sz="1800" dirty="0"/>
              <a:t>Instruction representation</a:t>
            </a:r>
          </a:p>
          <a:p>
            <a:pPr marL="606425" lvl="1" indent="-320675">
              <a:buClr>
                <a:schemeClr val="tx2"/>
              </a:buClr>
              <a:buFont typeface="Arial" panose="020B0604020202020204" pitchFamily="34" charset="0"/>
              <a:buChar char="–"/>
            </a:pPr>
            <a:r>
              <a:rPr lang="en-US" sz="1800" dirty="0"/>
              <a:t>Instruction types</a:t>
            </a:r>
          </a:p>
          <a:p>
            <a:pPr marL="606425" lvl="1" indent="-320675">
              <a:buClr>
                <a:schemeClr val="tx2"/>
              </a:buClr>
              <a:buFont typeface="Arial" panose="020B0604020202020204" pitchFamily="34" charset="0"/>
              <a:buChar char="–"/>
            </a:pPr>
            <a:r>
              <a:rPr lang="en-US" sz="1800" dirty="0"/>
              <a:t>Number of addresses</a:t>
            </a:r>
          </a:p>
          <a:p>
            <a:pPr marL="606425" lvl="1" indent="-320675">
              <a:buClr>
                <a:schemeClr val="tx2"/>
              </a:buClr>
              <a:buFont typeface="Arial" panose="020B0604020202020204" pitchFamily="34" charset="0"/>
              <a:buChar char="–"/>
            </a:pPr>
            <a:r>
              <a:rPr lang="en-US" sz="1800" dirty="0"/>
              <a:t>Instruction set design</a:t>
            </a:r>
          </a:p>
          <a:p>
            <a:pPr marL="285750" indent="-285750">
              <a:spcBef>
                <a:spcPts val="600"/>
              </a:spcBef>
              <a:buClr>
                <a:schemeClr val="tx2"/>
              </a:buClr>
              <a:buFont typeface="Arial" panose="020B0604020202020204" pitchFamily="34" charset="0"/>
              <a:buChar char="•"/>
            </a:pPr>
            <a:r>
              <a:rPr lang="en-US" sz="2200" dirty="0"/>
              <a:t>Types of operands</a:t>
            </a:r>
          </a:p>
          <a:p>
            <a:pPr marL="606425" lvl="1" indent="-320675">
              <a:buClr>
                <a:schemeClr val="tx2"/>
              </a:buClr>
              <a:buFont typeface="Arial" panose="020B0604020202020204" pitchFamily="34" charset="0"/>
              <a:buChar char="–"/>
            </a:pPr>
            <a:r>
              <a:rPr lang="en-US" sz="1800" dirty="0"/>
              <a:t>Numbers</a:t>
            </a:r>
          </a:p>
          <a:p>
            <a:pPr marL="606425" lvl="1" indent="-320675">
              <a:buClr>
                <a:schemeClr val="tx2"/>
              </a:buClr>
              <a:buFont typeface="Arial" panose="020B0604020202020204" pitchFamily="34" charset="0"/>
              <a:buChar char="–"/>
            </a:pPr>
            <a:r>
              <a:rPr lang="en-US" sz="1800" dirty="0"/>
              <a:t>Characters</a:t>
            </a:r>
          </a:p>
          <a:p>
            <a:pPr marL="606425" lvl="1" indent="-320675">
              <a:buClr>
                <a:schemeClr val="tx2"/>
              </a:buClr>
              <a:buFont typeface="Arial" panose="020B0604020202020204" pitchFamily="34" charset="0"/>
              <a:buChar char="–"/>
            </a:pPr>
            <a:r>
              <a:rPr lang="en-US" sz="1800" dirty="0"/>
              <a:t>Logical data</a:t>
            </a:r>
          </a:p>
        </p:txBody>
      </p:sp>
      <p:sp>
        <p:nvSpPr>
          <p:cNvPr id="31" name="Text Placeholder 30"/>
          <p:cNvSpPr>
            <a:spLocks noGrp="1"/>
          </p:cNvSpPr>
          <p:nvPr>
            <p:ph type="body" sz="quarter" idx="4294967295"/>
          </p:nvPr>
        </p:nvSpPr>
        <p:spPr>
          <a:xfrm>
            <a:off x="4499992" y="424706"/>
            <a:ext cx="3657600" cy="1708150"/>
          </a:xfrm>
        </p:spPr>
        <p:txBody>
          <a:bodyPr/>
          <a:lstStyle/>
          <a:p>
            <a:pPr algn="ctr"/>
            <a:r>
              <a:rPr lang="en-US" sz="2800" dirty="0">
                <a:solidFill>
                  <a:srgbClr val="007FA3"/>
                </a:solidFill>
                <a:latin typeface="+mj-lt"/>
                <a:ea typeface="+mj-ea"/>
                <a:cs typeface="+mj-cs"/>
              </a:rPr>
              <a:t>Instruction Sets:</a:t>
            </a:r>
          </a:p>
          <a:p>
            <a:pPr algn="ctr"/>
            <a:r>
              <a:rPr lang="en-US" sz="2800" dirty="0">
                <a:solidFill>
                  <a:srgbClr val="007FA3"/>
                </a:solidFill>
                <a:latin typeface="+mj-lt"/>
                <a:ea typeface="+mj-ea"/>
                <a:cs typeface="+mj-cs"/>
              </a:rPr>
              <a:t>Characteristics and Functions</a:t>
            </a:r>
            <a:endParaRPr lang="en-US" sz="2800" dirty="0">
              <a:solidFill>
                <a:srgbClr val="007FA3"/>
              </a:solidFill>
            </a:endParaRPr>
          </a:p>
        </p:txBody>
      </p:sp>
      <p:sp>
        <p:nvSpPr>
          <p:cNvPr id="32" name="Content Placeholder 31"/>
          <p:cNvSpPr>
            <a:spLocks noGrp="1"/>
          </p:cNvSpPr>
          <p:nvPr>
            <p:ph sz="quarter" idx="4294967295"/>
          </p:nvPr>
        </p:nvSpPr>
        <p:spPr>
          <a:xfrm>
            <a:off x="4499992" y="2133600"/>
            <a:ext cx="4242048" cy="4724400"/>
          </a:xfrm>
        </p:spPr>
        <p:txBody>
          <a:bodyPr>
            <a:normAutofit/>
          </a:bodyPr>
          <a:lstStyle/>
          <a:p>
            <a:pPr marL="342900" lvl="1" indent="-342900">
              <a:spcBef>
                <a:spcPts val="1800"/>
              </a:spcBef>
              <a:buClr>
                <a:schemeClr val="tx2"/>
              </a:buClr>
              <a:buFont typeface="Arial" panose="020B0604020202020204" pitchFamily="34" charset="0"/>
              <a:buChar char="•"/>
            </a:pPr>
            <a:r>
              <a:rPr lang="en-US" sz="2200" dirty="0"/>
              <a:t>Intel x86 and ARM data types</a:t>
            </a:r>
          </a:p>
          <a:p>
            <a:pPr marL="342900" lvl="1" indent="-342900">
              <a:spcBef>
                <a:spcPts val="1800"/>
              </a:spcBef>
              <a:buClr>
                <a:schemeClr val="tx2"/>
              </a:buClr>
              <a:buFont typeface="Arial" panose="020B0604020202020204" pitchFamily="34" charset="0"/>
              <a:buChar char="•"/>
            </a:pPr>
            <a:r>
              <a:rPr lang="en-US" sz="2200" dirty="0"/>
              <a:t>Types of operations</a:t>
            </a:r>
          </a:p>
          <a:p>
            <a:pPr marL="652463" lvl="1" indent="-296863">
              <a:buClr>
                <a:schemeClr val="tx2"/>
              </a:buClr>
              <a:buFont typeface="Arial" panose="020B0604020202020204" pitchFamily="34" charset="0"/>
              <a:buChar char="–"/>
            </a:pPr>
            <a:r>
              <a:rPr lang="en-US" sz="1800" dirty="0"/>
              <a:t>Data transfer</a:t>
            </a:r>
          </a:p>
          <a:p>
            <a:pPr marL="652463" lvl="1" indent="-296863">
              <a:buClr>
                <a:schemeClr val="tx2"/>
              </a:buClr>
              <a:buFont typeface="Arial" panose="020B0604020202020204" pitchFamily="34" charset="0"/>
              <a:buChar char="–"/>
            </a:pPr>
            <a:r>
              <a:rPr lang="en-US" sz="1800" dirty="0"/>
              <a:t>Arithmetic</a:t>
            </a:r>
          </a:p>
          <a:p>
            <a:pPr marL="652463" lvl="1" indent="-296863">
              <a:buClr>
                <a:schemeClr val="tx2"/>
              </a:buClr>
              <a:buFont typeface="Arial" panose="020B0604020202020204" pitchFamily="34" charset="0"/>
              <a:buChar char="–"/>
            </a:pPr>
            <a:r>
              <a:rPr lang="en-US" sz="1800" dirty="0"/>
              <a:t>Logical</a:t>
            </a:r>
          </a:p>
          <a:p>
            <a:pPr marL="652463" lvl="1" indent="-296863">
              <a:buClr>
                <a:schemeClr val="tx2"/>
              </a:buClr>
              <a:buFont typeface="Arial" panose="020B0604020202020204" pitchFamily="34" charset="0"/>
              <a:buChar char="–"/>
            </a:pPr>
            <a:r>
              <a:rPr lang="en-US" sz="1800" dirty="0"/>
              <a:t>Conversion</a:t>
            </a:r>
          </a:p>
          <a:p>
            <a:pPr marL="652463" lvl="1" indent="-296863">
              <a:buClr>
                <a:schemeClr val="tx2"/>
              </a:buClr>
              <a:buFont typeface="Arial" panose="020B0604020202020204" pitchFamily="34" charset="0"/>
              <a:buChar char="–"/>
            </a:pPr>
            <a:r>
              <a:rPr lang="en-US" sz="1800" dirty="0"/>
              <a:t>Input/output</a:t>
            </a:r>
          </a:p>
          <a:p>
            <a:pPr marL="652463" lvl="1" indent="-296863">
              <a:buClr>
                <a:schemeClr val="tx2"/>
              </a:buClr>
              <a:buFont typeface="Arial" panose="020B0604020202020204" pitchFamily="34" charset="0"/>
              <a:buChar char="–"/>
            </a:pPr>
            <a:r>
              <a:rPr lang="en-US" sz="1800" dirty="0"/>
              <a:t>System control</a:t>
            </a:r>
          </a:p>
          <a:p>
            <a:pPr marL="652463" lvl="1" indent="-296863">
              <a:buClr>
                <a:schemeClr val="tx2"/>
              </a:buClr>
              <a:buFont typeface="Arial" panose="020B0604020202020204" pitchFamily="34" charset="0"/>
              <a:buChar char="–"/>
            </a:pPr>
            <a:r>
              <a:rPr lang="en-US" sz="1800" dirty="0"/>
              <a:t>Transfer of control</a:t>
            </a:r>
          </a:p>
          <a:p>
            <a:pPr marL="342900" lvl="1" indent="-342900">
              <a:spcBef>
                <a:spcPts val="1800"/>
              </a:spcBef>
              <a:buClr>
                <a:schemeClr val="tx2"/>
              </a:buClr>
              <a:buFont typeface="Arial" panose="020B0604020202020204" pitchFamily="34" charset="0"/>
              <a:buChar char="•"/>
            </a:pPr>
            <a:r>
              <a:rPr lang="en-US" sz="2200" dirty="0"/>
              <a:t>Intel x86 and ARM operation types</a:t>
            </a:r>
          </a:p>
        </p:txBody>
      </p:sp>
    </p:spTree>
    <p:extLst>
      <p:ext uri="{BB962C8B-B14F-4D97-AF65-F5344CB8AC3E}">
        <p14:creationId xmlns:p14="http://schemas.microsoft.com/office/powerpoint/2010/main" val="52150560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457200" y="231614"/>
            <a:ext cx="8229600" cy="1097279"/>
          </a:xfrm>
        </p:spPr>
        <p:txBody>
          <a:bodyPr>
            <a:normAutofit/>
          </a:bodyPr>
          <a:lstStyle/>
          <a:p>
            <a:r>
              <a:rPr lang="en-US" dirty="0"/>
              <a:t>Summary</a:t>
            </a:r>
          </a:p>
        </p:txBody>
      </p:sp>
      <p:sp>
        <p:nvSpPr>
          <p:cNvPr id="44035" name="Rectangle 3"/>
          <p:cNvSpPr>
            <a:spLocks noGrp="1" noChangeArrowheads="1"/>
          </p:cNvSpPr>
          <p:nvPr>
            <p:ph type="body" idx="1"/>
          </p:nvPr>
        </p:nvSpPr>
        <p:spPr>
          <a:xfrm>
            <a:off x="332518" y="1556792"/>
            <a:ext cx="8478965" cy="4525963"/>
          </a:xfrm>
        </p:spPr>
        <p:txBody>
          <a:bodyPr>
            <a:normAutofit/>
          </a:bodyPr>
          <a:lstStyle/>
          <a:p>
            <a:pPr marL="101600" indent="0">
              <a:buNone/>
            </a:pPr>
            <a:r>
              <a:rPr lang="en-US" sz="3200" dirty="0">
                <a:solidFill>
                  <a:srgbClr val="007FA3"/>
                </a:solidFill>
              </a:rPr>
              <a:t>Chapter 14     </a:t>
            </a:r>
          </a:p>
          <a:p>
            <a:endParaRPr lang="en-US" sz="3200" dirty="0"/>
          </a:p>
        </p:txBody>
      </p:sp>
      <p:sp>
        <p:nvSpPr>
          <p:cNvPr id="30" name="Content Placeholder 29"/>
          <p:cNvSpPr>
            <a:spLocks noGrp="1"/>
          </p:cNvSpPr>
          <p:nvPr>
            <p:ph sz="half" idx="4294967295"/>
          </p:nvPr>
        </p:nvSpPr>
        <p:spPr>
          <a:xfrm>
            <a:off x="446727" y="2348880"/>
            <a:ext cx="3657600" cy="4191000"/>
          </a:xfrm>
        </p:spPr>
        <p:txBody>
          <a:bodyPr>
            <a:normAutofit/>
          </a:bodyPr>
          <a:lstStyle/>
          <a:p>
            <a:pPr marL="307975" indent="-307975">
              <a:buClr>
                <a:schemeClr val="tx2"/>
              </a:buClr>
              <a:buFont typeface="Arial" panose="020B0604020202020204" pitchFamily="34" charset="0"/>
              <a:buChar char="•"/>
            </a:pPr>
            <a:r>
              <a:rPr lang="en-US" sz="2400" dirty="0"/>
              <a:t>Addressing modes</a:t>
            </a:r>
          </a:p>
          <a:p>
            <a:pPr marL="639763" lvl="1" indent="-342900">
              <a:buClr>
                <a:schemeClr val="tx2"/>
              </a:buClr>
              <a:buFont typeface="Arial" panose="020B0604020202020204" pitchFamily="34" charset="0"/>
              <a:buChar char="–"/>
            </a:pPr>
            <a:r>
              <a:rPr lang="en-US" sz="2000" dirty="0"/>
              <a:t>Immediate addressing</a:t>
            </a:r>
          </a:p>
          <a:p>
            <a:pPr marL="639763" lvl="1" indent="-342900">
              <a:buClr>
                <a:schemeClr val="tx2"/>
              </a:buClr>
              <a:buFont typeface="Arial" panose="020B0604020202020204" pitchFamily="34" charset="0"/>
              <a:buChar char="–"/>
            </a:pPr>
            <a:r>
              <a:rPr lang="en-US" sz="2000" dirty="0"/>
              <a:t>Direct addressing</a:t>
            </a:r>
          </a:p>
          <a:p>
            <a:pPr marL="639763" lvl="1" indent="-342900">
              <a:buClr>
                <a:schemeClr val="tx2"/>
              </a:buClr>
              <a:buFont typeface="Arial" panose="020B0604020202020204" pitchFamily="34" charset="0"/>
              <a:buChar char="–"/>
            </a:pPr>
            <a:r>
              <a:rPr lang="en-US" sz="2000" dirty="0"/>
              <a:t>Indirect addressing</a:t>
            </a:r>
          </a:p>
          <a:p>
            <a:pPr marL="639763" lvl="1" indent="-342900">
              <a:buClr>
                <a:schemeClr val="tx2"/>
              </a:buClr>
              <a:buFont typeface="Arial" panose="020B0604020202020204" pitchFamily="34" charset="0"/>
              <a:buChar char="–"/>
            </a:pPr>
            <a:r>
              <a:rPr lang="en-US" sz="2000" dirty="0"/>
              <a:t>Register addressing</a:t>
            </a:r>
          </a:p>
          <a:p>
            <a:pPr marL="639763" lvl="1" indent="-342900">
              <a:buClr>
                <a:schemeClr val="tx2"/>
              </a:buClr>
              <a:buFont typeface="Arial" panose="020B0604020202020204" pitchFamily="34" charset="0"/>
              <a:buChar char="–"/>
            </a:pPr>
            <a:r>
              <a:rPr lang="en-US" sz="2000" dirty="0"/>
              <a:t>Register indirect addressing</a:t>
            </a:r>
          </a:p>
          <a:p>
            <a:pPr marL="639763" lvl="1" indent="-342900">
              <a:buClr>
                <a:schemeClr val="tx2"/>
              </a:buClr>
              <a:buFont typeface="Arial" panose="020B0604020202020204" pitchFamily="34" charset="0"/>
              <a:buChar char="–"/>
            </a:pPr>
            <a:r>
              <a:rPr lang="en-US" sz="2000" dirty="0"/>
              <a:t>Displacement addressing </a:t>
            </a:r>
          </a:p>
          <a:p>
            <a:pPr marL="639763" lvl="1" indent="-342900">
              <a:buClr>
                <a:schemeClr val="tx2"/>
              </a:buClr>
              <a:buFont typeface="Arial" panose="020B0604020202020204" pitchFamily="34" charset="0"/>
              <a:buChar char="–"/>
            </a:pPr>
            <a:r>
              <a:rPr lang="en-US" sz="2000" dirty="0"/>
              <a:t>Stack addressing</a:t>
            </a:r>
          </a:p>
        </p:txBody>
      </p:sp>
      <p:sp>
        <p:nvSpPr>
          <p:cNvPr id="31" name="Text Placeholder 30"/>
          <p:cNvSpPr>
            <a:spLocks noGrp="1"/>
          </p:cNvSpPr>
          <p:nvPr>
            <p:ph type="body" sz="quarter" idx="4294967295"/>
          </p:nvPr>
        </p:nvSpPr>
        <p:spPr>
          <a:xfrm>
            <a:off x="4788024" y="304800"/>
            <a:ext cx="3657600" cy="1708150"/>
          </a:xfrm>
        </p:spPr>
        <p:txBody>
          <a:bodyPr/>
          <a:lstStyle/>
          <a:p>
            <a:pPr algn="ctr"/>
            <a:r>
              <a:rPr lang="en-US" sz="2800" dirty="0">
                <a:solidFill>
                  <a:srgbClr val="007FA3"/>
                </a:solidFill>
              </a:rPr>
              <a:t>Instruction Sets: Addressing Modes and Formats</a:t>
            </a:r>
            <a:endParaRPr lang="en-US" dirty="0">
              <a:solidFill>
                <a:srgbClr val="007FA3"/>
              </a:solidFill>
            </a:endParaRPr>
          </a:p>
        </p:txBody>
      </p:sp>
      <p:sp>
        <p:nvSpPr>
          <p:cNvPr id="32" name="Content Placeholder 31"/>
          <p:cNvSpPr>
            <a:spLocks noGrp="1"/>
          </p:cNvSpPr>
          <p:nvPr>
            <p:ph sz="quarter" idx="4294967295"/>
          </p:nvPr>
        </p:nvSpPr>
        <p:spPr>
          <a:xfrm>
            <a:off x="4716016" y="1988840"/>
            <a:ext cx="3657600" cy="4383088"/>
          </a:xfrm>
        </p:spPr>
        <p:txBody>
          <a:bodyPr>
            <a:normAutofit/>
          </a:bodyPr>
          <a:lstStyle/>
          <a:p>
            <a:pPr marL="342900" indent="-342900">
              <a:buClr>
                <a:schemeClr val="tx2"/>
              </a:buClr>
              <a:buFont typeface="Arial" panose="020B0604020202020204" pitchFamily="34" charset="0"/>
              <a:buChar char="•"/>
            </a:pPr>
            <a:r>
              <a:rPr lang="en-US" sz="2400" dirty="0"/>
              <a:t>x86 addressing modes</a:t>
            </a:r>
          </a:p>
          <a:p>
            <a:pPr marL="342900" indent="-342900">
              <a:buClr>
                <a:schemeClr val="tx2"/>
              </a:buClr>
              <a:buFont typeface="Arial" panose="020B0604020202020204" pitchFamily="34" charset="0"/>
              <a:buChar char="•"/>
            </a:pPr>
            <a:r>
              <a:rPr lang="en-US" sz="2400" dirty="0"/>
              <a:t>ARM addressing modes</a:t>
            </a:r>
          </a:p>
          <a:p>
            <a:pPr marL="342900" indent="-342900">
              <a:buClr>
                <a:schemeClr val="tx2"/>
              </a:buClr>
              <a:buFont typeface="Arial" panose="020B0604020202020204" pitchFamily="34" charset="0"/>
              <a:buChar char="•"/>
            </a:pPr>
            <a:r>
              <a:rPr lang="en-US" sz="2400" dirty="0"/>
              <a:t>Instruction formats</a:t>
            </a:r>
          </a:p>
          <a:p>
            <a:pPr marL="736600" lvl="1" indent="-357188">
              <a:buClr>
                <a:schemeClr val="tx2"/>
              </a:buClr>
              <a:buFont typeface="Arial" panose="020B0604020202020204" pitchFamily="34" charset="0"/>
              <a:buChar char="–"/>
            </a:pPr>
            <a:r>
              <a:rPr lang="en-US" sz="2000" dirty="0"/>
              <a:t>Instruction length</a:t>
            </a:r>
          </a:p>
          <a:p>
            <a:pPr marL="736600" lvl="1" indent="-357188">
              <a:buClr>
                <a:schemeClr val="tx2"/>
              </a:buClr>
              <a:buFont typeface="Arial" panose="020B0604020202020204" pitchFamily="34" charset="0"/>
              <a:buChar char="–"/>
            </a:pPr>
            <a:r>
              <a:rPr lang="en-US" sz="2000" dirty="0"/>
              <a:t>Allocation of bits</a:t>
            </a:r>
          </a:p>
          <a:p>
            <a:pPr marL="736600" lvl="1" indent="-357188">
              <a:buClr>
                <a:schemeClr val="tx2"/>
              </a:buClr>
              <a:buFont typeface="Arial" panose="020B0604020202020204" pitchFamily="34" charset="0"/>
              <a:buChar char="–"/>
            </a:pPr>
            <a:r>
              <a:rPr lang="en-US" sz="2000" dirty="0"/>
              <a:t>Variable-length instructions</a:t>
            </a:r>
          </a:p>
          <a:p>
            <a:pPr marL="342900" indent="-342900">
              <a:buClr>
                <a:schemeClr val="tx2"/>
              </a:buClr>
              <a:buFont typeface="Arial" panose="020B0604020202020204" pitchFamily="34" charset="0"/>
              <a:buChar char="•"/>
            </a:pPr>
            <a:r>
              <a:rPr lang="en-US" sz="2400" dirty="0"/>
              <a:t>X86 instruction formats</a:t>
            </a:r>
          </a:p>
          <a:p>
            <a:pPr marL="342900" indent="-342900">
              <a:buClr>
                <a:schemeClr val="tx2"/>
              </a:buClr>
              <a:buFont typeface="Arial" panose="020B0604020202020204" pitchFamily="34" charset="0"/>
              <a:buChar char="•"/>
            </a:pPr>
            <a:r>
              <a:rPr lang="en-US" sz="2400" dirty="0"/>
              <a:t>ARM instruction formats</a:t>
            </a:r>
          </a:p>
        </p:txBody>
      </p:sp>
    </p:spTree>
    <p:extLst>
      <p:ext uri="{BB962C8B-B14F-4D97-AF65-F5344CB8AC3E}">
        <p14:creationId xmlns:p14="http://schemas.microsoft.com/office/powerpoint/2010/main" val="372638919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itle 4"/>
          <p:cNvSpPr txBox="1">
            <a:spLocks noGrp="1"/>
          </p:cNvSpPr>
          <p:nvPr>
            <p:ph type="title"/>
          </p:nvPr>
        </p:nvSpPr>
        <p:spPr>
          <a:xfrm>
            <a:off x="457200" y="273650"/>
            <a:ext cx="8229600" cy="1096963"/>
          </a:xfrm>
        </p:spPr>
        <p:txBody>
          <a:bodyPr/>
          <a:lstStyle/>
          <a:p>
            <a:pPr>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Copyright</a:t>
            </a:r>
          </a:p>
        </p:txBody>
      </p:sp>
      <p:pic>
        <p:nvPicPr>
          <p:cNvPr id="12185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675" y="2319338"/>
            <a:ext cx="8248650" cy="269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860" name="TextBox 6"/>
          <p:cNvSpPr txBox="1">
            <a:spLocks noChangeArrowheads="1"/>
          </p:cNvSpPr>
          <p:nvPr/>
        </p:nvSpPr>
        <p:spPr bwMode="auto">
          <a:xfrm>
            <a:off x="1430338" y="2625725"/>
            <a:ext cx="6826250" cy="203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This work is protected by United States copyright laws and is provided solely</a:t>
            </a:r>
            <a:b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b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for the use of instructions in teaching their courses and assessing student</a:t>
            </a:r>
            <a:b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b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learning. dissemination or sale of any part of this work (including on the</a:t>
            </a:r>
            <a:b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b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World Wide Web) will destroy the integrity of the work and is not permit-</a:t>
            </a:r>
            <a:b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b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ted. The work and materials from it should never be made available to</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students except by instructors using the accompanying text in their</a:t>
            </a:r>
            <a:b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b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classes. All recipients of this work are expected to abide by these</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restrictions and to honor the intended pedagogical purposes and the needs of</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other instructors who rely on these materials.</a:t>
            </a:r>
            <a:endParaRPr kumimoji="0" lang="en-IN"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endParaRPr>
          </a:p>
        </p:txBody>
      </p:sp>
    </p:spTree>
    <p:extLst>
      <p:ext uri="{BB962C8B-B14F-4D97-AF65-F5344CB8AC3E}">
        <p14:creationId xmlns:p14="http://schemas.microsoft.com/office/powerpoint/2010/main" val="3219777131"/>
      </p:ext>
    </p:extLst>
  </p:cSld>
  <p:clrMapOvr>
    <a:masterClrMapping/>
  </p:clrMapOvr>
</p:sld>
</file>

<file path=ppt/theme/theme1.xml><?xml version="1.0" encoding="utf-8"?>
<a:theme xmlns:a="http://schemas.openxmlformats.org/drawingml/2006/main" name="2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Advantage.thmx</Template>
  <TotalTime>8971</TotalTime>
  <Words>24543</Words>
  <Application>Microsoft Office PowerPoint</Application>
  <PresentationFormat>On-screen Show (4:3)</PresentationFormat>
  <Paragraphs>2009</Paragraphs>
  <Slides>86</Slides>
  <Notes>79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86</vt:i4>
      </vt:variant>
    </vt:vector>
  </HeadingPairs>
  <TitlesOfParts>
    <vt:vector size="94" baseType="lpstr">
      <vt:lpstr>Noto Sans Symbols</vt:lpstr>
      <vt:lpstr>Arial</vt:lpstr>
      <vt:lpstr>Cambria Math</vt:lpstr>
      <vt:lpstr>Rockwell</vt:lpstr>
      <vt:lpstr>Times New Roman</vt:lpstr>
      <vt:lpstr>Verdana</vt:lpstr>
      <vt:lpstr>Wingdings</vt:lpstr>
      <vt:lpstr>2_508 Lecture</vt:lpstr>
      <vt:lpstr>Computer Organization and Architecture Designing for Performance</vt:lpstr>
      <vt:lpstr>Machine Instruction Characteristics</vt:lpstr>
      <vt:lpstr>Figure 13.1  Instruction Cycle State Diagram</vt:lpstr>
      <vt:lpstr>Source and result operands can be in one of four areas:</vt:lpstr>
      <vt:lpstr>Figure 13.2  A Simple Instruction Format</vt:lpstr>
      <vt:lpstr>Instruction Representation</vt:lpstr>
      <vt:lpstr>Instruction Types</vt:lpstr>
      <vt:lpstr>Figure 13.3  Programs to Execute Y = (A – B)/(C + (DE))</vt:lpstr>
      <vt:lpstr>Table 13.1  Utilization of Instruction Addresses (Nonbranching Instructions)</vt:lpstr>
      <vt:lpstr>Instruction Set Design</vt:lpstr>
      <vt:lpstr>Types of Operands</vt:lpstr>
      <vt:lpstr>Numbers </vt:lpstr>
      <vt:lpstr>Characters </vt:lpstr>
      <vt:lpstr>Logical Data</vt:lpstr>
      <vt:lpstr>x86 and ARM Data Types </vt:lpstr>
      <vt:lpstr>Types of Operations</vt:lpstr>
      <vt:lpstr>Data Transfer</vt:lpstr>
      <vt:lpstr>Table 13.5  Examples of IBM EAS/390 Data Transfer Operations</vt:lpstr>
      <vt:lpstr>Arithmetic</vt:lpstr>
      <vt:lpstr>Table 13.6  Basic Logical Operations</vt:lpstr>
      <vt:lpstr>Figure 13.6 Shift and Rotate Operations</vt:lpstr>
      <vt:lpstr>Table 13.7 Examples of Shift and Rotate Operations</vt:lpstr>
      <vt:lpstr>Conversion</vt:lpstr>
      <vt:lpstr>Input/Output</vt:lpstr>
      <vt:lpstr>System Control</vt:lpstr>
      <vt:lpstr>Transfer of Control</vt:lpstr>
      <vt:lpstr>Figure 13.7  Branch Instructions</vt:lpstr>
      <vt:lpstr>Procedure Call Instructions</vt:lpstr>
      <vt:lpstr>Figure 13.8 Nested Procedures</vt:lpstr>
      <vt:lpstr>Figure 13.9  Use of Stack to Implement Nested Subroutines of Figure 13.8</vt:lpstr>
      <vt:lpstr>Figure 13.10 Stack Frame Growth Using Sample Procedures P and Q</vt:lpstr>
      <vt:lpstr>x86 and ARM Operation Types </vt:lpstr>
      <vt:lpstr>Addressing Modes</vt:lpstr>
      <vt:lpstr>Immediate Addressing</vt:lpstr>
      <vt:lpstr>Direct Addressing</vt:lpstr>
      <vt:lpstr>Indirect Addressing</vt:lpstr>
      <vt:lpstr>Register Addressing</vt:lpstr>
      <vt:lpstr>Register Indirect Addressing</vt:lpstr>
      <vt:lpstr>Displacement Addressing</vt:lpstr>
      <vt:lpstr>Relative Addressing</vt:lpstr>
      <vt:lpstr>Base-Register Addressing</vt:lpstr>
      <vt:lpstr>Indexing</vt:lpstr>
      <vt:lpstr>Stack Addressing</vt:lpstr>
      <vt:lpstr>Figure 14.1  Addressing Modes</vt:lpstr>
      <vt:lpstr>Table 14.1  Basic Addressing Modes</vt:lpstr>
      <vt:lpstr>x86 and ARM Addressing Mode</vt:lpstr>
      <vt:lpstr>Instruction Formats</vt:lpstr>
      <vt:lpstr>Instruction Length</vt:lpstr>
      <vt:lpstr>Allocation of Bits</vt:lpstr>
      <vt:lpstr>PDP, VAX, x86 and ARM  Instruction Formats</vt:lpstr>
      <vt:lpstr>Additional Notes on x86 and ARM </vt:lpstr>
      <vt:lpstr>Table 13.2  x86 Data Types</vt:lpstr>
      <vt:lpstr>Figure 13.4  x86 Numeric Data Formats</vt:lpstr>
      <vt:lpstr>Single-Instruction-Multiple-Data (SIMD) Data Types</vt:lpstr>
      <vt:lpstr>ARM Data Types</vt:lpstr>
      <vt:lpstr>Figure 13.5  ARM Endian Support—Word Load/Store with E-Bit</vt:lpstr>
      <vt:lpstr>Table 13.3  Common x86 Instruction Set Operations (1 of 3)</vt:lpstr>
      <vt:lpstr>Table 13.3  Common x86 Instruction Set Operations (2 of 3)</vt:lpstr>
      <vt:lpstr>Table 13.3  Common x86 Instruction Set Operations (3 of 3)</vt:lpstr>
      <vt:lpstr>x86 Operation Types</vt:lpstr>
      <vt:lpstr>Table 13.8  x86 Status Flags</vt:lpstr>
      <vt:lpstr>Table 13.9  x86 Condition Codes for Conditional Jump and SETcc Instructions</vt:lpstr>
      <vt:lpstr>x86 Single-Instruction, Multiple-Data (SIMD) Instructions</vt:lpstr>
      <vt:lpstr>Table 13.10  MMX Instruction Set</vt:lpstr>
      <vt:lpstr>Figure 13.11  Image Compositing on Color Plane Representation</vt:lpstr>
      <vt:lpstr>ARM Operation Types</vt:lpstr>
      <vt:lpstr>Table 13.11  ARM Conditions for Conditional Instruction Execution</vt:lpstr>
      <vt:lpstr>Figure 14.2  x86 Addressing Mode Calculation</vt:lpstr>
      <vt:lpstr>Table 14.2  x86 Addressing Modes</vt:lpstr>
      <vt:lpstr>Figure 14.3  ARM Indexing Methods</vt:lpstr>
      <vt:lpstr>ARM Data Processing Instruction Addressing and Branch Instructions</vt:lpstr>
      <vt:lpstr>Figure 14.4  ARM Load/Store Multiple Addressing</vt:lpstr>
      <vt:lpstr>Figure 14.5  PDP-8 Instruction Formats</vt:lpstr>
      <vt:lpstr>Figure 14.6  PDP-10 Instruction Format</vt:lpstr>
      <vt:lpstr>Variable-Length Instructions</vt:lpstr>
      <vt:lpstr>Figure 14.7  Instruction Formats for the PDP-11</vt:lpstr>
      <vt:lpstr>Figure 14.8  Example of VAX Instructions</vt:lpstr>
      <vt:lpstr>Figure 14.9  x86 Instruction Format</vt:lpstr>
      <vt:lpstr>Figure 14.10  ARM Instruction Formats</vt:lpstr>
      <vt:lpstr>Figure 14.11  Examples of Use of ARM Immediate Constants</vt:lpstr>
      <vt:lpstr>Figure 14.12 Expanding a Thumb ADD Instruction into its ARM Equivalent</vt:lpstr>
      <vt:lpstr>Thumb-2 Instruction Set</vt:lpstr>
      <vt:lpstr>Figure 14.13  Thumb-2 Encoding</vt:lpstr>
      <vt:lpstr>Summary</vt:lpstr>
      <vt:lpstr>Summary</vt:lpstr>
      <vt:lpstr>Copyright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 Instruction Sets</dc:title>
  <dc:creator>Adrian J Pullin</dc:creator>
  <cp:lastModifiedBy>TEY KOK SOON</cp:lastModifiedBy>
  <cp:revision>180</cp:revision>
  <dcterms:created xsi:type="dcterms:W3CDTF">2012-07-20T05:25:30Z</dcterms:created>
  <dcterms:modified xsi:type="dcterms:W3CDTF">2020-06-01T02:48:14Z</dcterms:modified>
</cp:coreProperties>
</file>