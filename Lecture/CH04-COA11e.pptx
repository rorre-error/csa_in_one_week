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2" r:id="rId1"/>
    <p:sldMasterId id="2147483712" r:id="rId2"/>
  </p:sldMasterIdLst>
  <p:notesMasterIdLst>
    <p:notesMasterId r:id="rId51"/>
  </p:notesMasterIdLst>
  <p:handoutMasterIdLst>
    <p:handoutMasterId r:id="rId52"/>
  </p:handoutMasterIdLst>
  <p:sldIdLst>
    <p:sldId id="400" r:id="rId3"/>
    <p:sldId id="365" r:id="rId4"/>
    <p:sldId id="404" r:id="rId5"/>
    <p:sldId id="257" r:id="rId6"/>
    <p:sldId id="405" r:id="rId7"/>
    <p:sldId id="260" r:id="rId8"/>
    <p:sldId id="262" r:id="rId9"/>
    <p:sldId id="355" r:id="rId10"/>
    <p:sldId id="326" r:id="rId11"/>
    <p:sldId id="406" r:id="rId12"/>
    <p:sldId id="407" r:id="rId13"/>
    <p:sldId id="368" r:id="rId14"/>
    <p:sldId id="372" r:id="rId15"/>
    <p:sldId id="369" r:id="rId16"/>
    <p:sldId id="373" r:id="rId17"/>
    <p:sldId id="370" r:id="rId18"/>
    <p:sldId id="263" r:id="rId19"/>
    <p:sldId id="264" r:id="rId20"/>
    <p:sldId id="265" r:id="rId21"/>
    <p:sldId id="259" r:id="rId22"/>
    <p:sldId id="366" r:id="rId23"/>
    <p:sldId id="375" r:id="rId24"/>
    <p:sldId id="376" r:id="rId25"/>
    <p:sldId id="269" r:id="rId26"/>
    <p:sldId id="270" r:id="rId27"/>
    <p:sldId id="271" r:id="rId28"/>
    <p:sldId id="378" r:id="rId29"/>
    <p:sldId id="274" r:id="rId30"/>
    <p:sldId id="303" r:id="rId31"/>
    <p:sldId id="277" r:id="rId32"/>
    <p:sldId id="381" r:id="rId33"/>
    <p:sldId id="292" r:id="rId34"/>
    <p:sldId id="382" r:id="rId35"/>
    <p:sldId id="281" r:id="rId36"/>
    <p:sldId id="282" r:id="rId37"/>
    <p:sldId id="384" r:id="rId38"/>
    <p:sldId id="296" r:id="rId39"/>
    <p:sldId id="298" r:id="rId40"/>
    <p:sldId id="297" r:id="rId41"/>
    <p:sldId id="299" r:id="rId42"/>
    <p:sldId id="391" r:id="rId43"/>
    <p:sldId id="392" r:id="rId44"/>
    <p:sldId id="343" r:id="rId45"/>
    <p:sldId id="344" r:id="rId46"/>
    <p:sldId id="346" r:id="rId47"/>
    <p:sldId id="386" r:id="rId48"/>
    <p:sldId id="353" r:id="rId49"/>
    <p:sldId id="403" r:id="rId5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7" userDrawn="1">
          <p15:clr>
            <a:srgbClr val="A4A3A4"/>
          </p15:clr>
        </p15:guide>
        <p15:guide id="5" pos="750" userDrawn="1">
          <p15:clr>
            <a:srgbClr val="A4A3A4"/>
          </p15:clr>
        </p15:guide>
        <p15:guide id="6" pos="947" userDrawn="1">
          <p15:clr>
            <a:srgbClr val="A4A3A4"/>
          </p15:clr>
        </p15:guide>
        <p15:guide id="7" orient="horz" pos="1071"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C6F8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23" autoAdjust="0"/>
    <p:restoredTop sz="94249" autoAdjust="0"/>
  </p:normalViewPr>
  <p:slideViewPr>
    <p:cSldViewPr>
      <p:cViewPr>
        <p:scale>
          <a:sx n="106" d="100"/>
          <a:sy n="106" d="100"/>
        </p:scale>
        <p:origin x="390" y="90"/>
      </p:cViewPr>
      <p:guideLst>
        <p:guide orient="horz" pos="2160"/>
        <p:guide pos="2880"/>
        <p:guide pos="340"/>
        <p:guide pos="567"/>
        <p:guide pos="750"/>
        <p:guide pos="947"/>
        <p:guide orient="horz" pos="1071"/>
        <p:guide orient="horz" pos="70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_rels/viewProps.xml.rels><?xml version="1.0" encoding="UTF-8" standalone="yes"?>
<Relationships xmlns="http://schemas.openxmlformats.org/package/2006/relationships"><Relationship Id="rId8" Type="http://schemas.openxmlformats.org/officeDocument/2006/relationships/slide" Target="slides/slide38.xml"/><Relationship Id="rId3" Type="http://schemas.openxmlformats.org/officeDocument/2006/relationships/slide" Target="slides/slide7.xml"/><Relationship Id="rId7" Type="http://schemas.openxmlformats.org/officeDocument/2006/relationships/slide" Target="slides/slide37.xml"/><Relationship Id="rId2" Type="http://schemas.openxmlformats.org/officeDocument/2006/relationships/slide" Target="slides/slide6.xml"/><Relationship Id="rId1" Type="http://schemas.openxmlformats.org/officeDocument/2006/relationships/slide" Target="slides/slide5.xml"/><Relationship Id="rId6" Type="http://schemas.openxmlformats.org/officeDocument/2006/relationships/slide" Target="slides/slide32.xml"/><Relationship Id="rId11" Type="http://schemas.openxmlformats.org/officeDocument/2006/relationships/slide" Target="slides/slide47.xml"/><Relationship Id="rId5" Type="http://schemas.openxmlformats.org/officeDocument/2006/relationships/slide" Target="slides/slide29.xml"/><Relationship Id="rId10" Type="http://schemas.openxmlformats.org/officeDocument/2006/relationships/slide" Target="slides/slide40.xml"/><Relationship Id="rId4" Type="http://schemas.openxmlformats.org/officeDocument/2006/relationships/slide" Target="slides/slide20.xml"/><Relationship Id="rId9"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45D47-8D5E-EF4F-9ED8-936890EC94B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A41D35A3-B306-0247-9C90-FE2FD338F566}">
      <dgm:prSet/>
      <dgm:spPr>
        <a:xfrm>
          <a:off x="0" y="0"/>
          <a:ext cx="8686800" cy="5486400"/>
        </a:xfrm>
        <a:prstGeom prst="roundRect">
          <a:avLst>
            <a:gd name="adj" fmla="val 8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The two most important characteristics of memory</a:t>
          </a:r>
        </a:p>
      </dgm:t>
    </dgm:pt>
    <dgm:pt modelId="{D1BE60B8-0963-4F46-B025-69563C2B04F0}" type="parTrans" cxnId="{67D9566B-B9BA-8649-AB7A-40E6060CBA2C}">
      <dgm:prSet/>
      <dgm:spPr/>
      <dgm:t>
        <a:bodyPr/>
        <a:lstStyle/>
        <a:p>
          <a:endParaRPr lang="en-US"/>
        </a:p>
      </dgm:t>
    </dgm:pt>
    <dgm:pt modelId="{4D21CA9D-B342-C145-9903-36C13BD31C9E}" type="sibTrans" cxnId="{67D9566B-B9BA-8649-AB7A-40E6060CBA2C}">
      <dgm:prSet/>
      <dgm:spPr/>
      <dgm:t>
        <a:bodyPr/>
        <a:lstStyle/>
        <a:p>
          <a:endParaRPr lang="en-US"/>
        </a:p>
      </dgm:t>
    </dgm:pt>
    <dgm:pt modelId="{86657987-5D7D-9145-9B7A-F752208AD897}">
      <dgm:prSet custT="1"/>
      <dgm:spPr>
        <a:xfrm>
          <a:off x="217170" y="1371600"/>
          <a:ext cx="8252460" cy="3840480"/>
        </a:xfrm>
        <a:prstGeom prst="roundRect">
          <a:avLst>
            <a:gd name="adj" fmla="val 10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endParaRPr lang="en-US" sz="2000" dirty="0">
            <a:solidFill>
              <a:sysClr val="window" lastClr="FFFFFF"/>
            </a:solidFill>
            <a:latin typeface="Rockwell"/>
            <a:ea typeface="+mn-ea"/>
            <a:cs typeface="+mn-cs"/>
          </a:endParaRPr>
        </a:p>
        <a:p>
          <a:pPr rtl="0"/>
          <a:r>
            <a:rPr lang="en-US" sz="3000" dirty="0">
              <a:solidFill>
                <a:sysClr val="window" lastClr="FFFFFF"/>
              </a:solidFill>
              <a:latin typeface="Rockwell"/>
              <a:ea typeface="+mn-ea"/>
              <a:cs typeface="+mn-cs"/>
            </a:rPr>
            <a:t>Three performance parameters are used:</a:t>
          </a:r>
        </a:p>
      </dgm:t>
    </dgm:pt>
    <dgm:pt modelId="{602B3695-5FF0-9C4A-B946-F15B2FB28D16}" type="parTrans" cxnId="{EFE69842-B030-B54C-A174-D400E1F6B7B1}">
      <dgm:prSet/>
      <dgm:spPr/>
      <dgm:t>
        <a:bodyPr/>
        <a:lstStyle/>
        <a:p>
          <a:endParaRPr lang="en-US"/>
        </a:p>
      </dgm:t>
    </dgm:pt>
    <dgm:pt modelId="{5ED105F6-1A94-EE4F-911E-E0F216E124A5}" type="sibTrans" cxnId="{EFE69842-B030-B54C-A174-D400E1F6B7B1}">
      <dgm:prSet/>
      <dgm:spPr/>
      <dgm:t>
        <a:bodyPr/>
        <a:lstStyle/>
        <a:p>
          <a:endParaRPr lang="en-US"/>
        </a:p>
      </dgm:t>
    </dgm:pt>
    <dgm:pt modelId="{CF384916-2EBE-C047-B176-DAD9E34690A4}">
      <dgm:prSet/>
      <dgm:spPr>
        <a:xfrm>
          <a:off x="423481"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GB" dirty="0">
              <a:solidFill>
                <a:sysClr val="windowText" lastClr="000000">
                  <a:hueOff val="0"/>
                  <a:satOff val="0"/>
                  <a:lumOff val="0"/>
                  <a:alphaOff val="0"/>
                </a:sysClr>
              </a:solidFill>
              <a:latin typeface="Rockwell"/>
              <a:ea typeface="+mn-ea"/>
              <a:cs typeface="+mn-cs"/>
            </a:rPr>
            <a:t>Access time (latency)</a:t>
          </a:r>
        </a:p>
      </dgm:t>
    </dgm:pt>
    <dgm:pt modelId="{4691FD66-CC92-AF49-9FA8-89E7ADDE426E}" type="parTrans" cxnId="{1EFD4954-79F2-5A41-ABFB-49CAF963DDCF}">
      <dgm:prSet/>
      <dgm:spPr/>
      <dgm:t>
        <a:bodyPr/>
        <a:lstStyle/>
        <a:p>
          <a:endParaRPr lang="en-US"/>
        </a:p>
      </dgm:t>
    </dgm:pt>
    <dgm:pt modelId="{6C69B0F2-86D0-BE49-B377-295A6A39A971}" type="sibTrans" cxnId="{1EFD4954-79F2-5A41-ABFB-49CAF963DDCF}">
      <dgm:prSet/>
      <dgm:spPr/>
      <dgm:t>
        <a:bodyPr/>
        <a:lstStyle/>
        <a:p>
          <a:endParaRPr lang="en-US"/>
        </a:p>
      </dgm:t>
    </dgm:pt>
    <dgm:pt modelId="{317CB85F-1C30-8E43-8C90-8E62399E8176}">
      <dgm:prSet/>
      <dgm:spPr>
        <a:xfrm>
          <a:off x="423481"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For random-access memory it is the time it takes to perform a read or write operation</a:t>
          </a:r>
        </a:p>
      </dgm:t>
    </dgm:pt>
    <dgm:pt modelId="{EE8EDB02-BC91-964C-A351-6CEF0F3A0FB9}" type="parTrans" cxnId="{E624E411-7403-6F4A-8733-5F67BF7E579E}">
      <dgm:prSet/>
      <dgm:spPr/>
      <dgm:t>
        <a:bodyPr/>
        <a:lstStyle/>
        <a:p>
          <a:endParaRPr lang="en-US"/>
        </a:p>
      </dgm:t>
    </dgm:pt>
    <dgm:pt modelId="{7841D5F3-1D0E-3249-9335-D18CCF73B93D}" type="sibTrans" cxnId="{E624E411-7403-6F4A-8733-5F67BF7E579E}">
      <dgm:prSet/>
      <dgm:spPr/>
      <dgm:t>
        <a:bodyPr/>
        <a:lstStyle/>
        <a:p>
          <a:endParaRPr lang="en-US"/>
        </a:p>
      </dgm:t>
    </dgm:pt>
    <dgm:pt modelId="{7408E672-E96F-5941-8BBA-E8B5E346BAA1}">
      <dgm:prSet/>
      <dgm:spPr>
        <a:xfrm>
          <a:off x="423481"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For non-random-access memory it is the time it takes to position the read-write mechanism at the desired location</a:t>
          </a:r>
        </a:p>
      </dgm:t>
    </dgm:pt>
    <dgm:pt modelId="{B89F4393-BF34-0040-A33A-9871583F5B3F}" type="parTrans" cxnId="{C0830C1F-53BF-0342-82F9-6DF09C874BF1}">
      <dgm:prSet/>
      <dgm:spPr/>
      <dgm:t>
        <a:bodyPr/>
        <a:lstStyle/>
        <a:p>
          <a:endParaRPr lang="en-US"/>
        </a:p>
      </dgm:t>
    </dgm:pt>
    <dgm:pt modelId="{A797B638-1219-7E40-B797-3853F4F7CF99}" type="sibTrans" cxnId="{C0830C1F-53BF-0342-82F9-6DF09C874BF1}">
      <dgm:prSet/>
      <dgm:spPr/>
      <dgm:t>
        <a:bodyPr/>
        <a:lstStyle/>
        <a:p>
          <a:endParaRPr lang="en-US"/>
        </a:p>
      </dgm:t>
    </dgm:pt>
    <dgm:pt modelId="{4BB96DB0-F8CB-0D43-B5F2-EE804536328D}">
      <dgm:prSet custT="1"/>
      <dgm:spPr>
        <a:xfrm>
          <a:off x="3050358" y="2971798"/>
          <a:ext cx="2583930" cy="1984251"/>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400" dirty="0">
              <a:solidFill>
                <a:sysClr val="windowText" lastClr="000000">
                  <a:hueOff val="0"/>
                  <a:satOff val="0"/>
                  <a:lumOff val="0"/>
                  <a:alphaOff val="0"/>
                </a:sysClr>
              </a:solidFill>
              <a:latin typeface="Rockwell"/>
              <a:ea typeface="+mn-ea"/>
              <a:cs typeface="+mn-cs"/>
            </a:rPr>
            <a:t>Memory cycle time</a:t>
          </a:r>
        </a:p>
      </dgm:t>
    </dgm:pt>
    <dgm:pt modelId="{DA145010-1BC5-4A47-8C0F-5A2A26315F5D}" type="parTrans" cxnId="{F7FB9BBA-CCBB-DF45-9564-D777DFD59F03}">
      <dgm:prSet/>
      <dgm:spPr/>
      <dgm:t>
        <a:bodyPr/>
        <a:lstStyle/>
        <a:p>
          <a:endParaRPr lang="en-US"/>
        </a:p>
      </dgm:t>
    </dgm:pt>
    <dgm:pt modelId="{A6CFE9F4-7A7B-2C44-8271-BE68A2567E01}" type="sibTrans" cxnId="{F7FB9BBA-CCBB-DF45-9564-D777DFD59F03}">
      <dgm:prSet/>
      <dgm:spPr/>
      <dgm:t>
        <a:bodyPr/>
        <a:lstStyle/>
        <a:p>
          <a:endParaRPr lang="en-US"/>
        </a:p>
      </dgm:t>
    </dgm:pt>
    <dgm:pt modelId="{D60B39AF-5EB9-C047-98BC-FC39BA3364E4}">
      <dgm:prSet custT="1"/>
      <dgm:spPr>
        <a:xfrm>
          <a:off x="3050358" y="2971798"/>
          <a:ext cx="2583930" cy="1984251"/>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100" dirty="0">
              <a:solidFill>
                <a:sysClr val="windowText" lastClr="000000">
                  <a:hueOff val="0"/>
                  <a:satOff val="0"/>
                  <a:lumOff val="0"/>
                  <a:alphaOff val="0"/>
                </a:sysClr>
              </a:solidFill>
              <a:latin typeface="Rockwell"/>
              <a:ea typeface="+mn-ea"/>
              <a:cs typeface="+mn-cs"/>
            </a:rPr>
            <a:t>Access time plus any additional time required before second access can commence</a:t>
          </a:r>
        </a:p>
      </dgm:t>
    </dgm:pt>
    <dgm:pt modelId="{5E97EA38-D1A0-1B43-8B27-53638AEBE5C5}" type="parTrans" cxnId="{024C89BA-7E9F-174A-BBC7-3186A108E4E6}">
      <dgm:prSet/>
      <dgm:spPr/>
      <dgm:t>
        <a:bodyPr/>
        <a:lstStyle/>
        <a:p>
          <a:endParaRPr lang="en-US"/>
        </a:p>
      </dgm:t>
    </dgm:pt>
    <dgm:pt modelId="{3E176711-D759-2242-93D1-C0B062B3A17C}" type="sibTrans" cxnId="{024C89BA-7E9F-174A-BBC7-3186A108E4E6}">
      <dgm:prSet/>
      <dgm:spPr/>
      <dgm:t>
        <a:bodyPr/>
        <a:lstStyle/>
        <a:p>
          <a:endParaRPr lang="en-US"/>
        </a:p>
      </dgm:t>
    </dgm:pt>
    <dgm:pt modelId="{9498714A-5D09-AE4D-81B2-F8F2997E0A84}">
      <dgm:prSet custT="1"/>
      <dgm:spPr>
        <a:xfrm>
          <a:off x="3050358" y="2971798"/>
          <a:ext cx="2583930" cy="1984251"/>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100" dirty="0">
              <a:solidFill>
                <a:sysClr val="windowText" lastClr="000000">
                  <a:hueOff val="0"/>
                  <a:satOff val="0"/>
                  <a:lumOff val="0"/>
                  <a:alphaOff val="0"/>
                </a:sysClr>
              </a:solidFill>
              <a:latin typeface="Rockwell"/>
              <a:ea typeface="+mn-ea"/>
              <a:cs typeface="+mn-cs"/>
            </a:rPr>
            <a:t>Additional time may be required for transients to die out on signal lines or to regenerate data if they are read destructively</a:t>
          </a:r>
        </a:p>
      </dgm:t>
    </dgm:pt>
    <dgm:pt modelId="{51AEF564-2A4F-774E-A6BF-9C5BB7C7BA51}" type="parTrans" cxnId="{582BB5E4-E826-2E4C-8F7E-3AF94691565F}">
      <dgm:prSet/>
      <dgm:spPr/>
      <dgm:t>
        <a:bodyPr/>
        <a:lstStyle/>
        <a:p>
          <a:endParaRPr lang="en-US"/>
        </a:p>
      </dgm:t>
    </dgm:pt>
    <dgm:pt modelId="{647066E6-D48E-7540-80CC-0AC22D7E35BC}" type="sibTrans" cxnId="{582BB5E4-E826-2E4C-8F7E-3AF94691565F}">
      <dgm:prSet/>
      <dgm:spPr/>
      <dgm:t>
        <a:bodyPr/>
        <a:lstStyle/>
        <a:p>
          <a:endParaRPr lang="en-US"/>
        </a:p>
      </dgm:t>
    </dgm:pt>
    <dgm:pt modelId="{17DFE561-8622-9F49-AD32-92661BDD5157}">
      <dgm:prSet custT="1"/>
      <dgm:spPr>
        <a:xfrm>
          <a:off x="3050358" y="2971798"/>
          <a:ext cx="2583930" cy="1984251"/>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100" dirty="0">
              <a:solidFill>
                <a:sysClr val="windowText" lastClr="000000">
                  <a:hueOff val="0"/>
                  <a:satOff val="0"/>
                  <a:lumOff val="0"/>
                  <a:alphaOff val="0"/>
                </a:sysClr>
              </a:solidFill>
              <a:latin typeface="Rockwell"/>
              <a:ea typeface="+mn-ea"/>
              <a:cs typeface="+mn-cs"/>
            </a:rPr>
            <a:t>Concerned with the system bus, not the processor</a:t>
          </a:r>
        </a:p>
      </dgm:t>
    </dgm:pt>
    <dgm:pt modelId="{2917BF63-F96B-4646-A238-694B5CE16ADB}" type="parTrans" cxnId="{19FBFDAF-CE6E-0E4D-A368-CE236325F355}">
      <dgm:prSet/>
      <dgm:spPr/>
      <dgm:t>
        <a:bodyPr/>
        <a:lstStyle/>
        <a:p>
          <a:endParaRPr lang="en-US"/>
        </a:p>
      </dgm:t>
    </dgm:pt>
    <dgm:pt modelId="{00068B92-6255-9847-84BD-929767462738}" type="sibTrans" cxnId="{19FBFDAF-CE6E-0E4D-A368-CE236325F355}">
      <dgm:prSet/>
      <dgm:spPr/>
      <dgm:t>
        <a:bodyPr/>
        <a:lstStyle/>
        <a:p>
          <a:endParaRPr lang="en-US"/>
        </a:p>
      </dgm:t>
    </dgm:pt>
    <dgm:pt modelId="{6F299D02-4724-A74A-AA67-D410C5ECB300}">
      <dgm:prSet/>
      <dgm:spPr>
        <a:xfrm>
          <a:off x="5677235"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Transfer rate</a:t>
          </a:r>
        </a:p>
      </dgm:t>
    </dgm:pt>
    <dgm:pt modelId="{126EB937-125C-3645-A822-00222F561300}" type="parTrans" cxnId="{0190996B-7D1A-0642-9595-9C104F6DAD68}">
      <dgm:prSet/>
      <dgm:spPr/>
      <dgm:t>
        <a:bodyPr/>
        <a:lstStyle/>
        <a:p>
          <a:endParaRPr lang="en-US"/>
        </a:p>
      </dgm:t>
    </dgm:pt>
    <dgm:pt modelId="{0CB6D00F-8917-7D41-93CF-8AB361ABE8CC}" type="sibTrans" cxnId="{0190996B-7D1A-0642-9595-9C104F6DAD68}">
      <dgm:prSet/>
      <dgm:spPr/>
      <dgm:t>
        <a:bodyPr/>
        <a:lstStyle/>
        <a:p>
          <a:endParaRPr lang="en-US"/>
        </a:p>
      </dgm:t>
    </dgm:pt>
    <dgm:pt modelId="{E762937F-2561-A44B-8C95-94BA8C9C4617}">
      <dgm:prSet/>
      <dgm:spPr>
        <a:xfrm>
          <a:off x="5677235"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The rate at which data can be transferred into or out of a memory unit</a:t>
          </a:r>
        </a:p>
      </dgm:t>
    </dgm:pt>
    <dgm:pt modelId="{341C858B-B1A1-9C4F-A648-D1C7100925DC}" type="parTrans" cxnId="{249E08D8-A514-CD4F-B569-5825518BE2CA}">
      <dgm:prSet/>
      <dgm:spPr/>
      <dgm:t>
        <a:bodyPr/>
        <a:lstStyle/>
        <a:p>
          <a:endParaRPr lang="en-US"/>
        </a:p>
      </dgm:t>
    </dgm:pt>
    <dgm:pt modelId="{89B4B04F-DAD4-9747-908B-925408933E39}" type="sibTrans" cxnId="{249E08D8-A514-CD4F-B569-5825518BE2CA}">
      <dgm:prSet/>
      <dgm:spPr/>
      <dgm:t>
        <a:bodyPr/>
        <a:lstStyle/>
        <a:p>
          <a:endParaRPr lang="en-US"/>
        </a:p>
      </dgm:t>
    </dgm:pt>
    <dgm:pt modelId="{A6F1DB38-E56A-BA4B-B780-FA6EDBD930C8}">
      <dgm:prSet/>
      <dgm:spPr>
        <a:xfrm>
          <a:off x="5677235" y="3099816"/>
          <a:ext cx="2583930" cy="1728216"/>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For random-access memory it is equal to 1/(cycle time)</a:t>
          </a:r>
        </a:p>
      </dgm:t>
    </dgm:pt>
    <dgm:pt modelId="{B09454DD-B16C-EA4E-98F7-131AA262A6FB}" type="parTrans" cxnId="{B26D4589-7F37-3648-A3E1-183DF5637DB3}">
      <dgm:prSet/>
      <dgm:spPr/>
      <dgm:t>
        <a:bodyPr/>
        <a:lstStyle/>
        <a:p>
          <a:endParaRPr lang="en-US"/>
        </a:p>
      </dgm:t>
    </dgm:pt>
    <dgm:pt modelId="{C04873EF-9610-C44F-BC9D-6C3FAB7D6212}" type="sibTrans" cxnId="{B26D4589-7F37-3648-A3E1-183DF5637DB3}">
      <dgm:prSet/>
      <dgm:spPr/>
      <dgm:t>
        <a:bodyPr/>
        <a:lstStyle/>
        <a:p>
          <a:endParaRPr lang="en-US"/>
        </a:p>
      </dgm:t>
    </dgm:pt>
    <dgm:pt modelId="{8DC7E3E3-3F49-9048-9468-3382299E881D}" type="pres">
      <dgm:prSet presAssocID="{63345D47-8D5E-EF4F-9ED8-936890EC94B5}" presName="Name0" presStyleCnt="0">
        <dgm:presLayoutVars>
          <dgm:chMax val="3"/>
          <dgm:chPref val="1"/>
          <dgm:dir/>
          <dgm:animLvl val="lvl"/>
          <dgm:resizeHandles/>
        </dgm:presLayoutVars>
      </dgm:prSet>
      <dgm:spPr/>
    </dgm:pt>
    <dgm:pt modelId="{C1C62E5A-EAEF-CE4A-8117-2DB3BEFFE3F4}" type="pres">
      <dgm:prSet presAssocID="{63345D47-8D5E-EF4F-9ED8-936890EC94B5}" presName="outerBox" presStyleCnt="0"/>
      <dgm:spPr/>
    </dgm:pt>
    <dgm:pt modelId="{13077C67-B24F-6A49-8EF8-E21AE295BA78}" type="pres">
      <dgm:prSet presAssocID="{63345D47-8D5E-EF4F-9ED8-936890EC94B5}" presName="outerBoxParent" presStyleLbl="node1" presStyleIdx="0" presStyleCnt="2"/>
      <dgm:spPr/>
    </dgm:pt>
    <dgm:pt modelId="{B733473D-D397-8C49-8CDA-15216272C145}" type="pres">
      <dgm:prSet presAssocID="{63345D47-8D5E-EF4F-9ED8-936890EC94B5}" presName="outerBoxChildren" presStyleCnt="0"/>
      <dgm:spPr/>
    </dgm:pt>
    <dgm:pt modelId="{D95F7024-0289-E042-84D4-642341566593}" type="pres">
      <dgm:prSet presAssocID="{63345D47-8D5E-EF4F-9ED8-936890EC94B5}" presName="middleBox" presStyleCnt="0"/>
      <dgm:spPr/>
    </dgm:pt>
    <dgm:pt modelId="{8A95A152-734B-A745-AAE7-3D32D8C60BCF}" type="pres">
      <dgm:prSet presAssocID="{63345D47-8D5E-EF4F-9ED8-936890EC94B5}" presName="middleBoxParent" presStyleLbl="node1" presStyleIdx="1" presStyleCnt="2"/>
      <dgm:spPr/>
    </dgm:pt>
    <dgm:pt modelId="{1F5364B3-A8EB-4B44-A950-38E11751855D}" type="pres">
      <dgm:prSet presAssocID="{63345D47-8D5E-EF4F-9ED8-936890EC94B5}" presName="middleBoxChildren" presStyleCnt="0"/>
      <dgm:spPr/>
    </dgm:pt>
    <dgm:pt modelId="{4DC5D986-59BC-1740-AC0E-735CF97CB45C}" type="pres">
      <dgm:prSet presAssocID="{CF384916-2EBE-C047-B176-DAD9E34690A4}" presName="mChild" presStyleLbl="fgAcc1" presStyleIdx="0" presStyleCnt="3">
        <dgm:presLayoutVars>
          <dgm:bulletEnabled val="1"/>
        </dgm:presLayoutVars>
      </dgm:prSet>
      <dgm:spPr/>
    </dgm:pt>
    <dgm:pt modelId="{37B0377C-E376-2541-BAA2-7EE7D8DF01DB}" type="pres">
      <dgm:prSet presAssocID="{6C69B0F2-86D0-BE49-B377-295A6A39A971}" presName="middleSibTrans" presStyleCnt="0"/>
      <dgm:spPr/>
    </dgm:pt>
    <dgm:pt modelId="{DCA2CBFE-8F07-BB4E-8414-CF97B200D168}" type="pres">
      <dgm:prSet presAssocID="{4BB96DB0-F8CB-0D43-B5F2-EE804536328D}" presName="mChild" presStyleLbl="fgAcc1" presStyleIdx="1" presStyleCnt="3" custScaleY="114815">
        <dgm:presLayoutVars>
          <dgm:bulletEnabled val="1"/>
        </dgm:presLayoutVars>
      </dgm:prSet>
      <dgm:spPr/>
    </dgm:pt>
    <dgm:pt modelId="{C8A02842-43F0-EE40-BD4B-3A0DC53468D2}" type="pres">
      <dgm:prSet presAssocID="{A6CFE9F4-7A7B-2C44-8271-BE68A2567E01}" presName="middleSibTrans" presStyleCnt="0"/>
      <dgm:spPr/>
    </dgm:pt>
    <dgm:pt modelId="{8D7CAF80-BCAD-AF40-83EC-CA9E025213FC}" type="pres">
      <dgm:prSet presAssocID="{6F299D02-4724-A74A-AA67-D410C5ECB300}" presName="mChild" presStyleLbl="fgAcc1" presStyleIdx="2" presStyleCnt="3">
        <dgm:presLayoutVars>
          <dgm:bulletEnabled val="1"/>
        </dgm:presLayoutVars>
      </dgm:prSet>
      <dgm:spPr/>
    </dgm:pt>
  </dgm:ptLst>
  <dgm:cxnLst>
    <dgm:cxn modelId="{FE0AF508-0746-304A-8066-DA7DB54E7139}" type="presOf" srcId="{D60B39AF-5EB9-C047-98BC-FC39BA3364E4}" destId="{DCA2CBFE-8F07-BB4E-8414-CF97B200D168}" srcOrd="0" destOrd="1" presId="urn:microsoft.com/office/officeart/2005/8/layout/target2"/>
    <dgm:cxn modelId="{FA106109-1866-874D-92B2-8C2DD984F321}" type="presOf" srcId="{6F299D02-4724-A74A-AA67-D410C5ECB300}" destId="{8D7CAF80-BCAD-AF40-83EC-CA9E025213FC}" srcOrd="0" destOrd="0" presId="urn:microsoft.com/office/officeart/2005/8/layout/target2"/>
    <dgm:cxn modelId="{DF701110-9429-9E48-9431-75C18C99FFCF}" type="presOf" srcId="{4BB96DB0-F8CB-0D43-B5F2-EE804536328D}" destId="{DCA2CBFE-8F07-BB4E-8414-CF97B200D168}" srcOrd="0" destOrd="0" presId="urn:microsoft.com/office/officeart/2005/8/layout/target2"/>
    <dgm:cxn modelId="{E624E411-7403-6F4A-8733-5F67BF7E579E}" srcId="{CF384916-2EBE-C047-B176-DAD9E34690A4}" destId="{317CB85F-1C30-8E43-8C90-8E62399E8176}" srcOrd="0" destOrd="0" parTransId="{EE8EDB02-BC91-964C-A351-6CEF0F3A0FB9}" sibTransId="{7841D5F3-1D0E-3249-9335-D18CCF73B93D}"/>
    <dgm:cxn modelId="{C0830C1F-53BF-0342-82F9-6DF09C874BF1}" srcId="{CF384916-2EBE-C047-B176-DAD9E34690A4}" destId="{7408E672-E96F-5941-8BBA-E8B5E346BAA1}" srcOrd="1" destOrd="0" parTransId="{B89F4393-BF34-0040-A33A-9871583F5B3F}" sibTransId="{A797B638-1219-7E40-B797-3853F4F7CF99}"/>
    <dgm:cxn modelId="{47B6ED1F-66E1-E54C-93D5-141A1C5D63B3}" type="presOf" srcId="{317CB85F-1C30-8E43-8C90-8E62399E8176}" destId="{4DC5D986-59BC-1740-AC0E-735CF97CB45C}" srcOrd="0" destOrd="1" presId="urn:microsoft.com/office/officeart/2005/8/layout/target2"/>
    <dgm:cxn modelId="{BFB0EA41-0C58-0343-BF85-B827F232F3DF}" type="presOf" srcId="{63345D47-8D5E-EF4F-9ED8-936890EC94B5}" destId="{8DC7E3E3-3F49-9048-9468-3382299E881D}" srcOrd="0" destOrd="0" presId="urn:microsoft.com/office/officeart/2005/8/layout/target2"/>
    <dgm:cxn modelId="{EFE69842-B030-B54C-A174-D400E1F6B7B1}" srcId="{63345D47-8D5E-EF4F-9ED8-936890EC94B5}" destId="{86657987-5D7D-9145-9B7A-F752208AD897}" srcOrd="1" destOrd="0" parTransId="{602B3695-5FF0-9C4A-B946-F15B2FB28D16}" sibTransId="{5ED105F6-1A94-EE4F-911E-E0F216E124A5}"/>
    <dgm:cxn modelId="{CD6B9E43-2142-4448-A638-A4EC90323A3B}" type="presOf" srcId="{86657987-5D7D-9145-9B7A-F752208AD897}" destId="{8A95A152-734B-A745-AAE7-3D32D8C60BCF}" srcOrd="0" destOrd="0" presId="urn:microsoft.com/office/officeart/2005/8/layout/target2"/>
    <dgm:cxn modelId="{67D9566B-B9BA-8649-AB7A-40E6060CBA2C}" srcId="{63345D47-8D5E-EF4F-9ED8-936890EC94B5}" destId="{A41D35A3-B306-0247-9C90-FE2FD338F566}" srcOrd="0" destOrd="0" parTransId="{D1BE60B8-0963-4F46-B025-69563C2B04F0}" sibTransId="{4D21CA9D-B342-C145-9903-36C13BD31C9E}"/>
    <dgm:cxn modelId="{844D594B-3BC1-214C-AB42-1A0306C17EB8}" type="presOf" srcId="{A6F1DB38-E56A-BA4B-B780-FA6EDBD930C8}" destId="{8D7CAF80-BCAD-AF40-83EC-CA9E025213FC}" srcOrd="0" destOrd="2" presId="urn:microsoft.com/office/officeart/2005/8/layout/target2"/>
    <dgm:cxn modelId="{0190996B-7D1A-0642-9595-9C104F6DAD68}" srcId="{86657987-5D7D-9145-9B7A-F752208AD897}" destId="{6F299D02-4724-A74A-AA67-D410C5ECB300}" srcOrd="2" destOrd="0" parTransId="{126EB937-125C-3645-A822-00222F561300}" sibTransId="{0CB6D00F-8917-7D41-93CF-8AB361ABE8CC}"/>
    <dgm:cxn modelId="{1EFD4954-79F2-5A41-ABFB-49CAF963DDCF}" srcId="{86657987-5D7D-9145-9B7A-F752208AD897}" destId="{CF384916-2EBE-C047-B176-DAD9E34690A4}" srcOrd="0" destOrd="0" parTransId="{4691FD66-CC92-AF49-9FA8-89E7ADDE426E}" sibTransId="{6C69B0F2-86D0-BE49-B377-295A6A39A971}"/>
    <dgm:cxn modelId="{B26D4589-7F37-3648-A3E1-183DF5637DB3}" srcId="{6F299D02-4724-A74A-AA67-D410C5ECB300}" destId="{A6F1DB38-E56A-BA4B-B780-FA6EDBD930C8}" srcOrd="1" destOrd="0" parTransId="{B09454DD-B16C-EA4E-98F7-131AA262A6FB}" sibTransId="{C04873EF-9610-C44F-BC9D-6C3FAB7D6212}"/>
    <dgm:cxn modelId="{DB86298D-11E2-CC4B-AA34-86BEC492E8CA}" type="presOf" srcId="{17DFE561-8622-9F49-AD32-92661BDD5157}" destId="{DCA2CBFE-8F07-BB4E-8414-CF97B200D168}" srcOrd="0" destOrd="3" presId="urn:microsoft.com/office/officeart/2005/8/layout/target2"/>
    <dgm:cxn modelId="{CB4EC598-FE95-CE49-A7B0-06DA26786786}" type="presOf" srcId="{CF384916-2EBE-C047-B176-DAD9E34690A4}" destId="{4DC5D986-59BC-1740-AC0E-735CF97CB45C}" srcOrd="0" destOrd="0" presId="urn:microsoft.com/office/officeart/2005/8/layout/target2"/>
    <dgm:cxn modelId="{90BAB2A2-87A0-CB41-BD6A-D3A4F8845299}" type="presOf" srcId="{E762937F-2561-A44B-8C95-94BA8C9C4617}" destId="{8D7CAF80-BCAD-AF40-83EC-CA9E025213FC}" srcOrd="0" destOrd="1" presId="urn:microsoft.com/office/officeart/2005/8/layout/target2"/>
    <dgm:cxn modelId="{26A531A5-09AB-9248-BBF6-9A7E62D3909F}" type="presOf" srcId="{7408E672-E96F-5941-8BBA-E8B5E346BAA1}" destId="{4DC5D986-59BC-1740-AC0E-735CF97CB45C}" srcOrd="0" destOrd="2" presId="urn:microsoft.com/office/officeart/2005/8/layout/target2"/>
    <dgm:cxn modelId="{19FBFDAF-CE6E-0E4D-A368-CE236325F355}" srcId="{4BB96DB0-F8CB-0D43-B5F2-EE804536328D}" destId="{17DFE561-8622-9F49-AD32-92661BDD5157}" srcOrd="2" destOrd="0" parTransId="{2917BF63-F96B-4646-A238-694B5CE16ADB}" sibTransId="{00068B92-6255-9847-84BD-929767462738}"/>
    <dgm:cxn modelId="{024C89BA-7E9F-174A-BBC7-3186A108E4E6}" srcId="{4BB96DB0-F8CB-0D43-B5F2-EE804536328D}" destId="{D60B39AF-5EB9-C047-98BC-FC39BA3364E4}" srcOrd="0" destOrd="0" parTransId="{5E97EA38-D1A0-1B43-8B27-53638AEBE5C5}" sibTransId="{3E176711-D759-2242-93D1-C0B062B3A17C}"/>
    <dgm:cxn modelId="{F7FB9BBA-CCBB-DF45-9564-D777DFD59F03}" srcId="{86657987-5D7D-9145-9B7A-F752208AD897}" destId="{4BB96DB0-F8CB-0D43-B5F2-EE804536328D}" srcOrd="1" destOrd="0" parTransId="{DA145010-1BC5-4A47-8C0F-5A2A26315F5D}" sibTransId="{A6CFE9F4-7A7B-2C44-8271-BE68A2567E01}"/>
    <dgm:cxn modelId="{6A0FBFC1-D4D1-6940-B898-859096250CF0}" type="presOf" srcId="{9498714A-5D09-AE4D-81B2-F8F2997E0A84}" destId="{DCA2CBFE-8F07-BB4E-8414-CF97B200D168}" srcOrd="0" destOrd="2" presId="urn:microsoft.com/office/officeart/2005/8/layout/target2"/>
    <dgm:cxn modelId="{005208CC-7AE0-FF40-8E69-0FF12B49EF88}" type="presOf" srcId="{A41D35A3-B306-0247-9C90-FE2FD338F566}" destId="{13077C67-B24F-6A49-8EF8-E21AE295BA78}" srcOrd="0" destOrd="0" presId="urn:microsoft.com/office/officeart/2005/8/layout/target2"/>
    <dgm:cxn modelId="{249E08D8-A514-CD4F-B569-5825518BE2CA}" srcId="{6F299D02-4724-A74A-AA67-D410C5ECB300}" destId="{E762937F-2561-A44B-8C95-94BA8C9C4617}" srcOrd="0" destOrd="0" parTransId="{341C858B-B1A1-9C4F-A648-D1C7100925DC}" sibTransId="{89B4B04F-DAD4-9747-908B-925408933E39}"/>
    <dgm:cxn modelId="{582BB5E4-E826-2E4C-8F7E-3AF94691565F}" srcId="{4BB96DB0-F8CB-0D43-B5F2-EE804536328D}" destId="{9498714A-5D09-AE4D-81B2-F8F2997E0A84}" srcOrd="1" destOrd="0" parTransId="{51AEF564-2A4F-774E-A6BF-9C5BB7C7BA51}" sibTransId="{647066E6-D48E-7540-80CC-0AC22D7E35BC}"/>
    <dgm:cxn modelId="{C1C33FF7-3E93-4546-A4CA-C6EC787BFBDF}" type="presParOf" srcId="{8DC7E3E3-3F49-9048-9468-3382299E881D}" destId="{C1C62E5A-EAEF-CE4A-8117-2DB3BEFFE3F4}" srcOrd="0" destOrd="0" presId="urn:microsoft.com/office/officeart/2005/8/layout/target2"/>
    <dgm:cxn modelId="{A9EBFF45-9345-274B-B696-0CBC9A105A36}" type="presParOf" srcId="{C1C62E5A-EAEF-CE4A-8117-2DB3BEFFE3F4}" destId="{13077C67-B24F-6A49-8EF8-E21AE295BA78}" srcOrd="0" destOrd="0" presId="urn:microsoft.com/office/officeart/2005/8/layout/target2"/>
    <dgm:cxn modelId="{499F04AF-6757-454D-B515-BB4E3A3B5AB4}" type="presParOf" srcId="{C1C62E5A-EAEF-CE4A-8117-2DB3BEFFE3F4}" destId="{B733473D-D397-8C49-8CDA-15216272C145}" srcOrd="1" destOrd="0" presId="urn:microsoft.com/office/officeart/2005/8/layout/target2"/>
    <dgm:cxn modelId="{FD00CA0C-1CAB-8840-9955-8AEB26A89454}" type="presParOf" srcId="{8DC7E3E3-3F49-9048-9468-3382299E881D}" destId="{D95F7024-0289-E042-84D4-642341566593}" srcOrd="1" destOrd="0" presId="urn:microsoft.com/office/officeart/2005/8/layout/target2"/>
    <dgm:cxn modelId="{4FA13E04-FC2D-AE4C-A648-B35F1031D82D}" type="presParOf" srcId="{D95F7024-0289-E042-84D4-642341566593}" destId="{8A95A152-734B-A745-AAE7-3D32D8C60BCF}" srcOrd="0" destOrd="0" presId="urn:microsoft.com/office/officeart/2005/8/layout/target2"/>
    <dgm:cxn modelId="{C01A4472-B456-AC49-868E-BAAC2971148F}" type="presParOf" srcId="{D95F7024-0289-E042-84D4-642341566593}" destId="{1F5364B3-A8EB-4B44-A950-38E11751855D}" srcOrd="1" destOrd="0" presId="urn:microsoft.com/office/officeart/2005/8/layout/target2"/>
    <dgm:cxn modelId="{DEEAC88A-0D3D-314D-BEC6-7F014CCC0252}" type="presParOf" srcId="{1F5364B3-A8EB-4B44-A950-38E11751855D}" destId="{4DC5D986-59BC-1740-AC0E-735CF97CB45C}" srcOrd="0" destOrd="0" presId="urn:microsoft.com/office/officeart/2005/8/layout/target2"/>
    <dgm:cxn modelId="{267017FA-7B20-3A49-A3F2-BC6A6B231443}" type="presParOf" srcId="{1F5364B3-A8EB-4B44-A950-38E11751855D}" destId="{37B0377C-E376-2541-BAA2-7EE7D8DF01DB}" srcOrd="1" destOrd="0" presId="urn:microsoft.com/office/officeart/2005/8/layout/target2"/>
    <dgm:cxn modelId="{A757FC87-DF2C-F24A-BC30-AED59BD631C3}" type="presParOf" srcId="{1F5364B3-A8EB-4B44-A950-38E11751855D}" destId="{DCA2CBFE-8F07-BB4E-8414-CF97B200D168}" srcOrd="2" destOrd="0" presId="urn:microsoft.com/office/officeart/2005/8/layout/target2"/>
    <dgm:cxn modelId="{6EDC7388-2DF5-2A42-8FED-E88B072A825B}" type="presParOf" srcId="{1F5364B3-A8EB-4B44-A950-38E11751855D}" destId="{C8A02842-43F0-EE40-BD4B-3A0DC53468D2}" srcOrd="3" destOrd="0" presId="urn:microsoft.com/office/officeart/2005/8/layout/target2"/>
    <dgm:cxn modelId="{94CA9281-DC6D-4E40-98C0-CAFAD357664E}" type="presParOf" srcId="{1F5364B3-A8EB-4B44-A950-38E11751855D}" destId="{8D7CAF80-BCAD-AF40-83EC-CA9E025213FC}"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8DD8FA-32BB-C04B-A3C9-B425357390F4}"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22E0863-7C5B-4248-A38E-1C454C4790C6}">
      <dgm:prSet/>
      <dgm:spPr>
        <a:xfrm>
          <a:off x="237" y="1184871"/>
          <a:ext cx="4048319" cy="1012079"/>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When a block that is resident in the cache is to be replaced there are two cases to consider:</a:t>
          </a:r>
        </a:p>
      </dgm:t>
    </dgm:pt>
    <dgm:pt modelId="{2E97AE6D-A917-9E44-A214-0770A4EFCB56}" type="parTrans" cxnId="{07B4E7E5-1C74-E042-956D-3A0D8EEB47E5}">
      <dgm:prSet/>
      <dgm:spPr/>
      <dgm:t>
        <a:bodyPr/>
        <a:lstStyle/>
        <a:p>
          <a:endParaRPr lang="en-US"/>
        </a:p>
      </dgm:t>
    </dgm:pt>
    <dgm:pt modelId="{391462BD-0051-DC4B-BE07-8562636C7355}" type="sibTrans" cxnId="{07B4E7E5-1C74-E042-956D-3A0D8EEB47E5}">
      <dgm:prSet/>
      <dgm:spPr/>
      <dgm:t>
        <a:bodyPr/>
        <a:lstStyle/>
        <a:p>
          <a:endParaRPr lang="en-US"/>
        </a:p>
      </dgm:t>
    </dgm:pt>
    <dgm:pt modelId="{6AE17495-F142-F346-8094-6C147A6707E7}">
      <dgm:prSet/>
      <dgm:spPr>
        <a:xfrm>
          <a:off x="237" y="2551179"/>
          <a:ext cx="4048319" cy="1012079"/>
        </a:xfrm>
        <a:prstGeom prst="roundRect">
          <a:avLst>
            <a:gd name="adj" fmla="val 10000"/>
          </a:avLst>
        </a:prstGeom>
        <a:solidFill>
          <a:srgbClr val="663366">
            <a:alpha val="90000"/>
            <a:tint val="40000"/>
            <a:hueOff val="0"/>
            <a:satOff val="0"/>
            <a:lumOff val="0"/>
            <a:alphaOff val="0"/>
          </a:srgbClr>
        </a:solidFill>
        <a:ln w="12700" cap="flat" cmpd="sng" algn="ctr">
          <a:solidFill>
            <a:srgbClr val="999966"/>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If the old block in the cache has not been altered then it may be overwritten with a new block without first writing out the old block</a:t>
          </a:r>
        </a:p>
      </dgm:t>
    </dgm:pt>
    <dgm:pt modelId="{32AEB28B-C998-1E4F-B5FF-E6C9BADBC012}" type="parTrans" cxnId="{D7E2110E-AF45-954A-9639-FEC8D9AE8F71}">
      <dgm:prSet/>
      <dgm:spPr>
        <a:xfrm rot="5400000">
          <a:off x="1935840" y="2285508"/>
          <a:ext cx="177113" cy="177113"/>
        </a:xfrm>
        <a:prstGeom prst="rightArrow">
          <a:avLst>
            <a:gd name="adj1" fmla="val 66700"/>
            <a:gd name="adj2" fmla="val 50000"/>
          </a:avLst>
        </a:prstGeom>
        <a:solidFill>
          <a:srgbClr val="999966"/>
        </a:solidFill>
        <a:ln>
          <a:noFill/>
        </a:ln>
        <a:effectLst/>
      </dgm:spPr>
      <dgm:t>
        <a:bodyPr/>
        <a:lstStyle/>
        <a:p>
          <a:endParaRPr lang="en-US" dirty="0"/>
        </a:p>
      </dgm:t>
    </dgm:pt>
    <dgm:pt modelId="{468E7CD9-0A07-434E-9677-5FEE2DBBE9CE}" type="sibTrans" cxnId="{D7E2110E-AF45-954A-9639-FEC8D9AE8F71}">
      <dgm:prSet/>
      <dgm:spPr>
        <a:xfrm rot="5400000">
          <a:off x="1935840" y="3651816"/>
          <a:ext cx="177113" cy="177113"/>
        </a:xfrm>
        <a:prstGeom prst="rightArrow">
          <a:avLst>
            <a:gd name="adj1" fmla="val 66700"/>
            <a:gd name="adj2" fmla="val 50000"/>
          </a:avLst>
        </a:prstGeom>
        <a:solidFill>
          <a:srgbClr val="999966"/>
        </a:solidFill>
        <a:ln>
          <a:noFill/>
        </a:ln>
        <a:effectLst/>
      </dgm:spPr>
      <dgm:t>
        <a:bodyPr/>
        <a:lstStyle/>
        <a:p>
          <a:endParaRPr lang="en-US" dirty="0"/>
        </a:p>
      </dgm:t>
    </dgm:pt>
    <dgm:pt modelId="{96131DBC-98E5-8945-BCB4-D926D0E876DC}">
      <dgm:prSet/>
      <dgm:spPr>
        <a:xfrm>
          <a:off x="237" y="3917487"/>
          <a:ext cx="4048319" cy="1829881"/>
        </a:xfrm>
        <a:prstGeom prst="roundRect">
          <a:avLst>
            <a:gd name="adj" fmla="val 10000"/>
          </a:avLst>
        </a:prstGeom>
        <a:solidFill>
          <a:srgbClr val="663366">
            <a:alpha val="90000"/>
            <a:tint val="40000"/>
            <a:hueOff val="0"/>
            <a:satOff val="0"/>
            <a:lumOff val="0"/>
            <a:alphaOff val="0"/>
          </a:srgbClr>
        </a:solidFill>
        <a:ln w="12700" cap="flat" cmpd="sng" algn="ctr">
          <a:solidFill>
            <a:srgbClr val="999966"/>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If at least one write operation has been performed on a word in that line of the cache then main memory must be updated by writing the line of cache out to the block of memory before bringing in the new block</a:t>
          </a:r>
        </a:p>
      </dgm:t>
    </dgm:pt>
    <dgm:pt modelId="{94E4766F-2C8C-E54F-B7B3-B2AE2E6AF669}" type="parTrans" cxnId="{3CD200A9-41BA-FC43-B7AC-70779D9557BE}">
      <dgm:prSet/>
      <dgm:spPr/>
      <dgm:t>
        <a:bodyPr/>
        <a:lstStyle/>
        <a:p>
          <a:endParaRPr lang="en-US"/>
        </a:p>
      </dgm:t>
    </dgm:pt>
    <dgm:pt modelId="{8064DA95-FA67-C54D-8E8E-246B9DAC3EEE}" type="sibTrans" cxnId="{3CD200A9-41BA-FC43-B7AC-70779D9557BE}">
      <dgm:prSet/>
      <dgm:spPr/>
      <dgm:t>
        <a:bodyPr/>
        <a:lstStyle/>
        <a:p>
          <a:endParaRPr lang="en-US"/>
        </a:p>
      </dgm:t>
    </dgm:pt>
    <dgm:pt modelId="{1CB47A35-D296-474F-9F2A-12475FBF3F49}">
      <dgm:prSet/>
      <dgm:spPr>
        <a:xfrm>
          <a:off x="4615322" y="1184871"/>
          <a:ext cx="4048319" cy="1012079"/>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There are two problems to contend with:</a:t>
          </a:r>
        </a:p>
      </dgm:t>
    </dgm:pt>
    <dgm:pt modelId="{077B61D2-8416-D941-AC08-840B5E56B829}" type="parTrans" cxnId="{E35B0638-21BA-0D41-B96E-4D1A995150A6}">
      <dgm:prSet/>
      <dgm:spPr/>
      <dgm:t>
        <a:bodyPr/>
        <a:lstStyle/>
        <a:p>
          <a:endParaRPr lang="en-US"/>
        </a:p>
      </dgm:t>
    </dgm:pt>
    <dgm:pt modelId="{FCAF96B8-3776-B644-986A-46F0D2116D2D}" type="sibTrans" cxnId="{E35B0638-21BA-0D41-B96E-4D1A995150A6}">
      <dgm:prSet/>
      <dgm:spPr/>
      <dgm:t>
        <a:bodyPr/>
        <a:lstStyle/>
        <a:p>
          <a:endParaRPr lang="en-US"/>
        </a:p>
      </dgm:t>
    </dgm:pt>
    <dgm:pt modelId="{1213F169-EDA0-EB47-9992-BF7B571275AC}">
      <dgm:prSet/>
      <dgm:spPr>
        <a:xfrm>
          <a:off x="4615322" y="2551179"/>
          <a:ext cx="4048319" cy="1012079"/>
        </a:xfrm>
        <a:prstGeom prst="roundRect">
          <a:avLst>
            <a:gd name="adj" fmla="val 10000"/>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More than one device may have access to main memory</a:t>
          </a:r>
        </a:p>
      </dgm:t>
    </dgm:pt>
    <dgm:pt modelId="{D9CBD3A3-7A39-D04F-A71A-3B55DC0FFD3F}" type="parTrans" cxnId="{95F9B1E9-EED2-CD49-A041-14AB5856ECDA}">
      <dgm:prSet/>
      <dgm:spPr>
        <a:xfrm rot="5400000">
          <a:off x="6550925" y="2285508"/>
          <a:ext cx="177113" cy="177113"/>
        </a:xfrm>
        <a:prstGeom prst="rightArrow">
          <a:avLst>
            <a:gd name="adj1" fmla="val 66700"/>
            <a:gd name="adj2" fmla="val 50000"/>
          </a:avLst>
        </a:prstGeom>
        <a:solidFill>
          <a:srgbClr val="666699"/>
        </a:solidFill>
        <a:ln>
          <a:noFill/>
        </a:ln>
        <a:effectLst/>
      </dgm:spPr>
      <dgm:t>
        <a:bodyPr/>
        <a:lstStyle/>
        <a:p>
          <a:endParaRPr lang="en-US" dirty="0"/>
        </a:p>
      </dgm:t>
    </dgm:pt>
    <dgm:pt modelId="{1254B9F7-30E4-BF4C-82CD-92ECBA4D42F5}" type="sibTrans" cxnId="{95F9B1E9-EED2-CD49-A041-14AB5856ECDA}">
      <dgm:prSet/>
      <dgm:spPr>
        <a:xfrm rot="5400000">
          <a:off x="6550925" y="3651816"/>
          <a:ext cx="177113" cy="177113"/>
        </a:xfrm>
        <a:prstGeom prst="rightArrow">
          <a:avLst>
            <a:gd name="adj1" fmla="val 66700"/>
            <a:gd name="adj2" fmla="val 50000"/>
          </a:avLst>
        </a:prstGeom>
        <a:solidFill>
          <a:srgbClr val="666699"/>
        </a:solidFill>
        <a:ln>
          <a:noFill/>
        </a:ln>
        <a:effectLst/>
      </dgm:spPr>
      <dgm:t>
        <a:bodyPr/>
        <a:lstStyle/>
        <a:p>
          <a:endParaRPr lang="en-US" dirty="0"/>
        </a:p>
      </dgm:t>
    </dgm:pt>
    <dgm:pt modelId="{7AF86266-B030-5F47-A49F-D00BC31FE007}">
      <dgm:prSet/>
      <dgm:spPr>
        <a:xfrm>
          <a:off x="4636110" y="3917487"/>
          <a:ext cx="4006743" cy="1735180"/>
        </a:xfrm>
        <a:prstGeom prst="roundRect">
          <a:avLst>
            <a:gd name="adj" fmla="val 10000"/>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 more complex problem occurs when multiple processors are attached to the same bus and each processor has its own local cache - if a word is altered in one cache it could conceivably invalidate a word in other caches</a:t>
          </a:r>
        </a:p>
      </dgm:t>
    </dgm:pt>
    <dgm:pt modelId="{22537051-1FB0-F248-88C0-45F3927C242E}" type="parTrans" cxnId="{4818DB8F-C60E-E24A-9760-A40A254BC7C8}">
      <dgm:prSet/>
      <dgm:spPr/>
      <dgm:t>
        <a:bodyPr/>
        <a:lstStyle/>
        <a:p>
          <a:endParaRPr lang="en-US"/>
        </a:p>
      </dgm:t>
    </dgm:pt>
    <dgm:pt modelId="{20C440D0-917C-174E-AD6D-E5FEECA5BFED}" type="sibTrans" cxnId="{4818DB8F-C60E-E24A-9760-A40A254BC7C8}">
      <dgm:prSet/>
      <dgm:spPr/>
      <dgm:t>
        <a:bodyPr/>
        <a:lstStyle/>
        <a:p>
          <a:endParaRPr lang="en-US"/>
        </a:p>
      </dgm:t>
    </dgm:pt>
    <dgm:pt modelId="{E7C7B2B5-6455-8040-824D-D654BFFEB931}" type="pres">
      <dgm:prSet presAssocID="{AF8DD8FA-32BB-C04B-A3C9-B425357390F4}" presName="Name0" presStyleCnt="0">
        <dgm:presLayoutVars>
          <dgm:dir/>
          <dgm:animLvl val="lvl"/>
          <dgm:resizeHandles val="exact"/>
        </dgm:presLayoutVars>
      </dgm:prSet>
      <dgm:spPr/>
    </dgm:pt>
    <dgm:pt modelId="{E4E6EE3A-7ADE-B64E-8DDE-E0C29C0824CE}" type="pres">
      <dgm:prSet presAssocID="{022E0863-7C5B-4248-A38E-1C454C4790C6}" presName="vertFlow" presStyleCnt="0"/>
      <dgm:spPr/>
    </dgm:pt>
    <dgm:pt modelId="{0811B929-E516-5443-B0F5-EC0B30A47FDB}" type="pres">
      <dgm:prSet presAssocID="{022E0863-7C5B-4248-A38E-1C454C4790C6}" presName="header" presStyleLbl="node1" presStyleIdx="0" presStyleCnt="2"/>
      <dgm:spPr/>
    </dgm:pt>
    <dgm:pt modelId="{D31FB0BD-CB04-3C41-B317-3A5187E6AE93}" type="pres">
      <dgm:prSet presAssocID="{32AEB28B-C998-1E4F-B5FF-E6C9BADBC012}" presName="parTrans" presStyleLbl="sibTrans2D1" presStyleIdx="0" presStyleCnt="4"/>
      <dgm:spPr/>
    </dgm:pt>
    <dgm:pt modelId="{3142DD91-2917-CC41-9BFA-CF928F5CC795}" type="pres">
      <dgm:prSet presAssocID="{6AE17495-F142-F346-8094-6C147A6707E7}" presName="child" presStyleLbl="alignAccFollowNode1" presStyleIdx="0" presStyleCnt="4">
        <dgm:presLayoutVars>
          <dgm:chMax val="0"/>
          <dgm:bulletEnabled val="1"/>
        </dgm:presLayoutVars>
      </dgm:prSet>
      <dgm:spPr/>
    </dgm:pt>
    <dgm:pt modelId="{2D23DC65-2635-7547-AB3F-AED6672AFFE6}" type="pres">
      <dgm:prSet presAssocID="{468E7CD9-0A07-434E-9677-5FEE2DBBE9CE}" presName="sibTrans" presStyleLbl="sibTrans2D1" presStyleIdx="1" presStyleCnt="4"/>
      <dgm:spPr/>
    </dgm:pt>
    <dgm:pt modelId="{4A68EEB7-D5C7-EF47-A954-BD8607821E05}" type="pres">
      <dgm:prSet presAssocID="{96131DBC-98E5-8945-BCB4-D926D0E876DC}" presName="child" presStyleLbl="alignAccFollowNode1" presStyleIdx="1" presStyleCnt="4" custScaleY="180804">
        <dgm:presLayoutVars>
          <dgm:chMax val="0"/>
          <dgm:bulletEnabled val="1"/>
        </dgm:presLayoutVars>
      </dgm:prSet>
      <dgm:spPr/>
    </dgm:pt>
    <dgm:pt modelId="{F2FC77B0-0C49-5C4A-9569-70B77E8CC044}" type="pres">
      <dgm:prSet presAssocID="{022E0863-7C5B-4248-A38E-1C454C4790C6}" presName="hSp" presStyleCnt="0"/>
      <dgm:spPr/>
    </dgm:pt>
    <dgm:pt modelId="{40B8AF06-51F8-2445-91E5-963B915B6C20}" type="pres">
      <dgm:prSet presAssocID="{1CB47A35-D296-474F-9F2A-12475FBF3F49}" presName="vertFlow" presStyleCnt="0"/>
      <dgm:spPr/>
    </dgm:pt>
    <dgm:pt modelId="{59333D82-04E3-344E-9F6D-7A52667AD3BD}" type="pres">
      <dgm:prSet presAssocID="{1CB47A35-D296-474F-9F2A-12475FBF3F49}" presName="header" presStyleLbl="node1" presStyleIdx="1" presStyleCnt="2"/>
      <dgm:spPr/>
    </dgm:pt>
    <dgm:pt modelId="{23FB0AB2-D708-C74D-9705-EFCC30F8BF72}" type="pres">
      <dgm:prSet presAssocID="{D9CBD3A3-7A39-D04F-A71A-3B55DC0FFD3F}" presName="parTrans" presStyleLbl="sibTrans2D1" presStyleIdx="2" presStyleCnt="4"/>
      <dgm:spPr/>
    </dgm:pt>
    <dgm:pt modelId="{7F36AA80-5C05-2F49-B7E9-B7C655619CE6}" type="pres">
      <dgm:prSet presAssocID="{1213F169-EDA0-EB47-9992-BF7B571275AC}" presName="child" presStyleLbl="alignAccFollowNode1" presStyleIdx="2" presStyleCnt="4">
        <dgm:presLayoutVars>
          <dgm:chMax val="0"/>
          <dgm:bulletEnabled val="1"/>
        </dgm:presLayoutVars>
      </dgm:prSet>
      <dgm:spPr/>
    </dgm:pt>
    <dgm:pt modelId="{B3C789D7-F7F9-6047-9980-E16EE5BCCF23}" type="pres">
      <dgm:prSet presAssocID="{1254B9F7-30E4-BF4C-82CD-92ECBA4D42F5}" presName="sibTrans" presStyleLbl="sibTrans2D1" presStyleIdx="3" presStyleCnt="4"/>
      <dgm:spPr/>
    </dgm:pt>
    <dgm:pt modelId="{70DA93BB-D5B7-C048-B918-81E67A7815CD}" type="pres">
      <dgm:prSet presAssocID="{7AF86266-B030-5F47-A49F-D00BC31FE007}" presName="child" presStyleLbl="alignAccFollowNode1" presStyleIdx="3" presStyleCnt="4" custScaleX="98973" custScaleY="171447">
        <dgm:presLayoutVars>
          <dgm:chMax val="0"/>
          <dgm:bulletEnabled val="1"/>
        </dgm:presLayoutVars>
      </dgm:prSet>
      <dgm:spPr/>
    </dgm:pt>
  </dgm:ptLst>
  <dgm:cxnLst>
    <dgm:cxn modelId="{C27F8805-737C-3B48-9B8C-1A7265451F5C}" type="presOf" srcId="{022E0863-7C5B-4248-A38E-1C454C4790C6}" destId="{0811B929-E516-5443-B0F5-EC0B30A47FDB}" srcOrd="0" destOrd="0" presId="urn:microsoft.com/office/officeart/2005/8/layout/lProcess1"/>
    <dgm:cxn modelId="{D7E2110E-AF45-954A-9639-FEC8D9AE8F71}" srcId="{022E0863-7C5B-4248-A38E-1C454C4790C6}" destId="{6AE17495-F142-F346-8094-6C147A6707E7}" srcOrd="0" destOrd="0" parTransId="{32AEB28B-C998-1E4F-B5FF-E6C9BADBC012}" sibTransId="{468E7CD9-0A07-434E-9677-5FEE2DBBE9CE}"/>
    <dgm:cxn modelId="{3E30CE0F-6139-0B46-9054-692C2CBF6226}" type="presOf" srcId="{7AF86266-B030-5F47-A49F-D00BC31FE007}" destId="{70DA93BB-D5B7-C048-B918-81E67A7815CD}" srcOrd="0" destOrd="0" presId="urn:microsoft.com/office/officeart/2005/8/layout/lProcess1"/>
    <dgm:cxn modelId="{33050318-68E3-4441-B955-3EA40DD87CE2}" type="presOf" srcId="{1CB47A35-D296-474F-9F2A-12475FBF3F49}" destId="{59333D82-04E3-344E-9F6D-7A52667AD3BD}" srcOrd="0" destOrd="0" presId="urn:microsoft.com/office/officeart/2005/8/layout/lProcess1"/>
    <dgm:cxn modelId="{4640FF1F-F6E7-1D48-968A-AEDCBD615C28}" type="presOf" srcId="{AF8DD8FA-32BB-C04B-A3C9-B425357390F4}" destId="{E7C7B2B5-6455-8040-824D-D654BFFEB931}" srcOrd="0" destOrd="0" presId="urn:microsoft.com/office/officeart/2005/8/layout/lProcess1"/>
    <dgm:cxn modelId="{774F172D-50A2-4E4F-829A-D265696A072E}" type="presOf" srcId="{468E7CD9-0A07-434E-9677-5FEE2DBBE9CE}" destId="{2D23DC65-2635-7547-AB3F-AED6672AFFE6}" srcOrd="0" destOrd="0" presId="urn:microsoft.com/office/officeart/2005/8/layout/lProcess1"/>
    <dgm:cxn modelId="{E35B0638-21BA-0D41-B96E-4D1A995150A6}" srcId="{AF8DD8FA-32BB-C04B-A3C9-B425357390F4}" destId="{1CB47A35-D296-474F-9F2A-12475FBF3F49}" srcOrd="1" destOrd="0" parTransId="{077B61D2-8416-D941-AC08-840B5E56B829}" sibTransId="{FCAF96B8-3776-B644-986A-46F0D2116D2D}"/>
    <dgm:cxn modelId="{5F55AE5C-17F5-8946-8F72-782A769FF4AE}" type="presOf" srcId="{1254B9F7-30E4-BF4C-82CD-92ECBA4D42F5}" destId="{B3C789D7-F7F9-6047-9980-E16EE5BCCF23}" srcOrd="0" destOrd="0" presId="urn:microsoft.com/office/officeart/2005/8/layout/lProcess1"/>
    <dgm:cxn modelId="{E0041346-089F-0546-A6A1-C9981E147A83}" type="presOf" srcId="{96131DBC-98E5-8945-BCB4-D926D0E876DC}" destId="{4A68EEB7-D5C7-EF47-A954-BD8607821E05}" srcOrd="0" destOrd="0" presId="urn:microsoft.com/office/officeart/2005/8/layout/lProcess1"/>
    <dgm:cxn modelId="{C6B75648-336C-4B47-94B9-E6606F081175}" type="presOf" srcId="{D9CBD3A3-7A39-D04F-A71A-3B55DC0FFD3F}" destId="{23FB0AB2-D708-C74D-9705-EFCC30F8BF72}" srcOrd="0" destOrd="0" presId="urn:microsoft.com/office/officeart/2005/8/layout/lProcess1"/>
    <dgm:cxn modelId="{B26C774C-3363-394C-B1A3-B0A92DA5ACD8}" type="presOf" srcId="{6AE17495-F142-F346-8094-6C147A6707E7}" destId="{3142DD91-2917-CC41-9BFA-CF928F5CC795}" srcOrd="0" destOrd="0" presId="urn:microsoft.com/office/officeart/2005/8/layout/lProcess1"/>
    <dgm:cxn modelId="{4818DB8F-C60E-E24A-9760-A40A254BC7C8}" srcId="{1CB47A35-D296-474F-9F2A-12475FBF3F49}" destId="{7AF86266-B030-5F47-A49F-D00BC31FE007}" srcOrd="1" destOrd="0" parTransId="{22537051-1FB0-F248-88C0-45F3927C242E}" sibTransId="{20C440D0-917C-174E-AD6D-E5FEECA5BFED}"/>
    <dgm:cxn modelId="{55B18C96-A208-9447-9965-C6CF64ECF29D}" type="presOf" srcId="{32AEB28B-C998-1E4F-B5FF-E6C9BADBC012}" destId="{D31FB0BD-CB04-3C41-B317-3A5187E6AE93}" srcOrd="0" destOrd="0" presId="urn:microsoft.com/office/officeart/2005/8/layout/lProcess1"/>
    <dgm:cxn modelId="{3AA1BA99-3013-FC45-9C35-CD1432E2E0EB}" type="presOf" srcId="{1213F169-EDA0-EB47-9992-BF7B571275AC}" destId="{7F36AA80-5C05-2F49-B7E9-B7C655619CE6}" srcOrd="0" destOrd="0" presId="urn:microsoft.com/office/officeart/2005/8/layout/lProcess1"/>
    <dgm:cxn modelId="{3CD200A9-41BA-FC43-B7AC-70779D9557BE}" srcId="{022E0863-7C5B-4248-A38E-1C454C4790C6}" destId="{96131DBC-98E5-8945-BCB4-D926D0E876DC}" srcOrd="1" destOrd="0" parTransId="{94E4766F-2C8C-E54F-B7B3-B2AE2E6AF669}" sibTransId="{8064DA95-FA67-C54D-8E8E-246B9DAC3EEE}"/>
    <dgm:cxn modelId="{07B4E7E5-1C74-E042-956D-3A0D8EEB47E5}" srcId="{AF8DD8FA-32BB-C04B-A3C9-B425357390F4}" destId="{022E0863-7C5B-4248-A38E-1C454C4790C6}" srcOrd="0" destOrd="0" parTransId="{2E97AE6D-A917-9E44-A214-0770A4EFCB56}" sibTransId="{391462BD-0051-DC4B-BE07-8562636C7355}"/>
    <dgm:cxn modelId="{95F9B1E9-EED2-CD49-A041-14AB5856ECDA}" srcId="{1CB47A35-D296-474F-9F2A-12475FBF3F49}" destId="{1213F169-EDA0-EB47-9992-BF7B571275AC}" srcOrd="0" destOrd="0" parTransId="{D9CBD3A3-7A39-D04F-A71A-3B55DC0FFD3F}" sibTransId="{1254B9F7-30E4-BF4C-82CD-92ECBA4D42F5}"/>
    <dgm:cxn modelId="{21C8EFFC-835B-EB4A-AB58-0D7F3532F4F0}" type="presParOf" srcId="{E7C7B2B5-6455-8040-824D-D654BFFEB931}" destId="{E4E6EE3A-7ADE-B64E-8DDE-E0C29C0824CE}" srcOrd="0" destOrd="0" presId="urn:microsoft.com/office/officeart/2005/8/layout/lProcess1"/>
    <dgm:cxn modelId="{FE0A81CE-198F-0947-866B-F34FBE9C5398}" type="presParOf" srcId="{E4E6EE3A-7ADE-B64E-8DDE-E0C29C0824CE}" destId="{0811B929-E516-5443-B0F5-EC0B30A47FDB}" srcOrd="0" destOrd="0" presId="urn:microsoft.com/office/officeart/2005/8/layout/lProcess1"/>
    <dgm:cxn modelId="{033C4FCF-C2E3-1D41-8B2C-2C38C24D1D9B}" type="presParOf" srcId="{E4E6EE3A-7ADE-B64E-8DDE-E0C29C0824CE}" destId="{D31FB0BD-CB04-3C41-B317-3A5187E6AE93}" srcOrd="1" destOrd="0" presId="urn:microsoft.com/office/officeart/2005/8/layout/lProcess1"/>
    <dgm:cxn modelId="{B98122DB-1F05-D044-8B4F-0B8251C65443}" type="presParOf" srcId="{E4E6EE3A-7ADE-B64E-8DDE-E0C29C0824CE}" destId="{3142DD91-2917-CC41-9BFA-CF928F5CC795}" srcOrd="2" destOrd="0" presId="urn:microsoft.com/office/officeart/2005/8/layout/lProcess1"/>
    <dgm:cxn modelId="{0530D7BD-DE73-F047-80D3-0963A3DB529C}" type="presParOf" srcId="{E4E6EE3A-7ADE-B64E-8DDE-E0C29C0824CE}" destId="{2D23DC65-2635-7547-AB3F-AED6672AFFE6}" srcOrd="3" destOrd="0" presId="urn:microsoft.com/office/officeart/2005/8/layout/lProcess1"/>
    <dgm:cxn modelId="{7F3F0F82-FBFB-1549-9436-FEE63464B7DA}" type="presParOf" srcId="{E4E6EE3A-7ADE-B64E-8DDE-E0C29C0824CE}" destId="{4A68EEB7-D5C7-EF47-A954-BD8607821E05}" srcOrd="4" destOrd="0" presId="urn:microsoft.com/office/officeart/2005/8/layout/lProcess1"/>
    <dgm:cxn modelId="{48189F65-9AC9-1842-9021-1DA9968AF5A5}" type="presParOf" srcId="{E7C7B2B5-6455-8040-824D-D654BFFEB931}" destId="{F2FC77B0-0C49-5C4A-9569-70B77E8CC044}" srcOrd="1" destOrd="0" presId="urn:microsoft.com/office/officeart/2005/8/layout/lProcess1"/>
    <dgm:cxn modelId="{88F6AECC-349B-0949-B204-92E4A70F306D}" type="presParOf" srcId="{E7C7B2B5-6455-8040-824D-D654BFFEB931}" destId="{40B8AF06-51F8-2445-91E5-963B915B6C20}" srcOrd="2" destOrd="0" presId="urn:microsoft.com/office/officeart/2005/8/layout/lProcess1"/>
    <dgm:cxn modelId="{996146F2-DE2B-3342-9C54-C93CB7A75F0A}" type="presParOf" srcId="{40B8AF06-51F8-2445-91E5-963B915B6C20}" destId="{59333D82-04E3-344E-9F6D-7A52667AD3BD}" srcOrd="0" destOrd="0" presId="urn:microsoft.com/office/officeart/2005/8/layout/lProcess1"/>
    <dgm:cxn modelId="{E0AA1F7D-0319-6E45-8F4B-3D5D0BD02F18}" type="presParOf" srcId="{40B8AF06-51F8-2445-91E5-963B915B6C20}" destId="{23FB0AB2-D708-C74D-9705-EFCC30F8BF72}" srcOrd="1" destOrd="0" presId="urn:microsoft.com/office/officeart/2005/8/layout/lProcess1"/>
    <dgm:cxn modelId="{B84C78E1-C430-B241-A285-55AF1B976296}" type="presParOf" srcId="{40B8AF06-51F8-2445-91E5-963B915B6C20}" destId="{7F36AA80-5C05-2F49-B7E9-B7C655619CE6}" srcOrd="2" destOrd="0" presId="urn:microsoft.com/office/officeart/2005/8/layout/lProcess1"/>
    <dgm:cxn modelId="{4E672A77-DE3A-D947-95ED-A28F976F268E}" type="presParOf" srcId="{40B8AF06-51F8-2445-91E5-963B915B6C20}" destId="{B3C789D7-F7F9-6047-9980-E16EE5BCCF23}" srcOrd="3" destOrd="0" presId="urn:microsoft.com/office/officeart/2005/8/layout/lProcess1"/>
    <dgm:cxn modelId="{1E01FE6C-F0E5-574B-A5D7-756D56E97FFE}" type="presParOf" srcId="{40B8AF06-51F8-2445-91E5-963B915B6C20}" destId="{70DA93BB-D5B7-C048-B918-81E67A7815CD}"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650EC2-3906-EE4D-99B6-52E8505A13EA}"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5B6B42DC-180D-2C44-9DFE-621EB3A413E3}">
      <dgm:prSet/>
      <dgm:spPr/>
      <dgm:t>
        <a:bodyPr/>
        <a:lstStyle/>
        <a:p>
          <a:pPr rtl="0"/>
          <a:r>
            <a:rPr lang="en-US" dirty="0"/>
            <a:t>When a block of data is retrieved and placed in the cache not only the desired word but also some number of adjacent words are retrieved</a:t>
          </a:r>
        </a:p>
      </dgm:t>
    </dgm:pt>
    <dgm:pt modelId="{79853258-A707-244A-8DC0-2A5919944FA8}" type="parTrans" cxnId="{4EB596E6-A252-1B44-BE4C-ED417B2E3407}">
      <dgm:prSet/>
      <dgm:spPr/>
      <dgm:t>
        <a:bodyPr/>
        <a:lstStyle/>
        <a:p>
          <a:endParaRPr lang="en-US"/>
        </a:p>
      </dgm:t>
    </dgm:pt>
    <dgm:pt modelId="{45D4D0F6-B95E-FC41-B725-24925D1EBB4A}" type="sibTrans" cxnId="{4EB596E6-A252-1B44-BE4C-ED417B2E3407}">
      <dgm:prSet/>
      <dgm:spPr/>
      <dgm:t>
        <a:bodyPr/>
        <a:lstStyle/>
        <a:p>
          <a:endParaRPr lang="en-US"/>
        </a:p>
      </dgm:t>
    </dgm:pt>
    <dgm:pt modelId="{7E4B0266-2C09-4B42-84DD-77F3BF44AA33}">
      <dgm:prSet/>
      <dgm:spPr/>
      <dgm:t>
        <a:bodyPr/>
        <a:lstStyle/>
        <a:p>
          <a:pPr rtl="0"/>
          <a:r>
            <a:rPr lang="en-US" dirty="0"/>
            <a:t>As the block size increases the hit ratio will at first increase because of the principle of locality</a:t>
          </a:r>
        </a:p>
      </dgm:t>
    </dgm:pt>
    <dgm:pt modelId="{B2DE85CC-8698-0A49-AC3A-F39A0D1AD37B}" type="parTrans" cxnId="{A9826430-0010-1143-A8E6-9C1D0B5CAC8E}">
      <dgm:prSet/>
      <dgm:spPr/>
      <dgm:t>
        <a:bodyPr/>
        <a:lstStyle/>
        <a:p>
          <a:endParaRPr lang="en-US"/>
        </a:p>
      </dgm:t>
    </dgm:pt>
    <dgm:pt modelId="{AC1784D6-D722-A44D-9F6B-F8A88CECCAC0}" type="sibTrans" cxnId="{A9826430-0010-1143-A8E6-9C1D0B5CAC8E}">
      <dgm:prSet/>
      <dgm:spPr/>
      <dgm:t>
        <a:bodyPr/>
        <a:lstStyle/>
        <a:p>
          <a:endParaRPr lang="en-US"/>
        </a:p>
      </dgm:t>
    </dgm:pt>
    <dgm:pt modelId="{6D4E4D78-7E0E-CB4B-BF2A-942DFF8A9079}">
      <dgm:prSet/>
      <dgm:spPr/>
      <dgm:t>
        <a:bodyPr/>
        <a:lstStyle/>
        <a:p>
          <a:pPr rtl="0"/>
          <a:r>
            <a:rPr lang="en-US" dirty="0"/>
            <a:t>As the block size increases more useful data are brought into the cache</a:t>
          </a:r>
        </a:p>
      </dgm:t>
    </dgm:pt>
    <dgm:pt modelId="{F6B70ABC-BA85-7E4E-9780-816FB53EFF37}" type="parTrans" cxnId="{3CE94B4C-BB8E-0646-9CBA-9B3899C2D6DE}">
      <dgm:prSet/>
      <dgm:spPr/>
      <dgm:t>
        <a:bodyPr/>
        <a:lstStyle/>
        <a:p>
          <a:endParaRPr lang="en-US"/>
        </a:p>
      </dgm:t>
    </dgm:pt>
    <dgm:pt modelId="{E466F655-C131-5F49-A04F-F20B04EB95D6}" type="sibTrans" cxnId="{3CE94B4C-BB8E-0646-9CBA-9B3899C2D6DE}">
      <dgm:prSet/>
      <dgm:spPr/>
      <dgm:t>
        <a:bodyPr/>
        <a:lstStyle/>
        <a:p>
          <a:endParaRPr lang="en-US"/>
        </a:p>
      </dgm:t>
    </dgm:pt>
    <dgm:pt modelId="{CC2A14A7-D578-EF4F-957C-71E2D8CD49CE}">
      <dgm:prSet/>
      <dgm:spPr/>
      <dgm:t>
        <a:bodyPr/>
        <a:lstStyle/>
        <a:p>
          <a:pPr rtl="0"/>
          <a:r>
            <a:rPr lang="en-US" dirty="0"/>
            <a:t>The hit ratio will begin to decrease as the block becomes bigger and the probability of using the newly fetched information becomes less than the probability of reusing the information that has to be replaced</a:t>
          </a:r>
        </a:p>
      </dgm:t>
    </dgm:pt>
    <dgm:pt modelId="{663FB13C-CAE1-114E-8144-1A1B85492C8D}" type="parTrans" cxnId="{DB6F3B08-DC87-A540-8327-31699B875EB7}">
      <dgm:prSet/>
      <dgm:spPr/>
      <dgm:t>
        <a:bodyPr/>
        <a:lstStyle/>
        <a:p>
          <a:endParaRPr lang="en-US"/>
        </a:p>
      </dgm:t>
    </dgm:pt>
    <dgm:pt modelId="{734AC39B-C291-1044-9103-3061DBE159B8}" type="sibTrans" cxnId="{DB6F3B08-DC87-A540-8327-31699B875EB7}">
      <dgm:prSet/>
      <dgm:spPr/>
      <dgm:t>
        <a:bodyPr/>
        <a:lstStyle/>
        <a:p>
          <a:endParaRPr lang="en-US"/>
        </a:p>
      </dgm:t>
    </dgm:pt>
    <dgm:pt modelId="{20D4E23A-A8C0-A64F-83DC-F2A8EAB7F4CD}">
      <dgm:prSet/>
      <dgm:spPr/>
      <dgm:t>
        <a:bodyPr/>
        <a:lstStyle/>
        <a:p>
          <a:pPr rtl="0"/>
          <a:r>
            <a:rPr lang="en-US" dirty="0"/>
            <a:t>Two specific effects come into play:</a:t>
          </a:r>
        </a:p>
      </dgm:t>
    </dgm:pt>
    <dgm:pt modelId="{ED2AA20C-3ACF-A948-9954-9C9BE02CD2F6}" type="parTrans" cxnId="{3CD89C6C-0A2A-1742-9032-7902D3D24ED9}">
      <dgm:prSet/>
      <dgm:spPr/>
      <dgm:t>
        <a:bodyPr/>
        <a:lstStyle/>
        <a:p>
          <a:endParaRPr lang="en-US"/>
        </a:p>
      </dgm:t>
    </dgm:pt>
    <dgm:pt modelId="{02D8CFC9-ECAC-574C-8D5A-0109EA6B2347}" type="sibTrans" cxnId="{3CD89C6C-0A2A-1742-9032-7902D3D24ED9}">
      <dgm:prSet/>
      <dgm:spPr/>
      <dgm:t>
        <a:bodyPr/>
        <a:lstStyle/>
        <a:p>
          <a:endParaRPr lang="en-US"/>
        </a:p>
      </dgm:t>
    </dgm:pt>
    <dgm:pt modelId="{13ABDB85-1AA7-8A4F-9B86-A67B203C6F4E}">
      <dgm:prSet/>
      <dgm:spPr/>
      <dgm:t>
        <a:bodyPr/>
        <a:lstStyle/>
        <a:p>
          <a:pPr rtl="0"/>
          <a:r>
            <a:rPr lang="en-US" dirty="0"/>
            <a:t>Larger blocks reduce the number of blocks that fit into a cache</a:t>
          </a:r>
        </a:p>
      </dgm:t>
    </dgm:pt>
    <dgm:pt modelId="{5C2C4B71-AFED-B04E-80D7-F42C9FFC1698}" type="parTrans" cxnId="{2AA411CA-447E-F14A-8153-EFB312396FCA}">
      <dgm:prSet/>
      <dgm:spPr/>
      <dgm:t>
        <a:bodyPr/>
        <a:lstStyle/>
        <a:p>
          <a:endParaRPr lang="en-US"/>
        </a:p>
      </dgm:t>
    </dgm:pt>
    <dgm:pt modelId="{404F7357-1746-CA47-8763-050B64A19C54}" type="sibTrans" cxnId="{2AA411CA-447E-F14A-8153-EFB312396FCA}">
      <dgm:prSet/>
      <dgm:spPr/>
      <dgm:t>
        <a:bodyPr/>
        <a:lstStyle/>
        <a:p>
          <a:endParaRPr lang="en-US"/>
        </a:p>
      </dgm:t>
    </dgm:pt>
    <dgm:pt modelId="{9AACB277-EEDE-6E44-8EA9-24A915619A59}">
      <dgm:prSet/>
      <dgm:spPr/>
      <dgm:t>
        <a:bodyPr/>
        <a:lstStyle/>
        <a:p>
          <a:pPr rtl="0"/>
          <a:r>
            <a:rPr lang="en-GB" dirty="0"/>
            <a:t>As a block becomes larger each additional word is farther from the requested word</a:t>
          </a:r>
        </a:p>
      </dgm:t>
    </dgm:pt>
    <dgm:pt modelId="{FA4FA404-3EA5-3645-9B41-C76B1C515D87}" type="parTrans" cxnId="{7857E002-1908-4844-82CE-546EB08AF9C2}">
      <dgm:prSet/>
      <dgm:spPr/>
      <dgm:t>
        <a:bodyPr/>
        <a:lstStyle/>
        <a:p>
          <a:endParaRPr lang="en-US"/>
        </a:p>
      </dgm:t>
    </dgm:pt>
    <dgm:pt modelId="{9F7F01B0-F245-E94E-9C9E-800533E82E2E}" type="sibTrans" cxnId="{7857E002-1908-4844-82CE-546EB08AF9C2}">
      <dgm:prSet/>
      <dgm:spPr/>
      <dgm:t>
        <a:bodyPr/>
        <a:lstStyle/>
        <a:p>
          <a:endParaRPr lang="en-US"/>
        </a:p>
      </dgm:t>
    </dgm:pt>
    <dgm:pt modelId="{F199CCFF-B029-CE4A-86B7-ED578FD9114D}" type="pres">
      <dgm:prSet presAssocID="{17650EC2-3906-EE4D-99B6-52E8505A13EA}" presName="Name0" presStyleCnt="0">
        <dgm:presLayoutVars>
          <dgm:dir/>
          <dgm:resizeHandles val="exact"/>
        </dgm:presLayoutVars>
      </dgm:prSet>
      <dgm:spPr/>
    </dgm:pt>
    <dgm:pt modelId="{04A98750-A22E-E144-85E8-F4570D51A474}" type="pres">
      <dgm:prSet presAssocID="{17650EC2-3906-EE4D-99B6-52E8505A13EA}" presName="arrow" presStyleLbl="bgShp" presStyleIdx="0" presStyleCnt="1"/>
      <dgm:spPr>
        <a:ln>
          <a:solidFill>
            <a:schemeClr val="accent3"/>
          </a:solidFill>
        </a:ln>
      </dgm:spPr>
    </dgm:pt>
    <dgm:pt modelId="{E29933DD-14FF-D646-9182-AF0745E36C6B}" type="pres">
      <dgm:prSet presAssocID="{17650EC2-3906-EE4D-99B6-52E8505A13EA}" presName="points" presStyleCnt="0"/>
      <dgm:spPr/>
    </dgm:pt>
    <dgm:pt modelId="{9F4561B0-FB1D-E849-A924-AF550FF61B19}" type="pres">
      <dgm:prSet presAssocID="{5B6B42DC-180D-2C44-9DFE-621EB3A413E3}" presName="compositeA" presStyleCnt="0"/>
      <dgm:spPr/>
    </dgm:pt>
    <dgm:pt modelId="{57FE2081-BE33-2C4A-891E-2BB614041C39}" type="pres">
      <dgm:prSet presAssocID="{5B6B42DC-180D-2C44-9DFE-621EB3A413E3}" presName="textA" presStyleLbl="revTx" presStyleIdx="0" presStyleCnt="5">
        <dgm:presLayoutVars>
          <dgm:bulletEnabled val="1"/>
        </dgm:presLayoutVars>
      </dgm:prSet>
      <dgm:spPr/>
    </dgm:pt>
    <dgm:pt modelId="{097B1AA5-F856-8742-B675-F1FF43B6838A}" type="pres">
      <dgm:prSet presAssocID="{5B6B42DC-180D-2C44-9DFE-621EB3A413E3}" presName="circleA" presStyleLbl="node1" presStyleIdx="0" presStyleCnt="5" custLinFactNeighborX="21495" custLinFactNeighborY="-2941"/>
      <dgm:spPr>
        <a:solidFill>
          <a:schemeClr val="accent4"/>
        </a:solidFill>
        <a:ln>
          <a:solidFill>
            <a:schemeClr val="accent4"/>
          </a:solidFill>
        </a:ln>
      </dgm:spPr>
    </dgm:pt>
    <dgm:pt modelId="{7C50CEA0-FBF5-654C-A27E-2CC490527C99}" type="pres">
      <dgm:prSet presAssocID="{5B6B42DC-180D-2C44-9DFE-621EB3A413E3}" presName="spaceA" presStyleCnt="0"/>
      <dgm:spPr/>
    </dgm:pt>
    <dgm:pt modelId="{05917DBA-1291-8E48-AFEC-0533D1075C36}" type="pres">
      <dgm:prSet presAssocID="{45D4D0F6-B95E-FC41-B725-24925D1EBB4A}" presName="space" presStyleCnt="0"/>
      <dgm:spPr/>
    </dgm:pt>
    <dgm:pt modelId="{23ABF949-F6B5-4B42-BDC1-CE64B6127029}" type="pres">
      <dgm:prSet presAssocID="{7E4B0266-2C09-4B42-84DD-77F3BF44AA33}" presName="compositeB" presStyleCnt="0"/>
      <dgm:spPr/>
    </dgm:pt>
    <dgm:pt modelId="{396BDE89-FCC1-E541-9ADE-A4D83F72FFEA}" type="pres">
      <dgm:prSet presAssocID="{7E4B0266-2C09-4B42-84DD-77F3BF44AA33}" presName="textB" presStyleLbl="revTx" presStyleIdx="1" presStyleCnt="5">
        <dgm:presLayoutVars>
          <dgm:bulletEnabled val="1"/>
        </dgm:presLayoutVars>
      </dgm:prSet>
      <dgm:spPr/>
    </dgm:pt>
    <dgm:pt modelId="{9F37F097-1721-134F-83A5-6A4E0CCF062D}" type="pres">
      <dgm:prSet presAssocID="{7E4B0266-2C09-4B42-84DD-77F3BF44AA33}" presName="circleB" presStyleLbl="node1" presStyleIdx="1" presStyleCnt="5"/>
      <dgm:spPr>
        <a:solidFill>
          <a:schemeClr val="accent3"/>
        </a:solidFill>
        <a:ln>
          <a:solidFill>
            <a:schemeClr val="accent3"/>
          </a:solidFill>
        </a:ln>
      </dgm:spPr>
    </dgm:pt>
    <dgm:pt modelId="{FBD1F262-0290-9E4F-89DC-4C5F47E8D4E6}" type="pres">
      <dgm:prSet presAssocID="{7E4B0266-2C09-4B42-84DD-77F3BF44AA33}" presName="spaceB" presStyleCnt="0"/>
      <dgm:spPr/>
    </dgm:pt>
    <dgm:pt modelId="{B90B3353-0660-EF44-9D1B-0C1FCFF2EDC7}" type="pres">
      <dgm:prSet presAssocID="{AC1784D6-D722-A44D-9F6B-F8A88CECCAC0}" presName="space" presStyleCnt="0"/>
      <dgm:spPr/>
    </dgm:pt>
    <dgm:pt modelId="{53B4EC22-9CD5-7845-97BE-AB34A1C7133A}" type="pres">
      <dgm:prSet presAssocID="{6D4E4D78-7E0E-CB4B-BF2A-942DFF8A9079}" presName="compositeA" presStyleCnt="0"/>
      <dgm:spPr/>
    </dgm:pt>
    <dgm:pt modelId="{68450F65-B7D1-C442-9387-26EE68DE0405}" type="pres">
      <dgm:prSet presAssocID="{6D4E4D78-7E0E-CB4B-BF2A-942DFF8A9079}" presName="textA" presStyleLbl="revTx" presStyleIdx="2" presStyleCnt="5">
        <dgm:presLayoutVars>
          <dgm:bulletEnabled val="1"/>
        </dgm:presLayoutVars>
      </dgm:prSet>
      <dgm:spPr/>
    </dgm:pt>
    <dgm:pt modelId="{B4780650-EFE4-A94C-974F-2DDEC86E194B}" type="pres">
      <dgm:prSet presAssocID="{6D4E4D78-7E0E-CB4B-BF2A-942DFF8A9079}" presName="circleA" presStyleLbl="node1" presStyleIdx="2" presStyleCnt="5"/>
      <dgm:spPr>
        <a:ln>
          <a:solidFill>
            <a:schemeClr val="accent1"/>
          </a:solidFill>
        </a:ln>
      </dgm:spPr>
    </dgm:pt>
    <dgm:pt modelId="{EFEB2126-D80B-D446-B5FA-29DEFA5AEBF6}" type="pres">
      <dgm:prSet presAssocID="{6D4E4D78-7E0E-CB4B-BF2A-942DFF8A9079}" presName="spaceA" presStyleCnt="0"/>
      <dgm:spPr/>
    </dgm:pt>
    <dgm:pt modelId="{B18B6DB3-0787-274A-AA97-5AD6B8B4B260}" type="pres">
      <dgm:prSet presAssocID="{E466F655-C131-5F49-A04F-F20B04EB95D6}" presName="space" presStyleCnt="0"/>
      <dgm:spPr/>
    </dgm:pt>
    <dgm:pt modelId="{6F60F3E6-B141-1B45-AD58-1956E8B219C6}" type="pres">
      <dgm:prSet presAssocID="{CC2A14A7-D578-EF4F-957C-71E2D8CD49CE}" presName="compositeB" presStyleCnt="0"/>
      <dgm:spPr/>
    </dgm:pt>
    <dgm:pt modelId="{AECA710D-D355-E646-A7BB-EB328F5C2643}" type="pres">
      <dgm:prSet presAssocID="{CC2A14A7-D578-EF4F-957C-71E2D8CD49CE}" presName="textB" presStyleLbl="revTx" presStyleIdx="3" presStyleCnt="5">
        <dgm:presLayoutVars>
          <dgm:bulletEnabled val="1"/>
        </dgm:presLayoutVars>
      </dgm:prSet>
      <dgm:spPr/>
    </dgm:pt>
    <dgm:pt modelId="{601860E8-A992-8F42-AA96-D113C1174D42}" type="pres">
      <dgm:prSet presAssocID="{CC2A14A7-D578-EF4F-957C-71E2D8CD49CE}" presName="circleB" presStyleLbl="node1" presStyleIdx="3" presStyleCnt="5"/>
      <dgm:spPr>
        <a:solidFill>
          <a:schemeClr val="accent3"/>
        </a:solidFill>
        <a:ln>
          <a:solidFill>
            <a:schemeClr val="accent3"/>
          </a:solidFill>
        </a:ln>
      </dgm:spPr>
    </dgm:pt>
    <dgm:pt modelId="{578AEAA6-9D49-0745-B77B-68013B13807B}" type="pres">
      <dgm:prSet presAssocID="{CC2A14A7-D578-EF4F-957C-71E2D8CD49CE}" presName="spaceB" presStyleCnt="0"/>
      <dgm:spPr/>
    </dgm:pt>
    <dgm:pt modelId="{9A0895CD-09BB-EF46-A7BD-0F9B39417ADA}" type="pres">
      <dgm:prSet presAssocID="{734AC39B-C291-1044-9103-3061DBE159B8}" presName="space" presStyleCnt="0"/>
      <dgm:spPr/>
    </dgm:pt>
    <dgm:pt modelId="{02705322-08FA-CA44-9F93-297329281E34}" type="pres">
      <dgm:prSet presAssocID="{20D4E23A-A8C0-A64F-83DC-F2A8EAB7F4CD}" presName="compositeA" presStyleCnt="0"/>
      <dgm:spPr/>
    </dgm:pt>
    <dgm:pt modelId="{4F7426FF-C59C-8C4E-BCA5-97FDAC08690A}" type="pres">
      <dgm:prSet presAssocID="{20D4E23A-A8C0-A64F-83DC-F2A8EAB7F4CD}" presName="textA" presStyleLbl="revTx" presStyleIdx="4" presStyleCnt="5" custScaleX="114640" custLinFactNeighborX="-23950" custLinFactNeighborY="-2941">
        <dgm:presLayoutVars>
          <dgm:bulletEnabled val="1"/>
        </dgm:presLayoutVars>
      </dgm:prSet>
      <dgm:spPr/>
    </dgm:pt>
    <dgm:pt modelId="{C10A1FA9-FE59-1849-8BB4-2C6ADF800F55}" type="pres">
      <dgm:prSet presAssocID="{20D4E23A-A8C0-A64F-83DC-F2A8EAB7F4CD}" presName="circleA" presStyleLbl="node1" presStyleIdx="4" presStyleCnt="5" custLinFactNeighborX="-37226" custLinFactNeighborY="-2941"/>
      <dgm:spPr>
        <a:solidFill>
          <a:schemeClr val="accent4"/>
        </a:solidFill>
        <a:ln>
          <a:solidFill>
            <a:schemeClr val="accent4"/>
          </a:solidFill>
        </a:ln>
      </dgm:spPr>
    </dgm:pt>
    <dgm:pt modelId="{F977441F-F26B-204C-B0AF-9866F7BC5CF9}" type="pres">
      <dgm:prSet presAssocID="{20D4E23A-A8C0-A64F-83DC-F2A8EAB7F4CD}" presName="spaceA" presStyleCnt="0"/>
      <dgm:spPr/>
    </dgm:pt>
  </dgm:ptLst>
  <dgm:cxnLst>
    <dgm:cxn modelId="{7857E002-1908-4844-82CE-546EB08AF9C2}" srcId="{20D4E23A-A8C0-A64F-83DC-F2A8EAB7F4CD}" destId="{9AACB277-EEDE-6E44-8EA9-24A915619A59}" srcOrd="1" destOrd="0" parTransId="{FA4FA404-3EA5-3645-9B41-C76B1C515D87}" sibTransId="{9F7F01B0-F245-E94E-9C9E-800533E82E2E}"/>
    <dgm:cxn modelId="{DB6F3B08-DC87-A540-8327-31699B875EB7}" srcId="{17650EC2-3906-EE4D-99B6-52E8505A13EA}" destId="{CC2A14A7-D578-EF4F-957C-71E2D8CD49CE}" srcOrd="3" destOrd="0" parTransId="{663FB13C-CAE1-114E-8144-1A1B85492C8D}" sibTransId="{734AC39B-C291-1044-9103-3061DBE159B8}"/>
    <dgm:cxn modelId="{918EB52C-3781-1642-AB7F-F7F85A669759}" type="presOf" srcId="{9AACB277-EEDE-6E44-8EA9-24A915619A59}" destId="{4F7426FF-C59C-8C4E-BCA5-97FDAC08690A}" srcOrd="0" destOrd="2" presId="urn:microsoft.com/office/officeart/2005/8/layout/hProcess11"/>
    <dgm:cxn modelId="{A9826430-0010-1143-A8E6-9C1D0B5CAC8E}" srcId="{17650EC2-3906-EE4D-99B6-52E8505A13EA}" destId="{7E4B0266-2C09-4B42-84DD-77F3BF44AA33}" srcOrd="1" destOrd="0" parTransId="{B2DE85CC-8698-0A49-AC3A-F39A0D1AD37B}" sibTransId="{AC1784D6-D722-A44D-9F6B-F8A88CECCAC0}"/>
    <dgm:cxn modelId="{3CE94B4C-BB8E-0646-9CBA-9B3899C2D6DE}" srcId="{17650EC2-3906-EE4D-99B6-52E8505A13EA}" destId="{6D4E4D78-7E0E-CB4B-BF2A-942DFF8A9079}" srcOrd="2" destOrd="0" parTransId="{F6B70ABC-BA85-7E4E-9780-816FB53EFF37}" sibTransId="{E466F655-C131-5F49-A04F-F20B04EB95D6}"/>
    <dgm:cxn modelId="{3CD89C6C-0A2A-1742-9032-7902D3D24ED9}" srcId="{17650EC2-3906-EE4D-99B6-52E8505A13EA}" destId="{20D4E23A-A8C0-A64F-83DC-F2A8EAB7F4CD}" srcOrd="4" destOrd="0" parTransId="{ED2AA20C-3ACF-A948-9954-9C9BE02CD2F6}" sibTransId="{02D8CFC9-ECAC-574C-8D5A-0109EA6B2347}"/>
    <dgm:cxn modelId="{943D786D-F021-7742-AC1E-F352812DF33A}" type="presOf" srcId="{5B6B42DC-180D-2C44-9DFE-621EB3A413E3}" destId="{57FE2081-BE33-2C4A-891E-2BB614041C39}" srcOrd="0" destOrd="0" presId="urn:microsoft.com/office/officeart/2005/8/layout/hProcess11"/>
    <dgm:cxn modelId="{FB62F87E-5F14-2548-B666-6831F8AAFC52}" type="presOf" srcId="{13ABDB85-1AA7-8A4F-9B86-A67B203C6F4E}" destId="{4F7426FF-C59C-8C4E-BCA5-97FDAC08690A}" srcOrd="0" destOrd="1" presId="urn:microsoft.com/office/officeart/2005/8/layout/hProcess11"/>
    <dgm:cxn modelId="{3DE05190-EE84-F543-9CD1-D6975C2CC94E}" type="presOf" srcId="{20D4E23A-A8C0-A64F-83DC-F2A8EAB7F4CD}" destId="{4F7426FF-C59C-8C4E-BCA5-97FDAC08690A}" srcOrd="0" destOrd="0" presId="urn:microsoft.com/office/officeart/2005/8/layout/hProcess11"/>
    <dgm:cxn modelId="{78442B91-2042-644C-B78D-2EF10D398BF0}" type="presOf" srcId="{17650EC2-3906-EE4D-99B6-52E8505A13EA}" destId="{F199CCFF-B029-CE4A-86B7-ED578FD9114D}" srcOrd="0" destOrd="0" presId="urn:microsoft.com/office/officeart/2005/8/layout/hProcess11"/>
    <dgm:cxn modelId="{FE75EA9E-6D68-3643-BFE0-D11D5A65005F}" type="presOf" srcId="{6D4E4D78-7E0E-CB4B-BF2A-942DFF8A9079}" destId="{68450F65-B7D1-C442-9387-26EE68DE0405}" srcOrd="0" destOrd="0" presId="urn:microsoft.com/office/officeart/2005/8/layout/hProcess11"/>
    <dgm:cxn modelId="{2AA411CA-447E-F14A-8153-EFB312396FCA}" srcId="{20D4E23A-A8C0-A64F-83DC-F2A8EAB7F4CD}" destId="{13ABDB85-1AA7-8A4F-9B86-A67B203C6F4E}" srcOrd="0" destOrd="0" parTransId="{5C2C4B71-AFED-B04E-80D7-F42C9FFC1698}" sibTransId="{404F7357-1746-CA47-8763-050B64A19C54}"/>
    <dgm:cxn modelId="{8B02F1D2-EBF0-FD4B-8449-0EF6FC27FE2E}" type="presOf" srcId="{CC2A14A7-D578-EF4F-957C-71E2D8CD49CE}" destId="{AECA710D-D355-E646-A7BB-EB328F5C2643}" srcOrd="0" destOrd="0" presId="urn:microsoft.com/office/officeart/2005/8/layout/hProcess11"/>
    <dgm:cxn modelId="{01EB26D8-B632-734B-9491-E6A79DB4FC19}" type="presOf" srcId="{7E4B0266-2C09-4B42-84DD-77F3BF44AA33}" destId="{396BDE89-FCC1-E541-9ADE-A4D83F72FFEA}" srcOrd="0" destOrd="0" presId="urn:microsoft.com/office/officeart/2005/8/layout/hProcess11"/>
    <dgm:cxn modelId="{4EB596E6-A252-1B44-BE4C-ED417B2E3407}" srcId="{17650EC2-3906-EE4D-99B6-52E8505A13EA}" destId="{5B6B42DC-180D-2C44-9DFE-621EB3A413E3}" srcOrd="0" destOrd="0" parTransId="{79853258-A707-244A-8DC0-2A5919944FA8}" sibTransId="{45D4D0F6-B95E-FC41-B725-24925D1EBB4A}"/>
    <dgm:cxn modelId="{42CE8864-B2B5-A24C-BE91-81F75814E37D}" type="presParOf" srcId="{F199CCFF-B029-CE4A-86B7-ED578FD9114D}" destId="{04A98750-A22E-E144-85E8-F4570D51A474}" srcOrd="0" destOrd="0" presId="urn:microsoft.com/office/officeart/2005/8/layout/hProcess11"/>
    <dgm:cxn modelId="{313CF6D9-6B3A-614D-994B-44CE57459543}" type="presParOf" srcId="{F199CCFF-B029-CE4A-86B7-ED578FD9114D}" destId="{E29933DD-14FF-D646-9182-AF0745E36C6B}" srcOrd="1" destOrd="0" presId="urn:microsoft.com/office/officeart/2005/8/layout/hProcess11"/>
    <dgm:cxn modelId="{9EB85F9D-9A45-5042-AC3C-05C3A84AE82F}" type="presParOf" srcId="{E29933DD-14FF-D646-9182-AF0745E36C6B}" destId="{9F4561B0-FB1D-E849-A924-AF550FF61B19}" srcOrd="0" destOrd="0" presId="urn:microsoft.com/office/officeart/2005/8/layout/hProcess11"/>
    <dgm:cxn modelId="{957FD8ED-2948-D045-9E72-B0AC06B3650E}" type="presParOf" srcId="{9F4561B0-FB1D-E849-A924-AF550FF61B19}" destId="{57FE2081-BE33-2C4A-891E-2BB614041C39}" srcOrd="0" destOrd="0" presId="urn:microsoft.com/office/officeart/2005/8/layout/hProcess11"/>
    <dgm:cxn modelId="{75FAAF92-6237-3C48-A7AE-E9CDB53563FD}" type="presParOf" srcId="{9F4561B0-FB1D-E849-A924-AF550FF61B19}" destId="{097B1AA5-F856-8742-B675-F1FF43B6838A}" srcOrd="1" destOrd="0" presId="urn:microsoft.com/office/officeart/2005/8/layout/hProcess11"/>
    <dgm:cxn modelId="{4A2CBCF9-7D9D-1847-9086-A044F08E32AB}" type="presParOf" srcId="{9F4561B0-FB1D-E849-A924-AF550FF61B19}" destId="{7C50CEA0-FBF5-654C-A27E-2CC490527C99}" srcOrd="2" destOrd="0" presId="urn:microsoft.com/office/officeart/2005/8/layout/hProcess11"/>
    <dgm:cxn modelId="{0161A828-D15F-384E-B29E-6F2B6B2CC9E9}" type="presParOf" srcId="{E29933DD-14FF-D646-9182-AF0745E36C6B}" destId="{05917DBA-1291-8E48-AFEC-0533D1075C36}" srcOrd="1" destOrd="0" presId="urn:microsoft.com/office/officeart/2005/8/layout/hProcess11"/>
    <dgm:cxn modelId="{AF47BBF3-0ECB-4F43-99C3-DFAA996D6BB4}" type="presParOf" srcId="{E29933DD-14FF-D646-9182-AF0745E36C6B}" destId="{23ABF949-F6B5-4B42-BDC1-CE64B6127029}" srcOrd="2" destOrd="0" presId="urn:microsoft.com/office/officeart/2005/8/layout/hProcess11"/>
    <dgm:cxn modelId="{A39B0438-0A3B-2549-A7DD-0CBC0F0EEB24}" type="presParOf" srcId="{23ABF949-F6B5-4B42-BDC1-CE64B6127029}" destId="{396BDE89-FCC1-E541-9ADE-A4D83F72FFEA}" srcOrd="0" destOrd="0" presId="urn:microsoft.com/office/officeart/2005/8/layout/hProcess11"/>
    <dgm:cxn modelId="{B9C1F074-DF67-CA41-BE68-4B286F17BDEA}" type="presParOf" srcId="{23ABF949-F6B5-4B42-BDC1-CE64B6127029}" destId="{9F37F097-1721-134F-83A5-6A4E0CCF062D}" srcOrd="1" destOrd="0" presId="urn:microsoft.com/office/officeart/2005/8/layout/hProcess11"/>
    <dgm:cxn modelId="{D9773A1F-E913-B147-A797-2967D46BB110}" type="presParOf" srcId="{23ABF949-F6B5-4B42-BDC1-CE64B6127029}" destId="{FBD1F262-0290-9E4F-89DC-4C5F47E8D4E6}" srcOrd="2" destOrd="0" presId="urn:microsoft.com/office/officeart/2005/8/layout/hProcess11"/>
    <dgm:cxn modelId="{DCF661E8-FF06-D84E-874D-AA9DD6861B73}" type="presParOf" srcId="{E29933DD-14FF-D646-9182-AF0745E36C6B}" destId="{B90B3353-0660-EF44-9D1B-0C1FCFF2EDC7}" srcOrd="3" destOrd="0" presId="urn:microsoft.com/office/officeart/2005/8/layout/hProcess11"/>
    <dgm:cxn modelId="{840E1377-E514-734A-8D19-DED32C5BD20B}" type="presParOf" srcId="{E29933DD-14FF-D646-9182-AF0745E36C6B}" destId="{53B4EC22-9CD5-7845-97BE-AB34A1C7133A}" srcOrd="4" destOrd="0" presId="urn:microsoft.com/office/officeart/2005/8/layout/hProcess11"/>
    <dgm:cxn modelId="{1E87A325-C4D6-3847-891E-EFAE01B7259F}" type="presParOf" srcId="{53B4EC22-9CD5-7845-97BE-AB34A1C7133A}" destId="{68450F65-B7D1-C442-9387-26EE68DE0405}" srcOrd="0" destOrd="0" presId="urn:microsoft.com/office/officeart/2005/8/layout/hProcess11"/>
    <dgm:cxn modelId="{3AFFDA78-1BAC-284E-ADFA-E6C61D665489}" type="presParOf" srcId="{53B4EC22-9CD5-7845-97BE-AB34A1C7133A}" destId="{B4780650-EFE4-A94C-974F-2DDEC86E194B}" srcOrd="1" destOrd="0" presId="urn:microsoft.com/office/officeart/2005/8/layout/hProcess11"/>
    <dgm:cxn modelId="{0534FAE7-670E-C94E-9D53-0AFCC0F8F208}" type="presParOf" srcId="{53B4EC22-9CD5-7845-97BE-AB34A1C7133A}" destId="{EFEB2126-D80B-D446-B5FA-29DEFA5AEBF6}" srcOrd="2" destOrd="0" presId="urn:microsoft.com/office/officeart/2005/8/layout/hProcess11"/>
    <dgm:cxn modelId="{6C23D0DD-FCE1-0A4F-AA22-3BCB2CDC9485}" type="presParOf" srcId="{E29933DD-14FF-D646-9182-AF0745E36C6B}" destId="{B18B6DB3-0787-274A-AA97-5AD6B8B4B260}" srcOrd="5" destOrd="0" presId="urn:microsoft.com/office/officeart/2005/8/layout/hProcess11"/>
    <dgm:cxn modelId="{52E35F0A-BAC5-004E-8262-6622AF404E4F}" type="presParOf" srcId="{E29933DD-14FF-D646-9182-AF0745E36C6B}" destId="{6F60F3E6-B141-1B45-AD58-1956E8B219C6}" srcOrd="6" destOrd="0" presId="urn:microsoft.com/office/officeart/2005/8/layout/hProcess11"/>
    <dgm:cxn modelId="{DAC03372-BED8-3B4B-81F8-CEF179FAD7B8}" type="presParOf" srcId="{6F60F3E6-B141-1B45-AD58-1956E8B219C6}" destId="{AECA710D-D355-E646-A7BB-EB328F5C2643}" srcOrd="0" destOrd="0" presId="urn:microsoft.com/office/officeart/2005/8/layout/hProcess11"/>
    <dgm:cxn modelId="{40DD0B8B-EF5D-8746-9099-BE85892B11AF}" type="presParOf" srcId="{6F60F3E6-B141-1B45-AD58-1956E8B219C6}" destId="{601860E8-A992-8F42-AA96-D113C1174D42}" srcOrd="1" destOrd="0" presId="urn:microsoft.com/office/officeart/2005/8/layout/hProcess11"/>
    <dgm:cxn modelId="{7B385BC3-56B3-384D-A447-552AB011BB91}" type="presParOf" srcId="{6F60F3E6-B141-1B45-AD58-1956E8B219C6}" destId="{578AEAA6-9D49-0745-B77B-68013B13807B}" srcOrd="2" destOrd="0" presId="urn:microsoft.com/office/officeart/2005/8/layout/hProcess11"/>
    <dgm:cxn modelId="{6B2335CC-DF92-3947-B42B-55A55326CF9B}" type="presParOf" srcId="{E29933DD-14FF-D646-9182-AF0745E36C6B}" destId="{9A0895CD-09BB-EF46-A7BD-0F9B39417ADA}" srcOrd="7" destOrd="0" presId="urn:microsoft.com/office/officeart/2005/8/layout/hProcess11"/>
    <dgm:cxn modelId="{3E885A2A-D561-1A4F-AF48-CF3D8BB32518}" type="presParOf" srcId="{E29933DD-14FF-D646-9182-AF0745E36C6B}" destId="{02705322-08FA-CA44-9F93-297329281E34}" srcOrd="8" destOrd="0" presId="urn:microsoft.com/office/officeart/2005/8/layout/hProcess11"/>
    <dgm:cxn modelId="{99D52969-F548-BE4C-B4E4-FEB62BE6B344}" type="presParOf" srcId="{02705322-08FA-CA44-9F93-297329281E34}" destId="{4F7426FF-C59C-8C4E-BCA5-97FDAC08690A}" srcOrd="0" destOrd="0" presId="urn:microsoft.com/office/officeart/2005/8/layout/hProcess11"/>
    <dgm:cxn modelId="{493DA18D-375F-8A4F-A9F6-8311FD342B09}" type="presParOf" srcId="{02705322-08FA-CA44-9F93-297329281E34}" destId="{C10A1FA9-FE59-1849-8BB4-2C6ADF800F55}" srcOrd="1" destOrd="0" presId="urn:microsoft.com/office/officeart/2005/8/layout/hProcess11"/>
    <dgm:cxn modelId="{EEE3CB88-5D03-A84A-9B44-66A285451CD5}" type="presParOf" srcId="{02705322-08FA-CA44-9F93-297329281E34}" destId="{F977441F-F26B-204C-B0AF-9866F7BC5CF9}"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77C67-B24F-6A49-8EF8-E21AE295BA78}">
      <dsp:nvSpPr>
        <dsp:cNvPr id="0" name=""/>
        <dsp:cNvSpPr/>
      </dsp:nvSpPr>
      <dsp:spPr>
        <a:xfrm>
          <a:off x="0" y="0"/>
          <a:ext cx="8115650" cy="5125674"/>
        </a:xfrm>
        <a:prstGeom prst="roundRect">
          <a:avLst>
            <a:gd name="adj" fmla="val 8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3978093" numCol="1" spcCol="1270" anchor="t" anchorCtr="0">
          <a:noAutofit/>
        </a:bodyPr>
        <a:lstStyle/>
        <a:p>
          <a:pPr marL="0" lvl="0" indent="0" algn="l" defTabSz="1289050" rtl="0">
            <a:lnSpc>
              <a:spcPct val="90000"/>
            </a:lnSpc>
            <a:spcBef>
              <a:spcPct val="0"/>
            </a:spcBef>
            <a:spcAft>
              <a:spcPct val="35000"/>
            </a:spcAft>
            <a:buNone/>
          </a:pPr>
          <a:r>
            <a:rPr lang="en-US" sz="2900" kern="1200" dirty="0">
              <a:solidFill>
                <a:sysClr val="window" lastClr="FFFFFF"/>
              </a:solidFill>
              <a:latin typeface="Rockwell"/>
              <a:ea typeface="+mn-ea"/>
              <a:cs typeface="+mn-cs"/>
            </a:rPr>
            <a:t>The two most important characteristics of memory</a:t>
          </a:r>
        </a:p>
      </dsp:txBody>
      <dsp:txXfrm>
        <a:off x="127607" y="127607"/>
        <a:ext cx="7860436" cy="4870460"/>
      </dsp:txXfrm>
    </dsp:sp>
    <dsp:sp modelId="{8A95A152-734B-A745-AAE7-3D32D8C60BCF}">
      <dsp:nvSpPr>
        <dsp:cNvPr id="0" name=""/>
        <dsp:cNvSpPr/>
      </dsp:nvSpPr>
      <dsp:spPr>
        <a:xfrm>
          <a:off x="202891" y="1281418"/>
          <a:ext cx="7709867" cy="3587971"/>
        </a:xfrm>
        <a:prstGeom prst="roundRect">
          <a:avLst>
            <a:gd name="adj" fmla="val 10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2278362" numCol="1" spcCol="1270" anchor="t" anchorCtr="0">
          <a:noAutofit/>
        </a:bodyPr>
        <a:lstStyle/>
        <a:p>
          <a:pPr marL="0" lvl="0" indent="0" algn="l" defTabSz="889000" rtl="0">
            <a:lnSpc>
              <a:spcPct val="90000"/>
            </a:lnSpc>
            <a:spcBef>
              <a:spcPct val="0"/>
            </a:spcBef>
            <a:spcAft>
              <a:spcPct val="35000"/>
            </a:spcAft>
            <a:buNone/>
          </a:pPr>
          <a:endParaRPr lang="en-US" sz="2000" kern="1200" dirty="0">
            <a:solidFill>
              <a:sysClr val="window" lastClr="FFFFFF"/>
            </a:solidFill>
            <a:latin typeface="Rockwell"/>
            <a:ea typeface="+mn-ea"/>
            <a:cs typeface="+mn-cs"/>
          </a:endParaRPr>
        </a:p>
        <a:p>
          <a:pPr marL="0" lvl="0" indent="0" algn="l" defTabSz="889000" rtl="0">
            <a:lnSpc>
              <a:spcPct val="90000"/>
            </a:lnSpc>
            <a:spcBef>
              <a:spcPct val="0"/>
            </a:spcBef>
            <a:spcAft>
              <a:spcPct val="35000"/>
            </a:spcAft>
            <a:buNone/>
          </a:pPr>
          <a:r>
            <a:rPr lang="en-US" sz="3000" kern="1200" dirty="0">
              <a:solidFill>
                <a:sysClr val="window" lastClr="FFFFFF"/>
              </a:solidFill>
              <a:latin typeface="Rockwell"/>
              <a:ea typeface="+mn-ea"/>
              <a:cs typeface="+mn-cs"/>
            </a:rPr>
            <a:t>Three performance parameters are used:</a:t>
          </a:r>
        </a:p>
      </dsp:txBody>
      <dsp:txXfrm>
        <a:off x="313233" y="1391760"/>
        <a:ext cx="7489183" cy="3367287"/>
      </dsp:txXfrm>
    </dsp:sp>
    <dsp:sp modelId="{4DC5D986-59BC-1740-AC0E-735CF97CB45C}">
      <dsp:nvSpPr>
        <dsp:cNvPr id="0" name=""/>
        <dsp:cNvSpPr/>
      </dsp:nvSpPr>
      <dsp:spPr>
        <a:xfrm>
          <a:off x="395637" y="2896005"/>
          <a:ext cx="2414039" cy="1614587"/>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GB" sz="1400" kern="1200" dirty="0">
              <a:solidFill>
                <a:sysClr val="windowText" lastClr="000000">
                  <a:hueOff val="0"/>
                  <a:satOff val="0"/>
                  <a:lumOff val="0"/>
                  <a:alphaOff val="0"/>
                </a:sysClr>
              </a:solidFill>
              <a:latin typeface="Rockwell"/>
              <a:ea typeface="+mn-ea"/>
              <a:cs typeface="+mn-cs"/>
            </a:rPr>
            <a:t>Access time (latency)</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For random-access memory it is the time it takes to perform a read or write operation</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For non-random-access memory it is the time it takes to position the read-write mechanism at the desired location</a:t>
          </a:r>
        </a:p>
      </dsp:txBody>
      <dsp:txXfrm>
        <a:off x="445291" y="2945659"/>
        <a:ext cx="2314731" cy="1515279"/>
      </dsp:txXfrm>
    </dsp:sp>
    <dsp:sp modelId="{DCA2CBFE-8F07-BB4E-8414-CF97B200D168}">
      <dsp:nvSpPr>
        <dsp:cNvPr id="0" name=""/>
        <dsp:cNvSpPr/>
      </dsp:nvSpPr>
      <dsp:spPr>
        <a:xfrm>
          <a:off x="2849799" y="2776405"/>
          <a:ext cx="2414039" cy="1853788"/>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Memory cycle time</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Access time plus any additional time required before second access can commence</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Additional time may be required for transients to die out on signal lines or to regenerate data if they are read destructively</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Concerned with the system bus, not the processor</a:t>
          </a:r>
        </a:p>
      </dsp:txBody>
      <dsp:txXfrm>
        <a:off x="2906809" y="2833415"/>
        <a:ext cx="2300019" cy="1739768"/>
      </dsp:txXfrm>
    </dsp:sp>
    <dsp:sp modelId="{8D7CAF80-BCAD-AF40-83EC-CA9E025213FC}">
      <dsp:nvSpPr>
        <dsp:cNvPr id="0" name=""/>
        <dsp:cNvSpPr/>
      </dsp:nvSpPr>
      <dsp:spPr>
        <a:xfrm>
          <a:off x="5303961" y="2896005"/>
          <a:ext cx="2414039" cy="1614587"/>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Transfer rate</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The rate at which data can be transferred into or out of a memory unit</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For random-access memory it is equal to 1/(cycle time)</a:t>
          </a:r>
        </a:p>
      </dsp:txBody>
      <dsp:txXfrm>
        <a:off x="5353615" y="2945659"/>
        <a:ext cx="2314731" cy="15152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1B929-E516-5443-B0F5-EC0B30A47FDB}">
      <dsp:nvSpPr>
        <dsp:cNvPr id="0" name=""/>
        <dsp:cNvSpPr/>
      </dsp:nvSpPr>
      <dsp:spPr>
        <a:xfrm>
          <a:off x="237" y="1184871"/>
          <a:ext cx="4048319" cy="1012079"/>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latin typeface="Rockwell"/>
              <a:ea typeface="+mn-ea"/>
              <a:cs typeface="+mn-cs"/>
            </a:rPr>
            <a:t>When a block that is resident in the cache is to be replaced there are two cases to consider:</a:t>
          </a:r>
        </a:p>
      </dsp:txBody>
      <dsp:txXfrm>
        <a:off x="29880" y="1214514"/>
        <a:ext cx="3989033" cy="952793"/>
      </dsp:txXfrm>
    </dsp:sp>
    <dsp:sp modelId="{D31FB0BD-CB04-3C41-B317-3A5187E6AE93}">
      <dsp:nvSpPr>
        <dsp:cNvPr id="0" name=""/>
        <dsp:cNvSpPr/>
      </dsp:nvSpPr>
      <dsp:spPr>
        <a:xfrm rot="5400000">
          <a:off x="1935840" y="2285508"/>
          <a:ext cx="177113" cy="177113"/>
        </a:xfrm>
        <a:prstGeom prst="rightArrow">
          <a:avLst>
            <a:gd name="adj1" fmla="val 66700"/>
            <a:gd name="adj2" fmla="val 50000"/>
          </a:avLst>
        </a:prstGeom>
        <a:solidFill>
          <a:srgbClr val="999966"/>
        </a:solidFill>
        <a:ln>
          <a:noFill/>
        </a:ln>
        <a:effectLst/>
      </dsp:spPr>
      <dsp:style>
        <a:lnRef idx="0">
          <a:scrgbClr r="0" g="0" b="0"/>
        </a:lnRef>
        <a:fillRef idx="3">
          <a:scrgbClr r="0" g="0" b="0"/>
        </a:fillRef>
        <a:effectRef idx="2">
          <a:scrgbClr r="0" g="0" b="0"/>
        </a:effectRef>
        <a:fontRef idx="minor">
          <a:schemeClr val="lt1"/>
        </a:fontRef>
      </dsp:style>
    </dsp:sp>
    <dsp:sp modelId="{3142DD91-2917-CC41-9BFA-CF928F5CC795}">
      <dsp:nvSpPr>
        <dsp:cNvPr id="0" name=""/>
        <dsp:cNvSpPr/>
      </dsp:nvSpPr>
      <dsp:spPr>
        <a:xfrm>
          <a:off x="237" y="2551179"/>
          <a:ext cx="4048319" cy="1012079"/>
        </a:xfrm>
        <a:prstGeom prst="roundRect">
          <a:avLst>
            <a:gd name="adj" fmla="val 10000"/>
          </a:avLst>
        </a:prstGeom>
        <a:solidFill>
          <a:srgbClr val="663366">
            <a:alpha val="90000"/>
            <a:tint val="40000"/>
            <a:hueOff val="0"/>
            <a:satOff val="0"/>
            <a:lumOff val="0"/>
            <a:alphaOff val="0"/>
          </a:srgbClr>
        </a:solidFill>
        <a:ln w="12700" cap="flat" cmpd="sng" algn="ctr">
          <a:solidFill>
            <a:srgbClr val="999966"/>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Text" lastClr="000000">
                  <a:hueOff val="0"/>
                  <a:satOff val="0"/>
                  <a:lumOff val="0"/>
                  <a:alphaOff val="0"/>
                </a:sysClr>
              </a:solidFill>
              <a:latin typeface="Rockwell"/>
              <a:ea typeface="+mn-ea"/>
              <a:cs typeface="+mn-cs"/>
            </a:rPr>
            <a:t>If the old block in the cache has not been altered then it may be overwritten with a new block without first writing out the old block</a:t>
          </a:r>
        </a:p>
      </dsp:txBody>
      <dsp:txXfrm>
        <a:off x="29880" y="2580822"/>
        <a:ext cx="3989033" cy="952793"/>
      </dsp:txXfrm>
    </dsp:sp>
    <dsp:sp modelId="{2D23DC65-2635-7547-AB3F-AED6672AFFE6}">
      <dsp:nvSpPr>
        <dsp:cNvPr id="0" name=""/>
        <dsp:cNvSpPr/>
      </dsp:nvSpPr>
      <dsp:spPr>
        <a:xfrm rot="5400000">
          <a:off x="1935840" y="3651816"/>
          <a:ext cx="177113" cy="177113"/>
        </a:xfrm>
        <a:prstGeom prst="rightArrow">
          <a:avLst>
            <a:gd name="adj1" fmla="val 66700"/>
            <a:gd name="adj2" fmla="val 50000"/>
          </a:avLst>
        </a:prstGeom>
        <a:solidFill>
          <a:srgbClr val="999966"/>
        </a:solidFill>
        <a:ln>
          <a:noFill/>
        </a:ln>
        <a:effectLst/>
      </dsp:spPr>
      <dsp:style>
        <a:lnRef idx="0">
          <a:scrgbClr r="0" g="0" b="0"/>
        </a:lnRef>
        <a:fillRef idx="3">
          <a:scrgbClr r="0" g="0" b="0"/>
        </a:fillRef>
        <a:effectRef idx="2">
          <a:scrgbClr r="0" g="0" b="0"/>
        </a:effectRef>
        <a:fontRef idx="minor">
          <a:schemeClr val="lt1"/>
        </a:fontRef>
      </dsp:style>
    </dsp:sp>
    <dsp:sp modelId="{4A68EEB7-D5C7-EF47-A954-BD8607821E05}">
      <dsp:nvSpPr>
        <dsp:cNvPr id="0" name=""/>
        <dsp:cNvSpPr/>
      </dsp:nvSpPr>
      <dsp:spPr>
        <a:xfrm>
          <a:off x="237" y="3917487"/>
          <a:ext cx="4048319" cy="1829881"/>
        </a:xfrm>
        <a:prstGeom prst="roundRect">
          <a:avLst>
            <a:gd name="adj" fmla="val 10000"/>
          </a:avLst>
        </a:prstGeom>
        <a:solidFill>
          <a:srgbClr val="663366">
            <a:alpha val="90000"/>
            <a:tint val="40000"/>
            <a:hueOff val="0"/>
            <a:satOff val="0"/>
            <a:lumOff val="0"/>
            <a:alphaOff val="0"/>
          </a:srgbClr>
        </a:solidFill>
        <a:ln w="12700" cap="flat" cmpd="sng" algn="ctr">
          <a:solidFill>
            <a:srgbClr val="999966"/>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Text" lastClr="000000">
                  <a:hueOff val="0"/>
                  <a:satOff val="0"/>
                  <a:lumOff val="0"/>
                  <a:alphaOff val="0"/>
                </a:sysClr>
              </a:solidFill>
              <a:latin typeface="Rockwell"/>
              <a:ea typeface="+mn-ea"/>
              <a:cs typeface="+mn-cs"/>
            </a:rPr>
            <a:t>If at least one write operation has been performed on a word in that line of the cache then main memory must be updated by writing the line of cache out to the block of memory before bringing in the new block</a:t>
          </a:r>
        </a:p>
      </dsp:txBody>
      <dsp:txXfrm>
        <a:off x="53832" y="3971082"/>
        <a:ext cx="3941129" cy="1722691"/>
      </dsp:txXfrm>
    </dsp:sp>
    <dsp:sp modelId="{59333D82-04E3-344E-9F6D-7A52667AD3BD}">
      <dsp:nvSpPr>
        <dsp:cNvPr id="0" name=""/>
        <dsp:cNvSpPr/>
      </dsp:nvSpPr>
      <dsp:spPr>
        <a:xfrm>
          <a:off x="4615322" y="1184871"/>
          <a:ext cx="4048319" cy="1012079"/>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latin typeface="Rockwell"/>
              <a:ea typeface="+mn-ea"/>
              <a:cs typeface="+mn-cs"/>
            </a:rPr>
            <a:t>There are two problems to contend with:</a:t>
          </a:r>
        </a:p>
      </dsp:txBody>
      <dsp:txXfrm>
        <a:off x="4644965" y="1214514"/>
        <a:ext cx="3989033" cy="952793"/>
      </dsp:txXfrm>
    </dsp:sp>
    <dsp:sp modelId="{23FB0AB2-D708-C74D-9705-EFCC30F8BF72}">
      <dsp:nvSpPr>
        <dsp:cNvPr id="0" name=""/>
        <dsp:cNvSpPr/>
      </dsp:nvSpPr>
      <dsp:spPr>
        <a:xfrm rot="5400000">
          <a:off x="6550925" y="2285508"/>
          <a:ext cx="177113" cy="177113"/>
        </a:xfrm>
        <a:prstGeom prst="rightArrow">
          <a:avLst>
            <a:gd name="adj1" fmla="val 66700"/>
            <a:gd name="adj2" fmla="val 50000"/>
          </a:avLst>
        </a:prstGeom>
        <a:solidFill>
          <a:srgbClr val="666699"/>
        </a:solidFill>
        <a:ln>
          <a:noFill/>
        </a:ln>
        <a:effectLst/>
      </dsp:spPr>
      <dsp:style>
        <a:lnRef idx="0">
          <a:scrgbClr r="0" g="0" b="0"/>
        </a:lnRef>
        <a:fillRef idx="3">
          <a:scrgbClr r="0" g="0" b="0"/>
        </a:fillRef>
        <a:effectRef idx="2">
          <a:scrgbClr r="0" g="0" b="0"/>
        </a:effectRef>
        <a:fontRef idx="minor">
          <a:schemeClr val="lt1"/>
        </a:fontRef>
      </dsp:style>
    </dsp:sp>
    <dsp:sp modelId="{7F36AA80-5C05-2F49-B7E9-B7C655619CE6}">
      <dsp:nvSpPr>
        <dsp:cNvPr id="0" name=""/>
        <dsp:cNvSpPr/>
      </dsp:nvSpPr>
      <dsp:spPr>
        <a:xfrm>
          <a:off x="4615322" y="2551179"/>
          <a:ext cx="4048319" cy="1012079"/>
        </a:xfrm>
        <a:prstGeom prst="roundRect">
          <a:avLst>
            <a:gd name="adj" fmla="val 10000"/>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Text" lastClr="000000">
                  <a:hueOff val="0"/>
                  <a:satOff val="0"/>
                  <a:lumOff val="0"/>
                  <a:alphaOff val="0"/>
                </a:sysClr>
              </a:solidFill>
              <a:latin typeface="Rockwell"/>
              <a:ea typeface="+mn-ea"/>
              <a:cs typeface="+mn-cs"/>
            </a:rPr>
            <a:t>More than one device may have access to main memory</a:t>
          </a:r>
        </a:p>
      </dsp:txBody>
      <dsp:txXfrm>
        <a:off x="4644965" y="2580822"/>
        <a:ext cx="3989033" cy="952793"/>
      </dsp:txXfrm>
    </dsp:sp>
    <dsp:sp modelId="{B3C789D7-F7F9-6047-9980-E16EE5BCCF23}">
      <dsp:nvSpPr>
        <dsp:cNvPr id="0" name=""/>
        <dsp:cNvSpPr/>
      </dsp:nvSpPr>
      <dsp:spPr>
        <a:xfrm rot="5400000">
          <a:off x="6550925" y="3651816"/>
          <a:ext cx="177113" cy="177113"/>
        </a:xfrm>
        <a:prstGeom prst="rightArrow">
          <a:avLst>
            <a:gd name="adj1" fmla="val 66700"/>
            <a:gd name="adj2" fmla="val 50000"/>
          </a:avLst>
        </a:prstGeom>
        <a:solidFill>
          <a:srgbClr val="666699"/>
        </a:solidFill>
        <a:ln>
          <a:noFill/>
        </a:ln>
        <a:effectLst/>
      </dsp:spPr>
      <dsp:style>
        <a:lnRef idx="0">
          <a:scrgbClr r="0" g="0" b="0"/>
        </a:lnRef>
        <a:fillRef idx="3">
          <a:scrgbClr r="0" g="0" b="0"/>
        </a:fillRef>
        <a:effectRef idx="2">
          <a:scrgbClr r="0" g="0" b="0"/>
        </a:effectRef>
        <a:fontRef idx="minor">
          <a:schemeClr val="lt1"/>
        </a:fontRef>
      </dsp:style>
    </dsp:sp>
    <dsp:sp modelId="{70DA93BB-D5B7-C048-B918-81E67A7815CD}">
      <dsp:nvSpPr>
        <dsp:cNvPr id="0" name=""/>
        <dsp:cNvSpPr/>
      </dsp:nvSpPr>
      <dsp:spPr>
        <a:xfrm>
          <a:off x="4636110" y="3917487"/>
          <a:ext cx="4006743" cy="1735180"/>
        </a:xfrm>
        <a:prstGeom prst="roundRect">
          <a:avLst>
            <a:gd name="adj" fmla="val 10000"/>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ysClr val="windowText" lastClr="000000">
                  <a:hueOff val="0"/>
                  <a:satOff val="0"/>
                  <a:lumOff val="0"/>
                  <a:alphaOff val="0"/>
                </a:sysClr>
              </a:solidFill>
              <a:latin typeface="Rockwell"/>
              <a:ea typeface="+mn-ea"/>
              <a:cs typeface="+mn-cs"/>
            </a:rPr>
            <a:t>A more complex problem occurs when multiple processors are attached to the same bus and each processor has its own local cache - if a word is altered in one cache it could conceivably invalidate a word in other caches</a:t>
          </a:r>
        </a:p>
      </dsp:txBody>
      <dsp:txXfrm>
        <a:off x="4686932" y="3968309"/>
        <a:ext cx="3905099" cy="16335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98750-A22E-E144-85E8-F4570D51A474}">
      <dsp:nvSpPr>
        <dsp:cNvPr id="0" name=""/>
        <dsp:cNvSpPr/>
      </dsp:nvSpPr>
      <dsp:spPr>
        <a:xfrm>
          <a:off x="0" y="1725605"/>
          <a:ext cx="8173540" cy="2300807"/>
        </a:xfrm>
        <a:prstGeom prst="notchedRightArrow">
          <a:avLst/>
        </a:prstGeom>
        <a:solidFill>
          <a:schemeClr val="accent1">
            <a:tint val="40000"/>
            <a:hueOff val="0"/>
            <a:satOff val="0"/>
            <a:lumOff val="0"/>
            <a:alphaOff val="0"/>
          </a:schemeClr>
        </a:solidFill>
        <a:ln>
          <a:solidFill>
            <a:schemeClr val="accent3"/>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7FE2081-BE33-2C4A-891E-2BB614041C39}">
      <dsp:nvSpPr>
        <dsp:cNvPr id="0" name=""/>
        <dsp:cNvSpPr/>
      </dsp:nvSpPr>
      <dsp:spPr>
        <a:xfrm>
          <a:off x="590" y="0"/>
          <a:ext cx="1375692" cy="2300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rtl="0">
            <a:lnSpc>
              <a:spcPct val="90000"/>
            </a:lnSpc>
            <a:spcBef>
              <a:spcPct val="0"/>
            </a:spcBef>
            <a:spcAft>
              <a:spcPct val="35000"/>
            </a:spcAft>
            <a:buNone/>
          </a:pPr>
          <a:r>
            <a:rPr lang="en-US" sz="1100" kern="1200" dirty="0"/>
            <a:t>When a block of data is retrieved and placed in the cache not only the desired word but also some number of adjacent words are retrieved</a:t>
          </a:r>
        </a:p>
      </dsp:txBody>
      <dsp:txXfrm>
        <a:off x="590" y="0"/>
        <a:ext cx="1375692" cy="2300807"/>
      </dsp:txXfrm>
    </dsp:sp>
    <dsp:sp modelId="{097B1AA5-F856-8742-B675-F1FF43B6838A}">
      <dsp:nvSpPr>
        <dsp:cNvPr id="0" name=""/>
        <dsp:cNvSpPr/>
      </dsp:nvSpPr>
      <dsp:spPr>
        <a:xfrm>
          <a:off x="524475" y="2571491"/>
          <a:ext cx="575201" cy="575201"/>
        </a:xfrm>
        <a:prstGeom prst="ellipse">
          <a:avLst/>
        </a:prstGeom>
        <a:solidFill>
          <a:schemeClr val="accent4"/>
        </a:solidFill>
        <a:ln>
          <a:solidFill>
            <a:schemeClr val="accent4"/>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96BDE89-FCC1-E541-9ADE-A4D83F72FFEA}">
      <dsp:nvSpPr>
        <dsp:cNvPr id="0" name=""/>
        <dsp:cNvSpPr/>
      </dsp:nvSpPr>
      <dsp:spPr>
        <a:xfrm>
          <a:off x="1445068" y="3451210"/>
          <a:ext cx="1375692" cy="2300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rtl="0">
            <a:lnSpc>
              <a:spcPct val="90000"/>
            </a:lnSpc>
            <a:spcBef>
              <a:spcPct val="0"/>
            </a:spcBef>
            <a:spcAft>
              <a:spcPct val="35000"/>
            </a:spcAft>
            <a:buNone/>
          </a:pPr>
          <a:r>
            <a:rPr lang="en-US" sz="1100" kern="1200" dirty="0"/>
            <a:t>As the block size increases the hit ratio will at first increase because of the principle of locality</a:t>
          </a:r>
        </a:p>
      </dsp:txBody>
      <dsp:txXfrm>
        <a:off x="1445068" y="3451210"/>
        <a:ext cx="1375692" cy="2300807"/>
      </dsp:txXfrm>
    </dsp:sp>
    <dsp:sp modelId="{9F37F097-1721-134F-83A5-6A4E0CCF062D}">
      <dsp:nvSpPr>
        <dsp:cNvPr id="0" name=""/>
        <dsp:cNvSpPr/>
      </dsp:nvSpPr>
      <dsp:spPr>
        <a:xfrm>
          <a:off x="1845313" y="2588408"/>
          <a:ext cx="575201" cy="575201"/>
        </a:xfrm>
        <a:prstGeom prst="ellipse">
          <a:avLst/>
        </a:prstGeom>
        <a:solidFill>
          <a:schemeClr val="accent3"/>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8450F65-B7D1-C442-9387-26EE68DE0405}">
      <dsp:nvSpPr>
        <dsp:cNvPr id="0" name=""/>
        <dsp:cNvSpPr/>
      </dsp:nvSpPr>
      <dsp:spPr>
        <a:xfrm>
          <a:off x="2889545" y="0"/>
          <a:ext cx="1375692" cy="2300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rtl="0">
            <a:lnSpc>
              <a:spcPct val="90000"/>
            </a:lnSpc>
            <a:spcBef>
              <a:spcPct val="0"/>
            </a:spcBef>
            <a:spcAft>
              <a:spcPct val="35000"/>
            </a:spcAft>
            <a:buNone/>
          </a:pPr>
          <a:r>
            <a:rPr lang="en-US" sz="1100" kern="1200" dirty="0"/>
            <a:t>As the block size increases more useful data are brought into the cache</a:t>
          </a:r>
        </a:p>
      </dsp:txBody>
      <dsp:txXfrm>
        <a:off x="2889545" y="0"/>
        <a:ext cx="1375692" cy="2300807"/>
      </dsp:txXfrm>
    </dsp:sp>
    <dsp:sp modelId="{B4780650-EFE4-A94C-974F-2DDEC86E194B}">
      <dsp:nvSpPr>
        <dsp:cNvPr id="0" name=""/>
        <dsp:cNvSpPr/>
      </dsp:nvSpPr>
      <dsp:spPr>
        <a:xfrm>
          <a:off x="3289791" y="2588408"/>
          <a:ext cx="575201" cy="575201"/>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accent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ECA710D-D355-E646-A7BB-EB328F5C2643}">
      <dsp:nvSpPr>
        <dsp:cNvPr id="0" name=""/>
        <dsp:cNvSpPr/>
      </dsp:nvSpPr>
      <dsp:spPr>
        <a:xfrm>
          <a:off x="4334023" y="3451210"/>
          <a:ext cx="1375692" cy="2300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rtl="0">
            <a:lnSpc>
              <a:spcPct val="90000"/>
            </a:lnSpc>
            <a:spcBef>
              <a:spcPct val="0"/>
            </a:spcBef>
            <a:spcAft>
              <a:spcPct val="35000"/>
            </a:spcAft>
            <a:buNone/>
          </a:pPr>
          <a:r>
            <a:rPr lang="en-US" sz="1100" kern="1200" dirty="0"/>
            <a:t>The hit ratio will begin to decrease as the block becomes bigger and the probability of using the newly fetched information becomes less than the probability of reusing the information that has to be replaced</a:t>
          </a:r>
        </a:p>
      </dsp:txBody>
      <dsp:txXfrm>
        <a:off x="4334023" y="3451210"/>
        <a:ext cx="1375692" cy="2300807"/>
      </dsp:txXfrm>
    </dsp:sp>
    <dsp:sp modelId="{601860E8-A992-8F42-AA96-D113C1174D42}">
      <dsp:nvSpPr>
        <dsp:cNvPr id="0" name=""/>
        <dsp:cNvSpPr/>
      </dsp:nvSpPr>
      <dsp:spPr>
        <a:xfrm>
          <a:off x="4734269" y="2588408"/>
          <a:ext cx="575201" cy="575201"/>
        </a:xfrm>
        <a:prstGeom prst="ellipse">
          <a:avLst/>
        </a:prstGeom>
        <a:solidFill>
          <a:schemeClr val="accent3"/>
        </a:solidFill>
        <a:ln>
          <a:solidFill>
            <a:schemeClr val="accent3"/>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F7426FF-C59C-8C4E-BCA5-97FDAC08690A}">
      <dsp:nvSpPr>
        <dsp:cNvPr id="0" name=""/>
        <dsp:cNvSpPr/>
      </dsp:nvSpPr>
      <dsp:spPr>
        <a:xfrm>
          <a:off x="5449022" y="0"/>
          <a:ext cx="1577094" cy="23008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1">
          <a:noAutofit/>
        </a:bodyPr>
        <a:lstStyle/>
        <a:p>
          <a:pPr marL="0" lvl="0" indent="0" algn="l" defTabSz="488950" rtl="0">
            <a:lnSpc>
              <a:spcPct val="90000"/>
            </a:lnSpc>
            <a:spcBef>
              <a:spcPct val="0"/>
            </a:spcBef>
            <a:spcAft>
              <a:spcPct val="35000"/>
            </a:spcAft>
            <a:buNone/>
          </a:pPr>
          <a:r>
            <a:rPr lang="en-US" sz="1100" kern="1200" dirty="0"/>
            <a:t>Two specific effects come into play:</a:t>
          </a:r>
        </a:p>
        <a:p>
          <a:pPr marL="57150" lvl="1" indent="-57150" algn="l" defTabSz="400050" rtl="0">
            <a:lnSpc>
              <a:spcPct val="90000"/>
            </a:lnSpc>
            <a:spcBef>
              <a:spcPct val="0"/>
            </a:spcBef>
            <a:spcAft>
              <a:spcPct val="15000"/>
            </a:spcAft>
            <a:buChar char="•"/>
          </a:pPr>
          <a:r>
            <a:rPr lang="en-US" sz="900" kern="1200" dirty="0"/>
            <a:t>Larger blocks reduce the number of blocks that fit into a cache</a:t>
          </a:r>
        </a:p>
        <a:p>
          <a:pPr marL="57150" lvl="1" indent="-57150" algn="l" defTabSz="400050" rtl="0">
            <a:lnSpc>
              <a:spcPct val="90000"/>
            </a:lnSpc>
            <a:spcBef>
              <a:spcPct val="0"/>
            </a:spcBef>
            <a:spcAft>
              <a:spcPct val="15000"/>
            </a:spcAft>
            <a:buChar char="•"/>
          </a:pPr>
          <a:r>
            <a:rPr lang="en-GB" sz="900" kern="1200" dirty="0"/>
            <a:t>As a block becomes larger each additional word is farther from the requested word</a:t>
          </a:r>
        </a:p>
      </dsp:txBody>
      <dsp:txXfrm>
        <a:off x="5449022" y="0"/>
        <a:ext cx="1577094" cy="2300807"/>
      </dsp:txXfrm>
    </dsp:sp>
    <dsp:sp modelId="{C10A1FA9-FE59-1849-8BB4-2C6ADF800F55}">
      <dsp:nvSpPr>
        <dsp:cNvPr id="0" name=""/>
        <dsp:cNvSpPr/>
      </dsp:nvSpPr>
      <dsp:spPr>
        <a:xfrm>
          <a:off x="6065322" y="2571491"/>
          <a:ext cx="575201" cy="575201"/>
        </a:xfrm>
        <a:prstGeom prst="ellipse">
          <a:avLst/>
        </a:prstGeom>
        <a:solidFill>
          <a:schemeClr val="accent4"/>
        </a:solidFill>
        <a:ln>
          <a:solidFill>
            <a:schemeClr val="accent4"/>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8499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0322DCDD-0C19-3441-B848-50C2235D8273}" type="slidenum">
              <a:rPr lang="en-US"/>
              <a:pPr/>
              <a:t>‹#›</a:t>
            </a:fld>
            <a:endParaRPr lang="en-US" dirty="0"/>
          </a:p>
        </p:txBody>
      </p:sp>
    </p:spTree>
    <p:extLst>
      <p:ext uri="{BB962C8B-B14F-4D97-AF65-F5344CB8AC3E}">
        <p14:creationId xmlns:p14="http://schemas.microsoft.com/office/powerpoint/2010/main" val="25581098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6C40E98-D33D-704E-929D-27FB84CF5632}" type="slidenum">
              <a:rPr lang="en-US"/>
              <a:pPr/>
              <a:t>‹#›</a:t>
            </a:fld>
            <a:endParaRPr lang="en-US" dirty="0"/>
          </a:p>
        </p:txBody>
      </p:sp>
    </p:spTree>
    <p:extLst>
      <p:ext uri="{BB962C8B-B14F-4D97-AF65-F5344CB8AC3E}">
        <p14:creationId xmlns:p14="http://schemas.microsoft.com/office/powerpoint/2010/main" val="1823288552"/>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1792549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One of the most important concepts related to computer systems is principle of</a:t>
            </a:r>
          </a:p>
          <a:p>
            <a:r>
              <a:rPr kumimoji="1" lang="en-US" sz="1200" kern="1200" dirty="0">
                <a:solidFill>
                  <a:schemeClr val="tx1"/>
                </a:solidFill>
                <a:effectLst/>
                <a:latin typeface="Times New Roman" pitchFamily="33" charset="0"/>
                <a:ea typeface="+mn-ea"/>
                <a:cs typeface="+mn-cs"/>
              </a:rPr>
              <a:t>locality  [DENN05], also referred to as the locality of reference . The principle reflects</a:t>
            </a:r>
          </a:p>
          <a:p>
            <a:r>
              <a:rPr kumimoji="1" lang="en-US" sz="1200" kern="1200" dirty="0">
                <a:solidFill>
                  <a:schemeClr val="tx1"/>
                </a:solidFill>
                <a:effectLst/>
                <a:latin typeface="Times New Roman" pitchFamily="33" charset="0"/>
                <a:ea typeface="+mn-ea"/>
                <a:cs typeface="+mn-cs"/>
              </a:rPr>
              <a:t>the observation that during the course of execution of a program, memory references</a:t>
            </a:r>
          </a:p>
          <a:p>
            <a:r>
              <a:rPr kumimoji="1" lang="en-US" sz="1200" kern="1200" dirty="0">
                <a:solidFill>
                  <a:schemeClr val="tx1"/>
                </a:solidFill>
                <a:effectLst/>
                <a:latin typeface="Times New Roman" pitchFamily="33" charset="0"/>
                <a:ea typeface="+mn-ea"/>
                <a:cs typeface="+mn-cs"/>
              </a:rPr>
              <a:t>by the processor, for both instructions and data, tend to cluster. Programs typically</a:t>
            </a:r>
          </a:p>
          <a:p>
            <a:r>
              <a:rPr kumimoji="1" lang="en-US" sz="1200" kern="1200" dirty="0">
                <a:solidFill>
                  <a:schemeClr val="tx1"/>
                </a:solidFill>
                <a:effectLst/>
                <a:latin typeface="Times New Roman" pitchFamily="33" charset="0"/>
                <a:ea typeface="+mn-ea"/>
                <a:cs typeface="+mn-cs"/>
              </a:rPr>
              <a:t>contain a number of iterative loops and subroutines. Once a loop or subroutine</a:t>
            </a:r>
          </a:p>
          <a:p>
            <a:r>
              <a:rPr kumimoji="1" lang="en-US" sz="1200" kern="1200" dirty="0">
                <a:solidFill>
                  <a:schemeClr val="tx1"/>
                </a:solidFill>
                <a:effectLst/>
                <a:latin typeface="Times New Roman" pitchFamily="33" charset="0"/>
                <a:ea typeface="+mn-ea"/>
                <a:cs typeface="+mn-cs"/>
              </a:rPr>
              <a:t>is entered, there are repeated references to a small set of instructions. Similarly, operations</a:t>
            </a:r>
          </a:p>
          <a:p>
            <a:r>
              <a:rPr kumimoji="1" lang="en-US" sz="1200" kern="1200" dirty="0">
                <a:solidFill>
                  <a:schemeClr val="tx1"/>
                </a:solidFill>
                <a:effectLst/>
                <a:latin typeface="Times New Roman" pitchFamily="33" charset="0"/>
                <a:ea typeface="+mn-ea"/>
                <a:cs typeface="+mn-cs"/>
              </a:rPr>
              <a:t>on tables and arrays involve access to a clustered set of data words. Over a</a:t>
            </a:r>
          </a:p>
          <a:p>
            <a:r>
              <a:rPr kumimoji="1" lang="en-US" sz="1200" kern="1200" dirty="0">
                <a:solidFill>
                  <a:schemeClr val="tx1"/>
                </a:solidFill>
                <a:effectLst/>
                <a:latin typeface="Times New Roman" pitchFamily="33" charset="0"/>
                <a:ea typeface="+mn-ea"/>
                <a:cs typeface="+mn-cs"/>
              </a:rPr>
              <a:t>long period of time, the clusters in use change, but over a short period of time, the</a:t>
            </a:r>
          </a:p>
          <a:p>
            <a:r>
              <a:rPr kumimoji="1" lang="en-US" sz="1200" kern="1200" dirty="0">
                <a:solidFill>
                  <a:schemeClr val="tx1"/>
                </a:solidFill>
                <a:effectLst/>
                <a:latin typeface="Times New Roman" pitchFamily="33" charset="0"/>
                <a:ea typeface="+mn-ea"/>
                <a:cs typeface="+mn-cs"/>
              </a:rPr>
              <a:t>processor is primarily working with fixed clusters of memory references.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We can put these observations more specifically. As we discuss in Section 4.3,</a:t>
            </a:r>
          </a:p>
          <a:p>
            <a:r>
              <a:rPr kumimoji="1" lang="en-US" sz="1200" kern="1200" dirty="0">
                <a:solidFill>
                  <a:schemeClr val="tx1"/>
                </a:solidFill>
                <a:effectLst/>
                <a:latin typeface="Times New Roman" pitchFamily="33" charset="0"/>
                <a:ea typeface="+mn-ea"/>
                <a:cs typeface="+mn-cs"/>
              </a:rPr>
              <a:t>for different types of memory, memory is accessed and retrieved in units of different</a:t>
            </a:r>
          </a:p>
          <a:p>
            <a:r>
              <a:rPr kumimoji="1" lang="en-US" sz="1200" kern="1200" dirty="0">
                <a:solidFill>
                  <a:schemeClr val="tx1"/>
                </a:solidFill>
                <a:effectLst/>
                <a:latin typeface="Times New Roman" pitchFamily="33" charset="0"/>
                <a:ea typeface="+mn-ea"/>
                <a:cs typeface="+mn-cs"/>
              </a:rPr>
              <a:t>sizes, ranging from individual words to large blocks of cache memory to much</a:t>
            </a:r>
          </a:p>
          <a:p>
            <a:r>
              <a:rPr kumimoji="1" lang="en-US" sz="1200" kern="1200" dirty="0">
                <a:solidFill>
                  <a:schemeClr val="tx1"/>
                </a:solidFill>
                <a:effectLst/>
                <a:latin typeface="Times New Roman" pitchFamily="33" charset="0"/>
                <a:ea typeface="+mn-ea"/>
                <a:cs typeface="+mn-cs"/>
              </a:rPr>
              <a:t> larger segments of disk memory. Denning observed that locality is based on three</a:t>
            </a:r>
          </a:p>
          <a:p>
            <a:r>
              <a:rPr kumimoji="1" lang="en-US" sz="1200" kern="1200" dirty="0">
                <a:solidFill>
                  <a:schemeClr val="tx1"/>
                </a:solidFill>
                <a:effectLst/>
                <a:latin typeface="Times New Roman" pitchFamily="33" charset="0"/>
                <a:ea typeface="+mn-ea"/>
                <a:cs typeface="+mn-cs"/>
              </a:rPr>
              <a:t>assertions [DENN72]:</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1.  During any interval of time, a program references memory locations</a:t>
            </a:r>
          </a:p>
          <a:p>
            <a:r>
              <a:rPr kumimoji="1" lang="en-US" sz="1200" kern="1200" dirty="0">
                <a:solidFill>
                  <a:schemeClr val="tx1"/>
                </a:solidFill>
                <a:effectLst/>
                <a:latin typeface="Times New Roman" pitchFamily="33" charset="0"/>
                <a:ea typeface="+mn-ea"/>
                <a:cs typeface="+mn-cs"/>
              </a:rPr>
              <a:t>non-uniformly. That is, some units of memory are more likely to be accessed</a:t>
            </a:r>
          </a:p>
          <a:p>
            <a:r>
              <a:rPr kumimoji="1" lang="en-US" sz="1200" kern="1200" dirty="0">
                <a:solidFill>
                  <a:schemeClr val="tx1"/>
                </a:solidFill>
                <a:effectLst/>
                <a:latin typeface="Times New Roman" pitchFamily="33" charset="0"/>
                <a:ea typeface="+mn-ea"/>
                <a:cs typeface="+mn-cs"/>
              </a:rPr>
              <a:t>than others.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2.  As a function of time, the probability that a given unit of memory is referenced</a:t>
            </a:r>
          </a:p>
          <a:p>
            <a:r>
              <a:rPr kumimoji="1" lang="en-US" sz="1200" kern="1200" dirty="0">
                <a:solidFill>
                  <a:schemeClr val="tx1"/>
                </a:solidFill>
                <a:effectLst/>
                <a:latin typeface="Times New Roman" pitchFamily="33" charset="0"/>
                <a:ea typeface="+mn-ea"/>
                <a:cs typeface="+mn-cs"/>
              </a:rPr>
              <a:t>tends to change slowly. Put another way, the probability distribution</a:t>
            </a:r>
          </a:p>
          <a:p>
            <a:r>
              <a:rPr kumimoji="1" lang="en-US" sz="1200" kern="1200" dirty="0">
                <a:solidFill>
                  <a:schemeClr val="tx1"/>
                </a:solidFill>
                <a:effectLst/>
                <a:latin typeface="Times New Roman" pitchFamily="33" charset="0"/>
                <a:ea typeface="+mn-ea"/>
                <a:cs typeface="+mn-cs"/>
              </a:rPr>
              <a:t>of memory references across the entire memory space tends to change slowly</a:t>
            </a:r>
          </a:p>
          <a:p>
            <a:r>
              <a:rPr kumimoji="1" lang="en-US" sz="1200" kern="1200" dirty="0">
                <a:solidFill>
                  <a:schemeClr val="tx1"/>
                </a:solidFill>
                <a:effectLst/>
                <a:latin typeface="Times New Roman" pitchFamily="33" charset="0"/>
                <a:ea typeface="+mn-ea"/>
                <a:cs typeface="+mn-cs"/>
              </a:rPr>
              <a:t>over time.</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3.  The correlation between immediate past and immediate future memory reference</a:t>
            </a:r>
          </a:p>
          <a:p>
            <a:r>
              <a:rPr kumimoji="1" lang="en-US" sz="1200" kern="1200" dirty="0">
                <a:solidFill>
                  <a:schemeClr val="tx1"/>
                </a:solidFill>
                <a:effectLst/>
                <a:latin typeface="Times New Roman" pitchFamily="33" charset="0"/>
                <a:ea typeface="+mn-ea"/>
                <a:cs typeface="+mn-cs"/>
              </a:rPr>
              <a:t>patterns is high, and tapers off as the time interval increases.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 Intuitively, the principle of locality makes sense. Consider the following line</a:t>
            </a:r>
          </a:p>
          <a:p>
            <a:r>
              <a:rPr kumimoji="1" lang="en-US" sz="1200" kern="1200" dirty="0">
                <a:solidFill>
                  <a:schemeClr val="tx1"/>
                </a:solidFill>
                <a:effectLst/>
                <a:latin typeface="Times New Roman" pitchFamily="33" charset="0"/>
                <a:ea typeface="+mn-ea"/>
                <a:cs typeface="+mn-cs"/>
              </a:rPr>
              <a:t>of reasoning:</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1.  Except for branch and call instructions, which constitute only a small fraction</a:t>
            </a:r>
          </a:p>
          <a:p>
            <a:r>
              <a:rPr kumimoji="1" lang="en-US" sz="1200" kern="1200" dirty="0">
                <a:solidFill>
                  <a:schemeClr val="tx1"/>
                </a:solidFill>
                <a:effectLst/>
                <a:latin typeface="Times New Roman" pitchFamily="33" charset="0"/>
                <a:ea typeface="+mn-ea"/>
                <a:cs typeface="+mn-cs"/>
              </a:rPr>
              <a:t>of all program instructions, program execution is sequential. Hence, in most</a:t>
            </a:r>
          </a:p>
          <a:p>
            <a:r>
              <a:rPr kumimoji="1" lang="en-US" sz="1200" kern="1200" dirty="0">
                <a:solidFill>
                  <a:schemeClr val="tx1"/>
                </a:solidFill>
                <a:effectLst/>
                <a:latin typeface="Times New Roman" pitchFamily="33" charset="0"/>
                <a:ea typeface="+mn-ea"/>
                <a:cs typeface="+mn-cs"/>
              </a:rPr>
              <a:t>cases, the next instruction to be fetched immediately follows the last instruction</a:t>
            </a:r>
          </a:p>
          <a:p>
            <a:r>
              <a:rPr kumimoji="1" lang="en-US" sz="1200" kern="1200" dirty="0">
                <a:solidFill>
                  <a:schemeClr val="tx1"/>
                </a:solidFill>
                <a:effectLst/>
                <a:latin typeface="Times New Roman" pitchFamily="33" charset="0"/>
                <a:ea typeface="+mn-ea"/>
                <a:cs typeface="+mn-cs"/>
              </a:rPr>
              <a:t>fetched.</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2.  It is rare to have a long uninterrupted sequence of procedure calls followed</a:t>
            </a:r>
          </a:p>
          <a:p>
            <a:r>
              <a:rPr kumimoji="1" lang="en-US" sz="1200" kern="1200" dirty="0">
                <a:solidFill>
                  <a:schemeClr val="tx1"/>
                </a:solidFill>
                <a:effectLst/>
                <a:latin typeface="Times New Roman" pitchFamily="33" charset="0"/>
                <a:ea typeface="+mn-ea"/>
                <a:cs typeface="+mn-cs"/>
              </a:rPr>
              <a:t>by the corresponding sequence of returns. Rather, a program remains confined</a:t>
            </a:r>
          </a:p>
          <a:p>
            <a:r>
              <a:rPr kumimoji="1" lang="en-US" sz="1200" kern="1200" dirty="0">
                <a:solidFill>
                  <a:schemeClr val="tx1"/>
                </a:solidFill>
                <a:effectLst/>
                <a:latin typeface="Times New Roman" pitchFamily="33" charset="0"/>
                <a:ea typeface="+mn-ea"/>
                <a:cs typeface="+mn-cs"/>
              </a:rPr>
              <a:t>to a rather narrow window of procedure-invocation depth. Thus, over</a:t>
            </a:r>
          </a:p>
          <a:p>
            <a:r>
              <a:rPr kumimoji="1" lang="en-US" sz="1200" kern="1200" dirty="0">
                <a:solidFill>
                  <a:schemeClr val="tx1"/>
                </a:solidFill>
                <a:effectLst/>
                <a:latin typeface="Times New Roman" pitchFamily="33" charset="0"/>
                <a:ea typeface="+mn-ea"/>
                <a:cs typeface="+mn-cs"/>
              </a:rPr>
              <a:t>a short period of time, references to instructions tend to be localized to a few</a:t>
            </a:r>
          </a:p>
          <a:p>
            <a:r>
              <a:rPr kumimoji="1" lang="en-US" sz="1200" kern="1200" dirty="0">
                <a:solidFill>
                  <a:schemeClr val="tx1"/>
                </a:solidFill>
                <a:effectLst/>
                <a:latin typeface="Times New Roman" pitchFamily="33" charset="0"/>
                <a:ea typeface="+mn-ea"/>
                <a:cs typeface="+mn-cs"/>
              </a:rPr>
              <a:t>procedures.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3.  Most iterative constructs consist of a relatively small number of instructions</a:t>
            </a:r>
          </a:p>
          <a:p>
            <a:r>
              <a:rPr kumimoji="1" lang="en-US" sz="1200" kern="1200" dirty="0">
                <a:solidFill>
                  <a:schemeClr val="tx1"/>
                </a:solidFill>
                <a:effectLst/>
                <a:latin typeface="Times New Roman" pitchFamily="33" charset="0"/>
                <a:ea typeface="+mn-ea"/>
                <a:cs typeface="+mn-cs"/>
              </a:rPr>
              <a:t>repeated many times. For the duration of the iteration, computation is therefore</a:t>
            </a:r>
          </a:p>
          <a:p>
            <a:r>
              <a:rPr kumimoji="1" lang="en-US" sz="1200" kern="1200" dirty="0">
                <a:solidFill>
                  <a:schemeClr val="tx1"/>
                </a:solidFill>
                <a:effectLst/>
                <a:latin typeface="Times New Roman" pitchFamily="33" charset="0"/>
                <a:ea typeface="+mn-ea"/>
                <a:cs typeface="+mn-cs"/>
              </a:rPr>
              <a:t>confined to a small contiguous portion of a program.</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4.  In many programs, much of the computation involves processing data structures,</a:t>
            </a:r>
          </a:p>
          <a:p>
            <a:r>
              <a:rPr kumimoji="1" lang="en-US" sz="1200" kern="1200" dirty="0">
                <a:solidFill>
                  <a:schemeClr val="tx1"/>
                </a:solidFill>
                <a:effectLst/>
                <a:latin typeface="Times New Roman" pitchFamily="33" charset="0"/>
                <a:ea typeface="+mn-ea"/>
                <a:cs typeface="+mn-cs"/>
              </a:rPr>
              <a:t>such as arrays or sequences of records. In many cases, successive references</a:t>
            </a:r>
          </a:p>
          <a:p>
            <a:r>
              <a:rPr kumimoji="1" lang="en-US" sz="1200" kern="1200" dirty="0">
                <a:solidFill>
                  <a:schemeClr val="tx1"/>
                </a:solidFill>
                <a:effectLst/>
                <a:latin typeface="Times New Roman" pitchFamily="33" charset="0"/>
                <a:ea typeface="+mn-ea"/>
                <a:cs typeface="+mn-cs"/>
              </a:rPr>
              <a:t>to these data structures will be to closely located data items.</a:t>
            </a:r>
          </a:p>
          <a:p>
            <a:endParaRPr kumimoji="1" lang="en-US" sz="1200" kern="1200" dirty="0">
              <a:solidFill>
                <a:schemeClr val="tx1"/>
              </a:solidFill>
              <a:effectLst/>
              <a:latin typeface="Times New Roman" pitchFamily="33" charset="0"/>
              <a:ea typeface="+mn-ea"/>
              <a:cs typeface="+mn-cs"/>
            </a:endParaRP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2</a:t>
            </a:fld>
            <a:endParaRPr lang="en-US" dirty="0"/>
          </a:p>
        </p:txBody>
      </p:sp>
    </p:spTree>
    <p:extLst>
      <p:ext uri="{BB962C8B-B14F-4D97-AF65-F5344CB8AC3E}">
        <p14:creationId xmlns:p14="http://schemas.microsoft.com/office/powerpoint/2010/main" val="1879990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Numerous studies, stretching back to the early 1970s, confirm these observations.</a:t>
            </a:r>
          </a:p>
          <a:p>
            <a:r>
              <a:rPr kumimoji="1" lang="en-US" sz="1200" kern="1200" dirty="0">
                <a:solidFill>
                  <a:schemeClr val="tx1"/>
                </a:solidFill>
                <a:effectLst/>
                <a:latin typeface="Times New Roman" pitchFamily="33" charset="0"/>
                <a:ea typeface="+mn-ea"/>
                <a:cs typeface="+mn-cs"/>
              </a:rPr>
              <a:t>[FEIT15] provides a summary of many of these studies.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A distinction is made in the literature between two forms of locality:</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1. Temporal locality : Refers to the tendency of a program to reference in the</a:t>
            </a:r>
          </a:p>
          <a:p>
            <a:r>
              <a:rPr kumimoji="1" lang="en-US" sz="1200" kern="1200" dirty="0">
                <a:solidFill>
                  <a:schemeClr val="tx1"/>
                </a:solidFill>
                <a:effectLst/>
                <a:latin typeface="Times New Roman" pitchFamily="33" charset="0"/>
                <a:ea typeface="+mn-ea"/>
                <a:cs typeface="+mn-cs"/>
              </a:rPr>
              <a:t>near future those units of memory referenced in the recent past. For example,</a:t>
            </a:r>
          </a:p>
          <a:p>
            <a:r>
              <a:rPr kumimoji="1" lang="en-US" sz="1200" kern="1200" dirty="0">
                <a:solidFill>
                  <a:schemeClr val="tx1"/>
                </a:solidFill>
                <a:effectLst/>
                <a:latin typeface="Times New Roman" pitchFamily="33" charset="0"/>
                <a:ea typeface="+mn-ea"/>
                <a:cs typeface="+mn-cs"/>
              </a:rPr>
              <a:t>when an iteration loop is executed, the processor executes the same set</a:t>
            </a:r>
          </a:p>
          <a:p>
            <a:r>
              <a:rPr kumimoji="1" lang="en-US" sz="1200" kern="1200" dirty="0">
                <a:solidFill>
                  <a:schemeClr val="tx1"/>
                </a:solidFill>
                <a:effectLst/>
                <a:latin typeface="Times New Roman" pitchFamily="33" charset="0"/>
                <a:ea typeface="+mn-ea"/>
                <a:cs typeface="+mn-cs"/>
              </a:rPr>
              <a:t>of instructions repeatedly. Constants, temporary variables, and working stacks</a:t>
            </a:r>
          </a:p>
          <a:p>
            <a:r>
              <a:rPr kumimoji="1" lang="en-US" sz="1200" kern="1200" dirty="0">
                <a:solidFill>
                  <a:schemeClr val="tx1"/>
                </a:solidFill>
                <a:effectLst/>
                <a:latin typeface="Times New Roman" pitchFamily="33" charset="0"/>
                <a:ea typeface="+mn-ea"/>
                <a:cs typeface="+mn-cs"/>
              </a:rPr>
              <a:t>are also constructs that lead to this principle.</a:t>
            </a:r>
          </a:p>
          <a:p>
            <a:endParaRPr lang="en-US" dirty="0"/>
          </a:p>
          <a:p>
            <a:r>
              <a:rPr kumimoji="1" lang="en-US" sz="1200" kern="1200" dirty="0">
                <a:solidFill>
                  <a:schemeClr val="tx1"/>
                </a:solidFill>
                <a:effectLst/>
                <a:latin typeface="Times New Roman" pitchFamily="33" charset="0"/>
                <a:ea typeface="+mn-ea"/>
                <a:cs typeface="+mn-cs"/>
              </a:rPr>
              <a:t> 2. Spatial locality: Refers to the tendency of a program to reference units of</a:t>
            </a:r>
          </a:p>
          <a:p>
            <a:r>
              <a:rPr kumimoji="1" lang="en-US" sz="1200" kern="1200" dirty="0">
                <a:solidFill>
                  <a:schemeClr val="tx1"/>
                </a:solidFill>
                <a:effectLst/>
                <a:latin typeface="Times New Roman" pitchFamily="33" charset="0"/>
                <a:ea typeface="+mn-ea"/>
                <a:cs typeface="+mn-cs"/>
              </a:rPr>
              <a:t>memory whose addresses are near one another. That is, if a unit of memory </a:t>
            </a:r>
            <a:r>
              <a:rPr kumimoji="1" lang="en-US" sz="1200" i="1" kern="1200" dirty="0">
                <a:solidFill>
                  <a:schemeClr val="tx1"/>
                </a:solidFill>
                <a:effectLst/>
                <a:latin typeface="Times New Roman" pitchFamily="33" charset="0"/>
                <a:ea typeface="+mn-ea"/>
                <a:cs typeface="+mn-cs"/>
              </a:rPr>
              <a:t>x</a:t>
            </a:r>
          </a:p>
          <a:p>
            <a:r>
              <a:rPr kumimoji="1" lang="en-US" sz="1200" kern="1200" dirty="0">
                <a:solidFill>
                  <a:schemeClr val="tx1"/>
                </a:solidFill>
                <a:effectLst/>
                <a:latin typeface="Times New Roman" pitchFamily="33" charset="0"/>
                <a:ea typeface="+mn-ea"/>
                <a:cs typeface="+mn-cs"/>
              </a:rPr>
              <a:t>is referenced at time </a:t>
            </a:r>
            <a:r>
              <a:rPr kumimoji="1" lang="en-US" sz="1200" i="1" kern="1200" dirty="0">
                <a:solidFill>
                  <a:schemeClr val="tx1"/>
                </a:solidFill>
                <a:effectLst/>
                <a:latin typeface="Times New Roman" pitchFamily="33" charset="0"/>
                <a:ea typeface="+mn-ea"/>
                <a:cs typeface="+mn-cs"/>
              </a:rPr>
              <a:t>t</a:t>
            </a:r>
            <a:r>
              <a:rPr kumimoji="1" lang="en-US" sz="1200" kern="1200" dirty="0">
                <a:solidFill>
                  <a:schemeClr val="tx1"/>
                </a:solidFill>
                <a:effectLst/>
                <a:latin typeface="Times New Roman" pitchFamily="33" charset="0"/>
                <a:ea typeface="+mn-ea"/>
                <a:cs typeface="+mn-cs"/>
              </a:rPr>
              <a:t>, it is likely that units in the range </a:t>
            </a:r>
            <a:r>
              <a:rPr kumimoji="1" lang="en-US" sz="1200" i="1" kern="1200" dirty="0">
                <a:solidFill>
                  <a:schemeClr val="tx1"/>
                </a:solidFill>
                <a:effectLst/>
                <a:latin typeface="Times New Roman" pitchFamily="33" charset="0"/>
                <a:ea typeface="+mn-ea"/>
                <a:cs typeface="+mn-cs"/>
              </a:rPr>
              <a:t>x - k </a:t>
            </a:r>
            <a:r>
              <a:rPr kumimoji="1" lang="en-US" sz="1200" kern="1200" dirty="0">
                <a:solidFill>
                  <a:schemeClr val="tx1"/>
                </a:solidFill>
                <a:effectLst/>
                <a:latin typeface="Times New Roman" pitchFamily="33" charset="0"/>
                <a:ea typeface="+mn-ea"/>
                <a:cs typeface="+mn-cs"/>
              </a:rPr>
              <a:t>through </a:t>
            </a:r>
            <a:r>
              <a:rPr kumimoji="1" lang="en-US" sz="1200" i="1" kern="1200" dirty="0">
                <a:solidFill>
                  <a:schemeClr val="tx1"/>
                </a:solidFill>
                <a:effectLst/>
                <a:latin typeface="Times New Roman" pitchFamily="33" charset="0"/>
                <a:ea typeface="+mn-ea"/>
                <a:cs typeface="+mn-cs"/>
              </a:rPr>
              <a:t>x + k</a:t>
            </a:r>
          </a:p>
          <a:p>
            <a:r>
              <a:rPr kumimoji="1" lang="en-US" sz="1200" kern="1200" dirty="0">
                <a:solidFill>
                  <a:schemeClr val="tx1"/>
                </a:solidFill>
                <a:effectLst/>
                <a:latin typeface="Times New Roman" pitchFamily="33" charset="0"/>
                <a:ea typeface="+mn-ea"/>
                <a:cs typeface="+mn-cs"/>
              </a:rPr>
              <a:t>will be referenced in the near future, for a relatively small value of k. This</a:t>
            </a:r>
          </a:p>
          <a:p>
            <a:r>
              <a:rPr kumimoji="1" lang="en-US" sz="1200" kern="1200" dirty="0">
                <a:solidFill>
                  <a:schemeClr val="tx1"/>
                </a:solidFill>
                <a:effectLst/>
                <a:latin typeface="Times New Roman" pitchFamily="33" charset="0"/>
                <a:ea typeface="+mn-ea"/>
                <a:cs typeface="+mn-cs"/>
              </a:rPr>
              <a:t>reflects the tendency of a processor to access instructions sequentially. Spatial</a:t>
            </a:r>
          </a:p>
          <a:p>
            <a:r>
              <a:rPr kumimoji="1" lang="en-US" sz="1200" kern="1200" dirty="0">
                <a:solidFill>
                  <a:schemeClr val="tx1"/>
                </a:solidFill>
                <a:effectLst/>
                <a:latin typeface="Times New Roman" pitchFamily="33" charset="0"/>
                <a:ea typeface="+mn-ea"/>
                <a:cs typeface="+mn-cs"/>
              </a:rPr>
              <a:t>location also reflects the tendency of a program to access data locations</a:t>
            </a:r>
          </a:p>
          <a:p>
            <a:r>
              <a:rPr kumimoji="1" lang="en-US" sz="1200" kern="1200" dirty="0">
                <a:solidFill>
                  <a:schemeClr val="tx1"/>
                </a:solidFill>
                <a:effectLst/>
                <a:latin typeface="Times New Roman" pitchFamily="33" charset="0"/>
                <a:ea typeface="+mn-ea"/>
                <a:cs typeface="+mn-cs"/>
              </a:rPr>
              <a:t>sequentially, such as when processing a table of data.</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3</a:t>
            </a:fld>
            <a:endParaRPr lang="en-US" dirty="0"/>
          </a:p>
        </p:txBody>
      </p:sp>
    </p:spTree>
    <p:extLst>
      <p:ext uri="{BB962C8B-B14F-4D97-AF65-F5344CB8AC3E}">
        <p14:creationId xmlns:p14="http://schemas.microsoft.com/office/powerpoint/2010/main" val="1143292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5</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complex subject of computer memory is made more manageable if we classify</a:t>
            </a:r>
          </a:p>
          <a:p>
            <a:r>
              <a:rPr kumimoji="1" lang="en-US" sz="1200" kern="1200" baseline="0" dirty="0">
                <a:solidFill>
                  <a:schemeClr val="tx1"/>
                </a:solidFill>
                <a:latin typeface="Times New Roman" pitchFamily="33" charset="0"/>
                <a:ea typeface="+mn-ea"/>
                <a:cs typeface="+mn-cs"/>
              </a:rPr>
              <a:t>memory systems according to their key characteristics. The most important of these</a:t>
            </a:r>
          </a:p>
          <a:p>
            <a:r>
              <a:rPr kumimoji="1" lang="en-US" sz="1200" kern="1200" baseline="0" dirty="0">
                <a:solidFill>
                  <a:schemeClr val="tx1"/>
                </a:solidFill>
                <a:latin typeface="Times New Roman" pitchFamily="33" charset="0"/>
                <a:ea typeface="+mn-ea"/>
                <a:cs typeface="+mn-cs"/>
              </a:rPr>
              <a:t>are listed in Table 4.1.</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6</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term </a:t>
            </a:r>
            <a:r>
              <a:rPr kumimoji="1" lang="en-US" sz="1200" b="1" kern="1200" baseline="0" dirty="0">
                <a:solidFill>
                  <a:schemeClr val="tx1"/>
                </a:solidFill>
                <a:latin typeface="Times New Roman" pitchFamily="33" charset="0"/>
                <a:ea typeface="+mn-ea"/>
                <a:cs typeface="+mn-cs"/>
              </a:rPr>
              <a:t>location </a:t>
            </a:r>
            <a:r>
              <a:rPr kumimoji="1" lang="en-US" sz="1200" b="0" kern="1200" baseline="0" dirty="0">
                <a:solidFill>
                  <a:schemeClr val="tx1"/>
                </a:solidFill>
                <a:latin typeface="Times New Roman" pitchFamily="33" charset="0"/>
                <a:ea typeface="+mn-ea"/>
                <a:cs typeface="+mn-cs"/>
              </a:rPr>
              <a:t>in Table 4.1 refers to whether memory is internal and external</a:t>
            </a:r>
          </a:p>
          <a:p>
            <a:r>
              <a:rPr kumimoji="1" lang="en-US" sz="1200" kern="1200" baseline="0" dirty="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obvious characteristic of memory is its </a:t>
            </a:r>
            <a:r>
              <a:rPr kumimoji="1" lang="en-US" sz="1200" b="1" kern="1200" baseline="0" dirty="0">
                <a:solidFill>
                  <a:schemeClr val="tx1"/>
                </a:solidFill>
                <a:latin typeface="Times New Roman" pitchFamily="33" charset="0"/>
                <a:ea typeface="+mn-ea"/>
                <a:cs typeface="+mn-cs"/>
              </a:rPr>
              <a:t>capacity. </a:t>
            </a:r>
            <a:r>
              <a:rPr kumimoji="1" lang="en-US" sz="1200" b="0" kern="1200" baseline="0" dirty="0">
                <a:solidFill>
                  <a:schemeClr val="tx1"/>
                </a:solidFill>
                <a:latin typeface="Times New Roman" pitchFamily="33" charset="0"/>
                <a:ea typeface="+mn-ea"/>
                <a:cs typeface="+mn-cs"/>
              </a:rPr>
              <a:t>For internal memory, this is</a:t>
            </a:r>
          </a:p>
          <a:p>
            <a:r>
              <a:rPr kumimoji="1" lang="en-US" sz="1200" kern="1200" baseline="0" dirty="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related concept is the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internal memory, the unit</a:t>
            </a:r>
          </a:p>
          <a:p>
            <a:r>
              <a:rPr kumimoji="1" lang="en-US" sz="1200" kern="1200" baseline="0" dirty="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Word: </a:t>
            </a:r>
            <a:r>
              <a:rPr kumimoji="1" lang="en-US" sz="1200" b="0" kern="1200" baseline="0" dirty="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a:solidFill>
                  <a:schemeClr val="tx1"/>
                </a:solidFill>
                <a:latin typeface="Times New Roman" pitchFamily="33" charset="0"/>
                <a:ea typeface="+mn-ea"/>
                <a:cs typeface="+mn-cs"/>
              </a:rPr>
              <a:t>length. Unfortunately, there are many exceptions. For example, the CRAY</a:t>
            </a:r>
          </a:p>
          <a:p>
            <a:r>
              <a:rPr kumimoji="1" lang="en-US" sz="1200" kern="1200" baseline="0" dirty="0">
                <a:solidFill>
                  <a:schemeClr val="tx1"/>
                </a:solidFill>
                <a:latin typeface="Times New Roman" pitchFamily="33" charset="0"/>
                <a:ea typeface="+mn-ea"/>
                <a:cs typeface="+mn-cs"/>
              </a:rPr>
              <a:t>C90 (an older model CRAY supercomputer) has a 64-bit word length but uses</a:t>
            </a:r>
          </a:p>
          <a:p>
            <a:r>
              <a:rPr kumimoji="1" lang="en-US" sz="1200" kern="1200" baseline="0" dirty="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Addressable units: </a:t>
            </a:r>
            <a:r>
              <a:rPr kumimoji="1" lang="en-US" sz="1200" b="0" kern="1200" baseline="0" dirty="0">
                <a:solidFill>
                  <a:schemeClr val="tx1"/>
                </a:solidFill>
                <a:latin typeface="Times New Roman" pitchFamily="33" charset="0"/>
                <a:ea typeface="+mn-ea"/>
                <a:cs typeface="+mn-cs"/>
              </a:rPr>
              <a:t>In some systems, the addressable unit is the word. However,</a:t>
            </a:r>
          </a:p>
          <a:p>
            <a:r>
              <a:rPr kumimoji="1" lang="en-US" sz="1200" kern="1200" baseline="0" dirty="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a:solidFill>
                  <a:schemeClr val="tx1"/>
                </a:solidFill>
                <a:latin typeface="Times New Roman" pitchFamily="33" charset="0"/>
                <a:ea typeface="+mn-ea"/>
                <a:cs typeface="+mn-cs"/>
              </a:rPr>
              <a:t>between the length in bits </a:t>
            </a:r>
            <a:r>
              <a:rPr kumimoji="1" lang="en-US" sz="1200" i="1" kern="1200" baseline="0" dirty="0">
                <a:solidFill>
                  <a:schemeClr val="tx1"/>
                </a:solidFill>
                <a:latin typeface="Times New Roman" pitchFamily="33" charset="0"/>
                <a:ea typeface="+mn-ea"/>
                <a:cs typeface="+mn-cs"/>
              </a:rPr>
              <a:t>A of an address and the number N of addressable</a:t>
            </a:r>
          </a:p>
          <a:p>
            <a:r>
              <a:rPr kumimoji="1" lang="en-US" sz="1200" kern="1200" baseline="0" dirty="0">
                <a:solidFill>
                  <a:schemeClr val="tx1"/>
                </a:solidFill>
                <a:latin typeface="Times New Roman" pitchFamily="33" charset="0"/>
                <a:ea typeface="+mn-ea"/>
                <a:cs typeface="+mn-cs"/>
              </a:rPr>
              <a:t>units is 2</a:t>
            </a:r>
            <a:r>
              <a:rPr kumimoji="1" lang="en-US" sz="1200" i="1" kern="1200" baseline="30000" dirty="0">
                <a:solidFill>
                  <a:schemeClr val="tx1"/>
                </a:solidFill>
                <a:latin typeface="Times New Roman" pitchFamily="33" charset="0"/>
                <a:ea typeface="+mn-ea"/>
                <a:cs typeface="+mn-cs"/>
              </a:rPr>
              <a:t>A</a:t>
            </a:r>
            <a:r>
              <a:rPr kumimoji="1" lang="en-US" sz="1200" i="1" kern="1200" baseline="0" dirty="0">
                <a:solidFill>
                  <a:schemeClr val="tx1"/>
                </a:solidFill>
                <a:latin typeface="Times New Roman" pitchFamily="33" charset="0"/>
                <a:ea typeface="+mn-ea"/>
                <a:cs typeface="+mn-cs"/>
              </a:rPr>
              <a:t> = 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main memory, this is the number of bits read out of or</a:t>
            </a:r>
          </a:p>
          <a:p>
            <a:r>
              <a:rPr kumimoji="1" lang="en-US" sz="1200" kern="1200" baseline="0" dirty="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a:solidFill>
                  <a:schemeClr val="tx1"/>
                </a:solidFill>
                <a:latin typeface="Times New Roman" pitchFamily="33" charset="0"/>
                <a:ea typeface="+mn-ea"/>
                <a:cs typeface="+mn-cs"/>
              </a:rPr>
              <a:t>larger units than a word, and these are referred to as blocks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D2345-2FE8-BC48-BCBC-7B19F47E03F2}" type="slidenum">
              <a:rPr lang="en-US"/>
              <a:pPr/>
              <a:t>7</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From a user’s point of view, the two most important characteristics of memory</a:t>
            </a:r>
          </a:p>
          <a:p>
            <a:r>
              <a:rPr kumimoji="1" lang="en-US" sz="1200" kern="1200" baseline="0" dirty="0">
                <a:solidFill>
                  <a:schemeClr val="tx1"/>
                </a:solidFill>
                <a:latin typeface="Times New Roman" pitchFamily="33" charset="0"/>
                <a:ea typeface="+mn-ea"/>
                <a:cs typeface="+mn-cs"/>
              </a:rPr>
              <a:t>are capacity and </a:t>
            </a:r>
            <a:r>
              <a:rPr kumimoji="1" lang="en-US" sz="1200" b="1" kern="1200" baseline="0" dirty="0">
                <a:solidFill>
                  <a:schemeClr val="tx1"/>
                </a:solidFill>
                <a:latin typeface="Times New Roman" pitchFamily="33" charset="0"/>
                <a:ea typeface="+mn-ea"/>
                <a:cs typeface="+mn-cs"/>
              </a:rPr>
              <a:t>performance. </a:t>
            </a:r>
            <a:r>
              <a:rPr kumimoji="1" lang="en-US" sz="1200" b="0" kern="1200" baseline="0" dirty="0">
                <a:solidFill>
                  <a:schemeClr val="tx1"/>
                </a:solidFill>
                <a:latin typeface="Times New Roman" pitchFamily="33" charset="0"/>
                <a:ea typeface="+mn-ea"/>
                <a:cs typeface="+mn-cs"/>
              </a:rPr>
              <a:t>Three performance parameters are used: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Access time (latency): </a:t>
            </a:r>
            <a:r>
              <a:rPr kumimoji="1" lang="en-US" sz="1200" b="0" kern="1200" baseline="0" dirty="0">
                <a:solidFill>
                  <a:schemeClr val="tx1"/>
                </a:solidFill>
                <a:latin typeface="Times New Roman" pitchFamily="33" charset="0"/>
                <a:ea typeface="+mn-ea"/>
                <a:cs typeface="+mn-cs"/>
              </a:rPr>
              <a:t>For random-access memory, this is the time it takes to</a:t>
            </a:r>
          </a:p>
          <a:p>
            <a:r>
              <a:rPr kumimoji="1" lang="en-US" sz="1200" kern="1200" baseline="0" dirty="0">
                <a:solidFill>
                  <a:schemeClr val="tx1"/>
                </a:solidFill>
                <a:latin typeface="Times New Roman" pitchFamily="33" charset="0"/>
                <a:ea typeface="+mn-ea"/>
                <a:cs typeface="+mn-cs"/>
              </a:rPr>
              <a:t>perform a read or write operation, that is, the time from the instant that an</a:t>
            </a:r>
          </a:p>
          <a:p>
            <a:r>
              <a:rPr kumimoji="1" lang="en-US" sz="1200" kern="1200" baseline="0" dirty="0">
                <a:solidFill>
                  <a:schemeClr val="tx1"/>
                </a:solidFill>
                <a:latin typeface="Times New Roman" pitchFamily="33" charset="0"/>
                <a:ea typeface="+mn-ea"/>
                <a:cs typeface="+mn-cs"/>
              </a:rPr>
              <a:t>address is presented to the memory to the instant that data have been stored</a:t>
            </a:r>
          </a:p>
          <a:p>
            <a:r>
              <a:rPr kumimoji="1" lang="en-US" sz="1200" kern="1200" baseline="0" dirty="0">
                <a:solidFill>
                  <a:schemeClr val="tx1"/>
                </a:solidFill>
                <a:latin typeface="Times New Roman" pitchFamily="33" charset="0"/>
                <a:ea typeface="+mn-ea"/>
                <a:cs typeface="+mn-cs"/>
              </a:rPr>
              <a:t>or made available for use. For non-random-access memory, access time is the</a:t>
            </a:r>
          </a:p>
          <a:p>
            <a:r>
              <a:rPr kumimoji="1" lang="en-US" sz="1200" kern="1200" baseline="0" dirty="0">
                <a:solidFill>
                  <a:schemeClr val="tx1"/>
                </a:solidFill>
                <a:latin typeface="Times New Roman" pitchFamily="33" charset="0"/>
                <a:ea typeface="+mn-ea"/>
                <a:cs typeface="+mn-cs"/>
              </a:rPr>
              <a:t>time it takes to position the read–write mechanism at the desired location.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cycle time: </a:t>
            </a:r>
            <a:r>
              <a:rPr kumimoji="1" lang="en-US" sz="1200" b="0" kern="1200" baseline="0" dirty="0">
                <a:solidFill>
                  <a:schemeClr val="tx1"/>
                </a:solidFill>
                <a:latin typeface="Times New Roman" pitchFamily="33" charset="0"/>
                <a:ea typeface="+mn-ea"/>
                <a:cs typeface="+mn-cs"/>
              </a:rPr>
              <a:t>This concept is primarily applied to random-access memory</a:t>
            </a:r>
          </a:p>
          <a:p>
            <a:r>
              <a:rPr kumimoji="1" lang="en-US" sz="1200" kern="1200" baseline="0" dirty="0">
                <a:solidFill>
                  <a:schemeClr val="tx1"/>
                </a:solidFill>
                <a:latin typeface="Times New Roman" pitchFamily="33" charset="0"/>
                <a:ea typeface="+mn-ea"/>
                <a:cs typeface="+mn-cs"/>
              </a:rPr>
              <a:t>and consists of the access time plus any additional time required before a second</a:t>
            </a:r>
          </a:p>
          <a:p>
            <a:r>
              <a:rPr kumimoji="1" lang="en-US" sz="1200" kern="1200" baseline="0" dirty="0">
                <a:solidFill>
                  <a:schemeClr val="tx1"/>
                </a:solidFill>
                <a:latin typeface="Times New Roman" pitchFamily="33" charset="0"/>
                <a:ea typeface="+mn-ea"/>
                <a:cs typeface="+mn-cs"/>
              </a:rPr>
              <a:t>access can commence. This additional time may be required for transients to die</a:t>
            </a:r>
          </a:p>
          <a:p>
            <a:r>
              <a:rPr kumimoji="1" lang="en-US" sz="1200" kern="1200" baseline="0" dirty="0">
                <a:solidFill>
                  <a:schemeClr val="tx1"/>
                </a:solidFill>
                <a:latin typeface="Times New Roman" pitchFamily="33" charset="0"/>
                <a:ea typeface="+mn-ea"/>
                <a:cs typeface="+mn-cs"/>
              </a:rPr>
              <a:t>out on signal lines or to regenerate data if they are read destructively. Note that</a:t>
            </a:r>
          </a:p>
          <a:p>
            <a:r>
              <a:rPr kumimoji="1" lang="en-US" sz="1200" kern="1200" baseline="0" dirty="0">
                <a:solidFill>
                  <a:schemeClr val="tx1"/>
                </a:solidFill>
                <a:latin typeface="Times New Roman" pitchFamily="33" charset="0"/>
                <a:ea typeface="+mn-ea"/>
                <a:cs typeface="+mn-cs"/>
              </a:rPr>
              <a:t>memory cycle time is concerned with the system bus, not the 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Transfer rate: </a:t>
            </a:r>
            <a:r>
              <a:rPr kumimoji="1" lang="en-US" sz="1200" b="0" kern="1200" baseline="0" dirty="0">
                <a:solidFill>
                  <a:schemeClr val="tx1"/>
                </a:solidFill>
                <a:latin typeface="Times New Roman" pitchFamily="33" charset="0"/>
                <a:ea typeface="+mn-ea"/>
                <a:cs typeface="+mn-cs"/>
              </a:rPr>
              <a:t>This is the rate at which data can be transferred into or out of a</a:t>
            </a:r>
          </a:p>
          <a:p>
            <a:r>
              <a:rPr kumimoji="1" lang="en-US" sz="1200" kern="1200" baseline="0" dirty="0">
                <a:solidFill>
                  <a:schemeClr val="tx1"/>
                </a:solidFill>
                <a:latin typeface="Times New Roman" pitchFamily="33" charset="0"/>
                <a:ea typeface="+mn-ea"/>
                <a:cs typeface="+mn-cs"/>
              </a:rPr>
              <a:t>memory unit. For random-access memory, it is equal to 1/(cycle time).</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33" charset="0"/>
                <a:ea typeface="+mn-ea"/>
                <a:cs typeface="+mn-cs"/>
              </a:rPr>
              <a:t>The design constraints on a computer’s memory can be summed up by three questions:</a:t>
            </a:r>
          </a:p>
          <a:p>
            <a:r>
              <a:rPr kumimoji="1" lang="en-US" sz="1200" kern="1200" baseline="0" dirty="0">
                <a:solidFill>
                  <a:schemeClr val="tx1"/>
                </a:solidFill>
                <a:latin typeface="Times New Roman" pitchFamily="33" charset="0"/>
                <a:ea typeface="+mn-ea"/>
                <a:cs typeface="+mn-cs"/>
              </a:rPr>
              <a:t>How much? How fast? How expensive?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question of how much is somewhat open ended. If the capacity is there,</a:t>
            </a:r>
          </a:p>
          <a:p>
            <a:r>
              <a:rPr kumimoji="1" lang="en-US" sz="1200" kern="1200" baseline="0" dirty="0">
                <a:solidFill>
                  <a:schemeClr val="tx1"/>
                </a:solidFill>
                <a:latin typeface="Times New Roman" pitchFamily="33" charset="0"/>
                <a:ea typeface="+mn-ea"/>
                <a:cs typeface="+mn-cs"/>
              </a:rPr>
              <a:t>applications will likely be developed to use it. The question of how fast is, in a sense,</a:t>
            </a:r>
          </a:p>
          <a:p>
            <a:r>
              <a:rPr kumimoji="1" lang="en-US" sz="1200" kern="1200" baseline="0" dirty="0">
                <a:solidFill>
                  <a:schemeClr val="tx1"/>
                </a:solidFill>
                <a:latin typeface="Times New Roman" pitchFamily="33" charset="0"/>
                <a:ea typeface="+mn-ea"/>
                <a:cs typeface="+mn-cs"/>
              </a:rPr>
              <a:t>easier to answer. To achieve greatest performance, the memory must be able to</a:t>
            </a:r>
          </a:p>
          <a:p>
            <a:r>
              <a:rPr kumimoji="1" lang="en-US" sz="1200" kern="1200" baseline="0" dirty="0">
                <a:solidFill>
                  <a:schemeClr val="tx1"/>
                </a:solidFill>
                <a:latin typeface="Times New Roman" pitchFamily="33" charset="0"/>
                <a:ea typeface="+mn-ea"/>
                <a:cs typeface="+mn-cs"/>
              </a:rPr>
              <a:t>keep up with the processor. That is, as the processor is executing instructions, we</a:t>
            </a:r>
          </a:p>
          <a:p>
            <a:r>
              <a:rPr kumimoji="1" lang="en-US" sz="1200" kern="1200" baseline="0" dirty="0">
                <a:solidFill>
                  <a:schemeClr val="tx1"/>
                </a:solidFill>
                <a:latin typeface="Times New Roman" pitchFamily="33" charset="0"/>
                <a:ea typeface="+mn-ea"/>
                <a:cs typeface="+mn-cs"/>
              </a:rPr>
              <a:t>would not want it to have to pause waiting for instructions or operands. The final</a:t>
            </a:r>
          </a:p>
          <a:p>
            <a:r>
              <a:rPr kumimoji="1" lang="en-US" sz="1200" kern="1200" baseline="0" dirty="0">
                <a:solidFill>
                  <a:schemeClr val="tx1"/>
                </a:solidFill>
                <a:latin typeface="Times New Roman" pitchFamily="33" charset="0"/>
                <a:ea typeface="+mn-ea"/>
                <a:cs typeface="+mn-cs"/>
              </a:rPr>
              <a:t>question must also be considered. For a practical system, the cost of memory must</a:t>
            </a:r>
          </a:p>
          <a:p>
            <a:r>
              <a:rPr kumimoji="1" lang="en-US" sz="1200" kern="1200" baseline="0" dirty="0">
                <a:solidFill>
                  <a:schemeClr val="tx1"/>
                </a:solidFill>
                <a:latin typeface="Times New Roman" pitchFamily="33" charset="0"/>
                <a:ea typeface="+mn-ea"/>
                <a:cs typeface="+mn-cs"/>
              </a:rPr>
              <a:t>be reasonable in relationship to other components.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might be expected, there is a trade-off among the three key characteristics</a:t>
            </a:r>
          </a:p>
          <a:p>
            <a:r>
              <a:rPr kumimoji="1" lang="en-US" sz="1200" kern="1200" baseline="0" dirty="0">
                <a:solidFill>
                  <a:schemeClr val="tx1"/>
                </a:solidFill>
                <a:latin typeface="Times New Roman" pitchFamily="33" charset="0"/>
                <a:ea typeface="+mn-ea"/>
                <a:cs typeface="+mn-cs"/>
              </a:rPr>
              <a:t>of memory: capacity, access time, and cost. A variety of technologies are used to</a:t>
            </a:r>
          </a:p>
          <a:p>
            <a:r>
              <a:rPr kumimoji="1" lang="en-US" sz="1200" kern="1200" baseline="0" dirty="0">
                <a:solidFill>
                  <a:schemeClr val="tx1"/>
                </a:solidFill>
                <a:latin typeface="Times New Roman" pitchFamily="33" charset="0"/>
                <a:ea typeface="+mn-ea"/>
                <a:cs typeface="+mn-cs"/>
              </a:rPr>
              <a:t>implement memory systems, and across this spectrum of technologies, the following</a:t>
            </a:r>
          </a:p>
          <a:p>
            <a:r>
              <a:rPr kumimoji="1" lang="en-US" sz="1200" kern="1200" baseline="0" dirty="0">
                <a:solidFill>
                  <a:schemeClr val="tx1"/>
                </a:solidFill>
                <a:latin typeface="Times New Roman" pitchFamily="33" charset="0"/>
                <a:ea typeface="+mn-ea"/>
                <a:cs typeface="+mn-cs"/>
              </a:rPr>
              <a:t>relationships hold: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Faster access time, greater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smaller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slower access time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dilemma facing the designer is clear. The designer would like to use memory</a:t>
            </a:r>
          </a:p>
          <a:p>
            <a:r>
              <a:rPr kumimoji="1" lang="en-US" sz="1200" kern="1200" baseline="0" dirty="0">
                <a:solidFill>
                  <a:schemeClr val="tx1"/>
                </a:solidFill>
                <a:latin typeface="Times New Roman" pitchFamily="33" charset="0"/>
                <a:ea typeface="+mn-ea"/>
                <a:cs typeface="+mn-cs"/>
              </a:rPr>
              <a:t>technologies that provide for large-capacity memory, both because the capacity</a:t>
            </a:r>
          </a:p>
          <a:p>
            <a:r>
              <a:rPr kumimoji="1" lang="en-US" sz="1200" kern="1200" baseline="0" dirty="0">
                <a:solidFill>
                  <a:schemeClr val="tx1"/>
                </a:solidFill>
                <a:latin typeface="Times New Roman" pitchFamily="33" charset="0"/>
                <a:ea typeface="+mn-ea"/>
                <a:cs typeface="+mn-cs"/>
              </a:rPr>
              <a:t>is needed and because the cost per bit is low. However, to meet performance</a:t>
            </a:r>
          </a:p>
          <a:p>
            <a:r>
              <a:rPr kumimoji="1" lang="en-US" sz="1200" kern="1200" baseline="0" dirty="0">
                <a:solidFill>
                  <a:schemeClr val="tx1"/>
                </a:solidFill>
                <a:latin typeface="Times New Roman" pitchFamily="33" charset="0"/>
                <a:ea typeface="+mn-ea"/>
                <a:cs typeface="+mn-cs"/>
              </a:rPr>
              <a:t>requirements, the designer needs to use expensive, relatively lower-capacity memories</a:t>
            </a:r>
          </a:p>
          <a:p>
            <a:r>
              <a:rPr kumimoji="1" lang="en-US" sz="1200" kern="1200" baseline="0" dirty="0">
                <a:solidFill>
                  <a:schemeClr val="tx1"/>
                </a:solidFill>
                <a:latin typeface="Times New Roman" pitchFamily="33" charset="0"/>
                <a:ea typeface="+mn-ea"/>
                <a:cs typeface="+mn-cs"/>
              </a:rPr>
              <a:t>with short access times.</a:t>
            </a:r>
          </a:p>
          <a:p>
            <a:endParaRPr kumimoji="1" lang="en-US" sz="1200" kern="1200" baseline="0" dirty="0">
              <a:solidFill>
                <a:schemeClr val="tx1"/>
              </a:solidFill>
              <a:latin typeface="Times New Roman" pitchFamily="33" charset="0"/>
              <a:ea typeface="+mn-ea"/>
              <a:cs typeface="+mn-cs"/>
            </a:endParaRPr>
          </a:p>
        </p:txBody>
      </p:sp>
      <p:sp>
        <p:nvSpPr>
          <p:cNvPr id="4" name="Slide Number Placeholder 3"/>
          <p:cNvSpPr>
            <a:spLocks noGrp="1"/>
          </p:cNvSpPr>
          <p:nvPr>
            <p:ph type="sldNum" sz="quarter" idx="10"/>
          </p:nvPr>
        </p:nvSpPr>
        <p:spPr/>
        <p:txBody>
          <a:bodyPr/>
          <a:lstStyle/>
          <a:p>
            <a:fld id="{56C40E98-D33D-704E-929D-27FB84CF5632}" type="slidenum">
              <a:rPr lang="en-US" smtClean="0"/>
              <a:pPr/>
              <a:t>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a:solidFill>
                  <a:schemeClr val="tx1"/>
                </a:solidFill>
                <a:effectLst/>
                <a:latin typeface="Times New Roman" pitchFamily="33" charset="0"/>
                <a:ea typeface="+mn-ea"/>
                <a:cs typeface="+mn-cs"/>
              </a:rPr>
              <a:t> The way out of this dilemma is not to rely on a single memory component or technology,</a:t>
            </a:r>
          </a:p>
          <a:p>
            <a:r>
              <a:rPr kumimoji="1" lang="en-US" sz="1200" kern="1200" dirty="0">
                <a:solidFill>
                  <a:schemeClr val="tx1"/>
                </a:solidFill>
                <a:effectLst/>
                <a:latin typeface="Times New Roman" pitchFamily="33" charset="0"/>
                <a:ea typeface="+mn-ea"/>
                <a:cs typeface="+mn-cs"/>
              </a:rPr>
              <a:t>but to employ a </a:t>
            </a:r>
            <a:r>
              <a:rPr kumimoji="1" lang="en-US" sz="1200" b="1" kern="1200" dirty="0">
                <a:solidFill>
                  <a:schemeClr val="tx1"/>
                </a:solidFill>
                <a:effectLst/>
                <a:latin typeface="Times New Roman" pitchFamily="33" charset="0"/>
                <a:ea typeface="+mn-ea"/>
                <a:cs typeface="+mn-cs"/>
              </a:rPr>
              <a:t>memory hierarchy </a:t>
            </a:r>
            <a:r>
              <a:rPr kumimoji="1" lang="en-US" sz="1200" kern="1200" dirty="0">
                <a:solidFill>
                  <a:schemeClr val="tx1"/>
                </a:solidFill>
                <a:effectLst/>
                <a:latin typeface="Times New Roman" pitchFamily="33" charset="0"/>
                <a:ea typeface="+mn-ea"/>
                <a:cs typeface="+mn-cs"/>
              </a:rPr>
              <a:t>.</a:t>
            </a:r>
            <a:r>
              <a:rPr kumimoji="1" lang="en-US" sz="1200" kern="1200" baseline="0" dirty="0">
                <a:solidFill>
                  <a:schemeClr val="tx1"/>
                </a:solidFill>
                <a:effectLst/>
                <a:latin typeface="Times New Roman" pitchFamily="33" charset="0"/>
                <a:ea typeface="+mn-ea"/>
                <a:cs typeface="+mn-cs"/>
              </a:rPr>
              <a:t> </a:t>
            </a:r>
            <a:r>
              <a:rPr kumimoji="1" lang="en-US" sz="1200" kern="1200" baseline="0" dirty="0">
                <a:solidFill>
                  <a:schemeClr val="tx1"/>
                </a:solidFill>
                <a:latin typeface="Times New Roman" pitchFamily="33" charset="0"/>
                <a:ea typeface="+mn-ea"/>
                <a:cs typeface="+mn-cs"/>
              </a:rPr>
              <a:t>A typical hierarchy is illustrated in</a:t>
            </a:r>
          </a:p>
          <a:p>
            <a:r>
              <a:rPr kumimoji="1" lang="en-US" sz="1200" kern="1200" baseline="0" dirty="0">
                <a:solidFill>
                  <a:schemeClr val="tx1"/>
                </a:solidFill>
                <a:latin typeface="Times New Roman" pitchFamily="33" charset="0"/>
                <a:ea typeface="+mn-ea"/>
                <a:cs typeface="+mn-cs"/>
              </a:rPr>
              <a:t>Figure 4.6. As one goes down the hierarchy, the following occur:</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a. Decreasing cost per bit</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b. Increasing capacity</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c. Increasing access time</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d. Decreasing frequency of access of the memory by the processor</a:t>
            </a:r>
          </a:p>
          <a:p>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9</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Table 4.2 lists some characteristics of key elements of the memory hierarchy. The</a:t>
            </a:r>
          </a:p>
          <a:p>
            <a:r>
              <a:rPr kumimoji="1" lang="en-US" sz="1200" kern="1200" dirty="0">
                <a:solidFill>
                  <a:schemeClr val="tx1"/>
                </a:solidFill>
                <a:effectLst/>
                <a:latin typeface="Times New Roman" pitchFamily="33" charset="0"/>
                <a:ea typeface="+mn-ea"/>
                <a:cs typeface="+mn-cs"/>
              </a:rPr>
              <a:t>fastest, smallest, and most expensive type of memory consists of the registers internal</a:t>
            </a:r>
          </a:p>
          <a:p>
            <a:r>
              <a:rPr kumimoji="1" lang="en-US" sz="1200" kern="1200" dirty="0">
                <a:solidFill>
                  <a:schemeClr val="tx1"/>
                </a:solidFill>
                <a:effectLst/>
                <a:latin typeface="Times New Roman" pitchFamily="33" charset="0"/>
                <a:ea typeface="+mn-ea"/>
                <a:cs typeface="+mn-cs"/>
              </a:rPr>
              <a:t>to the processor. Typically, a processor will contain a few dozen such registers,</a:t>
            </a:r>
          </a:p>
          <a:p>
            <a:r>
              <a:rPr kumimoji="1" lang="en-US" sz="1200" kern="1200" dirty="0">
                <a:solidFill>
                  <a:schemeClr val="tx1"/>
                </a:solidFill>
                <a:effectLst/>
                <a:latin typeface="Times New Roman" pitchFamily="33" charset="0"/>
                <a:ea typeface="+mn-ea"/>
                <a:cs typeface="+mn-cs"/>
              </a:rPr>
              <a:t>although some machines contain hundreds of registers. Next will be typically multiple</a:t>
            </a:r>
          </a:p>
          <a:p>
            <a:r>
              <a:rPr kumimoji="1" lang="en-US" sz="1200" kern="1200" dirty="0">
                <a:solidFill>
                  <a:schemeClr val="tx1"/>
                </a:solidFill>
                <a:effectLst/>
                <a:latin typeface="Times New Roman" pitchFamily="33" charset="0"/>
                <a:ea typeface="+mn-ea"/>
                <a:cs typeface="+mn-cs"/>
              </a:rPr>
              <a:t>layers of cache. Level 1 cache (L1 cache), closest to the processor registers, is</a:t>
            </a:r>
          </a:p>
          <a:p>
            <a:r>
              <a:rPr kumimoji="1" lang="en-US" sz="1200" kern="1200" dirty="0">
                <a:solidFill>
                  <a:schemeClr val="tx1"/>
                </a:solidFill>
                <a:effectLst/>
                <a:latin typeface="Times New Roman" pitchFamily="33" charset="0"/>
                <a:ea typeface="+mn-ea"/>
                <a:cs typeface="+mn-cs"/>
              </a:rPr>
              <a:t>almost always divided into an instruction cache and a data cache. This split is also</a:t>
            </a:r>
          </a:p>
          <a:p>
            <a:r>
              <a:rPr kumimoji="1" lang="en-US" sz="1200" kern="1200" dirty="0">
                <a:solidFill>
                  <a:schemeClr val="tx1"/>
                </a:solidFill>
                <a:effectLst/>
                <a:latin typeface="Times New Roman" pitchFamily="33" charset="0"/>
                <a:ea typeface="+mn-ea"/>
                <a:cs typeface="+mn-cs"/>
              </a:rPr>
              <a:t>common for L2 caches. Most contemporary machines also have an L3 cache and</a:t>
            </a:r>
          </a:p>
          <a:p>
            <a:r>
              <a:rPr kumimoji="1" lang="en-US" sz="1200" kern="1200" dirty="0">
                <a:solidFill>
                  <a:schemeClr val="tx1"/>
                </a:solidFill>
                <a:effectLst/>
                <a:latin typeface="Times New Roman" pitchFamily="33" charset="0"/>
                <a:ea typeface="+mn-ea"/>
                <a:cs typeface="+mn-cs"/>
              </a:rPr>
              <a:t>some have an L4 cache; these two caches generally are not split between instruction</a:t>
            </a:r>
          </a:p>
          <a:p>
            <a:r>
              <a:rPr kumimoji="1" lang="en-US" sz="1200" kern="1200" dirty="0">
                <a:solidFill>
                  <a:schemeClr val="tx1"/>
                </a:solidFill>
                <a:effectLst/>
                <a:latin typeface="Times New Roman" pitchFamily="33" charset="0"/>
                <a:ea typeface="+mn-ea"/>
                <a:cs typeface="+mn-cs"/>
              </a:rPr>
              <a:t>and data and may be shared by multiple processors. Traditionally, cache memory has</a:t>
            </a:r>
          </a:p>
          <a:p>
            <a:r>
              <a:rPr kumimoji="1" lang="en-US" sz="1200" kern="1200" dirty="0">
                <a:solidFill>
                  <a:schemeClr val="tx1"/>
                </a:solidFill>
                <a:effectLst/>
                <a:latin typeface="Times New Roman" pitchFamily="33" charset="0"/>
                <a:ea typeface="+mn-ea"/>
                <a:cs typeface="+mn-cs"/>
              </a:rPr>
              <a:t>been constructed using a technology called static random access memory (SRAM).</a:t>
            </a:r>
          </a:p>
          <a:p>
            <a:r>
              <a:rPr kumimoji="1" lang="en-US" sz="1200" kern="1200" dirty="0">
                <a:solidFill>
                  <a:schemeClr val="tx1"/>
                </a:solidFill>
                <a:effectLst/>
                <a:latin typeface="Times New Roman" pitchFamily="33" charset="0"/>
                <a:ea typeface="+mn-ea"/>
                <a:cs typeface="+mn-cs"/>
              </a:rPr>
              <a:t>More recently, higher levels of cache on many systems have been implemented using</a:t>
            </a:r>
          </a:p>
          <a:p>
            <a:r>
              <a:rPr kumimoji="1" lang="en-US" sz="1200" kern="1200" dirty="0">
                <a:solidFill>
                  <a:schemeClr val="tx1"/>
                </a:solidFill>
                <a:effectLst/>
                <a:latin typeface="Times New Roman" pitchFamily="33" charset="0"/>
                <a:ea typeface="+mn-ea"/>
                <a:cs typeface="+mn-cs"/>
              </a:rPr>
              <a:t>embedded dynamic RAM (</a:t>
            </a:r>
            <a:r>
              <a:rPr kumimoji="1" lang="en-US" sz="1200" kern="1200" dirty="0" err="1">
                <a:solidFill>
                  <a:schemeClr val="tx1"/>
                </a:solidFill>
                <a:effectLst/>
                <a:latin typeface="Times New Roman" pitchFamily="33" charset="0"/>
                <a:ea typeface="+mn-ea"/>
                <a:cs typeface="+mn-cs"/>
              </a:rPr>
              <a:t>eDRAM</a:t>
            </a:r>
            <a:r>
              <a:rPr kumimoji="1" lang="en-US" sz="1200" kern="1200" dirty="0">
                <a:solidFill>
                  <a:schemeClr val="tx1"/>
                </a:solidFill>
                <a:effectLst/>
                <a:latin typeface="Times New Roman" pitchFamily="33" charset="0"/>
                <a:ea typeface="+mn-ea"/>
                <a:cs typeface="+mn-cs"/>
              </a:rPr>
              <a:t>), which is slower than SRAM but faster than</a:t>
            </a:r>
          </a:p>
          <a:p>
            <a:r>
              <a:rPr kumimoji="1" lang="en-US" sz="1200" kern="1200" dirty="0">
                <a:solidFill>
                  <a:schemeClr val="tx1"/>
                </a:solidFill>
                <a:effectLst/>
                <a:latin typeface="Times New Roman" pitchFamily="33" charset="0"/>
                <a:ea typeface="+mn-ea"/>
                <a:cs typeface="+mn-cs"/>
              </a:rPr>
              <a:t>the DRAM used to implement the main memory of the computer.</a:t>
            </a:r>
          </a:p>
          <a:p>
            <a:endParaRPr lang="en-US" dirty="0"/>
          </a:p>
          <a:p>
            <a:r>
              <a:rPr kumimoji="1" lang="en-US" sz="1200" kern="1200" dirty="0">
                <a:solidFill>
                  <a:schemeClr val="tx1"/>
                </a:solidFill>
                <a:effectLst/>
                <a:latin typeface="Times New Roman" pitchFamily="33" charset="0"/>
                <a:ea typeface="+mn-ea"/>
                <a:cs typeface="+mn-cs"/>
              </a:rPr>
              <a:t> Main memory is the principal internal memory system of the computer. Each</a:t>
            </a:r>
          </a:p>
          <a:p>
            <a:r>
              <a:rPr kumimoji="1" lang="en-US" sz="1200" kern="1200" dirty="0">
                <a:solidFill>
                  <a:schemeClr val="tx1"/>
                </a:solidFill>
                <a:effectLst/>
                <a:latin typeface="Times New Roman" pitchFamily="33" charset="0"/>
                <a:ea typeface="+mn-ea"/>
                <a:cs typeface="+mn-cs"/>
              </a:rPr>
              <a:t>location in main memory has a unique address. Main memory is visible to the programmer,</a:t>
            </a:r>
          </a:p>
          <a:p>
            <a:r>
              <a:rPr kumimoji="1" lang="en-US" sz="1200" kern="1200" dirty="0">
                <a:solidFill>
                  <a:schemeClr val="tx1"/>
                </a:solidFill>
                <a:effectLst/>
                <a:latin typeface="Times New Roman" pitchFamily="33" charset="0"/>
                <a:ea typeface="+mn-ea"/>
                <a:cs typeface="+mn-cs"/>
              </a:rPr>
              <a:t>whereas cache memory is not. The various levels of cache are controlled</a:t>
            </a:r>
          </a:p>
          <a:p>
            <a:r>
              <a:rPr kumimoji="1" lang="en-US" sz="1200" kern="1200" dirty="0">
                <a:solidFill>
                  <a:schemeClr val="tx1"/>
                </a:solidFill>
                <a:effectLst/>
                <a:latin typeface="Times New Roman" pitchFamily="33" charset="0"/>
                <a:ea typeface="+mn-ea"/>
                <a:cs typeface="+mn-cs"/>
              </a:rPr>
              <a:t>by hardware and are used for staging the movement of data between main memory</a:t>
            </a:r>
          </a:p>
          <a:p>
            <a:r>
              <a:rPr kumimoji="1" lang="en-US" sz="1200" kern="1200" dirty="0">
                <a:solidFill>
                  <a:schemeClr val="tx1"/>
                </a:solidFill>
                <a:effectLst/>
                <a:latin typeface="Times New Roman" pitchFamily="33" charset="0"/>
                <a:ea typeface="+mn-ea"/>
                <a:cs typeface="+mn-cs"/>
              </a:rPr>
              <a:t>and processor registers to improve performance.</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10</a:t>
            </a:fld>
            <a:endParaRPr lang="en-US" dirty="0"/>
          </a:p>
        </p:txBody>
      </p:sp>
    </p:spTree>
    <p:extLst>
      <p:ext uri="{BB962C8B-B14F-4D97-AF65-F5344CB8AC3E}">
        <p14:creationId xmlns:p14="http://schemas.microsoft.com/office/powerpoint/2010/main" val="296818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Cache memory is designed to combine the memory access time of expensive, high-</a:t>
            </a:r>
          </a:p>
          <a:p>
            <a:r>
              <a:rPr kumimoji="1" lang="en-US" sz="1200" kern="1200" dirty="0">
                <a:solidFill>
                  <a:schemeClr val="tx1"/>
                </a:solidFill>
                <a:effectLst/>
                <a:latin typeface="Times New Roman" pitchFamily="33" charset="0"/>
                <a:ea typeface="+mn-ea"/>
                <a:cs typeface="+mn-cs"/>
              </a:rPr>
              <a:t>speed</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memory combined with the large memory size of less expensive, lower-</a:t>
            </a:r>
          </a:p>
          <a:p>
            <a:r>
              <a:rPr kumimoji="1" lang="en-US" sz="1200" kern="1200" dirty="0">
                <a:solidFill>
                  <a:schemeClr val="tx1"/>
                </a:solidFill>
                <a:effectLst/>
                <a:latin typeface="Times New Roman" pitchFamily="33" charset="0"/>
                <a:ea typeface="+mn-ea"/>
                <a:cs typeface="+mn-cs"/>
              </a:rPr>
              <a:t>speed</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memory. The concept is illustrated in Figure 5.1a. There is a relatively large and slow</a:t>
            </a:r>
          </a:p>
          <a:p>
            <a:r>
              <a:rPr kumimoji="1" lang="en-US" sz="1200" kern="1200" dirty="0">
                <a:solidFill>
                  <a:schemeClr val="tx1"/>
                </a:solidFill>
                <a:effectLst/>
                <a:latin typeface="Times New Roman" pitchFamily="33" charset="0"/>
                <a:ea typeface="+mn-ea"/>
                <a:cs typeface="+mn-cs"/>
              </a:rPr>
              <a:t> main memory together with a smaller, faster cache memory. The cache contains</a:t>
            </a:r>
          </a:p>
          <a:p>
            <a:r>
              <a:rPr kumimoji="1" lang="en-US" sz="1200" kern="1200" dirty="0">
                <a:solidFill>
                  <a:schemeClr val="tx1"/>
                </a:solidFill>
                <a:effectLst/>
                <a:latin typeface="Times New Roman" pitchFamily="33" charset="0"/>
                <a:ea typeface="+mn-ea"/>
                <a:cs typeface="+mn-cs"/>
              </a:rPr>
              <a:t>a copy of portions of the main memory. When the processor attempts</a:t>
            </a:r>
          </a:p>
          <a:p>
            <a:r>
              <a:rPr kumimoji="1" lang="en-US" sz="1200" kern="1200" dirty="0">
                <a:solidFill>
                  <a:schemeClr val="tx1"/>
                </a:solidFill>
                <a:effectLst/>
                <a:latin typeface="Times New Roman" pitchFamily="33" charset="0"/>
                <a:ea typeface="+mn-ea"/>
                <a:cs typeface="+mn-cs"/>
              </a:rPr>
              <a:t>to read a word of memory, a check is made to determine if the word is in the</a:t>
            </a:r>
          </a:p>
          <a:p>
            <a:r>
              <a:rPr kumimoji="1" lang="en-US" sz="1200" kern="1200" dirty="0">
                <a:solidFill>
                  <a:schemeClr val="tx1"/>
                </a:solidFill>
                <a:effectLst/>
                <a:latin typeface="Times New Roman" pitchFamily="33" charset="0"/>
                <a:ea typeface="+mn-ea"/>
                <a:cs typeface="+mn-cs"/>
              </a:rPr>
              <a:t>cache. If so, the word is delivered to the processor. If not, a block of main</a:t>
            </a:r>
          </a:p>
          <a:p>
            <a:r>
              <a:rPr kumimoji="1" lang="en-US" sz="1200" kern="1200" dirty="0">
                <a:solidFill>
                  <a:schemeClr val="tx1"/>
                </a:solidFill>
                <a:effectLst/>
                <a:latin typeface="Times New Roman" pitchFamily="33" charset="0"/>
                <a:ea typeface="+mn-ea"/>
                <a:cs typeface="+mn-cs"/>
              </a:rPr>
              <a:t>memory, consisting of some fixed number of words, is read into the cache</a:t>
            </a:r>
          </a:p>
          <a:p>
            <a:r>
              <a:rPr kumimoji="1" lang="en-US" sz="1200" kern="1200" dirty="0">
                <a:solidFill>
                  <a:schemeClr val="tx1"/>
                </a:solidFill>
                <a:effectLst/>
                <a:latin typeface="Times New Roman" pitchFamily="33" charset="0"/>
                <a:ea typeface="+mn-ea"/>
                <a:cs typeface="+mn-cs"/>
              </a:rPr>
              <a:t>and then the word is delivered to the processor. Because of the phenomenon</a:t>
            </a:r>
          </a:p>
          <a:p>
            <a:r>
              <a:rPr kumimoji="1" lang="en-US" sz="1200" kern="1200" dirty="0">
                <a:solidFill>
                  <a:schemeClr val="tx1"/>
                </a:solidFill>
                <a:effectLst/>
                <a:latin typeface="Times New Roman" pitchFamily="33" charset="0"/>
                <a:ea typeface="+mn-ea"/>
                <a:cs typeface="+mn-cs"/>
              </a:rPr>
              <a:t>of locality of reference, when a block of data is fetched into the cache</a:t>
            </a:r>
          </a:p>
          <a:p>
            <a:r>
              <a:rPr kumimoji="1" lang="en-US" sz="1200" kern="1200" dirty="0">
                <a:solidFill>
                  <a:schemeClr val="tx1"/>
                </a:solidFill>
                <a:effectLst/>
                <a:latin typeface="Times New Roman" pitchFamily="33" charset="0"/>
                <a:ea typeface="+mn-ea"/>
                <a:cs typeface="+mn-cs"/>
              </a:rPr>
              <a:t>to satisfy a single memory reference, it is likely that there will be future</a:t>
            </a:r>
          </a:p>
          <a:p>
            <a:r>
              <a:rPr kumimoji="1" lang="en-US" sz="1200" kern="1200" dirty="0">
                <a:solidFill>
                  <a:schemeClr val="tx1"/>
                </a:solidFill>
                <a:effectLst/>
                <a:latin typeface="Times New Roman" pitchFamily="33" charset="0"/>
                <a:ea typeface="+mn-ea"/>
                <a:cs typeface="+mn-cs"/>
              </a:rPr>
              <a:t>references to that same memory location or to other words in the block.</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Figure 5.1b depicts the use of multiple levels of cache. The L2 cache</a:t>
            </a:r>
          </a:p>
          <a:p>
            <a:r>
              <a:rPr kumimoji="1" lang="en-US" sz="1200" kern="1200" dirty="0">
                <a:solidFill>
                  <a:schemeClr val="tx1"/>
                </a:solidFill>
                <a:effectLst/>
                <a:latin typeface="Times New Roman" pitchFamily="33" charset="0"/>
                <a:ea typeface="+mn-ea"/>
                <a:cs typeface="+mn-cs"/>
              </a:rPr>
              <a:t>is slower and typically larger than the L1 cache, and the L3 cache is slower</a:t>
            </a:r>
          </a:p>
          <a:p>
            <a:r>
              <a:rPr kumimoji="1" lang="en-US" sz="1200" kern="1200" dirty="0">
                <a:solidFill>
                  <a:schemeClr val="tx1"/>
                </a:solidFill>
                <a:effectLst/>
                <a:latin typeface="Times New Roman" pitchFamily="33" charset="0"/>
                <a:ea typeface="+mn-ea"/>
                <a:cs typeface="+mn-cs"/>
              </a:rPr>
              <a:t>and typically larger than the L2 cache.</a:t>
            </a:r>
          </a:p>
          <a:p>
            <a:endParaRPr kumimoji="1" lang="en-US" sz="1200" kern="1200" dirty="0">
              <a:solidFill>
                <a:schemeClr val="tx1"/>
              </a:solidFill>
              <a:effectLst/>
              <a:latin typeface="Times New Roman" pitchFamily="33" charset="0"/>
              <a:ea typeface="+mn-ea"/>
              <a:cs typeface="+mn-cs"/>
            </a:endParaRP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12</a:t>
            </a:fld>
            <a:endParaRPr lang="en-US" dirty="0"/>
          </a:p>
        </p:txBody>
      </p:sp>
    </p:spTree>
    <p:extLst>
      <p:ext uri="{BB962C8B-B14F-4D97-AF65-F5344CB8AC3E}">
        <p14:creationId xmlns:p14="http://schemas.microsoft.com/office/powerpoint/2010/main" val="100187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1" kern="1200" dirty="0">
                <a:solidFill>
                  <a:schemeClr val="tx1"/>
                </a:solidFill>
                <a:effectLst/>
                <a:latin typeface="Times New Roman" pitchFamily="33" charset="0"/>
                <a:ea typeface="+mn-ea"/>
                <a:cs typeface="+mn-cs"/>
              </a:rPr>
              <a:t>■ Block: </a:t>
            </a:r>
            <a:r>
              <a:rPr kumimoji="1" lang="en-US" sz="1200" kern="1200" dirty="0">
                <a:solidFill>
                  <a:schemeClr val="tx1"/>
                </a:solidFill>
                <a:effectLst/>
                <a:latin typeface="Times New Roman" pitchFamily="33" charset="0"/>
                <a:ea typeface="+mn-ea"/>
                <a:cs typeface="+mn-cs"/>
              </a:rPr>
              <a:t> The minimum unit of transfer between cache and main memory.</a:t>
            </a:r>
          </a:p>
          <a:p>
            <a:r>
              <a:rPr kumimoji="1" lang="en-US" sz="1200" kern="1200" dirty="0">
                <a:solidFill>
                  <a:schemeClr val="tx1"/>
                </a:solidFill>
                <a:effectLst/>
                <a:latin typeface="Times New Roman" pitchFamily="33" charset="0"/>
                <a:ea typeface="+mn-ea"/>
                <a:cs typeface="+mn-cs"/>
              </a:rPr>
              <a:t>In most of the literature, the term block refers both to the unit of data</a:t>
            </a:r>
          </a:p>
          <a:p>
            <a:r>
              <a:rPr kumimoji="1" lang="en-US" sz="1200" kern="1200" dirty="0">
                <a:solidFill>
                  <a:schemeClr val="tx1"/>
                </a:solidFill>
                <a:effectLst/>
                <a:latin typeface="Times New Roman" pitchFamily="33" charset="0"/>
                <a:ea typeface="+mn-ea"/>
                <a:cs typeface="+mn-cs"/>
              </a:rPr>
              <a:t>transferred and to the physical location in main memory or cache.</a:t>
            </a:r>
          </a:p>
          <a:p>
            <a:endParaRPr kumimoji="1" lang="en-US" sz="1200" b="1" kern="1200" dirty="0">
              <a:solidFill>
                <a:schemeClr val="tx1"/>
              </a:solidFill>
              <a:effectLst/>
              <a:latin typeface="Times New Roman" pitchFamily="33" charset="0"/>
              <a:ea typeface="+mn-ea"/>
              <a:cs typeface="+mn-cs"/>
            </a:endParaRPr>
          </a:p>
          <a:p>
            <a:r>
              <a:rPr kumimoji="1" lang="en-US" sz="1200" b="1" kern="1200" dirty="0">
                <a:solidFill>
                  <a:schemeClr val="tx1"/>
                </a:solidFill>
                <a:effectLst/>
                <a:latin typeface="Times New Roman" pitchFamily="33" charset="0"/>
                <a:ea typeface="+mn-ea"/>
                <a:cs typeface="+mn-cs"/>
              </a:rPr>
              <a:t>■ Frame</a:t>
            </a:r>
            <a:r>
              <a:rPr kumimoji="1" lang="en-US" sz="1200" kern="1200" dirty="0">
                <a:solidFill>
                  <a:schemeClr val="tx1"/>
                </a:solidFill>
                <a:effectLst/>
                <a:latin typeface="Times New Roman" pitchFamily="33" charset="0"/>
                <a:ea typeface="+mn-ea"/>
                <a:cs typeface="+mn-cs"/>
              </a:rPr>
              <a:t>:  To distinguish between the data transferred and the chunk of</a:t>
            </a:r>
          </a:p>
          <a:p>
            <a:r>
              <a:rPr kumimoji="1" lang="en-US" sz="1200" kern="1200" dirty="0">
                <a:solidFill>
                  <a:schemeClr val="tx1"/>
                </a:solidFill>
                <a:effectLst/>
                <a:latin typeface="Times New Roman" pitchFamily="33" charset="0"/>
                <a:ea typeface="+mn-ea"/>
                <a:cs typeface="+mn-cs"/>
              </a:rPr>
              <a:t>physical memory, the term frame, or </a:t>
            </a:r>
            <a:r>
              <a:rPr kumimoji="1" lang="en-US" sz="1200" i="1" kern="1200" dirty="0">
                <a:solidFill>
                  <a:schemeClr val="tx1"/>
                </a:solidFill>
                <a:effectLst/>
                <a:latin typeface="Times New Roman" pitchFamily="33" charset="0"/>
                <a:ea typeface="+mn-ea"/>
                <a:cs typeface="+mn-cs"/>
              </a:rPr>
              <a:t>block frame</a:t>
            </a:r>
            <a:r>
              <a:rPr kumimoji="1" lang="en-US" sz="1200" kern="1200" dirty="0">
                <a:solidFill>
                  <a:schemeClr val="tx1"/>
                </a:solidFill>
                <a:effectLst/>
                <a:latin typeface="Times New Roman" pitchFamily="33" charset="0"/>
                <a:ea typeface="+mn-ea"/>
                <a:cs typeface="+mn-cs"/>
              </a:rPr>
              <a:t>, is sometimes used</a:t>
            </a:r>
          </a:p>
          <a:p>
            <a:r>
              <a:rPr kumimoji="1" lang="en-US" sz="1200" kern="1200" dirty="0">
                <a:solidFill>
                  <a:schemeClr val="tx1"/>
                </a:solidFill>
                <a:effectLst/>
                <a:latin typeface="Times New Roman" pitchFamily="33" charset="0"/>
                <a:ea typeface="+mn-ea"/>
                <a:cs typeface="+mn-cs"/>
              </a:rPr>
              <a:t>with reference to caches. Some texts and some literature use the term</a:t>
            </a:r>
          </a:p>
          <a:p>
            <a:r>
              <a:rPr kumimoji="1" lang="en-US" sz="1200" kern="1200" dirty="0">
                <a:solidFill>
                  <a:schemeClr val="tx1"/>
                </a:solidFill>
                <a:effectLst/>
                <a:latin typeface="Times New Roman" pitchFamily="33" charset="0"/>
                <a:ea typeface="+mn-ea"/>
                <a:cs typeface="+mn-cs"/>
              </a:rPr>
              <a:t> with reference to the cache and some with reference to main memory. It use is</a:t>
            </a:r>
          </a:p>
          <a:p>
            <a:r>
              <a:rPr kumimoji="1" lang="en-US" sz="1200" kern="1200" dirty="0">
                <a:solidFill>
                  <a:schemeClr val="tx1"/>
                </a:solidFill>
                <a:effectLst/>
                <a:latin typeface="Times New Roman" pitchFamily="33" charset="0"/>
                <a:ea typeface="+mn-ea"/>
                <a:cs typeface="+mn-cs"/>
              </a:rPr>
              <a:t>not necessary for purposes of this text.</a:t>
            </a:r>
          </a:p>
          <a:p>
            <a:endParaRPr kumimoji="1" lang="en-US" sz="1200" b="1" kern="1200" dirty="0">
              <a:solidFill>
                <a:schemeClr val="tx1"/>
              </a:solidFill>
              <a:effectLst/>
              <a:latin typeface="Times New Roman" pitchFamily="33" charset="0"/>
              <a:ea typeface="+mn-ea"/>
              <a:cs typeface="+mn-cs"/>
            </a:endParaRPr>
          </a:p>
          <a:p>
            <a:r>
              <a:rPr kumimoji="1" lang="en-US" sz="1200" b="1" kern="1200" dirty="0">
                <a:solidFill>
                  <a:schemeClr val="tx1"/>
                </a:solidFill>
                <a:effectLst/>
                <a:latin typeface="Times New Roman" pitchFamily="33" charset="0"/>
                <a:ea typeface="+mn-ea"/>
                <a:cs typeface="+mn-cs"/>
              </a:rPr>
              <a:t>■ Line:</a:t>
            </a:r>
            <a:r>
              <a:rPr kumimoji="1" lang="en-US" sz="1200" kern="1200" dirty="0">
                <a:solidFill>
                  <a:schemeClr val="tx1"/>
                </a:solidFill>
                <a:effectLst/>
                <a:latin typeface="Times New Roman" pitchFamily="33" charset="0"/>
                <a:ea typeface="+mn-ea"/>
                <a:cs typeface="+mn-cs"/>
              </a:rPr>
              <a:t>  A portion of cache memory capable of holding one block, so-called</a:t>
            </a:r>
          </a:p>
          <a:p>
            <a:r>
              <a:rPr kumimoji="1" lang="en-US" sz="1200" kern="1200" dirty="0">
                <a:solidFill>
                  <a:schemeClr val="tx1"/>
                </a:solidFill>
                <a:effectLst/>
                <a:latin typeface="Times New Roman" pitchFamily="33" charset="0"/>
                <a:ea typeface="+mn-ea"/>
                <a:cs typeface="+mn-cs"/>
              </a:rPr>
              <a:t>because it is usually drawn as a horizontal object (i.e., all bytes of the line are</a:t>
            </a:r>
          </a:p>
          <a:p>
            <a:r>
              <a:rPr kumimoji="1" lang="en-US" sz="1200" kern="1200" dirty="0">
                <a:solidFill>
                  <a:schemeClr val="tx1"/>
                </a:solidFill>
                <a:effectLst/>
                <a:latin typeface="Times New Roman" pitchFamily="33" charset="0"/>
                <a:ea typeface="+mn-ea"/>
                <a:cs typeface="+mn-cs"/>
              </a:rPr>
              <a:t>typically drawn in one row). A line also includes control information.</a:t>
            </a:r>
          </a:p>
          <a:p>
            <a:endParaRPr kumimoji="1" lang="en-US" sz="1200" b="1" kern="1200" dirty="0">
              <a:solidFill>
                <a:schemeClr val="tx1"/>
              </a:solidFill>
              <a:effectLst/>
              <a:latin typeface="Times New Roman" pitchFamily="33" charset="0"/>
              <a:ea typeface="+mn-ea"/>
              <a:cs typeface="+mn-cs"/>
            </a:endParaRPr>
          </a:p>
          <a:p>
            <a:r>
              <a:rPr kumimoji="1" lang="en-US" sz="1200" b="1" kern="1200" dirty="0">
                <a:solidFill>
                  <a:schemeClr val="tx1"/>
                </a:solidFill>
                <a:effectLst/>
                <a:latin typeface="Times New Roman" pitchFamily="33" charset="0"/>
                <a:ea typeface="+mn-ea"/>
                <a:cs typeface="+mn-cs"/>
              </a:rPr>
              <a:t>■ Tag:</a:t>
            </a:r>
            <a:r>
              <a:rPr kumimoji="1" lang="en-US" sz="1200" kern="1200" dirty="0">
                <a:solidFill>
                  <a:schemeClr val="tx1"/>
                </a:solidFill>
                <a:effectLst/>
                <a:latin typeface="Times New Roman" pitchFamily="33" charset="0"/>
                <a:ea typeface="+mn-ea"/>
                <a:cs typeface="+mn-cs"/>
              </a:rPr>
              <a:t>  A portion of a cache line that is used for addressing purposes, as explained</a:t>
            </a:r>
          </a:p>
          <a:p>
            <a:r>
              <a:rPr kumimoji="1" lang="en-US" sz="1200" kern="1200" dirty="0">
                <a:solidFill>
                  <a:schemeClr val="tx1"/>
                </a:solidFill>
                <a:effectLst/>
                <a:latin typeface="Times New Roman" pitchFamily="33" charset="0"/>
                <a:ea typeface="+mn-ea"/>
                <a:cs typeface="+mn-cs"/>
              </a:rPr>
              <a:t>subsequently. A cache line may also include other control bits, as will be shown.</a:t>
            </a:r>
          </a:p>
          <a:p>
            <a:endParaRPr lang="en-US" dirty="0"/>
          </a:p>
          <a:p>
            <a:r>
              <a:rPr kumimoji="1" lang="en-US" sz="1200" kern="1200" dirty="0">
                <a:solidFill>
                  <a:schemeClr val="tx1"/>
                </a:solidFill>
                <a:effectLst/>
                <a:latin typeface="Times New Roman" pitchFamily="33" charset="0"/>
                <a:ea typeface="+mn-ea"/>
                <a:cs typeface="+mn-cs"/>
              </a:rPr>
              <a:t> Main memory consists of up to 2</a:t>
            </a:r>
            <a:r>
              <a:rPr kumimoji="1" lang="en-US" sz="1200" i="1" kern="1200" baseline="30000" dirty="0">
                <a:solidFill>
                  <a:schemeClr val="tx1"/>
                </a:solidFill>
                <a:effectLst/>
                <a:latin typeface="Times New Roman" pitchFamily="33" charset="0"/>
                <a:ea typeface="+mn-ea"/>
                <a:cs typeface="+mn-cs"/>
              </a:rPr>
              <a:t>n</a:t>
            </a:r>
            <a:r>
              <a:rPr kumimoji="1" lang="en-US" sz="1200" kern="1200" dirty="0">
                <a:solidFill>
                  <a:schemeClr val="tx1"/>
                </a:solidFill>
                <a:effectLst/>
                <a:latin typeface="Times New Roman" pitchFamily="33" charset="0"/>
                <a:ea typeface="+mn-ea"/>
                <a:cs typeface="+mn-cs"/>
              </a:rPr>
              <a:t>  addressable words, with each word having a</a:t>
            </a:r>
          </a:p>
          <a:p>
            <a:r>
              <a:rPr kumimoji="1" lang="en-US" sz="1200" kern="1200" dirty="0">
                <a:solidFill>
                  <a:schemeClr val="tx1"/>
                </a:solidFill>
                <a:effectLst/>
                <a:latin typeface="Times New Roman" pitchFamily="33" charset="0"/>
                <a:ea typeface="+mn-ea"/>
                <a:cs typeface="+mn-cs"/>
              </a:rPr>
              <a:t>unique </a:t>
            </a:r>
            <a:r>
              <a:rPr kumimoji="1" lang="en-US" sz="1200" i="1" kern="1200" dirty="0">
                <a:solidFill>
                  <a:schemeClr val="tx1"/>
                </a:solidFill>
                <a:effectLst/>
                <a:latin typeface="Times New Roman" pitchFamily="33" charset="0"/>
                <a:ea typeface="+mn-ea"/>
                <a:cs typeface="+mn-cs"/>
              </a:rPr>
              <a:t>n</a:t>
            </a:r>
            <a:r>
              <a:rPr kumimoji="1" lang="en-US" sz="1200" kern="1200" dirty="0">
                <a:solidFill>
                  <a:schemeClr val="tx1"/>
                </a:solidFill>
                <a:effectLst/>
                <a:latin typeface="Times New Roman" pitchFamily="33" charset="0"/>
                <a:ea typeface="+mn-ea"/>
                <a:cs typeface="+mn-cs"/>
              </a:rPr>
              <a:t>-bit</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address. For mapping purposes, this memory is considered to consist of</a:t>
            </a:r>
          </a:p>
          <a:p>
            <a:r>
              <a:rPr kumimoji="1" lang="en-US" sz="1200" kern="1200" dirty="0">
                <a:solidFill>
                  <a:schemeClr val="tx1"/>
                </a:solidFill>
                <a:effectLst/>
                <a:latin typeface="Times New Roman" pitchFamily="33" charset="0"/>
                <a:ea typeface="+mn-ea"/>
                <a:cs typeface="+mn-cs"/>
              </a:rPr>
              <a:t>a number of fixed-length</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blocks of </a:t>
            </a:r>
            <a:r>
              <a:rPr kumimoji="1" lang="en-US" sz="1200" i="1" kern="1200" dirty="0">
                <a:solidFill>
                  <a:schemeClr val="tx1"/>
                </a:solidFill>
                <a:effectLst/>
                <a:latin typeface="Times New Roman" pitchFamily="33" charset="0"/>
                <a:ea typeface="+mn-ea"/>
                <a:cs typeface="+mn-cs"/>
              </a:rPr>
              <a:t>K</a:t>
            </a:r>
            <a:r>
              <a:rPr kumimoji="1" lang="en-US" sz="1200" kern="1200" dirty="0">
                <a:solidFill>
                  <a:schemeClr val="tx1"/>
                </a:solidFill>
                <a:effectLst/>
                <a:latin typeface="Times New Roman" pitchFamily="33" charset="0"/>
                <a:ea typeface="+mn-ea"/>
                <a:cs typeface="+mn-cs"/>
              </a:rPr>
              <a:t>  words each. </a:t>
            </a:r>
            <a:r>
              <a:rPr kumimoji="1" lang="en-US" sz="2400" kern="1200" dirty="0">
                <a:solidFill>
                  <a:schemeClr val="tx1"/>
                </a:solidFill>
                <a:effectLst/>
                <a:latin typeface="Times New Roman" pitchFamily="33" charset="0"/>
                <a:ea typeface="+mn-ea"/>
                <a:cs typeface="+mn-cs"/>
              </a:rPr>
              <a:t>That is, there are </a:t>
            </a:r>
            <a:r>
              <a:rPr kumimoji="1" lang="en-US" sz="2400" i="1" kern="1200" dirty="0">
                <a:solidFill>
                  <a:schemeClr val="tx1"/>
                </a:solidFill>
                <a:effectLst/>
                <a:latin typeface="Times New Roman" pitchFamily="33" charset="0"/>
                <a:ea typeface="+mn-ea"/>
                <a:cs typeface="+mn-cs"/>
              </a:rPr>
              <a:t>M </a:t>
            </a:r>
            <a:r>
              <a:rPr kumimoji="1" lang="en-US" sz="2400" kern="1200" dirty="0">
                <a:solidFill>
                  <a:schemeClr val="tx1"/>
                </a:solidFill>
                <a:effectLst/>
                <a:latin typeface="Times New Roman" pitchFamily="33" charset="0"/>
                <a:ea typeface="+mn-ea"/>
                <a:cs typeface="+mn-cs"/>
              </a:rPr>
              <a:t>=</a:t>
            </a:r>
            <a:r>
              <a:rPr kumimoji="1" lang="en-US" sz="2400" i="1" kern="1200" baseline="0" dirty="0">
                <a:solidFill>
                  <a:schemeClr val="tx1"/>
                </a:solidFill>
                <a:effectLst/>
                <a:latin typeface="Times New Roman" pitchFamily="33" charset="0"/>
                <a:ea typeface="+mn-ea"/>
                <a:cs typeface="+mn-cs"/>
              </a:rPr>
              <a:t>2</a:t>
            </a:r>
            <a:r>
              <a:rPr kumimoji="1" lang="en-US" sz="2400" i="1" kern="1200" baseline="30000" dirty="0">
                <a:solidFill>
                  <a:schemeClr val="tx1"/>
                </a:solidFill>
                <a:effectLst/>
                <a:latin typeface="Times New Roman" pitchFamily="33" charset="0"/>
                <a:ea typeface="+mn-ea"/>
                <a:cs typeface="+mn-cs"/>
              </a:rPr>
              <a:t>n</a:t>
            </a:r>
            <a:r>
              <a:rPr kumimoji="1" lang="en-US" sz="2400" i="1" kern="1200" baseline="0" dirty="0">
                <a:solidFill>
                  <a:schemeClr val="tx1"/>
                </a:solidFill>
                <a:effectLst/>
                <a:latin typeface="Times New Roman" pitchFamily="33" charset="0"/>
                <a:ea typeface="+mn-ea"/>
                <a:cs typeface="+mn-cs"/>
              </a:rPr>
              <a:t> </a:t>
            </a:r>
            <a:r>
              <a:rPr kumimoji="1" lang="en-US" sz="2400" i="1" kern="1200" dirty="0">
                <a:solidFill>
                  <a:schemeClr val="tx1"/>
                </a:solidFill>
                <a:effectLst/>
                <a:latin typeface="Times New Roman" pitchFamily="33" charset="0"/>
                <a:ea typeface="+mn-ea"/>
                <a:cs typeface="+mn-cs"/>
              </a:rPr>
              <a:t>/K </a:t>
            </a:r>
            <a:r>
              <a:rPr kumimoji="1" lang="en-US" sz="2400" kern="1200" dirty="0">
                <a:solidFill>
                  <a:schemeClr val="tx1"/>
                </a:solidFill>
                <a:effectLst/>
                <a:latin typeface="Times New Roman" pitchFamily="33" charset="0"/>
                <a:ea typeface="+mn-ea"/>
                <a:cs typeface="+mn-cs"/>
              </a:rPr>
              <a:t> blocks</a:t>
            </a:r>
          </a:p>
          <a:p>
            <a:r>
              <a:rPr kumimoji="1" lang="en-US" sz="1200" kern="1200" dirty="0">
                <a:solidFill>
                  <a:schemeClr val="tx1"/>
                </a:solidFill>
                <a:effectLst/>
                <a:latin typeface="Times New Roman" pitchFamily="33" charset="0"/>
                <a:ea typeface="+mn-ea"/>
                <a:cs typeface="+mn-cs"/>
              </a:rPr>
              <a:t>in main memory. The cache consists of m  lines. Each line contains </a:t>
            </a:r>
            <a:r>
              <a:rPr kumimoji="1" lang="en-US" sz="1200" i="1" kern="1200" dirty="0">
                <a:solidFill>
                  <a:schemeClr val="tx1"/>
                </a:solidFill>
                <a:effectLst/>
                <a:latin typeface="Times New Roman" pitchFamily="33" charset="0"/>
                <a:ea typeface="+mn-ea"/>
                <a:cs typeface="+mn-cs"/>
              </a:rPr>
              <a:t>K</a:t>
            </a:r>
            <a:r>
              <a:rPr kumimoji="1" lang="en-US" sz="1200" kern="1200" dirty="0">
                <a:solidFill>
                  <a:schemeClr val="tx1"/>
                </a:solidFill>
                <a:effectLst/>
                <a:latin typeface="Times New Roman" pitchFamily="33" charset="0"/>
                <a:ea typeface="+mn-ea"/>
                <a:cs typeface="+mn-cs"/>
              </a:rPr>
              <a:t>  words, plus a tag.</a:t>
            </a:r>
          </a:p>
          <a:p>
            <a:r>
              <a:rPr kumimoji="1" lang="en-US" sz="1200" kern="1200" dirty="0">
                <a:solidFill>
                  <a:schemeClr val="tx1"/>
                </a:solidFill>
                <a:effectLst/>
                <a:latin typeface="Times New Roman" pitchFamily="33" charset="0"/>
                <a:ea typeface="+mn-ea"/>
                <a:cs typeface="+mn-cs"/>
              </a:rPr>
              <a:t> Each line also includes control bits (not shown), such as a bit to indicate whether the</a:t>
            </a:r>
          </a:p>
          <a:p>
            <a:r>
              <a:rPr kumimoji="1" lang="en-US" sz="1200" kern="1200" dirty="0">
                <a:solidFill>
                  <a:schemeClr val="tx1"/>
                </a:solidFill>
                <a:effectLst/>
                <a:latin typeface="Times New Roman" pitchFamily="33" charset="0"/>
                <a:ea typeface="+mn-ea"/>
                <a:cs typeface="+mn-cs"/>
              </a:rPr>
              <a:t>line has been modified since being loaded into the cache. The length of a line, not</a:t>
            </a:r>
          </a:p>
          <a:p>
            <a:r>
              <a:rPr kumimoji="1" lang="en-US" sz="1200" kern="1200" dirty="0">
                <a:solidFill>
                  <a:schemeClr val="tx1"/>
                </a:solidFill>
                <a:effectLst/>
                <a:latin typeface="Times New Roman" pitchFamily="33" charset="0"/>
                <a:ea typeface="+mn-ea"/>
                <a:cs typeface="+mn-cs"/>
              </a:rPr>
              <a:t>including tag and control bits, is the </a:t>
            </a:r>
            <a:r>
              <a:rPr kumimoji="1" lang="en-US" sz="1200" b="1" kern="1200" dirty="0">
                <a:solidFill>
                  <a:schemeClr val="tx1"/>
                </a:solidFill>
                <a:effectLst/>
                <a:latin typeface="Times New Roman" pitchFamily="33" charset="0"/>
                <a:ea typeface="+mn-ea"/>
                <a:cs typeface="+mn-cs"/>
              </a:rPr>
              <a:t>line size </a:t>
            </a:r>
            <a:r>
              <a:rPr kumimoji="1" lang="en-US" sz="1200" kern="1200" dirty="0">
                <a:solidFill>
                  <a:schemeClr val="tx1"/>
                </a:solidFill>
                <a:effectLst/>
                <a:latin typeface="Times New Roman" pitchFamily="33" charset="0"/>
                <a:ea typeface="+mn-ea"/>
                <a:cs typeface="+mn-cs"/>
              </a:rPr>
              <a:t>. That is, the term line size refers to the</a:t>
            </a:r>
          </a:p>
          <a:p>
            <a:r>
              <a:rPr kumimoji="1" lang="en-US" sz="1200" kern="1200" dirty="0">
                <a:solidFill>
                  <a:schemeClr val="tx1"/>
                </a:solidFill>
                <a:effectLst/>
                <a:latin typeface="Times New Roman" pitchFamily="33" charset="0"/>
                <a:ea typeface="+mn-ea"/>
                <a:cs typeface="+mn-cs"/>
              </a:rPr>
              <a:t>number of data bytes, or block size, contained in a line. They may be as small as 32 bits,</a:t>
            </a:r>
          </a:p>
          <a:p>
            <a:r>
              <a:rPr kumimoji="1" lang="en-US" sz="1200" kern="1200" dirty="0">
                <a:solidFill>
                  <a:schemeClr val="tx1"/>
                </a:solidFill>
                <a:effectLst/>
                <a:latin typeface="Times New Roman" pitchFamily="33" charset="0"/>
                <a:ea typeface="+mn-ea"/>
                <a:cs typeface="+mn-cs"/>
              </a:rPr>
              <a:t>with each “word” being a single byte; in this case the line size is 4 bytes. The number</a:t>
            </a:r>
          </a:p>
          <a:p>
            <a:r>
              <a:rPr kumimoji="1" lang="en-US" sz="1200" kern="1200" dirty="0">
                <a:solidFill>
                  <a:schemeClr val="tx1"/>
                </a:solidFill>
                <a:effectLst/>
                <a:latin typeface="Times New Roman" pitchFamily="33" charset="0"/>
                <a:ea typeface="+mn-ea"/>
                <a:cs typeface="+mn-cs"/>
              </a:rPr>
              <a:t>of lines is considerably less than the number of main memory blocks (</a:t>
            </a:r>
            <a:r>
              <a:rPr kumimoji="1" lang="en-US" sz="1200" i="1" kern="1200" dirty="0">
                <a:solidFill>
                  <a:schemeClr val="tx1"/>
                </a:solidFill>
                <a:effectLst/>
                <a:latin typeface="Times New Roman" pitchFamily="33" charset="0"/>
                <a:ea typeface="+mn-ea"/>
                <a:cs typeface="+mn-cs"/>
              </a:rPr>
              <a:t>m &lt;&lt; M </a:t>
            </a:r>
            <a:r>
              <a:rPr kumimoji="1" lang="en-US" sz="1200" kern="1200" dirty="0">
                <a:solidFill>
                  <a:schemeClr val="tx1"/>
                </a:solidFill>
                <a:effectLst/>
                <a:latin typeface="Times New Roman" pitchFamily="33" charset="0"/>
                <a:ea typeface="+mn-ea"/>
                <a:cs typeface="+mn-cs"/>
              </a:rPr>
              <a:t>). At</a:t>
            </a:r>
          </a:p>
          <a:p>
            <a:r>
              <a:rPr kumimoji="1" lang="en-US" sz="1200" kern="1200" dirty="0">
                <a:solidFill>
                  <a:schemeClr val="tx1"/>
                </a:solidFill>
                <a:effectLst/>
                <a:latin typeface="Times New Roman" pitchFamily="33" charset="0"/>
                <a:ea typeface="+mn-ea"/>
                <a:cs typeface="+mn-cs"/>
              </a:rPr>
              <a:t>any time, some subset of the blocks of memory resides in lines in the cache. If a word</a:t>
            </a:r>
          </a:p>
          <a:p>
            <a:r>
              <a:rPr kumimoji="1" lang="en-US" sz="1200" kern="1200" dirty="0">
                <a:solidFill>
                  <a:schemeClr val="tx1"/>
                </a:solidFill>
                <a:effectLst/>
                <a:latin typeface="Times New Roman" pitchFamily="33" charset="0"/>
                <a:ea typeface="+mn-ea"/>
                <a:cs typeface="+mn-cs"/>
              </a:rPr>
              <a:t>in a block of memory is read, that block is transferred to one of the lines of the cache.</a:t>
            </a:r>
          </a:p>
          <a:p>
            <a:r>
              <a:rPr kumimoji="1" lang="en-US" sz="1200" kern="1200" dirty="0">
                <a:solidFill>
                  <a:schemeClr val="tx1"/>
                </a:solidFill>
                <a:effectLst/>
                <a:latin typeface="Times New Roman" pitchFamily="33" charset="0"/>
                <a:ea typeface="+mn-ea"/>
                <a:cs typeface="+mn-cs"/>
              </a:rPr>
              <a:t>Because there are more blocks than lines, an individual line cannot be uniquely and</a:t>
            </a:r>
          </a:p>
          <a:p>
            <a:r>
              <a:rPr kumimoji="1" lang="en-US" sz="1200" kern="1200" dirty="0">
                <a:solidFill>
                  <a:schemeClr val="tx1"/>
                </a:solidFill>
                <a:effectLst/>
                <a:latin typeface="Times New Roman" pitchFamily="33" charset="0"/>
                <a:ea typeface="+mn-ea"/>
                <a:cs typeface="+mn-cs"/>
              </a:rPr>
              <a:t>permanently dedicated to a particular block. Thus, each line includes a tag that identifies</a:t>
            </a:r>
          </a:p>
          <a:p>
            <a:r>
              <a:rPr kumimoji="1" lang="en-US" sz="1200" kern="1200" dirty="0">
                <a:solidFill>
                  <a:schemeClr val="tx1"/>
                </a:solidFill>
                <a:effectLst/>
                <a:latin typeface="Times New Roman" pitchFamily="33" charset="0"/>
                <a:ea typeface="+mn-ea"/>
                <a:cs typeface="+mn-cs"/>
              </a:rPr>
              <a:t>which particular block is currently being stored. The tag is usually a portion of the</a:t>
            </a:r>
          </a:p>
          <a:p>
            <a:r>
              <a:rPr kumimoji="1" lang="en-US" sz="1200" kern="1200" dirty="0">
                <a:solidFill>
                  <a:schemeClr val="tx1"/>
                </a:solidFill>
                <a:effectLst/>
                <a:latin typeface="Times New Roman" pitchFamily="33" charset="0"/>
                <a:ea typeface="+mn-ea"/>
                <a:cs typeface="+mn-cs"/>
              </a:rPr>
              <a:t>main memory address, as described later in this section.</a:t>
            </a:r>
          </a:p>
          <a:p>
            <a:endParaRPr lang="en-US" dirty="0"/>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13</a:t>
            </a:fld>
            <a:endParaRPr lang="en-US" dirty="0"/>
          </a:p>
        </p:txBody>
      </p:sp>
    </p:spTree>
    <p:extLst>
      <p:ext uri="{BB962C8B-B14F-4D97-AF65-F5344CB8AC3E}">
        <p14:creationId xmlns:p14="http://schemas.microsoft.com/office/powerpoint/2010/main" val="1981103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Figure 5.2 depicts the structure of a cache/main-memory</a:t>
            </a:r>
          </a:p>
          <a:p>
            <a:r>
              <a:rPr kumimoji="1" lang="en-US" sz="1200" kern="1200" dirty="0">
                <a:solidFill>
                  <a:schemeClr val="tx1"/>
                </a:solidFill>
                <a:effectLst/>
                <a:latin typeface="Times New Roman" pitchFamily="33" charset="0"/>
                <a:ea typeface="+mn-ea"/>
                <a:cs typeface="+mn-cs"/>
              </a:rPr>
              <a:t>system.</a:t>
            </a:r>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14</a:t>
            </a:fld>
            <a:endParaRPr lang="en-US" dirty="0"/>
          </a:p>
        </p:txBody>
      </p:sp>
    </p:spTree>
    <p:extLst>
      <p:ext uri="{BB962C8B-B14F-4D97-AF65-F5344CB8AC3E}">
        <p14:creationId xmlns:p14="http://schemas.microsoft.com/office/powerpoint/2010/main" val="1677249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Figure 5.3 illustrates the read operation. The processor generates the read</a:t>
            </a:r>
          </a:p>
          <a:p>
            <a:r>
              <a:rPr kumimoji="1" lang="en-US" sz="1200" kern="1200" dirty="0">
                <a:solidFill>
                  <a:schemeClr val="tx1"/>
                </a:solidFill>
                <a:effectLst/>
                <a:latin typeface="Times New Roman" pitchFamily="33" charset="0"/>
                <a:ea typeface="+mn-ea"/>
                <a:cs typeface="+mn-cs"/>
              </a:rPr>
              <a:t>address (RA) of a word to be read. If the word is contained in the cache (cache hit),</a:t>
            </a:r>
          </a:p>
          <a:p>
            <a:r>
              <a:rPr kumimoji="1" lang="en-US" sz="1200" kern="1200" dirty="0">
                <a:solidFill>
                  <a:schemeClr val="tx1"/>
                </a:solidFill>
                <a:effectLst/>
                <a:latin typeface="Times New Roman" pitchFamily="33" charset="0"/>
                <a:ea typeface="+mn-ea"/>
                <a:cs typeface="+mn-cs"/>
              </a:rPr>
              <a:t>it is delivered to the processor.</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15</a:t>
            </a:fld>
            <a:endParaRPr lang="en-US" dirty="0"/>
          </a:p>
        </p:txBody>
      </p:sp>
    </p:spTree>
    <p:extLst>
      <p:ext uri="{BB962C8B-B14F-4D97-AF65-F5344CB8AC3E}">
        <p14:creationId xmlns:p14="http://schemas.microsoft.com/office/powerpoint/2010/main" val="1928061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If a cache miss occurs, two things must be accomplished: the block containing</a:t>
            </a:r>
          </a:p>
          <a:p>
            <a:r>
              <a:rPr kumimoji="1" lang="en-US" sz="1200" kern="1200" dirty="0">
                <a:solidFill>
                  <a:schemeClr val="tx1"/>
                </a:solidFill>
                <a:effectLst/>
                <a:latin typeface="Times New Roman" pitchFamily="33" charset="0"/>
                <a:ea typeface="+mn-ea"/>
                <a:cs typeface="+mn-cs"/>
              </a:rPr>
              <a:t>the word must be loaded in to the cache, and the word must be delivered to the processor.</a:t>
            </a:r>
          </a:p>
          <a:p>
            <a:r>
              <a:rPr kumimoji="1" lang="en-US" sz="1200" kern="1200" dirty="0">
                <a:solidFill>
                  <a:schemeClr val="tx1"/>
                </a:solidFill>
                <a:effectLst/>
                <a:latin typeface="Times New Roman" pitchFamily="33" charset="0"/>
                <a:ea typeface="+mn-ea"/>
                <a:cs typeface="+mn-cs"/>
              </a:rPr>
              <a:t>When a block is brought into a cache in the event of a miss, the block is generally</a:t>
            </a:r>
          </a:p>
          <a:p>
            <a:r>
              <a:rPr kumimoji="1" lang="en-US" sz="1200" kern="1200" dirty="0">
                <a:solidFill>
                  <a:schemeClr val="tx1"/>
                </a:solidFill>
                <a:effectLst/>
                <a:latin typeface="Times New Roman" pitchFamily="33" charset="0"/>
                <a:ea typeface="+mn-ea"/>
                <a:cs typeface="+mn-cs"/>
              </a:rPr>
              <a:t>not transferred in a single event. Typically, the transfer size between cache and main</a:t>
            </a:r>
          </a:p>
          <a:p>
            <a:r>
              <a:rPr kumimoji="1" lang="en-US" sz="1200" kern="1200" dirty="0">
                <a:solidFill>
                  <a:schemeClr val="tx1"/>
                </a:solidFill>
                <a:effectLst/>
                <a:latin typeface="Times New Roman" pitchFamily="33" charset="0"/>
                <a:ea typeface="+mn-ea"/>
                <a:cs typeface="+mn-cs"/>
              </a:rPr>
              <a:t>memory is less than the line size, with 128 bytes being a typical line size and a cache main</a:t>
            </a:r>
          </a:p>
          <a:p>
            <a:r>
              <a:rPr kumimoji="1" lang="en-US" sz="1200" kern="1200" dirty="0">
                <a:solidFill>
                  <a:schemeClr val="tx1"/>
                </a:solidFill>
                <a:effectLst/>
                <a:latin typeface="Times New Roman" pitchFamily="33" charset="0"/>
                <a:ea typeface="+mn-ea"/>
                <a:cs typeface="+mn-cs"/>
              </a:rPr>
              <a:t>memory transfer size of 64 bits (2 bytes). To improve performance, the </a:t>
            </a:r>
            <a:r>
              <a:rPr kumimoji="1" lang="en-US" sz="1200" b="1" kern="1200" dirty="0">
                <a:solidFill>
                  <a:schemeClr val="tx1"/>
                </a:solidFill>
                <a:effectLst/>
                <a:latin typeface="Times New Roman" pitchFamily="33" charset="0"/>
                <a:ea typeface="+mn-ea"/>
                <a:cs typeface="+mn-cs"/>
              </a:rPr>
              <a:t>critical</a:t>
            </a:r>
          </a:p>
          <a:p>
            <a:r>
              <a:rPr kumimoji="1" lang="en-US" sz="1200" b="1" kern="1200" dirty="0">
                <a:solidFill>
                  <a:schemeClr val="tx1"/>
                </a:solidFill>
                <a:effectLst/>
                <a:latin typeface="Times New Roman" pitchFamily="33" charset="0"/>
                <a:ea typeface="+mn-ea"/>
                <a:cs typeface="+mn-cs"/>
              </a:rPr>
              <a:t>word first</a:t>
            </a:r>
            <a:r>
              <a:rPr kumimoji="1" lang="en-US" sz="1200" kern="1200" dirty="0">
                <a:solidFill>
                  <a:schemeClr val="tx1"/>
                </a:solidFill>
                <a:effectLst/>
                <a:latin typeface="Times New Roman" pitchFamily="33" charset="0"/>
                <a:ea typeface="+mn-ea"/>
                <a:cs typeface="+mn-cs"/>
              </a:rPr>
              <a:t>  technique is commonly used. When there is a cache miss, the hardware</a:t>
            </a:r>
          </a:p>
          <a:p>
            <a:r>
              <a:rPr kumimoji="1" lang="en-US" sz="1200" kern="1200" dirty="0">
                <a:solidFill>
                  <a:schemeClr val="tx1"/>
                </a:solidFill>
                <a:effectLst/>
                <a:latin typeface="Times New Roman" pitchFamily="33" charset="0"/>
                <a:ea typeface="+mn-ea"/>
                <a:cs typeface="+mn-cs"/>
              </a:rPr>
              <a:t>requests the missed word first from memory and sends it to the processor as soon as</a:t>
            </a:r>
          </a:p>
          <a:p>
            <a:r>
              <a:rPr kumimoji="1" lang="en-US" sz="1200" kern="1200" dirty="0">
                <a:solidFill>
                  <a:schemeClr val="tx1"/>
                </a:solidFill>
                <a:effectLst/>
                <a:latin typeface="Times New Roman" pitchFamily="33" charset="0"/>
                <a:ea typeface="+mn-ea"/>
                <a:cs typeface="+mn-cs"/>
              </a:rPr>
              <a:t>it arrives. This enables the processor to continue execution while filling the rest of the</a:t>
            </a:r>
          </a:p>
          <a:p>
            <a:r>
              <a:rPr kumimoji="1" lang="en-US" sz="1200" kern="1200" dirty="0">
                <a:solidFill>
                  <a:schemeClr val="tx1"/>
                </a:solidFill>
                <a:effectLst/>
                <a:latin typeface="Times New Roman" pitchFamily="33" charset="0"/>
                <a:ea typeface="+mn-ea"/>
                <a:cs typeface="+mn-cs"/>
              </a:rPr>
              <a:t>words in the block.  Figure 5.3 shows these last two operations occurring in parallel</a:t>
            </a:r>
          </a:p>
          <a:p>
            <a:r>
              <a:rPr kumimoji="1" lang="en-US" sz="1200" kern="1200" dirty="0">
                <a:solidFill>
                  <a:schemeClr val="tx1"/>
                </a:solidFill>
                <a:effectLst/>
                <a:latin typeface="Times New Roman" pitchFamily="33" charset="0"/>
                <a:ea typeface="+mn-ea"/>
                <a:cs typeface="+mn-cs"/>
              </a:rPr>
              <a:t>and reflects the organization shown in Figure 5.4, which is typical of contemporary</a:t>
            </a:r>
          </a:p>
          <a:p>
            <a:r>
              <a:rPr kumimoji="1" lang="en-US" sz="1200" kern="1200" dirty="0">
                <a:solidFill>
                  <a:schemeClr val="tx1"/>
                </a:solidFill>
                <a:effectLst/>
                <a:latin typeface="Times New Roman" pitchFamily="33" charset="0"/>
                <a:ea typeface="+mn-ea"/>
                <a:cs typeface="+mn-cs"/>
              </a:rPr>
              <a:t> cache organizations. In this organization, the cache connects to the processor via data,</a:t>
            </a:r>
          </a:p>
          <a:p>
            <a:r>
              <a:rPr kumimoji="1" lang="en-US" sz="1200" kern="1200" dirty="0">
                <a:solidFill>
                  <a:schemeClr val="tx1"/>
                </a:solidFill>
                <a:effectLst/>
                <a:latin typeface="Times New Roman" pitchFamily="33" charset="0"/>
                <a:ea typeface="+mn-ea"/>
                <a:cs typeface="+mn-cs"/>
              </a:rPr>
              <a:t>control, and address lines. The data and address lines also attach to data and address</a:t>
            </a:r>
          </a:p>
          <a:p>
            <a:r>
              <a:rPr kumimoji="1" lang="en-US" sz="1200" kern="1200" dirty="0">
                <a:solidFill>
                  <a:schemeClr val="tx1"/>
                </a:solidFill>
                <a:effectLst/>
                <a:latin typeface="Times New Roman" pitchFamily="33" charset="0"/>
                <a:ea typeface="+mn-ea"/>
                <a:cs typeface="+mn-cs"/>
              </a:rPr>
              <a:t>buffers, which attach to a system bus from which main memory is reached. When a</a:t>
            </a:r>
          </a:p>
          <a:p>
            <a:r>
              <a:rPr kumimoji="1" lang="en-US" sz="1200" kern="1200" dirty="0">
                <a:solidFill>
                  <a:schemeClr val="tx1"/>
                </a:solidFill>
                <a:effectLst/>
                <a:latin typeface="Times New Roman" pitchFamily="33" charset="0"/>
                <a:ea typeface="+mn-ea"/>
                <a:cs typeface="+mn-cs"/>
              </a:rPr>
              <a:t>cache hit occurs, the data and address buffers are disabled and communication is only</a:t>
            </a:r>
          </a:p>
          <a:p>
            <a:r>
              <a:rPr kumimoji="1" lang="en-US" sz="1200" kern="1200" dirty="0">
                <a:solidFill>
                  <a:schemeClr val="tx1"/>
                </a:solidFill>
                <a:effectLst/>
                <a:latin typeface="Times New Roman" pitchFamily="33" charset="0"/>
                <a:ea typeface="+mn-ea"/>
                <a:cs typeface="+mn-cs"/>
              </a:rPr>
              <a:t>between processor and cache, with no system bus traffic. When a cache miss occurs,</a:t>
            </a:r>
          </a:p>
          <a:p>
            <a:r>
              <a:rPr kumimoji="1" lang="en-US" sz="1200" kern="1200" dirty="0">
                <a:solidFill>
                  <a:schemeClr val="tx1"/>
                </a:solidFill>
                <a:effectLst/>
                <a:latin typeface="Times New Roman" pitchFamily="33" charset="0"/>
                <a:ea typeface="+mn-ea"/>
                <a:cs typeface="+mn-cs"/>
              </a:rPr>
              <a:t>the desired address is loaded onto the system bus and the data are returned through</a:t>
            </a:r>
          </a:p>
          <a:p>
            <a:r>
              <a:rPr kumimoji="1" lang="en-US" sz="1200" kern="1200" dirty="0">
                <a:solidFill>
                  <a:schemeClr val="tx1"/>
                </a:solidFill>
                <a:effectLst/>
                <a:latin typeface="Times New Roman" pitchFamily="33" charset="0"/>
                <a:ea typeface="+mn-ea"/>
                <a:cs typeface="+mn-cs"/>
              </a:rPr>
              <a:t>the data buffer to both the cache and the processor.</a:t>
            </a:r>
          </a:p>
          <a:p>
            <a:endParaRPr kumimoji="1" lang="en-US" sz="1200" kern="1200" dirty="0">
              <a:solidFill>
                <a:schemeClr val="tx1"/>
              </a:solidFill>
              <a:effectLst/>
              <a:latin typeface="Times New Roman" pitchFamily="33" charset="0"/>
              <a:ea typeface="+mn-ea"/>
              <a:cs typeface="+mn-cs"/>
            </a:endParaRP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16</a:t>
            </a:fld>
            <a:endParaRPr lang="en-US" dirty="0"/>
          </a:p>
        </p:txBody>
      </p:sp>
    </p:spTree>
    <p:extLst>
      <p:ext uri="{BB962C8B-B14F-4D97-AF65-F5344CB8AC3E}">
        <p14:creationId xmlns:p14="http://schemas.microsoft.com/office/powerpoint/2010/main" val="1464552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20</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This section provides an overview of cache design parameters and reports some typical</a:t>
            </a:r>
          </a:p>
          <a:p>
            <a:r>
              <a:rPr kumimoji="1" lang="en-US" sz="1200" kern="1200" dirty="0">
                <a:solidFill>
                  <a:schemeClr val="tx1"/>
                </a:solidFill>
                <a:effectLst/>
                <a:latin typeface="Times New Roman" pitchFamily="33" charset="0"/>
                <a:ea typeface="+mn-ea"/>
                <a:cs typeface="+mn-cs"/>
              </a:rPr>
              <a:t>results. We occasionally refer to the use of caches in </a:t>
            </a:r>
            <a:r>
              <a:rPr kumimoji="1" lang="en-US" sz="1200" b="1" kern="1200" dirty="0">
                <a:solidFill>
                  <a:schemeClr val="tx1"/>
                </a:solidFill>
                <a:effectLst/>
                <a:latin typeface="Times New Roman" pitchFamily="33" charset="0"/>
                <a:ea typeface="+mn-ea"/>
                <a:cs typeface="+mn-cs"/>
              </a:rPr>
              <a:t>high-performance</a:t>
            </a:r>
            <a:r>
              <a:rPr kumimoji="1" lang="en-US" sz="1200" b="1" kern="1200" baseline="0" dirty="0">
                <a:solidFill>
                  <a:schemeClr val="tx1"/>
                </a:solidFill>
                <a:effectLst/>
                <a:latin typeface="Times New Roman" pitchFamily="33" charset="0"/>
                <a:ea typeface="+mn-ea"/>
                <a:cs typeface="+mn-cs"/>
              </a:rPr>
              <a:t> </a:t>
            </a:r>
            <a:r>
              <a:rPr kumimoji="1" lang="en-US" sz="1200" b="1" kern="1200" dirty="0">
                <a:solidFill>
                  <a:schemeClr val="tx1"/>
                </a:solidFill>
                <a:effectLst/>
                <a:latin typeface="Times New Roman" pitchFamily="33" charset="0"/>
                <a:ea typeface="+mn-ea"/>
                <a:cs typeface="+mn-cs"/>
              </a:rPr>
              <a:t>computing</a:t>
            </a:r>
          </a:p>
          <a:p>
            <a:r>
              <a:rPr kumimoji="1" lang="en-US" sz="1200" b="1" kern="1200" dirty="0">
                <a:solidFill>
                  <a:schemeClr val="tx1"/>
                </a:solidFill>
                <a:effectLst/>
                <a:latin typeface="Times New Roman" pitchFamily="33" charset="0"/>
                <a:ea typeface="+mn-ea"/>
                <a:cs typeface="+mn-cs"/>
              </a:rPr>
              <a:t>(HPC)</a:t>
            </a:r>
            <a:r>
              <a:rPr kumimoji="1" lang="en-US" sz="1200" kern="1200" dirty="0">
                <a:solidFill>
                  <a:schemeClr val="tx1"/>
                </a:solidFill>
                <a:effectLst/>
                <a:latin typeface="Times New Roman" pitchFamily="33" charset="0"/>
                <a:ea typeface="+mn-ea"/>
                <a:cs typeface="+mn-cs"/>
              </a:rPr>
              <a:t>. HPC deals with supercomputers and their software, especially for scientific</a:t>
            </a:r>
          </a:p>
          <a:p>
            <a:r>
              <a:rPr kumimoji="1" lang="en-US" sz="1200" kern="1200" dirty="0">
                <a:solidFill>
                  <a:schemeClr val="tx1"/>
                </a:solidFill>
                <a:effectLst/>
                <a:latin typeface="Times New Roman" pitchFamily="33" charset="0"/>
                <a:ea typeface="+mn-ea"/>
                <a:cs typeface="+mn-cs"/>
              </a:rPr>
              <a:t>applications that involve large amounts of data, vector and matrix computation, and the</a:t>
            </a:r>
          </a:p>
          <a:p>
            <a:r>
              <a:rPr kumimoji="1" lang="en-US" sz="1200" kern="1200" dirty="0">
                <a:solidFill>
                  <a:schemeClr val="tx1"/>
                </a:solidFill>
                <a:effectLst/>
                <a:latin typeface="Times New Roman" pitchFamily="33" charset="0"/>
                <a:ea typeface="+mn-ea"/>
                <a:cs typeface="+mn-cs"/>
              </a:rPr>
              <a:t>use of parallel algorithms. Cache design for HPC is quite different than for other hardware</a:t>
            </a:r>
          </a:p>
          <a:p>
            <a:r>
              <a:rPr kumimoji="1" lang="en-US" sz="1200" kern="1200" dirty="0">
                <a:solidFill>
                  <a:schemeClr val="tx1"/>
                </a:solidFill>
                <a:effectLst/>
                <a:latin typeface="Times New Roman" pitchFamily="33" charset="0"/>
                <a:ea typeface="+mn-ea"/>
                <a:cs typeface="+mn-cs"/>
              </a:rPr>
              <a:t>platforms and applications. Indeed, many researchers have found that HPC applications</a:t>
            </a:r>
          </a:p>
          <a:p>
            <a:r>
              <a:rPr kumimoji="1" lang="en-US" sz="1200" kern="1200" dirty="0">
                <a:solidFill>
                  <a:schemeClr val="tx1"/>
                </a:solidFill>
                <a:effectLst/>
                <a:latin typeface="Times New Roman" pitchFamily="33" charset="0"/>
                <a:ea typeface="+mn-ea"/>
                <a:cs typeface="+mn-cs"/>
              </a:rPr>
              <a:t>perform poorly on computer architectures that employ caches [BAIL93]. Other</a:t>
            </a:r>
          </a:p>
          <a:p>
            <a:r>
              <a:rPr kumimoji="1" lang="en-US" sz="1200" kern="1200" dirty="0">
                <a:solidFill>
                  <a:schemeClr val="tx1"/>
                </a:solidFill>
                <a:effectLst/>
                <a:latin typeface="Times New Roman" pitchFamily="33" charset="0"/>
                <a:ea typeface="+mn-ea"/>
                <a:cs typeface="+mn-cs"/>
              </a:rPr>
              <a:t>researchers have since shown that a cache hierarchy can be useful in improving performance</a:t>
            </a:r>
          </a:p>
          <a:p>
            <a:r>
              <a:rPr kumimoji="1" lang="en-US" sz="1200" kern="1200" dirty="0">
                <a:solidFill>
                  <a:schemeClr val="tx1"/>
                </a:solidFill>
                <a:effectLst/>
                <a:latin typeface="Times New Roman" pitchFamily="33" charset="0"/>
                <a:ea typeface="+mn-ea"/>
                <a:cs typeface="+mn-cs"/>
              </a:rPr>
              <a:t>if the application software is tuned to exploit the cache [WANG99, PRES01].</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Although there are a large number of cache implementations, there are a few</a:t>
            </a:r>
          </a:p>
          <a:p>
            <a:r>
              <a:rPr kumimoji="1" lang="en-US" sz="1200" kern="1200" dirty="0">
                <a:solidFill>
                  <a:schemeClr val="tx1"/>
                </a:solidFill>
                <a:effectLst/>
                <a:latin typeface="Times New Roman" pitchFamily="33" charset="0"/>
                <a:ea typeface="+mn-ea"/>
                <a:cs typeface="+mn-cs"/>
              </a:rPr>
              <a:t>basic design elements that serve to classify and differentiate cache architectures.</a:t>
            </a:r>
          </a:p>
          <a:p>
            <a:r>
              <a:rPr kumimoji="1" lang="en-US" sz="1200" kern="1200" dirty="0">
                <a:solidFill>
                  <a:schemeClr val="tx1"/>
                </a:solidFill>
                <a:effectLst/>
                <a:latin typeface="Times New Roman" pitchFamily="33" charset="0"/>
                <a:ea typeface="+mn-ea"/>
                <a:cs typeface="+mn-cs"/>
              </a:rPr>
              <a:t>Table 5.1 lists key elements.</a:t>
            </a:r>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The second item in Table 5.1, cache size, has already been discussed. We would</a:t>
            </a:r>
          </a:p>
          <a:p>
            <a:r>
              <a:rPr kumimoji="1" lang="en-US" sz="1200" kern="1200" dirty="0">
                <a:solidFill>
                  <a:schemeClr val="tx1"/>
                </a:solidFill>
                <a:effectLst/>
                <a:latin typeface="Times New Roman" pitchFamily="33" charset="0"/>
                <a:ea typeface="+mn-ea"/>
                <a:cs typeface="+mn-cs"/>
              </a:rPr>
              <a:t>like the size of the cache to be small enough so that the overall average cost per</a:t>
            </a:r>
          </a:p>
          <a:p>
            <a:r>
              <a:rPr kumimoji="1" lang="en-US" sz="1200" kern="1200" dirty="0">
                <a:solidFill>
                  <a:schemeClr val="tx1"/>
                </a:solidFill>
                <a:effectLst/>
                <a:latin typeface="Times New Roman" pitchFamily="33" charset="0"/>
                <a:ea typeface="+mn-ea"/>
                <a:cs typeface="+mn-cs"/>
              </a:rPr>
              <a:t>bit is close to that of main memory alone and large enough so that the overall</a:t>
            </a:r>
          </a:p>
          <a:p>
            <a:r>
              <a:rPr kumimoji="1" lang="en-US" sz="1200" kern="1200" dirty="0">
                <a:solidFill>
                  <a:schemeClr val="tx1"/>
                </a:solidFill>
                <a:effectLst/>
                <a:latin typeface="Times New Roman" pitchFamily="33" charset="0"/>
                <a:ea typeface="+mn-ea"/>
                <a:cs typeface="+mn-cs"/>
              </a:rPr>
              <a:t>average access time is close to that of the cache alone. There are several other</a:t>
            </a:r>
          </a:p>
          <a:p>
            <a:r>
              <a:rPr kumimoji="1" lang="en-US" sz="1200" kern="1200" dirty="0">
                <a:solidFill>
                  <a:schemeClr val="tx1"/>
                </a:solidFill>
                <a:effectLst/>
                <a:latin typeface="Times New Roman" pitchFamily="33" charset="0"/>
                <a:ea typeface="+mn-ea"/>
                <a:cs typeface="+mn-cs"/>
              </a:rPr>
              <a:t>motivations for minimizing cache size. The larger the cache, the larger the number</a:t>
            </a:r>
          </a:p>
          <a:p>
            <a:r>
              <a:rPr kumimoji="1" lang="en-US" sz="1200" kern="1200" dirty="0">
                <a:solidFill>
                  <a:schemeClr val="tx1"/>
                </a:solidFill>
                <a:effectLst/>
                <a:latin typeface="Times New Roman" pitchFamily="33" charset="0"/>
                <a:ea typeface="+mn-ea"/>
                <a:cs typeface="+mn-cs"/>
              </a:rPr>
              <a:t>of gates involved in addressing the cache. The result is that large caches tend to be</a:t>
            </a:r>
          </a:p>
          <a:p>
            <a:r>
              <a:rPr kumimoji="1" lang="en-US" sz="1200" kern="1200" dirty="0">
                <a:solidFill>
                  <a:schemeClr val="tx1"/>
                </a:solidFill>
                <a:effectLst/>
                <a:latin typeface="Times New Roman" pitchFamily="33" charset="0"/>
                <a:ea typeface="+mn-ea"/>
                <a:cs typeface="+mn-cs"/>
              </a:rPr>
              <a:t>slightly slower than small ones—even</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when built with the same integrated circuit</a:t>
            </a:r>
          </a:p>
          <a:p>
            <a:r>
              <a:rPr kumimoji="1" lang="en-US" sz="1200" kern="1200" dirty="0">
                <a:solidFill>
                  <a:schemeClr val="tx1"/>
                </a:solidFill>
                <a:effectLst/>
                <a:latin typeface="Times New Roman" pitchFamily="33" charset="0"/>
                <a:ea typeface="+mn-ea"/>
                <a:cs typeface="+mn-cs"/>
              </a:rPr>
              <a:t>technology and put in the same place on a chip and circuit board. The available</a:t>
            </a:r>
          </a:p>
          <a:p>
            <a:r>
              <a:rPr kumimoji="1" lang="en-US" sz="1200" kern="1200" dirty="0">
                <a:solidFill>
                  <a:schemeClr val="tx1"/>
                </a:solidFill>
                <a:effectLst/>
                <a:latin typeface="Times New Roman" pitchFamily="33" charset="0"/>
                <a:ea typeface="+mn-ea"/>
                <a:cs typeface="+mn-cs"/>
              </a:rPr>
              <a:t>chip and board area also limits cache size. Because the performance of the cache</a:t>
            </a:r>
          </a:p>
          <a:p>
            <a:r>
              <a:rPr kumimoji="1" lang="en-US" sz="1200" kern="1200" dirty="0">
                <a:solidFill>
                  <a:schemeClr val="tx1"/>
                </a:solidFill>
                <a:effectLst/>
                <a:latin typeface="Times New Roman" pitchFamily="33" charset="0"/>
                <a:ea typeface="+mn-ea"/>
                <a:cs typeface="+mn-cs"/>
              </a:rPr>
              <a:t>is very sensitive to the nature of the workload, it is impossible to arrive at a single</a:t>
            </a:r>
          </a:p>
          <a:p>
            <a:r>
              <a:rPr kumimoji="1" lang="en-US" sz="1200" kern="1200" dirty="0">
                <a:solidFill>
                  <a:schemeClr val="tx1"/>
                </a:solidFill>
                <a:effectLst/>
                <a:latin typeface="Times New Roman" pitchFamily="33" charset="0"/>
                <a:ea typeface="+mn-ea"/>
                <a:cs typeface="+mn-cs"/>
              </a:rPr>
              <a:t>“optimum” cache size.</a:t>
            </a:r>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21</a:t>
            </a:fld>
            <a:endParaRPr lang="en-US" dirty="0"/>
          </a:p>
        </p:txBody>
      </p:sp>
    </p:spTree>
    <p:extLst>
      <p:ext uri="{BB962C8B-B14F-4D97-AF65-F5344CB8AC3E}">
        <p14:creationId xmlns:p14="http://schemas.microsoft.com/office/powerpoint/2010/main" val="2078500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Because there are fewer cache lines than main memory blocks, an algorithm is needed</a:t>
            </a:r>
          </a:p>
          <a:p>
            <a:r>
              <a:rPr kumimoji="1" lang="en-US" sz="1200" kern="1200" dirty="0">
                <a:solidFill>
                  <a:schemeClr val="tx1"/>
                </a:solidFill>
                <a:effectLst/>
                <a:latin typeface="Times New Roman" pitchFamily="33" charset="0"/>
                <a:ea typeface="+mn-ea"/>
                <a:cs typeface="+mn-cs"/>
              </a:rPr>
              <a:t>for mapping main memory blocks into cache lines. Further, a means is needed for</a:t>
            </a:r>
          </a:p>
          <a:p>
            <a:r>
              <a:rPr kumimoji="1" lang="en-US" sz="1200" kern="1200" dirty="0">
                <a:solidFill>
                  <a:schemeClr val="tx1"/>
                </a:solidFill>
                <a:effectLst/>
                <a:latin typeface="Times New Roman" pitchFamily="33" charset="0"/>
                <a:ea typeface="+mn-ea"/>
                <a:cs typeface="+mn-cs"/>
              </a:rPr>
              <a:t>determining which main memory block currently occupies a cache line. The choice</a:t>
            </a:r>
          </a:p>
          <a:p>
            <a:r>
              <a:rPr kumimoji="1" lang="en-US" sz="1200" kern="1200" dirty="0">
                <a:solidFill>
                  <a:schemeClr val="tx1"/>
                </a:solidFill>
                <a:effectLst/>
                <a:latin typeface="Times New Roman" pitchFamily="33" charset="0"/>
                <a:ea typeface="+mn-ea"/>
                <a:cs typeface="+mn-cs"/>
              </a:rPr>
              <a:t>of the mapping function dictates how the cache is logically organized.</a:t>
            </a:r>
          </a:p>
          <a:p>
            <a:r>
              <a:rPr kumimoji="1" lang="en-US" sz="1200" kern="1200" dirty="0">
                <a:solidFill>
                  <a:schemeClr val="tx1"/>
                </a:solidFill>
                <a:effectLst/>
                <a:latin typeface="Times New Roman" pitchFamily="33" charset="0"/>
                <a:ea typeface="+mn-ea"/>
                <a:cs typeface="+mn-cs"/>
              </a:rPr>
              <a:t>Three techniques</a:t>
            </a:r>
            <a:r>
              <a:rPr kumimoji="1" lang="en-US" sz="1200" kern="1200" baseline="0" dirty="0">
                <a:solidFill>
                  <a:schemeClr val="tx1"/>
                </a:solidFill>
                <a:effectLst/>
                <a:latin typeface="Times New Roman" pitchFamily="33" charset="0"/>
                <a:ea typeface="+mn-ea"/>
                <a:cs typeface="+mn-cs"/>
              </a:rPr>
              <a:t> </a:t>
            </a:r>
            <a:r>
              <a:rPr kumimoji="1" lang="en-US" sz="1200" kern="1200" dirty="0">
                <a:solidFill>
                  <a:schemeClr val="tx1"/>
                </a:solidFill>
                <a:effectLst/>
                <a:latin typeface="Times New Roman" pitchFamily="33" charset="0"/>
                <a:ea typeface="+mn-ea"/>
                <a:cs typeface="+mn-cs"/>
              </a:rPr>
              <a:t>can be used: direct, associative, and set-associative. We examine each of these</a:t>
            </a:r>
          </a:p>
          <a:p>
            <a:r>
              <a:rPr kumimoji="1" lang="en-US" sz="1200" kern="1200" dirty="0">
                <a:solidFill>
                  <a:schemeClr val="tx1"/>
                </a:solidFill>
                <a:effectLst/>
                <a:latin typeface="Times New Roman" pitchFamily="33" charset="0"/>
                <a:ea typeface="+mn-ea"/>
                <a:cs typeface="+mn-cs"/>
              </a:rPr>
              <a:t>in turn. In each case, we look at the general structure and then a specific example.</a:t>
            </a:r>
          </a:p>
          <a:p>
            <a:r>
              <a:rPr kumimoji="1" lang="en-US" sz="1200" kern="1200" dirty="0">
                <a:solidFill>
                  <a:schemeClr val="tx1"/>
                </a:solidFill>
                <a:effectLst/>
                <a:latin typeface="Times New Roman" pitchFamily="33" charset="0"/>
                <a:ea typeface="+mn-ea"/>
                <a:cs typeface="+mn-cs"/>
              </a:rPr>
              <a:t>Table 5.3 provides a summary of key characteristics of the three approaches.</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22</a:t>
            </a:fld>
            <a:endParaRPr lang="en-US" dirty="0"/>
          </a:p>
        </p:txBody>
      </p:sp>
    </p:spTree>
    <p:extLst>
      <p:ext uri="{BB962C8B-B14F-4D97-AF65-F5344CB8AC3E}">
        <p14:creationId xmlns:p14="http://schemas.microsoft.com/office/powerpoint/2010/main" val="1231678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The simplest technique, known as direct mapping, maps</a:t>
            </a:r>
          </a:p>
          <a:p>
            <a:r>
              <a:rPr kumimoji="1" lang="en-US" sz="1200" kern="1200" dirty="0">
                <a:solidFill>
                  <a:schemeClr val="tx1"/>
                </a:solidFill>
                <a:effectLst/>
                <a:latin typeface="Times New Roman" pitchFamily="33" charset="0"/>
                <a:ea typeface="+mn-ea"/>
                <a:cs typeface="+mn-cs"/>
              </a:rPr>
              <a:t>each block of main memory into only one possible cache line.</a:t>
            </a:r>
          </a:p>
          <a:p>
            <a:endParaRPr kumimoji="1" lang="en-US" sz="1200" kern="1200" dirty="0">
              <a:solidFill>
                <a:schemeClr val="tx1"/>
              </a:solidFill>
              <a:effectLst/>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mapping is expressed as</a:t>
            </a:r>
          </a:p>
          <a:p>
            <a:endParaRPr kumimoji="1" lang="en-US" sz="1200" kern="1200" baseline="0" dirty="0">
              <a:solidFill>
                <a:schemeClr val="tx1"/>
              </a:solidFill>
              <a:latin typeface="Times New Roman" pitchFamily="33" charset="0"/>
              <a:ea typeface="+mn-ea"/>
              <a:cs typeface="+mn-cs"/>
            </a:endParaRPr>
          </a:p>
          <a:p>
            <a:r>
              <a:rPr kumimoji="1" lang="en-US" sz="1200" i="1" kern="1200" baseline="0" dirty="0" err="1">
                <a:solidFill>
                  <a:schemeClr val="tx1"/>
                </a:solidFill>
                <a:latin typeface="Times New Roman" pitchFamily="33" charset="0"/>
                <a:ea typeface="+mn-ea"/>
                <a:cs typeface="+mn-cs"/>
              </a:rPr>
              <a:t>i</a:t>
            </a:r>
            <a:r>
              <a:rPr kumimoji="1" lang="en-US" sz="1200" i="1" kern="1200" baseline="0" dirty="0">
                <a:solidFill>
                  <a:schemeClr val="tx1"/>
                </a:solidFill>
                <a:latin typeface="Times New Roman" pitchFamily="33" charset="0"/>
                <a:ea typeface="+mn-ea"/>
                <a:cs typeface="+mn-cs"/>
              </a:rPr>
              <a:t> = j modulo m</a:t>
            </a:r>
          </a:p>
          <a:p>
            <a:endParaRPr kumimoji="1" lang="en-US" sz="1200" i="1"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where</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err="1">
                <a:solidFill>
                  <a:schemeClr val="tx1"/>
                </a:solidFill>
                <a:latin typeface="Times New Roman" pitchFamily="33" charset="0"/>
                <a:ea typeface="+mn-ea"/>
                <a:cs typeface="+mn-cs"/>
              </a:rPr>
              <a:t>i</a:t>
            </a:r>
            <a:r>
              <a:rPr kumimoji="1" lang="en-US" sz="1200" i="1" kern="1200" baseline="0" dirty="0">
                <a:solidFill>
                  <a:schemeClr val="tx1"/>
                </a:solidFill>
                <a:latin typeface="Times New Roman" pitchFamily="33" charset="0"/>
                <a:ea typeface="+mn-ea"/>
                <a:cs typeface="+mn-cs"/>
              </a:rPr>
              <a:t> = cache line number</a:t>
            </a:r>
          </a:p>
          <a:p>
            <a:r>
              <a:rPr kumimoji="1" lang="en-US" sz="1200" i="1" kern="1200" baseline="0" dirty="0">
                <a:solidFill>
                  <a:schemeClr val="tx1"/>
                </a:solidFill>
                <a:latin typeface="Times New Roman" pitchFamily="33" charset="0"/>
                <a:ea typeface="+mn-ea"/>
                <a:cs typeface="+mn-cs"/>
              </a:rPr>
              <a:t>j = main memory block number</a:t>
            </a:r>
          </a:p>
          <a:p>
            <a:r>
              <a:rPr kumimoji="1" lang="en-US" sz="1200" i="1" kern="1200" baseline="0" dirty="0">
                <a:solidFill>
                  <a:schemeClr val="tx1"/>
                </a:solidFill>
                <a:latin typeface="Times New Roman" pitchFamily="33" charset="0"/>
                <a:ea typeface="+mn-ea"/>
                <a:cs typeface="+mn-cs"/>
              </a:rPr>
              <a:t>m = number of lines in the cache</a:t>
            </a:r>
            <a:endParaRPr kumimoji="1" lang="en-US" sz="1200" kern="1200" baseline="0" dirty="0">
              <a:solidFill>
                <a:schemeClr val="tx1"/>
              </a:solidFill>
              <a:latin typeface="Times New Roman" pitchFamily="33" charset="0"/>
              <a:ea typeface="+mn-ea"/>
              <a:cs typeface="+mn-cs"/>
            </a:endParaRPr>
          </a:p>
          <a:p>
            <a:endParaRPr kumimoji="1" lang="en-US" sz="1200" kern="1200" dirty="0">
              <a:solidFill>
                <a:schemeClr val="tx1"/>
              </a:solidFill>
              <a:effectLst/>
              <a:latin typeface="Times New Roman" pitchFamily="33" charset="0"/>
              <a:ea typeface="+mn-ea"/>
              <a:cs typeface="+mn-cs"/>
            </a:endParaRP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Figure 5.6a shows the mapping for the first </a:t>
            </a:r>
            <a:r>
              <a:rPr kumimoji="1" lang="en-US" sz="1200" i="1" kern="1200" dirty="0">
                <a:solidFill>
                  <a:schemeClr val="tx1"/>
                </a:solidFill>
                <a:effectLst/>
                <a:latin typeface="Times New Roman" pitchFamily="33" charset="0"/>
                <a:ea typeface="+mn-ea"/>
                <a:cs typeface="+mn-cs"/>
              </a:rPr>
              <a:t>m</a:t>
            </a:r>
            <a:r>
              <a:rPr kumimoji="1" lang="en-US" sz="1200" kern="1200" dirty="0">
                <a:solidFill>
                  <a:schemeClr val="tx1"/>
                </a:solidFill>
                <a:effectLst/>
                <a:latin typeface="Times New Roman" pitchFamily="33" charset="0"/>
                <a:ea typeface="+mn-ea"/>
                <a:cs typeface="+mn-cs"/>
              </a:rPr>
              <a:t>  blocks of main memory.</a:t>
            </a:r>
          </a:p>
          <a:p>
            <a:r>
              <a:rPr kumimoji="1" lang="en-US" sz="1200" kern="1200" dirty="0">
                <a:solidFill>
                  <a:schemeClr val="tx1"/>
                </a:solidFill>
                <a:effectLst/>
                <a:latin typeface="Times New Roman" pitchFamily="33" charset="0"/>
                <a:ea typeface="+mn-ea"/>
                <a:cs typeface="+mn-cs"/>
              </a:rPr>
              <a:t>Each block of main memory maps into one unique line of the cache. The next</a:t>
            </a:r>
          </a:p>
          <a:p>
            <a:r>
              <a:rPr kumimoji="1" lang="en-US" sz="1200" kern="1200" dirty="0">
                <a:solidFill>
                  <a:schemeClr val="tx1"/>
                </a:solidFill>
                <a:effectLst/>
                <a:latin typeface="Times New Roman" pitchFamily="33" charset="0"/>
                <a:ea typeface="+mn-ea"/>
                <a:cs typeface="+mn-cs"/>
              </a:rPr>
              <a:t> </a:t>
            </a:r>
            <a:r>
              <a:rPr kumimoji="1" lang="en-US" sz="1200" i="1" kern="1200" dirty="0">
                <a:solidFill>
                  <a:schemeClr val="tx1"/>
                </a:solidFill>
                <a:effectLst/>
                <a:latin typeface="Times New Roman" pitchFamily="33" charset="0"/>
                <a:ea typeface="+mn-ea"/>
                <a:cs typeface="+mn-cs"/>
              </a:rPr>
              <a:t>m </a:t>
            </a:r>
            <a:r>
              <a:rPr kumimoji="1" lang="en-US" sz="1200" kern="1200" dirty="0">
                <a:solidFill>
                  <a:schemeClr val="tx1"/>
                </a:solidFill>
                <a:effectLst/>
                <a:latin typeface="Times New Roman" pitchFamily="33" charset="0"/>
                <a:ea typeface="+mn-ea"/>
                <a:cs typeface="+mn-cs"/>
              </a:rPr>
              <a:t>blocks of main memory map into the cache in the same fashion; that is, block </a:t>
            </a:r>
            <a:r>
              <a:rPr kumimoji="1" lang="en-US" sz="1200" kern="1200" dirty="0" err="1">
                <a:solidFill>
                  <a:schemeClr val="tx1"/>
                </a:solidFill>
                <a:effectLst/>
                <a:latin typeface="Times New Roman" pitchFamily="33" charset="0"/>
                <a:ea typeface="+mn-ea"/>
                <a:cs typeface="+mn-cs"/>
              </a:rPr>
              <a:t>B</a:t>
            </a:r>
            <a:r>
              <a:rPr kumimoji="1" lang="en-US" sz="1200" kern="1200" baseline="-25000" dirty="0" err="1">
                <a:solidFill>
                  <a:schemeClr val="tx1"/>
                </a:solidFill>
                <a:effectLst/>
                <a:latin typeface="Times New Roman" pitchFamily="33" charset="0"/>
                <a:ea typeface="+mn-ea"/>
                <a:cs typeface="+mn-cs"/>
              </a:rPr>
              <a:t>m</a:t>
            </a:r>
            <a:endParaRPr kumimoji="1" lang="en-US" sz="1200" kern="1200" baseline="-250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 of main memory maps into line L</a:t>
            </a:r>
            <a:r>
              <a:rPr kumimoji="1" lang="en-US" sz="1200" kern="1200" baseline="-25000" dirty="0">
                <a:solidFill>
                  <a:schemeClr val="tx1"/>
                </a:solidFill>
                <a:effectLst/>
                <a:latin typeface="Times New Roman" pitchFamily="33" charset="0"/>
                <a:ea typeface="+mn-ea"/>
                <a:cs typeface="+mn-cs"/>
              </a:rPr>
              <a:t>0</a:t>
            </a:r>
            <a:r>
              <a:rPr kumimoji="1" lang="en-US" sz="1200" kern="1200" dirty="0">
                <a:solidFill>
                  <a:schemeClr val="tx1"/>
                </a:solidFill>
                <a:effectLst/>
                <a:latin typeface="Times New Roman" pitchFamily="33" charset="0"/>
                <a:ea typeface="+mn-ea"/>
                <a:cs typeface="+mn-cs"/>
              </a:rPr>
              <a:t>  of cache, block B</a:t>
            </a:r>
            <a:r>
              <a:rPr kumimoji="1" lang="en-US" sz="1200" kern="1200" baseline="-25000" dirty="0">
                <a:solidFill>
                  <a:schemeClr val="tx1"/>
                </a:solidFill>
                <a:effectLst/>
                <a:latin typeface="Times New Roman" pitchFamily="33" charset="0"/>
                <a:ea typeface="+mn-ea"/>
                <a:cs typeface="+mn-cs"/>
              </a:rPr>
              <a:t>m</a:t>
            </a:r>
            <a:r>
              <a:rPr kumimoji="1" lang="en-US" sz="1200" b="1" kern="1200" baseline="-25000" dirty="0">
                <a:solidFill>
                  <a:schemeClr val="tx1"/>
                </a:solidFill>
                <a:effectLst/>
                <a:latin typeface="Times New Roman" pitchFamily="33" charset="0"/>
                <a:ea typeface="+mn-ea"/>
                <a:cs typeface="+mn-cs"/>
              </a:rPr>
              <a:t>+</a:t>
            </a:r>
            <a:r>
              <a:rPr kumimoji="1" lang="en-US" sz="1200" kern="1200" baseline="-25000" dirty="0">
                <a:solidFill>
                  <a:schemeClr val="tx1"/>
                </a:solidFill>
                <a:effectLst/>
                <a:latin typeface="Times New Roman" pitchFamily="33" charset="0"/>
                <a:ea typeface="+mn-ea"/>
                <a:cs typeface="+mn-cs"/>
              </a:rPr>
              <a:t>1</a:t>
            </a:r>
            <a:r>
              <a:rPr kumimoji="1" lang="en-US" sz="1200" kern="1200" dirty="0">
                <a:solidFill>
                  <a:schemeClr val="tx1"/>
                </a:solidFill>
                <a:effectLst/>
                <a:latin typeface="Times New Roman" pitchFamily="33" charset="0"/>
                <a:ea typeface="+mn-ea"/>
                <a:cs typeface="+mn-cs"/>
              </a:rPr>
              <a:t>  maps into line L</a:t>
            </a:r>
            <a:r>
              <a:rPr kumimoji="1" lang="en-US" sz="1200" kern="1200" baseline="-25000" dirty="0">
                <a:solidFill>
                  <a:schemeClr val="tx1"/>
                </a:solidFill>
                <a:effectLst/>
                <a:latin typeface="Times New Roman" pitchFamily="33" charset="0"/>
                <a:ea typeface="+mn-ea"/>
                <a:cs typeface="+mn-cs"/>
              </a:rPr>
              <a:t>1 </a:t>
            </a:r>
            <a:r>
              <a:rPr kumimoji="1" lang="en-US" sz="1200" kern="1200" dirty="0">
                <a:solidFill>
                  <a:schemeClr val="tx1"/>
                </a:solidFill>
                <a:effectLst/>
                <a:latin typeface="Times New Roman" pitchFamily="33" charset="0"/>
                <a:ea typeface="+mn-ea"/>
                <a:cs typeface="+mn-cs"/>
              </a:rPr>
              <a:t>, and so on.</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23</a:t>
            </a:fld>
            <a:endParaRPr lang="en-US" dirty="0"/>
          </a:p>
        </p:txBody>
      </p:sp>
    </p:spTree>
    <p:extLst>
      <p:ext uri="{BB962C8B-B14F-4D97-AF65-F5344CB8AC3E}">
        <p14:creationId xmlns:p14="http://schemas.microsoft.com/office/powerpoint/2010/main" val="1286749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5.8. Direct Mapping Example</a:t>
            </a:r>
          </a:p>
          <a:p>
            <a:endParaRPr lang="en-US" dirty="0"/>
          </a:p>
          <a:p>
            <a:r>
              <a:rPr kumimoji="1" lang="en-US" sz="1200" b="0" i="0" u="none" strike="noStrike" kern="1200" baseline="0" dirty="0">
                <a:solidFill>
                  <a:schemeClr val="tx1"/>
                </a:solidFill>
                <a:latin typeface="Times New Roman" pitchFamily="33" charset="0"/>
                <a:ea typeface="+mn-ea"/>
                <a:cs typeface="+mn-cs"/>
              </a:rPr>
              <a:t>Figure 5.8 shows our example system using direct mapping. In the example,</a:t>
            </a:r>
          </a:p>
          <a:p>
            <a:r>
              <a:rPr kumimoji="1" lang="en-US" sz="1200" b="0" i="0" u="none" strike="noStrike" kern="1200" baseline="0" dirty="0">
                <a:solidFill>
                  <a:schemeClr val="tx1"/>
                </a:solidFill>
                <a:latin typeface="Times New Roman" pitchFamily="33" charset="0"/>
                <a:ea typeface="+mn-ea"/>
                <a:cs typeface="+mn-cs"/>
              </a:rPr>
              <a:t>m = 16K = 2</a:t>
            </a:r>
            <a:r>
              <a:rPr kumimoji="1" lang="en-US" sz="1200" b="0" i="0" u="none" strike="noStrike" kern="1200" baseline="30000" dirty="0">
                <a:solidFill>
                  <a:schemeClr val="tx1"/>
                </a:solidFill>
                <a:latin typeface="Times New Roman" pitchFamily="33" charset="0"/>
                <a:ea typeface="+mn-ea"/>
                <a:cs typeface="+mn-cs"/>
              </a:rPr>
              <a:t>14</a:t>
            </a:r>
            <a:r>
              <a:rPr kumimoji="1" lang="en-US" sz="1200" b="0" i="0" u="none" strike="noStrike" kern="1200" baseline="0" dirty="0">
                <a:solidFill>
                  <a:schemeClr val="tx1"/>
                </a:solidFill>
                <a:latin typeface="Times New Roman" pitchFamily="33" charset="0"/>
                <a:ea typeface="+mn-ea"/>
                <a:cs typeface="+mn-cs"/>
              </a:rPr>
              <a:t> and </a:t>
            </a:r>
            <a:r>
              <a:rPr kumimoji="1" lang="en-US" sz="1200" b="0" i="0" u="none" strike="noStrike" kern="1200" baseline="0" dirty="0" err="1">
                <a:solidFill>
                  <a:schemeClr val="tx1"/>
                </a:solidFill>
                <a:latin typeface="Times New Roman" pitchFamily="33" charset="0"/>
                <a:ea typeface="+mn-ea"/>
                <a:cs typeface="+mn-cs"/>
              </a:rPr>
              <a:t>i</a:t>
            </a:r>
            <a:r>
              <a:rPr kumimoji="1" lang="en-US" sz="1200" b="0" i="0" u="none" strike="noStrike" kern="1200" baseline="0" dirty="0">
                <a:solidFill>
                  <a:schemeClr val="tx1"/>
                </a:solidFill>
                <a:latin typeface="Times New Roman" pitchFamily="33" charset="0"/>
                <a:ea typeface="+mn-ea"/>
                <a:cs typeface="+mn-cs"/>
              </a:rPr>
              <a:t> = j modulo 2</a:t>
            </a:r>
            <a:r>
              <a:rPr kumimoji="1" lang="en-US" sz="1200" b="0" i="0" u="none" strike="noStrike" kern="1200" baseline="30000" dirty="0">
                <a:solidFill>
                  <a:schemeClr val="tx1"/>
                </a:solidFill>
                <a:latin typeface="Times New Roman" pitchFamily="33" charset="0"/>
                <a:ea typeface="+mn-ea"/>
                <a:cs typeface="+mn-cs"/>
              </a:rPr>
              <a:t>14</a:t>
            </a:r>
            <a:r>
              <a:rPr kumimoji="1" lang="en-US" sz="1200" b="0" i="0" u="none" strike="noStrike" kern="1200" baseline="0" dirty="0">
                <a:solidFill>
                  <a:schemeClr val="tx1"/>
                </a:solidFill>
                <a:latin typeface="Times New Roman" pitchFamily="33" charset="0"/>
                <a:ea typeface="+mn-ea"/>
                <a:cs typeface="+mn-cs"/>
              </a:rPr>
              <a:t>. The mapping becomes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Cache 	Line Starting 	Memory Address of Block</a:t>
            </a:r>
          </a:p>
          <a:p>
            <a:r>
              <a:rPr kumimoji="1" lang="en-US" sz="1200" b="0" i="0" u="none" strike="noStrike" kern="1200" baseline="0" dirty="0">
                <a:solidFill>
                  <a:schemeClr val="tx1"/>
                </a:solidFill>
                <a:latin typeface="Times New Roman" pitchFamily="33" charset="0"/>
                <a:ea typeface="+mn-ea"/>
                <a:cs typeface="+mn-cs"/>
              </a:rPr>
              <a:t>0 	000000, 010000, …, FF0000</a:t>
            </a:r>
          </a:p>
          <a:p>
            <a:r>
              <a:rPr kumimoji="1" lang="en-US" sz="1200" b="0" i="0" u="none" strike="noStrike" kern="1200" baseline="0" dirty="0">
                <a:solidFill>
                  <a:schemeClr val="tx1"/>
                </a:solidFill>
                <a:latin typeface="Times New Roman" pitchFamily="33" charset="0"/>
                <a:ea typeface="+mn-ea"/>
                <a:cs typeface="+mn-cs"/>
              </a:rPr>
              <a:t>1	 000004, 010004, …, FF0004</a:t>
            </a:r>
          </a:p>
          <a:p>
            <a:r>
              <a:rPr kumimoji="1" lang="da-DK" sz="1200" b="0" i="0" u="none" strike="noStrike" kern="1200" baseline="0" dirty="0">
                <a:solidFill>
                  <a:schemeClr val="tx1"/>
                </a:solidFill>
                <a:latin typeface="Times New Roman" pitchFamily="33" charset="0"/>
                <a:ea typeface="+mn-ea"/>
                <a:cs typeface="+mn-cs"/>
              </a:rPr>
              <a:t>.		.</a:t>
            </a:r>
          </a:p>
          <a:p>
            <a:r>
              <a:rPr kumimoji="1" lang="da-DK" sz="1200" b="0" i="0" u="none" strike="noStrike" kern="1200" baseline="0" dirty="0">
                <a:solidFill>
                  <a:schemeClr val="tx1"/>
                </a:solidFill>
                <a:latin typeface="Times New Roman" pitchFamily="33" charset="0"/>
                <a:ea typeface="+mn-ea"/>
                <a:cs typeface="+mn-cs"/>
              </a:rPr>
              <a:t>.		.</a:t>
            </a:r>
          </a:p>
          <a:p>
            <a:r>
              <a:rPr kumimoji="1" lang="da-DK" sz="1200" b="0" i="0" u="none" strike="noStrike" kern="1200" baseline="0" dirty="0">
                <a:solidFill>
                  <a:schemeClr val="tx1"/>
                </a:solidFill>
                <a:latin typeface="Times New Roman" pitchFamily="33" charset="0"/>
                <a:ea typeface="+mn-ea"/>
                <a:cs typeface="+mn-cs"/>
              </a:rPr>
              <a:t>.		.</a:t>
            </a:r>
          </a:p>
          <a:p>
            <a:r>
              <a:rPr kumimoji="1" lang="da-DK" sz="1200" b="0" i="0" u="none" strike="noStrike" kern="1200" baseline="0" dirty="0">
                <a:solidFill>
                  <a:schemeClr val="tx1"/>
                </a:solidFill>
                <a:latin typeface="Times New Roman" pitchFamily="33" charset="0"/>
                <a:ea typeface="+mn-ea"/>
                <a:cs typeface="+mn-cs"/>
              </a:rPr>
              <a:t>2</a:t>
            </a:r>
            <a:r>
              <a:rPr kumimoji="1" lang="da-DK" sz="1200" b="0" i="0" u="none" strike="noStrike" kern="1200" baseline="30000" dirty="0">
                <a:solidFill>
                  <a:schemeClr val="tx1"/>
                </a:solidFill>
                <a:latin typeface="Times New Roman" pitchFamily="33" charset="0"/>
                <a:ea typeface="+mn-ea"/>
                <a:cs typeface="+mn-cs"/>
              </a:rPr>
              <a:t>14</a:t>
            </a:r>
            <a:r>
              <a:rPr kumimoji="1" lang="da-DK" sz="1200" b="0" i="0" u="none" strike="noStrike" kern="1200" baseline="0" dirty="0">
                <a:solidFill>
                  <a:schemeClr val="tx1"/>
                </a:solidFill>
                <a:latin typeface="Times New Roman" pitchFamily="33" charset="0"/>
                <a:ea typeface="+mn-ea"/>
                <a:cs typeface="+mn-cs"/>
              </a:rPr>
              <a:t> - 1 	00FFFC, 01FFFC, …, FFFFFC</a:t>
            </a:r>
          </a:p>
          <a:p>
            <a:endParaRPr kumimoji="1" lang="da-DK" sz="1200" b="0" i="0" u="none" strike="noStrike" kern="1200" baseline="0" dirty="0">
              <a:solidFill>
                <a:schemeClr val="tx1"/>
              </a:solidFill>
              <a:latin typeface="Times New Roman" pitchFamily="33" charset="0"/>
              <a:ea typeface="+mn-ea"/>
              <a:cs typeface="+mn-cs"/>
            </a:endParaRPr>
          </a:p>
          <a:p>
            <a:r>
              <a:rPr kumimoji="1" lang="da-DK" sz="1200" b="0" i="0" u="none" strike="noStrike" kern="1200" baseline="0" dirty="0">
                <a:solidFill>
                  <a:schemeClr val="tx1"/>
                </a:solidFill>
                <a:latin typeface="Times New Roman" pitchFamily="33" charset="0"/>
                <a:ea typeface="+mn-ea"/>
                <a:cs typeface="+mn-cs"/>
              </a:rPr>
              <a:t>Note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no</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two</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blocks</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map</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into</a:t>
            </a:r>
            <a:r>
              <a:rPr kumimoji="1" lang="da-DK" sz="1200" b="0" i="0" u="none" strike="noStrike" kern="1200" baseline="0" dirty="0">
                <a:solidFill>
                  <a:schemeClr val="tx1"/>
                </a:solidFill>
                <a:latin typeface="Times New Roman" pitchFamily="33" charset="0"/>
                <a:ea typeface="+mn-ea"/>
                <a:cs typeface="+mn-cs"/>
              </a:rPr>
              <a:t> the same line </a:t>
            </a:r>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have the same tag </a:t>
            </a:r>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Thus,</a:t>
            </a:r>
          </a:p>
          <a:p>
            <a:r>
              <a:rPr kumimoji="1" lang="da-DK" sz="1200" b="0" i="0" u="none" strike="noStrike" kern="1200" baseline="0" dirty="0" err="1">
                <a:solidFill>
                  <a:schemeClr val="tx1"/>
                </a:solidFill>
                <a:latin typeface="Times New Roman" pitchFamily="33" charset="0"/>
                <a:ea typeface="+mn-ea"/>
                <a:cs typeface="+mn-cs"/>
              </a:rPr>
              <a:t>blocks</a:t>
            </a:r>
            <a:r>
              <a:rPr kumimoji="1" lang="da-DK" sz="1200" b="0" i="0" u="none" strike="noStrike" kern="1200" baseline="0" dirty="0">
                <a:solidFill>
                  <a:schemeClr val="tx1"/>
                </a:solidFill>
                <a:latin typeface="Times New Roman" pitchFamily="33" charset="0"/>
                <a:ea typeface="+mn-ea"/>
                <a:cs typeface="+mn-cs"/>
              </a:rPr>
              <a:t> with </a:t>
            </a:r>
            <a:r>
              <a:rPr kumimoji="1" lang="da-DK" sz="1200" b="0" i="0" u="none" strike="noStrike" kern="1200" baseline="0" dirty="0" err="1">
                <a:solidFill>
                  <a:schemeClr val="tx1"/>
                </a:solidFill>
                <a:latin typeface="Times New Roman" pitchFamily="33" charset="0"/>
                <a:ea typeface="+mn-ea"/>
                <a:cs typeface="+mn-cs"/>
              </a:rPr>
              <a:t>starting</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addresses</a:t>
            </a:r>
            <a:r>
              <a:rPr kumimoji="1" lang="da-DK" sz="1200" b="0" i="0" u="none" strike="noStrike" kern="1200" baseline="0" dirty="0">
                <a:solidFill>
                  <a:schemeClr val="tx1"/>
                </a:solidFill>
                <a:latin typeface="Times New Roman" pitchFamily="33" charset="0"/>
                <a:ea typeface="+mn-ea"/>
                <a:cs typeface="+mn-cs"/>
              </a:rPr>
              <a:t> 000000, 010000, …, FF0000 have tag </a:t>
            </a:r>
            <a:r>
              <a:rPr kumimoji="1" lang="da-DK" sz="1200" b="0" i="0" u="none" strike="noStrike" kern="1200" baseline="0" dirty="0" err="1">
                <a:solidFill>
                  <a:schemeClr val="tx1"/>
                </a:solidFill>
                <a:latin typeface="Times New Roman" pitchFamily="33" charset="0"/>
                <a:ea typeface="+mn-ea"/>
                <a:cs typeface="+mn-cs"/>
              </a:rPr>
              <a:t>numbers</a:t>
            </a:r>
            <a:r>
              <a:rPr kumimoji="1" lang="da-DK" sz="1200" b="0" i="0" u="none" strike="noStrike" kern="1200" baseline="0" dirty="0">
                <a:solidFill>
                  <a:schemeClr val="tx1"/>
                </a:solidFill>
                <a:latin typeface="Times New Roman" pitchFamily="33" charset="0"/>
                <a:ea typeface="+mn-ea"/>
                <a:cs typeface="+mn-cs"/>
              </a:rPr>
              <a:t> 00, 01, …, FF, </a:t>
            </a:r>
            <a:r>
              <a:rPr kumimoji="1" lang="da-DK" sz="1200" b="0" i="0" u="none" strike="noStrike" kern="1200" baseline="0" dirty="0" err="1">
                <a:solidFill>
                  <a:schemeClr val="tx1"/>
                </a:solidFill>
                <a:latin typeface="Times New Roman" pitchFamily="33" charset="0"/>
                <a:ea typeface="+mn-ea"/>
                <a:cs typeface="+mn-cs"/>
              </a:rPr>
              <a:t>respectively</a:t>
            </a:r>
            <a:r>
              <a:rPr kumimoji="1" lang="da-DK" sz="1200" b="0" i="0" u="none" strike="noStrike" kern="1200" baseline="0" dirty="0">
                <a:solidFill>
                  <a:schemeClr val="tx1"/>
                </a:solidFill>
                <a:latin typeface="Times New Roman" pitchFamily="33" charset="0"/>
                <a:ea typeface="+mn-ea"/>
                <a:cs typeface="+mn-cs"/>
              </a:rPr>
              <a:t>.</a:t>
            </a:r>
          </a:p>
          <a:p>
            <a:endParaRPr kumimoji="1" lang="da-DK" sz="1200" b="0" i="0" u="none" strike="noStrike" kern="1200" baseline="0" dirty="0">
              <a:solidFill>
                <a:schemeClr val="tx1"/>
              </a:solidFill>
              <a:latin typeface="Times New Roman" pitchFamily="33" charset="0"/>
              <a:ea typeface="+mn-ea"/>
              <a:cs typeface="+mn-cs"/>
            </a:endParaRPr>
          </a:p>
          <a:p>
            <a:r>
              <a:rPr kumimoji="1" lang="da-DK" sz="1200" b="0" i="0" u="none" strike="noStrike" kern="1200" baseline="0" dirty="0" err="1">
                <a:solidFill>
                  <a:schemeClr val="tx1"/>
                </a:solidFill>
                <a:latin typeface="Times New Roman" pitchFamily="33" charset="0"/>
                <a:ea typeface="+mn-ea"/>
                <a:cs typeface="+mn-cs"/>
              </a:rPr>
              <a:t>Referring</a:t>
            </a:r>
            <a:r>
              <a:rPr kumimoji="1" lang="da-DK" sz="1200" b="0" i="0" u="none" strike="noStrike" kern="1200" baseline="0" dirty="0">
                <a:solidFill>
                  <a:schemeClr val="tx1"/>
                </a:solidFill>
                <a:latin typeface="Times New Roman" pitchFamily="33" charset="0"/>
                <a:ea typeface="+mn-ea"/>
                <a:cs typeface="+mn-cs"/>
              </a:rPr>
              <a:t> back to </a:t>
            </a:r>
            <a:r>
              <a:rPr kumimoji="1" lang="da-DK" sz="1200" b="0" i="0" u="none" strike="noStrike" kern="1200" baseline="0" dirty="0" err="1">
                <a:solidFill>
                  <a:schemeClr val="tx1"/>
                </a:solidFill>
                <a:latin typeface="Times New Roman" pitchFamily="33" charset="0"/>
                <a:ea typeface="+mn-ea"/>
                <a:cs typeface="+mn-cs"/>
              </a:rPr>
              <a:t>Figure</a:t>
            </a:r>
            <a:r>
              <a:rPr kumimoji="1" lang="da-DK" sz="1200" b="0" i="0" u="none" strike="noStrike" kern="1200" baseline="0" dirty="0">
                <a:solidFill>
                  <a:schemeClr val="tx1"/>
                </a:solidFill>
                <a:latin typeface="Times New Roman" pitchFamily="33" charset="0"/>
                <a:ea typeface="+mn-ea"/>
                <a:cs typeface="+mn-cs"/>
              </a:rPr>
              <a:t> 5.3, a </a:t>
            </a:r>
            <a:r>
              <a:rPr kumimoji="1" lang="da-DK" sz="1200" b="0" i="0" u="none" strike="noStrike" kern="1200" baseline="0" dirty="0" err="1">
                <a:solidFill>
                  <a:schemeClr val="tx1"/>
                </a:solidFill>
                <a:latin typeface="Times New Roman" pitchFamily="33" charset="0"/>
                <a:ea typeface="+mn-ea"/>
                <a:cs typeface="+mn-cs"/>
              </a:rPr>
              <a:t>read</a:t>
            </a:r>
            <a:r>
              <a:rPr kumimoji="1" lang="da-DK" sz="1200" b="0" i="0" u="none" strike="noStrike" kern="1200" baseline="0" dirty="0">
                <a:solidFill>
                  <a:schemeClr val="tx1"/>
                </a:solidFill>
                <a:latin typeface="Times New Roman" pitchFamily="33" charset="0"/>
                <a:ea typeface="+mn-ea"/>
                <a:cs typeface="+mn-cs"/>
              </a:rPr>
              <a:t> operation </a:t>
            </a:r>
            <a:r>
              <a:rPr kumimoji="1" lang="da-DK" sz="1200" b="0" i="0" u="none" strike="noStrike" kern="1200" baseline="0" dirty="0" err="1">
                <a:solidFill>
                  <a:schemeClr val="tx1"/>
                </a:solidFill>
                <a:latin typeface="Times New Roman" pitchFamily="33" charset="0"/>
                <a:ea typeface="+mn-ea"/>
                <a:cs typeface="+mn-cs"/>
              </a:rPr>
              <a:t>works</a:t>
            </a:r>
            <a:r>
              <a:rPr kumimoji="1" lang="da-DK" sz="1200" b="0" i="0" u="none" strike="noStrike" kern="1200" baseline="0" dirty="0">
                <a:solidFill>
                  <a:schemeClr val="tx1"/>
                </a:solidFill>
                <a:latin typeface="Times New Roman" pitchFamily="33" charset="0"/>
                <a:ea typeface="+mn-ea"/>
                <a:cs typeface="+mn-cs"/>
              </a:rPr>
              <a:t> as </a:t>
            </a:r>
            <a:r>
              <a:rPr kumimoji="1" lang="da-DK" sz="1200" b="0" i="0" u="none" strike="noStrike" kern="1200" baseline="0" dirty="0" err="1">
                <a:solidFill>
                  <a:schemeClr val="tx1"/>
                </a:solidFill>
                <a:latin typeface="Times New Roman" pitchFamily="33" charset="0"/>
                <a:ea typeface="+mn-ea"/>
                <a:cs typeface="+mn-cs"/>
              </a:rPr>
              <a:t>follows</a:t>
            </a:r>
            <a:r>
              <a:rPr kumimoji="1" lang="da-DK" sz="1200" b="0" i="0" u="none" strike="noStrike" kern="1200" baseline="0" dirty="0">
                <a:solidFill>
                  <a:schemeClr val="tx1"/>
                </a:solidFill>
                <a:latin typeface="Times New Roman" pitchFamily="33" charset="0"/>
                <a:ea typeface="+mn-ea"/>
                <a:cs typeface="+mn-cs"/>
              </a:rPr>
              <a:t>. The cache system is </a:t>
            </a:r>
            <a:r>
              <a:rPr kumimoji="1" lang="da-DK" sz="1200" b="0" i="0" u="none" strike="noStrike" kern="1200" baseline="0" dirty="0" err="1">
                <a:solidFill>
                  <a:schemeClr val="tx1"/>
                </a:solidFill>
                <a:latin typeface="Times New Roman" pitchFamily="33" charset="0"/>
                <a:ea typeface="+mn-ea"/>
                <a:cs typeface="+mn-cs"/>
              </a:rPr>
              <a:t>presented</a:t>
            </a:r>
            <a:endParaRPr kumimoji="1" lang="da-DK" sz="1200" b="0" i="0" u="none" strike="noStrike" kern="1200" baseline="0" dirty="0">
              <a:solidFill>
                <a:schemeClr val="tx1"/>
              </a:solidFill>
              <a:latin typeface="Times New Roman" pitchFamily="33" charset="0"/>
              <a:ea typeface="+mn-ea"/>
              <a:cs typeface="+mn-cs"/>
            </a:endParaRPr>
          </a:p>
          <a:p>
            <a:r>
              <a:rPr kumimoji="1" lang="da-DK" sz="1200" b="0" i="0" u="none" strike="noStrike" kern="1200" baseline="0" dirty="0">
                <a:solidFill>
                  <a:schemeClr val="tx1"/>
                </a:solidFill>
                <a:latin typeface="Times New Roman" pitchFamily="33" charset="0"/>
                <a:ea typeface="+mn-ea"/>
                <a:cs typeface="+mn-cs"/>
              </a:rPr>
              <a:t>with a 24-bit </a:t>
            </a:r>
            <a:r>
              <a:rPr kumimoji="1" lang="da-DK" sz="1200" b="0" i="0" u="none" strike="noStrike" kern="1200" baseline="0" dirty="0" err="1">
                <a:solidFill>
                  <a:schemeClr val="tx1"/>
                </a:solidFill>
                <a:latin typeface="Times New Roman" pitchFamily="33" charset="0"/>
                <a:ea typeface="+mn-ea"/>
                <a:cs typeface="+mn-cs"/>
              </a:rPr>
              <a:t>address</a:t>
            </a:r>
            <a:r>
              <a:rPr kumimoji="1" lang="da-DK" sz="1200" b="0" i="0" u="none" strike="noStrike" kern="1200" baseline="0" dirty="0">
                <a:solidFill>
                  <a:schemeClr val="tx1"/>
                </a:solidFill>
                <a:latin typeface="Times New Roman" pitchFamily="33" charset="0"/>
                <a:ea typeface="+mn-ea"/>
                <a:cs typeface="+mn-cs"/>
              </a:rPr>
              <a:t>. The 14-bit line </a:t>
            </a:r>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is </a:t>
            </a:r>
            <a:r>
              <a:rPr kumimoji="1" lang="da-DK" sz="1200" b="0" i="0" u="none" strike="noStrike" kern="1200" baseline="0" dirty="0" err="1">
                <a:solidFill>
                  <a:schemeClr val="tx1"/>
                </a:solidFill>
                <a:latin typeface="Times New Roman" pitchFamily="33" charset="0"/>
                <a:ea typeface="+mn-ea"/>
                <a:cs typeface="+mn-cs"/>
              </a:rPr>
              <a:t>used</a:t>
            </a:r>
            <a:r>
              <a:rPr kumimoji="1" lang="da-DK" sz="1200" b="0" i="0" u="none" strike="noStrike" kern="1200" baseline="0" dirty="0">
                <a:solidFill>
                  <a:schemeClr val="tx1"/>
                </a:solidFill>
                <a:latin typeface="Times New Roman" pitchFamily="33" charset="0"/>
                <a:ea typeface="+mn-ea"/>
                <a:cs typeface="+mn-cs"/>
              </a:rPr>
              <a:t> as an </a:t>
            </a:r>
            <a:r>
              <a:rPr kumimoji="1" lang="da-DK" sz="1200" b="0" i="0" u="none" strike="noStrike" kern="1200" baseline="0" dirty="0" err="1">
                <a:solidFill>
                  <a:schemeClr val="tx1"/>
                </a:solidFill>
                <a:latin typeface="Times New Roman" pitchFamily="33" charset="0"/>
                <a:ea typeface="+mn-ea"/>
                <a:cs typeface="+mn-cs"/>
              </a:rPr>
              <a:t>index</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into</a:t>
            </a:r>
            <a:r>
              <a:rPr kumimoji="1" lang="da-DK" sz="1200" b="0" i="0" u="none" strike="noStrike" kern="1200" baseline="0" dirty="0">
                <a:solidFill>
                  <a:schemeClr val="tx1"/>
                </a:solidFill>
                <a:latin typeface="Times New Roman" pitchFamily="33" charset="0"/>
                <a:ea typeface="+mn-ea"/>
                <a:cs typeface="+mn-cs"/>
              </a:rPr>
              <a:t> the cache to </a:t>
            </a:r>
            <a:r>
              <a:rPr kumimoji="1" lang="da-DK" sz="1200" b="0" i="0" u="none" strike="noStrike" kern="1200" baseline="0" dirty="0" err="1">
                <a:solidFill>
                  <a:schemeClr val="tx1"/>
                </a:solidFill>
                <a:latin typeface="Times New Roman" pitchFamily="33" charset="0"/>
                <a:ea typeface="+mn-ea"/>
                <a:cs typeface="+mn-cs"/>
              </a:rPr>
              <a:t>access</a:t>
            </a:r>
            <a:r>
              <a:rPr kumimoji="1" lang="da-DK" sz="1200" b="0" i="0" u="none" strike="noStrike" kern="1200" baseline="0" dirty="0">
                <a:solidFill>
                  <a:schemeClr val="tx1"/>
                </a:solidFill>
                <a:latin typeface="Times New Roman" pitchFamily="33" charset="0"/>
                <a:ea typeface="+mn-ea"/>
                <a:cs typeface="+mn-cs"/>
              </a:rPr>
              <a:t> a </a:t>
            </a:r>
            <a:r>
              <a:rPr kumimoji="1" lang="da-DK" sz="1200" b="0" i="0" u="none" strike="noStrike" kern="1200" baseline="0" dirty="0" err="1">
                <a:solidFill>
                  <a:schemeClr val="tx1"/>
                </a:solidFill>
                <a:latin typeface="Times New Roman" pitchFamily="33" charset="0"/>
                <a:ea typeface="+mn-ea"/>
                <a:cs typeface="+mn-cs"/>
              </a:rPr>
              <a:t>particular</a:t>
            </a:r>
            <a:endParaRPr kumimoji="1" lang="da-DK" sz="1200" b="0" i="0" u="none" strike="noStrike" kern="1200" baseline="0" dirty="0">
              <a:solidFill>
                <a:schemeClr val="tx1"/>
              </a:solidFill>
              <a:latin typeface="Times New Roman" pitchFamily="33" charset="0"/>
              <a:ea typeface="+mn-ea"/>
              <a:cs typeface="+mn-cs"/>
            </a:endParaRPr>
          </a:p>
          <a:p>
            <a:r>
              <a:rPr kumimoji="1" lang="da-DK" sz="1200" b="0" i="0" u="none" strike="noStrike" kern="1200" baseline="0" dirty="0">
                <a:solidFill>
                  <a:schemeClr val="tx1"/>
                </a:solidFill>
                <a:latin typeface="Times New Roman" pitchFamily="33" charset="0"/>
                <a:ea typeface="+mn-ea"/>
                <a:cs typeface="+mn-cs"/>
              </a:rPr>
              <a:t>line. If the 8-bit tag </a:t>
            </a:r>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matches the tag </a:t>
            </a:r>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currently</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stored</a:t>
            </a:r>
            <a:r>
              <a:rPr kumimoji="1" lang="da-DK" sz="1200" b="0" i="0" u="none" strike="noStrike" kern="1200" baseline="0" dirty="0">
                <a:solidFill>
                  <a:schemeClr val="tx1"/>
                </a:solidFill>
                <a:latin typeface="Times New Roman" pitchFamily="33" charset="0"/>
                <a:ea typeface="+mn-ea"/>
                <a:cs typeface="+mn-cs"/>
              </a:rPr>
              <a:t> in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line, </a:t>
            </a:r>
            <a:r>
              <a:rPr kumimoji="1" lang="da-DK" sz="1200" b="0" i="0" u="none" strike="noStrike" kern="1200" baseline="0" dirty="0" err="1">
                <a:solidFill>
                  <a:schemeClr val="tx1"/>
                </a:solidFill>
                <a:latin typeface="Times New Roman" pitchFamily="33" charset="0"/>
                <a:ea typeface="+mn-ea"/>
                <a:cs typeface="+mn-cs"/>
              </a:rPr>
              <a:t>then</a:t>
            </a:r>
            <a:r>
              <a:rPr kumimoji="1" lang="da-DK" sz="1200" b="0" i="0" u="none" strike="noStrike" kern="1200" baseline="0" dirty="0">
                <a:solidFill>
                  <a:schemeClr val="tx1"/>
                </a:solidFill>
                <a:latin typeface="Times New Roman" pitchFamily="33" charset="0"/>
                <a:ea typeface="+mn-ea"/>
                <a:cs typeface="+mn-cs"/>
              </a:rPr>
              <a:t> the 2-bit </a:t>
            </a:r>
            <a:r>
              <a:rPr kumimoji="1" lang="da-DK" sz="1200" b="0" i="0" u="none" strike="noStrike" kern="1200" baseline="0" dirty="0" err="1">
                <a:solidFill>
                  <a:schemeClr val="tx1"/>
                </a:solidFill>
                <a:latin typeface="Times New Roman" pitchFamily="33" charset="0"/>
                <a:ea typeface="+mn-ea"/>
                <a:cs typeface="+mn-cs"/>
              </a:rPr>
              <a:t>word</a:t>
            </a:r>
            <a:endParaRPr kumimoji="1" lang="da-DK" sz="1200" b="0" i="0" u="none" strike="noStrike" kern="1200" baseline="0" dirty="0">
              <a:solidFill>
                <a:schemeClr val="tx1"/>
              </a:solidFill>
              <a:latin typeface="Times New Roman" pitchFamily="33" charset="0"/>
              <a:ea typeface="+mn-ea"/>
              <a:cs typeface="+mn-cs"/>
            </a:endParaRPr>
          </a:p>
          <a:p>
            <a:r>
              <a:rPr kumimoji="1" lang="da-DK" sz="1200" b="0" i="0" u="none" strike="noStrike" kern="1200" baseline="0" dirty="0" err="1">
                <a:solidFill>
                  <a:schemeClr val="tx1"/>
                </a:solidFill>
                <a:latin typeface="Times New Roman" pitchFamily="33" charset="0"/>
                <a:ea typeface="+mn-ea"/>
                <a:cs typeface="+mn-cs"/>
              </a:rPr>
              <a:t>number</a:t>
            </a:r>
            <a:r>
              <a:rPr kumimoji="1" lang="da-DK" sz="1200" b="0" i="0" u="none" strike="noStrike" kern="1200" baseline="0" dirty="0">
                <a:solidFill>
                  <a:schemeClr val="tx1"/>
                </a:solidFill>
                <a:latin typeface="Times New Roman" pitchFamily="33" charset="0"/>
                <a:ea typeface="+mn-ea"/>
                <a:cs typeface="+mn-cs"/>
              </a:rPr>
              <a:t> is </a:t>
            </a:r>
            <a:r>
              <a:rPr kumimoji="1" lang="da-DK" sz="1200" b="0" i="0" u="none" strike="noStrike" kern="1200" baseline="0" dirty="0" err="1">
                <a:solidFill>
                  <a:schemeClr val="tx1"/>
                </a:solidFill>
                <a:latin typeface="Times New Roman" pitchFamily="33" charset="0"/>
                <a:ea typeface="+mn-ea"/>
                <a:cs typeface="+mn-cs"/>
              </a:rPr>
              <a:t>used</a:t>
            </a:r>
            <a:r>
              <a:rPr kumimoji="1" lang="da-DK" sz="1200" b="0" i="0" u="none" strike="noStrike" kern="1200" baseline="0" dirty="0">
                <a:solidFill>
                  <a:schemeClr val="tx1"/>
                </a:solidFill>
                <a:latin typeface="Times New Roman" pitchFamily="33" charset="0"/>
                <a:ea typeface="+mn-ea"/>
                <a:cs typeface="+mn-cs"/>
              </a:rPr>
              <a:t> to </a:t>
            </a:r>
            <a:r>
              <a:rPr kumimoji="1" lang="da-DK" sz="1200" b="0" i="0" u="none" strike="noStrike" kern="1200" baseline="0" dirty="0" err="1">
                <a:solidFill>
                  <a:schemeClr val="tx1"/>
                </a:solidFill>
                <a:latin typeface="Times New Roman" pitchFamily="33" charset="0"/>
                <a:ea typeface="+mn-ea"/>
                <a:cs typeface="+mn-cs"/>
              </a:rPr>
              <a:t>select</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one</a:t>
            </a:r>
            <a:r>
              <a:rPr kumimoji="1" lang="da-DK" sz="1200" b="0" i="0" u="none" strike="noStrike" kern="1200" baseline="0" dirty="0">
                <a:solidFill>
                  <a:schemeClr val="tx1"/>
                </a:solidFill>
                <a:latin typeface="Times New Roman" pitchFamily="33" charset="0"/>
                <a:ea typeface="+mn-ea"/>
                <a:cs typeface="+mn-cs"/>
              </a:rPr>
              <a:t> of the 4 bytes in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line. </a:t>
            </a:r>
            <a:r>
              <a:rPr kumimoji="1" lang="da-DK" sz="1200" b="0" i="0" u="none" strike="noStrike" kern="1200" baseline="0" dirty="0" err="1">
                <a:solidFill>
                  <a:schemeClr val="tx1"/>
                </a:solidFill>
                <a:latin typeface="Times New Roman" pitchFamily="33" charset="0"/>
                <a:ea typeface="+mn-ea"/>
                <a:cs typeface="+mn-cs"/>
              </a:rPr>
              <a:t>Otherwise</a:t>
            </a:r>
            <a:r>
              <a:rPr kumimoji="1" lang="da-DK" sz="1200" b="0" i="0" u="none" strike="noStrike" kern="1200" baseline="0" dirty="0">
                <a:solidFill>
                  <a:schemeClr val="tx1"/>
                </a:solidFill>
                <a:latin typeface="Times New Roman" pitchFamily="33" charset="0"/>
                <a:ea typeface="+mn-ea"/>
                <a:cs typeface="+mn-cs"/>
              </a:rPr>
              <a:t>, the 22-bit tag-plus-line</a:t>
            </a:r>
          </a:p>
          <a:p>
            <a:r>
              <a:rPr kumimoji="1" lang="da-DK" sz="1200" b="0" i="0" u="none" strike="noStrike" kern="1200" baseline="0" dirty="0" err="1">
                <a:solidFill>
                  <a:schemeClr val="tx1"/>
                </a:solidFill>
                <a:latin typeface="Times New Roman" pitchFamily="33" charset="0"/>
                <a:ea typeface="+mn-ea"/>
                <a:cs typeface="+mn-cs"/>
              </a:rPr>
              <a:t>field</a:t>
            </a:r>
            <a:r>
              <a:rPr kumimoji="1" lang="da-DK" sz="1200" b="0" i="0" u="none" strike="noStrike" kern="1200" baseline="0" dirty="0">
                <a:solidFill>
                  <a:schemeClr val="tx1"/>
                </a:solidFill>
                <a:latin typeface="Times New Roman" pitchFamily="33" charset="0"/>
                <a:ea typeface="+mn-ea"/>
                <a:cs typeface="+mn-cs"/>
              </a:rPr>
              <a:t> is </a:t>
            </a:r>
            <a:r>
              <a:rPr kumimoji="1" lang="da-DK" sz="1200" b="0" i="0" u="none" strike="noStrike" kern="1200" baseline="0" dirty="0" err="1">
                <a:solidFill>
                  <a:schemeClr val="tx1"/>
                </a:solidFill>
                <a:latin typeface="Times New Roman" pitchFamily="33" charset="0"/>
                <a:ea typeface="+mn-ea"/>
                <a:cs typeface="+mn-cs"/>
              </a:rPr>
              <a:t>used</a:t>
            </a:r>
            <a:r>
              <a:rPr kumimoji="1" lang="da-DK" sz="1200" b="0" i="0" u="none" strike="noStrike" kern="1200" baseline="0" dirty="0">
                <a:solidFill>
                  <a:schemeClr val="tx1"/>
                </a:solidFill>
                <a:latin typeface="Times New Roman" pitchFamily="33" charset="0"/>
                <a:ea typeface="+mn-ea"/>
                <a:cs typeface="+mn-cs"/>
              </a:rPr>
              <a:t> to </a:t>
            </a:r>
            <a:r>
              <a:rPr kumimoji="1" lang="da-DK" sz="1200" b="0" i="0" u="none" strike="noStrike" kern="1200" baseline="0" dirty="0" err="1">
                <a:solidFill>
                  <a:schemeClr val="tx1"/>
                </a:solidFill>
                <a:latin typeface="Times New Roman" pitchFamily="33" charset="0"/>
                <a:ea typeface="+mn-ea"/>
                <a:cs typeface="+mn-cs"/>
              </a:rPr>
              <a:t>fetch</a:t>
            </a:r>
            <a:r>
              <a:rPr kumimoji="1" lang="da-DK" sz="1200" b="0" i="0" u="none" strike="noStrike" kern="1200" baseline="0" dirty="0">
                <a:solidFill>
                  <a:schemeClr val="tx1"/>
                </a:solidFill>
                <a:latin typeface="Times New Roman" pitchFamily="33" charset="0"/>
                <a:ea typeface="+mn-ea"/>
                <a:cs typeface="+mn-cs"/>
              </a:rPr>
              <a:t> a </a:t>
            </a:r>
            <a:r>
              <a:rPr kumimoji="1" lang="da-DK" sz="1200" b="0" i="0" u="none" strike="noStrike" kern="1200" baseline="0" dirty="0" err="1">
                <a:solidFill>
                  <a:schemeClr val="tx1"/>
                </a:solidFill>
                <a:latin typeface="Times New Roman" pitchFamily="33" charset="0"/>
                <a:ea typeface="+mn-ea"/>
                <a:cs typeface="+mn-cs"/>
              </a:rPr>
              <a:t>block</a:t>
            </a:r>
            <a:r>
              <a:rPr kumimoji="1" lang="da-DK" sz="1200" b="0" i="0" u="none" strike="noStrike" kern="1200" baseline="0" dirty="0">
                <a:solidFill>
                  <a:schemeClr val="tx1"/>
                </a:solidFill>
                <a:latin typeface="Times New Roman" pitchFamily="33" charset="0"/>
                <a:ea typeface="+mn-ea"/>
                <a:cs typeface="+mn-cs"/>
              </a:rPr>
              <a:t> from </a:t>
            </a:r>
            <a:r>
              <a:rPr kumimoji="1" lang="da-DK" sz="1200" b="0" i="0" u="none" strike="noStrike" kern="1200" baseline="0" dirty="0" err="1">
                <a:solidFill>
                  <a:schemeClr val="tx1"/>
                </a:solidFill>
                <a:latin typeface="Times New Roman" pitchFamily="33" charset="0"/>
                <a:ea typeface="+mn-ea"/>
                <a:cs typeface="+mn-cs"/>
              </a:rPr>
              <a:t>main</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memory</a:t>
            </a:r>
            <a:r>
              <a:rPr kumimoji="1" lang="da-DK" sz="1200" b="0" i="0" u="none" strike="noStrike" kern="1200" baseline="0" dirty="0">
                <a:solidFill>
                  <a:schemeClr val="tx1"/>
                </a:solidFill>
                <a:latin typeface="Times New Roman" pitchFamily="33" charset="0"/>
                <a:ea typeface="+mn-ea"/>
                <a:cs typeface="+mn-cs"/>
              </a:rPr>
              <a:t>. The </a:t>
            </a:r>
            <a:r>
              <a:rPr kumimoji="1" lang="da-DK" sz="1200" b="0" i="0" u="none" strike="noStrike" kern="1200" baseline="0" dirty="0" err="1">
                <a:solidFill>
                  <a:schemeClr val="tx1"/>
                </a:solidFill>
                <a:latin typeface="Times New Roman" pitchFamily="33" charset="0"/>
                <a:ea typeface="+mn-ea"/>
                <a:cs typeface="+mn-cs"/>
              </a:rPr>
              <a:t>actual</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address</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is </a:t>
            </a:r>
            <a:r>
              <a:rPr kumimoji="1" lang="da-DK" sz="1200" b="0" i="0" u="none" strike="noStrike" kern="1200" baseline="0" dirty="0" err="1">
                <a:solidFill>
                  <a:schemeClr val="tx1"/>
                </a:solidFill>
                <a:latin typeface="Times New Roman" pitchFamily="33" charset="0"/>
                <a:ea typeface="+mn-ea"/>
                <a:cs typeface="+mn-cs"/>
              </a:rPr>
              <a:t>used</a:t>
            </a:r>
            <a:r>
              <a:rPr kumimoji="1" lang="da-DK" sz="1200" b="0" i="0" u="none" strike="noStrike" kern="1200" baseline="0" dirty="0">
                <a:solidFill>
                  <a:schemeClr val="tx1"/>
                </a:solidFill>
                <a:latin typeface="Times New Roman" pitchFamily="33" charset="0"/>
                <a:ea typeface="+mn-ea"/>
                <a:cs typeface="+mn-cs"/>
              </a:rPr>
              <a:t> for the </a:t>
            </a:r>
            <a:r>
              <a:rPr kumimoji="1" lang="da-DK" sz="1200" b="0" i="0" u="none" strike="noStrike" kern="1200" baseline="0" dirty="0" err="1">
                <a:solidFill>
                  <a:schemeClr val="tx1"/>
                </a:solidFill>
                <a:latin typeface="Times New Roman" pitchFamily="33" charset="0"/>
                <a:ea typeface="+mn-ea"/>
                <a:cs typeface="+mn-cs"/>
              </a:rPr>
              <a:t>fetch</a:t>
            </a:r>
            <a:r>
              <a:rPr kumimoji="1" lang="da-DK" sz="1200" b="0" i="0" u="none" strike="noStrike" kern="1200" baseline="0" dirty="0">
                <a:solidFill>
                  <a:schemeClr val="tx1"/>
                </a:solidFill>
                <a:latin typeface="Times New Roman" pitchFamily="33" charset="0"/>
                <a:ea typeface="+mn-ea"/>
                <a:cs typeface="+mn-cs"/>
              </a:rPr>
              <a:t> is the 22-bit</a:t>
            </a:r>
          </a:p>
          <a:p>
            <a:r>
              <a:rPr kumimoji="1" lang="da-DK" sz="1200" b="0" i="0" u="none" strike="noStrike" kern="1200" baseline="0" dirty="0">
                <a:solidFill>
                  <a:schemeClr val="tx1"/>
                </a:solidFill>
                <a:latin typeface="Times New Roman" pitchFamily="33" charset="0"/>
                <a:ea typeface="+mn-ea"/>
                <a:cs typeface="+mn-cs"/>
              </a:rPr>
              <a:t>tag-plus-line </a:t>
            </a:r>
            <a:r>
              <a:rPr kumimoji="1" lang="da-DK" sz="1200" b="0" i="0" u="none" strike="noStrike" kern="1200" baseline="0" dirty="0" err="1">
                <a:solidFill>
                  <a:schemeClr val="tx1"/>
                </a:solidFill>
                <a:latin typeface="Times New Roman" pitchFamily="33" charset="0"/>
                <a:ea typeface="+mn-ea"/>
                <a:cs typeface="+mn-cs"/>
              </a:rPr>
              <a:t>concatenated</a:t>
            </a:r>
            <a:r>
              <a:rPr kumimoji="1" lang="da-DK" sz="1200" b="0" i="0" u="none" strike="noStrike" kern="1200" baseline="0" dirty="0">
                <a:solidFill>
                  <a:schemeClr val="tx1"/>
                </a:solidFill>
                <a:latin typeface="Times New Roman" pitchFamily="33" charset="0"/>
                <a:ea typeface="+mn-ea"/>
                <a:cs typeface="+mn-cs"/>
              </a:rPr>
              <a:t> with </a:t>
            </a:r>
            <a:r>
              <a:rPr kumimoji="1" lang="da-DK" sz="1200" b="0" i="0" u="none" strike="noStrike" kern="1200" baseline="0" dirty="0" err="1">
                <a:solidFill>
                  <a:schemeClr val="tx1"/>
                </a:solidFill>
                <a:latin typeface="Times New Roman" pitchFamily="33" charset="0"/>
                <a:ea typeface="+mn-ea"/>
                <a:cs typeface="+mn-cs"/>
              </a:rPr>
              <a:t>two</a:t>
            </a:r>
            <a:r>
              <a:rPr kumimoji="1" lang="da-DK" sz="1200" b="0" i="0" u="none" strike="noStrike" kern="1200" baseline="0" dirty="0">
                <a:solidFill>
                  <a:schemeClr val="tx1"/>
                </a:solidFill>
                <a:latin typeface="Times New Roman" pitchFamily="33" charset="0"/>
                <a:ea typeface="+mn-ea"/>
                <a:cs typeface="+mn-cs"/>
              </a:rPr>
              <a:t> 0 bits, so </a:t>
            </a:r>
            <a:r>
              <a:rPr kumimoji="1" lang="da-DK" sz="1200" b="0" i="0" u="none" strike="noStrike" kern="1200" baseline="0" dirty="0" err="1">
                <a:solidFill>
                  <a:schemeClr val="tx1"/>
                </a:solidFill>
                <a:latin typeface="Times New Roman" pitchFamily="33" charset="0"/>
                <a:ea typeface="+mn-ea"/>
                <a:cs typeface="+mn-cs"/>
              </a:rPr>
              <a:t>that</a:t>
            </a:r>
            <a:r>
              <a:rPr kumimoji="1" lang="da-DK" sz="1200" b="0" i="0" u="none" strike="noStrike" kern="1200" baseline="0" dirty="0">
                <a:solidFill>
                  <a:schemeClr val="tx1"/>
                </a:solidFill>
                <a:latin typeface="Times New Roman" pitchFamily="33" charset="0"/>
                <a:ea typeface="+mn-ea"/>
                <a:cs typeface="+mn-cs"/>
              </a:rPr>
              <a:t> 4 bytes </a:t>
            </a:r>
            <a:r>
              <a:rPr kumimoji="1" lang="da-DK" sz="1200" b="0" i="0" u="none" strike="noStrike" kern="1200" baseline="0" dirty="0" err="1">
                <a:solidFill>
                  <a:schemeClr val="tx1"/>
                </a:solidFill>
                <a:latin typeface="Times New Roman" pitchFamily="33" charset="0"/>
                <a:ea typeface="+mn-ea"/>
                <a:cs typeface="+mn-cs"/>
              </a:rPr>
              <a:t>are</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fetched</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starting</a:t>
            </a:r>
            <a:r>
              <a:rPr kumimoji="1" lang="da-DK" sz="1200" b="0" i="0" u="none" strike="noStrike" kern="1200" baseline="0" dirty="0">
                <a:solidFill>
                  <a:schemeClr val="tx1"/>
                </a:solidFill>
                <a:latin typeface="Times New Roman" pitchFamily="33" charset="0"/>
                <a:ea typeface="+mn-ea"/>
                <a:cs typeface="+mn-cs"/>
              </a:rPr>
              <a:t> on a </a:t>
            </a:r>
            <a:r>
              <a:rPr kumimoji="1" lang="da-DK" sz="1200" b="0" i="0" u="none" strike="noStrike" kern="1200" baseline="0" dirty="0" err="1">
                <a:solidFill>
                  <a:schemeClr val="tx1"/>
                </a:solidFill>
                <a:latin typeface="Times New Roman" pitchFamily="33" charset="0"/>
                <a:ea typeface="+mn-ea"/>
                <a:cs typeface="+mn-cs"/>
              </a:rPr>
              <a:t>block</a:t>
            </a:r>
            <a:r>
              <a:rPr kumimoji="1" lang="da-DK" sz="1200" b="0" i="0" u="none" strike="noStrike" kern="1200" baseline="0" dirty="0">
                <a:solidFill>
                  <a:schemeClr val="tx1"/>
                </a:solidFill>
                <a:latin typeface="Times New Roman" pitchFamily="33" charset="0"/>
                <a:ea typeface="+mn-ea"/>
                <a:cs typeface="+mn-cs"/>
              </a:rPr>
              <a:t> </a:t>
            </a:r>
            <a:r>
              <a:rPr kumimoji="1" lang="da-DK" sz="1200" b="0" i="0" u="none" strike="noStrike" kern="1200" baseline="0" dirty="0" err="1">
                <a:solidFill>
                  <a:schemeClr val="tx1"/>
                </a:solidFill>
                <a:latin typeface="Times New Roman" pitchFamily="33" charset="0"/>
                <a:ea typeface="+mn-ea"/>
                <a:cs typeface="+mn-cs"/>
              </a:rPr>
              <a:t>boundary</a:t>
            </a:r>
            <a:r>
              <a:rPr kumimoji="1" lang="da-DK" sz="1200" b="0" i="0" u="none" strike="noStrike" kern="1200" baseline="0" dirty="0">
                <a:solidFill>
                  <a:schemeClr val="tx1"/>
                </a:solidFill>
                <a:latin typeface="Times New Roman" pitchFamily="33" charset="0"/>
                <a:ea typeface="+mn-ea"/>
                <a:cs typeface="+mn-cs"/>
              </a:rPr>
              <a:t>.</a:t>
            </a: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27</a:t>
            </a:fld>
            <a:endParaRPr lang="en-US" dirty="0"/>
          </a:p>
        </p:txBody>
      </p:sp>
    </p:spTree>
    <p:extLst>
      <p:ext uri="{BB962C8B-B14F-4D97-AF65-F5344CB8AC3E}">
        <p14:creationId xmlns:p14="http://schemas.microsoft.com/office/powerpoint/2010/main" val="1153168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36882D3-9A45-4885-AABB-548814274C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00F4C70-DB0E-4A09-AB20-716771C3515C}"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2771" name="Rectangle 2">
            <a:extLst>
              <a:ext uri="{FF2B5EF4-FFF2-40B4-BE49-F238E27FC236}">
                <a16:creationId xmlns:a16="http://schemas.microsoft.com/office/drawing/2014/main" id="{6FAEF5A8-42BD-41BF-9D4A-C035642B1005}"/>
              </a:ext>
            </a:extLst>
          </p:cNvPr>
          <p:cNvSpPr>
            <a:spLocks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972AFA21-BF2C-48B7-9DC3-E38F10F465E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With associative mapping, there is flexibility as to which block to replace when</a:t>
            </a:r>
          </a:p>
          <a:p>
            <a:r>
              <a:rPr kumimoji="1" lang="en-US" sz="1200" kern="1200" dirty="0">
                <a:solidFill>
                  <a:schemeClr val="tx1"/>
                </a:solidFill>
                <a:effectLst/>
                <a:latin typeface="Times New Roman" pitchFamily="33" charset="0"/>
                <a:ea typeface="+mn-ea"/>
                <a:cs typeface="+mn-cs"/>
              </a:rPr>
              <a:t>a new block is read into the cache. Replacement algorithms, discussed later in this</a:t>
            </a:r>
          </a:p>
          <a:p>
            <a:r>
              <a:rPr kumimoji="1" lang="en-US" sz="1200" kern="1200" dirty="0">
                <a:solidFill>
                  <a:schemeClr val="tx1"/>
                </a:solidFill>
                <a:effectLst/>
                <a:latin typeface="Times New Roman" pitchFamily="33" charset="0"/>
                <a:ea typeface="+mn-ea"/>
                <a:cs typeface="+mn-cs"/>
              </a:rPr>
              <a:t>section, are designed to maximize the hit ratio. The principal disadvantage of associative</a:t>
            </a:r>
          </a:p>
          <a:p>
            <a:r>
              <a:rPr kumimoji="1" lang="en-US" sz="1200" kern="1200" dirty="0">
                <a:solidFill>
                  <a:schemeClr val="tx1"/>
                </a:solidFill>
                <a:effectLst/>
                <a:latin typeface="Times New Roman" pitchFamily="33" charset="0"/>
                <a:ea typeface="+mn-ea"/>
                <a:cs typeface="+mn-cs"/>
              </a:rPr>
              <a:t>mapping is the complex circuitry required to examine the tags of all cache</a:t>
            </a:r>
          </a:p>
          <a:p>
            <a:r>
              <a:rPr kumimoji="1" lang="en-US" sz="1200" kern="1200" dirty="0">
                <a:solidFill>
                  <a:schemeClr val="tx1"/>
                </a:solidFill>
                <a:effectLst/>
                <a:latin typeface="Times New Roman" pitchFamily="33" charset="0"/>
                <a:ea typeface="+mn-ea"/>
                <a:cs typeface="+mn-cs"/>
              </a:rPr>
              <a:t>lines in parallel.</a:t>
            </a:r>
          </a:p>
          <a:p>
            <a:endParaRPr kumimoji="1" lang="en-US" sz="1200" kern="1200" dirty="0">
              <a:solidFill>
                <a:schemeClr val="tx1"/>
              </a:solidFill>
              <a:effectLst/>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Figure 5.11 shows our example using associative mapping. A main</a:t>
            </a:r>
          </a:p>
          <a:p>
            <a:r>
              <a:rPr kumimoji="1" lang="en-US" sz="1200" b="0" i="0" u="none" strike="noStrike" kern="1200" baseline="0" dirty="0">
                <a:solidFill>
                  <a:schemeClr val="tx1"/>
                </a:solidFill>
                <a:latin typeface="Times New Roman" pitchFamily="33" charset="0"/>
                <a:ea typeface="+mn-ea"/>
                <a:cs typeface="+mn-cs"/>
              </a:rPr>
              <a:t>memory address consists of a 22-bit tag and a 2-bit byte number. The 22-bit tag must be</a:t>
            </a:r>
          </a:p>
          <a:p>
            <a:r>
              <a:rPr kumimoji="1" lang="en-US" sz="1200" b="0" i="0" u="none" strike="noStrike" kern="1200" baseline="0" dirty="0">
                <a:solidFill>
                  <a:schemeClr val="tx1"/>
                </a:solidFill>
                <a:latin typeface="Times New Roman" pitchFamily="33" charset="0"/>
                <a:ea typeface="+mn-ea"/>
                <a:cs typeface="+mn-cs"/>
              </a:rPr>
              <a:t>stored with the 32-bit block of data for each line in the cache. Note that it is the leftmost</a:t>
            </a:r>
          </a:p>
          <a:p>
            <a:r>
              <a:rPr kumimoji="1" lang="en-US" sz="1200" b="0" i="0" u="none" strike="noStrike" kern="1200" baseline="0" dirty="0">
                <a:solidFill>
                  <a:schemeClr val="tx1"/>
                </a:solidFill>
                <a:latin typeface="Times New Roman" pitchFamily="33" charset="0"/>
                <a:ea typeface="+mn-ea"/>
                <a:cs typeface="+mn-cs"/>
              </a:rPr>
              <a:t>(most significant) 22 bits of the address that form the tag. Thus, the 24-bit hexadecimal</a:t>
            </a:r>
          </a:p>
          <a:p>
            <a:r>
              <a:rPr kumimoji="1" lang="en-US" sz="1200" b="0" i="0" u="none" strike="noStrike" kern="1200" baseline="0" dirty="0">
                <a:solidFill>
                  <a:schemeClr val="tx1"/>
                </a:solidFill>
                <a:latin typeface="Times New Roman" pitchFamily="33" charset="0"/>
                <a:ea typeface="+mn-ea"/>
                <a:cs typeface="+mn-cs"/>
              </a:rPr>
              <a:t>address 16339C has the 22-bit tag 058CE7. This is easily seen in binary notation: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memory address 	0001 	0110 	0011 	0011 	1001 	1100 	(binary)</a:t>
            </a:r>
          </a:p>
          <a:p>
            <a:r>
              <a:rPr kumimoji="1" lang="en-US" sz="1200" b="0" i="0" u="none" strike="noStrike" kern="1200" baseline="0" dirty="0">
                <a:solidFill>
                  <a:schemeClr val="tx1"/>
                </a:solidFill>
                <a:latin typeface="Times New Roman" pitchFamily="33" charset="0"/>
                <a:ea typeface="+mn-ea"/>
                <a:cs typeface="+mn-cs"/>
              </a:rPr>
              <a:t>		1 	6 	3 	3 	9 	C	 (hex)</a:t>
            </a:r>
          </a:p>
          <a:p>
            <a:r>
              <a:rPr kumimoji="1" lang="en-US" sz="1200" b="0" i="0" u="none" strike="noStrike" kern="1200" baseline="0" dirty="0">
                <a:solidFill>
                  <a:schemeClr val="tx1"/>
                </a:solidFill>
                <a:latin typeface="Times New Roman" pitchFamily="33" charset="0"/>
                <a:ea typeface="+mn-ea"/>
                <a:cs typeface="+mn-cs"/>
              </a:rPr>
              <a:t>tag (leftmost 22 bits) 	00 	0101 	1000 	1100 	1110 	0111	 (binary)</a:t>
            </a:r>
          </a:p>
          <a:p>
            <a:r>
              <a:rPr kumimoji="1" lang="en-US" sz="1200" b="0" i="0" u="none" strike="noStrike" kern="1200" baseline="0" dirty="0">
                <a:solidFill>
                  <a:schemeClr val="tx1"/>
                </a:solidFill>
                <a:latin typeface="Times New Roman" pitchFamily="33" charset="0"/>
                <a:ea typeface="+mn-ea"/>
                <a:cs typeface="+mn-cs"/>
              </a:rPr>
              <a:t>		0	 5	 8 	C	 E 	7 	(hex)</a:t>
            </a:r>
          </a:p>
          <a:p>
            <a:endParaRPr kumimoji="1" lang="en-US" sz="1200" b="0" i="0" u="none" strike="noStrike" kern="1200" baseline="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 With associative mapping, there is flexibility as to which block to replace when</a:t>
            </a:r>
          </a:p>
          <a:p>
            <a:r>
              <a:rPr kumimoji="1" lang="en-US" sz="1200" kern="1200" dirty="0">
                <a:solidFill>
                  <a:schemeClr val="tx1"/>
                </a:solidFill>
                <a:effectLst/>
                <a:latin typeface="Times New Roman" pitchFamily="33" charset="0"/>
                <a:ea typeface="+mn-ea"/>
                <a:cs typeface="+mn-cs"/>
              </a:rPr>
              <a:t>a new block is read into the cache. Replacement algorithms, discussed later in this</a:t>
            </a:r>
          </a:p>
          <a:p>
            <a:r>
              <a:rPr kumimoji="1" lang="en-US" sz="1200" kern="1200" dirty="0">
                <a:solidFill>
                  <a:schemeClr val="tx1"/>
                </a:solidFill>
                <a:effectLst/>
                <a:latin typeface="Times New Roman" pitchFamily="33" charset="0"/>
                <a:ea typeface="+mn-ea"/>
                <a:cs typeface="+mn-cs"/>
              </a:rPr>
              <a:t>section, are designed to maximize the hit ratio. The principal disadvantage of associative</a:t>
            </a:r>
          </a:p>
          <a:p>
            <a:r>
              <a:rPr kumimoji="1" lang="en-US" sz="1200" kern="1200" dirty="0">
                <a:solidFill>
                  <a:schemeClr val="tx1"/>
                </a:solidFill>
                <a:effectLst/>
                <a:latin typeface="Times New Roman" pitchFamily="33" charset="0"/>
                <a:ea typeface="+mn-ea"/>
                <a:cs typeface="+mn-cs"/>
              </a:rPr>
              <a:t>mapping is the complex circuitry required to examine the tags of all cache</a:t>
            </a:r>
          </a:p>
          <a:p>
            <a:r>
              <a:rPr kumimoji="1" lang="en-US" sz="1200" kern="1200" dirty="0">
                <a:solidFill>
                  <a:schemeClr val="tx1"/>
                </a:solidFill>
                <a:effectLst/>
                <a:latin typeface="Times New Roman" pitchFamily="33" charset="0"/>
                <a:ea typeface="+mn-ea"/>
                <a:cs typeface="+mn-cs"/>
              </a:rPr>
              <a:t>lines in parallel.</a:t>
            </a:r>
          </a:p>
          <a:p>
            <a:endParaRPr kumimoji="1" lang="en-US" sz="1200" kern="1200" dirty="0">
              <a:solidFill>
                <a:schemeClr val="tx1"/>
              </a:solidFill>
              <a:effectLst/>
              <a:latin typeface="Times New Roman" pitchFamily="33" charset="0"/>
              <a:ea typeface="+mn-ea"/>
              <a:cs typeface="+mn-cs"/>
            </a:endParaRPr>
          </a:p>
          <a:p>
            <a:endParaRPr kumimoji="1" lang="en-US" sz="1200" kern="1200" dirty="0">
              <a:solidFill>
                <a:schemeClr val="tx1"/>
              </a:solidFill>
              <a:effectLst/>
              <a:latin typeface="Times New Roman" pitchFamily="33" charset="0"/>
              <a:ea typeface="+mn-ea"/>
              <a:cs typeface="+mn-cs"/>
            </a:endParaRPr>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31</a:t>
            </a:fld>
            <a:endParaRPr lang="en-US" dirty="0"/>
          </a:p>
        </p:txBody>
      </p:sp>
    </p:spTree>
    <p:extLst>
      <p:ext uri="{BB962C8B-B14F-4D97-AF65-F5344CB8AC3E}">
        <p14:creationId xmlns:p14="http://schemas.microsoft.com/office/powerpoint/2010/main" val="12137555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FEAEC-2236-464B-BC9C-0E3F61624398}" type="slidenum">
              <a:rPr lang="en-US"/>
              <a:pPr/>
              <a:t>32</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Set-associative mapping is a compromise that</a:t>
            </a:r>
          </a:p>
          <a:p>
            <a:r>
              <a:rPr kumimoji="1" lang="en-US" sz="1200" kern="1200" baseline="0" dirty="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a:solidFill>
                  <a:schemeClr val="tx1"/>
                </a:solidFill>
                <a:latin typeface="Times New Roman" pitchFamily="33" charset="0"/>
                <a:ea typeface="+mn-ea"/>
                <a:cs typeface="+mn-cs"/>
              </a:rPr>
              <a:t>their disadvantages.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this case, the cache consists of a number sets, each of which consists of a</a:t>
            </a:r>
          </a:p>
          <a:p>
            <a:r>
              <a:rPr kumimoji="1" lang="en-US" sz="1200" kern="1200" baseline="0" dirty="0">
                <a:solidFill>
                  <a:schemeClr val="tx1"/>
                </a:solidFill>
                <a:latin typeface="Times New Roman" pitchFamily="33" charset="0"/>
                <a:ea typeface="+mn-ea"/>
                <a:cs typeface="+mn-cs"/>
              </a:rPr>
              <a:t>number of lines. The relationships are</a:t>
            </a:r>
          </a:p>
          <a:p>
            <a:endParaRPr kumimoji="1" lang="en-US" sz="1200"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m = </a:t>
            </a:r>
            <a:r>
              <a:rPr kumimoji="1" lang="en-US" sz="1200" i="0" kern="1200" baseline="0" dirty="0">
                <a:solidFill>
                  <a:schemeClr val="tx1"/>
                </a:solidFill>
                <a:latin typeface="Times New Roman" pitchFamily="33" charset="0"/>
                <a:ea typeface="+mn-ea"/>
                <a:cs typeface="+mn-cs"/>
              </a:rPr>
              <a:t>v</a:t>
            </a:r>
            <a:r>
              <a:rPr kumimoji="1" lang="en-US" sz="1200" i="1" kern="1200" baseline="0" dirty="0">
                <a:solidFill>
                  <a:schemeClr val="tx1"/>
                </a:solidFill>
                <a:latin typeface="Times New Roman" pitchFamily="33" charset="0"/>
                <a:ea typeface="+mn-ea"/>
                <a:cs typeface="+mn-cs"/>
              </a:rPr>
              <a:t>* k</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i = j modulo v</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where</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err="1">
                <a:solidFill>
                  <a:schemeClr val="tx1"/>
                </a:solidFill>
                <a:latin typeface="Times New Roman" pitchFamily="33" charset="0"/>
                <a:ea typeface="+mn-ea"/>
                <a:cs typeface="+mn-cs"/>
              </a:rPr>
              <a:t>i</a:t>
            </a:r>
            <a:r>
              <a:rPr kumimoji="1" lang="en-US" sz="1200" i="1" kern="1200" baseline="0" dirty="0">
                <a:solidFill>
                  <a:schemeClr val="tx1"/>
                </a:solidFill>
                <a:latin typeface="Times New Roman" pitchFamily="33" charset="0"/>
                <a:ea typeface="+mn-ea"/>
                <a:cs typeface="+mn-cs"/>
              </a:rPr>
              <a:t> = cache set number</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j = main memory block number</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m = number of lines in the cache</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v = number of sets</a:t>
            </a:r>
          </a:p>
          <a:p>
            <a:endParaRPr kumimoji="1" lang="en-US" sz="1200" i="1" kern="1200" baseline="0" dirty="0">
              <a:solidFill>
                <a:schemeClr val="tx1"/>
              </a:solidFill>
              <a:latin typeface="Times New Roman" pitchFamily="33" charset="0"/>
              <a:ea typeface="+mn-ea"/>
              <a:cs typeface="+mn-cs"/>
            </a:endParaRPr>
          </a:p>
          <a:p>
            <a:r>
              <a:rPr kumimoji="1" lang="en-US" sz="1200" i="1" kern="1200" baseline="0" dirty="0">
                <a:solidFill>
                  <a:schemeClr val="tx1"/>
                </a:solidFill>
                <a:latin typeface="Times New Roman" pitchFamily="33" charset="0"/>
                <a:ea typeface="+mn-ea"/>
                <a:cs typeface="+mn-cs"/>
              </a:rPr>
              <a:t>k = number of lines in each set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This is referred to as </a:t>
            </a:r>
            <a:r>
              <a:rPr kumimoji="1" lang="en-US" sz="1200" i="1" kern="1200" baseline="0" dirty="0">
                <a:solidFill>
                  <a:schemeClr val="tx1"/>
                </a:solidFill>
                <a:latin typeface="Times New Roman" pitchFamily="33" charset="0"/>
                <a:ea typeface="+mn-ea"/>
                <a:cs typeface="+mn-cs"/>
              </a:rPr>
              <a:t>k-way </a:t>
            </a:r>
            <a:r>
              <a:rPr kumimoji="1" lang="en-US" sz="1200" i="0" kern="1200" baseline="0" dirty="0">
                <a:solidFill>
                  <a:schemeClr val="tx1"/>
                </a:solidFill>
                <a:latin typeface="Times New Roman" pitchFamily="33" charset="0"/>
                <a:ea typeface="+mn-ea"/>
                <a:cs typeface="+mn-cs"/>
              </a:rPr>
              <a:t>set-associative mapping</a:t>
            </a:r>
            <a:r>
              <a:rPr kumimoji="1" lang="en-US" sz="1200" i="1" kern="1200" baseline="0" dirty="0">
                <a:solidFill>
                  <a:schemeClr val="tx1"/>
                </a:solidFill>
                <a:latin typeface="Times New Roman" pitchFamily="33" charset="0"/>
                <a:ea typeface="+mn-ea"/>
                <a:cs typeface="+mn-cs"/>
              </a:rPr>
              <a:t>. </a:t>
            </a:r>
            <a:r>
              <a:rPr kumimoji="1" lang="en-US" sz="1200" b="0" i="0" u="none" strike="noStrike" kern="1200" baseline="0" dirty="0">
                <a:solidFill>
                  <a:schemeClr val="tx1"/>
                </a:solidFill>
                <a:latin typeface="Times New Roman" pitchFamily="33" charset="0"/>
                <a:ea typeface="+mn-ea"/>
                <a:cs typeface="+mn-cs"/>
              </a:rPr>
              <a:t>With set-associative</a:t>
            </a:r>
          </a:p>
          <a:p>
            <a:r>
              <a:rPr kumimoji="1" lang="en-US" sz="1200" b="0" i="0" u="none" strike="noStrike" kern="1200" baseline="0" dirty="0">
                <a:solidFill>
                  <a:schemeClr val="tx1"/>
                </a:solidFill>
                <a:latin typeface="Times New Roman" pitchFamily="33" charset="0"/>
                <a:ea typeface="+mn-ea"/>
                <a:cs typeface="+mn-cs"/>
              </a:rPr>
              <a:t>mapping block </a:t>
            </a:r>
            <a:r>
              <a:rPr kumimoji="1" lang="en-US" sz="1200" b="0" i="1" u="none" strike="noStrike" kern="1200" baseline="0" dirty="0" err="1">
                <a:solidFill>
                  <a:schemeClr val="tx1"/>
                </a:solidFill>
                <a:latin typeface="Times New Roman" pitchFamily="33" charset="0"/>
                <a:ea typeface="+mn-ea"/>
                <a:cs typeface="+mn-cs"/>
              </a:rPr>
              <a:t>B</a:t>
            </a:r>
            <a:r>
              <a:rPr kumimoji="1" lang="en-US" sz="1200" b="1" i="0" u="none" strike="noStrike" kern="1200" baseline="-25000" dirty="0" err="1">
                <a:solidFill>
                  <a:schemeClr val="tx1"/>
                </a:solidFill>
                <a:latin typeface="Times New Roman" pitchFamily="33" charset="0"/>
                <a:ea typeface="+mn-ea"/>
                <a:cs typeface="+mn-cs"/>
              </a:rPr>
              <a:t>j</a:t>
            </a:r>
            <a:r>
              <a:rPr kumimoji="1" lang="en-US" sz="1200" b="1" i="0" u="none" strike="noStrike" kern="1200" baseline="0" dirty="0">
                <a:solidFill>
                  <a:schemeClr val="tx1"/>
                </a:solidFill>
                <a:latin typeface="Times New Roman" pitchFamily="33" charset="0"/>
                <a:ea typeface="+mn-ea"/>
                <a:cs typeface="+mn-cs"/>
              </a:rPr>
              <a:t> </a:t>
            </a:r>
            <a:r>
              <a:rPr kumimoji="1" lang="en-US" sz="1200" b="0" i="0" u="none" strike="noStrike" kern="1200" baseline="0" dirty="0">
                <a:solidFill>
                  <a:schemeClr val="tx1"/>
                </a:solidFill>
                <a:latin typeface="Times New Roman" pitchFamily="33" charset="0"/>
                <a:ea typeface="+mn-ea"/>
                <a:cs typeface="+mn-cs"/>
              </a:rPr>
              <a:t> can be mapped into any of the lines of set </a:t>
            </a:r>
            <a:r>
              <a:rPr kumimoji="1" lang="en-US" sz="1200" b="0" i="1" u="none" strike="noStrike" kern="1200" baseline="0" dirty="0">
                <a:solidFill>
                  <a:schemeClr val="tx1"/>
                </a:solidFill>
                <a:latin typeface="Times New Roman" pitchFamily="33" charset="0"/>
                <a:ea typeface="+mn-ea"/>
                <a:cs typeface="+mn-cs"/>
              </a:rPr>
              <a:t>j</a:t>
            </a:r>
            <a:r>
              <a:rPr kumimoji="1" lang="en-US" sz="1200" b="1" i="0" u="none" strike="noStrike" kern="1200" baseline="0" dirty="0">
                <a:solidFill>
                  <a:schemeClr val="tx1"/>
                </a:solidFill>
                <a:latin typeface="Times New Roman" pitchFamily="33" charset="0"/>
                <a:ea typeface="+mn-ea"/>
                <a:cs typeface="+mn-cs"/>
              </a:rPr>
              <a: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5.12a illustrates</a:t>
            </a:r>
          </a:p>
          <a:p>
            <a:r>
              <a:rPr kumimoji="1" lang="en-US" sz="1200" kern="1200" baseline="0" dirty="0">
                <a:solidFill>
                  <a:schemeClr val="tx1"/>
                </a:solidFill>
                <a:latin typeface="Times New Roman" pitchFamily="33" charset="0"/>
                <a:ea typeface="+mn-ea"/>
                <a:cs typeface="+mn-cs"/>
              </a:rPr>
              <a:t>this mapping for the first </a:t>
            </a:r>
            <a:r>
              <a:rPr kumimoji="1" lang="en-US" sz="1200" i="1" kern="1200" baseline="0" dirty="0">
                <a:solidFill>
                  <a:schemeClr val="tx1"/>
                </a:solidFill>
                <a:latin typeface="Times New Roman" pitchFamily="33" charset="0"/>
                <a:ea typeface="+mn-ea"/>
                <a:cs typeface="+mn-cs"/>
              </a:rPr>
              <a:t>v</a:t>
            </a:r>
            <a:r>
              <a:rPr kumimoji="1" lang="en-US" sz="1200" kern="1200" baseline="0" dirty="0">
                <a:solidFill>
                  <a:schemeClr val="tx1"/>
                </a:solidFill>
                <a:latin typeface="Times New Roman" pitchFamily="33" charset="0"/>
                <a:ea typeface="+mn-ea"/>
                <a:cs typeface="+mn-cs"/>
              </a:rPr>
              <a:t> blocks of main memory. As with associative mapping,</a:t>
            </a:r>
          </a:p>
          <a:p>
            <a:r>
              <a:rPr kumimoji="1" lang="en-US" sz="1200" kern="1200" baseline="0" dirty="0">
                <a:solidFill>
                  <a:schemeClr val="tx1"/>
                </a:solidFill>
                <a:latin typeface="Times New Roman" pitchFamily="33" charset="0"/>
                <a:ea typeface="+mn-ea"/>
                <a:cs typeface="+mn-cs"/>
              </a:rPr>
              <a:t>each word maps into multiple cache lines. For set-associative mapping, each word</a:t>
            </a:r>
          </a:p>
          <a:p>
            <a:r>
              <a:rPr kumimoji="1" lang="en-US" sz="1200" kern="1200" baseline="0" dirty="0">
                <a:solidFill>
                  <a:schemeClr val="tx1"/>
                </a:solidFill>
                <a:latin typeface="Times New Roman" pitchFamily="33" charset="0"/>
                <a:ea typeface="+mn-ea"/>
                <a:cs typeface="+mn-cs"/>
              </a:rPr>
              <a:t>maps into all the cache lines in a specific set, so that main memory block </a:t>
            </a:r>
            <a:r>
              <a:rPr kumimoji="1" lang="en-US" sz="1200" b="0" i="1" kern="1200" baseline="0" dirty="0">
                <a:solidFill>
                  <a:schemeClr val="tx1"/>
                </a:solidFill>
                <a:latin typeface="Times New Roman" pitchFamily="33" charset="0"/>
                <a:ea typeface="+mn-ea"/>
                <a:cs typeface="+mn-cs"/>
              </a:rPr>
              <a:t>B</a:t>
            </a:r>
            <a:r>
              <a:rPr kumimoji="1" lang="en-US" sz="1200" kern="1200" baseline="-25000" dirty="0">
                <a:solidFill>
                  <a:schemeClr val="tx1"/>
                </a:solidFill>
                <a:latin typeface="Times New Roman" pitchFamily="33" charset="0"/>
                <a:ea typeface="+mn-ea"/>
                <a:cs typeface="+mn-cs"/>
              </a:rPr>
              <a:t>0</a:t>
            </a:r>
            <a:r>
              <a:rPr kumimoji="1" lang="en-US" sz="1200" kern="1200" baseline="0" dirty="0">
                <a:solidFill>
                  <a:schemeClr val="tx1"/>
                </a:solidFill>
                <a:latin typeface="Times New Roman" pitchFamily="33" charset="0"/>
                <a:ea typeface="+mn-ea"/>
                <a:cs typeface="+mn-cs"/>
              </a:rPr>
              <a:t> maps</a:t>
            </a:r>
          </a:p>
          <a:p>
            <a:r>
              <a:rPr kumimoji="1" lang="en-US" sz="1200" kern="1200" baseline="0" dirty="0">
                <a:solidFill>
                  <a:schemeClr val="tx1"/>
                </a:solidFill>
                <a:latin typeface="Times New Roman" pitchFamily="33" charset="0"/>
                <a:ea typeface="+mn-ea"/>
                <a:cs typeface="+mn-cs"/>
              </a:rPr>
              <a:t>into set 0, and so on. Thus, the set-associative cache can be physically implemented</a:t>
            </a:r>
          </a:p>
          <a:p>
            <a:r>
              <a:rPr kumimoji="1" lang="en-US" sz="1200" kern="1200" baseline="0" dirty="0">
                <a:solidFill>
                  <a:schemeClr val="tx1"/>
                </a:solidFill>
                <a:latin typeface="Times New Roman" pitchFamily="33" charset="0"/>
                <a:ea typeface="+mn-ea"/>
                <a:cs typeface="+mn-cs"/>
              </a:rPr>
              <a:t>as n associative caches. It is also possible to implement the set-associative cache as</a:t>
            </a:r>
          </a:p>
          <a:p>
            <a:r>
              <a:rPr kumimoji="1" lang="en-US" sz="1200" i="1" kern="1200" baseline="0" dirty="0">
                <a:solidFill>
                  <a:schemeClr val="tx1"/>
                </a:solidFill>
                <a:latin typeface="Times New Roman" pitchFamily="33" charset="0"/>
                <a:ea typeface="+mn-ea"/>
                <a:cs typeface="+mn-cs"/>
              </a:rPr>
              <a:t>k direct mapping caches, as shown in Figure 5.12b. Each direct-mapped cache is</a:t>
            </a:r>
          </a:p>
          <a:p>
            <a:r>
              <a:rPr kumimoji="1" lang="en-US" sz="1200" kern="1200" baseline="0" dirty="0">
                <a:solidFill>
                  <a:schemeClr val="tx1"/>
                </a:solidFill>
                <a:latin typeface="Times New Roman" pitchFamily="33" charset="0"/>
                <a:ea typeface="+mn-ea"/>
                <a:cs typeface="+mn-cs"/>
              </a:rPr>
              <a:t>referred to as a </a:t>
            </a:r>
            <a:r>
              <a:rPr kumimoji="1" lang="en-US" sz="1200" i="1" kern="1200" baseline="0" dirty="0">
                <a:solidFill>
                  <a:schemeClr val="tx1"/>
                </a:solidFill>
                <a:latin typeface="Times New Roman" pitchFamily="33" charset="0"/>
                <a:ea typeface="+mn-ea"/>
                <a:cs typeface="+mn-cs"/>
              </a:rPr>
              <a:t>way, consisting of v lines. The first v lines of main memory are direct</a:t>
            </a:r>
          </a:p>
          <a:p>
            <a:r>
              <a:rPr kumimoji="1" lang="en-US" sz="1200" kern="1200" baseline="0" dirty="0">
                <a:solidFill>
                  <a:schemeClr val="tx1"/>
                </a:solidFill>
                <a:latin typeface="Times New Roman" pitchFamily="33" charset="0"/>
                <a:ea typeface="+mn-ea"/>
                <a:cs typeface="+mn-cs"/>
              </a:rPr>
              <a:t>mapped into the v lines of each way; the next group of v lines of main memory are</a:t>
            </a:r>
          </a:p>
          <a:p>
            <a:r>
              <a:rPr kumimoji="1" lang="en-US" sz="1200" kern="1200" baseline="0" dirty="0">
                <a:solidFill>
                  <a:schemeClr val="tx1"/>
                </a:solidFill>
                <a:latin typeface="Times New Roman" pitchFamily="33" charset="0"/>
                <a:ea typeface="+mn-ea"/>
                <a:cs typeface="+mn-cs"/>
              </a:rPr>
              <a:t>similarly mapped, and so on. The direct-mapped implementation is typically used</a:t>
            </a:r>
          </a:p>
          <a:p>
            <a:r>
              <a:rPr kumimoji="1" lang="en-US" sz="1200" kern="1200" baseline="0" dirty="0">
                <a:solidFill>
                  <a:schemeClr val="tx1"/>
                </a:solidFill>
                <a:latin typeface="Times New Roman" pitchFamily="33" charset="0"/>
                <a:ea typeface="+mn-ea"/>
                <a:cs typeface="+mn-cs"/>
              </a:rPr>
              <a:t>for small degrees of associativity (small values of </a:t>
            </a:r>
            <a:r>
              <a:rPr kumimoji="1" lang="en-US" sz="1200" i="1" kern="1200" baseline="0" dirty="0">
                <a:solidFill>
                  <a:schemeClr val="tx1"/>
                </a:solidFill>
                <a:latin typeface="Times New Roman" pitchFamily="33" charset="0"/>
                <a:ea typeface="+mn-ea"/>
                <a:cs typeface="+mn-cs"/>
              </a:rPr>
              <a:t>k) while the associative-mapped</a:t>
            </a:r>
          </a:p>
          <a:p>
            <a:r>
              <a:rPr kumimoji="1" lang="en-US" sz="1200" kern="1200" baseline="0" dirty="0">
                <a:solidFill>
                  <a:schemeClr val="tx1"/>
                </a:solidFill>
                <a:latin typeface="Times New Roman" pitchFamily="33" charset="0"/>
                <a:ea typeface="+mn-ea"/>
                <a:cs typeface="+mn-cs"/>
              </a:rPr>
              <a:t>implementation is typically used for higher degrees of associativity [JACO08].</a:t>
            </a:r>
            <a:endParaRPr lang="en-US" dirty="0"/>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33</a:t>
            </a:fld>
            <a:endParaRPr lang="en-US" dirty="0"/>
          </a:p>
        </p:txBody>
      </p:sp>
    </p:spTree>
    <p:extLst>
      <p:ext uri="{BB962C8B-B14F-4D97-AF65-F5344CB8AC3E}">
        <p14:creationId xmlns:p14="http://schemas.microsoft.com/office/powerpoint/2010/main" val="1764639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Figure 5.14 shows our example using set-associative</a:t>
            </a:r>
          </a:p>
          <a:p>
            <a:r>
              <a:rPr kumimoji="1" lang="en-US" sz="1200" b="0" i="0" u="none" strike="noStrike" kern="1200" baseline="0" dirty="0">
                <a:solidFill>
                  <a:schemeClr val="tx1"/>
                </a:solidFill>
                <a:latin typeface="Times New Roman" pitchFamily="33" charset="0"/>
                <a:ea typeface="+mn-ea"/>
                <a:cs typeface="+mn-cs"/>
              </a:rPr>
              <a:t>mapping with two lines in each set, referred to as two-way</a:t>
            </a:r>
          </a:p>
          <a:p>
            <a:r>
              <a:rPr kumimoji="1" lang="en-US" sz="1200" b="0" i="0" u="none" strike="noStrike" kern="1200" baseline="0" dirty="0">
                <a:solidFill>
                  <a:schemeClr val="tx1"/>
                </a:solidFill>
                <a:latin typeface="Times New Roman" pitchFamily="33" charset="0"/>
                <a:ea typeface="+mn-ea"/>
                <a:cs typeface="+mn-cs"/>
              </a:rPr>
              <a:t>set-associative. The 13-bit set number identifies</a:t>
            </a:r>
          </a:p>
          <a:p>
            <a:r>
              <a:rPr kumimoji="1" lang="en-US" sz="1200" b="0" i="0" u="none" strike="noStrike" kern="1200" baseline="0" dirty="0">
                <a:solidFill>
                  <a:schemeClr val="tx1"/>
                </a:solidFill>
                <a:latin typeface="Times New Roman" pitchFamily="33" charset="0"/>
                <a:ea typeface="+mn-ea"/>
                <a:cs typeface="+mn-cs"/>
              </a:rPr>
              <a:t>a unique set of two lines within the cache. It also gives the number of the block in</a:t>
            </a:r>
          </a:p>
          <a:p>
            <a:r>
              <a:rPr kumimoji="1" lang="en-US" sz="1200" b="0" i="0" u="none" strike="noStrike" kern="1200" baseline="0" dirty="0">
                <a:solidFill>
                  <a:schemeClr val="tx1"/>
                </a:solidFill>
                <a:latin typeface="Times New Roman" pitchFamily="33" charset="0"/>
                <a:ea typeface="+mn-ea"/>
                <a:cs typeface="+mn-cs"/>
              </a:rPr>
              <a:t>main memory, modulo 2</a:t>
            </a:r>
            <a:r>
              <a:rPr kumimoji="1" lang="en-US" sz="1200" b="0" i="0" u="none" strike="noStrike" kern="1200" baseline="30000" dirty="0">
                <a:solidFill>
                  <a:schemeClr val="tx1"/>
                </a:solidFill>
                <a:latin typeface="Times New Roman" pitchFamily="33" charset="0"/>
                <a:ea typeface="+mn-ea"/>
                <a:cs typeface="+mn-cs"/>
              </a:rPr>
              <a:t>13</a:t>
            </a:r>
            <a:r>
              <a:rPr kumimoji="1" lang="en-US" sz="1200" b="0" i="0" u="none" strike="noStrike" kern="1200" baseline="0" dirty="0">
                <a:solidFill>
                  <a:schemeClr val="tx1"/>
                </a:solidFill>
                <a:latin typeface="Times New Roman" pitchFamily="33" charset="0"/>
                <a:ea typeface="+mn-ea"/>
                <a:cs typeface="+mn-cs"/>
              </a:rPr>
              <a:t>. This determines the mapping of blocks into lines. Thus, blocks</a:t>
            </a:r>
          </a:p>
          <a:p>
            <a:r>
              <a:rPr kumimoji="1" lang="en-US" sz="1200" b="0" i="0" u="none" strike="noStrike" kern="1200" baseline="0" dirty="0">
                <a:solidFill>
                  <a:schemeClr val="tx1"/>
                </a:solidFill>
                <a:latin typeface="Times New Roman" pitchFamily="33" charset="0"/>
                <a:ea typeface="+mn-ea"/>
                <a:cs typeface="+mn-cs"/>
              </a:rPr>
              <a:t>000000, 008000, …, FF8000 of main memory map into cache set 0. Any of those blocks can</a:t>
            </a:r>
          </a:p>
          <a:p>
            <a:r>
              <a:rPr kumimoji="1" lang="en-US" sz="1200" b="0" i="0" u="none" strike="noStrike" kern="1200" baseline="0" dirty="0">
                <a:solidFill>
                  <a:schemeClr val="tx1"/>
                </a:solidFill>
                <a:latin typeface="Times New Roman" pitchFamily="33" charset="0"/>
                <a:ea typeface="+mn-ea"/>
                <a:cs typeface="+mn-cs"/>
              </a:rPr>
              <a:t>be loaded into either of the two lines in the set. Note that no two blocks that map into the</a:t>
            </a:r>
          </a:p>
          <a:p>
            <a:r>
              <a:rPr kumimoji="1" lang="en-US" sz="1200" b="0" i="0" u="none" strike="noStrike" kern="1200" baseline="0" dirty="0">
                <a:solidFill>
                  <a:schemeClr val="tx1"/>
                </a:solidFill>
                <a:latin typeface="Times New Roman" pitchFamily="33" charset="0"/>
                <a:ea typeface="+mn-ea"/>
                <a:cs typeface="+mn-cs"/>
              </a:rPr>
              <a:t>same cache set have the same tag number. For a read operation, the 13-bit set number is</a:t>
            </a:r>
          </a:p>
          <a:p>
            <a:r>
              <a:rPr kumimoji="1" lang="en-US" sz="1200" b="0" i="0" u="none" strike="noStrike" kern="1200" baseline="0" dirty="0">
                <a:solidFill>
                  <a:schemeClr val="tx1"/>
                </a:solidFill>
                <a:latin typeface="Times New Roman" pitchFamily="33" charset="0"/>
                <a:ea typeface="+mn-ea"/>
                <a:cs typeface="+mn-cs"/>
              </a:rPr>
              <a:t>used to determine which set of two lines is to be examined. Both lines in the set are examined</a:t>
            </a:r>
          </a:p>
          <a:p>
            <a:r>
              <a:rPr kumimoji="1" lang="en-US" sz="1200" b="0" i="0" u="none" strike="noStrike" kern="1200" baseline="0" dirty="0">
                <a:solidFill>
                  <a:schemeClr val="tx1"/>
                </a:solidFill>
                <a:latin typeface="Times New Roman" pitchFamily="33" charset="0"/>
                <a:ea typeface="+mn-ea"/>
                <a:cs typeface="+mn-cs"/>
              </a:rPr>
              <a:t>for a match with the tag number of the address to be accessed.</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 In the extreme case of </a:t>
            </a:r>
            <a:r>
              <a:rPr kumimoji="1" lang="en-US" sz="1200" b="0" i="1" u="none" strike="noStrike" kern="1200" baseline="0" dirty="0">
                <a:solidFill>
                  <a:schemeClr val="tx1"/>
                </a:solidFill>
                <a:latin typeface="Times New Roman" pitchFamily="33" charset="0"/>
                <a:ea typeface="+mn-ea"/>
                <a:cs typeface="+mn-cs"/>
              </a:rPr>
              <a:t>v = m , k </a:t>
            </a:r>
            <a:r>
              <a:rPr kumimoji="1" lang="en-US" sz="1200" b="0" i="0" u="none" strike="noStrike" kern="1200" baseline="0" dirty="0">
                <a:solidFill>
                  <a:schemeClr val="tx1"/>
                </a:solidFill>
                <a:latin typeface="Times New Roman" pitchFamily="33" charset="0"/>
                <a:ea typeface="+mn-ea"/>
                <a:cs typeface="+mn-cs"/>
              </a:rPr>
              <a:t>=  1, the set-associative</a:t>
            </a:r>
          </a:p>
          <a:p>
            <a:r>
              <a:rPr kumimoji="1" lang="en-US" sz="1200" b="0" i="0" u="none" strike="noStrike" kern="1200" baseline="0" dirty="0">
                <a:solidFill>
                  <a:schemeClr val="tx1"/>
                </a:solidFill>
                <a:latin typeface="Times New Roman" pitchFamily="33" charset="0"/>
                <a:ea typeface="+mn-ea"/>
                <a:cs typeface="+mn-cs"/>
              </a:rPr>
              <a:t>technique reduces to direct mapping, and for </a:t>
            </a:r>
            <a:r>
              <a:rPr kumimoji="1" lang="en-US" sz="1200" b="0" i="1" u="none" strike="noStrike" kern="1200" baseline="0" dirty="0">
                <a:solidFill>
                  <a:schemeClr val="tx1"/>
                </a:solidFill>
                <a:latin typeface="Times New Roman" pitchFamily="33" charset="0"/>
                <a:ea typeface="+mn-ea"/>
                <a:cs typeface="+mn-cs"/>
              </a:rPr>
              <a:t>v =  1, k = m </a:t>
            </a:r>
            <a:r>
              <a:rPr kumimoji="1" lang="en-US" sz="1200" b="0" i="0" u="none" strike="noStrike" kern="1200" baseline="0" dirty="0">
                <a:solidFill>
                  <a:schemeClr val="tx1"/>
                </a:solidFill>
                <a:latin typeface="Times New Roman" pitchFamily="33" charset="0"/>
                <a:ea typeface="+mn-ea"/>
                <a:cs typeface="+mn-cs"/>
              </a:rPr>
              <a:t>, it reduces to associative mapping. The use of</a:t>
            </a:r>
          </a:p>
          <a:p>
            <a:r>
              <a:rPr kumimoji="1" lang="en-US" sz="1200" b="0" i="0" u="none" strike="noStrike" kern="1200" baseline="0" dirty="0">
                <a:solidFill>
                  <a:schemeClr val="tx1"/>
                </a:solidFill>
                <a:latin typeface="Times New Roman" pitchFamily="33" charset="0"/>
                <a:ea typeface="+mn-ea"/>
                <a:cs typeface="+mn-cs"/>
              </a:rPr>
              <a:t>two lines per set </a:t>
            </a:r>
            <a:r>
              <a:rPr kumimoji="1" lang="en-US" sz="1200" b="0" i="1" u="none" strike="noStrike" kern="1200" baseline="0" dirty="0">
                <a:solidFill>
                  <a:schemeClr val="tx1"/>
                </a:solidFill>
                <a:latin typeface="Times New Roman" pitchFamily="33" charset="0"/>
                <a:ea typeface="+mn-ea"/>
                <a:cs typeface="+mn-cs"/>
              </a:rPr>
              <a:t>(v = m /2, k =  2) </a:t>
            </a:r>
            <a:r>
              <a:rPr kumimoji="1" lang="en-US" sz="1200" b="0" i="0" u="none" strike="noStrike" kern="1200" baseline="0" dirty="0">
                <a:solidFill>
                  <a:schemeClr val="tx1"/>
                </a:solidFill>
                <a:latin typeface="Times New Roman" pitchFamily="33" charset="0"/>
                <a:ea typeface="+mn-ea"/>
                <a:cs typeface="+mn-cs"/>
              </a:rPr>
              <a:t>is the most common set-associative</a:t>
            </a:r>
          </a:p>
          <a:p>
            <a:r>
              <a:rPr kumimoji="1" lang="en-US" sz="1200" b="0" i="0" u="none" strike="noStrike" kern="1200" baseline="0" dirty="0">
                <a:solidFill>
                  <a:schemeClr val="tx1"/>
                </a:solidFill>
                <a:latin typeface="Times New Roman" pitchFamily="33" charset="0"/>
                <a:ea typeface="+mn-ea"/>
                <a:cs typeface="+mn-cs"/>
              </a:rPr>
              <a:t>organization. It significantly improves the hit ratio over direct mapping. Four- way set associative</a:t>
            </a:r>
          </a:p>
          <a:p>
            <a:r>
              <a:rPr kumimoji="1" lang="en-US" sz="1200" b="0" i="0" u="none" strike="noStrike" kern="1200" baseline="0" dirty="0">
                <a:solidFill>
                  <a:schemeClr val="tx1"/>
                </a:solidFill>
                <a:latin typeface="Times New Roman" pitchFamily="33" charset="0"/>
                <a:ea typeface="+mn-ea"/>
                <a:cs typeface="+mn-cs"/>
              </a:rPr>
              <a:t>(</a:t>
            </a:r>
            <a:r>
              <a:rPr kumimoji="1" lang="en-US" sz="1200" b="0" i="1" u="none" strike="noStrike" kern="1200" baseline="0" dirty="0">
                <a:solidFill>
                  <a:schemeClr val="tx1"/>
                </a:solidFill>
                <a:latin typeface="Times New Roman" pitchFamily="33" charset="0"/>
                <a:ea typeface="+mn-ea"/>
                <a:cs typeface="+mn-cs"/>
              </a:rPr>
              <a:t>v = m /4, k =  </a:t>
            </a:r>
            <a:r>
              <a:rPr kumimoji="1" lang="en-US" sz="1200" b="0" i="0" u="none" strike="noStrike" kern="1200" baseline="0" dirty="0">
                <a:solidFill>
                  <a:schemeClr val="tx1"/>
                </a:solidFill>
                <a:latin typeface="Times New Roman" pitchFamily="33" charset="0"/>
                <a:ea typeface="+mn-ea"/>
                <a:cs typeface="+mn-cs"/>
              </a:rPr>
              <a:t>4) makes a modest additional improvement for a relatively small</a:t>
            </a:r>
          </a:p>
          <a:p>
            <a:r>
              <a:rPr kumimoji="1" lang="en-US" sz="1200" b="0" i="0" u="none" strike="noStrike" kern="1200" baseline="0" dirty="0">
                <a:solidFill>
                  <a:schemeClr val="tx1"/>
                </a:solidFill>
                <a:latin typeface="Times New Roman" pitchFamily="33" charset="0"/>
                <a:ea typeface="+mn-ea"/>
                <a:cs typeface="+mn-cs"/>
              </a:rPr>
              <a:t>additional cost [MAYB84, HILL89]. Further increases in the number of lines per</a:t>
            </a:r>
          </a:p>
          <a:p>
            <a:r>
              <a:rPr kumimoji="1" lang="en-US" sz="1200" b="0" i="0" u="none" strike="noStrike" kern="1200" baseline="0" dirty="0">
                <a:solidFill>
                  <a:schemeClr val="tx1"/>
                </a:solidFill>
                <a:latin typeface="Times New Roman" pitchFamily="33" charset="0"/>
                <a:ea typeface="+mn-ea"/>
                <a:cs typeface="+mn-cs"/>
              </a:rPr>
              <a:t>set have little effect.</a:t>
            </a:r>
            <a:endParaRPr lang="en-GB" dirty="0"/>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36</a:t>
            </a:fld>
            <a:endParaRPr lang="en-US" dirty="0"/>
          </a:p>
        </p:txBody>
      </p:sp>
    </p:spTree>
    <p:extLst>
      <p:ext uri="{BB962C8B-B14F-4D97-AF65-F5344CB8AC3E}">
        <p14:creationId xmlns:p14="http://schemas.microsoft.com/office/powerpoint/2010/main" val="12426415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512C-BC48-1B4B-9FAC-44397A96517A}" type="slidenum">
              <a:rPr lang="en-US"/>
              <a:pPr/>
              <a:t>37</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Once the cache has been filled, when a new block is brought into the cache, one</a:t>
            </a:r>
          </a:p>
          <a:p>
            <a:r>
              <a:rPr kumimoji="1" lang="en-US" sz="1200" kern="1200" baseline="0" dirty="0">
                <a:solidFill>
                  <a:schemeClr val="tx1"/>
                </a:solidFill>
                <a:latin typeface="Times New Roman" pitchFamily="33" charset="0"/>
                <a:ea typeface="+mn-ea"/>
                <a:cs typeface="+mn-cs"/>
              </a:rPr>
              <a:t>of the existing blocks must be replaced. For direct mapping, there is only one possible</a:t>
            </a:r>
          </a:p>
          <a:p>
            <a:r>
              <a:rPr kumimoji="1" lang="en-US" sz="1200" kern="1200" baseline="0" dirty="0">
                <a:solidFill>
                  <a:schemeClr val="tx1"/>
                </a:solidFill>
                <a:latin typeface="Times New Roman" pitchFamily="33" charset="0"/>
                <a:ea typeface="+mn-ea"/>
                <a:cs typeface="+mn-cs"/>
              </a:rPr>
              <a:t>line for any particular block, and no choice is possible. For the associative</a:t>
            </a:r>
          </a:p>
          <a:p>
            <a:r>
              <a:rPr kumimoji="1" lang="en-US" sz="1200" kern="1200" baseline="0" dirty="0">
                <a:solidFill>
                  <a:schemeClr val="tx1"/>
                </a:solidFill>
                <a:latin typeface="Times New Roman" pitchFamily="33" charset="0"/>
                <a:ea typeface="+mn-ea"/>
                <a:cs typeface="+mn-cs"/>
              </a:rPr>
              <a:t>and set-associative techniques, a replacement algorithm is needed. To achieve high</a:t>
            </a:r>
          </a:p>
          <a:p>
            <a:r>
              <a:rPr kumimoji="1" lang="en-US" sz="1200" kern="1200" baseline="0" dirty="0">
                <a:solidFill>
                  <a:schemeClr val="tx1"/>
                </a:solidFill>
                <a:latin typeface="Times New Roman" pitchFamily="33" charset="0"/>
                <a:ea typeface="+mn-ea"/>
                <a:cs typeface="+mn-cs"/>
              </a:rPr>
              <a:t>speed, such an algorithm must be implemented in hardware.</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915C-4E85-6F4A-A796-981EBB0906D6}" type="slidenum">
              <a:rPr lang="en-US"/>
              <a:pPr/>
              <a:t>38</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 number of algorithms</a:t>
            </a:r>
          </a:p>
          <a:p>
            <a:r>
              <a:rPr kumimoji="1" lang="en-US" sz="1200" kern="1200" baseline="0" dirty="0">
                <a:solidFill>
                  <a:schemeClr val="tx1"/>
                </a:solidFill>
                <a:latin typeface="Times New Roman" pitchFamily="33" charset="0"/>
                <a:ea typeface="+mn-ea"/>
                <a:cs typeface="+mn-cs"/>
              </a:rPr>
              <a:t>have been tried. We mention four of the most common. Probably the most</a:t>
            </a:r>
          </a:p>
          <a:p>
            <a:r>
              <a:rPr kumimoji="1" lang="en-US" sz="1200" kern="1200" baseline="0" dirty="0">
                <a:solidFill>
                  <a:schemeClr val="tx1"/>
                </a:solidFill>
                <a:latin typeface="Times New Roman" pitchFamily="33" charset="0"/>
                <a:ea typeface="+mn-ea"/>
                <a:cs typeface="+mn-cs"/>
              </a:rPr>
              <a:t>effective is </a:t>
            </a:r>
            <a:r>
              <a:rPr kumimoji="1" lang="en-US" sz="1200" b="1" kern="1200" baseline="0" dirty="0">
                <a:solidFill>
                  <a:schemeClr val="tx1"/>
                </a:solidFill>
                <a:latin typeface="Times New Roman" pitchFamily="33" charset="0"/>
                <a:ea typeface="+mn-ea"/>
                <a:cs typeface="+mn-cs"/>
              </a:rPr>
              <a:t>least recently used (LRU): </a:t>
            </a:r>
            <a:r>
              <a:rPr kumimoji="1" lang="en-US" sz="1200" kern="1200" baseline="0" dirty="0">
                <a:solidFill>
                  <a:schemeClr val="tx1"/>
                </a:solidFill>
                <a:latin typeface="Times New Roman" pitchFamily="33" charset="0"/>
                <a:ea typeface="+mn-ea"/>
                <a:cs typeface="+mn-cs"/>
              </a:rPr>
              <a:t>Replace that block in the set that has been in</a:t>
            </a:r>
          </a:p>
          <a:p>
            <a:r>
              <a:rPr kumimoji="1" lang="en-US" sz="1200" kern="1200" baseline="0" dirty="0">
                <a:solidFill>
                  <a:schemeClr val="tx1"/>
                </a:solidFill>
                <a:latin typeface="Times New Roman" pitchFamily="33" charset="0"/>
                <a:ea typeface="+mn-ea"/>
                <a:cs typeface="+mn-cs"/>
              </a:rPr>
              <a:t>the cache longest with no reference to it. For two-way set associative, this is easily</a:t>
            </a:r>
          </a:p>
          <a:p>
            <a:r>
              <a:rPr kumimoji="1" lang="en-US" sz="1200" kern="1200" baseline="0" dirty="0">
                <a:solidFill>
                  <a:schemeClr val="tx1"/>
                </a:solidFill>
                <a:latin typeface="Times New Roman" pitchFamily="33" charset="0"/>
                <a:ea typeface="+mn-ea"/>
                <a:cs typeface="+mn-cs"/>
              </a:rPr>
              <a:t>implemented. Each line includes a USE bit. When a line is referenced, its USE bit</a:t>
            </a:r>
          </a:p>
          <a:p>
            <a:r>
              <a:rPr kumimoji="1" lang="en-US" sz="1200" kern="1200" baseline="0" dirty="0">
                <a:solidFill>
                  <a:schemeClr val="tx1"/>
                </a:solidFill>
                <a:latin typeface="Times New Roman" pitchFamily="33" charset="0"/>
                <a:ea typeface="+mn-ea"/>
                <a:cs typeface="+mn-cs"/>
              </a:rPr>
              <a:t>is set to 1 and the USE bit of the other line in that set is set to 0. When a block is to</a:t>
            </a:r>
          </a:p>
          <a:p>
            <a:r>
              <a:rPr kumimoji="1" lang="en-US" sz="1200" kern="1200" baseline="0" dirty="0">
                <a:solidFill>
                  <a:schemeClr val="tx1"/>
                </a:solidFill>
                <a:latin typeface="Times New Roman" pitchFamily="33" charset="0"/>
                <a:ea typeface="+mn-ea"/>
                <a:cs typeface="+mn-cs"/>
              </a:rPr>
              <a:t>be read into the set, the line whose USE bit is 0 is used. Because we are assuming</a:t>
            </a:r>
          </a:p>
          <a:p>
            <a:r>
              <a:rPr kumimoji="1" lang="en-US" sz="1200" kern="1200" baseline="0" dirty="0">
                <a:solidFill>
                  <a:schemeClr val="tx1"/>
                </a:solidFill>
                <a:latin typeface="Times New Roman" pitchFamily="33" charset="0"/>
                <a:ea typeface="+mn-ea"/>
                <a:cs typeface="+mn-cs"/>
              </a:rPr>
              <a:t>that more recently used memory locations are more likely to be referenced, LRU</a:t>
            </a:r>
          </a:p>
          <a:p>
            <a:r>
              <a:rPr kumimoji="1" lang="en-US" sz="1200" kern="1200" baseline="0" dirty="0">
                <a:solidFill>
                  <a:schemeClr val="tx1"/>
                </a:solidFill>
                <a:latin typeface="Times New Roman" pitchFamily="33" charset="0"/>
                <a:ea typeface="+mn-ea"/>
                <a:cs typeface="+mn-cs"/>
              </a:rPr>
              <a:t>should give the best hit ratio. LRU is also relatively easy to implement for a fully</a:t>
            </a:r>
          </a:p>
          <a:p>
            <a:r>
              <a:rPr kumimoji="1" lang="en-US" sz="1200" kern="1200" baseline="0" dirty="0">
                <a:solidFill>
                  <a:schemeClr val="tx1"/>
                </a:solidFill>
                <a:latin typeface="Times New Roman" pitchFamily="33" charset="0"/>
                <a:ea typeface="+mn-ea"/>
                <a:cs typeface="+mn-cs"/>
              </a:rPr>
              <a:t>associative cache. The cache mechanism maintains a separate list of indexes to all</a:t>
            </a:r>
          </a:p>
          <a:p>
            <a:r>
              <a:rPr kumimoji="1" lang="en-US" sz="1200" kern="1200" baseline="0" dirty="0">
                <a:solidFill>
                  <a:schemeClr val="tx1"/>
                </a:solidFill>
                <a:latin typeface="Times New Roman" pitchFamily="33" charset="0"/>
                <a:ea typeface="+mn-ea"/>
                <a:cs typeface="+mn-cs"/>
              </a:rPr>
              <a:t>the lines in the cache. When a line is referenced, it moves to the front of the list.</a:t>
            </a:r>
          </a:p>
          <a:p>
            <a:r>
              <a:rPr kumimoji="1" lang="en-US" sz="1200" kern="1200" baseline="0" dirty="0">
                <a:solidFill>
                  <a:schemeClr val="tx1"/>
                </a:solidFill>
                <a:latin typeface="Times New Roman" pitchFamily="33" charset="0"/>
                <a:ea typeface="+mn-ea"/>
                <a:cs typeface="+mn-cs"/>
              </a:rPr>
              <a:t>For replacement, the line at the back of the list is used. Because of its simplicity of</a:t>
            </a:r>
          </a:p>
          <a:p>
            <a:r>
              <a:rPr kumimoji="1" lang="en-US" sz="1200" kern="1200" baseline="0" dirty="0">
                <a:solidFill>
                  <a:schemeClr val="tx1"/>
                </a:solidFill>
                <a:latin typeface="Times New Roman" pitchFamily="33" charset="0"/>
                <a:ea typeface="+mn-ea"/>
                <a:cs typeface="+mn-cs"/>
              </a:rPr>
              <a:t>implementation, LRU is the most popular replacement algorithm.</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Another possibility is first-in-first-out (FIFO): Replace that block in the set</a:t>
            </a:r>
          </a:p>
          <a:p>
            <a:r>
              <a:rPr kumimoji="1" lang="en-US" sz="1200" kern="1200" baseline="0" dirty="0">
                <a:solidFill>
                  <a:schemeClr val="tx1"/>
                </a:solidFill>
                <a:latin typeface="Times New Roman" pitchFamily="33" charset="0"/>
                <a:ea typeface="+mn-ea"/>
                <a:cs typeface="+mn-cs"/>
              </a:rPr>
              <a:t>that has been in the cache longest. FIFO is easily implemented as a round-robin</a:t>
            </a:r>
          </a:p>
          <a:p>
            <a:r>
              <a:rPr kumimoji="1" lang="en-US" sz="1200" kern="1200" baseline="0" dirty="0">
                <a:solidFill>
                  <a:schemeClr val="tx1"/>
                </a:solidFill>
                <a:latin typeface="Times New Roman" pitchFamily="33" charset="0"/>
                <a:ea typeface="+mn-ea"/>
                <a:cs typeface="+mn-cs"/>
              </a:rPr>
              <a:t>or circular buffer technique. Still another possibility is least frequently used (LFU):</a:t>
            </a:r>
          </a:p>
          <a:p>
            <a:r>
              <a:rPr kumimoji="1" lang="en-US" sz="1200" kern="1200" baseline="0" dirty="0">
                <a:solidFill>
                  <a:schemeClr val="tx1"/>
                </a:solidFill>
                <a:latin typeface="Times New Roman" pitchFamily="33" charset="0"/>
                <a:ea typeface="+mn-ea"/>
                <a:cs typeface="+mn-cs"/>
              </a:rPr>
              <a:t>Replace that block in the set that has experienced the fewest references. LFU could</a:t>
            </a:r>
          </a:p>
          <a:p>
            <a:r>
              <a:rPr kumimoji="1" lang="en-US" sz="1200" kern="1200" baseline="0" dirty="0">
                <a:solidFill>
                  <a:schemeClr val="tx1"/>
                </a:solidFill>
                <a:latin typeface="Times New Roman" pitchFamily="33" charset="0"/>
                <a:ea typeface="+mn-ea"/>
                <a:cs typeface="+mn-cs"/>
              </a:rPr>
              <a:t>be implemented by associating a counter with each line. A technique not based on</a:t>
            </a:r>
          </a:p>
          <a:p>
            <a:r>
              <a:rPr kumimoji="1" lang="en-US" sz="1200" kern="1200" baseline="0" dirty="0">
                <a:solidFill>
                  <a:schemeClr val="tx1"/>
                </a:solidFill>
                <a:latin typeface="Times New Roman" pitchFamily="33" charset="0"/>
                <a:ea typeface="+mn-ea"/>
                <a:cs typeface="+mn-cs"/>
              </a:rPr>
              <a:t>usage (i.e., not LRU, LFU, FIFO, or some variant) is to pick a line at random from</a:t>
            </a:r>
          </a:p>
          <a:p>
            <a:r>
              <a:rPr kumimoji="1" lang="en-US" sz="1200" kern="1200" baseline="0" dirty="0">
                <a:solidFill>
                  <a:schemeClr val="tx1"/>
                </a:solidFill>
                <a:latin typeface="Times New Roman" pitchFamily="33" charset="0"/>
                <a:ea typeface="+mn-ea"/>
                <a:cs typeface="+mn-cs"/>
              </a:rPr>
              <a:t>among the candidate lines. Simulation studies have shown that random replacement</a:t>
            </a:r>
          </a:p>
          <a:p>
            <a:r>
              <a:rPr kumimoji="1" lang="en-US" sz="1200" kern="1200" baseline="0" dirty="0">
                <a:solidFill>
                  <a:schemeClr val="tx1"/>
                </a:solidFill>
                <a:latin typeface="Times New Roman" pitchFamily="33" charset="0"/>
                <a:ea typeface="+mn-ea"/>
                <a:cs typeface="+mn-cs"/>
              </a:rPr>
              <a:t>provides only slightly inferior performance to an algorithm based on usage [SMIT82].</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AAB-E649-2647-90BA-BB247BE57160}" type="slidenum">
              <a:rPr lang="en-US"/>
              <a:pPr/>
              <a:t>39</a:t>
            </a:fld>
            <a:endParaRPr lang="en-US" dirty="0"/>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When a block that is resident in the cache is to be replaced, there are two cases to</a:t>
            </a:r>
          </a:p>
          <a:p>
            <a:r>
              <a:rPr kumimoji="1" lang="en-US" sz="1200" kern="1200" baseline="0" dirty="0">
                <a:solidFill>
                  <a:schemeClr val="tx1"/>
                </a:solidFill>
                <a:latin typeface="Times New Roman" pitchFamily="33" charset="0"/>
                <a:ea typeface="+mn-ea"/>
                <a:cs typeface="+mn-cs"/>
              </a:rPr>
              <a:t>consider. If the old block in the cache has not been altered, then it may be overwritten</a:t>
            </a:r>
          </a:p>
          <a:p>
            <a:r>
              <a:rPr kumimoji="1" lang="en-US" sz="1200" kern="1200" baseline="0" dirty="0">
                <a:solidFill>
                  <a:schemeClr val="tx1"/>
                </a:solidFill>
                <a:latin typeface="Times New Roman" pitchFamily="33" charset="0"/>
                <a:ea typeface="+mn-ea"/>
                <a:cs typeface="+mn-cs"/>
              </a:rPr>
              <a:t>with a new block without first writing out the old block. If at least one write</a:t>
            </a:r>
          </a:p>
          <a:p>
            <a:r>
              <a:rPr kumimoji="1" lang="en-US" sz="1200" kern="1200" baseline="0" dirty="0">
                <a:solidFill>
                  <a:schemeClr val="tx1"/>
                </a:solidFill>
                <a:latin typeface="Times New Roman" pitchFamily="33" charset="0"/>
                <a:ea typeface="+mn-ea"/>
                <a:cs typeface="+mn-cs"/>
              </a:rPr>
              <a:t>operation has been performed on a word in that line of the cache, then main memory</a:t>
            </a:r>
          </a:p>
          <a:p>
            <a:r>
              <a:rPr kumimoji="1" lang="en-US" sz="1200" kern="1200" baseline="0" dirty="0">
                <a:solidFill>
                  <a:schemeClr val="tx1"/>
                </a:solidFill>
                <a:latin typeface="Times New Roman" pitchFamily="33" charset="0"/>
                <a:ea typeface="+mn-ea"/>
                <a:cs typeface="+mn-cs"/>
              </a:rPr>
              <a:t>must be updated by writing the line of cache out to the block of memory before</a:t>
            </a:r>
          </a:p>
          <a:p>
            <a:r>
              <a:rPr kumimoji="1" lang="en-US" sz="1200" kern="1200" baseline="0" dirty="0">
                <a:solidFill>
                  <a:schemeClr val="tx1"/>
                </a:solidFill>
                <a:latin typeface="Times New Roman" pitchFamily="33" charset="0"/>
                <a:ea typeface="+mn-ea"/>
                <a:cs typeface="+mn-cs"/>
              </a:rPr>
              <a:t>bringing in the new block. A variety of write policies, with performance and economic</a:t>
            </a:r>
          </a:p>
          <a:p>
            <a:r>
              <a:rPr kumimoji="1" lang="en-US" sz="1200" kern="1200" baseline="0" dirty="0">
                <a:solidFill>
                  <a:schemeClr val="tx1"/>
                </a:solidFill>
                <a:latin typeface="Times New Roman" pitchFamily="33" charset="0"/>
                <a:ea typeface="+mn-ea"/>
                <a:cs typeface="+mn-cs"/>
              </a:rPr>
              <a:t>trade-offs, is possible. There are two problems to contend with. First, more</a:t>
            </a:r>
          </a:p>
          <a:p>
            <a:r>
              <a:rPr kumimoji="1" lang="en-US" sz="1200" kern="1200" baseline="0" dirty="0">
                <a:solidFill>
                  <a:schemeClr val="tx1"/>
                </a:solidFill>
                <a:latin typeface="Times New Roman" pitchFamily="33" charset="0"/>
                <a:ea typeface="+mn-ea"/>
                <a:cs typeface="+mn-cs"/>
              </a:rPr>
              <a:t>than one device may have access to main memory. For example, an I/O module</a:t>
            </a:r>
          </a:p>
          <a:p>
            <a:r>
              <a:rPr kumimoji="1" lang="en-US" sz="1200" kern="1200" baseline="0" dirty="0">
                <a:solidFill>
                  <a:schemeClr val="tx1"/>
                </a:solidFill>
                <a:latin typeface="Times New Roman" pitchFamily="33" charset="0"/>
                <a:ea typeface="+mn-ea"/>
                <a:cs typeface="+mn-cs"/>
              </a:rPr>
              <a:t>may be able to read-write directly to memory. If a word has been altered only in the</a:t>
            </a:r>
          </a:p>
          <a:p>
            <a:r>
              <a:rPr kumimoji="1" lang="en-US" sz="1200" kern="1200" baseline="0" dirty="0">
                <a:solidFill>
                  <a:schemeClr val="tx1"/>
                </a:solidFill>
                <a:latin typeface="Times New Roman" pitchFamily="33" charset="0"/>
                <a:ea typeface="+mn-ea"/>
                <a:cs typeface="+mn-cs"/>
              </a:rPr>
              <a:t>cache, then the corresponding memory word is invalid. Further, if the I/O device</a:t>
            </a:r>
          </a:p>
          <a:p>
            <a:r>
              <a:rPr kumimoji="1" lang="en-US" sz="1200" kern="1200" baseline="0" dirty="0">
                <a:solidFill>
                  <a:schemeClr val="tx1"/>
                </a:solidFill>
                <a:latin typeface="Times New Roman" pitchFamily="33" charset="0"/>
                <a:ea typeface="+mn-ea"/>
                <a:cs typeface="+mn-cs"/>
              </a:rPr>
              <a:t>has altered main memory, then the cache word is invalid. A more complex problem</a:t>
            </a:r>
          </a:p>
          <a:p>
            <a:r>
              <a:rPr kumimoji="1" lang="en-US" sz="1200" kern="1200" baseline="0" dirty="0">
                <a:solidFill>
                  <a:schemeClr val="tx1"/>
                </a:solidFill>
                <a:latin typeface="Times New Roman" pitchFamily="33" charset="0"/>
                <a:ea typeface="+mn-ea"/>
                <a:cs typeface="+mn-cs"/>
              </a:rPr>
              <a:t>occurs when multiple processors are attached to the same bus and each processor</a:t>
            </a:r>
          </a:p>
          <a:p>
            <a:r>
              <a:rPr kumimoji="1" lang="en-US" sz="1200" kern="1200" baseline="0" dirty="0">
                <a:solidFill>
                  <a:schemeClr val="tx1"/>
                </a:solidFill>
                <a:latin typeface="Times New Roman" pitchFamily="33" charset="0"/>
                <a:ea typeface="+mn-ea"/>
                <a:cs typeface="+mn-cs"/>
              </a:rPr>
              <a:t>has its own local cache. Then, if a word is altered in one cache, it could conceivably</a:t>
            </a:r>
          </a:p>
          <a:p>
            <a:r>
              <a:rPr kumimoji="1" lang="en-US" sz="1200" kern="1200" baseline="0" dirty="0">
                <a:solidFill>
                  <a:schemeClr val="tx1"/>
                </a:solidFill>
                <a:latin typeface="Times New Roman" pitchFamily="33" charset="0"/>
                <a:ea typeface="+mn-ea"/>
                <a:cs typeface="+mn-cs"/>
              </a:rPr>
              <a:t>invalidate a word in other caches.</a:t>
            </a:r>
          </a:p>
          <a:p>
            <a:endParaRPr kumimoji="1" lang="en-US" sz="1200" kern="1200" baseline="0" dirty="0">
              <a:solidFill>
                <a:schemeClr val="tx1"/>
              </a:solidFill>
              <a:latin typeface="Times New Roman" pitchFamily="33" charset="0"/>
              <a:ea typeface="+mn-ea"/>
              <a:cs typeface="+mn-cs"/>
            </a:endParaRPr>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076AE-07C9-824F-A07D-E9CD3919EDB8}" type="slidenum">
              <a:rPr lang="en-US"/>
              <a:pPr/>
              <a:t>40</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simplest technique is called </a:t>
            </a:r>
            <a:r>
              <a:rPr kumimoji="1" lang="en-US" sz="1200" b="1" kern="1200" baseline="0" dirty="0">
                <a:solidFill>
                  <a:schemeClr val="tx1"/>
                </a:solidFill>
                <a:latin typeface="Times New Roman" pitchFamily="33" charset="0"/>
                <a:ea typeface="+mn-ea"/>
                <a:cs typeface="+mn-cs"/>
              </a:rPr>
              <a:t>write through. </a:t>
            </a:r>
            <a:r>
              <a:rPr kumimoji="1" lang="en-US" sz="1200" b="0" kern="1200" baseline="0" dirty="0">
                <a:solidFill>
                  <a:schemeClr val="tx1"/>
                </a:solidFill>
                <a:latin typeface="Times New Roman" pitchFamily="33" charset="0"/>
                <a:ea typeface="+mn-ea"/>
                <a:cs typeface="+mn-cs"/>
              </a:rPr>
              <a:t>Using this technique, all write</a:t>
            </a:r>
          </a:p>
          <a:p>
            <a:r>
              <a:rPr kumimoji="1" lang="en-US" sz="1200" kern="1200" baseline="0" dirty="0">
                <a:solidFill>
                  <a:schemeClr val="tx1"/>
                </a:solidFill>
                <a:latin typeface="Times New Roman" pitchFamily="33" charset="0"/>
                <a:ea typeface="+mn-ea"/>
                <a:cs typeface="+mn-cs"/>
              </a:rPr>
              <a:t>operations are made to main memory as well as to the cache, ensuring that main</a:t>
            </a:r>
          </a:p>
          <a:p>
            <a:r>
              <a:rPr kumimoji="1" lang="en-US" sz="1200" kern="1200" baseline="0" dirty="0">
                <a:solidFill>
                  <a:schemeClr val="tx1"/>
                </a:solidFill>
                <a:latin typeface="Times New Roman" pitchFamily="33" charset="0"/>
                <a:ea typeface="+mn-ea"/>
                <a:cs typeface="+mn-cs"/>
              </a:rPr>
              <a:t>memory is always valid. Any other processor–cache module can monitor traffic to</a:t>
            </a:r>
          </a:p>
          <a:p>
            <a:r>
              <a:rPr kumimoji="1" lang="en-US" sz="1200" kern="1200" baseline="0" dirty="0">
                <a:solidFill>
                  <a:schemeClr val="tx1"/>
                </a:solidFill>
                <a:latin typeface="Times New Roman" pitchFamily="33" charset="0"/>
                <a:ea typeface="+mn-ea"/>
                <a:cs typeface="+mn-cs"/>
              </a:rPr>
              <a:t>main memory to maintain consistency within its own cache. The main disadvantage</a:t>
            </a:r>
          </a:p>
          <a:p>
            <a:r>
              <a:rPr kumimoji="1" lang="en-US" sz="1200" kern="1200" baseline="0" dirty="0">
                <a:solidFill>
                  <a:schemeClr val="tx1"/>
                </a:solidFill>
                <a:latin typeface="Times New Roman" pitchFamily="33" charset="0"/>
                <a:ea typeface="+mn-ea"/>
                <a:cs typeface="+mn-cs"/>
              </a:rPr>
              <a:t>of this technique is that it generates substantial memory traffic and may create a bottleneck.</a:t>
            </a:r>
          </a:p>
          <a:p>
            <a:r>
              <a:rPr kumimoji="1" lang="en-US" sz="1200" kern="1200" baseline="0" dirty="0">
                <a:solidFill>
                  <a:schemeClr val="tx1"/>
                </a:solidFill>
                <a:latin typeface="Times New Roman" pitchFamily="33" charset="0"/>
                <a:ea typeface="+mn-ea"/>
                <a:cs typeface="+mn-cs"/>
              </a:rPr>
              <a:t>An alternative technique, known as </a:t>
            </a:r>
            <a:r>
              <a:rPr kumimoji="1" lang="en-US" sz="1200" b="1" kern="1200" baseline="0" dirty="0">
                <a:solidFill>
                  <a:schemeClr val="tx1"/>
                </a:solidFill>
                <a:latin typeface="Times New Roman" pitchFamily="33" charset="0"/>
                <a:ea typeface="+mn-ea"/>
                <a:cs typeface="+mn-cs"/>
              </a:rPr>
              <a:t>write back, </a:t>
            </a:r>
            <a:r>
              <a:rPr kumimoji="1" lang="en-US" sz="1200" b="0" kern="1200" baseline="0" dirty="0">
                <a:solidFill>
                  <a:schemeClr val="tx1"/>
                </a:solidFill>
                <a:latin typeface="Times New Roman" pitchFamily="33" charset="0"/>
                <a:ea typeface="+mn-ea"/>
                <a:cs typeface="+mn-cs"/>
              </a:rPr>
              <a:t>minimizes memory writes.</a:t>
            </a:r>
          </a:p>
          <a:p>
            <a:r>
              <a:rPr kumimoji="1" lang="en-US" sz="1200" kern="1200" baseline="0" dirty="0">
                <a:solidFill>
                  <a:schemeClr val="tx1"/>
                </a:solidFill>
                <a:latin typeface="Times New Roman" pitchFamily="33" charset="0"/>
                <a:ea typeface="+mn-ea"/>
                <a:cs typeface="+mn-cs"/>
              </a:rPr>
              <a:t>With write back, updates are made only in the cache. When an update occurs, a</a:t>
            </a:r>
          </a:p>
          <a:p>
            <a:r>
              <a:rPr kumimoji="1" lang="en-US" sz="1200" b="1" kern="1200" baseline="0" dirty="0">
                <a:solidFill>
                  <a:schemeClr val="tx1"/>
                </a:solidFill>
                <a:latin typeface="Times New Roman" pitchFamily="33" charset="0"/>
                <a:ea typeface="+mn-ea"/>
                <a:cs typeface="+mn-cs"/>
              </a:rPr>
              <a:t>dirty bit, </a:t>
            </a:r>
            <a:r>
              <a:rPr kumimoji="1" lang="en-US" sz="1200" b="0" kern="1200" baseline="0" dirty="0">
                <a:solidFill>
                  <a:schemeClr val="tx1"/>
                </a:solidFill>
                <a:latin typeface="Times New Roman" pitchFamily="33" charset="0"/>
                <a:ea typeface="+mn-ea"/>
                <a:cs typeface="+mn-cs"/>
              </a:rPr>
              <a:t>or </a:t>
            </a:r>
            <a:r>
              <a:rPr kumimoji="1" lang="en-US" sz="1200" b="1" kern="1200" baseline="0" dirty="0">
                <a:solidFill>
                  <a:schemeClr val="tx1"/>
                </a:solidFill>
                <a:latin typeface="Times New Roman" pitchFamily="33" charset="0"/>
                <a:ea typeface="+mn-ea"/>
                <a:cs typeface="+mn-cs"/>
              </a:rPr>
              <a:t>use bit</a:t>
            </a:r>
            <a:r>
              <a:rPr kumimoji="1" lang="en-US" sz="1200" b="0" kern="1200" baseline="0" dirty="0">
                <a:solidFill>
                  <a:schemeClr val="tx1"/>
                </a:solidFill>
                <a:latin typeface="Times New Roman" pitchFamily="33" charset="0"/>
                <a:ea typeface="+mn-ea"/>
                <a:cs typeface="+mn-cs"/>
              </a:rPr>
              <a:t>, associated with the line is set. Then, when a block is replaced, it</a:t>
            </a:r>
          </a:p>
          <a:p>
            <a:r>
              <a:rPr kumimoji="1" lang="en-US" sz="1200" kern="1200" baseline="0" dirty="0">
                <a:solidFill>
                  <a:schemeClr val="tx1"/>
                </a:solidFill>
                <a:latin typeface="Times New Roman" pitchFamily="33" charset="0"/>
                <a:ea typeface="+mn-ea"/>
                <a:cs typeface="+mn-cs"/>
              </a:rPr>
              <a:t>is written back to main memory if and only if the dirty bit is set. The problem with</a:t>
            </a:r>
          </a:p>
          <a:p>
            <a:r>
              <a:rPr kumimoji="1" lang="en-US" sz="1200" kern="1200" baseline="0" dirty="0">
                <a:solidFill>
                  <a:schemeClr val="tx1"/>
                </a:solidFill>
                <a:latin typeface="Times New Roman" pitchFamily="33" charset="0"/>
                <a:ea typeface="+mn-ea"/>
                <a:cs typeface="+mn-cs"/>
              </a:rPr>
              <a:t>write back is that portions of main memory are invalid, and hence accesses by I/O</a:t>
            </a:r>
          </a:p>
          <a:p>
            <a:r>
              <a:rPr kumimoji="1" lang="en-US" sz="1200" kern="1200" baseline="0" dirty="0">
                <a:solidFill>
                  <a:schemeClr val="tx1"/>
                </a:solidFill>
                <a:latin typeface="Times New Roman" pitchFamily="33" charset="0"/>
                <a:ea typeface="+mn-ea"/>
                <a:cs typeface="+mn-cs"/>
              </a:rPr>
              <a:t>modules can be allowed only through the cache. This makes for complex circuitry</a:t>
            </a:r>
          </a:p>
          <a:p>
            <a:r>
              <a:rPr kumimoji="1" lang="en-US" sz="1200" kern="1200" baseline="0" dirty="0">
                <a:solidFill>
                  <a:schemeClr val="tx1"/>
                </a:solidFill>
                <a:latin typeface="Times New Roman" pitchFamily="33" charset="0"/>
                <a:ea typeface="+mn-ea"/>
                <a:cs typeface="+mn-cs"/>
              </a:rPr>
              <a:t>and a potential bottleneck. Experience has shown that the percentage of memory</a:t>
            </a:r>
          </a:p>
          <a:p>
            <a:r>
              <a:rPr kumimoji="1" lang="en-US" sz="1200" kern="1200" baseline="0" dirty="0">
                <a:solidFill>
                  <a:schemeClr val="tx1"/>
                </a:solidFill>
                <a:latin typeface="Times New Roman" pitchFamily="33" charset="0"/>
                <a:ea typeface="+mn-ea"/>
                <a:cs typeface="+mn-cs"/>
              </a:rPr>
              <a:t>references that are writes is on the order of 15% [SMIT82]. However, for HPC</a:t>
            </a:r>
          </a:p>
          <a:p>
            <a:r>
              <a:rPr kumimoji="1" lang="en-US" sz="1200" kern="1200" baseline="0" dirty="0">
                <a:solidFill>
                  <a:schemeClr val="tx1"/>
                </a:solidFill>
                <a:latin typeface="Times New Roman" pitchFamily="33" charset="0"/>
                <a:ea typeface="+mn-ea"/>
                <a:cs typeface="+mn-cs"/>
              </a:rPr>
              <a:t>applications, this number may approach 33% (vector-vector multiplication) and can</a:t>
            </a:r>
          </a:p>
          <a:p>
            <a:r>
              <a:rPr kumimoji="1" lang="en-US" sz="1200" kern="1200" baseline="0" dirty="0">
                <a:solidFill>
                  <a:schemeClr val="tx1"/>
                </a:solidFill>
                <a:latin typeface="Times New Roman" pitchFamily="33" charset="0"/>
                <a:ea typeface="+mn-ea"/>
                <a:cs typeface="+mn-cs"/>
              </a:rPr>
              <a:t>go as high as 50% (matrix transposition).</a:t>
            </a:r>
          </a:p>
          <a:p>
            <a:endParaRPr kumimoji="1" lang="en-US" sz="1200" kern="1200" baseline="0" dirty="0">
              <a:solidFill>
                <a:schemeClr val="tx1"/>
              </a:solidFill>
              <a:latin typeface="Times New Roman" pitchFamily="33"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There is another dimension to the write policy when a miss occurs at a cache</a:t>
            </a:r>
          </a:p>
          <a:p>
            <a:r>
              <a:rPr kumimoji="1" lang="en-US" sz="1200" kern="1200" dirty="0">
                <a:solidFill>
                  <a:schemeClr val="tx1"/>
                </a:solidFill>
                <a:effectLst/>
                <a:latin typeface="Times New Roman" pitchFamily="33" charset="0"/>
                <a:ea typeface="+mn-ea"/>
                <a:cs typeface="+mn-cs"/>
              </a:rPr>
              <a:t>level. There are two alternatives in the event of a write miss:</a:t>
            </a:r>
          </a:p>
          <a:p>
            <a:endParaRPr kumimoji="1" lang="en-US" sz="1200" b="1" kern="1200" dirty="0">
              <a:solidFill>
                <a:schemeClr val="tx1"/>
              </a:solidFill>
              <a:effectLst/>
              <a:latin typeface="Times New Roman" pitchFamily="33" charset="0"/>
              <a:ea typeface="+mn-ea"/>
              <a:cs typeface="+mn-cs"/>
            </a:endParaRPr>
          </a:p>
          <a:p>
            <a:r>
              <a:rPr kumimoji="1" lang="en-US" sz="1200" b="1" kern="1200" dirty="0">
                <a:solidFill>
                  <a:schemeClr val="tx1"/>
                </a:solidFill>
                <a:effectLst/>
                <a:latin typeface="Times New Roman" pitchFamily="33" charset="0"/>
                <a:ea typeface="+mn-ea"/>
                <a:cs typeface="+mn-cs"/>
              </a:rPr>
              <a:t>■ Write Allocate:</a:t>
            </a:r>
            <a:r>
              <a:rPr kumimoji="1" lang="en-US" sz="1200" kern="1200" dirty="0">
                <a:solidFill>
                  <a:schemeClr val="tx1"/>
                </a:solidFill>
                <a:effectLst/>
                <a:latin typeface="Times New Roman" pitchFamily="33" charset="0"/>
                <a:ea typeface="+mn-ea"/>
                <a:cs typeface="+mn-cs"/>
              </a:rPr>
              <a:t>  The block containing the word to be written is fetched from</a:t>
            </a:r>
          </a:p>
          <a:p>
            <a:r>
              <a:rPr kumimoji="1" lang="en-US" sz="1200" kern="1200" dirty="0">
                <a:solidFill>
                  <a:schemeClr val="tx1"/>
                </a:solidFill>
                <a:effectLst/>
                <a:latin typeface="Times New Roman" pitchFamily="33" charset="0"/>
                <a:ea typeface="+mn-ea"/>
                <a:cs typeface="+mn-cs"/>
              </a:rPr>
              <a:t>main memory (or next level cache) into the cache and the processor proceeds</a:t>
            </a:r>
          </a:p>
          <a:p>
            <a:r>
              <a:rPr kumimoji="1" lang="en-US" sz="1200" kern="1200" dirty="0">
                <a:solidFill>
                  <a:schemeClr val="tx1"/>
                </a:solidFill>
                <a:effectLst/>
                <a:latin typeface="Times New Roman" pitchFamily="33" charset="0"/>
                <a:ea typeface="+mn-ea"/>
                <a:cs typeface="+mn-cs"/>
              </a:rPr>
              <a:t>with the write cycle.</a:t>
            </a:r>
          </a:p>
          <a:p>
            <a:endParaRPr kumimoji="1" lang="en-US" sz="1200" b="1" kern="1200" dirty="0">
              <a:solidFill>
                <a:schemeClr val="tx1"/>
              </a:solidFill>
              <a:effectLst/>
              <a:latin typeface="Times New Roman" pitchFamily="33" charset="0"/>
              <a:ea typeface="+mn-ea"/>
              <a:cs typeface="+mn-cs"/>
            </a:endParaRPr>
          </a:p>
          <a:p>
            <a:r>
              <a:rPr kumimoji="1" lang="en-US" sz="1200" b="1" kern="1200" dirty="0">
                <a:solidFill>
                  <a:schemeClr val="tx1"/>
                </a:solidFill>
                <a:effectLst/>
                <a:latin typeface="Times New Roman" pitchFamily="33" charset="0"/>
                <a:ea typeface="+mn-ea"/>
                <a:cs typeface="+mn-cs"/>
              </a:rPr>
              <a:t>■ No Write Allocate:</a:t>
            </a:r>
            <a:r>
              <a:rPr kumimoji="1" lang="en-US" sz="1200" kern="1200" dirty="0">
                <a:solidFill>
                  <a:schemeClr val="tx1"/>
                </a:solidFill>
                <a:effectLst/>
                <a:latin typeface="Times New Roman" pitchFamily="33" charset="0"/>
                <a:ea typeface="+mn-ea"/>
                <a:cs typeface="+mn-cs"/>
              </a:rPr>
              <a:t>  The block containing the word to be written is modified in</a:t>
            </a:r>
          </a:p>
          <a:p>
            <a:r>
              <a:rPr kumimoji="1" lang="en-US" sz="1200" kern="1200" dirty="0">
                <a:solidFill>
                  <a:schemeClr val="tx1"/>
                </a:solidFill>
                <a:effectLst/>
                <a:latin typeface="Times New Roman" pitchFamily="33" charset="0"/>
                <a:ea typeface="+mn-ea"/>
                <a:cs typeface="+mn-cs"/>
              </a:rPr>
              <a:t>the main memory and not loaded into the cache.</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 Either of these policies can be used with either write through or write back.</a:t>
            </a:r>
          </a:p>
          <a:p>
            <a:r>
              <a:rPr kumimoji="1" lang="en-US" sz="1200" kern="1200" dirty="0">
                <a:solidFill>
                  <a:schemeClr val="tx1"/>
                </a:solidFill>
                <a:effectLst/>
                <a:latin typeface="Times New Roman" pitchFamily="33" charset="0"/>
                <a:ea typeface="+mn-ea"/>
                <a:cs typeface="+mn-cs"/>
              </a:rPr>
              <a:t>Most commonly, no write allocate is used with write through. The reasoning is that</a:t>
            </a:r>
          </a:p>
          <a:p>
            <a:r>
              <a:rPr kumimoji="1" lang="en-US" sz="1200" kern="1200" dirty="0">
                <a:solidFill>
                  <a:schemeClr val="tx1"/>
                </a:solidFill>
                <a:effectLst/>
                <a:latin typeface="Times New Roman" pitchFamily="33" charset="0"/>
                <a:ea typeface="+mn-ea"/>
                <a:cs typeface="+mn-cs"/>
              </a:rPr>
              <a:t>even if locality holds and a write will be made to the same block in the near future,</a:t>
            </a:r>
          </a:p>
          <a:p>
            <a:r>
              <a:rPr kumimoji="1" lang="en-US" sz="1200" kern="1200" dirty="0">
                <a:solidFill>
                  <a:schemeClr val="tx1"/>
                </a:solidFill>
                <a:effectLst/>
                <a:latin typeface="Times New Roman" pitchFamily="33" charset="0"/>
                <a:ea typeface="+mn-ea"/>
                <a:cs typeface="+mn-cs"/>
              </a:rPr>
              <a:t>the write-through policy will generate a write to main memory anyway, so bringing</a:t>
            </a:r>
          </a:p>
          <a:p>
            <a:r>
              <a:rPr kumimoji="1" lang="en-US" sz="1200" kern="1200" dirty="0">
                <a:solidFill>
                  <a:schemeClr val="tx1"/>
                </a:solidFill>
                <a:effectLst/>
                <a:latin typeface="Times New Roman" pitchFamily="33" charset="0"/>
                <a:ea typeface="+mn-ea"/>
                <a:cs typeface="+mn-cs"/>
              </a:rPr>
              <a:t>the block into the cache does not seem efficient. For example, the ARM Cortex</a:t>
            </a:r>
          </a:p>
          <a:p>
            <a:r>
              <a:rPr kumimoji="1" lang="en-US" sz="1200" kern="1200" dirty="0">
                <a:solidFill>
                  <a:schemeClr val="tx1"/>
                </a:solidFill>
                <a:effectLst/>
                <a:latin typeface="Times New Roman" pitchFamily="33" charset="0"/>
                <a:ea typeface="+mn-ea"/>
                <a:cs typeface="+mn-cs"/>
              </a:rPr>
              <a:t>processors can be configured to use write allocate or no write allocate with write</a:t>
            </a:r>
          </a:p>
          <a:p>
            <a:r>
              <a:rPr kumimoji="1" lang="en-US" sz="1200" kern="1200" dirty="0">
                <a:solidFill>
                  <a:schemeClr val="tx1"/>
                </a:solidFill>
                <a:effectLst/>
                <a:latin typeface="Times New Roman" pitchFamily="33" charset="0"/>
                <a:ea typeface="+mn-ea"/>
                <a:cs typeface="+mn-cs"/>
              </a:rPr>
              <a:t>back, but only no write allocate with write through.</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With write back, write allocate is most commonly used, although some systems,</a:t>
            </a:r>
          </a:p>
          <a:p>
            <a:r>
              <a:rPr kumimoji="1" lang="en-US" sz="1200" kern="1200" dirty="0">
                <a:solidFill>
                  <a:schemeClr val="tx1"/>
                </a:solidFill>
                <a:effectLst/>
                <a:latin typeface="Times New Roman" pitchFamily="33" charset="0"/>
                <a:ea typeface="+mn-ea"/>
                <a:cs typeface="+mn-cs"/>
              </a:rPr>
              <a:t>such as the ARM Cortex, also allow no write allocate. The reasoning for using</a:t>
            </a:r>
          </a:p>
          <a:p>
            <a:r>
              <a:rPr kumimoji="1" lang="en-US" sz="1200" kern="1200" dirty="0">
                <a:solidFill>
                  <a:schemeClr val="tx1"/>
                </a:solidFill>
                <a:effectLst/>
                <a:latin typeface="Times New Roman" pitchFamily="33" charset="0"/>
                <a:ea typeface="+mn-ea"/>
                <a:cs typeface="+mn-cs"/>
              </a:rPr>
              <a:t>write allocate is that subsequent writes to the same block, if the block originally</a:t>
            </a:r>
          </a:p>
          <a:p>
            <a:r>
              <a:rPr kumimoji="1" lang="en-US" sz="1200" kern="1200" dirty="0">
                <a:solidFill>
                  <a:schemeClr val="tx1"/>
                </a:solidFill>
                <a:effectLst/>
                <a:latin typeface="Times New Roman" pitchFamily="33" charset="0"/>
                <a:ea typeface="+mn-ea"/>
                <a:cs typeface="+mn-cs"/>
              </a:rPr>
              <a:t>caused a miss, will hit in the cache next time, setting the dirty bit for the block. That</a:t>
            </a:r>
          </a:p>
          <a:p>
            <a:r>
              <a:rPr kumimoji="1" lang="en-US" sz="1200" kern="1200" dirty="0">
                <a:solidFill>
                  <a:schemeClr val="tx1"/>
                </a:solidFill>
                <a:effectLst/>
                <a:latin typeface="Times New Roman" pitchFamily="33" charset="0"/>
                <a:ea typeface="+mn-ea"/>
                <a:cs typeface="+mn-cs"/>
              </a:rPr>
              <a:t>will eliminate extra memory accesses and result in efficient execution. The write</a:t>
            </a:r>
          </a:p>
          <a:p>
            <a:r>
              <a:rPr kumimoji="1" lang="en-US" sz="1200" kern="1200" dirty="0">
                <a:solidFill>
                  <a:schemeClr val="tx1"/>
                </a:solidFill>
                <a:effectLst/>
                <a:latin typeface="Times New Roman" pitchFamily="33" charset="0"/>
                <a:ea typeface="+mn-ea"/>
                <a:cs typeface="+mn-cs"/>
              </a:rPr>
              <a:t>back, no write allocate option eliminates the time spent in bringing a block into</a:t>
            </a:r>
          </a:p>
          <a:p>
            <a:r>
              <a:rPr kumimoji="1" lang="en-US" sz="1200" kern="1200" dirty="0">
                <a:solidFill>
                  <a:schemeClr val="tx1"/>
                </a:solidFill>
                <a:effectLst/>
                <a:latin typeface="Times New Roman" pitchFamily="33" charset="0"/>
                <a:ea typeface="+mn-ea"/>
                <a:cs typeface="+mn-cs"/>
              </a:rPr>
              <a:t>the cache. Depending on locality patterns for reads and writes, there may be some</a:t>
            </a:r>
          </a:p>
          <a:p>
            <a:r>
              <a:rPr kumimoji="1" lang="en-US" sz="1200" kern="1200" dirty="0">
                <a:solidFill>
                  <a:schemeClr val="tx1"/>
                </a:solidFill>
                <a:effectLst/>
                <a:latin typeface="Times New Roman" pitchFamily="33" charset="0"/>
                <a:ea typeface="+mn-ea"/>
                <a:cs typeface="+mn-cs"/>
              </a:rPr>
              <a:t>advantage to this technique.</a:t>
            </a:r>
          </a:p>
          <a:p>
            <a:endParaRPr kumimoji="1" lang="en-US" sz="1200" kern="1200" dirty="0">
              <a:solidFill>
                <a:schemeClr val="tx1"/>
              </a:solidFill>
              <a:effectLst/>
              <a:latin typeface="Times New Roman" pitchFamily="33" charset="0"/>
              <a:ea typeface="+mn-ea"/>
              <a:cs typeface="+mn-cs"/>
            </a:endParaRPr>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41</a:t>
            </a:fld>
            <a:endParaRPr lang="en-US" dirty="0"/>
          </a:p>
        </p:txBody>
      </p:sp>
    </p:spTree>
    <p:extLst>
      <p:ext uri="{BB962C8B-B14F-4D97-AF65-F5344CB8AC3E}">
        <p14:creationId xmlns:p14="http://schemas.microsoft.com/office/powerpoint/2010/main" val="1152407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baseline="0" dirty="0">
                <a:solidFill>
                  <a:schemeClr val="tx1"/>
                </a:solidFill>
                <a:latin typeface="Times New Roman" pitchFamily="33" charset="0"/>
                <a:ea typeface="+mn-ea"/>
                <a:cs typeface="+mn-cs"/>
              </a:rPr>
              <a:t>In a bus organization in which more than one device (typically a processor)</a:t>
            </a:r>
          </a:p>
          <a:p>
            <a:r>
              <a:rPr kumimoji="1" lang="en-US" sz="1200" kern="1200" baseline="0" dirty="0">
                <a:solidFill>
                  <a:schemeClr val="tx1"/>
                </a:solidFill>
                <a:latin typeface="Times New Roman" pitchFamily="33" charset="0"/>
                <a:ea typeface="+mn-ea"/>
                <a:cs typeface="+mn-cs"/>
              </a:rPr>
              <a:t>has a cache and main memory is shared, a new problem is introduced. If data in one</a:t>
            </a:r>
          </a:p>
          <a:p>
            <a:r>
              <a:rPr kumimoji="1" lang="en-US" sz="1200" kern="1200" baseline="0" dirty="0">
                <a:solidFill>
                  <a:schemeClr val="tx1"/>
                </a:solidFill>
                <a:latin typeface="Times New Roman" pitchFamily="33" charset="0"/>
                <a:ea typeface="+mn-ea"/>
                <a:cs typeface="+mn-cs"/>
              </a:rPr>
              <a:t>cache are altered, this invalidates not only the corresponding word in main memory,</a:t>
            </a:r>
          </a:p>
          <a:p>
            <a:r>
              <a:rPr kumimoji="1" lang="en-US" sz="1200" kern="1200" baseline="0" dirty="0">
                <a:solidFill>
                  <a:schemeClr val="tx1"/>
                </a:solidFill>
                <a:latin typeface="Times New Roman" pitchFamily="33" charset="0"/>
                <a:ea typeface="+mn-ea"/>
                <a:cs typeface="+mn-cs"/>
              </a:rPr>
              <a:t>but also that same word in other caches (if any other cache happens to have that</a:t>
            </a:r>
          </a:p>
          <a:p>
            <a:r>
              <a:rPr kumimoji="1" lang="en-US" sz="1200" kern="1200" baseline="0" dirty="0">
                <a:solidFill>
                  <a:schemeClr val="tx1"/>
                </a:solidFill>
                <a:latin typeface="Times New Roman" pitchFamily="33" charset="0"/>
                <a:ea typeface="+mn-ea"/>
                <a:cs typeface="+mn-cs"/>
              </a:rPr>
              <a:t>same word). Even if a write-through policy is used, the other caches may contain</a:t>
            </a:r>
          </a:p>
          <a:p>
            <a:r>
              <a:rPr kumimoji="1" lang="en-US" sz="1200" kern="1200" baseline="0" dirty="0">
                <a:solidFill>
                  <a:schemeClr val="tx1"/>
                </a:solidFill>
                <a:latin typeface="Times New Roman" pitchFamily="33" charset="0"/>
                <a:ea typeface="+mn-ea"/>
                <a:cs typeface="+mn-cs"/>
              </a:rPr>
              <a:t>invalid data. A system that prevents this problem is said to maintain cache coherency.</a:t>
            </a:r>
          </a:p>
          <a:p>
            <a:r>
              <a:rPr kumimoji="1" lang="en-US" sz="1200" kern="1200" baseline="0" dirty="0">
                <a:solidFill>
                  <a:schemeClr val="tx1"/>
                </a:solidFill>
                <a:latin typeface="Times New Roman" pitchFamily="33" charset="0"/>
                <a:ea typeface="+mn-ea"/>
                <a:cs typeface="+mn-cs"/>
              </a:rPr>
              <a:t>Possible approaches to cache coherency include the following: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Bus watching with write through: </a:t>
            </a:r>
            <a:r>
              <a:rPr kumimoji="1" lang="en-US" sz="1200" b="0" kern="1200" baseline="0" dirty="0">
                <a:solidFill>
                  <a:schemeClr val="tx1"/>
                </a:solidFill>
                <a:latin typeface="Times New Roman" pitchFamily="33" charset="0"/>
                <a:ea typeface="+mn-ea"/>
                <a:cs typeface="+mn-cs"/>
              </a:rPr>
              <a:t>Each cache controller monitors the address</a:t>
            </a:r>
          </a:p>
          <a:p>
            <a:r>
              <a:rPr kumimoji="1" lang="en-US" sz="1200" kern="1200" baseline="0" dirty="0">
                <a:solidFill>
                  <a:schemeClr val="tx1"/>
                </a:solidFill>
                <a:latin typeface="Times New Roman" pitchFamily="33" charset="0"/>
                <a:ea typeface="+mn-ea"/>
                <a:cs typeface="+mn-cs"/>
              </a:rPr>
              <a:t>lines to detect write operations to memory by other bus masters. If another</a:t>
            </a:r>
          </a:p>
          <a:p>
            <a:r>
              <a:rPr kumimoji="1" lang="en-US" sz="1200" kern="1200" baseline="0" dirty="0">
                <a:solidFill>
                  <a:schemeClr val="tx1"/>
                </a:solidFill>
                <a:latin typeface="Times New Roman" pitchFamily="33" charset="0"/>
                <a:ea typeface="+mn-ea"/>
                <a:cs typeface="+mn-cs"/>
              </a:rPr>
              <a:t>master writes to a location in shared memory that also resides in the cache</a:t>
            </a:r>
          </a:p>
          <a:p>
            <a:r>
              <a:rPr kumimoji="1" lang="en-US" sz="1200" kern="1200" baseline="0" dirty="0">
                <a:solidFill>
                  <a:schemeClr val="tx1"/>
                </a:solidFill>
                <a:latin typeface="Times New Roman" pitchFamily="33" charset="0"/>
                <a:ea typeface="+mn-ea"/>
                <a:cs typeface="+mn-cs"/>
              </a:rPr>
              <a:t>memory, the cache controller invalidates that cache entry. This strategy depends</a:t>
            </a:r>
          </a:p>
          <a:p>
            <a:r>
              <a:rPr kumimoji="1" lang="en-US" sz="1200" kern="1200" baseline="0" dirty="0">
                <a:solidFill>
                  <a:schemeClr val="tx1"/>
                </a:solidFill>
                <a:latin typeface="Times New Roman" pitchFamily="33" charset="0"/>
                <a:ea typeface="+mn-ea"/>
                <a:cs typeface="+mn-cs"/>
              </a:rPr>
              <a:t>on the use of a write-through policy by all cache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Hardware transparency: </a:t>
            </a:r>
            <a:r>
              <a:rPr kumimoji="1" lang="en-US" sz="1200" b="0" kern="1200" baseline="0" dirty="0">
                <a:solidFill>
                  <a:schemeClr val="tx1"/>
                </a:solidFill>
                <a:latin typeface="Times New Roman" pitchFamily="33" charset="0"/>
                <a:ea typeface="+mn-ea"/>
                <a:cs typeface="+mn-cs"/>
              </a:rPr>
              <a:t>Additional hardware is used to ensure that all updates</a:t>
            </a:r>
          </a:p>
          <a:p>
            <a:r>
              <a:rPr kumimoji="1" lang="en-US" sz="1200" kern="1200" baseline="0" dirty="0">
                <a:solidFill>
                  <a:schemeClr val="tx1"/>
                </a:solidFill>
                <a:latin typeface="Times New Roman" pitchFamily="33" charset="0"/>
                <a:ea typeface="+mn-ea"/>
                <a:cs typeface="+mn-cs"/>
              </a:rPr>
              <a:t>to main memory via cache are reflected in all caches. Thus, if one processor</a:t>
            </a:r>
          </a:p>
          <a:p>
            <a:r>
              <a:rPr kumimoji="1" lang="en-US" sz="1200" kern="1200" baseline="0" dirty="0">
                <a:solidFill>
                  <a:schemeClr val="tx1"/>
                </a:solidFill>
                <a:latin typeface="Times New Roman" pitchFamily="33" charset="0"/>
                <a:ea typeface="+mn-ea"/>
                <a:cs typeface="+mn-cs"/>
              </a:rPr>
              <a:t>modifies a word in its cache, this update is written to main memory. In addition,</a:t>
            </a:r>
          </a:p>
          <a:p>
            <a:r>
              <a:rPr kumimoji="1" lang="en-US" sz="1200" kern="1200" baseline="0" dirty="0">
                <a:solidFill>
                  <a:schemeClr val="tx1"/>
                </a:solidFill>
                <a:latin typeface="Times New Roman" pitchFamily="33" charset="0"/>
                <a:ea typeface="+mn-ea"/>
                <a:cs typeface="+mn-cs"/>
              </a:rPr>
              <a:t>any matching words in other caches are similarly updated.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Non-cacheable memory: </a:t>
            </a:r>
            <a:r>
              <a:rPr kumimoji="1" lang="en-US" sz="1200" b="0" kern="1200" baseline="0" dirty="0">
                <a:solidFill>
                  <a:schemeClr val="tx1"/>
                </a:solidFill>
                <a:latin typeface="Times New Roman" pitchFamily="33" charset="0"/>
                <a:ea typeface="+mn-ea"/>
                <a:cs typeface="+mn-cs"/>
              </a:rPr>
              <a:t>Only a portion of main memory is shared by more</a:t>
            </a:r>
          </a:p>
          <a:p>
            <a:r>
              <a:rPr kumimoji="1" lang="en-US" sz="1200" kern="1200" baseline="0" dirty="0">
                <a:solidFill>
                  <a:schemeClr val="tx1"/>
                </a:solidFill>
                <a:latin typeface="Times New Roman" pitchFamily="33" charset="0"/>
                <a:ea typeface="+mn-ea"/>
                <a:cs typeface="+mn-cs"/>
              </a:rPr>
              <a:t>than one processor, and this is designated as non-cacheable. In such a system,</a:t>
            </a:r>
          </a:p>
          <a:p>
            <a:r>
              <a:rPr kumimoji="1" lang="en-US" sz="1200" kern="1200" baseline="0" dirty="0">
                <a:solidFill>
                  <a:schemeClr val="tx1"/>
                </a:solidFill>
                <a:latin typeface="Times New Roman" pitchFamily="33" charset="0"/>
                <a:ea typeface="+mn-ea"/>
                <a:cs typeface="+mn-cs"/>
              </a:rPr>
              <a:t>all accesses to shared memory are cache misses, because the shared memory</a:t>
            </a:r>
          </a:p>
          <a:p>
            <a:r>
              <a:rPr kumimoji="1" lang="en-US" sz="1200" kern="1200" baseline="0" dirty="0">
                <a:solidFill>
                  <a:schemeClr val="tx1"/>
                </a:solidFill>
                <a:latin typeface="Times New Roman" pitchFamily="33" charset="0"/>
                <a:ea typeface="+mn-ea"/>
                <a:cs typeface="+mn-cs"/>
              </a:rPr>
              <a:t>is never copied into the cache. The non-cacheable memory can be identified</a:t>
            </a:r>
          </a:p>
          <a:p>
            <a:r>
              <a:rPr kumimoji="1" lang="en-US" sz="1200" kern="1200" baseline="0" dirty="0">
                <a:solidFill>
                  <a:schemeClr val="tx1"/>
                </a:solidFill>
                <a:latin typeface="Times New Roman" pitchFamily="33" charset="0"/>
                <a:ea typeface="+mn-ea"/>
                <a:cs typeface="+mn-cs"/>
              </a:rPr>
              <a:t>using chip-select logic or high-address bits.</a:t>
            </a:r>
            <a:endParaRPr lang="en-GB" dirty="0"/>
          </a:p>
          <a:p>
            <a:endParaRPr lang="en-US"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42</a:t>
            </a:fld>
            <a:endParaRPr lang="en-US" dirty="0"/>
          </a:p>
        </p:txBody>
      </p:sp>
    </p:spTree>
    <p:extLst>
      <p:ext uri="{BB962C8B-B14F-4D97-AF65-F5344CB8AC3E}">
        <p14:creationId xmlns:p14="http://schemas.microsoft.com/office/powerpoint/2010/main" val="251398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33" charset="0"/>
                <a:ea typeface="+mn-ea"/>
                <a:cs typeface="+mn-cs"/>
              </a:rPr>
              <a:t>Another design element is the line size. When a block of data is retrieved and placed</a:t>
            </a:r>
          </a:p>
          <a:p>
            <a:r>
              <a:rPr kumimoji="1" lang="en-US" sz="1200" kern="1200" baseline="0" dirty="0">
                <a:solidFill>
                  <a:schemeClr val="tx1"/>
                </a:solidFill>
                <a:latin typeface="Times New Roman" pitchFamily="33" charset="0"/>
                <a:ea typeface="+mn-ea"/>
                <a:cs typeface="+mn-cs"/>
              </a:rPr>
              <a:t>in the cache, not only the desired word but also some number of adjacent words are</a:t>
            </a:r>
          </a:p>
          <a:p>
            <a:r>
              <a:rPr kumimoji="1" lang="en-US" sz="1200" kern="1200" baseline="0" dirty="0">
                <a:solidFill>
                  <a:schemeClr val="tx1"/>
                </a:solidFill>
                <a:latin typeface="Times New Roman" pitchFamily="33" charset="0"/>
                <a:ea typeface="+mn-ea"/>
                <a:cs typeface="+mn-cs"/>
              </a:rPr>
              <a:t>retrieved. As the block size increases from very small to larger sizes, the hit ratio</a:t>
            </a:r>
          </a:p>
          <a:p>
            <a:r>
              <a:rPr kumimoji="1" lang="en-US" sz="1200" kern="1200" baseline="0" dirty="0">
                <a:solidFill>
                  <a:schemeClr val="tx1"/>
                </a:solidFill>
                <a:latin typeface="Times New Roman" pitchFamily="33" charset="0"/>
                <a:ea typeface="+mn-ea"/>
                <a:cs typeface="+mn-cs"/>
              </a:rPr>
              <a:t>will at first increase because of the principle of locality, which states that data in the</a:t>
            </a:r>
          </a:p>
          <a:p>
            <a:r>
              <a:rPr kumimoji="1" lang="en-US" sz="1200" kern="1200" baseline="0" dirty="0">
                <a:solidFill>
                  <a:schemeClr val="tx1"/>
                </a:solidFill>
                <a:latin typeface="Times New Roman" pitchFamily="33" charset="0"/>
                <a:ea typeface="+mn-ea"/>
                <a:cs typeface="+mn-cs"/>
              </a:rPr>
              <a:t>vicinity of a referenced word are likely to be referenced in the near future. As the</a:t>
            </a:r>
          </a:p>
          <a:p>
            <a:r>
              <a:rPr kumimoji="1" lang="en-US" sz="1200" kern="1200" baseline="0" dirty="0">
                <a:solidFill>
                  <a:schemeClr val="tx1"/>
                </a:solidFill>
                <a:latin typeface="Times New Roman" pitchFamily="33" charset="0"/>
                <a:ea typeface="+mn-ea"/>
                <a:cs typeface="+mn-cs"/>
              </a:rPr>
              <a:t>block size increases, more useful data are brought into the cache. The hit ratio will</a:t>
            </a:r>
          </a:p>
          <a:p>
            <a:r>
              <a:rPr kumimoji="1" lang="en-US" sz="1200" kern="1200" baseline="0" dirty="0">
                <a:solidFill>
                  <a:schemeClr val="tx1"/>
                </a:solidFill>
                <a:latin typeface="Times New Roman" pitchFamily="33" charset="0"/>
                <a:ea typeface="+mn-ea"/>
                <a:cs typeface="+mn-cs"/>
              </a:rPr>
              <a:t>begin to decrease, however, as the block becomes even bigger and the probability</a:t>
            </a:r>
          </a:p>
          <a:p>
            <a:r>
              <a:rPr kumimoji="1" lang="en-US" sz="1200" kern="1200" baseline="0" dirty="0">
                <a:solidFill>
                  <a:schemeClr val="tx1"/>
                </a:solidFill>
                <a:latin typeface="Times New Roman" pitchFamily="33" charset="0"/>
                <a:ea typeface="+mn-ea"/>
                <a:cs typeface="+mn-cs"/>
              </a:rPr>
              <a:t>of using the newly fetched information becomes less than the probability of reusing</a:t>
            </a:r>
          </a:p>
          <a:p>
            <a:r>
              <a:rPr kumimoji="1" lang="en-US" sz="1200" kern="1200" baseline="0" dirty="0">
                <a:solidFill>
                  <a:schemeClr val="tx1"/>
                </a:solidFill>
                <a:latin typeface="Times New Roman" pitchFamily="33" charset="0"/>
                <a:ea typeface="+mn-ea"/>
                <a:cs typeface="+mn-cs"/>
              </a:rPr>
              <a:t>the information that has to be replaced. Two specific effects come into play: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Larger blocks reduce the number of blocks that fit into a cache. Because each</a:t>
            </a:r>
          </a:p>
          <a:p>
            <a:r>
              <a:rPr kumimoji="1" lang="en-US" sz="1200" kern="1200" baseline="0" dirty="0">
                <a:solidFill>
                  <a:schemeClr val="tx1"/>
                </a:solidFill>
                <a:latin typeface="Times New Roman" pitchFamily="33" charset="0"/>
                <a:ea typeface="+mn-ea"/>
                <a:cs typeface="+mn-cs"/>
              </a:rPr>
              <a:t>block fetch overwrites older cache contents, a small number of blocks results</a:t>
            </a:r>
          </a:p>
          <a:p>
            <a:r>
              <a:rPr kumimoji="1" lang="en-US" sz="1200" kern="1200" baseline="0" dirty="0">
                <a:solidFill>
                  <a:schemeClr val="tx1"/>
                </a:solidFill>
                <a:latin typeface="Times New Roman" pitchFamily="33" charset="0"/>
                <a:ea typeface="+mn-ea"/>
                <a:cs typeface="+mn-cs"/>
              </a:rPr>
              <a:t>in data being overwritten shortly after they are fetched.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As a block becomes larger, each additional word is farther from the requested</a:t>
            </a:r>
          </a:p>
          <a:p>
            <a:r>
              <a:rPr kumimoji="1" lang="en-US" sz="1200" kern="1200" baseline="0" dirty="0">
                <a:solidFill>
                  <a:schemeClr val="tx1"/>
                </a:solidFill>
                <a:latin typeface="Times New Roman" pitchFamily="33" charset="0"/>
                <a:ea typeface="+mn-ea"/>
                <a:cs typeface="+mn-cs"/>
              </a:rPr>
              <a:t>word and therefore less likely to be needed in the near future.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relationship between block size and hit ratio is complex, depending on</a:t>
            </a:r>
          </a:p>
          <a:p>
            <a:r>
              <a:rPr kumimoji="1" lang="en-US" sz="1200" kern="1200" baseline="0" dirty="0">
                <a:solidFill>
                  <a:schemeClr val="tx1"/>
                </a:solidFill>
                <a:latin typeface="Times New Roman" pitchFamily="33" charset="0"/>
                <a:ea typeface="+mn-ea"/>
                <a:cs typeface="+mn-cs"/>
              </a:rPr>
              <a:t>the locality characteristics of a particular program, and no definitive optimum value</a:t>
            </a:r>
          </a:p>
          <a:p>
            <a:r>
              <a:rPr kumimoji="1" lang="en-US" sz="1200" kern="1200" baseline="0" dirty="0">
                <a:solidFill>
                  <a:schemeClr val="tx1"/>
                </a:solidFill>
                <a:latin typeface="Times New Roman" pitchFamily="33" charset="0"/>
                <a:ea typeface="+mn-ea"/>
                <a:cs typeface="+mn-cs"/>
              </a:rPr>
              <a:t>has been found. A size of from 8 to 64 bytes seems reasonably close to optimum</a:t>
            </a:r>
          </a:p>
          <a:p>
            <a:r>
              <a:rPr kumimoji="1" lang="en-US" sz="1200" kern="1200" baseline="0" dirty="0">
                <a:solidFill>
                  <a:schemeClr val="tx1"/>
                </a:solidFill>
                <a:latin typeface="Times New Roman" pitchFamily="33" charset="0"/>
                <a:ea typeface="+mn-ea"/>
                <a:cs typeface="+mn-cs"/>
              </a:rPr>
              <a:t>[SMIT87, PRZY88, PRZY90, HAND98]. For HPC systems, 64- and 128-byte cache</a:t>
            </a:r>
          </a:p>
          <a:p>
            <a:r>
              <a:rPr kumimoji="1" lang="en-US" sz="1200" kern="1200" baseline="0" dirty="0">
                <a:solidFill>
                  <a:schemeClr val="tx1"/>
                </a:solidFill>
                <a:latin typeface="Times New Roman" pitchFamily="33" charset="0"/>
                <a:ea typeface="+mn-ea"/>
                <a:cs typeface="+mn-cs"/>
              </a:rPr>
              <a:t>line sizes are most frequently used.</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a:solidFill>
                  <a:schemeClr val="tx1"/>
                </a:solidFill>
                <a:latin typeface="Times New Roman" pitchFamily="33" charset="0"/>
                <a:ea typeface="+mn-ea"/>
                <a:cs typeface="+mn-cs"/>
              </a:rPr>
              <a:t>As logic density has increased, it has become possible to</a:t>
            </a:r>
          </a:p>
          <a:p>
            <a:r>
              <a:rPr kumimoji="1" lang="en-US" sz="1200" kern="1200" baseline="0" dirty="0">
                <a:solidFill>
                  <a:schemeClr val="tx1"/>
                </a:solidFill>
                <a:latin typeface="Times New Roman" pitchFamily="33" charset="0"/>
                <a:ea typeface="+mn-ea"/>
                <a:cs typeface="+mn-cs"/>
              </a:rPr>
              <a:t>have a cache on the same chip as the processor: the on-chip cache. Compared with</a:t>
            </a:r>
          </a:p>
          <a:p>
            <a:r>
              <a:rPr kumimoji="1" lang="en-US" sz="1200" kern="1200" baseline="0" dirty="0">
                <a:solidFill>
                  <a:schemeClr val="tx1"/>
                </a:solidFill>
                <a:latin typeface="Times New Roman" pitchFamily="33" charset="0"/>
                <a:ea typeface="+mn-ea"/>
                <a:cs typeface="+mn-cs"/>
              </a:rPr>
              <a:t>a cache reachable via an external bus, the on-chip cache reduces the processor’s</a:t>
            </a:r>
          </a:p>
          <a:p>
            <a:r>
              <a:rPr kumimoji="1" lang="en-US" sz="1200" kern="1200" baseline="0" dirty="0">
                <a:solidFill>
                  <a:schemeClr val="tx1"/>
                </a:solidFill>
                <a:latin typeface="Times New Roman" pitchFamily="33" charset="0"/>
                <a:ea typeface="+mn-ea"/>
                <a:cs typeface="+mn-cs"/>
              </a:rPr>
              <a:t>external bus activity and therefore speeds up execution times and increases overall</a:t>
            </a:r>
          </a:p>
          <a:p>
            <a:r>
              <a:rPr kumimoji="1" lang="en-US" sz="1200" kern="1200" baseline="0" dirty="0">
                <a:solidFill>
                  <a:schemeClr val="tx1"/>
                </a:solidFill>
                <a:latin typeface="Times New Roman" pitchFamily="33" charset="0"/>
                <a:ea typeface="+mn-ea"/>
                <a:cs typeface="+mn-cs"/>
              </a:rPr>
              <a:t>system performance. When the requested instruction or data is found in the on-chip</a:t>
            </a:r>
          </a:p>
          <a:p>
            <a:r>
              <a:rPr kumimoji="1" lang="en-US" sz="1200" kern="1200" baseline="0" dirty="0">
                <a:solidFill>
                  <a:schemeClr val="tx1"/>
                </a:solidFill>
                <a:latin typeface="Times New Roman" pitchFamily="33" charset="0"/>
                <a:ea typeface="+mn-ea"/>
                <a:cs typeface="+mn-cs"/>
              </a:rPr>
              <a:t>cache, the bus access is eliminated. Because of the short data paths internal to</a:t>
            </a:r>
          </a:p>
          <a:p>
            <a:r>
              <a:rPr kumimoji="1" lang="en-US" sz="1200" kern="1200" baseline="0" dirty="0">
                <a:solidFill>
                  <a:schemeClr val="tx1"/>
                </a:solidFill>
                <a:latin typeface="Times New Roman" pitchFamily="33" charset="0"/>
                <a:ea typeface="+mn-ea"/>
                <a:cs typeface="+mn-cs"/>
              </a:rPr>
              <a:t>the processor, compared with bus lengths, on-chip cache accesses will complete</a:t>
            </a:r>
          </a:p>
          <a:p>
            <a:r>
              <a:rPr kumimoji="1" lang="en-US" sz="1200" kern="1200" baseline="0" dirty="0">
                <a:solidFill>
                  <a:schemeClr val="tx1"/>
                </a:solidFill>
                <a:latin typeface="Times New Roman" pitchFamily="33" charset="0"/>
                <a:ea typeface="+mn-ea"/>
                <a:cs typeface="+mn-cs"/>
              </a:rPr>
              <a:t>appreciably faster than would even zero-wait state bus cycles. Furthermore, during</a:t>
            </a:r>
          </a:p>
          <a:p>
            <a:r>
              <a:rPr kumimoji="1" lang="en-US" sz="1200" kern="1200" baseline="0" dirty="0">
                <a:solidFill>
                  <a:schemeClr val="tx1"/>
                </a:solidFill>
                <a:latin typeface="Times New Roman" pitchFamily="33" charset="0"/>
                <a:ea typeface="+mn-ea"/>
                <a:cs typeface="+mn-cs"/>
              </a:rPr>
              <a:t>this period the bus is free to support other transfers.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inclusion of an on-chip cache leaves open the question of whether an</a:t>
            </a:r>
          </a:p>
          <a:p>
            <a:r>
              <a:rPr kumimoji="1" lang="en-US" sz="1200" kern="1200" baseline="0" dirty="0">
                <a:solidFill>
                  <a:schemeClr val="tx1"/>
                </a:solidFill>
                <a:latin typeface="Times New Roman" pitchFamily="33" charset="0"/>
                <a:ea typeface="+mn-ea"/>
                <a:cs typeface="+mn-cs"/>
              </a:rPr>
              <a:t>off-chip, or external, cache is still desirable. Typically, the answer is yes, and most contemporary</a:t>
            </a:r>
          </a:p>
          <a:p>
            <a:r>
              <a:rPr kumimoji="1" lang="en-US" sz="1200" kern="1200" baseline="0" dirty="0">
                <a:solidFill>
                  <a:schemeClr val="tx1"/>
                </a:solidFill>
                <a:latin typeface="Times New Roman" pitchFamily="33" charset="0"/>
                <a:ea typeface="+mn-ea"/>
                <a:cs typeface="+mn-cs"/>
              </a:rPr>
              <a:t>designs include both on-chip and external caches. The simplest such organization</a:t>
            </a:r>
          </a:p>
          <a:p>
            <a:r>
              <a:rPr kumimoji="1" lang="en-US" sz="1200" kern="1200" baseline="0" dirty="0">
                <a:solidFill>
                  <a:schemeClr val="tx1"/>
                </a:solidFill>
                <a:latin typeface="Times New Roman" pitchFamily="33" charset="0"/>
                <a:ea typeface="+mn-ea"/>
                <a:cs typeface="+mn-cs"/>
              </a:rPr>
              <a:t>is known as a two-level cache, with the internal cache designated as level 1 (L1)</a:t>
            </a:r>
          </a:p>
          <a:p>
            <a:r>
              <a:rPr kumimoji="1" lang="en-US" sz="1200" kern="1200" baseline="0" dirty="0">
                <a:solidFill>
                  <a:schemeClr val="tx1"/>
                </a:solidFill>
                <a:latin typeface="Times New Roman" pitchFamily="33" charset="0"/>
                <a:ea typeface="+mn-ea"/>
                <a:cs typeface="+mn-cs"/>
              </a:rPr>
              <a:t>and the external cache designated as level 2 (L2). The reason for including an L2 cache</a:t>
            </a:r>
          </a:p>
          <a:p>
            <a:r>
              <a:rPr kumimoji="1" lang="en-US" sz="1200" kern="1200" baseline="0" dirty="0">
                <a:solidFill>
                  <a:schemeClr val="tx1"/>
                </a:solidFill>
                <a:latin typeface="Times New Roman" pitchFamily="33" charset="0"/>
                <a:ea typeface="+mn-ea"/>
                <a:cs typeface="+mn-cs"/>
              </a:rPr>
              <a:t>is the following: If there is no L2 cache and the processor makes an access request</a:t>
            </a:r>
          </a:p>
          <a:p>
            <a:r>
              <a:rPr kumimoji="1" lang="en-US" sz="1200" kern="1200" baseline="0" dirty="0">
                <a:solidFill>
                  <a:schemeClr val="tx1"/>
                </a:solidFill>
                <a:latin typeface="Times New Roman" pitchFamily="33" charset="0"/>
                <a:ea typeface="+mn-ea"/>
                <a:cs typeface="+mn-cs"/>
              </a:rPr>
              <a:t>for a memory location not in the L1 cache, then the processor must access DRAM or</a:t>
            </a:r>
          </a:p>
          <a:p>
            <a:r>
              <a:rPr kumimoji="1" lang="en-US" sz="1200" kern="1200" baseline="0" dirty="0">
                <a:solidFill>
                  <a:schemeClr val="tx1"/>
                </a:solidFill>
                <a:latin typeface="Times New Roman" pitchFamily="33" charset="0"/>
                <a:ea typeface="+mn-ea"/>
                <a:cs typeface="+mn-cs"/>
              </a:rPr>
              <a:t>ROM memory across the bus. Due to the typically slow bus speed and slow memory</a:t>
            </a:r>
          </a:p>
          <a:p>
            <a:r>
              <a:rPr kumimoji="1" lang="en-US" sz="1200" kern="1200" baseline="0" dirty="0">
                <a:solidFill>
                  <a:schemeClr val="tx1"/>
                </a:solidFill>
                <a:latin typeface="Times New Roman" pitchFamily="33" charset="0"/>
                <a:ea typeface="+mn-ea"/>
                <a:cs typeface="+mn-cs"/>
              </a:rPr>
              <a:t>access time, this results in poor performance. On the other hand, if an L2 SRAM (static</a:t>
            </a:r>
          </a:p>
          <a:p>
            <a:r>
              <a:rPr kumimoji="1" lang="en-US" sz="1200" kern="1200" baseline="0" dirty="0">
                <a:solidFill>
                  <a:schemeClr val="tx1"/>
                </a:solidFill>
                <a:latin typeface="Times New Roman" pitchFamily="33" charset="0"/>
                <a:ea typeface="+mn-ea"/>
                <a:cs typeface="+mn-cs"/>
              </a:rPr>
              <a:t>RAM) cache is used, then frequently the missing information can be quickly retrieved.</a:t>
            </a:r>
          </a:p>
          <a:p>
            <a:r>
              <a:rPr kumimoji="1" lang="en-US" sz="1200" kern="1200" baseline="0" dirty="0">
                <a:solidFill>
                  <a:schemeClr val="tx1"/>
                </a:solidFill>
                <a:latin typeface="Times New Roman" pitchFamily="33" charset="0"/>
                <a:ea typeface="+mn-ea"/>
                <a:cs typeface="+mn-cs"/>
              </a:rPr>
              <a:t>If the SRAM is fast enough to match the bus speed, then the data can be accessed</a:t>
            </a:r>
          </a:p>
          <a:p>
            <a:r>
              <a:rPr kumimoji="1" lang="en-US" sz="1200" kern="1200" baseline="0" dirty="0">
                <a:solidFill>
                  <a:schemeClr val="tx1"/>
                </a:solidFill>
                <a:latin typeface="Times New Roman" pitchFamily="33" charset="0"/>
                <a:ea typeface="+mn-ea"/>
                <a:cs typeface="+mn-cs"/>
              </a:rPr>
              <a:t>using a zero-wait state transaction, the fastest type of bus transfer.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Two features of contemporary cache design for multilevel caches are noteworthy.</a:t>
            </a:r>
          </a:p>
          <a:p>
            <a:r>
              <a:rPr kumimoji="1" lang="en-US" sz="1200" kern="1200" baseline="0" dirty="0">
                <a:solidFill>
                  <a:schemeClr val="tx1"/>
                </a:solidFill>
                <a:latin typeface="Times New Roman" pitchFamily="33" charset="0"/>
                <a:ea typeface="+mn-ea"/>
                <a:cs typeface="+mn-cs"/>
              </a:rPr>
              <a:t>First, for an off-chip L2 cache, many designs do not use the system bus as</a:t>
            </a:r>
          </a:p>
          <a:p>
            <a:r>
              <a:rPr kumimoji="1" lang="en-US" sz="1200" kern="1200" baseline="0" dirty="0">
                <a:solidFill>
                  <a:schemeClr val="tx1"/>
                </a:solidFill>
                <a:latin typeface="Times New Roman" pitchFamily="33" charset="0"/>
                <a:ea typeface="+mn-ea"/>
                <a:cs typeface="+mn-cs"/>
              </a:rPr>
              <a:t>the path for transfer between the L2 cache and the processor, but use a separate</a:t>
            </a:r>
          </a:p>
          <a:p>
            <a:r>
              <a:rPr kumimoji="1" lang="en-US" sz="1200" kern="1200" baseline="0" dirty="0">
                <a:solidFill>
                  <a:schemeClr val="tx1"/>
                </a:solidFill>
                <a:latin typeface="Times New Roman" pitchFamily="33" charset="0"/>
                <a:ea typeface="+mn-ea"/>
                <a:cs typeface="+mn-cs"/>
              </a:rPr>
              <a:t>data path, so as to reduce the burden on the system bus. Second, with the continued</a:t>
            </a:r>
          </a:p>
          <a:p>
            <a:r>
              <a:rPr kumimoji="1" lang="en-US" sz="1200" kern="1200" baseline="0" dirty="0">
                <a:solidFill>
                  <a:schemeClr val="tx1"/>
                </a:solidFill>
                <a:latin typeface="Times New Roman" pitchFamily="33" charset="0"/>
                <a:ea typeface="+mn-ea"/>
                <a:cs typeface="+mn-cs"/>
              </a:rPr>
              <a:t>shrinkage of processor components, a number of processors now incorporate the L2</a:t>
            </a:r>
          </a:p>
          <a:p>
            <a:r>
              <a:rPr kumimoji="1" lang="en-US" sz="1200" kern="1200" baseline="0" dirty="0">
                <a:solidFill>
                  <a:schemeClr val="tx1"/>
                </a:solidFill>
                <a:latin typeface="Times New Roman" pitchFamily="33" charset="0"/>
                <a:ea typeface="+mn-ea"/>
                <a:cs typeface="+mn-cs"/>
              </a:rPr>
              <a:t>cache on the processor chip, improving performance.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potential savings due to the use of an L2 cache depends on the hit rates</a:t>
            </a:r>
          </a:p>
          <a:p>
            <a:r>
              <a:rPr kumimoji="1" lang="en-US" sz="1200" kern="1200" baseline="0" dirty="0">
                <a:solidFill>
                  <a:schemeClr val="tx1"/>
                </a:solidFill>
                <a:latin typeface="Times New Roman" pitchFamily="33" charset="0"/>
                <a:ea typeface="+mn-ea"/>
                <a:cs typeface="+mn-cs"/>
              </a:rPr>
              <a:t>in both the L1 and L2 caches. Several studies have shown that, in general, the use</a:t>
            </a:r>
          </a:p>
          <a:p>
            <a:r>
              <a:rPr kumimoji="1" lang="en-US" sz="1200" kern="1200" baseline="0" dirty="0">
                <a:solidFill>
                  <a:schemeClr val="tx1"/>
                </a:solidFill>
                <a:latin typeface="Times New Roman" pitchFamily="33" charset="0"/>
                <a:ea typeface="+mn-ea"/>
                <a:cs typeface="+mn-cs"/>
              </a:rPr>
              <a:t>of a second-level cache does improve performance (e.g., see [AZIM92], [NOVI93],</a:t>
            </a:r>
          </a:p>
          <a:p>
            <a:r>
              <a:rPr kumimoji="1" lang="en-US" sz="1200" kern="1200" baseline="0" dirty="0">
                <a:solidFill>
                  <a:schemeClr val="tx1"/>
                </a:solidFill>
                <a:latin typeface="Times New Roman" pitchFamily="33" charset="0"/>
                <a:ea typeface="+mn-ea"/>
                <a:cs typeface="+mn-cs"/>
              </a:rPr>
              <a:t>[HAND98]). However, the use of multilevel caches does complicate all of the design</a:t>
            </a:r>
          </a:p>
          <a:p>
            <a:r>
              <a:rPr kumimoji="1" lang="en-US" sz="1200" kern="1200" baseline="0" dirty="0">
                <a:solidFill>
                  <a:schemeClr val="tx1"/>
                </a:solidFill>
                <a:latin typeface="Times New Roman" pitchFamily="33" charset="0"/>
                <a:ea typeface="+mn-ea"/>
                <a:cs typeface="+mn-cs"/>
              </a:rPr>
              <a:t>issues related to caches, including size, replacement algorithm, and write policy; see</a:t>
            </a:r>
          </a:p>
          <a:p>
            <a:r>
              <a:rPr kumimoji="1" lang="en-US" sz="1200" kern="1200" baseline="0" dirty="0">
                <a:solidFill>
                  <a:schemeClr val="tx1"/>
                </a:solidFill>
                <a:latin typeface="Times New Roman" pitchFamily="33" charset="0"/>
                <a:ea typeface="+mn-ea"/>
                <a:cs typeface="+mn-cs"/>
              </a:rPr>
              <a:t>[HAND98] and [PEIR99] for discussions.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33" charset="0"/>
                <a:ea typeface="+mn-ea"/>
                <a:cs typeface="+mn-cs"/>
              </a:rPr>
              <a:t>When the on-chip cache first made an appearance,</a:t>
            </a:r>
          </a:p>
          <a:p>
            <a:r>
              <a:rPr kumimoji="1" lang="en-US" sz="1200" kern="1200" baseline="0" dirty="0">
                <a:solidFill>
                  <a:schemeClr val="tx1"/>
                </a:solidFill>
                <a:latin typeface="Times New Roman" pitchFamily="33" charset="0"/>
                <a:ea typeface="+mn-ea"/>
                <a:cs typeface="+mn-cs"/>
              </a:rPr>
              <a:t>many of the designs consisted of a single cache used to store references to both data</a:t>
            </a:r>
          </a:p>
          <a:p>
            <a:r>
              <a:rPr kumimoji="1" lang="en-US" sz="1200" kern="1200" baseline="0" dirty="0">
                <a:solidFill>
                  <a:schemeClr val="tx1"/>
                </a:solidFill>
                <a:latin typeface="Times New Roman" pitchFamily="33" charset="0"/>
                <a:ea typeface="+mn-ea"/>
                <a:cs typeface="+mn-cs"/>
              </a:rPr>
              <a:t>and instructions. More recently, it has become common to split the cache into two:</a:t>
            </a:r>
          </a:p>
          <a:p>
            <a:r>
              <a:rPr kumimoji="1" lang="en-US" sz="1200" kern="1200" baseline="0" dirty="0">
                <a:solidFill>
                  <a:schemeClr val="tx1"/>
                </a:solidFill>
                <a:latin typeface="Times New Roman" pitchFamily="33" charset="0"/>
                <a:ea typeface="+mn-ea"/>
                <a:cs typeface="+mn-cs"/>
              </a:rPr>
              <a:t>one dedicated to instructions and one dedicated to data. These two caches both exist</a:t>
            </a:r>
          </a:p>
          <a:p>
            <a:r>
              <a:rPr kumimoji="1" lang="en-US" sz="1200" kern="1200" baseline="0" dirty="0">
                <a:solidFill>
                  <a:schemeClr val="tx1"/>
                </a:solidFill>
                <a:latin typeface="Times New Roman" pitchFamily="33" charset="0"/>
                <a:ea typeface="+mn-ea"/>
                <a:cs typeface="+mn-cs"/>
              </a:rPr>
              <a:t>at the same level, typically as two L1 caches. When the processor attempts to fetch an</a:t>
            </a:r>
          </a:p>
          <a:p>
            <a:r>
              <a:rPr kumimoji="1" lang="en-US" sz="1200" kern="1200" baseline="0" dirty="0">
                <a:solidFill>
                  <a:schemeClr val="tx1"/>
                </a:solidFill>
                <a:latin typeface="Times New Roman" pitchFamily="33" charset="0"/>
                <a:ea typeface="+mn-ea"/>
                <a:cs typeface="+mn-cs"/>
              </a:rPr>
              <a:t>instruction from main memory, it first consults the instruction L1 cache, and when the</a:t>
            </a:r>
          </a:p>
          <a:p>
            <a:r>
              <a:rPr kumimoji="1" lang="en-US" sz="1200" kern="1200" baseline="0" dirty="0">
                <a:solidFill>
                  <a:schemeClr val="tx1"/>
                </a:solidFill>
                <a:latin typeface="Times New Roman" pitchFamily="33" charset="0"/>
                <a:ea typeface="+mn-ea"/>
                <a:cs typeface="+mn-cs"/>
              </a:rPr>
              <a:t>processor attempts to fetch data from main memory, it first consults the data L1 cache.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There are two potential advantages of a unified cache: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For a given cache size, a unified cache has a higher hit rate than split caches</a:t>
            </a:r>
          </a:p>
          <a:p>
            <a:r>
              <a:rPr kumimoji="1" lang="en-US" sz="1200" kern="1200" baseline="0" dirty="0">
                <a:solidFill>
                  <a:schemeClr val="tx1"/>
                </a:solidFill>
                <a:latin typeface="Times New Roman" pitchFamily="33" charset="0"/>
                <a:ea typeface="+mn-ea"/>
                <a:cs typeface="+mn-cs"/>
              </a:rPr>
              <a:t>because it balances the load between instruction and data fetches automatically.</a:t>
            </a:r>
          </a:p>
          <a:p>
            <a:r>
              <a:rPr kumimoji="1" lang="en-US" sz="1200" kern="1200" baseline="0" dirty="0">
                <a:solidFill>
                  <a:schemeClr val="tx1"/>
                </a:solidFill>
                <a:latin typeface="Times New Roman" pitchFamily="33" charset="0"/>
                <a:ea typeface="+mn-ea"/>
                <a:cs typeface="+mn-cs"/>
              </a:rPr>
              <a:t>That is, if an execution pattern involves many more instruction fetches</a:t>
            </a:r>
          </a:p>
          <a:p>
            <a:r>
              <a:rPr kumimoji="1" lang="en-US" sz="1200" kern="1200" baseline="0" dirty="0">
                <a:solidFill>
                  <a:schemeClr val="tx1"/>
                </a:solidFill>
                <a:latin typeface="Times New Roman" pitchFamily="33" charset="0"/>
                <a:ea typeface="+mn-ea"/>
                <a:cs typeface="+mn-cs"/>
              </a:rPr>
              <a:t>than data fetches, then the cache will tend to fill up with instructions, and if an</a:t>
            </a:r>
          </a:p>
          <a:p>
            <a:r>
              <a:rPr kumimoji="1" lang="en-US" sz="1200" kern="1200" baseline="0" dirty="0">
                <a:solidFill>
                  <a:schemeClr val="tx1"/>
                </a:solidFill>
                <a:latin typeface="Times New Roman" pitchFamily="33" charset="0"/>
                <a:ea typeface="+mn-ea"/>
                <a:cs typeface="+mn-cs"/>
              </a:rPr>
              <a:t>execution pattern involves relatively more data fetches, the opposite will occur.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Only one cache needs to be designed and implemented.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trend is toward split caches at the L1 and unified caches for higher levels,</a:t>
            </a:r>
          </a:p>
          <a:p>
            <a:r>
              <a:rPr kumimoji="1" lang="en-US" sz="1200" kern="1200" baseline="0" dirty="0">
                <a:solidFill>
                  <a:schemeClr val="tx1"/>
                </a:solidFill>
                <a:latin typeface="Times New Roman" pitchFamily="33" charset="0"/>
                <a:ea typeface="+mn-ea"/>
                <a:cs typeface="+mn-cs"/>
              </a:rPr>
              <a:t>particularly for superscalar machines, which emphasize parallel instruction execution</a:t>
            </a:r>
          </a:p>
          <a:p>
            <a:r>
              <a:rPr kumimoji="1" lang="en-US" sz="1200" kern="1200" baseline="0" dirty="0">
                <a:solidFill>
                  <a:schemeClr val="tx1"/>
                </a:solidFill>
                <a:latin typeface="Times New Roman" pitchFamily="33" charset="0"/>
                <a:ea typeface="+mn-ea"/>
                <a:cs typeface="+mn-cs"/>
              </a:rPr>
              <a:t>and the prefetching of predicted future instructions. The key advantage of the</a:t>
            </a:r>
          </a:p>
          <a:p>
            <a:r>
              <a:rPr kumimoji="1" lang="en-US" sz="1200" kern="1200" baseline="0" dirty="0">
                <a:solidFill>
                  <a:schemeClr val="tx1"/>
                </a:solidFill>
                <a:latin typeface="Times New Roman" pitchFamily="33" charset="0"/>
                <a:ea typeface="+mn-ea"/>
                <a:cs typeface="+mn-cs"/>
              </a:rPr>
              <a:t>split cache design is that it eliminates contention for the cache between the instruction</a:t>
            </a:r>
          </a:p>
          <a:p>
            <a:r>
              <a:rPr kumimoji="1" lang="en-US" sz="1200" kern="1200" baseline="0" dirty="0">
                <a:solidFill>
                  <a:schemeClr val="tx1"/>
                </a:solidFill>
                <a:latin typeface="Times New Roman" pitchFamily="33" charset="0"/>
                <a:ea typeface="+mn-ea"/>
                <a:cs typeface="+mn-cs"/>
              </a:rPr>
              <a:t>fetch/decode unit and the execution unit. This is important in any design that</a:t>
            </a:r>
          </a:p>
          <a:p>
            <a:r>
              <a:rPr kumimoji="1" lang="en-US" sz="1200" kern="1200" baseline="0" dirty="0">
                <a:solidFill>
                  <a:schemeClr val="tx1"/>
                </a:solidFill>
                <a:latin typeface="Times New Roman" pitchFamily="33" charset="0"/>
                <a:ea typeface="+mn-ea"/>
                <a:cs typeface="+mn-cs"/>
              </a:rPr>
              <a:t>relies on the pipelining of instructions. Typically, the processor will fetch instructions</a:t>
            </a:r>
          </a:p>
          <a:p>
            <a:r>
              <a:rPr kumimoji="1" lang="en-US" sz="1200" kern="1200" baseline="0" dirty="0">
                <a:solidFill>
                  <a:schemeClr val="tx1"/>
                </a:solidFill>
                <a:latin typeface="Times New Roman" pitchFamily="33" charset="0"/>
                <a:ea typeface="+mn-ea"/>
                <a:cs typeface="+mn-cs"/>
              </a:rPr>
              <a:t>ahead of time and fill a buffer, or pipeline, with instructions to be executed. Suppose</a:t>
            </a:r>
          </a:p>
          <a:p>
            <a:r>
              <a:rPr kumimoji="1" lang="en-US" sz="1200" kern="1200" baseline="0" dirty="0">
                <a:solidFill>
                  <a:schemeClr val="tx1"/>
                </a:solidFill>
                <a:latin typeface="Times New Roman" pitchFamily="33" charset="0"/>
                <a:ea typeface="+mn-ea"/>
                <a:cs typeface="+mn-cs"/>
              </a:rPr>
              <a:t>now that we have a unified instruction/data cache. When the execution unit performs</a:t>
            </a:r>
          </a:p>
          <a:p>
            <a:r>
              <a:rPr kumimoji="1" lang="en-US" sz="1200" kern="1200" baseline="0" dirty="0">
                <a:solidFill>
                  <a:schemeClr val="tx1"/>
                </a:solidFill>
                <a:latin typeface="Times New Roman" pitchFamily="33" charset="0"/>
                <a:ea typeface="+mn-ea"/>
                <a:cs typeface="+mn-cs"/>
              </a:rPr>
              <a:t>a memory access to load and store data, the request is submitted to the unified cache.</a:t>
            </a:r>
          </a:p>
          <a:p>
            <a:r>
              <a:rPr kumimoji="1" lang="en-US" sz="1200" kern="1200" baseline="0" dirty="0">
                <a:solidFill>
                  <a:schemeClr val="tx1"/>
                </a:solidFill>
                <a:latin typeface="Times New Roman" pitchFamily="33" charset="0"/>
                <a:ea typeface="+mn-ea"/>
                <a:cs typeface="+mn-cs"/>
              </a:rPr>
              <a:t>If, at the same time, the instruction prefetcher issues a read request to the cache for</a:t>
            </a:r>
          </a:p>
          <a:p>
            <a:r>
              <a:rPr kumimoji="1" lang="en-US" sz="1200" kern="1200" baseline="0" dirty="0">
                <a:solidFill>
                  <a:schemeClr val="tx1"/>
                </a:solidFill>
                <a:latin typeface="Times New Roman" pitchFamily="33" charset="0"/>
                <a:ea typeface="+mn-ea"/>
                <a:cs typeface="+mn-cs"/>
              </a:rPr>
              <a:t>an instruction, that request will be temporarily blocked so that the cache can service</a:t>
            </a:r>
          </a:p>
          <a:p>
            <a:r>
              <a:rPr kumimoji="1" lang="en-US" sz="1200" kern="1200" baseline="0" dirty="0">
                <a:solidFill>
                  <a:schemeClr val="tx1"/>
                </a:solidFill>
                <a:latin typeface="Times New Roman" pitchFamily="33" charset="0"/>
                <a:ea typeface="+mn-ea"/>
                <a:cs typeface="+mn-cs"/>
              </a:rPr>
              <a:t>the execution unit first, enabling it to complete the currently executing instruction.</a:t>
            </a:r>
          </a:p>
          <a:p>
            <a:r>
              <a:rPr kumimoji="1" lang="en-US" sz="1200" kern="1200" baseline="0" dirty="0">
                <a:solidFill>
                  <a:schemeClr val="tx1"/>
                </a:solidFill>
                <a:latin typeface="Times New Roman" pitchFamily="33" charset="0"/>
                <a:ea typeface="+mn-ea"/>
                <a:cs typeface="+mn-cs"/>
              </a:rPr>
              <a:t>This cache contention can degrade performance by interfering with efficient use of</a:t>
            </a:r>
          </a:p>
          <a:p>
            <a:r>
              <a:rPr kumimoji="1" lang="en-US" sz="1200" kern="1200" baseline="0" dirty="0">
                <a:solidFill>
                  <a:schemeClr val="tx1"/>
                </a:solidFill>
                <a:latin typeface="Times New Roman" pitchFamily="33" charset="0"/>
                <a:ea typeface="+mn-ea"/>
                <a:cs typeface="+mn-cs"/>
              </a:rPr>
              <a:t>the instruction pipeline. The split cache structure overcomes this difficulty.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33" charset="0"/>
                <a:ea typeface="+mn-ea"/>
                <a:cs typeface="+mn-cs"/>
              </a:rPr>
              <a:t> Recall from Chapter 4 that we defined the inclusion principle for memory hierarchies</a:t>
            </a:r>
          </a:p>
          <a:p>
            <a:r>
              <a:rPr kumimoji="1" lang="en-US" sz="1200" kern="1200" dirty="0">
                <a:solidFill>
                  <a:schemeClr val="tx1"/>
                </a:solidFill>
                <a:effectLst/>
                <a:latin typeface="Times New Roman" pitchFamily="33" charset="0"/>
                <a:ea typeface="+mn-ea"/>
                <a:cs typeface="+mn-cs"/>
              </a:rPr>
              <a:t>as follows: All information items are originally stored in level </a:t>
            </a:r>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 where n  is the</a:t>
            </a:r>
          </a:p>
          <a:p>
            <a:r>
              <a:rPr kumimoji="1" lang="en-US" sz="1200" kern="1200" dirty="0">
                <a:solidFill>
                  <a:schemeClr val="tx1"/>
                </a:solidFill>
                <a:effectLst/>
                <a:latin typeface="Times New Roman" pitchFamily="33" charset="0"/>
                <a:ea typeface="+mn-ea"/>
                <a:cs typeface="+mn-cs"/>
              </a:rPr>
              <a:t>level most remote from the processor (lowest level). During the processing, subsets of</a:t>
            </a:r>
          </a:p>
          <a:p>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are copied into </a:t>
            </a:r>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–1. Similarity, subsets of </a:t>
            </a:r>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–1 are copied into </a:t>
            </a:r>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–2, and so on.</a:t>
            </a:r>
          </a:p>
          <a:p>
            <a:r>
              <a:rPr kumimoji="1" lang="en-US" sz="1200" kern="1200" dirty="0">
                <a:solidFill>
                  <a:schemeClr val="tx1"/>
                </a:solidFill>
                <a:effectLst/>
                <a:latin typeface="Times New Roman" pitchFamily="33" charset="0"/>
                <a:ea typeface="+mn-ea"/>
                <a:cs typeface="+mn-cs"/>
              </a:rPr>
              <a:t>This is expressed concisely as </a:t>
            </a:r>
            <a:r>
              <a:rPr kumimoji="1" lang="en-US" sz="1200" kern="1200" dirty="0" err="1">
                <a:solidFill>
                  <a:schemeClr val="tx1"/>
                </a:solidFill>
                <a:effectLst/>
                <a:latin typeface="Times New Roman" pitchFamily="33" charset="0"/>
                <a:ea typeface="+mn-ea"/>
                <a:cs typeface="+mn-cs"/>
              </a:rPr>
              <a:t>Mi</a:t>
            </a:r>
            <a:r>
              <a:rPr kumimoji="1" lang="en-US" sz="1200" kern="1200" dirty="0">
                <a:solidFill>
                  <a:schemeClr val="tx1"/>
                </a:solidFill>
                <a:effectLst/>
                <a:latin typeface="Times New Roman" pitchFamily="33" charset="0"/>
                <a:ea typeface="+mn-ea"/>
                <a:cs typeface="+mn-cs"/>
              </a:rPr>
              <a:t> </a:t>
            </a:r>
            <a:r>
              <a:rPr kumimoji="1" lang="en-US" sz="1200" kern="1200" dirty="0" err="1">
                <a:solidFill>
                  <a:schemeClr val="tx1"/>
                </a:solidFill>
                <a:effectLst/>
                <a:latin typeface="Times New Roman" pitchFamily="33" charset="0"/>
                <a:ea typeface="+mn-ea"/>
                <a:cs typeface="+mn-cs"/>
              </a:rPr>
              <a:t>Mi</a:t>
            </a:r>
            <a:r>
              <a:rPr kumimoji="1" lang="en-US" sz="1200" kern="1200" dirty="0">
                <a:solidFill>
                  <a:schemeClr val="tx1"/>
                </a:solidFill>
                <a:effectLst/>
                <a:latin typeface="Times New Roman" pitchFamily="33" charset="0"/>
                <a:ea typeface="+mn-ea"/>
                <a:cs typeface="+mn-cs"/>
              </a:rPr>
              <a:t> +1. Thus, if a word is found in </a:t>
            </a:r>
            <a:r>
              <a:rPr kumimoji="1" lang="en-US" sz="1200" kern="1200" dirty="0" err="1">
                <a:solidFill>
                  <a:schemeClr val="tx1"/>
                </a:solidFill>
                <a:effectLst/>
                <a:latin typeface="Times New Roman" pitchFamily="33" charset="0"/>
                <a:ea typeface="+mn-ea"/>
                <a:cs typeface="+mn-cs"/>
              </a:rPr>
              <a:t>Mi</a:t>
            </a:r>
            <a:r>
              <a:rPr kumimoji="1" lang="en-US" sz="1200" kern="1200" dirty="0">
                <a:solidFill>
                  <a:schemeClr val="tx1"/>
                </a:solidFill>
                <a:effectLst/>
                <a:latin typeface="Times New Roman" pitchFamily="33" charset="0"/>
                <a:ea typeface="+mn-ea"/>
                <a:cs typeface="+mn-cs"/>
              </a:rPr>
              <a:t> , then copies of</a:t>
            </a:r>
          </a:p>
          <a:p>
            <a:r>
              <a:rPr kumimoji="1" lang="en-US" sz="1200" kern="1200" dirty="0">
                <a:solidFill>
                  <a:schemeClr val="tx1"/>
                </a:solidFill>
                <a:effectLst/>
                <a:latin typeface="Times New Roman" pitchFamily="33" charset="0"/>
                <a:ea typeface="+mn-ea"/>
                <a:cs typeface="+mn-cs"/>
              </a:rPr>
              <a:t>the same word also exist in all lower layers </a:t>
            </a:r>
            <a:r>
              <a:rPr kumimoji="1" lang="en-US" sz="1200" kern="1200" dirty="0" err="1">
                <a:solidFill>
                  <a:schemeClr val="tx1"/>
                </a:solidFill>
                <a:effectLst/>
                <a:latin typeface="Times New Roman" pitchFamily="33" charset="0"/>
                <a:ea typeface="+mn-ea"/>
                <a:cs typeface="+mn-cs"/>
              </a:rPr>
              <a:t>Mi</a:t>
            </a:r>
            <a:r>
              <a:rPr kumimoji="1" lang="en-US" sz="1200" kern="1200" dirty="0">
                <a:solidFill>
                  <a:schemeClr val="tx1"/>
                </a:solidFill>
                <a:effectLst/>
                <a:latin typeface="Times New Roman" pitchFamily="33" charset="0"/>
                <a:ea typeface="+mn-ea"/>
                <a:cs typeface="+mn-cs"/>
              </a:rPr>
              <a:t> +1, </a:t>
            </a:r>
            <a:r>
              <a:rPr kumimoji="1" lang="en-US" sz="1200" kern="1200" dirty="0" err="1">
                <a:solidFill>
                  <a:schemeClr val="tx1"/>
                </a:solidFill>
                <a:effectLst/>
                <a:latin typeface="Times New Roman" pitchFamily="33" charset="0"/>
                <a:ea typeface="+mn-ea"/>
                <a:cs typeface="+mn-cs"/>
              </a:rPr>
              <a:t>Mi</a:t>
            </a:r>
            <a:r>
              <a:rPr kumimoji="1" lang="en-US" sz="1200" kern="1200" dirty="0">
                <a:solidFill>
                  <a:schemeClr val="tx1"/>
                </a:solidFill>
                <a:effectLst/>
                <a:latin typeface="Times New Roman" pitchFamily="33" charset="0"/>
                <a:ea typeface="+mn-ea"/>
                <a:cs typeface="+mn-cs"/>
              </a:rPr>
              <a:t> +2,…, </a:t>
            </a:r>
            <a:r>
              <a:rPr kumimoji="1" lang="en-US" sz="1200" kern="1200" dirty="0" err="1">
                <a:solidFill>
                  <a:schemeClr val="tx1"/>
                </a:solidFill>
                <a:effectLst/>
                <a:latin typeface="Times New Roman" pitchFamily="33" charset="0"/>
                <a:ea typeface="+mn-ea"/>
                <a:cs typeface="+mn-cs"/>
              </a:rPr>
              <a:t>Mn</a:t>
            </a:r>
            <a:r>
              <a:rPr kumimoji="1" lang="en-US" sz="1200" kern="1200" dirty="0">
                <a:solidFill>
                  <a:schemeClr val="tx1"/>
                </a:solidFill>
                <a:effectLst/>
                <a:latin typeface="Times New Roman" pitchFamily="33" charset="0"/>
                <a:ea typeface="+mn-ea"/>
                <a:cs typeface="+mn-cs"/>
              </a:rPr>
              <a:t> . In a multilevel cache</a:t>
            </a:r>
          </a:p>
          <a:p>
            <a:r>
              <a:rPr kumimoji="1" lang="en-US" sz="1200" kern="1200" dirty="0">
                <a:solidFill>
                  <a:schemeClr val="tx1"/>
                </a:solidFill>
                <a:effectLst/>
                <a:latin typeface="Times New Roman" pitchFamily="33" charset="0"/>
                <a:ea typeface="+mn-ea"/>
                <a:cs typeface="+mn-cs"/>
              </a:rPr>
              <a:t>environment, in which there may be multiple caches at one level that share the same</a:t>
            </a:r>
          </a:p>
          <a:p>
            <a:r>
              <a:rPr kumimoji="1" lang="en-US" sz="1200" kern="1200" dirty="0">
                <a:solidFill>
                  <a:schemeClr val="tx1"/>
                </a:solidFill>
                <a:effectLst/>
                <a:latin typeface="Times New Roman" pitchFamily="33" charset="0"/>
                <a:ea typeface="+mn-ea"/>
                <a:cs typeface="+mn-cs"/>
              </a:rPr>
              <a:t>cache at the next lower level, inclusion between these two levels may not always be</a:t>
            </a:r>
          </a:p>
          <a:p>
            <a:r>
              <a:rPr kumimoji="1" lang="en-US" sz="1200" kern="1200" dirty="0">
                <a:solidFill>
                  <a:schemeClr val="tx1"/>
                </a:solidFill>
                <a:effectLst/>
                <a:latin typeface="Times New Roman" pitchFamily="33" charset="0"/>
                <a:ea typeface="+mn-ea"/>
                <a:cs typeface="+mn-cs"/>
              </a:rPr>
              <a:t>desirable. Three inclusion policies are found in contemporary cache systems:</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The </a:t>
            </a:r>
            <a:r>
              <a:rPr kumimoji="1" lang="en-US" sz="1200" b="1" kern="1200" dirty="0">
                <a:solidFill>
                  <a:schemeClr val="tx1"/>
                </a:solidFill>
                <a:effectLst/>
                <a:latin typeface="Times New Roman" pitchFamily="33" charset="0"/>
                <a:ea typeface="+mn-ea"/>
                <a:cs typeface="+mn-cs"/>
              </a:rPr>
              <a:t>inclusive policy</a:t>
            </a:r>
            <a:r>
              <a:rPr kumimoji="1" lang="en-US" sz="1200" kern="1200" dirty="0">
                <a:solidFill>
                  <a:schemeClr val="tx1"/>
                </a:solidFill>
                <a:effectLst/>
                <a:latin typeface="Times New Roman" pitchFamily="33" charset="0"/>
                <a:ea typeface="+mn-ea"/>
                <a:cs typeface="+mn-cs"/>
              </a:rPr>
              <a:t>  dictates that a piece of data in one cache is guaranteed to</a:t>
            </a:r>
          </a:p>
          <a:p>
            <a:r>
              <a:rPr kumimoji="1" lang="en-US" sz="1200" kern="1200" dirty="0">
                <a:solidFill>
                  <a:schemeClr val="tx1"/>
                </a:solidFill>
                <a:effectLst/>
                <a:latin typeface="Times New Roman" pitchFamily="33" charset="0"/>
                <a:ea typeface="+mn-ea"/>
                <a:cs typeface="+mn-cs"/>
              </a:rPr>
              <a:t>be also found in all lower levels of caches. The advantage of the inclusive policy is that</a:t>
            </a:r>
          </a:p>
          <a:p>
            <a:r>
              <a:rPr kumimoji="1" lang="en-US" sz="1200" kern="1200" dirty="0">
                <a:solidFill>
                  <a:schemeClr val="tx1"/>
                </a:solidFill>
                <a:effectLst/>
                <a:latin typeface="Times New Roman" pitchFamily="33" charset="0"/>
                <a:ea typeface="+mn-ea"/>
                <a:cs typeface="+mn-cs"/>
              </a:rPr>
              <a:t>it simplifies searching for data when there are multiple processors in the computing</a:t>
            </a:r>
          </a:p>
          <a:p>
            <a:r>
              <a:rPr kumimoji="1" lang="en-US" sz="1200" kern="1200" dirty="0">
                <a:solidFill>
                  <a:schemeClr val="tx1"/>
                </a:solidFill>
                <a:effectLst/>
                <a:latin typeface="Times New Roman" pitchFamily="33" charset="0"/>
                <a:ea typeface="+mn-ea"/>
                <a:cs typeface="+mn-cs"/>
              </a:rPr>
              <a:t>system. For example, if one processor wants to know whether another processor has</a:t>
            </a:r>
          </a:p>
          <a:p>
            <a:r>
              <a:rPr kumimoji="1" lang="en-US" sz="1200" kern="1200" dirty="0">
                <a:solidFill>
                  <a:schemeClr val="tx1"/>
                </a:solidFill>
                <a:effectLst/>
                <a:latin typeface="Times New Roman" pitchFamily="33" charset="0"/>
                <a:ea typeface="+mn-ea"/>
                <a:cs typeface="+mn-cs"/>
              </a:rPr>
              <a:t>the data it needs, it does not need to search all levels of caches of that other processor</a:t>
            </a:r>
          </a:p>
          <a:p>
            <a:r>
              <a:rPr kumimoji="1" lang="en-US" sz="1200" kern="1200" dirty="0">
                <a:solidFill>
                  <a:schemeClr val="tx1"/>
                </a:solidFill>
                <a:effectLst/>
                <a:latin typeface="Times New Roman" pitchFamily="33" charset="0"/>
                <a:ea typeface="+mn-ea"/>
                <a:cs typeface="+mn-cs"/>
              </a:rPr>
              <a:t>but only the lowest-level cache. This property is useful in enforcing cache coherence,</a:t>
            </a:r>
          </a:p>
          <a:p>
            <a:r>
              <a:rPr kumimoji="1" lang="en-US" sz="1200" kern="1200" dirty="0">
                <a:solidFill>
                  <a:schemeClr val="tx1"/>
                </a:solidFill>
                <a:effectLst/>
                <a:latin typeface="Times New Roman" pitchFamily="33" charset="0"/>
                <a:ea typeface="+mn-ea"/>
                <a:cs typeface="+mn-cs"/>
              </a:rPr>
              <a:t>which is discussed in Chapter 20.</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The </a:t>
            </a:r>
            <a:r>
              <a:rPr kumimoji="1" lang="en-US" sz="1200" b="1" kern="1200" dirty="0">
                <a:solidFill>
                  <a:schemeClr val="tx1"/>
                </a:solidFill>
                <a:effectLst/>
                <a:latin typeface="Times New Roman" pitchFamily="33" charset="0"/>
                <a:ea typeface="+mn-ea"/>
                <a:cs typeface="+mn-cs"/>
              </a:rPr>
              <a:t>exclusive policy</a:t>
            </a:r>
            <a:r>
              <a:rPr kumimoji="1" lang="en-US" sz="1200" kern="1200" dirty="0">
                <a:solidFill>
                  <a:schemeClr val="tx1"/>
                </a:solidFill>
                <a:effectLst/>
                <a:latin typeface="Times New Roman" pitchFamily="33" charset="0"/>
                <a:ea typeface="+mn-ea"/>
                <a:cs typeface="+mn-cs"/>
              </a:rPr>
              <a:t>  dictates that a piece of data in one cache is guaranteed</a:t>
            </a:r>
          </a:p>
          <a:p>
            <a:r>
              <a:rPr kumimoji="1" lang="en-US" sz="1200" kern="1200" dirty="0">
                <a:solidFill>
                  <a:schemeClr val="tx1"/>
                </a:solidFill>
                <a:effectLst/>
                <a:latin typeface="Times New Roman" pitchFamily="33" charset="0"/>
                <a:ea typeface="+mn-ea"/>
                <a:cs typeface="+mn-cs"/>
              </a:rPr>
              <a:t>not  to be found in all lower levels of caches. The advantage of the exclusive policy</a:t>
            </a:r>
          </a:p>
          <a:p>
            <a:r>
              <a:rPr kumimoji="1" lang="en-US" sz="1200" kern="1200" dirty="0">
                <a:solidFill>
                  <a:schemeClr val="tx1"/>
                </a:solidFill>
                <a:effectLst/>
                <a:latin typeface="Times New Roman" pitchFamily="33" charset="0"/>
                <a:ea typeface="+mn-ea"/>
                <a:cs typeface="+mn-cs"/>
              </a:rPr>
              <a:t>is that it does not waste cache capacity since it does not store multiple copies of</a:t>
            </a:r>
          </a:p>
          <a:p>
            <a:r>
              <a:rPr kumimoji="1" lang="en-US" sz="1200" kern="1200" dirty="0">
                <a:solidFill>
                  <a:schemeClr val="tx1"/>
                </a:solidFill>
                <a:effectLst/>
                <a:latin typeface="Times New Roman" pitchFamily="33" charset="0"/>
                <a:ea typeface="+mn-ea"/>
                <a:cs typeface="+mn-cs"/>
              </a:rPr>
              <a:t>the same data in all of the caches. The disadvantage is the need to search multiple</a:t>
            </a:r>
          </a:p>
          <a:p>
            <a:r>
              <a:rPr kumimoji="1" lang="en-US" sz="1200" kern="1200" dirty="0">
                <a:solidFill>
                  <a:schemeClr val="tx1"/>
                </a:solidFill>
                <a:effectLst/>
                <a:latin typeface="Times New Roman" pitchFamily="33" charset="0"/>
                <a:ea typeface="+mn-ea"/>
                <a:cs typeface="+mn-cs"/>
              </a:rPr>
              <a:t>cache levels when invalidating or updating a block. To minimize the search time, the</a:t>
            </a:r>
          </a:p>
          <a:p>
            <a:r>
              <a:rPr kumimoji="1" lang="en-US" sz="1200" kern="1200" dirty="0">
                <a:solidFill>
                  <a:schemeClr val="tx1"/>
                </a:solidFill>
                <a:effectLst/>
                <a:latin typeface="Times New Roman" pitchFamily="33" charset="0"/>
                <a:ea typeface="+mn-ea"/>
                <a:cs typeface="+mn-cs"/>
              </a:rPr>
              <a:t>higher-level tag sets are typically duplicated at the lowest cache level to centralize</a:t>
            </a:r>
          </a:p>
          <a:p>
            <a:r>
              <a:rPr kumimoji="1" lang="en-US" sz="1200" kern="1200" dirty="0">
                <a:solidFill>
                  <a:schemeClr val="tx1"/>
                </a:solidFill>
                <a:effectLst/>
                <a:latin typeface="Times New Roman" pitchFamily="33" charset="0"/>
                <a:ea typeface="+mn-ea"/>
                <a:cs typeface="+mn-cs"/>
              </a:rPr>
              <a:t>searching.</a:t>
            </a:r>
          </a:p>
          <a:p>
            <a:endParaRPr kumimoji="1" lang="en-US" sz="1200" kern="1200" dirty="0">
              <a:solidFill>
                <a:schemeClr val="tx1"/>
              </a:solidFill>
              <a:effectLst/>
              <a:latin typeface="Times New Roman" pitchFamily="33" charset="0"/>
              <a:ea typeface="+mn-ea"/>
              <a:cs typeface="+mn-cs"/>
            </a:endParaRPr>
          </a:p>
          <a:p>
            <a:r>
              <a:rPr kumimoji="1" lang="en-US" sz="1200" kern="1200" dirty="0">
                <a:solidFill>
                  <a:schemeClr val="tx1"/>
                </a:solidFill>
                <a:effectLst/>
                <a:latin typeface="Times New Roman" pitchFamily="33" charset="0"/>
                <a:ea typeface="+mn-ea"/>
                <a:cs typeface="+mn-cs"/>
              </a:rPr>
              <a:t>With the </a:t>
            </a:r>
            <a:r>
              <a:rPr kumimoji="1" lang="en-US" sz="1200" b="1" kern="1200" dirty="0" err="1">
                <a:solidFill>
                  <a:schemeClr val="tx1"/>
                </a:solidFill>
                <a:effectLst/>
                <a:latin typeface="Times New Roman" pitchFamily="33" charset="0"/>
                <a:ea typeface="+mn-ea"/>
                <a:cs typeface="+mn-cs"/>
              </a:rPr>
              <a:t>noninclusive</a:t>
            </a:r>
            <a:r>
              <a:rPr kumimoji="1" lang="en-US" sz="1200" b="1" kern="1200" dirty="0">
                <a:solidFill>
                  <a:schemeClr val="tx1"/>
                </a:solidFill>
                <a:effectLst/>
                <a:latin typeface="Times New Roman" pitchFamily="33" charset="0"/>
                <a:ea typeface="+mn-ea"/>
                <a:cs typeface="+mn-cs"/>
              </a:rPr>
              <a:t> policy </a:t>
            </a:r>
            <a:r>
              <a:rPr kumimoji="1" lang="en-US" sz="1200" kern="1200" dirty="0">
                <a:solidFill>
                  <a:schemeClr val="tx1"/>
                </a:solidFill>
                <a:effectLst/>
                <a:latin typeface="Times New Roman" pitchFamily="33" charset="0"/>
                <a:ea typeface="+mn-ea"/>
                <a:cs typeface="+mn-cs"/>
              </a:rPr>
              <a:t>, a piece of data in one cache may or may not be</a:t>
            </a:r>
          </a:p>
          <a:p>
            <a:r>
              <a:rPr kumimoji="1" lang="en-US" sz="1200" kern="1200" dirty="0">
                <a:solidFill>
                  <a:schemeClr val="tx1"/>
                </a:solidFill>
                <a:effectLst/>
                <a:latin typeface="Times New Roman" pitchFamily="33" charset="0"/>
                <a:ea typeface="+mn-ea"/>
                <a:cs typeface="+mn-cs"/>
              </a:rPr>
              <a:t>found in lower levels of caches. This can be contrasted with the other two policies with</a:t>
            </a:r>
          </a:p>
          <a:p>
            <a:r>
              <a:rPr kumimoji="1" lang="en-US" sz="1200" kern="1200" dirty="0">
                <a:solidFill>
                  <a:schemeClr val="tx1"/>
                </a:solidFill>
                <a:effectLst/>
                <a:latin typeface="Times New Roman" pitchFamily="33" charset="0"/>
                <a:ea typeface="+mn-ea"/>
                <a:cs typeface="+mn-cs"/>
              </a:rPr>
              <a:t>the following examples. Suppose that the L2 line size is a multiple of the L1 line size.</a:t>
            </a:r>
          </a:p>
          <a:p>
            <a:r>
              <a:rPr kumimoji="1" lang="en-US" sz="1200" kern="1200" dirty="0">
                <a:solidFill>
                  <a:schemeClr val="tx1"/>
                </a:solidFill>
                <a:effectLst/>
                <a:latin typeface="Times New Roman" pitchFamily="33" charset="0"/>
                <a:ea typeface="+mn-ea"/>
                <a:cs typeface="+mn-cs"/>
              </a:rPr>
              <a:t>For the inclusive policy, if a block is evicted from the L2 cache, the corresponding multiple</a:t>
            </a:r>
          </a:p>
          <a:p>
            <a:r>
              <a:rPr kumimoji="1" lang="en-US" sz="1200" kern="1200" dirty="0">
                <a:solidFill>
                  <a:schemeClr val="tx1"/>
                </a:solidFill>
                <a:effectLst/>
                <a:latin typeface="Times New Roman" pitchFamily="33" charset="0"/>
                <a:ea typeface="+mn-ea"/>
                <a:cs typeface="+mn-cs"/>
              </a:rPr>
              <a:t>blocks will be evicted from the L1 cache. In contrast, with a </a:t>
            </a:r>
            <a:r>
              <a:rPr kumimoji="1" lang="en-US" sz="1200" kern="1200" dirty="0" err="1">
                <a:solidFill>
                  <a:schemeClr val="tx1"/>
                </a:solidFill>
                <a:effectLst/>
                <a:latin typeface="Times New Roman" pitchFamily="33" charset="0"/>
                <a:ea typeface="+mn-ea"/>
                <a:cs typeface="+mn-cs"/>
              </a:rPr>
              <a:t>noninclusive</a:t>
            </a:r>
            <a:r>
              <a:rPr kumimoji="1" lang="en-US" sz="1200" kern="1200" dirty="0">
                <a:solidFill>
                  <a:schemeClr val="tx1"/>
                </a:solidFill>
                <a:effectLst/>
                <a:latin typeface="Times New Roman" pitchFamily="33" charset="0"/>
                <a:ea typeface="+mn-ea"/>
                <a:cs typeface="+mn-cs"/>
              </a:rPr>
              <a:t> policy,</a:t>
            </a:r>
          </a:p>
          <a:p>
            <a:r>
              <a:rPr kumimoji="1" lang="en-US" sz="1200" kern="1200" dirty="0">
                <a:solidFill>
                  <a:schemeClr val="tx1"/>
                </a:solidFill>
                <a:effectLst/>
                <a:latin typeface="Times New Roman" pitchFamily="33" charset="0"/>
                <a:ea typeface="+mn-ea"/>
                <a:cs typeface="+mn-cs"/>
              </a:rPr>
              <a:t>the L1 cache my retain portions of a block recently evicted from the L2 cache. For the</a:t>
            </a:r>
          </a:p>
          <a:p>
            <a:r>
              <a:rPr kumimoji="1" lang="en-US" sz="1200" kern="1200" dirty="0">
                <a:solidFill>
                  <a:schemeClr val="tx1"/>
                </a:solidFill>
                <a:effectLst/>
                <a:latin typeface="Times New Roman" pitchFamily="33" charset="0"/>
                <a:ea typeface="+mn-ea"/>
                <a:cs typeface="+mn-cs"/>
              </a:rPr>
              <a:t>same difference in block size, if a portion of a block is promoted from the L2 cache to</a:t>
            </a:r>
          </a:p>
          <a:p>
            <a:r>
              <a:rPr kumimoji="1" lang="en-US" sz="1200" kern="1200" dirty="0">
                <a:solidFill>
                  <a:schemeClr val="tx1"/>
                </a:solidFill>
                <a:effectLst/>
                <a:latin typeface="Times New Roman" pitchFamily="33" charset="0"/>
                <a:ea typeface="+mn-ea"/>
                <a:cs typeface="+mn-cs"/>
              </a:rPr>
              <a:t>the L1 cache, the exclusive policy requires the entire L2 block be evicted. In contrast,</a:t>
            </a:r>
          </a:p>
          <a:p>
            <a:r>
              <a:rPr kumimoji="1" lang="en-US" sz="1200" kern="1200" dirty="0">
                <a:solidFill>
                  <a:schemeClr val="tx1"/>
                </a:solidFill>
                <a:effectLst/>
                <a:latin typeface="Times New Roman" pitchFamily="33" charset="0"/>
                <a:ea typeface="+mn-ea"/>
                <a:cs typeface="+mn-cs"/>
              </a:rPr>
              <a:t>the </a:t>
            </a:r>
            <a:r>
              <a:rPr kumimoji="1" lang="en-US" sz="1200" kern="1200" dirty="0" err="1">
                <a:solidFill>
                  <a:schemeClr val="tx1"/>
                </a:solidFill>
                <a:effectLst/>
                <a:latin typeface="Times New Roman" pitchFamily="33" charset="0"/>
                <a:ea typeface="+mn-ea"/>
                <a:cs typeface="+mn-cs"/>
              </a:rPr>
              <a:t>noninclusive</a:t>
            </a:r>
            <a:r>
              <a:rPr kumimoji="1" lang="en-US" sz="1200" kern="1200" dirty="0">
                <a:solidFill>
                  <a:schemeClr val="tx1"/>
                </a:solidFill>
                <a:effectLst/>
                <a:latin typeface="Times New Roman" pitchFamily="33" charset="0"/>
                <a:ea typeface="+mn-ea"/>
                <a:cs typeface="+mn-cs"/>
              </a:rPr>
              <a:t> policy does not require this eviction. As with the exclusive policy,</a:t>
            </a:r>
          </a:p>
          <a:p>
            <a:r>
              <a:rPr kumimoji="1" lang="en-US" sz="1200" kern="1200" dirty="0">
                <a:solidFill>
                  <a:schemeClr val="tx1"/>
                </a:solidFill>
                <a:effectLst/>
                <a:latin typeface="Times New Roman" pitchFamily="33" charset="0"/>
                <a:ea typeface="+mn-ea"/>
                <a:cs typeface="+mn-cs"/>
              </a:rPr>
              <a:t>a </a:t>
            </a:r>
            <a:r>
              <a:rPr kumimoji="1" lang="en-US" sz="1200" kern="1200" dirty="0" err="1">
                <a:solidFill>
                  <a:schemeClr val="tx1"/>
                </a:solidFill>
                <a:effectLst/>
                <a:latin typeface="Times New Roman" pitchFamily="33" charset="0"/>
                <a:ea typeface="+mn-ea"/>
                <a:cs typeface="+mn-cs"/>
              </a:rPr>
              <a:t>noninclusive</a:t>
            </a:r>
            <a:r>
              <a:rPr kumimoji="1" lang="en-US" sz="1200" kern="1200" dirty="0">
                <a:solidFill>
                  <a:schemeClr val="tx1"/>
                </a:solidFill>
                <a:effectLst/>
                <a:latin typeface="Times New Roman" pitchFamily="33" charset="0"/>
                <a:ea typeface="+mn-ea"/>
                <a:cs typeface="+mn-cs"/>
              </a:rPr>
              <a:t> policy will generally maintain all higher-level cache sets at the lowest</a:t>
            </a:r>
          </a:p>
          <a:p>
            <a:r>
              <a:rPr kumimoji="1" lang="en-US" sz="1200" kern="1200" dirty="0">
                <a:solidFill>
                  <a:schemeClr val="tx1"/>
                </a:solidFill>
                <a:effectLst/>
                <a:latin typeface="Times New Roman" pitchFamily="33" charset="0"/>
                <a:ea typeface="+mn-ea"/>
                <a:cs typeface="+mn-cs"/>
              </a:rPr>
              <a:t>cache level.</a:t>
            </a:r>
          </a:p>
          <a:p>
            <a:endParaRPr kumimoji="1" lang="en-US" sz="1200" kern="1200" dirty="0">
              <a:solidFill>
                <a:schemeClr val="tx1"/>
              </a:solidFill>
              <a:effectLst/>
              <a:latin typeface="Times New Roman" pitchFamily="33" charset="0"/>
              <a:ea typeface="+mn-ea"/>
              <a:cs typeface="+mn-cs"/>
            </a:endParaRPr>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46</a:t>
            </a:fld>
            <a:endParaRPr lang="en-US" dirty="0"/>
          </a:p>
        </p:txBody>
      </p:sp>
    </p:spTree>
    <p:extLst>
      <p:ext uri="{BB962C8B-B14F-4D97-AF65-F5344CB8AC3E}">
        <p14:creationId xmlns:p14="http://schemas.microsoft.com/office/powerpoint/2010/main" val="12199303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47</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5 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195764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98853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67982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821722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12624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872239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32517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609140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72591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8180224B-1D20-4735-9110-7B472262718A}"/>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318587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CC24D62-2B35-4E69-9AB5-2D24D4590248}"/>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130490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63BC6678-2969-4A21-BF32-B250E85E485C}"/>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918855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2BBEFBFC-9C14-43C3-9818-99275B56F7E1}"/>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47801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BA0A461B-6788-4106-BE6A-6E2A8A5A2A2C}"/>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5859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50BBC747-FDCA-4B3C-B35C-B029D06C1C04}"/>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34704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FA19A5B1-25E7-45EE-8EC7-7BC2E48D0444}"/>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4303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7B84D7D-95FA-43DE-AB38-5A80A3755B3B}"/>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903316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06E32D2-E609-4EE1-97AC-B7D24A002602}"/>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778683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6E8CF55-6100-44A9-88E5-306C31D838B0}"/>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2105982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019800" cy="58213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695F0CD-8695-4233-A01E-32676B39F056}"/>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471072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06400" y="152400"/>
            <a:ext cx="8204200" cy="838200"/>
          </a:xfrm>
        </p:spPr>
        <p:txBody>
          <a:bodyPr/>
          <a:lstStyle/>
          <a:p>
            <a:r>
              <a:rPr lang="en-US"/>
              <a:t>Click to edit Master title style</a:t>
            </a:r>
          </a:p>
        </p:txBody>
      </p:sp>
      <p:sp>
        <p:nvSpPr>
          <p:cNvPr id="3" name="ClipArt Placeholder 2"/>
          <p:cNvSpPr>
            <a:spLocks noGrp="1"/>
          </p:cNvSpPr>
          <p:nvPr>
            <p:ph type="clipArt" sz="half" idx="1"/>
          </p:nvPr>
        </p:nvSpPr>
        <p:spPr>
          <a:xfrm>
            <a:off x="457200" y="1066800"/>
            <a:ext cx="4013200" cy="5638800"/>
          </a:xfrm>
          <a:prstGeom prst="rect">
            <a:avLst/>
          </a:prstGeom>
        </p:spPr>
        <p:txBody>
          <a:bodyPr/>
          <a:lstStyle/>
          <a:p>
            <a:pPr lvl="0"/>
            <a:endParaRPr lang="en-US" noProof="0"/>
          </a:p>
        </p:txBody>
      </p:sp>
      <p:sp>
        <p:nvSpPr>
          <p:cNvPr id="4" name="Text Placeholder 3"/>
          <p:cNvSpPr>
            <a:spLocks noGrp="1"/>
          </p:cNvSpPr>
          <p:nvPr>
            <p:ph type="body" sz="half" idx="2"/>
          </p:nvPr>
        </p:nvSpPr>
        <p:spPr>
          <a:xfrm>
            <a:off x="4622800" y="1066800"/>
            <a:ext cx="4013200" cy="5638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977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653651166"/>
      </p:ext>
    </p:extLst>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992A642-D475-4F7A-834F-B0A6957934F1}"/>
              </a:ext>
            </a:extLst>
          </p:cNvPr>
          <p:cNvSpPr>
            <a:spLocks noGrp="1" noChangeArrowheads="1"/>
          </p:cNvSpPr>
          <p:nvPr>
            <p:ph type="title"/>
          </p:nvPr>
        </p:nvSpPr>
        <p:spPr bwMode="auto">
          <a:xfrm>
            <a:off x="1295400" y="304800"/>
            <a:ext cx="6629400" cy="838200"/>
          </a:xfrm>
          <a:prstGeom prst="rect">
            <a:avLst/>
          </a:prstGeom>
          <a:gradFill rotWithShape="0">
            <a:gsLst>
              <a:gs pos="0">
                <a:srgbClr val="CCECFF"/>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en-US" altLang="en-US"/>
          </a:p>
        </p:txBody>
      </p:sp>
      <p:sp>
        <p:nvSpPr>
          <p:cNvPr id="1029" name="Rectangle 5">
            <a:extLst>
              <a:ext uri="{FF2B5EF4-FFF2-40B4-BE49-F238E27FC236}">
                <a16:creationId xmlns:a16="http://schemas.microsoft.com/office/drawing/2014/main" id="{663115D6-A40A-4409-8840-F1C3BBD3EAB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28" name="Rectangle 8">
            <a:extLst>
              <a:ext uri="{FF2B5EF4-FFF2-40B4-BE49-F238E27FC236}">
                <a16:creationId xmlns:a16="http://schemas.microsoft.com/office/drawing/2014/main" id="{E003F3BF-90F1-4DB6-B26E-8F04A4ADF021}"/>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FontTx/>
              <a:buChar char="•"/>
              <a:defRPr/>
            </a:pPr>
            <a:endParaRPr lang="en-US" altLang="en-US" sz="3200"/>
          </a:p>
        </p:txBody>
      </p:sp>
      <p:sp>
        <p:nvSpPr>
          <p:cNvPr id="2" name="Rectangle 9">
            <a:extLst>
              <a:ext uri="{FF2B5EF4-FFF2-40B4-BE49-F238E27FC236}">
                <a16:creationId xmlns:a16="http://schemas.microsoft.com/office/drawing/2014/main" id="{F836AF1F-87B2-4D64-B591-F438C3D06461}"/>
              </a:ext>
            </a:extLst>
          </p:cNvPr>
          <p:cNvSpPr>
            <a:spLocks noChangeArrowheads="1"/>
          </p:cNvSpPr>
          <p:nvPr/>
        </p:nvSpPr>
        <p:spPr bwMode="auto">
          <a:xfrm>
            <a:off x="3124200" y="6477000"/>
            <a:ext cx="2895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z="1400"/>
              <a:t>FCSIT</a:t>
            </a:r>
          </a:p>
          <a:p>
            <a:pPr algn="ctr">
              <a:defRPr/>
            </a:pPr>
            <a:endParaRPr lang="en-US" altLang="en-US" sz="1400"/>
          </a:p>
        </p:txBody>
      </p:sp>
    </p:spTree>
    <p:extLst>
      <p:ext uri="{BB962C8B-B14F-4D97-AF65-F5344CB8AC3E}">
        <p14:creationId xmlns:p14="http://schemas.microsoft.com/office/powerpoint/2010/main" val="2535648665"/>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a:xfrm>
            <a:off x="457200" y="215899"/>
            <a:ext cx="8229600" cy="1224973"/>
          </a:xfrm>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5"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13316" name="Text Placeholder 3"/>
          <p:cNvSpPr txBox="1">
            <a:spLocks noGrp="1"/>
          </p:cNvSpPr>
          <p:nvPr>
            <p:ph type="body" idx="2"/>
          </p:nvPr>
        </p:nvSpPr>
        <p:spPr>
          <a:xfrm>
            <a:off x="5029200" y="1600200"/>
            <a:ext cx="3657600" cy="1600200"/>
          </a:xfrm>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4</a:t>
            </a:r>
          </a:p>
        </p:txBody>
      </p:sp>
      <p:sp>
        <p:nvSpPr>
          <p:cNvPr id="13317" name="Text Placeholder 4"/>
          <p:cNvSpPr txBox="1">
            <a:spLocks noGrp="1"/>
          </p:cNvSpPr>
          <p:nvPr>
            <p:ph type="body" idx="3"/>
          </p:nvPr>
        </p:nvSpPr>
        <p:spPr/>
        <p:txBody>
          <a:bodyPr/>
          <a:lstStyle/>
          <a:p>
            <a:pPr>
              <a:spcBef>
                <a:spcPct val="0"/>
              </a:spcBef>
            </a:pPr>
            <a:r>
              <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rPr>
              <a:t>The Memory Hierarchy: Cache Memory </a:t>
            </a:r>
          </a:p>
        </p:txBody>
      </p:sp>
    </p:spTree>
    <p:extLst>
      <p:ext uri="{BB962C8B-B14F-4D97-AF65-F5344CB8AC3E}">
        <p14:creationId xmlns:p14="http://schemas.microsoft.com/office/powerpoint/2010/main" val="13734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Locality (1 of 2)</a:t>
            </a:r>
          </a:p>
        </p:txBody>
      </p:sp>
      <p:sp>
        <p:nvSpPr>
          <p:cNvPr id="3" name="Content Placeholder 2"/>
          <p:cNvSpPr>
            <a:spLocks noGrp="1"/>
          </p:cNvSpPr>
          <p:nvPr>
            <p:ph type="body" idx="1"/>
          </p:nvPr>
        </p:nvSpPr>
        <p:spPr>
          <a:xfrm>
            <a:off x="457200" y="1600200"/>
            <a:ext cx="8229600" cy="4925144"/>
          </a:xfrm>
        </p:spPr>
        <p:txBody>
          <a:bodyPr>
            <a:normAutofit/>
          </a:bodyPr>
          <a:lstStyle/>
          <a:p>
            <a:pPr marL="319088" indent="-319088"/>
            <a:r>
              <a:rPr lang="en-US" dirty="0"/>
              <a:t>Also referred to as the </a:t>
            </a:r>
            <a:r>
              <a:rPr lang="en-US" i="1" dirty="0"/>
              <a:t>locality of reference</a:t>
            </a:r>
            <a:endParaRPr lang="en-US" dirty="0"/>
          </a:p>
          <a:p>
            <a:pPr marL="319088" indent="-319088"/>
            <a:r>
              <a:rPr lang="en-US" dirty="0"/>
              <a:t>Reflects the observation that during the course of execution of a program, memory references by the processor tend to cluster</a:t>
            </a:r>
          </a:p>
          <a:p>
            <a:pPr marL="319088" indent="-319088"/>
            <a:r>
              <a:rPr lang="en-US" dirty="0"/>
              <a:t>Locality is based on three assertions:</a:t>
            </a:r>
          </a:p>
          <a:p>
            <a:pPr marL="652463" lvl="2" indent="-319088">
              <a:buFont typeface="Arial" panose="020B0604020202020204" pitchFamily="34" charset="0"/>
              <a:buChar char="–"/>
            </a:pPr>
            <a:r>
              <a:rPr lang="en-US" sz="2000" dirty="0"/>
              <a:t>During any interval of time, a program references memory location non-uniformly</a:t>
            </a:r>
          </a:p>
          <a:p>
            <a:pPr marL="652463" lvl="2" indent="-319088">
              <a:buFont typeface="Arial" panose="020B0604020202020204" pitchFamily="34" charset="0"/>
              <a:buChar char="–"/>
            </a:pPr>
            <a:r>
              <a:rPr lang="en-US" sz="2000" dirty="0"/>
              <a:t>As a function of time, the probability that a given unit of memory is referenced tends to change slowly</a:t>
            </a:r>
          </a:p>
          <a:p>
            <a:pPr marL="652463" lvl="2" indent="-319088">
              <a:buFont typeface="Arial" panose="020B0604020202020204" pitchFamily="34" charset="0"/>
              <a:buChar char="–"/>
            </a:pPr>
            <a:r>
              <a:rPr lang="en-US" sz="2000" dirty="0"/>
              <a:t>The correlation between immediate past and immediate future memory reference patterns is high and tapers off as the time interval increases</a:t>
            </a:r>
          </a:p>
        </p:txBody>
      </p:sp>
    </p:spTree>
    <p:extLst>
      <p:ext uri="{BB962C8B-B14F-4D97-AF65-F5344CB8AC3E}">
        <p14:creationId xmlns:p14="http://schemas.microsoft.com/office/powerpoint/2010/main" val="1884307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Locality (2 of 2)</a:t>
            </a:r>
          </a:p>
        </p:txBody>
      </p:sp>
      <p:sp>
        <p:nvSpPr>
          <p:cNvPr id="3" name="Content Placeholder 2"/>
          <p:cNvSpPr>
            <a:spLocks noGrp="1"/>
          </p:cNvSpPr>
          <p:nvPr>
            <p:ph type="body" idx="1"/>
          </p:nvPr>
        </p:nvSpPr>
        <p:spPr>
          <a:xfrm>
            <a:off x="457200" y="1600200"/>
            <a:ext cx="7571184" cy="4525963"/>
          </a:xfrm>
        </p:spPr>
        <p:txBody>
          <a:bodyPr>
            <a:normAutofit/>
          </a:bodyPr>
          <a:lstStyle/>
          <a:p>
            <a:pPr marL="319088" indent="-319088"/>
            <a:r>
              <a:rPr lang="en-US" sz="2400" dirty="0"/>
              <a:t>Two forms of locality</a:t>
            </a:r>
          </a:p>
          <a:p>
            <a:pPr marL="676275" lvl="2" indent="-342900">
              <a:buFont typeface="Arial" panose="020B0604020202020204" pitchFamily="34" charset="0"/>
              <a:buChar char="–"/>
            </a:pPr>
            <a:r>
              <a:rPr lang="en-US" sz="2200" dirty="0"/>
              <a:t>Temporal locality</a:t>
            </a:r>
          </a:p>
          <a:p>
            <a:pPr marL="928688" lvl="4" indent="-290513">
              <a:buFont typeface="Arial" panose="020B0604020202020204" pitchFamily="34" charset="0"/>
              <a:buChar char="▪"/>
            </a:pPr>
            <a:r>
              <a:rPr lang="en-US" sz="1800" dirty="0"/>
              <a:t>Refers to the tendency of a program to reference in the near future those units of memory referenced in the recent past</a:t>
            </a:r>
          </a:p>
          <a:p>
            <a:pPr marL="928688" lvl="4" indent="-290513">
              <a:buFont typeface="Arial" panose="020B0604020202020204" pitchFamily="34" charset="0"/>
              <a:buChar char="▪"/>
            </a:pPr>
            <a:r>
              <a:rPr lang="en-US" sz="1800" dirty="0"/>
              <a:t>Constants, temporary variables, and working stacks are also constructs that lead to this principle</a:t>
            </a:r>
          </a:p>
          <a:p>
            <a:pPr marL="319088" indent="-319088"/>
            <a:r>
              <a:rPr lang="en-US" sz="2400" dirty="0"/>
              <a:t>Spatial locality</a:t>
            </a:r>
          </a:p>
          <a:p>
            <a:pPr marL="676275" lvl="2" indent="-342900">
              <a:buFont typeface="Arial" panose="020B0604020202020204" pitchFamily="34" charset="0"/>
              <a:buChar char="–"/>
            </a:pPr>
            <a:r>
              <a:rPr lang="en-US" sz="2200" dirty="0"/>
              <a:t>Spatial locality</a:t>
            </a:r>
          </a:p>
          <a:p>
            <a:pPr marL="928688" lvl="4" indent="-290513">
              <a:buFont typeface="Arial" panose="020B0604020202020204" pitchFamily="34" charset="0"/>
              <a:buChar char="▪"/>
            </a:pPr>
            <a:r>
              <a:rPr lang="en-US" sz="1800" dirty="0"/>
              <a:t>Refers to the tendency of a program to reference units of memory whose addresses are near one another</a:t>
            </a:r>
          </a:p>
          <a:p>
            <a:pPr marL="928688" lvl="4" indent="-290513">
              <a:buFont typeface="Arial" panose="020B0604020202020204" pitchFamily="34" charset="0"/>
              <a:buChar char="▪"/>
            </a:pPr>
            <a:r>
              <a:rPr lang="en-US" sz="1800" dirty="0"/>
              <a:t>Also reflects the tendency of a program to access data locations sequentially, such as when processing a table of data</a:t>
            </a:r>
          </a:p>
        </p:txBody>
      </p:sp>
    </p:spTree>
    <p:extLst>
      <p:ext uri="{BB962C8B-B14F-4D97-AF65-F5344CB8AC3E}">
        <p14:creationId xmlns:p14="http://schemas.microsoft.com/office/powerpoint/2010/main" val="62193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a:t>Library Analogy Explained</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85994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4" name="Table 363" descr="The characteristics are as follows. For the category location. Internal, e g processor registers, cache, main memory, and external, e g optical disks, magnetic disks, tapes. For the category capacity. Number of words, and number of bytes. For the category unit of transfer. Word and block. For the category unity of transfer. Word and block. For the category access method. Sequential, direct, random, and associative. For the category performance. Access time, cycle time, and transfer rate. For the category physical type. Semiconductor, magnetic, optical, and magneto optical. For the category physical characteristics. Volatile or nonvolatile, erasable or nonerasable. For the category organization. Memory modules." title="Key characteristics of computer memory systems."/>
          <p:cNvGraphicFramePr>
            <a:graphicFrameLocks noGrp="1"/>
          </p:cNvGraphicFramePr>
          <p:nvPr/>
        </p:nvGraphicFramePr>
        <p:xfrm>
          <a:off x="1029663" y="1280214"/>
          <a:ext cx="7084674" cy="3732962"/>
        </p:xfrm>
        <a:graphic>
          <a:graphicData uri="http://schemas.openxmlformats.org/drawingml/2006/table">
            <a:tbl>
              <a:tblPr firstRow="1" bandRow="1">
                <a:tableStyleId>{5C22544A-7EE6-4342-B048-85BDC9FD1C3A}</a:tableStyleId>
              </a:tblPr>
              <a:tblGrid>
                <a:gridCol w="4250804">
                  <a:extLst>
                    <a:ext uri="{9D8B030D-6E8A-4147-A177-3AD203B41FA5}">
                      <a16:colId xmlns:a16="http://schemas.microsoft.com/office/drawing/2014/main" val="340325420"/>
                    </a:ext>
                  </a:extLst>
                </a:gridCol>
                <a:gridCol w="2833870">
                  <a:extLst>
                    <a:ext uri="{9D8B030D-6E8A-4147-A177-3AD203B41FA5}">
                      <a16:colId xmlns:a16="http://schemas.microsoft.com/office/drawing/2014/main" val="708195715"/>
                    </a:ext>
                  </a:extLst>
                </a:gridCol>
              </a:tblGrid>
              <a:tr h="3704456">
                <a:tc>
                  <a:txBody>
                    <a:bodyPr/>
                    <a:lstStyle/>
                    <a:p>
                      <a:pPr algn="l"/>
                      <a:r>
                        <a:rPr lang="en-US" sz="1400" b="1" dirty="0">
                          <a:solidFill>
                            <a:schemeClr val="tx1"/>
                          </a:solidFill>
                        </a:rPr>
                        <a:t>Location</a:t>
                      </a:r>
                    </a:p>
                    <a:p>
                      <a:pPr marL="268288" indent="0" algn="l"/>
                      <a:r>
                        <a:rPr lang="en-US" sz="1400" b="0" dirty="0">
                          <a:solidFill>
                            <a:schemeClr val="tx1"/>
                          </a:solidFill>
                        </a:rPr>
                        <a:t>Internal (e.g., processor registers, cache, main</a:t>
                      </a:r>
                    </a:p>
                    <a:p>
                      <a:pPr marL="396875" indent="0" algn="l"/>
                      <a:r>
                        <a:rPr lang="en-US" sz="1400" b="0" dirty="0">
                          <a:solidFill>
                            <a:schemeClr val="tx1"/>
                          </a:solidFill>
                        </a:rPr>
                        <a:t>memory)</a:t>
                      </a:r>
                    </a:p>
                    <a:p>
                      <a:pPr marL="268288" indent="0" algn="l"/>
                      <a:r>
                        <a:rPr lang="en-US" sz="1400" b="0" dirty="0">
                          <a:solidFill>
                            <a:schemeClr val="tx1"/>
                          </a:solidFill>
                        </a:rPr>
                        <a:t>External (e.g., optical disks, magnetic</a:t>
                      </a:r>
                    </a:p>
                    <a:p>
                      <a:pPr marL="396875" indent="0" algn="l"/>
                      <a:r>
                        <a:rPr lang="en-US" sz="1400" b="0" dirty="0">
                          <a:solidFill>
                            <a:schemeClr val="tx1"/>
                          </a:solidFill>
                        </a:rPr>
                        <a:t>disks, tapes)</a:t>
                      </a:r>
                    </a:p>
                    <a:p>
                      <a:pPr algn="l"/>
                      <a:r>
                        <a:rPr lang="en-US" sz="1400" b="1" dirty="0">
                          <a:solidFill>
                            <a:schemeClr val="tx1"/>
                          </a:solidFill>
                        </a:rPr>
                        <a:t>Capacity</a:t>
                      </a:r>
                    </a:p>
                    <a:p>
                      <a:pPr marL="268288" indent="0" algn="l"/>
                      <a:r>
                        <a:rPr lang="en-US" sz="1400" b="0" dirty="0">
                          <a:solidFill>
                            <a:schemeClr val="tx1"/>
                          </a:solidFill>
                        </a:rPr>
                        <a:t>Number of words</a:t>
                      </a:r>
                    </a:p>
                    <a:p>
                      <a:pPr marL="268288" indent="0" algn="l"/>
                      <a:r>
                        <a:rPr lang="en-US" sz="1400" b="0" dirty="0">
                          <a:solidFill>
                            <a:schemeClr val="tx1"/>
                          </a:solidFill>
                        </a:rPr>
                        <a:t>Number of bytes</a:t>
                      </a:r>
                    </a:p>
                    <a:p>
                      <a:pPr algn="l"/>
                      <a:r>
                        <a:rPr lang="en-US" sz="1400" b="1" dirty="0">
                          <a:solidFill>
                            <a:schemeClr val="tx1"/>
                          </a:solidFill>
                        </a:rPr>
                        <a:t>Unit of Transfer</a:t>
                      </a:r>
                    </a:p>
                    <a:p>
                      <a:pPr marL="268288" indent="0" algn="l"/>
                      <a:r>
                        <a:rPr lang="en-US" sz="1400" b="0" dirty="0">
                          <a:solidFill>
                            <a:schemeClr val="tx1"/>
                          </a:solidFill>
                        </a:rPr>
                        <a:t>Word</a:t>
                      </a:r>
                    </a:p>
                    <a:p>
                      <a:pPr marL="268288" indent="0" algn="l"/>
                      <a:r>
                        <a:rPr lang="en-US" sz="1400" b="0" dirty="0">
                          <a:solidFill>
                            <a:schemeClr val="tx1"/>
                          </a:solidFill>
                        </a:rPr>
                        <a:t>Block</a:t>
                      </a:r>
                    </a:p>
                    <a:p>
                      <a:pPr algn="l"/>
                      <a:r>
                        <a:rPr lang="en-US" sz="1400" b="1" dirty="0">
                          <a:solidFill>
                            <a:schemeClr val="tx1"/>
                          </a:solidFill>
                        </a:rPr>
                        <a:t>Access Method</a:t>
                      </a:r>
                    </a:p>
                    <a:p>
                      <a:pPr marL="268288" indent="0" algn="l"/>
                      <a:r>
                        <a:rPr lang="en-US" sz="1400" b="0" dirty="0">
                          <a:solidFill>
                            <a:schemeClr val="tx1"/>
                          </a:solidFill>
                        </a:rPr>
                        <a:t>Sequential</a:t>
                      </a:r>
                    </a:p>
                    <a:p>
                      <a:pPr marL="268288" indent="0" algn="l"/>
                      <a:r>
                        <a:rPr lang="en-US" sz="1400" b="0" dirty="0">
                          <a:solidFill>
                            <a:schemeClr val="tx1"/>
                          </a:solidFill>
                        </a:rPr>
                        <a:t>Direct</a:t>
                      </a:r>
                    </a:p>
                    <a:p>
                      <a:pPr marL="268288" indent="0" algn="l"/>
                      <a:r>
                        <a:rPr lang="en-US" sz="1400" b="0" dirty="0">
                          <a:solidFill>
                            <a:schemeClr val="tx1"/>
                          </a:solidFill>
                        </a:rPr>
                        <a:t>Random</a:t>
                      </a:r>
                    </a:p>
                    <a:p>
                      <a:pPr marL="268288" indent="0" algn="l"/>
                      <a:r>
                        <a:rPr lang="en-US" sz="1400" b="0" dirty="0">
                          <a:solidFill>
                            <a:schemeClr val="tx1"/>
                          </a:solidFill>
                        </a:rPr>
                        <a:t>Associative</a:t>
                      </a:r>
                      <a:endParaRPr lang="en-IN" sz="1400" b="0" dirty="0">
                        <a:solidFill>
                          <a:schemeClr val="tx1"/>
                        </a:solidFill>
                      </a:endParaRPr>
                    </a:p>
                    <a:p>
                      <a:pPr algn="l"/>
                      <a:endParaRPr lang="en-IN" sz="1400" b="1" dirty="0">
                        <a:solidFill>
                          <a:schemeClr val="tx1"/>
                        </a:solidFill>
                      </a:endParaRPr>
                    </a:p>
                  </a:txBody>
                  <a:tcPr marL="105842" marR="105842" marT="52921" marB="52921">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1" dirty="0">
                          <a:solidFill>
                            <a:schemeClr val="tx1"/>
                          </a:solidFill>
                        </a:rPr>
                        <a:t>Performance</a:t>
                      </a:r>
                    </a:p>
                    <a:p>
                      <a:pPr marL="369888" indent="0" algn="l"/>
                      <a:r>
                        <a:rPr lang="en-IN" sz="1400" b="0" dirty="0">
                          <a:solidFill>
                            <a:schemeClr val="tx1"/>
                          </a:solidFill>
                        </a:rPr>
                        <a:t>Access time</a:t>
                      </a:r>
                    </a:p>
                    <a:p>
                      <a:pPr marL="369888" indent="0" algn="l"/>
                      <a:r>
                        <a:rPr lang="en-IN" sz="1400" b="0" dirty="0">
                          <a:solidFill>
                            <a:schemeClr val="tx1"/>
                          </a:solidFill>
                        </a:rPr>
                        <a:t>Cycle time</a:t>
                      </a:r>
                    </a:p>
                    <a:p>
                      <a:pPr marL="369888" indent="0" algn="l"/>
                      <a:r>
                        <a:rPr lang="en-IN" sz="1400" b="0" dirty="0">
                          <a:solidFill>
                            <a:schemeClr val="tx1"/>
                          </a:solidFill>
                        </a:rPr>
                        <a:t>Transfer rate</a:t>
                      </a:r>
                    </a:p>
                    <a:p>
                      <a:pPr algn="l"/>
                      <a:r>
                        <a:rPr lang="en-IN" sz="1400" b="1" dirty="0">
                          <a:solidFill>
                            <a:schemeClr val="tx1"/>
                          </a:solidFill>
                        </a:rPr>
                        <a:t>Physical Type</a:t>
                      </a:r>
                    </a:p>
                    <a:p>
                      <a:pPr marL="369888" indent="0" algn="l"/>
                      <a:r>
                        <a:rPr lang="en-IN" sz="1400" b="0" dirty="0">
                          <a:solidFill>
                            <a:schemeClr val="tx1"/>
                          </a:solidFill>
                        </a:rPr>
                        <a:t>Semiconductor</a:t>
                      </a:r>
                    </a:p>
                    <a:p>
                      <a:pPr marL="369888" indent="0" algn="l"/>
                      <a:r>
                        <a:rPr lang="en-IN" sz="1400" b="0" dirty="0">
                          <a:solidFill>
                            <a:schemeClr val="tx1"/>
                          </a:solidFill>
                        </a:rPr>
                        <a:t>Magnetic</a:t>
                      </a:r>
                    </a:p>
                    <a:p>
                      <a:pPr marL="369888" indent="0" algn="l"/>
                      <a:r>
                        <a:rPr lang="en-IN" sz="1400" b="0" dirty="0">
                          <a:solidFill>
                            <a:schemeClr val="tx1"/>
                          </a:solidFill>
                        </a:rPr>
                        <a:t>Optical</a:t>
                      </a:r>
                    </a:p>
                    <a:p>
                      <a:pPr marL="369888" indent="0" algn="l"/>
                      <a:r>
                        <a:rPr lang="en-IN" sz="1400" b="0" dirty="0">
                          <a:solidFill>
                            <a:schemeClr val="tx1"/>
                          </a:solidFill>
                        </a:rPr>
                        <a:t>Magneto-optical</a:t>
                      </a:r>
                    </a:p>
                    <a:p>
                      <a:pPr algn="l"/>
                      <a:r>
                        <a:rPr lang="en-IN" sz="1400" b="1" dirty="0">
                          <a:solidFill>
                            <a:schemeClr val="tx1"/>
                          </a:solidFill>
                        </a:rPr>
                        <a:t>Physical Characteristics</a:t>
                      </a:r>
                    </a:p>
                    <a:p>
                      <a:pPr marL="369888" indent="0" algn="l"/>
                      <a:r>
                        <a:rPr lang="en-IN" sz="1400" b="0" dirty="0">
                          <a:solidFill>
                            <a:schemeClr val="tx1"/>
                          </a:solidFill>
                        </a:rPr>
                        <a:t>Volatile/</a:t>
                      </a:r>
                      <a:r>
                        <a:rPr lang="en-IN" sz="1400" b="0" dirty="0" err="1">
                          <a:solidFill>
                            <a:schemeClr val="tx1"/>
                          </a:solidFill>
                        </a:rPr>
                        <a:t>nonvolatile</a:t>
                      </a:r>
                      <a:endParaRPr lang="en-IN" sz="1400" b="0" dirty="0">
                        <a:solidFill>
                          <a:schemeClr val="tx1"/>
                        </a:solidFill>
                      </a:endParaRPr>
                    </a:p>
                    <a:p>
                      <a:pPr marL="369888" indent="0" algn="l"/>
                      <a:r>
                        <a:rPr lang="en-IN" sz="1400" b="0" dirty="0">
                          <a:solidFill>
                            <a:schemeClr val="tx1"/>
                          </a:solidFill>
                        </a:rPr>
                        <a:t>Erasable/nonerasable</a:t>
                      </a:r>
                    </a:p>
                    <a:p>
                      <a:pPr algn="l"/>
                      <a:r>
                        <a:rPr lang="en-IN" sz="1400" b="1" dirty="0">
                          <a:solidFill>
                            <a:schemeClr val="tx1"/>
                          </a:solidFill>
                        </a:rPr>
                        <a:t>Organization</a:t>
                      </a:r>
                    </a:p>
                    <a:p>
                      <a:pPr marL="369888" indent="0" algn="l"/>
                      <a:r>
                        <a:rPr lang="en-IN" sz="1400" b="0" dirty="0">
                          <a:solidFill>
                            <a:schemeClr val="tx1"/>
                          </a:solidFill>
                        </a:rPr>
                        <a:t>Memory modules</a:t>
                      </a:r>
                    </a:p>
                  </a:txBody>
                  <a:tcPr marL="105842" marR="105842" marT="52921" marB="52921">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bl>
          </a:graphicData>
        </a:graphic>
      </p:graphicFrame>
      <p:sp>
        <p:nvSpPr>
          <p:cNvPr id="2" name="Title 1">
            <a:extLst>
              <a:ext uri="{FF2B5EF4-FFF2-40B4-BE49-F238E27FC236}">
                <a16:creationId xmlns:a16="http://schemas.microsoft.com/office/drawing/2014/main" id="{9D9AD166-EE04-4BB9-B8B0-29E221BFEFD2}"/>
              </a:ext>
            </a:extLst>
          </p:cNvPr>
          <p:cNvSpPr>
            <a:spLocks noGrp="1"/>
          </p:cNvSpPr>
          <p:nvPr>
            <p:ph type="title"/>
          </p:nvPr>
        </p:nvSpPr>
        <p:spPr>
          <a:xfrm>
            <a:off x="31687" y="0"/>
            <a:ext cx="9112313" cy="1091574"/>
          </a:xfrm>
        </p:spPr>
        <p:txBody>
          <a:bodyPr/>
          <a:lstStyle/>
          <a:p>
            <a:r>
              <a:rPr lang="en-US" sz="3200" dirty="0"/>
              <a:t>Table 4.1</a:t>
            </a:r>
            <a:br>
              <a:rPr lang="en-US" sz="3200" dirty="0"/>
            </a:br>
            <a:r>
              <a:rPr lang="en-US" sz="3200" dirty="0"/>
              <a:t>Key Characteristics of Computer Memory Systems</a:t>
            </a:r>
          </a:p>
        </p:txBody>
      </p:sp>
    </p:spTree>
  </p:cSld>
  <p:clrMapOvr>
    <a:masterClrMapping/>
  </p:clrMapOvr>
  <p:transition spd="med">
    <p:cover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dirty="0"/>
              <a:t>Characteristics of Memory Systems</a:t>
            </a:r>
          </a:p>
        </p:txBody>
      </p:sp>
      <p:sp>
        <p:nvSpPr>
          <p:cNvPr id="8195" name="Rectangle 3"/>
          <p:cNvSpPr>
            <a:spLocks noGrp="1" noChangeArrowheads="1"/>
          </p:cNvSpPr>
          <p:nvPr>
            <p:ph type="body" idx="1"/>
          </p:nvPr>
        </p:nvSpPr>
        <p:spPr>
          <a:xfrm>
            <a:off x="457200" y="1600200"/>
            <a:ext cx="8229600" cy="4853136"/>
          </a:xfrm>
        </p:spPr>
        <p:txBody>
          <a:bodyPr>
            <a:normAutofit/>
          </a:bodyPr>
          <a:lstStyle/>
          <a:p>
            <a:pPr marL="317500" indent="-317500"/>
            <a:r>
              <a:rPr lang="en-GB" dirty="0"/>
              <a:t>Location</a:t>
            </a:r>
          </a:p>
          <a:p>
            <a:pPr marL="635000" lvl="1" indent="-317500"/>
            <a:r>
              <a:rPr lang="en-GB" sz="1800" dirty="0"/>
              <a:t>Refers to whether memory is internal and external to the computer</a:t>
            </a:r>
          </a:p>
          <a:p>
            <a:pPr marL="635000" lvl="1" indent="-317500"/>
            <a:r>
              <a:rPr lang="en-GB" sz="1800" dirty="0"/>
              <a:t>Internal memory is often equated with main memory</a:t>
            </a:r>
          </a:p>
          <a:p>
            <a:pPr marL="635000" lvl="1" indent="-317500"/>
            <a:r>
              <a:rPr lang="en-GB" sz="1800" dirty="0"/>
              <a:t>Processor requires its own local memory, in the form of registers</a:t>
            </a:r>
          </a:p>
          <a:p>
            <a:pPr marL="635000" lvl="1" indent="-317500"/>
            <a:r>
              <a:rPr lang="en-GB" sz="1800" dirty="0"/>
              <a:t>Cache is another form of internal memory</a:t>
            </a:r>
          </a:p>
          <a:p>
            <a:pPr marL="635000" lvl="1" indent="-317500"/>
            <a:r>
              <a:rPr lang="en-GB" sz="1800" dirty="0"/>
              <a:t>External memory consists of peripheral storage devices that are accessible to the processor via I/O controllers</a:t>
            </a:r>
          </a:p>
          <a:p>
            <a:pPr marL="317500" indent="-317500"/>
            <a:r>
              <a:rPr lang="en-GB" dirty="0"/>
              <a:t>Capacity</a:t>
            </a:r>
          </a:p>
          <a:p>
            <a:pPr marL="635000" lvl="1" indent="-317500"/>
            <a:r>
              <a:rPr lang="en-GB" sz="1800" dirty="0"/>
              <a:t>Memory is typically expressed in terms of bytes</a:t>
            </a:r>
          </a:p>
          <a:p>
            <a:pPr marL="317500" indent="-317500"/>
            <a:r>
              <a:rPr lang="en-GB" dirty="0"/>
              <a:t>Unit of transfer</a:t>
            </a:r>
          </a:p>
          <a:p>
            <a:pPr marL="635000" lvl="1" indent="-317500"/>
            <a:r>
              <a:rPr lang="en-GB" sz="1800" dirty="0"/>
              <a:t>For internal memory the unit of transfer is equal to the number of electrical lines into and out of the memory module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xfrm>
            <a:off x="457200" y="687475"/>
            <a:ext cx="8229600" cy="619385"/>
          </a:xfrm>
        </p:spPr>
        <p:txBody>
          <a:bodyPr/>
          <a:lstStyle/>
          <a:p>
            <a:r>
              <a:rPr lang="en-GB" dirty="0"/>
              <a:t>Capacity and Performance:</a:t>
            </a:r>
          </a:p>
        </p:txBody>
      </p:sp>
      <p:graphicFrame>
        <p:nvGraphicFramePr>
          <p:cNvPr id="8" name="Content Placeholder 41"/>
          <p:cNvGraphicFramePr>
            <a:graphicFrameLocks/>
          </p:cNvGraphicFramePr>
          <p:nvPr/>
        </p:nvGraphicFramePr>
        <p:xfrm>
          <a:off x="514175" y="1268760"/>
          <a:ext cx="8115650" cy="5125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Hierarchy</a:t>
            </a:r>
          </a:p>
        </p:txBody>
      </p:sp>
      <p:sp>
        <p:nvSpPr>
          <p:cNvPr id="3" name="Content Placeholder 2"/>
          <p:cNvSpPr>
            <a:spLocks noGrp="1"/>
          </p:cNvSpPr>
          <p:nvPr>
            <p:ph type="body" idx="1"/>
          </p:nvPr>
        </p:nvSpPr>
        <p:spPr/>
        <p:txBody>
          <a:bodyPr>
            <a:normAutofit/>
          </a:bodyPr>
          <a:lstStyle/>
          <a:p>
            <a:pPr marL="325438" indent="-325438"/>
            <a:r>
              <a:rPr lang="en-US" dirty="0"/>
              <a:t>Design constraints on a computer’s memory can be summed up by three questions:</a:t>
            </a:r>
          </a:p>
          <a:p>
            <a:pPr marL="638175" lvl="1" indent="-312738"/>
            <a:r>
              <a:rPr lang="en-US" sz="2000" dirty="0"/>
              <a:t>How much, how fast, how expensive</a:t>
            </a:r>
          </a:p>
          <a:p>
            <a:pPr marL="325438" indent="-325438"/>
            <a:r>
              <a:rPr lang="en-US" dirty="0"/>
              <a:t>There is a trade-off among capacity, access time, and cost</a:t>
            </a:r>
          </a:p>
          <a:p>
            <a:pPr marL="638175" lvl="1" indent="-312738"/>
            <a:r>
              <a:rPr lang="en-US" sz="2000" dirty="0"/>
              <a:t>Faster access time, greater cost per bit</a:t>
            </a:r>
          </a:p>
          <a:p>
            <a:pPr marL="638175" lvl="1" indent="-312738"/>
            <a:r>
              <a:rPr lang="en-US" sz="2000" dirty="0"/>
              <a:t>Greater capacity, smaller cost per bit</a:t>
            </a:r>
          </a:p>
          <a:p>
            <a:pPr marL="638175" lvl="1" indent="-312738"/>
            <a:r>
              <a:rPr lang="en-US" sz="2000" dirty="0"/>
              <a:t>Greater capacity, slower access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hierarchy triangle contains a set of 5 memory levels, listed here from bottom to top. The bottom level is comprised of a magnetic tape of offline bulk memory, which is used for offline storage. The next segment is virtual memory and file or database memory containing a magnetic disk, followed by solid state memory, which contains flash memory, as in the case of an S S D or flash drive, which are labeled as outboard storage. The next segment is main memory, which contains D R A M, S D R A M, D D R dash S D R A M, and so on, which are used for inboard storage. The top two segments are, cache containing multiple cache levels, such as S R A M and e D R A M, and C P U containing registers, which are used for on-chip storage." title="A diagram illustrates a hierarchy for memory."/>
          <p:cNvPicPr>
            <a:picLocks noChangeAspect="1"/>
          </p:cNvPicPr>
          <p:nvPr/>
        </p:nvPicPr>
        <p:blipFill rotWithShape="1">
          <a:blip r:embed="rId3">
            <a:extLst>
              <a:ext uri="{28A0092B-C50C-407E-A947-70E740481C1C}">
                <a14:useLocalDpi xmlns:a14="http://schemas.microsoft.com/office/drawing/2010/main" val="0"/>
              </a:ext>
            </a:extLst>
          </a:blip>
          <a:srcRect b="30050"/>
          <a:stretch/>
        </p:blipFill>
        <p:spPr>
          <a:xfrm>
            <a:off x="1115616" y="-147777"/>
            <a:ext cx="7335860" cy="6640652"/>
          </a:xfrm>
          <a:prstGeom prst="rect">
            <a:avLst/>
          </a:prstGeom>
        </p:spPr>
      </p:pic>
      <p:sp>
        <p:nvSpPr>
          <p:cNvPr id="2" name="Title 1">
            <a:extLst>
              <a:ext uri="{FF2B5EF4-FFF2-40B4-BE49-F238E27FC236}">
                <a16:creationId xmlns:a16="http://schemas.microsoft.com/office/drawing/2014/main" id="{5DB2502E-2D00-4965-B45D-259E58134457}"/>
              </a:ext>
            </a:extLst>
          </p:cNvPr>
          <p:cNvSpPr>
            <a:spLocks noGrp="1"/>
          </p:cNvSpPr>
          <p:nvPr>
            <p:ph type="title"/>
          </p:nvPr>
        </p:nvSpPr>
        <p:spPr/>
        <p:txBody>
          <a:bodyPr/>
          <a:lstStyle/>
          <a:p>
            <a:r>
              <a:rPr lang="en-US" dirty="0"/>
              <a:t>Figure 4.6</a:t>
            </a:r>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descr="The table has 4 columns labeled, memory level, typical technology, unit of transfer with next larger level according to typical size, and managed by. The rows read as follows. Row 1.  Registers. C  M O S. Word, 32 bits. Compiler. Row 2. Cache. Static R A M, or S R A M, embedded dynamic R A M, or e D R A M. Cache block of 32 bytes. Processor hardware. Row 3. Main memory. Row 4. Secondary memory. Magnetic disk. Disk sector of 512 bytes. O S slash user. Row 5. Offline bulk memory. Magnetic tape. Blank. O S slash user." title="A table with the title, characteristics of memory devices in a memory architecture."/>
          <p:cNvGraphicFramePr>
            <a:graphicFrameLocks noGrp="1"/>
          </p:cNvGraphicFramePr>
          <p:nvPr/>
        </p:nvGraphicFramePr>
        <p:xfrm>
          <a:off x="400020" y="1631810"/>
          <a:ext cx="8359902" cy="3381366"/>
        </p:xfrm>
        <a:graphic>
          <a:graphicData uri="http://schemas.openxmlformats.org/drawingml/2006/table">
            <a:tbl>
              <a:tblPr firstRow="1" bandRow="1">
                <a:tableStyleId>{5C22544A-7EE6-4342-B048-85BDC9FD1C3A}</a:tableStyleId>
              </a:tblPr>
              <a:tblGrid>
                <a:gridCol w="1916097">
                  <a:extLst>
                    <a:ext uri="{9D8B030D-6E8A-4147-A177-3AD203B41FA5}">
                      <a16:colId xmlns:a16="http://schemas.microsoft.com/office/drawing/2014/main" val="340325420"/>
                    </a:ext>
                  </a:extLst>
                </a:gridCol>
                <a:gridCol w="2147935">
                  <a:extLst>
                    <a:ext uri="{9D8B030D-6E8A-4147-A177-3AD203B41FA5}">
                      <a16:colId xmlns:a16="http://schemas.microsoft.com/office/drawing/2014/main" val="1585267652"/>
                    </a:ext>
                  </a:extLst>
                </a:gridCol>
                <a:gridCol w="2147935">
                  <a:extLst>
                    <a:ext uri="{9D8B030D-6E8A-4147-A177-3AD203B41FA5}">
                      <a16:colId xmlns:a16="http://schemas.microsoft.com/office/drawing/2014/main" val="2637749151"/>
                    </a:ext>
                  </a:extLst>
                </a:gridCol>
                <a:gridCol w="2147935">
                  <a:extLst>
                    <a:ext uri="{9D8B030D-6E8A-4147-A177-3AD203B41FA5}">
                      <a16:colId xmlns:a16="http://schemas.microsoft.com/office/drawing/2014/main" val="708195715"/>
                    </a:ext>
                  </a:extLst>
                </a:gridCol>
              </a:tblGrid>
              <a:tr h="636332">
                <a:tc>
                  <a:txBody>
                    <a:bodyPr/>
                    <a:lstStyle/>
                    <a:p>
                      <a:r>
                        <a:rPr lang="en-IN" sz="1400" dirty="0">
                          <a:solidFill>
                            <a:schemeClr val="tx1"/>
                          </a:solidFill>
                        </a:rPr>
                        <a:t>Memory level</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dirty="0">
                          <a:solidFill>
                            <a:schemeClr val="tx1"/>
                          </a:solidFill>
                        </a:rPr>
                        <a:t>Typical technology</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400" dirty="0">
                          <a:solidFill>
                            <a:schemeClr val="tx1"/>
                          </a:solidFill>
                        </a:rPr>
                        <a:t>Unit of transfer with</a:t>
                      </a:r>
                    </a:p>
                    <a:p>
                      <a:r>
                        <a:rPr lang="en-US" sz="1400" dirty="0">
                          <a:solidFill>
                            <a:schemeClr val="tx1"/>
                          </a:solidFill>
                        </a:rPr>
                        <a:t>next larger level</a:t>
                      </a:r>
                    </a:p>
                    <a:p>
                      <a:r>
                        <a:rPr lang="en-US" sz="1400" dirty="0">
                          <a:solidFill>
                            <a:schemeClr val="tx1"/>
                          </a:solidFill>
                        </a:rPr>
                        <a:t>(typical size)</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dirty="0">
                          <a:solidFill>
                            <a:schemeClr val="tx1"/>
                          </a:solidFill>
                        </a:rPr>
                        <a:t>Managed by</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293832">
                <a:tc>
                  <a:txBody>
                    <a:bodyPr/>
                    <a:lstStyle/>
                    <a:p>
                      <a:r>
                        <a:rPr lang="en-IN" sz="1400" dirty="0">
                          <a:solidFill>
                            <a:schemeClr val="tx1"/>
                          </a:solidFill>
                        </a:rPr>
                        <a:t>Registers</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dirty="0">
                          <a:solidFill>
                            <a:schemeClr val="tx1"/>
                          </a:solidFill>
                        </a:rPr>
                        <a:t>CMOS</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dirty="0">
                          <a:solidFill>
                            <a:schemeClr val="tx1"/>
                          </a:solidFill>
                        </a:rPr>
                        <a:t>Word (32 bits)</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dirty="0">
                          <a:solidFill>
                            <a:schemeClr val="tx1"/>
                          </a:solidFill>
                        </a:rPr>
                        <a:t>Compiler</a:t>
                      </a: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451667298"/>
                  </a:ext>
                </a:extLst>
              </a:tr>
              <a:tr h="636332">
                <a:tc>
                  <a:txBody>
                    <a:bodyPr/>
                    <a:lstStyle/>
                    <a:p>
                      <a:r>
                        <a:rPr lang="en-IN" sz="1400" b="0" i="0" u="none" strike="noStrike" cap="none" baseline="0" dirty="0">
                          <a:solidFill>
                            <a:schemeClr val="dk1"/>
                          </a:solidFill>
                          <a:latin typeface="+mn-lt"/>
                          <a:ea typeface="+mn-ea"/>
                          <a:cs typeface="+mn-cs"/>
                          <a:sym typeface="Arial"/>
                        </a:rPr>
                        <a:t>Cache</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400" dirty="0">
                          <a:solidFill>
                            <a:schemeClr val="tx1"/>
                          </a:solidFill>
                        </a:rPr>
                        <a:t>Static RAM (SRAM);</a:t>
                      </a:r>
                    </a:p>
                    <a:p>
                      <a:r>
                        <a:rPr lang="en-US" sz="1400" dirty="0">
                          <a:solidFill>
                            <a:schemeClr val="tx1"/>
                          </a:solidFill>
                        </a:rPr>
                        <a:t>Embedded dynamic</a:t>
                      </a:r>
                    </a:p>
                    <a:p>
                      <a:r>
                        <a:rPr lang="en-US" sz="1400" dirty="0">
                          <a:solidFill>
                            <a:schemeClr val="tx1"/>
                          </a:solidFill>
                        </a:rPr>
                        <a:t>RAM (</a:t>
                      </a:r>
                      <a:r>
                        <a:rPr lang="en-US" sz="1400" dirty="0" err="1">
                          <a:solidFill>
                            <a:schemeClr val="tx1"/>
                          </a:solidFill>
                        </a:rPr>
                        <a:t>eDRAM</a:t>
                      </a:r>
                      <a:r>
                        <a:rPr lang="en-US" sz="1400" dirty="0">
                          <a:solidFill>
                            <a:schemeClr val="tx1"/>
                          </a:solidFill>
                        </a:rPr>
                        <a:t>)</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Cache block (32 bytes)</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Processor hardware</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939936333"/>
                  </a:ext>
                </a:extLst>
              </a:tr>
              <a:tr h="465082">
                <a:tc>
                  <a:txBody>
                    <a:bodyPr/>
                    <a:lstStyle/>
                    <a:p>
                      <a:r>
                        <a:rPr lang="en-IN" sz="1400" b="0" i="0" u="none" strike="noStrike" cap="none" baseline="0" dirty="0">
                          <a:solidFill>
                            <a:schemeClr val="dk1"/>
                          </a:solidFill>
                          <a:latin typeface="+mn-lt"/>
                          <a:ea typeface="+mn-ea"/>
                          <a:cs typeface="+mn-cs"/>
                          <a:sym typeface="Arial"/>
                        </a:rPr>
                        <a:t>Main memory</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DRAM</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Virtual memory page</a:t>
                      </a:r>
                    </a:p>
                    <a:p>
                      <a:r>
                        <a:rPr lang="en-IN" sz="1400" b="0" i="0" u="none" strike="noStrike" cap="none" baseline="0" dirty="0">
                          <a:solidFill>
                            <a:schemeClr val="dk1"/>
                          </a:solidFill>
                          <a:latin typeface="+mn-lt"/>
                          <a:ea typeface="+mn-ea"/>
                          <a:cs typeface="+mn-cs"/>
                          <a:sym typeface="Arial"/>
                        </a:rPr>
                        <a:t>(1 kB)</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Operating system (OS)</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878948161"/>
                  </a:ext>
                </a:extLst>
              </a:tr>
              <a:tr h="425115">
                <a:tc>
                  <a:txBody>
                    <a:bodyPr/>
                    <a:lstStyle/>
                    <a:p>
                      <a:r>
                        <a:rPr lang="en-IN" sz="1400" b="0" i="0" u="none" strike="noStrike" cap="none" baseline="0" dirty="0">
                          <a:solidFill>
                            <a:schemeClr val="dk1"/>
                          </a:solidFill>
                          <a:latin typeface="+mn-lt"/>
                          <a:ea typeface="+mn-ea"/>
                          <a:cs typeface="+mn-cs"/>
                          <a:sym typeface="Arial"/>
                        </a:rPr>
                        <a:t>Secondary memory</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Magnetic disk</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Disk sector (512 bytes)</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OS/user</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290325656"/>
                  </a:ext>
                </a:extLst>
              </a:tr>
              <a:tr h="425115">
                <a:tc>
                  <a:txBody>
                    <a:bodyPr/>
                    <a:lstStyle/>
                    <a:p>
                      <a:r>
                        <a:rPr lang="en-IN" sz="1400" b="0" i="0" u="none" strike="noStrike" cap="none" baseline="0" dirty="0">
                          <a:solidFill>
                            <a:schemeClr val="dk1"/>
                          </a:solidFill>
                          <a:latin typeface="+mn-lt"/>
                          <a:ea typeface="+mn-ea"/>
                          <a:cs typeface="+mn-cs"/>
                          <a:sym typeface="Arial"/>
                        </a:rPr>
                        <a:t>Offline bulk memory</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Magnetic tape</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400" b="0" i="0" u="none" strike="noStrike" cap="none" baseline="0" dirty="0">
                          <a:solidFill>
                            <a:schemeClr val="dk1"/>
                          </a:solidFill>
                          <a:latin typeface="+mn-lt"/>
                          <a:ea typeface="+mn-ea"/>
                          <a:cs typeface="+mn-cs"/>
                          <a:sym typeface="Arial"/>
                        </a:rPr>
                        <a:t>OS/User</a:t>
                      </a:r>
                      <a:endParaRPr lang="en-IN" sz="1400" dirty="0">
                        <a:solidFill>
                          <a:schemeClr val="tx1"/>
                        </a:solidFill>
                      </a:endParaRPr>
                    </a:p>
                  </a:txBody>
                  <a:tcPr marL="152725" marR="152725" marT="76362" marB="76362">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45110464"/>
                  </a:ext>
                </a:extLst>
              </a:tr>
            </a:tbl>
          </a:graphicData>
        </a:graphic>
      </p:graphicFrame>
      <p:sp>
        <p:nvSpPr>
          <p:cNvPr id="2" name="TextBox 1"/>
          <p:cNvSpPr txBox="1"/>
          <p:nvPr/>
        </p:nvSpPr>
        <p:spPr>
          <a:xfrm>
            <a:off x="899491" y="5661248"/>
            <a:ext cx="7879016" cy="369332"/>
          </a:xfrm>
          <a:prstGeom prst="rect">
            <a:avLst/>
          </a:prstGeom>
          <a:noFill/>
        </p:spPr>
        <p:txBody>
          <a:bodyPr wrap="none" rtlCol="0">
            <a:spAutoFit/>
          </a:bodyPr>
          <a:lstStyle/>
          <a:p>
            <a:r>
              <a:rPr lang="en-US" sz="1800" b="1" dirty="0">
                <a:latin typeface="+mj-lt"/>
              </a:rPr>
              <a:t>Table 4.2 Characteristics of Memory Devices in a Memory Architecture</a:t>
            </a:r>
            <a:endParaRPr lang="en-IN" sz="1800" b="1" dirty="0">
              <a:latin typeface="+mj-lt"/>
            </a:endParaRPr>
          </a:p>
        </p:txBody>
      </p:sp>
      <p:sp>
        <p:nvSpPr>
          <p:cNvPr id="4" name="Title 3">
            <a:extLst>
              <a:ext uri="{FF2B5EF4-FFF2-40B4-BE49-F238E27FC236}">
                <a16:creationId xmlns:a16="http://schemas.microsoft.com/office/drawing/2014/main" id="{B8ED3ABD-FC2E-47F9-99EE-DDD401228F3D}"/>
              </a:ext>
            </a:extLst>
          </p:cNvPr>
          <p:cNvSpPr>
            <a:spLocks noGrp="1"/>
          </p:cNvSpPr>
          <p:nvPr>
            <p:ph type="title"/>
          </p:nvPr>
        </p:nvSpPr>
        <p:spPr>
          <a:xfrm>
            <a:off x="27878" y="116631"/>
            <a:ext cx="9116122" cy="1368153"/>
          </a:xfrm>
        </p:spPr>
        <p:txBody>
          <a:bodyPr/>
          <a:lstStyle/>
          <a:p>
            <a:r>
              <a:rPr lang="en-US" sz="2800" dirty="0"/>
              <a:t>Table 4.2</a:t>
            </a:r>
            <a:br>
              <a:rPr lang="en-US" sz="2800" dirty="0"/>
            </a:br>
            <a:r>
              <a:rPr lang="en-US" sz="2800" dirty="0"/>
              <a:t>Characteristics of Memory Devices in a Memory Architecture</a:t>
            </a:r>
          </a:p>
        </p:txBody>
      </p:sp>
    </p:spTree>
    <p:extLst>
      <p:ext uri="{BB962C8B-B14F-4D97-AF65-F5344CB8AC3E}">
        <p14:creationId xmlns:p14="http://schemas.microsoft.com/office/powerpoint/2010/main" val="479039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Why Cache?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36807353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ection A corresponds to the use of a single level cache. In a single level cache, word transfer between the C P U and the cache is fast, whereas block transfer between the cache and the main memory is slow. Section B corresponds to the use of multiple level caches. In the case of three level cache organization, data transfer between the C P U and the Level 1, or L 1, cache is the fastest. Data transfer between the L 1 cache and the L 2 cache is fast. Data transfer between the L 2 cache and the L 3 cache is less fast. Data transfer between the L 3 cache and the main memory is slow." title="A diagram explains the use of a single level cache and multiple level caches."/>
          <p:cNvPicPr>
            <a:picLocks noChangeAspect="1"/>
          </p:cNvPicPr>
          <p:nvPr/>
        </p:nvPicPr>
        <p:blipFill rotWithShape="1">
          <a:blip r:embed="rId3">
            <a:extLst>
              <a:ext uri="{28A0092B-C50C-407E-A947-70E740481C1C}">
                <a14:useLocalDpi xmlns:a14="http://schemas.microsoft.com/office/drawing/2010/main" val="0"/>
              </a:ext>
            </a:extLst>
          </a:blip>
          <a:srcRect l="5517" t="3722" r="8436" b="38124"/>
          <a:stretch/>
        </p:blipFill>
        <p:spPr>
          <a:xfrm>
            <a:off x="1691680" y="1305871"/>
            <a:ext cx="5760640" cy="5038346"/>
          </a:xfrm>
          <a:prstGeom prst="rect">
            <a:avLst/>
          </a:prstGeom>
        </p:spPr>
      </p:pic>
      <p:sp>
        <p:nvSpPr>
          <p:cNvPr id="4" name="Title 3">
            <a:extLst>
              <a:ext uri="{FF2B5EF4-FFF2-40B4-BE49-F238E27FC236}">
                <a16:creationId xmlns:a16="http://schemas.microsoft.com/office/drawing/2014/main" id="{9E2C9D4E-AC0A-4F0F-84C7-6A47E1E2076E}"/>
              </a:ext>
            </a:extLst>
          </p:cNvPr>
          <p:cNvSpPr>
            <a:spLocks noGrp="1"/>
          </p:cNvSpPr>
          <p:nvPr>
            <p:ph type="title"/>
          </p:nvPr>
        </p:nvSpPr>
        <p:spPr/>
        <p:txBody>
          <a:bodyPr/>
          <a:lstStyle/>
          <a:p>
            <a:r>
              <a:rPr lang="en-US" dirty="0"/>
              <a:t>Figure 5.1 </a:t>
            </a:r>
            <a:br>
              <a:rPr lang="en-US" dirty="0"/>
            </a:br>
            <a:r>
              <a:rPr lang="en-US" dirty="0"/>
              <a:t>Cache and Main Memory</a:t>
            </a:r>
          </a:p>
        </p:txBody>
      </p:sp>
    </p:spTree>
    <p:extLst>
      <p:ext uri="{BB962C8B-B14F-4D97-AF65-F5344CB8AC3E}">
        <p14:creationId xmlns:p14="http://schemas.microsoft.com/office/powerpoint/2010/main" val="655737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Memory Principles</a:t>
            </a:r>
          </a:p>
        </p:txBody>
      </p:sp>
      <p:sp>
        <p:nvSpPr>
          <p:cNvPr id="3" name="Content Placeholder 2"/>
          <p:cNvSpPr>
            <a:spLocks noGrp="1"/>
          </p:cNvSpPr>
          <p:nvPr>
            <p:ph type="body" idx="1"/>
          </p:nvPr>
        </p:nvSpPr>
        <p:spPr>
          <a:xfrm>
            <a:off x="457200" y="1600200"/>
            <a:ext cx="8229600" cy="4925144"/>
          </a:xfrm>
        </p:spPr>
        <p:txBody>
          <a:bodyPr>
            <a:normAutofit fontScale="92500" lnSpcReduction="10000"/>
          </a:bodyPr>
          <a:lstStyle/>
          <a:p>
            <a:pPr marL="350838" indent="-350838"/>
            <a:r>
              <a:rPr lang="en-US" dirty="0"/>
              <a:t>Block</a:t>
            </a:r>
          </a:p>
          <a:p>
            <a:pPr marL="638175" lvl="2" indent="-287338">
              <a:buFont typeface="Arial" panose="020B0604020202020204" pitchFamily="34" charset="0"/>
              <a:buChar char="–"/>
            </a:pPr>
            <a:r>
              <a:rPr lang="en-US" sz="1900" dirty="0"/>
              <a:t>The minimum unit of transfer between cache and main memory</a:t>
            </a:r>
          </a:p>
          <a:p>
            <a:pPr marL="350838" indent="-350838"/>
            <a:r>
              <a:rPr lang="en-US" dirty="0"/>
              <a:t>Frame</a:t>
            </a:r>
          </a:p>
          <a:p>
            <a:pPr marL="638175" lvl="2" indent="-287338">
              <a:buFont typeface="Arial" panose="020B0604020202020204" pitchFamily="34" charset="0"/>
              <a:buChar char="–"/>
            </a:pPr>
            <a:r>
              <a:rPr lang="en-US" sz="1900" dirty="0"/>
              <a:t>To distinguish between the data transferred and the chunk of physical memory, the term frame, or block frame, is sometimes used with reference to caches</a:t>
            </a:r>
          </a:p>
          <a:p>
            <a:pPr marL="350838" indent="-350838"/>
            <a:r>
              <a:rPr lang="en-US" dirty="0"/>
              <a:t>Line</a:t>
            </a:r>
          </a:p>
          <a:p>
            <a:pPr marL="638175" lvl="2" indent="-287338">
              <a:buFont typeface="Arial" panose="020B0604020202020204" pitchFamily="34" charset="0"/>
              <a:buChar char="–"/>
            </a:pPr>
            <a:r>
              <a:rPr lang="en-US" sz="1900" dirty="0"/>
              <a:t>A portion of cache memory capable of holding one block, so-called because it is usually drawn as a horizontal object</a:t>
            </a:r>
          </a:p>
          <a:p>
            <a:pPr marL="350838" indent="-350838"/>
            <a:r>
              <a:rPr lang="en-US" dirty="0"/>
              <a:t>Tag</a:t>
            </a:r>
          </a:p>
          <a:p>
            <a:pPr marL="638175" lvl="2" indent="-287338">
              <a:buFont typeface="Arial" panose="020B0604020202020204" pitchFamily="34" charset="0"/>
              <a:buChar char="–"/>
            </a:pPr>
            <a:r>
              <a:rPr lang="en-US" sz="1900" dirty="0"/>
              <a:t>A portion of a cache line that is used for addressing purposes</a:t>
            </a:r>
          </a:p>
          <a:p>
            <a:pPr marL="350838" indent="-350838"/>
            <a:r>
              <a:rPr lang="en-US" dirty="0"/>
              <a:t>Line size</a:t>
            </a:r>
          </a:p>
          <a:p>
            <a:pPr marL="638175" lvl="2" indent="-287338">
              <a:buFont typeface="Arial" panose="020B0604020202020204" pitchFamily="34" charset="0"/>
              <a:buChar char="–"/>
            </a:pPr>
            <a:r>
              <a:rPr lang="en-US" sz="1900" dirty="0"/>
              <a:t>The number of data bytes, or block size, contained in a line</a:t>
            </a:r>
          </a:p>
        </p:txBody>
      </p:sp>
    </p:spTree>
    <p:extLst>
      <p:ext uri="{BB962C8B-B14F-4D97-AF65-F5344CB8AC3E}">
        <p14:creationId xmlns:p14="http://schemas.microsoft.com/office/powerpoint/2010/main" val="1158892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ache. The cache contains a tag, a block, and lines from 0 to c minus 1. The horizontal distance of a block, excluding the tag, is labeled as the block length, k words. B, main memory. The main memory contains memory addresses from 0 to 2 to the power n, minus 1. The upper section of the main memory is labeled as Block 0, K words, and the lower section of the main memory is labeled, Block M minus 1." title="A diagrammatic representation of cache and main memory system structure. "/>
          <p:cNvPicPr>
            <a:picLocks noChangeAspect="1"/>
          </p:cNvPicPr>
          <p:nvPr/>
        </p:nvPicPr>
        <p:blipFill rotWithShape="1">
          <a:blip r:embed="rId3">
            <a:extLst>
              <a:ext uri="{28A0092B-C50C-407E-A947-70E740481C1C}">
                <a14:useLocalDpi xmlns:a14="http://schemas.microsoft.com/office/drawing/2010/main" val="0"/>
              </a:ext>
            </a:extLst>
          </a:blip>
          <a:srcRect l="6347" t="9280" r="10623" b="13595"/>
          <a:stretch/>
        </p:blipFill>
        <p:spPr>
          <a:xfrm>
            <a:off x="1043609" y="1320740"/>
            <a:ext cx="7056784" cy="5065086"/>
          </a:xfrm>
          <a:prstGeom prst="rect">
            <a:avLst/>
          </a:prstGeom>
        </p:spPr>
      </p:pic>
      <p:sp>
        <p:nvSpPr>
          <p:cNvPr id="2" name="Title 1">
            <a:extLst>
              <a:ext uri="{FF2B5EF4-FFF2-40B4-BE49-F238E27FC236}">
                <a16:creationId xmlns:a16="http://schemas.microsoft.com/office/drawing/2014/main" id="{F1B1CDEC-8617-4B49-A0FE-621A47CB21B6}"/>
              </a:ext>
            </a:extLst>
          </p:cNvPr>
          <p:cNvSpPr>
            <a:spLocks noGrp="1"/>
          </p:cNvSpPr>
          <p:nvPr>
            <p:ph type="title"/>
          </p:nvPr>
        </p:nvSpPr>
        <p:spPr/>
        <p:txBody>
          <a:bodyPr/>
          <a:lstStyle/>
          <a:p>
            <a:r>
              <a:rPr lang="en-US" dirty="0"/>
              <a:t>Figure 5.2 </a:t>
            </a:r>
            <a:br>
              <a:rPr lang="en-US" dirty="0"/>
            </a:br>
            <a:r>
              <a:rPr lang="en-US" dirty="0"/>
              <a:t>Cache/Main Memory Structure</a:t>
            </a:r>
          </a:p>
        </p:txBody>
      </p:sp>
    </p:spTree>
    <p:extLst>
      <p:ext uri="{BB962C8B-B14F-4D97-AF65-F5344CB8AC3E}">
        <p14:creationId xmlns:p14="http://schemas.microsoft.com/office/powerpoint/2010/main" val="2114490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processor receives a read address from the C P U. If the block contains the read address in the cache, it is fetched and delivered to the C P U. If not, then the read address needs to be accessed from the block containing it in the main memory. After accessing the read address, the cache line for main memory block needs to be allocated. After allocation of cache lines, the main memory block needs to be loaded into the cache line, and the read address needs to be delivered to the C P U for the purpose of program execution." title="A flowchart explains the process of a cache read operation."/>
          <p:cNvPicPr>
            <a:picLocks noChangeAspect="1"/>
          </p:cNvPicPr>
          <p:nvPr/>
        </p:nvPicPr>
        <p:blipFill rotWithShape="1">
          <a:blip r:embed="rId3">
            <a:extLst>
              <a:ext uri="{28A0092B-C50C-407E-A947-70E740481C1C}">
                <a14:useLocalDpi xmlns:a14="http://schemas.microsoft.com/office/drawing/2010/main" val="0"/>
              </a:ext>
            </a:extLst>
          </a:blip>
          <a:srcRect l="8661" t="12109" r="6215" b="21878"/>
          <a:stretch/>
        </p:blipFill>
        <p:spPr>
          <a:xfrm>
            <a:off x="2061883" y="1340768"/>
            <a:ext cx="5020235" cy="5038166"/>
          </a:xfrm>
          <a:prstGeom prst="rect">
            <a:avLst/>
          </a:prstGeom>
        </p:spPr>
      </p:pic>
      <p:sp>
        <p:nvSpPr>
          <p:cNvPr id="2" name="Title 1">
            <a:extLst>
              <a:ext uri="{FF2B5EF4-FFF2-40B4-BE49-F238E27FC236}">
                <a16:creationId xmlns:a16="http://schemas.microsoft.com/office/drawing/2014/main" id="{98FCEF80-0F27-4597-AB51-0FD03FAF94AA}"/>
              </a:ext>
            </a:extLst>
          </p:cNvPr>
          <p:cNvSpPr>
            <a:spLocks noGrp="1"/>
          </p:cNvSpPr>
          <p:nvPr>
            <p:ph type="title"/>
          </p:nvPr>
        </p:nvSpPr>
        <p:spPr/>
        <p:txBody>
          <a:bodyPr/>
          <a:lstStyle/>
          <a:p>
            <a:r>
              <a:rPr lang="en-US" dirty="0"/>
              <a:t>Figure 5.3 </a:t>
            </a:r>
            <a:br>
              <a:rPr lang="en-US" dirty="0"/>
            </a:br>
            <a:r>
              <a:rPr lang="en-US" dirty="0"/>
              <a:t>Cache Read Operation</a:t>
            </a:r>
          </a:p>
        </p:txBody>
      </p:sp>
    </p:spTree>
    <p:extLst>
      <p:ext uri="{BB962C8B-B14F-4D97-AF65-F5344CB8AC3E}">
        <p14:creationId xmlns:p14="http://schemas.microsoft.com/office/powerpoint/2010/main" val="714219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cache is connected to the processor through data, control, and address lines. The data and address lines are attached to address and data buffers, which are attached to a system bus." title="A diagrammatic representation of a typical cache organization. "/>
          <p:cNvPicPr>
            <a:picLocks noChangeAspect="1"/>
          </p:cNvPicPr>
          <p:nvPr/>
        </p:nvPicPr>
        <p:blipFill rotWithShape="1">
          <a:blip r:embed="rId3">
            <a:extLst>
              <a:ext uri="{28A0092B-C50C-407E-A947-70E740481C1C}">
                <a14:useLocalDpi xmlns:a14="http://schemas.microsoft.com/office/drawing/2010/main" val="0"/>
              </a:ext>
            </a:extLst>
          </a:blip>
          <a:srcRect l="7641" t="24495" r="7548" b="30688"/>
          <a:stretch/>
        </p:blipFill>
        <p:spPr>
          <a:xfrm>
            <a:off x="1264024" y="1628800"/>
            <a:ext cx="6615952" cy="4524473"/>
          </a:xfrm>
          <a:prstGeom prst="rect">
            <a:avLst/>
          </a:prstGeom>
        </p:spPr>
      </p:pic>
      <p:sp>
        <p:nvSpPr>
          <p:cNvPr id="2" name="Title 1">
            <a:extLst>
              <a:ext uri="{FF2B5EF4-FFF2-40B4-BE49-F238E27FC236}">
                <a16:creationId xmlns:a16="http://schemas.microsoft.com/office/drawing/2014/main" id="{308BF8C6-CFE6-4EA6-AEF6-6CCB7880FA72}"/>
              </a:ext>
            </a:extLst>
          </p:cNvPr>
          <p:cNvSpPr>
            <a:spLocks noGrp="1"/>
          </p:cNvSpPr>
          <p:nvPr>
            <p:ph type="title"/>
          </p:nvPr>
        </p:nvSpPr>
        <p:spPr/>
        <p:txBody>
          <a:bodyPr/>
          <a:lstStyle/>
          <a:p>
            <a:r>
              <a:rPr lang="en-US" dirty="0"/>
              <a:t>Figure 5.4 </a:t>
            </a:r>
            <a:br>
              <a:rPr lang="en-US" dirty="0"/>
            </a:br>
            <a:r>
              <a:rPr lang="en-US" dirty="0"/>
              <a:t>Typical Cache Organization</a:t>
            </a:r>
          </a:p>
        </p:txBody>
      </p:sp>
    </p:spTree>
    <p:extLst>
      <p:ext uri="{BB962C8B-B14F-4D97-AF65-F5344CB8AC3E}">
        <p14:creationId xmlns:p14="http://schemas.microsoft.com/office/powerpoint/2010/main" val="878910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Terminologi Cache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91480371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Cache Performance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97309344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sz="3600"/>
              <a:t>Can Cache Increases Performance Of The System?</a:t>
            </a:r>
            <a:endParaRPr lang="en-US" altLang="en-US"/>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85038449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descr="For the category Cache Addresses. Logical, Physical. For the category Cache Size. For the category mapping Function. Direct, Associative, Set associative. For the category Replacement Algorithm. Least recently used left parenthesis L R U right parenthesis, First in first out left parenthesis F I F O right parenthesis, Lest frequently used left parenthesis L F U right parenthesis, Random. For the category Write Policy. Write through, write back. For the category Line Size. For the category Number of Caches. Single or two level, Unified or split." title="A list titled Elements of Cache Design."/>
          <p:cNvGraphicFramePr>
            <a:graphicFrameLocks noGrp="1"/>
          </p:cNvGraphicFramePr>
          <p:nvPr>
            <p:extLst>
              <p:ext uri="{D42A27DB-BD31-4B8C-83A1-F6EECF244321}">
                <p14:modId xmlns:p14="http://schemas.microsoft.com/office/powerpoint/2010/main" val="4291392078"/>
              </p:ext>
            </p:extLst>
          </p:nvPr>
        </p:nvGraphicFramePr>
        <p:xfrm>
          <a:off x="647663" y="1566546"/>
          <a:ext cx="7848674" cy="4238718"/>
        </p:xfrm>
        <a:graphic>
          <a:graphicData uri="http://schemas.openxmlformats.org/drawingml/2006/table">
            <a:tbl>
              <a:tblPr firstRow="1" bandRow="1">
                <a:tableStyleId>{5C22544A-7EE6-4342-B048-85BDC9FD1C3A}</a:tableStyleId>
              </a:tblPr>
              <a:tblGrid>
                <a:gridCol w="4356385">
                  <a:extLst>
                    <a:ext uri="{9D8B030D-6E8A-4147-A177-3AD203B41FA5}">
                      <a16:colId xmlns:a16="http://schemas.microsoft.com/office/drawing/2014/main" val="340325420"/>
                    </a:ext>
                  </a:extLst>
                </a:gridCol>
                <a:gridCol w="3492289">
                  <a:extLst>
                    <a:ext uri="{9D8B030D-6E8A-4147-A177-3AD203B41FA5}">
                      <a16:colId xmlns:a16="http://schemas.microsoft.com/office/drawing/2014/main" val="933849417"/>
                    </a:ext>
                  </a:extLst>
                </a:gridCol>
              </a:tblGrid>
              <a:tr h="4238718">
                <a:tc>
                  <a:txBody>
                    <a:bodyPr/>
                    <a:lstStyle/>
                    <a:p>
                      <a:pPr marL="0" marR="0" indent="0" algn="l" defTabSz="914400" rtl="0" eaLnBrk="1" fontAlgn="auto" latinLnBrk="0" hangingPunct="1">
                        <a:lnSpc>
                          <a:spcPct val="100000"/>
                        </a:lnSpc>
                        <a:spcBef>
                          <a:spcPts val="300"/>
                        </a:spcBef>
                        <a:spcAft>
                          <a:spcPts val="0"/>
                        </a:spcAft>
                        <a:buClrTx/>
                        <a:buSzTx/>
                        <a:buFontTx/>
                        <a:buNone/>
                        <a:tabLst/>
                        <a:defRPr/>
                      </a:pPr>
                      <a:r>
                        <a:rPr lang="en-US" sz="1800" b="1" i="0" u="none" strike="noStrike" cap="none" baseline="0" dirty="0">
                          <a:solidFill>
                            <a:schemeClr val="dk1"/>
                          </a:solidFill>
                          <a:latin typeface="+mn-lt"/>
                          <a:ea typeface="+mn-ea"/>
                          <a:cs typeface="+mn-cs"/>
                          <a:sym typeface="Arial"/>
                        </a:rPr>
                        <a:t>Cache Addresses</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Logical</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Physical</a:t>
                      </a:r>
                    </a:p>
                    <a:p>
                      <a:pPr marL="0" marR="0" indent="0" algn="l" defTabSz="914400" rtl="0" eaLnBrk="1" fontAlgn="auto" latinLnBrk="0" hangingPunct="1">
                        <a:lnSpc>
                          <a:spcPct val="100000"/>
                        </a:lnSpc>
                        <a:spcBef>
                          <a:spcPts val="300"/>
                        </a:spcBef>
                        <a:spcAft>
                          <a:spcPts val="0"/>
                        </a:spcAft>
                        <a:buClrTx/>
                        <a:buSzTx/>
                        <a:buFontTx/>
                        <a:buNone/>
                        <a:tabLst/>
                        <a:defRPr/>
                      </a:pPr>
                      <a:r>
                        <a:rPr lang="en-US" sz="1800" b="1" i="0" u="none" strike="noStrike" cap="none" baseline="0" dirty="0">
                          <a:solidFill>
                            <a:schemeClr val="dk1"/>
                          </a:solidFill>
                          <a:latin typeface="+mn-lt"/>
                          <a:ea typeface="+mn-ea"/>
                          <a:cs typeface="+mn-cs"/>
                          <a:sym typeface="Arial"/>
                        </a:rPr>
                        <a:t>Cache Size</a:t>
                      </a:r>
                    </a:p>
                    <a:p>
                      <a:pPr marL="0" marR="0" indent="0" algn="l" defTabSz="914400" rtl="0" eaLnBrk="1" fontAlgn="auto" latinLnBrk="0" hangingPunct="1">
                        <a:lnSpc>
                          <a:spcPct val="100000"/>
                        </a:lnSpc>
                        <a:spcBef>
                          <a:spcPts val="300"/>
                        </a:spcBef>
                        <a:spcAft>
                          <a:spcPts val="0"/>
                        </a:spcAft>
                        <a:buClrTx/>
                        <a:buSzTx/>
                        <a:buFontTx/>
                        <a:buNone/>
                        <a:tabLst/>
                        <a:defRPr/>
                      </a:pPr>
                      <a:r>
                        <a:rPr lang="en-US" sz="1800" b="1" i="0" u="none" strike="noStrike" cap="none" baseline="0" dirty="0">
                          <a:solidFill>
                            <a:schemeClr val="dk1"/>
                          </a:solidFill>
                          <a:latin typeface="+mn-lt"/>
                          <a:ea typeface="+mn-ea"/>
                          <a:cs typeface="+mn-cs"/>
                          <a:sym typeface="Arial"/>
                        </a:rPr>
                        <a:t>Mapping Function</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Direct</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Associative</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Set associative</a:t>
                      </a:r>
                    </a:p>
                    <a:p>
                      <a:pPr marL="0" marR="0" indent="0" algn="l" defTabSz="914400" rtl="0" eaLnBrk="1" fontAlgn="auto" latinLnBrk="0" hangingPunct="1">
                        <a:lnSpc>
                          <a:spcPct val="100000"/>
                        </a:lnSpc>
                        <a:spcBef>
                          <a:spcPts val="300"/>
                        </a:spcBef>
                        <a:spcAft>
                          <a:spcPts val="0"/>
                        </a:spcAft>
                        <a:buClrTx/>
                        <a:buSzTx/>
                        <a:buFontTx/>
                        <a:buNone/>
                        <a:tabLst/>
                        <a:defRPr/>
                      </a:pPr>
                      <a:r>
                        <a:rPr lang="en-US" sz="1800" b="1" i="0" u="none" strike="noStrike" cap="none" baseline="0" dirty="0">
                          <a:solidFill>
                            <a:schemeClr val="dk1"/>
                          </a:solidFill>
                          <a:latin typeface="+mn-lt"/>
                          <a:ea typeface="+mn-ea"/>
                          <a:cs typeface="+mn-cs"/>
                          <a:sym typeface="Arial"/>
                        </a:rPr>
                        <a:t>Replacement Algorithm</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Least recently used (LRU)</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First in first out (FIFO)</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Least frequently used (LFU)</a:t>
                      </a:r>
                    </a:p>
                    <a:p>
                      <a:pPr marL="315913" marR="0" indent="-315913" algn="l" defTabSz="914400" rtl="0" eaLnBrk="1" fontAlgn="auto" latinLnBrk="0" hangingPunct="1">
                        <a:lnSpc>
                          <a:spcPct val="100000"/>
                        </a:lnSpc>
                        <a:spcBef>
                          <a:spcPts val="300"/>
                        </a:spcBef>
                        <a:spcAft>
                          <a:spcPts val="0"/>
                        </a:spcAft>
                        <a:buClrTx/>
                        <a:buSzTx/>
                        <a:buFontTx/>
                        <a:buNone/>
                        <a:tabLst/>
                        <a:defRPr/>
                      </a:pPr>
                      <a:r>
                        <a:rPr lang="en-US" sz="1800" b="0" i="0" u="none" strike="noStrike" cap="none" baseline="0" dirty="0">
                          <a:solidFill>
                            <a:schemeClr val="dk1"/>
                          </a:solidFill>
                          <a:latin typeface="+mn-lt"/>
                          <a:ea typeface="+mn-ea"/>
                          <a:cs typeface="+mn-cs"/>
                          <a:sym typeface="Arial"/>
                        </a:rPr>
                        <a:t>	Random</a:t>
                      </a:r>
                    </a:p>
                  </a:txBody>
                  <a:tcPr>
                    <a:lnL w="12700" cap="flat" cmpd="sng" algn="ctr">
                      <a:solidFill>
                        <a:srgbClr val="007FA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spcBef>
                          <a:spcPts val="300"/>
                        </a:spcBef>
                      </a:pPr>
                      <a:r>
                        <a:rPr lang="en-US" sz="1800" b="1" dirty="0">
                          <a:solidFill>
                            <a:schemeClr val="tx1"/>
                          </a:solidFill>
                        </a:rPr>
                        <a:t>Write Policy</a:t>
                      </a:r>
                    </a:p>
                    <a:p>
                      <a:pPr marL="273050" indent="-273050" algn="l">
                        <a:spcBef>
                          <a:spcPts val="300"/>
                        </a:spcBef>
                      </a:pPr>
                      <a:r>
                        <a:rPr lang="en-US" sz="1800" b="0" dirty="0">
                          <a:solidFill>
                            <a:schemeClr val="tx1"/>
                          </a:solidFill>
                        </a:rPr>
                        <a:t>	Write through</a:t>
                      </a:r>
                    </a:p>
                    <a:p>
                      <a:pPr marL="273050" indent="-273050" algn="l">
                        <a:spcBef>
                          <a:spcPts val="300"/>
                        </a:spcBef>
                      </a:pPr>
                      <a:r>
                        <a:rPr lang="en-US" sz="1800" b="0" dirty="0">
                          <a:solidFill>
                            <a:schemeClr val="tx1"/>
                          </a:solidFill>
                        </a:rPr>
                        <a:t>	Write back</a:t>
                      </a:r>
                    </a:p>
                    <a:p>
                      <a:pPr algn="l">
                        <a:spcBef>
                          <a:spcPts val="300"/>
                        </a:spcBef>
                      </a:pPr>
                      <a:r>
                        <a:rPr lang="en-US" sz="1800" b="1" dirty="0">
                          <a:solidFill>
                            <a:schemeClr val="tx1"/>
                          </a:solidFill>
                        </a:rPr>
                        <a:t>Line Size</a:t>
                      </a:r>
                    </a:p>
                    <a:p>
                      <a:pPr algn="l">
                        <a:spcBef>
                          <a:spcPts val="300"/>
                        </a:spcBef>
                      </a:pPr>
                      <a:r>
                        <a:rPr lang="en-US" sz="1800" b="1" dirty="0">
                          <a:solidFill>
                            <a:schemeClr val="tx1"/>
                          </a:solidFill>
                        </a:rPr>
                        <a:t>Number of Caches</a:t>
                      </a:r>
                    </a:p>
                    <a:p>
                      <a:pPr marL="273050" indent="-273050" algn="l">
                        <a:spcBef>
                          <a:spcPts val="300"/>
                        </a:spcBef>
                      </a:pPr>
                      <a:r>
                        <a:rPr lang="en-US" sz="1800" b="0" dirty="0">
                          <a:solidFill>
                            <a:schemeClr val="tx1"/>
                          </a:solidFill>
                        </a:rPr>
                        <a:t>	Single or two level</a:t>
                      </a:r>
                    </a:p>
                    <a:p>
                      <a:pPr marL="273050" indent="-273050" algn="l">
                        <a:spcBef>
                          <a:spcPts val="300"/>
                        </a:spcBef>
                      </a:pPr>
                      <a:r>
                        <a:rPr lang="en-US" sz="1800" b="0" dirty="0">
                          <a:solidFill>
                            <a:schemeClr val="tx1"/>
                          </a:solidFill>
                        </a:rPr>
                        <a:t>	Unified or split</a:t>
                      </a:r>
                      <a:endParaRPr lang="en-IN" sz="1800" b="0" dirty="0">
                        <a:solidFill>
                          <a:schemeClr val="tx1"/>
                        </a:solidFill>
                      </a:endParaRPr>
                    </a:p>
                  </a:txBody>
                  <a:tcPr>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bl>
          </a:graphicData>
        </a:graphic>
      </p:graphicFrame>
      <p:sp>
        <p:nvSpPr>
          <p:cNvPr id="2" name="Title 1">
            <a:extLst>
              <a:ext uri="{FF2B5EF4-FFF2-40B4-BE49-F238E27FC236}">
                <a16:creationId xmlns:a16="http://schemas.microsoft.com/office/drawing/2014/main" id="{62146107-F458-459C-AFCD-659E6162ABD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5.1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Elements of Cache Design </a:t>
            </a:r>
            <a:endParaRPr lang="en-US" dirty="0"/>
          </a:p>
        </p:txBody>
      </p:sp>
    </p:spTree>
  </p:cSld>
  <p:clrMapOvr>
    <a:masterClrMapping/>
  </p:clrMapOvr>
  <p:transition spd="med">
    <p:cover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Size</a:t>
            </a:r>
          </a:p>
        </p:txBody>
      </p:sp>
      <p:sp>
        <p:nvSpPr>
          <p:cNvPr id="3" name="Content Placeholder 2"/>
          <p:cNvSpPr>
            <a:spLocks noGrp="1"/>
          </p:cNvSpPr>
          <p:nvPr>
            <p:ph type="body" idx="1"/>
          </p:nvPr>
        </p:nvSpPr>
        <p:spPr>
          <a:xfrm>
            <a:off x="457200" y="1600200"/>
            <a:ext cx="8229600" cy="4853136"/>
          </a:xfrm>
        </p:spPr>
        <p:txBody>
          <a:bodyPr>
            <a:normAutofit/>
          </a:bodyPr>
          <a:lstStyle/>
          <a:p>
            <a:pPr marL="342900" indent="-342900"/>
            <a:r>
              <a:rPr lang="en-US" sz="2000" dirty="0"/>
              <a:t>Preferable for the size of the cache to be:</a:t>
            </a:r>
          </a:p>
          <a:p>
            <a:pPr marL="635000" lvl="2" indent="-292100">
              <a:buFont typeface="Arial" panose="020B0604020202020204" pitchFamily="34" charset="0"/>
              <a:buChar char="–"/>
            </a:pPr>
            <a:r>
              <a:rPr lang="en-US" sz="1800" dirty="0"/>
              <a:t>Small enough so that the overall average cost per bit is close to that of main memory alone</a:t>
            </a:r>
          </a:p>
          <a:p>
            <a:pPr marL="635000" lvl="2" indent="-292100">
              <a:buFont typeface="Arial" panose="020B0604020202020204" pitchFamily="34" charset="0"/>
              <a:buChar char="–"/>
            </a:pPr>
            <a:r>
              <a:rPr lang="en-US" sz="1800" dirty="0"/>
              <a:t>Large enough so that the overall average access time is close to that of the cache alone</a:t>
            </a:r>
          </a:p>
          <a:p>
            <a:pPr marL="342900" lvl="2" indent="-342900">
              <a:spcBef>
                <a:spcPts val="2000"/>
              </a:spcBef>
            </a:pPr>
            <a:r>
              <a:rPr lang="en-US" sz="2000" dirty="0"/>
              <a:t>Motivations for minimizing cache size:</a:t>
            </a:r>
          </a:p>
          <a:p>
            <a:pPr marL="635000" lvl="2" indent="-292100">
              <a:buFont typeface="Arial" panose="020B0604020202020204" pitchFamily="34" charset="0"/>
              <a:buChar char="–"/>
            </a:pPr>
            <a:r>
              <a:rPr lang="en-US" sz="1800" dirty="0"/>
              <a:t>The larger the cache, the larger the number of gates involved in addressing the cache resulting in large caches being slightly slower than small ones</a:t>
            </a:r>
          </a:p>
          <a:p>
            <a:pPr marL="635000" lvl="2" indent="-292100">
              <a:buFont typeface="Arial" panose="020B0604020202020204" pitchFamily="34" charset="0"/>
              <a:buChar char="–"/>
            </a:pPr>
            <a:r>
              <a:rPr lang="en-US" sz="1800" dirty="0"/>
              <a:t>The available chip and board area also limits cache size</a:t>
            </a:r>
          </a:p>
          <a:p>
            <a:pPr marL="342900" lvl="2" indent="-342900">
              <a:spcBef>
                <a:spcPts val="2000"/>
              </a:spcBef>
            </a:pPr>
            <a:r>
              <a:rPr lang="en-US" sz="2000" dirty="0"/>
              <a:t>Because the performance of the cache is very sensitive to the nature of the workload, it is impossible to arrive at a single “optimum” cache size</a:t>
            </a:r>
          </a:p>
        </p:txBody>
      </p:sp>
    </p:spTree>
    <p:extLst>
      <p:ext uri="{BB962C8B-B14F-4D97-AF65-F5344CB8AC3E}">
        <p14:creationId xmlns:p14="http://schemas.microsoft.com/office/powerpoint/2010/main" val="1740510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descr="The table has 4 columns titled Method, Organization, Mapping of Main Memory, Access using Main Memory Address. The Rows read as follows from left to right. Row 1. Direct Mapped. Sequence of m lines. Each block of main memory can map to any line of cache. Tag portion of address used to check every line for hit on that line. Row 2. Fully Associative. Sequence of m lines. Each block of main memory can map to any line of cache. Tag portion of address used to check every line for hit on that line. Row 3. Set Associative. Sequence of m lines organized as v sets of k lines right parenthesis m equals v times k right parenthesis. Each block of main memory maps to one unique cache set. Line portion of address used to access cache set, tag portion used to check every line in that set for hit on that line. " title="A table titled Cache Access Methods."/>
          <p:cNvGraphicFramePr>
            <a:graphicFrameLocks noGrp="1"/>
          </p:cNvGraphicFramePr>
          <p:nvPr>
            <p:extLst>
              <p:ext uri="{D42A27DB-BD31-4B8C-83A1-F6EECF244321}">
                <p14:modId xmlns:p14="http://schemas.microsoft.com/office/powerpoint/2010/main" val="1214772822"/>
              </p:ext>
            </p:extLst>
          </p:nvPr>
        </p:nvGraphicFramePr>
        <p:xfrm>
          <a:off x="268199" y="1829872"/>
          <a:ext cx="8607602" cy="3198256"/>
        </p:xfrm>
        <a:graphic>
          <a:graphicData uri="http://schemas.openxmlformats.org/drawingml/2006/table">
            <a:tbl>
              <a:tblPr firstRow="1" bandRow="1">
                <a:tableStyleId>{5C22544A-7EE6-4342-B048-85BDC9FD1C3A}</a:tableStyleId>
              </a:tblPr>
              <a:tblGrid>
                <a:gridCol w="1517610">
                  <a:extLst>
                    <a:ext uri="{9D8B030D-6E8A-4147-A177-3AD203B41FA5}">
                      <a16:colId xmlns:a16="http://schemas.microsoft.com/office/drawing/2014/main" val="3102758518"/>
                    </a:ext>
                  </a:extLst>
                </a:gridCol>
                <a:gridCol w="1615252">
                  <a:extLst>
                    <a:ext uri="{9D8B030D-6E8A-4147-A177-3AD203B41FA5}">
                      <a16:colId xmlns:a16="http://schemas.microsoft.com/office/drawing/2014/main" val="2543019389"/>
                    </a:ext>
                  </a:extLst>
                </a:gridCol>
                <a:gridCol w="2288988">
                  <a:extLst>
                    <a:ext uri="{9D8B030D-6E8A-4147-A177-3AD203B41FA5}">
                      <a16:colId xmlns:a16="http://schemas.microsoft.com/office/drawing/2014/main" val="4122312373"/>
                    </a:ext>
                  </a:extLst>
                </a:gridCol>
                <a:gridCol w="3185752">
                  <a:extLst>
                    <a:ext uri="{9D8B030D-6E8A-4147-A177-3AD203B41FA5}">
                      <a16:colId xmlns:a16="http://schemas.microsoft.com/office/drawing/2014/main" val="340325420"/>
                    </a:ext>
                  </a:extLst>
                </a:gridCol>
              </a:tblGrid>
              <a:tr h="648072">
                <a:tc>
                  <a:txBody>
                    <a:bodyPr/>
                    <a:lstStyle/>
                    <a:p>
                      <a:pPr algn="ctr"/>
                      <a:r>
                        <a:rPr lang="en-IN" sz="1200" b="1" i="0" u="none" strike="noStrike" cap="none" baseline="0" dirty="0">
                          <a:solidFill>
                            <a:schemeClr val="tx1"/>
                          </a:solidFill>
                          <a:latin typeface="+mn-lt"/>
                          <a:ea typeface="+mn-ea"/>
                          <a:cs typeface="+mn-cs"/>
                          <a:sym typeface="Arial"/>
                        </a:rPr>
                        <a:t>Method</a:t>
                      </a:r>
                      <a:endParaRPr lang="en-IN" sz="1200" b="1" dirty="0">
                        <a:solidFill>
                          <a:schemeClr val="tx1"/>
                        </a:solidFill>
                      </a:endParaRPr>
                    </a:p>
                  </a:txBody>
                  <a:tcPr anchor="b">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i="0" u="none" strike="noStrike" cap="none" baseline="0" dirty="0">
                          <a:solidFill>
                            <a:schemeClr val="tx1"/>
                          </a:solidFill>
                          <a:latin typeface="+mn-lt"/>
                          <a:ea typeface="+mn-ea"/>
                          <a:cs typeface="+mn-cs"/>
                          <a:sym typeface="Arial"/>
                        </a:rPr>
                        <a:t>Organization</a:t>
                      </a:r>
                      <a:endParaRPr lang="en-IN" sz="1200" b="1" dirty="0">
                        <a:solidFill>
                          <a:schemeClr val="tx1"/>
                        </a:solidFill>
                      </a:endParaRPr>
                    </a:p>
                  </a:txBody>
                  <a:tcPr anchor="b">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dirty="0">
                          <a:solidFill>
                            <a:schemeClr val="tx1"/>
                          </a:solidFill>
                        </a:rPr>
                        <a:t>Mapping of Main Memory</a:t>
                      </a:r>
                    </a:p>
                    <a:p>
                      <a:pPr algn="ctr"/>
                      <a:r>
                        <a:rPr lang="en-US" sz="1200" b="1" dirty="0">
                          <a:solidFill>
                            <a:schemeClr val="tx1"/>
                          </a:solidFill>
                        </a:rPr>
                        <a:t>Blocks to Cache</a:t>
                      </a:r>
                      <a:endParaRPr lang="en-IN" sz="1200" b="1" dirty="0">
                        <a:solidFill>
                          <a:schemeClr val="tx1"/>
                        </a:solidFill>
                      </a:endParaRPr>
                    </a:p>
                  </a:txBody>
                  <a:tcPr anchor="b">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dirty="0">
                          <a:solidFill>
                            <a:schemeClr val="tx1"/>
                          </a:solidFill>
                        </a:rPr>
                        <a:t>Access using Main</a:t>
                      </a:r>
                    </a:p>
                    <a:p>
                      <a:pPr algn="ctr"/>
                      <a:r>
                        <a:rPr lang="en-US" sz="1200" b="1" dirty="0">
                          <a:solidFill>
                            <a:schemeClr val="tx1"/>
                          </a:solidFill>
                        </a:rPr>
                        <a:t>Memory Address</a:t>
                      </a:r>
                      <a:endParaRPr lang="en-IN" sz="1200" b="1" dirty="0">
                        <a:solidFill>
                          <a:schemeClr val="tx1"/>
                        </a:solidFill>
                      </a:endParaRPr>
                    </a:p>
                  </a:txBody>
                  <a:tcPr anchor="b">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718629">
                <a:tc>
                  <a:txBody>
                    <a:bodyPr/>
                    <a:lstStyle/>
                    <a:p>
                      <a:pPr algn="ctr"/>
                      <a:r>
                        <a:rPr lang="en-IN" sz="1200" b="0" i="0" u="none" strike="noStrike" cap="none" baseline="0" dirty="0">
                          <a:solidFill>
                            <a:schemeClr val="dk1"/>
                          </a:solidFill>
                          <a:latin typeface="+mn-lt"/>
                          <a:ea typeface="+mn-ea"/>
                          <a:cs typeface="+mn-cs"/>
                          <a:sym typeface="Arial"/>
                        </a:rPr>
                        <a:t>Direct Mapped</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200" b="0" i="0" u="none" strike="noStrike" cap="none" baseline="0" dirty="0">
                          <a:solidFill>
                            <a:schemeClr val="dk1"/>
                          </a:solidFill>
                          <a:latin typeface="+mn-lt"/>
                          <a:ea typeface="+mn-ea"/>
                          <a:cs typeface="+mn-cs"/>
                          <a:sym typeface="Arial"/>
                        </a:rPr>
                        <a:t>Sequence of </a:t>
                      </a:r>
                      <a:r>
                        <a:rPr lang="en-IN" sz="1200" b="0" i="1" u="none" strike="noStrike" cap="none" baseline="0" dirty="0">
                          <a:solidFill>
                            <a:schemeClr val="dk1"/>
                          </a:solidFill>
                          <a:latin typeface="+mn-lt"/>
                          <a:ea typeface="+mn-ea"/>
                          <a:cs typeface="+mn-cs"/>
                          <a:sym typeface="Arial"/>
                        </a:rPr>
                        <a:t>m</a:t>
                      </a:r>
                    </a:p>
                    <a:p>
                      <a:pPr algn="l"/>
                      <a:r>
                        <a:rPr lang="en-IN" sz="1200" b="0" i="0" u="none" strike="noStrike" cap="none" baseline="0" dirty="0">
                          <a:solidFill>
                            <a:schemeClr val="dk1"/>
                          </a:solidFill>
                          <a:latin typeface="+mn-lt"/>
                          <a:ea typeface="+mn-ea"/>
                          <a:cs typeface="+mn-cs"/>
                          <a:sym typeface="Arial"/>
                        </a:rPr>
                        <a:t>lines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cap="none" baseline="0" dirty="0">
                          <a:solidFill>
                            <a:schemeClr val="dk1"/>
                          </a:solidFill>
                          <a:latin typeface="+mn-lt"/>
                          <a:ea typeface="+mn-ea"/>
                          <a:cs typeface="+mn-cs"/>
                          <a:sym typeface="Arial"/>
                        </a:rPr>
                        <a:t>Each block of main memory</a:t>
                      </a:r>
                    </a:p>
                    <a:p>
                      <a:pPr algn="l"/>
                      <a:r>
                        <a:rPr lang="en-US" sz="1200" b="0" i="0" u="none" strike="noStrike" cap="none" baseline="0" dirty="0">
                          <a:solidFill>
                            <a:schemeClr val="dk1"/>
                          </a:solidFill>
                          <a:latin typeface="+mn-lt"/>
                          <a:ea typeface="+mn-ea"/>
                          <a:cs typeface="+mn-cs"/>
                          <a:sym typeface="Arial"/>
                        </a:rPr>
                        <a:t>maps to one unique line of</a:t>
                      </a:r>
                    </a:p>
                    <a:p>
                      <a:pPr algn="l"/>
                      <a:r>
                        <a:rPr lang="en-US" sz="1200" b="0" i="0" u="none" strike="noStrike" cap="none" baseline="0" dirty="0">
                          <a:solidFill>
                            <a:schemeClr val="dk1"/>
                          </a:solidFill>
                          <a:latin typeface="+mn-lt"/>
                          <a:ea typeface="+mn-ea"/>
                          <a:cs typeface="+mn-cs"/>
                          <a:sym typeface="Arial"/>
                        </a:rPr>
                        <a:t>cache.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1" u="none" strike="noStrike" cap="none" baseline="0" dirty="0">
                          <a:solidFill>
                            <a:schemeClr val="dk1"/>
                          </a:solidFill>
                          <a:latin typeface="+mn-lt"/>
                          <a:ea typeface="+mn-ea"/>
                          <a:cs typeface="+mn-cs"/>
                          <a:sym typeface="Arial"/>
                        </a:rPr>
                        <a:t>Line</a:t>
                      </a:r>
                      <a:r>
                        <a:rPr lang="en-US" sz="1200" b="0" i="0" u="none" strike="noStrike" cap="none" baseline="0" dirty="0">
                          <a:solidFill>
                            <a:schemeClr val="dk1"/>
                          </a:solidFill>
                          <a:latin typeface="+mn-lt"/>
                          <a:ea typeface="+mn-ea"/>
                          <a:cs typeface="+mn-cs"/>
                          <a:sym typeface="Arial"/>
                        </a:rPr>
                        <a:t> portion of address used</a:t>
                      </a:r>
                    </a:p>
                    <a:p>
                      <a:pPr algn="l"/>
                      <a:r>
                        <a:rPr lang="en-US" sz="1200" b="0" i="0" u="none" strike="noStrike" cap="none" baseline="0" dirty="0">
                          <a:solidFill>
                            <a:schemeClr val="dk1"/>
                          </a:solidFill>
                          <a:latin typeface="+mn-lt"/>
                          <a:ea typeface="+mn-ea"/>
                          <a:cs typeface="+mn-cs"/>
                          <a:sym typeface="Arial"/>
                        </a:rPr>
                        <a:t>to access cache line; </a:t>
                      </a:r>
                      <a:r>
                        <a:rPr lang="en-US" sz="1200" b="0" i="1" u="none" strike="noStrike" cap="none" baseline="0" dirty="0">
                          <a:solidFill>
                            <a:schemeClr val="dk1"/>
                          </a:solidFill>
                          <a:latin typeface="+mn-lt"/>
                          <a:ea typeface="+mn-ea"/>
                          <a:cs typeface="+mn-cs"/>
                          <a:sym typeface="Arial"/>
                        </a:rPr>
                        <a:t>Tag</a:t>
                      </a:r>
                    </a:p>
                    <a:p>
                      <a:pPr algn="l"/>
                      <a:r>
                        <a:rPr lang="en-US" sz="1200" b="0" i="0" u="none" strike="noStrike" cap="none" baseline="0" dirty="0">
                          <a:solidFill>
                            <a:schemeClr val="dk1"/>
                          </a:solidFill>
                          <a:latin typeface="+mn-lt"/>
                          <a:ea typeface="+mn-ea"/>
                          <a:cs typeface="+mn-cs"/>
                          <a:sym typeface="Arial"/>
                        </a:rPr>
                        <a:t>portion used to check for hit</a:t>
                      </a:r>
                    </a:p>
                    <a:p>
                      <a:pPr algn="l"/>
                      <a:r>
                        <a:rPr lang="en-US" sz="1200" b="0" i="0" u="none" strike="noStrike" cap="none" baseline="0" dirty="0">
                          <a:solidFill>
                            <a:schemeClr val="dk1"/>
                          </a:solidFill>
                          <a:latin typeface="+mn-lt"/>
                          <a:ea typeface="+mn-ea"/>
                          <a:cs typeface="+mn-cs"/>
                          <a:sym typeface="Arial"/>
                        </a:rPr>
                        <a:t>on that line.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863612">
                <a:tc>
                  <a:txBody>
                    <a:bodyPr/>
                    <a:lstStyle/>
                    <a:p>
                      <a:pPr algn="ctr"/>
                      <a:r>
                        <a:rPr lang="en-IN" sz="1200" b="0" i="0" u="none" strike="noStrike" cap="none" baseline="0" dirty="0">
                          <a:solidFill>
                            <a:schemeClr val="dk1"/>
                          </a:solidFill>
                          <a:latin typeface="+mn-lt"/>
                          <a:ea typeface="+mn-ea"/>
                          <a:cs typeface="+mn-cs"/>
                          <a:sym typeface="Arial"/>
                        </a:rPr>
                        <a:t>Fully Associative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Sequence of </a:t>
                      </a:r>
                      <a:r>
                        <a:rPr lang="en-IN" sz="1200" b="0" i="1" u="none" strike="noStrike" cap="none" baseline="0" dirty="0">
                          <a:solidFill>
                            <a:schemeClr val="dk1"/>
                          </a:solidFill>
                          <a:latin typeface="+mn-lt"/>
                          <a:ea typeface="+mn-ea"/>
                          <a:cs typeface="+mn-cs"/>
                          <a:sym typeface="Arial"/>
                        </a:rPr>
                        <a:t>m</a:t>
                      </a:r>
                    </a:p>
                    <a:p>
                      <a:pPr marL="0" marR="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baseline="0" dirty="0">
                          <a:solidFill>
                            <a:schemeClr val="dk1"/>
                          </a:solidFill>
                          <a:latin typeface="+mn-lt"/>
                          <a:ea typeface="+mn-ea"/>
                          <a:cs typeface="+mn-cs"/>
                          <a:sym typeface="Arial"/>
                        </a:rPr>
                        <a:t>lines</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dirty="0">
                          <a:solidFill>
                            <a:schemeClr val="dk1"/>
                          </a:solidFill>
                          <a:latin typeface="+mn-lt"/>
                          <a:ea typeface="+mn-ea"/>
                          <a:cs typeface="+mn-cs"/>
                          <a:sym typeface="Arial"/>
                        </a:rPr>
                        <a:t>Each block of main memory</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dirty="0">
                          <a:solidFill>
                            <a:schemeClr val="dk1"/>
                          </a:solidFill>
                          <a:latin typeface="+mn-lt"/>
                          <a:ea typeface="+mn-ea"/>
                          <a:cs typeface="+mn-cs"/>
                          <a:sym typeface="Arial"/>
                        </a:rPr>
                        <a:t>can map to any line of cache.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1" u="none" strike="noStrike" cap="none" baseline="0" dirty="0">
                          <a:solidFill>
                            <a:schemeClr val="dk1"/>
                          </a:solidFill>
                          <a:latin typeface="+mn-lt"/>
                          <a:ea typeface="+mn-ea"/>
                          <a:cs typeface="+mn-cs"/>
                          <a:sym typeface="Arial"/>
                        </a:rPr>
                        <a:t>Tag</a:t>
                      </a:r>
                      <a:r>
                        <a:rPr lang="en-US" sz="1200" b="0" i="0" u="none" strike="noStrike" cap="none" baseline="0" dirty="0">
                          <a:solidFill>
                            <a:schemeClr val="dk1"/>
                          </a:solidFill>
                          <a:latin typeface="+mn-lt"/>
                          <a:ea typeface="+mn-ea"/>
                          <a:cs typeface="+mn-cs"/>
                          <a:sym typeface="Arial"/>
                        </a:rPr>
                        <a:t> portion of address used</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dirty="0">
                          <a:solidFill>
                            <a:schemeClr val="dk1"/>
                          </a:solidFill>
                          <a:latin typeface="+mn-lt"/>
                          <a:ea typeface="+mn-ea"/>
                          <a:cs typeface="+mn-cs"/>
                          <a:sym typeface="Arial"/>
                        </a:rPr>
                        <a:t>to check every line for hit 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dirty="0">
                          <a:solidFill>
                            <a:schemeClr val="dk1"/>
                          </a:solidFill>
                          <a:latin typeface="+mn-lt"/>
                          <a:ea typeface="+mn-ea"/>
                          <a:cs typeface="+mn-cs"/>
                          <a:sym typeface="Arial"/>
                        </a:rPr>
                        <a:t>that line.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863612">
                <a:tc>
                  <a:txBody>
                    <a:bodyPr/>
                    <a:lstStyle/>
                    <a:p>
                      <a:pPr algn="ctr"/>
                      <a:r>
                        <a:rPr lang="en-IN" sz="1200" b="0" i="0" u="none" strike="noStrike" cap="none" baseline="0" dirty="0">
                          <a:solidFill>
                            <a:schemeClr val="dk1"/>
                          </a:solidFill>
                          <a:latin typeface="+mn-lt"/>
                          <a:ea typeface="+mn-ea"/>
                          <a:cs typeface="+mn-cs"/>
                          <a:sym typeface="Arial"/>
                        </a:rPr>
                        <a:t>Set Associative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cap="none" baseline="0" dirty="0">
                          <a:solidFill>
                            <a:schemeClr val="dk1"/>
                          </a:solidFill>
                          <a:latin typeface="+mn-lt"/>
                          <a:ea typeface="+mn-ea"/>
                          <a:cs typeface="+mn-cs"/>
                          <a:sym typeface="Arial"/>
                        </a:rPr>
                        <a:t>Sequence of </a:t>
                      </a:r>
                      <a:r>
                        <a:rPr lang="en-US" sz="1200" b="0" i="1" u="none" strike="noStrike" cap="none" baseline="0" dirty="0">
                          <a:solidFill>
                            <a:schemeClr val="dk1"/>
                          </a:solidFill>
                          <a:latin typeface="+mn-lt"/>
                          <a:ea typeface="+mn-ea"/>
                          <a:cs typeface="+mn-cs"/>
                          <a:sym typeface="Arial"/>
                        </a:rPr>
                        <a:t>m</a:t>
                      </a:r>
                    </a:p>
                    <a:p>
                      <a:pPr algn="l"/>
                      <a:r>
                        <a:rPr lang="en-US" sz="1200" b="0" i="0" u="none" strike="noStrike" cap="none" baseline="0" dirty="0">
                          <a:solidFill>
                            <a:schemeClr val="dk1"/>
                          </a:solidFill>
                          <a:latin typeface="+mn-lt"/>
                          <a:ea typeface="+mn-ea"/>
                          <a:cs typeface="+mn-cs"/>
                          <a:sym typeface="Arial"/>
                        </a:rPr>
                        <a:t>lines organized as </a:t>
                      </a:r>
                      <a:r>
                        <a:rPr lang="en-US" sz="1200" b="0" i="1" u="none" strike="noStrike" cap="none" baseline="0" dirty="0">
                          <a:solidFill>
                            <a:schemeClr val="dk1"/>
                          </a:solidFill>
                          <a:latin typeface="+mn-lt"/>
                          <a:ea typeface="+mn-ea"/>
                          <a:cs typeface="+mn-cs"/>
                          <a:sym typeface="Arial"/>
                        </a:rPr>
                        <a:t>v</a:t>
                      </a:r>
                      <a:r>
                        <a:rPr lang="en-US" sz="1200" b="0" i="0" u="none" strike="noStrike" cap="none" baseline="0" dirty="0">
                          <a:solidFill>
                            <a:schemeClr val="dk1"/>
                          </a:solidFill>
                          <a:latin typeface="+mn-lt"/>
                          <a:ea typeface="+mn-ea"/>
                          <a:cs typeface="+mn-cs"/>
                          <a:sym typeface="Arial"/>
                        </a:rPr>
                        <a:t> sets of </a:t>
                      </a:r>
                      <a:r>
                        <a:rPr lang="en-US" sz="1200" b="0" i="1" u="none" strike="noStrike" cap="none" baseline="0" dirty="0">
                          <a:solidFill>
                            <a:schemeClr val="dk1"/>
                          </a:solidFill>
                          <a:latin typeface="+mn-lt"/>
                          <a:ea typeface="+mn-ea"/>
                          <a:cs typeface="+mn-cs"/>
                          <a:sym typeface="Arial"/>
                        </a:rPr>
                        <a:t>k</a:t>
                      </a:r>
                      <a:r>
                        <a:rPr lang="en-US" sz="1200" b="0" i="0" u="none" strike="noStrike" cap="none" baseline="0" dirty="0">
                          <a:solidFill>
                            <a:schemeClr val="dk1"/>
                          </a:solidFill>
                          <a:latin typeface="+mn-lt"/>
                          <a:ea typeface="+mn-ea"/>
                          <a:cs typeface="+mn-cs"/>
                          <a:sym typeface="Arial"/>
                        </a:rPr>
                        <a:t> lines each</a:t>
                      </a:r>
                    </a:p>
                    <a:p>
                      <a:pPr algn="l"/>
                      <a:r>
                        <a:rPr lang="en-US" sz="1200" b="0" i="0" u="none" strike="noStrike" cap="none" baseline="0" dirty="0">
                          <a:solidFill>
                            <a:schemeClr val="dk1"/>
                          </a:solidFill>
                          <a:latin typeface="+mn-lt"/>
                          <a:ea typeface="+mn-ea"/>
                          <a:cs typeface="+mn-cs"/>
                          <a:sym typeface="Arial"/>
                        </a:rPr>
                        <a:t>(</a:t>
                      </a:r>
                      <a:r>
                        <a:rPr lang="en-US" sz="1200" b="0" i="1" u="none" strike="noStrike" cap="none" baseline="0" dirty="0">
                          <a:solidFill>
                            <a:schemeClr val="dk1"/>
                          </a:solidFill>
                          <a:latin typeface="+mn-lt"/>
                          <a:ea typeface="+mn-ea"/>
                          <a:cs typeface="+mn-cs"/>
                          <a:sym typeface="Arial"/>
                        </a:rPr>
                        <a:t>m</a:t>
                      </a:r>
                      <a:r>
                        <a:rPr lang="en-US" sz="1200" b="0" i="0" u="none" strike="noStrike" cap="none" baseline="0" dirty="0">
                          <a:solidFill>
                            <a:schemeClr val="dk1"/>
                          </a:solidFill>
                          <a:latin typeface="+mn-lt"/>
                          <a:ea typeface="+mn-ea"/>
                          <a:cs typeface="+mn-cs"/>
                          <a:sym typeface="Arial"/>
                        </a:rPr>
                        <a:t> = </a:t>
                      </a:r>
                      <a:r>
                        <a:rPr lang="en-US" sz="1200" b="0" i="1" u="none" strike="noStrike" cap="none" baseline="0" dirty="0">
                          <a:solidFill>
                            <a:schemeClr val="dk1"/>
                          </a:solidFill>
                          <a:latin typeface="+mn-lt"/>
                          <a:ea typeface="+mn-ea"/>
                          <a:cs typeface="+mn-cs"/>
                          <a:sym typeface="Arial"/>
                        </a:rPr>
                        <a:t>v</a:t>
                      </a:r>
                      <a:r>
                        <a:rPr lang="en-US" sz="1200" b="0" i="0" u="none" strike="noStrike" cap="none" baseline="0" dirty="0">
                          <a:solidFill>
                            <a:schemeClr val="dk1"/>
                          </a:solidFill>
                          <a:latin typeface="+mn-lt"/>
                          <a:ea typeface="+mn-ea"/>
                          <a:cs typeface="+mn-cs"/>
                          <a:sym typeface="Arial"/>
                        </a:rPr>
                        <a:t> × </a:t>
                      </a:r>
                      <a:r>
                        <a:rPr lang="en-US" sz="1200" b="0" i="1" u="none" strike="noStrike" cap="none" baseline="0" dirty="0">
                          <a:solidFill>
                            <a:schemeClr val="dk1"/>
                          </a:solidFill>
                          <a:latin typeface="+mn-lt"/>
                          <a:ea typeface="+mn-ea"/>
                          <a:cs typeface="+mn-cs"/>
                          <a:sym typeface="Arial"/>
                        </a:rPr>
                        <a:t>k</a:t>
                      </a:r>
                      <a:r>
                        <a:rPr lang="en-US" sz="1200" b="0" i="0" u="none" strike="noStrike" cap="none" baseline="0" dirty="0">
                          <a:solidFill>
                            <a:schemeClr val="dk1"/>
                          </a:solidFill>
                          <a:latin typeface="+mn-lt"/>
                          <a:ea typeface="+mn-ea"/>
                          <a:cs typeface="+mn-cs"/>
                          <a:sym typeface="Arial"/>
                        </a:rPr>
                        <a:t>)</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0" u="none" strike="noStrike" cap="none" baseline="0" dirty="0">
                          <a:solidFill>
                            <a:schemeClr val="dk1"/>
                          </a:solidFill>
                          <a:latin typeface="+mn-lt"/>
                          <a:ea typeface="+mn-ea"/>
                          <a:cs typeface="+mn-cs"/>
                          <a:sym typeface="Arial"/>
                        </a:rPr>
                        <a:t>Each block of main memory</a:t>
                      </a:r>
                    </a:p>
                    <a:p>
                      <a:pPr algn="l"/>
                      <a:r>
                        <a:rPr lang="en-US" sz="1200" b="0" i="0" u="none" strike="noStrike" cap="none" baseline="0" dirty="0">
                          <a:solidFill>
                            <a:schemeClr val="dk1"/>
                          </a:solidFill>
                          <a:latin typeface="+mn-lt"/>
                          <a:ea typeface="+mn-ea"/>
                          <a:cs typeface="+mn-cs"/>
                          <a:sym typeface="Arial"/>
                        </a:rPr>
                        <a:t>maps to one unique cache set.</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200" b="0" i="1" u="none" strike="noStrike" cap="none" baseline="0" dirty="0">
                          <a:solidFill>
                            <a:schemeClr val="dk1"/>
                          </a:solidFill>
                          <a:latin typeface="+mn-lt"/>
                          <a:ea typeface="+mn-ea"/>
                          <a:cs typeface="+mn-cs"/>
                          <a:sym typeface="Arial"/>
                        </a:rPr>
                        <a:t>Line</a:t>
                      </a:r>
                      <a:r>
                        <a:rPr lang="en-US" sz="1200" b="0" i="0" u="none" strike="noStrike" cap="none" baseline="0" dirty="0">
                          <a:solidFill>
                            <a:schemeClr val="dk1"/>
                          </a:solidFill>
                          <a:latin typeface="+mn-lt"/>
                          <a:ea typeface="+mn-ea"/>
                          <a:cs typeface="+mn-cs"/>
                          <a:sym typeface="Arial"/>
                        </a:rPr>
                        <a:t> portion of address used to</a:t>
                      </a:r>
                    </a:p>
                    <a:p>
                      <a:pPr algn="l"/>
                      <a:r>
                        <a:rPr lang="en-US" sz="1200" b="0" i="0" u="none" strike="noStrike" cap="none" baseline="0" dirty="0">
                          <a:solidFill>
                            <a:schemeClr val="dk1"/>
                          </a:solidFill>
                          <a:latin typeface="+mn-lt"/>
                          <a:ea typeface="+mn-ea"/>
                          <a:cs typeface="+mn-cs"/>
                          <a:sym typeface="Arial"/>
                        </a:rPr>
                        <a:t>access cache set; </a:t>
                      </a:r>
                      <a:r>
                        <a:rPr lang="en-US" sz="1200" b="0" i="1" u="none" strike="noStrike" cap="none" baseline="0" dirty="0">
                          <a:solidFill>
                            <a:schemeClr val="dk1"/>
                          </a:solidFill>
                          <a:latin typeface="+mn-lt"/>
                          <a:ea typeface="+mn-ea"/>
                          <a:cs typeface="+mn-cs"/>
                          <a:sym typeface="Arial"/>
                        </a:rPr>
                        <a:t>Tag</a:t>
                      </a:r>
                      <a:r>
                        <a:rPr lang="en-US" sz="1200" b="0" i="0" u="none" strike="noStrike" cap="none" baseline="0" dirty="0">
                          <a:solidFill>
                            <a:schemeClr val="dk1"/>
                          </a:solidFill>
                          <a:latin typeface="+mn-lt"/>
                          <a:ea typeface="+mn-ea"/>
                          <a:cs typeface="+mn-cs"/>
                          <a:sym typeface="Arial"/>
                        </a:rPr>
                        <a:t> portion</a:t>
                      </a:r>
                    </a:p>
                    <a:p>
                      <a:pPr algn="l"/>
                      <a:r>
                        <a:rPr lang="en-US" sz="1200" b="0" i="0" u="none" strike="noStrike" cap="none" baseline="0" dirty="0">
                          <a:solidFill>
                            <a:schemeClr val="dk1"/>
                          </a:solidFill>
                          <a:latin typeface="+mn-lt"/>
                          <a:ea typeface="+mn-ea"/>
                          <a:cs typeface="+mn-cs"/>
                          <a:sym typeface="Arial"/>
                        </a:rPr>
                        <a:t>used to check every line in that</a:t>
                      </a:r>
                    </a:p>
                    <a:p>
                      <a:pPr algn="l"/>
                      <a:r>
                        <a:rPr lang="en-US" sz="1200" b="0" i="0" u="none" strike="noStrike" cap="none" baseline="0" dirty="0">
                          <a:solidFill>
                            <a:schemeClr val="dk1"/>
                          </a:solidFill>
                          <a:latin typeface="+mn-lt"/>
                          <a:ea typeface="+mn-ea"/>
                          <a:cs typeface="+mn-cs"/>
                          <a:sym typeface="Arial"/>
                        </a:rPr>
                        <a:t>set for hit on that line.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bl>
          </a:graphicData>
        </a:graphic>
      </p:graphicFrame>
      <p:sp>
        <p:nvSpPr>
          <p:cNvPr id="2" name="Title 1">
            <a:extLst>
              <a:ext uri="{FF2B5EF4-FFF2-40B4-BE49-F238E27FC236}">
                <a16:creationId xmlns:a16="http://schemas.microsoft.com/office/drawing/2014/main" id="{11D1349A-ECC0-4B64-975B-820F2491AEC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5.3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Cache Access Methods</a:t>
            </a:r>
            <a:endParaRPr lang="en-US" dirty="0"/>
          </a:p>
        </p:txBody>
      </p:sp>
    </p:spTree>
    <p:extLst>
      <p:ext uri="{BB962C8B-B14F-4D97-AF65-F5344CB8AC3E}">
        <p14:creationId xmlns:p14="http://schemas.microsoft.com/office/powerpoint/2010/main" val="2076642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A, Direct mapping. The first m blocks of main memory are equal to the size of the cache. The cache memory contains a block and a tag attached together. The main memory contains blocks from B sub 0 to B sub m minus 1. The cache memory contains lines from L sub 0 to L minus 1. The lines are labeled as M lines. Each block of main memory maps into one unique line of cache. The length of a block in bit is represented by lowercase b. The length of a tag in bits is represented by lowercase t. Diagram B, Associative mapping. In associative mapping, one block of memory is loaded into any line of the cache. The cache contains lines from L sub 0 to L sub M minus 1." title="Two diagrams explain the direct and associative mapping from main memory to cache."/>
          <p:cNvPicPr>
            <a:picLocks noChangeAspect="1"/>
          </p:cNvPicPr>
          <p:nvPr/>
        </p:nvPicPr>
        <p:blipFill rotWithShape="1">
          <a:blip r:embed="rId3">
            <a:extLst>
              <a:ext uri="{28A0092B-C50C-407E-A947-70E740481C1C}">
                <a14:useLocalDpi xmlns:a14="http://schemas.microsoft.com/office/drawing/2010/main" val="0"/>
              </a:ext>
            </a:extLst>
          </a:blip>
          <a:srcRect l="8543" t="6186" r="4218" b="22489"/>
          <a:stretch/>
        </p:blipFill>
        <p:spPr>
          <a:xfrm>
            <a:off x="2178424" y="1316269"/>
            <a:ext cx="4787153" cy="5065059"/>
          </a:xfrm>
          <a:prstGeom prst="rect">
            <a:avLst/>
          </a:prstGeom>
        </p:spPr>
      </p:pic>
      <p:sp>
        <p:nvSpPr>
          <p:cNvPr id="6" name="Title 5">
            <a:extLst>
              <a:ext uri="{FF2B5EF4-FFF2-40B4-BE49-F238E27FC236}">
                <a16:creationId xmlns:a16="http://schemas.microsoft.com/office/drawing/2014/main" id="{12759B79-855C-4F62-AC02-ED5E264CAE31}"/>
              </a:ext>
            </a:extLst>
          </p:cNvPr>
          <p:cNvSpPr>
            <a:spLocks noGrp="1"/>
          </p:cNvSpPr>
          <p:nvPr>
            <p:ph type="title"/>
          </p:nvPr>
        </p:nvSpPr>
        <p:spPr>
          <a:xfrm>
            <a:off x="179512" y="116632"/>
            <a:ext cx="8229600" cy="1385311"/>
          </a:xfrm>
        </p:spPr>
        <p:txBody>
          <a:bodyPr/>
          <a:lstStyle/>
          <a:p>
            <a:r>
              <a:rPr lang="en-US" sz="2800" dirty="0">
                <a:latin typeface="Times New Roman" panose="02020603050405020304" pitchFamily="18" charset="0"/>
                <a:cs typeface="Times New Roman" panose="02020603050405020304" pitchFamily="18" charset="0"/>
              </a:rPr>
              <a:t>Figure 5.6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Mapping from Main Memory to Cache: Direct and Associative</a:t>
            </a:r>
            <a:endParaRPr lang="en-US" sz="2800" dirty="0"/>
          </a:p>
        </p:txBody>
      </p:sp>
    </p:spTree>
    <p:extLst>
      <p:ext uri="{BB962C8B-B14F-4D97-AF65-F5344CB8AC3E}">
        <p14:creationId xmlns:p14="http://schemas.microsoft.com/office/powerpoint/2010/main" val="791886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Direct Mapping</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335691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Direct Mapping</a:t>
            </a:r>
            <a:br>
              <a:rPr lang="en-GB" altLang="en-US"/>
            </a:br>
            <a:r>
              <a:rPr lang="en-GB" altLang="en-US"/>
              <a:t>Address Structure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416429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Direct Mapping Summary</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939242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main memory address contains hexadecimal tags and binary memory addresses. The main memory address is made of an 8-bit tag, 14-bit line, and 2-bit word. The 16 K line cache contains an 8-bit tag section and a 32-bit data section. The hexadecimal line numbers are represented to the side of the cache data section. The following are hits in the cache in this example. Tag 0 0, data 1 3 5 7 9 2 4 6, line number, 0 0 0 0. Tag 16, data 1 1 2 3 5 5 8 1 3, line number 0 0 0 1. Tag 16, data F E D C B A 9 8, line number 0 C E 7. Tag F F, data 1 1 2 2 3 3 4 4, line number 3 F F E. Tag 16, Data 1 2 3 4 5 6 7 8, line number 3 F F F. A note beside reads, memory address values are in binary representation, other values are in hexadecimal." title="An example of a direct mapping technique."/>
          <p:cNvPicPr>
            <a:picLocks noChangeAspect="1"/>
          </p:cNvPicPr>
          <p:nvPr/>
        </p:nvPicPr>
        <p:blipFill rotWithShape="1">
          <a:blip r:embed="rId3">
            <a:extLst>
              <a:ext uri="{28A0092B-C50C-407E-A947-70E740481C1C}">
                <a14:useLocalDpi xmlns:a14="http://schemas.microsoft.com/office/drawing/2010/main" val="0"/>
              </a:ext>
            </a:extLst>
          </a:blip>
          <a:srcRect l="9512" t="8022" r="2166" b="14278"/>
          <a:stretch/>
        </p:blipFill>
        <p:spPr>
          <a:xfrm>
            <a:off x="2320750" y="1327412"/>
            <a:ext cx="4502500" cy="5125923"/>
          </a:xfrm>
          <a:prstGeom prst="rect">
            <a:avLst/>
          </a:prstGeom>
        </p:spPr>
      </p:pic>
      <p:sp>
        <p:nvSpPr>
          <p:cNvPr id="2" name="Title 1">
            <a:extLst>
              <a:ext uri="{FF2B5EF4-FFF2-40B4-BE49-F238E27FC236}">
                <a16:creationId xmlns:a16="http://schemas.microsoft.com/office/drawing/2014/main" id="{3C1FBBB3-6E01-4F71-99A8-AA6A472890F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Figure 5.8</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Direct Mapping Example</a:t>
            </a:r>
            <a:endParaRPr lang="en-US" dirty="0"/>
          </a:p>
        </p:txBody>
      </p:sp>
    </p:spTree>
    <p:extLst>
      <p:ext uri="{BB962C8B-B14F-4D97-AF65-F5344CB8AC3E}">
        <p14:creationId xmlns:p14="http://schemas.microsoft.com/office/powerpoint/2010/main" val="346589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Associative Mapping</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116672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a:extLst>
              <a:ext uri="{FF2B5EF4-FFF2-40B4-BE49-F238E27FC236}">
                <a16:creationId xmlns:a16="http://schemas.microsoft.com/office/drawing/2014/main" id="{6455BCF9-A694-426D-AC36-1A99447159B3}"/>
              </a:ext>
            </a:extLst>
          </p:cNvPr>
          <p:cNvSpPr>
            <a:spLocks noChangeArrowheads="1"/>
          </p:cNvSpPr>
          <p:nvPr/>
        </p:nvSpPr>
        <p:spPr bwMode="auto">
          <a:xfrm>
            <a:off x="304800" y="1752600"/>
            <a:ext cx="8612188"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7" name="Line 6">
            <a:extLst>
              <a:ext uri="{FF2B5EF4-FFF2-40B4-BE49-F238E27FC236}">
                <a16:creationId xmlns:a16="http://schemas.microsoft.com/office/drawing/2014/main" id="{132ADC8E-C1EB-476E-9918-54E921DB84C4}"/>
              </a:ext>
            </a:extLst>
          </p:cNvPr>
          <p:cNvSpPr>
            <a:spLocks noChangeShapeType="1"/>
          </p:cNvSpPr>
          <p:nvPr/>
        </p:nvSpPr>
        <p:spPr bwMode="auto">
          <a:xfrm>
            <a:off x="7924800" y="17526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MY"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8" name="Text Box 7">
            <a:extLst>
              <a:ext uri="{FF2B5EF4-FFF2-40B4-BE49-F238E27FC236}">
                <a16:creationId xmlns:a16="http://schemas.microsoft.com/office/drawing/2014/main" id="{E59CDDEB-02FE-45E1-B0CD-C7789FC49BEC}"/>
              </a:ext>
            </a:extLst>
          </p:cNvPr>
          <p:cNvSpPr txBox="1">
            <a:spLocks noChangeArrowheads="1"/>
          </p:cNvSpPr>
          <p:nvPr/>
        </p:nvSpPr>
        <p:spPr bwMode="auto">
          <a:xfrm>
            <a:off x="3352800" y="1981200"/>
            <a:ext cx="158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Tag   22 bit</a:t>
            </a:r>
          </a:p>
        </p:txBody>
      </p:sp>
      <p:sp>
        <p:nvSpPr>
          <p:cNvPr id="31749" name="Text Box 8">
            <a:extLst>
              <a:ext uri="{FF2B5EF4-FFF2-40B4-BE49-F238E27FC236}">
                <a16:creationId xmlns:a16="http://schemas.microsoft.com/office/drawing/2014/main" id="{2B11F975-BC08-4620-9FDD-61D0334164F4}"/>
              </a:ext>
            </a:extLst>
          </p:cNvPr>
          <p:cNvSpPr txBox="1">
            <a:spLocks noChangeArrowheads="1"/>
          </p:cNvSpPr>
          <p:nvPr/>
        </p:nvSpPr>
        <p:spPr bwMode="auto">
          <a:xfrm>
            <a:off x="8001000" y="1752600"/>
            <a:ext cx="8778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Word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 bit</a:t>
            </a:r>
          </a:p>
        </p:txBody>
      </p:sp>
      <p:sp>
        <p:nvSpPr>
          <p:cNvPr id="31750" name="Rectangle 9">
            <a:extLst>
              <a:ext uri="{FF2B5EF4-FFF2-40B4-BE49-F238E27FC236}">
                <a16:creationId xmlns:a16="http://schemas.microsoft.com/office/drawing/2014/main" id="{86CA6894-3148-4B7F-A07D-3587269BA70E}"/>
              </a:ext>
            </a:extLst>
          </p:cNvPr>
          <p:cNvSpPr>
            <a:spLocks noGrp="1" noChangeArrowheads="1"/>
          </p:cNvSpPr>
          <p:nvPr>
            <p:ph type="title"/>
          </p:nvPr>
        </p:nvSpPr>
        <p:spPr/>
        <p:txBody>
          <a:bodyPr/>
          <a:lstStyle/>
          <a:p>
            <a:r>
              <a:rPr lang="en-US" altLang="en-US"/>
              <a:t>Associative Mapping</a:t>
            </a:r>
            <a:br>
              <a:rPr lang="en-US" altLang="en-US"/>
            </a:br>
            <a:r>
              <a:rPr lang="en-US" altLang="en-US"/>
              <a:t>Address Structure</a:t>
            </a:r>
          </a:p>
        </p:txBody>
      </p:sp>
      <p:sp>
        <p:nvSpPr>
          <p:cNvPr id="31751" name="Rectangle 10">
            <a:extLst>
              <a:ext uri="{FF2B5EF4-FFF2-40B4-BE49-F238E27FC236}">
                <a16:creationId xmlns:a16="http://schemas.microsoft.com/office/drawing/2014/main" id="{27AAA729-22EF-4EA6-831A-4B25B28729EC}"/>
              </a:ext>
            </a:extLst>
          </p:cNvPr>
          <p:cNvSpPr>
            <a:spLocks noGrp="1" noChangeArrowheads="1"/>
          </p:cNvSpPr>
          <p:nvPr>
            <p:ph type="body" idx="1"/>
          </p:nvPr>
        </p:nvSpPr>
        <p:spPr bwMode="auto">
          <a:xfrm>
            <a:off x="457200" y="2590800"/>
            <a:ext cx="8178800"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2400" dirty="0"/>
              <a:t>22 bit tag stored with each 32 bit block of data</a:t>
            </a:r>
          </a:p>
          <a:p>
            <a:r>
              <a:rPr lang="en-US" altLang="en-US" sz="2400" dirty="0"/>
              <a:t>Compare </a:t>
            </a:r>
            <a:r>
              <a:rPr lang="en-US" altLang="en-US" sz="2400" b="1" dirty="0">
                <a:solidFill>
                  <a:srgbClr val="FF0000"/>
                </a:solidFill>
              </a:rPr>
              <a:t>tag field with tag entry in cache to check for hit</a:t>
            </a:r>
          </a:p>
          <a:p>
            <a:r>
              <a:rPr lang="en-US" altLang="en-US" sz="2400" dirty="0"/>
              <a:t>Least significant 2 bits of address identify which 8 bit word is required from 32 bit data block</a:t>
            </a:r>
          </a:p>
          <a:p>
            <a:r>
              <a:rPr lang="en-US" altLang="en-US" sz="2400" dirty="0"/>
              <a:t>e.g.</a:t>
            </a:r>
          </a:p>
          <a:p>
            <a:pPr lvl="1"/>
            <a:r>
              <a:rPr lang="en-US" altLang="en-US" sz="2000" dirty="0"/>
              <a:t>Address		Tag		Data		Cache line</a:t>
            </a:r>
          </a:p>
          <a:p>
            <a:pPr lvl="1"/>
            <a:r>
              <a:rPr lang="en-US" altLang="en-US" sz="2000" dirty="0"/>
              <a:t>FFFFFC		3FFFFF		24682468	3FFF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Associative Mapping Summary</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464561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main memory address contains hexadecimal tag numbers and binary memory addresses. The memory address is made up of tag and word. The size of the memory address data section is 32 bits. The 16 K line cache is made up of a 22 bit tag section and a 32 bit data section. The following are the hits in the cache displayed in this example. Tag 3 F F F E, Data 1 1 2 2 3 3 4 4, Line number 0 0 0 0. Tag 0 5 8 C E 7, Data F E D C B A 9 8, Line number 0 0 01. Tag 3 F F F D, Line number 3 3 3 3 3 3 3 3, Line number 3 F F D. Tag 0 0 0 0 0 0, Data 1 3 5 7 9 2 4 6, Line number 3 F F E. Tag 3 F F F F, Data 2 4 6 8 2 4 6 8, Line number 3 F F F. A note beside reads, memory address values are in binary representation, other values are in hexadecimal. The main memory is made of a 22 bit tag and 2 bit word." title="An example of an associative mapping technique."/>
          <p:cNvPicPr>
            <a:picLocks noChangeAspect="1"/>
          </p:cNvPicPr>
          <p:nvPr/>
        </p:nvPicPr>
        <p:blipFill rotWithShape="1">
          <a:blip r:embed="rId3">
            <a:extLst>
              <a:ext uri="{28A0092B-C50C-407E-A947-70E740481C1C}">
                <a14:useLocalDpi xmlns:a14="http://schemas.microsoft.com/office/drawing/2010/main" val="0"/>
              </a:ext>
            </a:extLst>
          </a:blip>
          <a:srcRect l="2213" t="8758" r="1700" b="13203"/>
          <a:stretch/>
        </p:blipFill>
        <p:spPr>
          <a:xfrm>
            <a:off x="2189312" y="1372937"/>
            <a:ext cx="4765376" cy="5008680"/>
          </a:xfrm>
          <a:prstGeom prst="rect">
            <a:avLst/>
          </a:prstGeom>
        </p:spPr>
      </p:pic>
      <p:sp>
        <p:nvSpPr>
          <p:cNvPr id="2" name="Title 1">
            <a:extLst>
              <a:ext uri="{FF2B5EF4-FFF2-40B4-BE49-F238E27FC236}">
                <a16:creationId xmlns:a16="http://schemas.microsoft.com/office/drawing/2014/main" id="{0286711C-615A-4DF6-B1A6-1B5DD08B378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Figure 5.11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Associative Mapping Example</a:t>
            </a:r>
            <a:endParaRPr lang="en-US" dirty="0"/>
          </a:p>
        </p:txBody>
      </p:sp>
    </p:spTree>
    <p:extLst>
      <p:ext uri="{BB962C8B-B14F-4D97-AF65-F5344CB8AC3E}">
        <p14:creationId xmlns:p14="http://schemas.microsoft.com/office/powerpoint/2010/main" val="45303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dirty="0"/>
              <a:t>Set Associative Mapping</a:t>
            </a:r>
          </a:p>
        </p:txBody>
      </p:sp>
      <p:sp>
        <p:nvSpPr>
          <p:cNvPr id="47107" name="Rectangle 3"/>
          <p:cNvSpPr>
            <a:spLocks noGrp="1" noChangeArrowheads="1"/>
          </p:cNvSpPr>
          <p:nvPr>
            <p:ph type="body" idx="1"/>
          </p:nvPr>
        </p:nvSpPr>
        <p:spPr>
          <a:xfrm>
            <a:off x="457200" y="1543050"/>
            <a:ext cx="8229600" cy="4525963"/>
          </a:xfrm>
        </p:spPr>
        <p:txBody>
          <a:bodyPr/>
          <a:lstStyle/>
          <a:p>
            <a:pPr marL="352425" indent="-352425"/>
            <a:r>
              <a:rPr lang="en-US" dirty="0"/>
              <a:t>Compromise that exhibits the strengths of both the direct and associative approaches while reducing their disadvantages</a:t>
            </a:r>
          </a:p>
          <a:p>
            <a:pPr marL="352425" indent="-352425"/>
            <a:r>
              <a:rPr lang="en-US" dirty="0"/>
              <a:t>Cache consists of a number of sets</a:t>
            </a:r>
          </a:p>
          <a:p>
            <a:pPr marL="352425" indent="-352425"/>
            <a:r>
              <a:rPr lang="en-US" dirty="0"/>
              <a:t>Each set contains a number of lines</a:t>
            </a:r>
          </a:p>
          <a:p>
            <a:pPr marL="352425" indent="-352425"/>
            <a:r>
              <a:rPr lang="en-US" dirty="0"/>
              <a:t>A given block maps to any line in a given set</a:t>
            </a:r>
          </a:p>
          <a:p>
            <a:pPr marL="352425" indent="-352425"/>
            <a:r>
              <a:rPr lang="en-US" dirty="0"/>
              <a:t>e.g. 2 lines per set</a:t>
            </a:r>
          </a:p>
          <a:p>
            <a:pPr marL="638175" lvl="1" indent="-285750"/>
            <a:r>
              <a:rPr lang="en-US" sz="2000" dirty="0"/>
              <a:t>2 way associative mapping</a:t>
            </a:r>
          </a:p>
          <a:p>
            <a:pPr marL="638175" lvl="1" indent="-285750"/>
            <a:r>
              <a:rPr lang="en-US" sz="2000" dirty="0"/>
              <a:t>A given block can be in one of 2 lines in only one set</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A. V associative mapped caches. The first v blocks of main memory are equal to the number of sets. They contain blocks from B sub 0 through B sub v minus 1. Each word from these blocks maps into multiple lines of the cache memory dash set 0 and cache memory dash set v min. The cache memory contains k lines ranging from L sub 0 to L sub k minus 1. Diagram B. The first v blocks of main memory contain blocks from B sub 0 to B sub v minus 1. The first set of caches, cache memory way 1, is directly mapped, whereas cache memory way k is mapped to the blocks of the main memory after bypassing the cache memory ways in between. The cache memory contains v lines ranging from L sub 0 to L sub v minus. In the memory, one line represents one set. " title="A diagrammatic representations of the v associative mapped caches and k direct mapped caches."/>
          <p:cNvPicPr>
            <a:picLocks noChangeAspect="1"/>
          </p:cNvPicPr>
          <p:nvPr/>
        </p:nvPicPr>
        <p:blipFill rotWithShape="1">
          <a:blip r:embed="rId3">
            <a:extLst>
              <a:ext uri="{28A0092B-C50C-407E-A947-70E740481C1C}">
                <a14:useLocalDpi xmlns:a14="http://schemas.microsoft.com/office/drawing/2010/main" val="0"/>
              </a:ext>
            </a:extLst>
          </a:blip>
          <a:srcRect l="3736" t="4851" r="3392" b="20131"/>
          <a:stretch/>
        </p:blipFill>
        <p:spPr>
          <a:xfrm>
            <a:off x="2115670" y="1308557"/>
            <a:ext cx="4921623" cy="5144779"/>
          </a:xfrm>
          <a:prstGeom prst="rect">
            <a:avLst/>
          </a:prstGeom>
        </p:spPr>
      </p:pic>
      <p:sp>
        <p:nvSpPr>
          <p:cNvPr id="2" name="Title 1">
            <a:extLst>
              <a:ext uri="{FF2B5EF4-FFF2-40B4-BE49-F238E27FC236}">
                <a16:creationId xmlns:a16="http://schemas.microsoft.com/office/drawing/2014/main" id="{53F5D622-AA29-4192-9C75-26F2FA6B3870}"/>
              </a:ext>
            </a:extLst>
          </p:cNvPr>
          <p:cNvSpPr>
            <a:spLocks noGrp="1"/>
          </p:cNvSpPr>
          <p:nvPr>
            <p:ph type="title"/>
          </p:nvPr>
        </p:nvSpPr>
        <p:spPr>
          <a:xfrm>
            <a:off x="179512" y="0"/>
            <a:ext cx="8229600" cy="1556058"/>
          </a:xfrm>
        </p:spPr>
        <p:txBody>
          <a:bodyPr/>
          <a:lstStyle/>
          <a:p>
            <a:r>
              <a:rPr lang="en-US" sz="2800" dirty="0">
                <a:latin typeface="Times New Roman" panose="02020603050405020304" pitchFamily="18" charset="0"/>
                <a:cs typeface="Times New Roman" panose="02020603050405020304" pitchFamily="18" charset="0"/>
              </a:rPr>
              <a:t>Figure 5.12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Mapping from Main Memory to Cache: k-Way Set Associative</a:t>
            </a:r>
            <a:endParaRPr lang="en-US" sz="2800" dirty="0"/>
          </a:p>
        </p:txBody>
      </p:sp>
    </p:spTree>
    <p:extLst>
      <p:ext uri="{BB962C8B-B14F-4D97-AF65-F5344CB8AC3E}">
        <p14:creationId xmlns:p14="http://schemas.microsoft.com/office/powerpoint/2010/main" val="241921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Set Associative Mapping</a:t>
            </a:r>
            <a:br>
              <a:rPr lang="en-US" altLang="en-US"/>
            </a:br>
            <a:r>
              <a:rPr lang="en-US" altLang="en-US"/>
              <a:t>Address Structure</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924414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Set Associative Mapping Summary</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833224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main memory address contains hexadecimal tags and binary addresses. The main memory address is made of 9 bit tags, 13 bit sets, and 2 bit words. The 16 M b main memory contains a 32 bits data section. The following hexadecimal tags of cache set 1 are directly mapped to the memory address. Tag, 0 0 0, data 1 3 5 7 9 24 6 Tag 0 2 c, data 1 1 2 3 5 8 1 3. 0 2 C, F E D C B A 9 8. Tag 1 F F, Data 1 1 2 2 3 3 4 4. Tag 0 2 C, Data 1 2 3 4 5 6 7 8. The following hexadecimals tags of cache set 2 are mapped to the memory address bypassing set 1. Tag 0 2 c, data 7 7 7 7 7 7 7 7. Tag 1 F F, Data 2 4 6 8 2 4 6 8. The 16 K line cache is made of 9 bit tags and a 32 bit data section." title="A diagrammatic representation of two way set associative mapping."/>
          <p:cNvPicPr>
            <a:picLocks noChangeAspect="1"/>
          </p:cNvPicPr>
          <p:nvPr/>
        </p:nvPicPr>
        <p:blipFill rotWithShape="1">
          <a:blip r:embed="rId3">
            <a:extLst>
              <a:ext uri="{28A0092B-C50C-407E-A947-70E740481C1C}">
                <a14:useLocalDpi xmlns:a14="http://schemas.microsoft.com/office/drawing/2010/main" val="0"/>
              </a:ext>
            </a:extLst>
          </a:blip>
          <a:srcRect l="4129" t="6696" r="10885" b="9766"/>
          <a:stretch/>
        </p:blipFill>
        <p:spPr>
          <a:xfrm>
            <a:off x="1269912" y="1409870"/>
            <a:ext cx="6604176" cy="5016283"/>
          </a:xfrm>
          <a:prstGeom prst="rect">
            <a:avLst/>
          </a:prstGeom>
        </p:spPr>
      </p:pic>
      <p:sp>
        <p:nvSpPr>
          <p:cNvPr id="2" name="Title 1">
            <a:extLst>
              <a:ext uri="{FF2B5EF4-FFF2-40B4-BE49-F238E27FC236}">
                <a16:creationId xmlns:a16="http://schemas.microsoft.com/office/drawing/2014/main" id="{B3B7A424-426C-432A-AA25-A06BAC258320}"/>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Figure 5.14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Two-Way Set-Associative Mapping Example</a:t>
            </a:r>
            <a:endParaRPr lang="en-US" sz="3200" dirty="0"/>
          </a:p>
        </p:txBody>
      </p:sp>
    </p:spTree>
    <p:extLst>
      <p:ext uri="{BB962C8B-B14F-4D97-AF65-F5344CB8AC3E}">
        <p14:creationId xmlns:p14="http://schemas.microsoft.com/office/powerpoint/2010/main" val="27119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Replacement Algorithms</a:t>
            </a:r>
          </a:p>
        </p:txBody>
      </p:sp>
      <p:sp>
        <p:nvSpPr>
          <p:cNvPr id="52227" name="Rectangle 3"/>
          <p:cNvSpPr>
            <a:spLocks noGrp="1" noChangeArrowheads="1"/>
          </p:cNvSpPr>
          <p:nvPr>
            <p:ph type="body" idx="1"/>
          </p:nvPr>
        </p:nvSpPr>
        <p:spPr>
          <a:xfrm>
            <a:off x="457200" y="1543050"/>
            <a:ext cx="8229600" cy="4525963"/>
          </a:xfrm>
        </p:spPr>
        <p:txBody>
          <a:bodyPr/>
          <a:lstStyle/>
          <a:p>
            <a:pPr marL="352425" indent="-352425"/>
            <a:r>
              <a:rPr lang="en-US" dirty="0"/>
              <a:t>Once the cache has been filled, when a new block is brought into the cache, one of the existing blocks must be replaced</a:t>
            </a:r>
          </a:p>
          <a:p>
            <a:pPr marL="352425" indent="-352425"/>
            <a:r>
              <a:rPr lang="en-US" dirty="0"/>
              <a:t>For direct mapping there is only one possible line for any particular block and no choice is possible</a:t>
            </a:r>
          </a:p>
          <a:p>
            <a:pPr marL="352425" indent="-352425"/>
            <a:r>
              <a:rPr lang="en-US" dirty="0"/>
              <a:t>For the associative and set-associative techniques a replacement algorithm is needed</a:t>
            </a:r>
          </a:p>
          <a:p>
            <a:pPr marL="352425" indent="-352425"/>
            <a:r>
              <a:rPr lang="en-US" dirty="0"/>
              <a:t>To achieve high speed, an algorithm must be implemented in hardware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p:txBody>
          <a:bodyPr/>
          <a:lstStyle/>
          <a:p>
            <a:r>
              <a:rPr lang="en-US" dirty="0"/>
              <a:t>The most common replacement algorithms are:</a:t>
            </a:r>
          </a:p>
        </p:txBody>
      </p:sp>
      <p:sp>
        <p:nvSpPr>
          <p:cNvPr id="54277" name="Rectangle 5"/>
          <p:cNvSpPr>
            <a:spLocks noGrp="1" noChangeArrowheads="1"/>
          </p:cNvSpPr>
          <p:nvPr>
            <p:ph type="body" idx="1"/>
          </p:nvPr>
        </p:nvSpPr>
        <p:spPr>
          <a:xfrm>
            <a:off x="457200" y="1562100"/>
            <a:ext cx="8229600" cy="4525963"/>
          </a:xfrm>
        </p:spPr>
        <p:txBody>
          <a:bodyPr>
            <a:normAutofit/>
          </a:bodyPr>
          <a:lstStyle/>
          <a:p>
            <a:pPr marL="352425" indent="-352425"/>
            <a:r>
              <a:rPr lang="en-US" sz="2000" dirty="0"/>
              <a:t>Least recently used (LRU)</a:t>
            </a:r>
          </a:p>
          <a:p>
            <a:pPr marL="638175" lvl="1" indent="-276225">
              <a:tabLst>
                <a:tab pos="1619250" algn="l"/>
              </a:tabLst>
            </a:pPr>
            <a:r>
              <a:rPr lang="en-US" sz="1800" dirty="0"/>
              <a:t>Most effective</a:t>
            </a:r>
          </a:p>
          <a:p>
            <a:pPr marL="638175" lvl="1" indent="-276225">
              <a:tabLst>
                <a:tab pos="1619250" algn="l"/>
              </a:tabLst>
            </a:pPr>
            <a:r>
              <a:rPr lang="en-US" sz="1800" dirty="0"/>
              <a:t>Replace that block in the set that has been in the cache longest with no reference to it</a:t>
            </a:r>
          </a:p>
          <a:p>
            <a:pPr marL="638175" lvl="1" indent="-276225">
              <a:tabLst>
                <a:tab pos="1619250" algn="l"/>
              </a:tabLst>
            </a:pPr>
            <a:r>
              <a:rPr lang="en-US" sz="1800" dirty="0"/>
              <a:t>Because of its simplicity of implementation, LRU is the most popular replacement algorithm</a:t>
            </a:r>
          </a:p>
          <a:p>
            <a:pPr marL="352425" indent="-352425"/>
            <a:r>
              <a:rPr lang="en-US" sz="2000" dirty="0"/>
              <a:t>First-in-first-out (FIFO)</a:t>
            </a:r>
          </a:p>
          <a:p>
            <a:pPr marL="638175" lvl="1" indent="-276225">
              <a:tabLst>
                <a:tab pos="1619250" algn="l"/>
              </a:tabLst>
            </a:pPr>
            <a:r>
              <a:rPr lang="en-US" sz="1800" dirty="0"/>
              <a:t>Replace that block in the set that has been in the cache longest</a:t>
            </a:r>
          </a:p>
          <a:p>
            <a:pPr marL="638175" lvl="1" indent="-276225">
              <a:tabLst>
                <a:tab pos="1619250" algn="l"/>
              </a:tabLst>
            </a:pPr>
            <a:r>
              <a:rPr lang="en-US" sz="1800" dirty="0"/>
              <a:t>Easily implemented as a round-robin or circular buffer technique</a:t>
            </a:r>
          </a:p>
          <a:p>
            <a:pPr marL="352425" indent="-352425"/>
            <a:r>
              <a:rPr lang="en-US" sz="2000" dirty="0"/>
              <a:t>Least frequently used (LFU)</a:t>
            </a:r>
          </a:p>
          <a:p>
            <a:pPr marL="638175" lvl="1" indent="-276225">
              <a:tabLst>
                <a:tab pos="1619250" algn="l"/>
              </a:tabLst>
            </a:pPr>
            <a:r>
              <a:rPr lang="en-US" sz="1800" dirty="0"/>
              <a:t>Replace that block in the set that has experienced the fewest references</a:t>
            </a:r>
          </a:p>
          <a:p>
            <a:pPr marL="638175" lvl="1" indent="-276225">
              <a:tabLst>
                <a:tab pos="1619250" algn="l"/>
              </a:tabLst>
            </a:pPr>
            <a:r>
              <a:rPr lang="en-US" sz="1800" dirty="0"/>
              <a:t>Could be implemented by associating a counter with each 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dirty="0"/>
              <a:t>Write Policy</a:t>
            </a:r>
          </a:p>
        </p:txBody>
      </p:sp>
      <p:graphicFrame>
        <p:nvGraphicFramePr>
          <p:cNvPr id="5" name="Content Placeholder 14"/>
          <p:cNvGraphicFramePr>
            <a:graphicFrameLocks/>
          </p:cNvGraphicFramePr>
          <p:nvPr>
            <p:extLst>
              <p:ext uri="{D42A27DB-BD31-4B8C-83A1-F6EECF244321}">
                <p14:modId xmlns:p14="http://schemas.microsoft.com/office/powerpoint/2010/main" val="972554376"/>
              </p:ext>
            </p:extLst>
          </p:nvPr>
        </p:nvGraphicFramePr>
        <p:xfrm>
          <a:off x="323528" y="332656"/>
          <a:ext cx="8663880" cy="6932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t>Write Through</a:t>
            </a:r>
            <a:br>
              <a:rPr lang="en-US" dirty="0"/>
            </a:br>
            <a:r>
              <a:rPr lang="en-US" dirty="0"/>
              <a:t>		and Write Back</a:t>
            </a:r>
          </a:p>
        </p:txBody>
      </p:sp>
      <p:sp>
        <p:nvSpPr>
          <p:cNvPr id="55299" name="Rectangle 3"/>
          <p:cNvSpPr>
            <a:spLocks noGrp="1" noChangeArrowheads="1"/>
          </p:cNvSpPr>
          <p:nvPr>
            <p:ph type="body" idx="1"/>
          </p:nvPr>
        </p:nvSpPr>
        <p:spPr>
          <a:xfrm>
            <a:off x="457200" y="1556792"/>
            <a:ext cx="8229600" cy="4525963"/>
          </a:xfrm>
        </p:spPr>
        <p:txBody>
          <a:bodyPr>
            <a:normAutofit/>
          </a:bodyPr>
          <a:lstStyle/>
          <a:p>
            <a:pPr marL="342900" indent="-342900"/>
            <a:r>
              <a:rPr lang="en-US" sz="2200" dirty="0"/>
              <a:t>Write through</a:t>
            </a:r>
          </a:p>
          <a:p>
            <a:pPr marL="647700" lvl="1" indent="-295275"/>
            <a:r>
              <a:rPr lang="en-US" sz="1800" dirty="0"/>
              <a:t>Simplest technique</a:t>
            </a:r>
          </a:p>
          <a:p>
            <a:pPr marL="647700" lvl="1" indent="-295275"/>
            <a:r>
              <a:rPr lang="en-US" sz="1800" dirty="0"/>
              <a:t>All write operations are made to main memory as well as to the cache</a:t>
            </a:r>
          </a:p>
          <a:p>
            <a:pPr marL="647700" lvl="1" indent="-295275"/>
            <a:r>
              <a:rPr lang="en-US" sz="1800" dirty="0"/>
              <a:t>The main disadvantage of this technique is that it generates substantial memory traffic and may create a bottleneck</a:t>
            </a:r>
          </a:p>
          <a:p>
            <a:pPr marL="342900" indent="-342900"/>
            <a:r>
              <a:rPr lang="en-US" sz="2200" dirty="0"/>
              <a:t>Write back</a:t>
            </a:r>
          </a:p>
          <a:p>
            <a:pPr marL="647700" lvl="1" indent="-295275"/>
            <a:r>
              <a:rPr lang="en-US" sz="1800" dirty="0"/>
              <a:t>Minimizes memory writes</a:t>
            </a:r>
          </a:p>
          <a:p>
            <a:pPr marL="647700" lvl="1" indent="-295275"/>
            <a:r>
              <a:rPr lang="en-US" sz="1800" dirty="0"/>
              <a:t>Updates are made only in the cache</a:t>
            </a:r>
          </a:p>
          <a:p>
            <a:pPr marL="647700" lvl="1" indent="-295275"/>
            <a:r>
              <a:rPr lang="en-US" sz="1800" dirty="0"/>
              <a:t>Portions of main memory are invalid and hence accesses by I/O modules can be allowed only through the cache</a:t>
            </a:r>
          </a:p>
          <a:p>
            <a:pPr marL="647700" lvl="1" indent="-295275"/>
            <a:r>
              <a:rPr lang="en-US" sz="1800" dirty="0"/>
              <a:t>This makes for complex circuitry and a potential bottleneck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Miss Alternatives</a:t>
            </a:r>
          </a:p>
        </p:txBody>
      </p:sp>
      <p:sp>
        <p:nvSpPr>
          <p:cNvPr id="3" name="Content Placeholder 2"/>
          <p:cNvSpPr>
            <a:spLocks noGrp="1"/>
          </p:cNvSpPr>
          <p:nvPr>
            <p:ph type="body" idx="1"/>
          </p:nvPr>
        </p:nvSpPr>
        <p:spPr>
          <a:xfrm>
            <a:off x="457200" y="1581150"/>
            <a:ext cx="8229600" cy="4525963"/>
          </a:xfrm>
        </p:spPr>
        <p:txBody>
          <a:bodyPr>
            <a:normAutofit fontScale="92500" lnSpcReduction="10000"/>
          </a:bodyPr>
          <a:lstStyle/>
          <a:p>
            <a:pPr marL="352425" indent="-352425"/>
            <a:r>
              <a:rPr lang="en-US" sz="2200" dirty="0"/>
              <a:t>There are two alternatives in the event of a write miss at a cache level:</a:t>
            </a:r>
          </a:p>
          <a:p>
            <a:pPr marL="647700" lvl="2" indent="-285750">
              <a:buFont typeface="Arial" panose="020B0604020202020204" pitchFamily="34" charset="0"/>
              <a:buChar char="–"/>
            </a:pPr>
            <a:r>
              <a:rPr lang="en-US" sz="1900" dirty="0"/>
              <a:t>Write allocate</a:t>
            </a:r>
          </a:p>
          <a:p>
            <a:pPr marL="952500" lvl="4" indent="-314325">
              <a:buFont typeface="Arial" panose="020B0604020202020204" pitchFamily="34" charset="0"/>
              <a:buChar char="–"/>
            </a:pPr>
            <a:r>
              <a:rPr lang="en-US" sz="1700" dirty="0"/>
              <a:t>The block containing the word to be written is fetched from main memory (or next level cache) into the cache and the processor proceeds with the write cycle</a:t>
            </a:r>
          </a:p>
          <a:p>
            <a:pPr marL="647700" lvl="2" indent="-285750">
              <a:buFont typeface="Arial" panose="020B0604020202020204" pitchFamily="34" charset="0"/>
              <a:buChar char="–"/>
            </a:pPr>
            <a:r>
              <a:rPr lang="en-US" sz="1900" dirty="0"/>
              <a:t>No write allocate</a:t>
            </a:r>
          </a:p>
          <a:p>
            <a:pPr marL="952500" lvl="4" indent="-314325">
              <a:buFont typeface="Arial" panose="020B0604020202020204" pitchFamily="34" charset="0"/>
              <a:buChar char="–"/>
            </a:pPr>
            <a:r>
              <a:rPr lang="en-US" sz="1700" dirty="0"/>
              <a:t>The block containing the word to be written is modified in the main memory and not loaded into the cache</a:t>
            </a:r>
          </a:p>
          <a:p>
            <a:pPr marL="352425" indent="-352425"/>
            <a:r>
              <a:rPr lang="en-US" sz="2200" dirty="0"/>
              <a:t>Either of these policies can be used with either write through or write back</a:t>
            </a:r>
          </a:p>
          <a:p>
            <a:pPr marL="352425" indent="-352425"/>
            <a:r>
              <a:rPr lang="en-US" sz="2200" dirty="0"/>
              <a:t>No write allocate is most commonly used with write through</a:t>
            </a:r>
          </a:p>
          <a:p>
            <a:pPr marL="352425" indent="-352425"/>
            <a:r>
              <a:rPr lang="en-US" sz="2200" dirty="0"/>
              <a:t>Write allocate is most commonly used with write back</a:t>
            </a:r>
          </a:p>
        </p:txBody>
      </p:sp>
    </p:spTree>
    <p:extLst>
      <p:ext uri="{BB962C8B-B14F-4D97-AF65-F5344CB8AC3E}">
        <p14:creationId xmlns:p14="http://schemas.microsoft.com/office/powerpoint/2010/main" val="2129296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Coherency</a:t>
            </a:r>
          </a:p>
        </p:txBody>
      </p:sp>
      <p:sp>
        <p:nvSpPr>
          <p:cNvPr id="3" name="Content Placeholder 2"/>
          <p:cNvSpPr>
            <a:spLocks noGrp="1"/>
          </p:cNvSpPr>
          <p:nvPr>
            <p:ph type="body" idx="1"/>
          </p:nvPr>
        </p:nvSpPr>
        <p:spPr>
          <a:xfrm>
            <a:off x="457200" y="1587673"/>
            <a:ext cx="8229600" cy="4825653"/>
          </a:xfrm>
        </p:spPr>
        <p:txBody>
          <a:bodyPr>
            <a:normAutofit fontScale="70000" lnSpcReduction="20000"/>
          </a:bodyPr>
          <a:lstStyle/>
          <a:p>
            <a:pPr marL="342900" indent="-342900">
              <a:spcBef>
                <a:spcPts val="1400"/>
              </a:spcBef>
            </a:pPr>
            <a:r>
              <a:rPr lang="en-US" sz="2300" dirty="0"/>
              <a:t>A new problem is introduced in a bus organization in which more than one device has a cache and main memory is shared</a:t>
            </a:r>
          </a:p>
          <a:p>
            <a:pPr marL="342900" indent="-342900">
              <a:spcBef>
                <a:spcPts val="1400"/>
              </a:spcBef>
            </a:pPr>
            <a:r>
              <a:rPr lang="en-US" sz="2300" dirty="0"/>
              <a:t>If data in one cache are altered, this invalidates not only the corresponding word in main memory, but also that same word in other caches</a:t>
            </a:r>
          </a:p>
          <a:p>
            <a:pPr marL="342900" indent="-342900">
              <a:spcBef>
                <a:spcPts val="1400"/>
              </a:spcBef>
            </a:pPr>
            <a:r>
              <a:rPr lang="en-US" sz="2300" dirty="0"/>
              <a:t>Even if a write-through policy is used, the other caches may contain invalid data</a:t>
            </a:r>
          </a:p>
          <a:p>
            <a:pPr marL="342900" indent="-342900">
              <a:spcBef>
                <a:spcPts val="1400"/>
              </a:spcBef>
            </a:pPr>
            <a:r>
              <a:rPr lang="en-US" sz="2300" dirty="0"/>
              <a:t>Possible approaches to cache coherency include:</a:t>
            </a:r>
          </a:p>
          <a:p>
            <a:pPr marL="638175" lvl="2" indent="-285750">
              <a:buFont typeface="Arial" panose="020B0604020202020204" pitchFamily="34" charset="0"/>
              <a:buChar char="–"/>
            </a:pPr>
            <a:r>
              <a:rPr lang="en-US" sz="2000" b="1" dirty="0"/>
              <a:t>Bus watching with write through</a:t>
            </a:r>
          </a:p>
          <a:p>
            <a:pPr marL="952500" lvl="4" indent="-314325"/>
            <a:r>
              <a:rPr lang="en-US" sz="1700" dirty="0"/>
              <a:t>Each cache controller monitors the address lines to detect write operations to memory by other bus masters</a:t>
            </a:r>
          </a:p>
          <a:p>
            <a:pPr marL="952500" lvl="4" indent="-314325"/>
            <a:r>
              <a:rPr lang="en-US" sz="1700" dirty="0"/>
              <a:t>If another master writes to a location in shared memory that also resides in the cache memory, the cache controller invalidates that cache entry</a:t>
            </a:r>
          </a:p>
          <a:p>
            <a:pPr marL="952500" lvl="4" indent="-314325"/>
            <a:r>
              <a:rPr lang="en-US" sz="1700" dirty="0"/>
              <a:t>This strategy depends on the use of a write-through policy by all cache controllers</a:t>
            </a:r>
          </a:p>
          <a:p>
            <a:pPr marL="638175" lvl="2" indent="-285750">
              <a:buFont typeface="Arial" panose="020B0604020202020204" pitchFamily="34" charset="0"/>
              <a:buChar char="–"/>
            </a:pPr>
            <a:r>
              <a:rPr lang="en-US" sz="2000" b="1" dirty="0"/>
              <a:t>Hardware transparency</a:t>
            </a:r>
          </a:p>
          <a:p>
            <a:pPr marL="952500" lvl="4" indent="-314325"/>
            <a:r>
              <a:rPr lang="en-US" sz="1700" dirty="0"/>
              <a:t>Additional hardware is used to ensure that all updates to main memory via cache are reflected in all caches</a:t>
            </a:r>
          </a:p>
          <a:p>
            <a:pPr marL="952500" lvl="4" indent="-314325"/>
            <a:r>
              <a:rPr lang="en-US" sz="1700" dirty="0"/>
              <a:t>If one processor modifies a word in its cache, this update is written to main memory</a:t>
            </a:r>
          </a:p>
          <a:p>
            <a:pPr marL="638175" lvl="2" indent="-285750">
              <a:buFont typeface="Arial" panose="020B0604020202020204" pitchFamily="34" charset="0"/>
              <a:buChar char="–"/>
            </a:pPr>
            <a:r>
              <a:rPr lang="en-US" sz="2000" b="1" dirty="0" err="1"/>
              <a:t>Noncacheable</a:t>
            </a:r>
            <a:r>
              <a:rPr lang="en-US" sz="2000" b="1" dirty="0"/>
              <a:t> memory</a:t>
            </a:r>
          </a:p>
          <a:p>
            <a:pPr marL="952500" lvl="4" indent="-314325"/>
            <a:r>
              <a:rPr lang="en-US" dirty="0"/>
              <a:t>Only a portion of main memory is shared by more than one processor, and this is designated as </a:t>
            </a:r>
            <a:r>
              <a:rPr lang="en-US" dirty="0" err="1"/>
              <a:t>noncacheable</a:t>
            </a:r>
            <a:endParaRPr lang="en-US" dirty="0"/>
          </a:p>
          <a:p>
            <a:pPr marL="952500" lvl="4" indent="-314325"/>
            <a:r>
              <a:rPr lang="en-US" dirty="0"/>
              <a:t>All accesses to shared memory are cache misses, because the shared memory is never copied into the cache</a:t>
            </a:r>
          </a:p>
          <a:p>
            <a:pPr marL="952500" lvl="4" indent="-314325"/>
            <a:r>
              <a:rPr lang="en-US" dirty="0"/>
              <a:t>The </a:t>
            </a:r>
            <a:r>
              <a:rPr lang="en-US" dirty="0" err="1"/>
              <a:t>noncacheable</a:t>
            </a:r>
            <a:r>
              <a:rPr lang="en-US" dirty="0"/>
              <a:t> memory can be identified using chip-select logic or high-address bits</a:t>
            </a:r>
          </a:p>
        </p:txBody>
      </p:sp>
    </p:spTree>
    <p:extLst>
      <p:ext uri="{BB962C8B-B14F-4D97-AF65-F5344CB8AC3E}">
        <p14:creationId xmlns:p14="http://schemas.microsoft.com/office/powerpoint/2010/main" val="1420597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en-GB" dirty="0"/>
              <a:t>Line Size</a:t>
            </a:r>
          </a:p>
        </p:txBody>
      </p:sp>
      <p:graphicFrame>
        <p:nvGraphicFramePr>
          <p:cNvPr id="43" name="Content Placeholder 42"/>
          <p:cNvGraphicFramePr>
            <a:graphicFrameLocks noGrp="1"/>
          </p:cNvGraphicFramePr>
          <p:nvPr>
            <p:ph idx="4294967295"/>
            <p:extLst>
              <p:ext uri="{D42A27DB-BD31-4B8C-83A1-F6EECF244321}">
                <p14:modId xmlns:p14="http://schemas.microsoft.com/office/powerpoint/2010/main" val="4042352523"/>
              </p:ext>
            </p:extLst>
          </p:nvPr>
        </p:nvGraphicFramePr>
        <p:xfrm>
          <a:off x="485230" y="644168"/>
          <a:ext cx="8173540" cy="57520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GB" dirty="0"/>
              <a:t>Multilevel Caches</a:t>
            </a:r>
          </a:p>
        </p:txBody>
      </p:sp>
      <p:sp>
        <p:nvSpPr>
          <p:cNvPr id="190467" name="Rectangle 3"/>
          <p:cNvSpPr>
            <a:spLocks noGrp="1" noChangeArrowheads="1"/>
          </p:cNvSpPr>
          <p:nvPr>
            <p:ph type="body" idx="1"/>
          </p:nvPr>
        </p:nvSpPr>
        <p:spPr/>
        <p:txBody>
          <a:bodyPr>
            <a:normAutofit fontScale="92500" lnSpcReduction="20000"/>
          </a:bodyPr>
          <a:lstStyle/>
          <a:p>
            <a:pPr marL="352425" indent="-352425"/>
            <a:r>
              <a:rPr lang="en-GB" sz="1700" dirty="0"/>
              <a:t>As logic density has increased it has become possible to have a cache on the same chip as the processor</a:t>
            </a:r>
          </a:p>
          <a:p>
            <a:pPr marL="352425" indent="-352425"/>
            <a:r>
              <a:rPr lang="en-GB" sz="1700" dirty="0"/>
              <a:t>The on-chip cache reduces the processor’s external bus activity and speeds up execution time and increases overall system performance</a:t>
            </a:r>
          </a:p>
          <a:p>
            <a:pPr marL="647700" lvl="1" indent="-304800"/>
            <a:r>
              <a:rPr lang="en-GB" dirty="0"/>
              <a:t>When the requested instruction or data is found in the on-chip cache, the bus access is eliminated</a:t>
            </a:r>
          </a:p>
          <a:p>
            <a:pPr marL="647700" lvl="1" indent="-304800"/>
            <a:r>
              <a:rPr lang="en-GB" dirty="0"/>
              <a:t>On-chip cache accesses will complete appreciably faster than would even zero-wait state bus cycles</a:t>
            </a:r>
          </a:p>
          <a:p>
            <a:pPr marL="647700" lvl="1" indent="-304800"/>
            <a:r>
              <a:rPr lang="en-GB" dirty="0"/>
              <a:t>During this period the bus is free to support other transfers</a:t>
            </a:r>
          </a:p>
          <a:p>
            <a:pPr marL="352425" indent="-352425"/>
            <a:r>
              <a:rPr lang="en-GB" sz="1700" dirty="0"/>
              <a:t>Two-level cache:</a:t>
            </a:r>
          </a:p>
          <a:p>
            <a:pPr marL="647700" lvl="1" indent="-304800"/>
            <a:r>
              <a:rPr lang="en-GB" dirty="0"/>
              <a:t>Internal cache designated as level 1 (L1)</a:t>
            </a:r>
          </a:p>
          <a:p>
            <a:pPr marL="647700" lvl="1" indent="-304800"/>
            <a:r>
              <a:rPr lang="en-GB" dirty="0"/>
              <a:t>External cache designated as level 2 (L2)</a:t>
            </a:r>
          </a:p>
          <a:p>
            <a:pPr marL="352425" indent="-352425"/>
            <a:r>
              <a:rPr lang="en-GB" sz="1700" dirty="0"/>
              <a:t>Potential savings due to the use of an L2 cache depends on the hit rates in both the L1 and L2 caches</a:t>
            </a:r>
          </a:p>
          <a:p>
            <a:pPr marL="352425" indent="-352425"/>
            <a:r>
              <a:rPr lang="en-GB" sz="1700" dirty="0"/>
              <a:t>The use of multilevel caches complicates all of the design issues related to caches, including size, replacement algorithm, and write policy</a:t>
            </a:r>
          </a:p>
          <a:p>
            <a:endParaRPr lang="en-GB" dirty="0"/>
          </a:p>
          <a:p>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457200" y="215371"/>
            <a:ext cx="8229600" cy="1097279"/>
          </a:xfrm>
        </p:spPr>
        <p:txBody>
          <a:bodyPr/>
          <a:lstStyle/>
          <a:p>
            <a:r>
              <a:rPr lang="en-GB" dirty="0"/>
              <a:t>Unified Versus Split Caches</a:t>
            </a:r>
          </a:p>
        </p:txBody>
      </p:sp>
      <p:sp>
        <p:nvSpPr>
          <p:cNvPr id="192515" name="Rectangle 3"/>
          <p:cNvSpPr>
            <a:spLocks noGrp="1" noChangeArrowheads="1"/>
          </p:cNvSpPr>
          <p:nvPr>
            <p:ph type="body" idx="1"/>
          </p:nvPr>
        </p:nvSpPr>
        <p:spPr/>
        <p:txBody>
          <a:bodyPr>
            <a:normAutofit fontScale="92500" lnSpcReduction="10000"/>
          </a:bodyPr>
          <a:lstStyle/>
          <a:p>
            <a:pPr marL="352425" indent="-352425"/>
            <a:r>
              <a:rPr lang="en-GB" sz="2200" dirty="0"/>
              <a:t>Has become common to split cache:</a:t>
            </a:r>
          </a:p>
          <a:p>
            <a:pPr marL="638175" lvl="1" indent="-285750">
              <a:tabLst>
                <a:tab pos="533400" algn="l"/>
              </a:tabLst>
            </a:pPr>
            <a:r>
              <a:rPr lang="en-GB" dirty="0"/>
              <a:t>One dedicated to instructions</a:t>
            </a:r>
          </a:p>
          <a:p>
            <a:pPr marL="638175" lvl="1" indent="-285750">
              <a:tabLst>
                <a:tab pos="533400" algn="l"/>
              </a:tabLst>
            </a:pPr>
            <a:r>
              <a:rPr lang="en-GB" dirty="0"/>
              <a:t>One dedicated to data</a:t>
            </a:r>
          </a:p>
          <a:p>
            <a:pPr marL="638175" lvl="1" indent="-285750">
              <a:tabLst>
                <a:tab pos="533400" algn="l"/>
              </a:tabLst>
            </a:pPr>
            <a:r>
              <a:rPr lang="en-GB" dirty="0"/>
              <a:t>Both exist at the same level, typically as two L1 caches</a:t>
            </a:r>
          </a:p>
          <a:p>
            <a:pPr marL="352425" indent="-352425"/>
            <a:r>
              <a:rPr lang="en-GB" sz="2200" dirty="0"/>
              <a:t>Advantages of unified cache:</a:t>
            </a:r>
          </a:p>
          <a:p>
            <a:pPr marL="638175" lvl="1" indent="-285750">
              <a:tabLst>
                <a:tab pos="533400" algn="l"/>
              </a:tabLst>
            </a:pPr>
            <a:r>
              <a:rPr lang="en-GB" dirty="0"/>
              <a:t>Higher hit rate</a:t>
            </a:r>
          </a:p>
          <a:p>
            <a:pPr marL="942975" lvl="2" indent="-295275"/>
            <a:r>
              <a:rPr lang="en-GB" dirty="0"/>
              <a:t>Balances load of instruction and data fetches automatically</a:t>
            </a:r>
          </a:p>
          <a:p>
            <a:pPr marL="942975" lvl="2" indent="-295275"/>
            <a:r>
              <a:rPr lang="en-GB" dirty="0"/>
              <a:t>Only one cache needs to be designed and implemented</a:t>
            </a:r>
          </a:p>
          <a:p>
            <a:pPr marL="352425" indent="-352425"/>
            <a:r>
              <a:rPr lang="en-GB" sz="2200" dirty="0"/>
              <a:t>Trend is toward split caches at the L1 and unified caches for higher levels</a:t>
            </a:r>
          </a:p>
          <a:p>
            <a:pPr marL="352425" indent="-352425"/>
            <a:r>
              <a:rPr lang="en-GB" sz="2200" dirty="0"/>
              <a:t>Advantages of split cache:</a:t>
            </a:r>
          </a:p>
          <a:p>
            <a:pPr marL="638175" lvl="1" indent="-285750">
              <a:tabLst>
                <a:tab pos="533400" algn="l"/>
              </a:tabLst>
            </a:pPr>
            <a:r>
              <a:rPr lang="en-GB" dirty="0"/>
              <a:t>Eliminates cache contention between instruction fetch/decode unit and execution unit</a:t>
            </a:r>
          </a:p>
          <a:p>
            <a:pPr marL="942975" lvl="2" indent="-295275"/>
            <a:r>
              <a:rPr lang="en-GB" dirty="0"/>
              <a:t>Important in pipelining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Inclusion Policy</a:t>
            </a:r>
          </a:p>
        </p:txBody>
      </p:sp>
      <p:sp>
        <p:nvSpPr>
          <p:cNvPr id="3" name="Content Placeholder 2"/>
          <p:cNvSpPr>
            <a:spLocks noGrp="1"/>
          </p:cNvSpPr>
          <p:nvPr>
            <p:ph type="body" idx="1"/>
          </p:nvPr>
        </p:nvSpPr>
        <p:spPr>
          <a:xfrm>
            <a:off x="457200" y="1600200"/>
            <a:ext cx="8229600" cy="4853136"/>
          </a:xfrm>
        </p:spPr>
        <p:txBody>
          <a:bodyPr>
            <a:normAutofit/>
          </a:bodyPr>
          <a:lstStyle/>
          <a:p>
            <a:pPr marL="352425" indent="-352425"/>
            <a:r>
              <a:rPr lang="en-US" sz="1400" b="1" dirty="0"/>
              <a:t>Inclusive policy</a:t>
            </a:r>
          </a:p>
          <a:p>
            <a:pPr marL="638175" lvl="2" indent="-285750">
              <a:buFont typeface="Arial" panose="020B0604020202020204" pitchFamily="34" charset="0"/>
              <a:buChar char="–"/>
            </a:pPr>
            <a:r>
              <a:rPr lang="en-US" sz="1300" dirty="0"/>
              <a:t>Dictates that a piece of data in one cache is guaranteed to be also found in all lower levels of caches</a:t>
            </a:r>
          </a:p>
          <a:p>
            <a:pPr marL="638175" lvl="2" indent="-285750">
              <a:buFont typeface="Arial" panose="020B0604020202020204" pitchFamily="34" charset="0"/>
              <a:buChar char="–"/>
            </a:pPr>
            <a:r>
              <a:rPr lang="en-US" sz="1300" dirty="0"/>
              <a:t>Advantage is that it simplifies searching for data when there are multiple processors in the computing system</a:t>
            </a:r>
          </a:p>
          <a:p>
            <a:pPr marL="638175" lvl="2" indent="-285750">
              <a:buFont typeface="Arial" panose="020B0604020202020204" pitchFamily="34" charset="0"/>
              <a:buChar char="–"/>
            </a:pPr>
            <a:r>
              <a:rPr lang="en-US" sz="1300" dirty="0"/>
              <a:t>This property is useful in enforcing cache coherence</a:t>
            </a:r>
          </a:p>
          <a:p>
            <a:pPr marL="352425" indent="-352425"/>
            <a:r>
              <a:rPr lang="en-US" sz="1400" b="1" dirty="0"/>
              <a:t>Exclusive policy</a:t>
            </a:r>
          </a:p>
          <a:p>
            <a:pPr marL="638175" lvl="2" indent="-285750">
              <a:buFont typeface="Arial" panose="020B0604020202020204" pitchFamily="34" charset="0"/>
              <a:buChar char="–"/>
            </a:pPr>
            <a:r>
              <a:rPr lang="en-US" sz="1300" dirty="0"/>
              <a:t>Dictates that a piece of data in one cache is guaranteed not to be found in all lower levels of caches</a:t>
            </a:r>
          </a:p>
          <a:p>
            <a:pPr marL="638175" lvl="2" indent="-285750">
              <a:buFont typeface="Arial" panose="020B0604020202020204" pitchFamily="34" charset="0"/>
              <a:buChar char="–"/>
            </a:pPr>
            <a:r>
              <a:rPr lang="en-US" sz="1300" dirty="0"/>
              <a:t>The advantage is that it does not waste cache capacity since it does not store multiple copies of the same data in all of the caches</a:t>
            </a:r>
          </a:p>
          <a:p>
            <a:pPr marL="638175" lvl="2" indent="-285750">
              <a:buFont typeface="Arial" panose="020B0604020202020204" pitchFamily="34" charset="0"/>
              <a:buChar char="–"/>
            </a:pPr>
            <a:r>
              <a:rPr lang="en-US" sz="1300" dirty="0"/>
              <a:t>The disadvantage is the need to search multiple cache levels when invalidating or updating a block</a:t>
            </a:r>
          </a:p>
          <a:p>
            <a:pPr marL="638175" lvl="2" indent="-285750">
              <a:buFont typeface="Arial" panose="020B0604020202020204" pitchFamily="34" charset="0"/>
              <a:buChar char="–"/>
            </a:pPr>
            <a:r>
              <a:rPr lang="en-US" sz="1300" dirty="0"/>
              <a:t>To minimize the search time, the highest-level tag sets are typically duplicated at the lowest cache level to centralize searching</a:t>
            </a:r>
          </a:p>
          <a:p>
            <a:pPr marL="352425" indent="-352425"/>
            <a:r>
              <a:rPr lang="en-US" sz="1400" b="1" dirty="0" err="1"/>
              <a:t>Noninclusive</a:t>
            </a:r>
            <a:r>
              <a:rPr lang="en-US" sz="1400" b="1" dirty="0"/>
              <a:t> policy</a:t>
            </a:r>
          </a:p>
          <a:p>
            <a:pPr marL="638175" lvl="2" indent="-285750">
              <a:buFont typeface="Arial" panose="020B0604020202020204" pitchFamily="34" charset="0"/>
              <a:buChar char="–"/>
            </a:pPr>
            <a:r>
              <a:rPr lang="en-US" sz="1300" dirty="0"/>
              <a:t>With the </a:t>
            </a:r>
            <a:r>
              <a:rPr lang="en-US" sz="1300" dirty="0" err="1"/>
              <a:t>noninclusive</a:t>
            </a:r>
            <a:r>
              <a:rPr lang="en-US" sz="1300" dirty="0"/>
              <a:t> policy a piece of data in one cache may or may not be found in lower levels of caches</a:t>
            </a:r>
          </a:p>
          <a:p>
            <a:pPr marL="638175" lvl="2" indent="-285750">
              <a:buFont typeface="Arial" panose="020B0604020202020204" pitchFamily="34" charset="0"/>
              <a:buChar char="–"/>
            </a:pPr>
            <a:r>
              <a:rPr lang="en-US" sz="1300" dirty="0"/>
              <a:t>As with the exclusive policy, this policy will generally maintain all higher-level cache sets at the lowest cache level</a:t>
            </a:r>
          </a:p>
        </p:txBody>
      </p:sp>
    </p:spTree>
    <p:extLst>
      <p:ext uri="{BB962C8B-B14F-4D97-AF65-F5344CB8AC3E}">
        <p14:creationId xmlns:p14="http://schemas.microsoft.com/office/powerpoint/2010/main" val="707177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r>
              <a:rPr lang="en-US" dirty="0"/>
              <a:t>Summary</a:t>
            </a:r>
          </a:p>
        </p:txBody>
      </p:sp>
      <p:sp>
        <p:nvSpPr>
          <p:cNvPr id="31" name="Text Placeholder 30"/>
          <p:cNvSpPr>
            <a:spLocks noGrp="1"/>
          </p:cNvSpPr>
          <p:nvPr>
            <p:ph type="body" sz="quarter" idx="4294967295"/>
          </p:nvPr>
        </p:nvSpPr>
        <p:spPr>
          <a:xfrm>
            <a:off x="5436096" y="731854"/>
            <a:ext cx="2064620" cy="1166690"/>
          </a:xfrm>
        </p:spPr>
        <p:txBody>
          <a:bodyPr/>
          <a:lstStyle/>
          <a:p>
            <a:pPr algn="ctr"/>
            <a:r>
              <a:rPr lang="en-US" sz="3200" dirty="0">
                <a:solidFill>
                  <a:srgbClr val="007FA3"/>
                </a:solidFill>
              </a:rPr>
              <a:t>Cache</a:t>
            </a:r>
          </a:p>
          <a:p>
            <a:pPr algn="ctr"/>
            <a:r>
              <a:rPr lang="en-US" sz="3200" dirty="0">
                <a:solidFill>
                  <a:srgbClr val="007FA3"/>
                </a:solidFill>
              </a:rPr>
              <a:t>Memory</a:t>
            </a:r>
          </a:p>
        </p:txBody>
      </p:sp>
      <p:sp>
        <p:nvSpPr>
          <p:cNvPr id="44035" name="Rectangle 3"/>
          <p:cNvSpPr>
            <a:spLocks noGrp="1" noChangeArrowheads="1"/>
          </p:cNvSpPr>
          <p:nvPr>
            <p:ph type="body" idx="1"/>
          </p:nvPr>
        </p:nvSpPr>
        <p:spPr>
          <a:xfrm>
            <a:off x="332518" y="1537742"/>
            <a:ext cx="8478965" cy="4525963"/>
          </a:xfrm>
        </p:spPr>
        <p:txBody>
          <a:bodyPr>
            <a:normAutofit/>
          </a:bodyPr>
          <a:lstStyle/>
          <a:p>
            <a:pPr marL="101600" indent="0">
              <a:buNone/>
            </a:pPr>
            <a:r>
              <a:rPr lang="en-US" sz="3200">
                <a:solidFill>
                  <a:srgbClr val="007FA3"/>
                </a:solidFill>
              </a:rPr>
              <a:t>Chapter 4</a:t>
            </a:r>
            <a:endParaRPr lang="en-US" sz="3200" dirty="0">
              <a:solidFill>
                <a:srgbClr val="007FA3"/>
              </a:solidFill>
            </a:endParaRPr>
          </a:p>
          <a:p>
            <a:endParaRPr lang="en-US" dirty="0"/>
          </a:p>
        </p:txBody>
      </p:sp>
      <p:sp>
        <p:nvSpPr>
          <p:cNvPr id="30" name="Content Placeholder 29"/>
          <p:cNvSpPr>
            <a:spLocks noGrp="1"/>
          </p:cNvSpPr>
          <p:nvPr>
            <p:ph sz="half" idx="4294967295"/>
          </p:nvPr>
        </p:nvSpPr>
        <p:spPr>
          <a:xfrm>
            <a:off x="439043" y="2333625"/>
            <a:ext cx="3412877" cy="4343400"/>
          </a:xfrm>
        </p:spPr>
        <p:txBody>
          <a:bodyPr>
            <a:normAutofit/>
          </a:bodyPr>
          <a:lstStyle/>
          <a:p>
            <a:pPr marL="342900" indent="-342900">
              <a:spcBef>
                <a:spcPts val="800"/>
              </a:spcBef>
              <a:buClr>
                <a:srgbClr val="007FA3"/>
              </a:buClr>
              <a:buFont typeface="Arial" panose="020B0604020202020204" pitchFamily="34" charset="0"/>
              <a:buChar char="•"/>
            </a:pPr>
            <a:r>
              <a:rPr lang="en-US" sz="2000" dirty="0"/>
              <a:t>Cache memory principles</a:t>
            </a:r>
          </a:p>
          <a:p>
            <a:pPr marL="342900" lvl="1" indent="-342900">
              <a:spcBef>
                <a:spcPts val="800"/>
              </a:spcBef>
              <a:buClr>
                <a:srgbClr val="007FA3"/>
              </a:buClr>
              <a:buFont typeface="Arial" panose="020B0604020202020204" pitchFamily="34" charset="0"/>
              <a:buChar char="•"/>
            </a:pPr>
            <a:r>
              <a:rPr lang="en-US" sz="2000" dirty="0"/>
              <a:t>Cache performance modules</a:t>
            </a:r>
          </a:p>
          <a:p>
            <a:pPr marL="666750" lvl="3" indent="-295275">
              <a:spcBef>
                <a:spcPts val="800"/>
              </a:spcBef>
              <a:buClr>
                <a:srgbClr val="007FA3"/>
              </a:buClr>
              <a:buFont typeface="Arial" panose="020B0604020202020204" pitchFamily="34" charset="0"/>
              <a:buChar char="–"/>
            </a:pPr>
            <a:r>
              <a:rPr lang="en-US" sz="2000" dirty="0"/>
              <a:t>Cache timing model</a:t>
            </a:r>
          </a:p>
          <a:p>
            <a:pPr marL="666750" lvl="3" indent="-295275">
              <a:spcBef>
                <a:spcPts val="800"/>
              </a:spcBef>
              <a:buClr>
                <a:srgbClr val="007FA3"/>
              </a:buClr>
              <a:buFont typeface="Arial" panose="020B0604020202020204" pitchFamily="34" charset="0"/>
              <a:buChar char="–"/>
            </a:pPr>
            <a:r>
              <a:rPr lang="en-US" sz="2000" dirty="0"/>
              <a:t>Design option for improving performance</a:t>
            </a:r>
          </a:p>
        </p:txBody>
      </p:sp>
      <p:sp>
        <p:nvSpPr>
          <p:cNvPr id="32" name="Content Placeholder 31"/>
          <p:cNvSpPr>
            <a:spLocks noGrp="1"/>
          </p:cNvSpPr>
          <p:nvPr>
            <p:ph sz="quarter" idx="4294967295"/>
          </p:nvPr>
        </p:nvSpPr>
        <p:spPr>
          <a:xfrm>
            <a:off x="4860032" y="2088976"/>
            <a:ext cx="3826768" cy="4724400"/>
          </a:xfrm>
        </p:spPr>
        <p:txBody>
          <a:bodyPr>
            <a:normAutofit/>
          </a:bodyPr>
          <a:lstStyle/>
          <a:p>
            <a:pPr marL="571500" lvl="1" indent="-342900">
              <a:spcBef>
                <a:spcPts val="800"/>
              </a:spcBef>
              <a:buClr>
                <a:srgbClr val="007FA3"/>
              </a:buClr>
              <a:buFont typeface="Arial" panose="020B0604020202020204" pitchFamily="34" charset="0"/>
              <a:buChar char="•"/>
            </a:pPr>
            <a:r>
              <a:rPr lang="en-US" sz="2000" dirty="0"/>
              <a:t>Elements of cache design</a:t>
            </a:r>
          </a:p>
          <a:p>
            <a:pPr marL="857250" lvl="1" indent="-285750">
              <a:spcBef>
                <a:spcPts val="800"/>
              </a:spcBef>
              <a:buClr>
                <a:srgbClr val="007FA3"/>
              </a:buClr>
              <a:buFont typeface="Arial" panose="020B0604020202020204" pitchFamily="34" charset="0"/>
              <a:buChar char="–"/>
            </a:pPr>
            <a:r>
              <a:rPr lang="en-US" sz="2000" dirty="0"/>
              <a:t>Cache addresses</a:t>
            </a:r>
          </a:p>
          <a:p>
            <a:pPr marL="857250" lvl="1" indent="-285750">
              <a:spcBef>
                <a:spcPts val="800"/>
              </a:spcBef>
              <a:buClr>
                <a:srgbClr val="007FA3"/>
              </a:buClr>
              <a:buFont typeface="Arial" panose="020B0604020202020204" pitchFamily="34" charset="0"/>
              <a:buChar char="–"/>
            </a:pPr>
            <a:r>
              <a:rPr lang="en-US" sz="2000" dirty="0"/>
              <a:t>Cache size</a:t>
            </a:r>
          </a:p>
          <a:p>
            <a:pPr marL="857250" lvl="1" indent="-285750">
              <a:spcBef>
                <a:spcPts val="800"/>
              </a:spcBef>
              <a:buClr>
                <a:srgbClr val="007FA3"/>
              </a:buClr>
              <a:buFont typeface="Arial" panose="020B0604020202020204" pitchFamily="34" charset="0"/>
              <a:buChar char="–"/>
            </a:pPr>
            <a:r>
              <a:rPr lang="en-US" sz="2000" dirty="0"/>
              <a:t>Logical cache organization</a:t>
            </a:r>
          </a:p>
          <a:p>
            <a:pPr marL="857250" lvl="1" indent="-285750">
              <a:spcBef>
                <a:spcPts val="800"/>
              </a:spcBef>
              <a:buClr>
                <a:srgbClr val="007FA3"/>
              </a:buClr>
              <a:buFont typeface="Arial" panose="020B0604020202020204" pitchFamily="34" charset="0"/>
              <a:buChar char="–"/>
            </a:pPr>
            <a:r>
              <a:rPr lang="en-US" sz="2000" dirty="0"/>
              <a:t>Replacement algorithms</a:t>
            </a:r>
          </a:p>
          <a:p>
            <a:pPr marL="857250" lvl="1" indent="-285750">
              <a:spcBef>
                <a:spcPts val="800"/>
              </a:spcBef>
              <a:buClr>
                <a:srgbClr val="007FA3"/>
              </a:buClr>
              <a:buFont typeface="Arial" panose="020B0604020202020204" pitchFamily="34" charset="0"/>
              <a:buChar char="–"/>
            </a:pPr>
            <a:r>
              <a:rPr lang="en-US" sz="2000" dirty="0"/>
              <a:t>Write policy</a:t>
            </a:r>
          </a:p>
          <a:p>
            <a:pPr marL="857250" lvl="1" indent="-285750">
              <a:spcBef>
                <a:spcPts val="800"/>
              </a:spcBef>
              <a:buClr>
                <a:srgbClr val="007FA3"/>
              </a:buClr>
              <a:buFont typeface="Arial" panose="020B0604020202020204" pitchFamily="34" charset="0"/>
              <a:buChar char="–"/>
            </a:pPr>
            <a:r>
              <a:rPr lang="en-US" sz="2000" dirty="0"/>
              <a:t>Line size</a:t>
            </a:r>
          </a:p>
          <a:p>
            <a:pPr marL="857250" lvl="1" indent="-285750">
              <a:spcBef>
                <a:spcPts val="800"/>
              </a:spcBef>
              <a:buClr>
                <a:srgbClr val="007FA3"/>
              </a:buClr>
              <a:buFont typeface="Arial" panose="020B0604020202020204" pitchFamily="34" charset="0"/>
              <a:buChar char="–"/>
            </a:pPr>
            <a:r>
              <a:rPr lang="en-US" sz="2000" dirty="0"/>
              <a:t>Number of caches</a:t>
            </a:r>
          </a:p>
          <a:p>
            <a:pPr marL="857250" lvl="1" indent="-285750">
              <a:spcBef>
                <a:spcPts val="800"/>
              </a:spcBef>
              <a:buClr>
                <a:srgbClr val="007FA3"/>
              </a:buClr>
              <a:buFont typeface="Arial" panose="020B0604020202020204" pitchFamily="34" charset="0"/>
              <a:buChar char="–"/>
            </a:pPr>
            <a:r>
              <a:rPr lang="en-US" sz="2000" dirty="0"/>
              <a:t>Inclusion policy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3823949415"/>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16052</TotalTime>
  <Words>7283</Words>
  <Application>Microsoft Office PowerPoint</Application>
  <PresentationFormat>On-screen Show (4:3)</PresentationFormat>
  <Paragraphs>1056</Paragraphs>
  <Slides>48</Slides>
  <Notes>35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Noto Sans Symbols</vt:lpstr>
      <vt:lpstr>Arial</vt:lpstr>
      <vt:lpstr>Calibri</vt:lpstr>
      <vt:lpstr>Rockwell</vt:lpstr>
      <vt:lpstr>Times New Roman</vt:lpstr>
      <vt:lpstr>Verdana</vt:lpstr>
      <vt:lpstr>2_508 Lecture</vt:lpstr>
      <vt:lpstr>Blank Presentation</vt:lpstr>
      <vt:lpstr>Computer Organization and Architecture Designing for Performance</vt:lpstr>
      <vt:lpstr>Principle of Locality (1 of 2)</vt:lpstr>
      <vt:lpstr>Principle of Locality (2 of 2)</vt:lpstr>
      <vt:lpstr>Library Analogy Explained</vt:lpstr>
      <vt:lpstr>Table 4.1 Key Characteristics of Computer Memory Systems</vt:lpstr>
      <vt:lpstr>Characteristics of Memory Systems</vt:lpstr>
      <vt:lpstr>Capacity and Performance:</vt:lpstr>
      <vt:lpstr>Memory Hierarchy</vt:lpstr>
      <vt:lpstr>Figure 4.6</vt:lpstr>
      <vt:lpstr>Table 4.2 Characteristics of Memory Devices in a Memory Architecture</vt:lpstr>
      <vt:lpstr>Why Cache?</vt:lpstr>
      <vt:lpstr>Figure 5.1  Cache and Main Memory</vt:lpstr>
      <vt:lpstr>Cache Memory Principles</vt:lpstr>
      <vt:lpstr>Figure 5.2  Cache/Main Memory Structure</vt:lpstr>
      <vt:lpstr>Figure 5.3  Cache Read Operation</vt:lpstr>
      <vt:lpstr>Figure 5.4  Typical Cache Organization</vt:lpstr>
      <vt:lpstr>Terminologi Cache</vt:lpstr>
      <vt:lpstr>Cache Performance</vt:lpstr>
      <vt:lpstr>Can Cache Increases Performance Of The System?</vt:lpstr>
      <vt:lpstr>Table 5.1  Elements of Cache Design </vt:lpstr>
      <vt:lpstr>Cache Size</vt:lpstr>
      <vt:lpstr>Table 5.3  Cache Access Methods</vt:lpstr>
      <vt:lpstr>Figure 5.6  Mapping from Main Memory to Cache: Direct and Associative</vt:lpstr>
      <vt:lpstr>Direct Mapping</vt:lpstr>
      <vt:lpstr>Direct Mapping Address Structure</vt:lpstr>
      <vt:lpstr>Direct Mapping Summary</vt:lpstr>
      <vt:lpstr>Figure 5.8 Direct Mapping Example</vt:lpstr>
      <vt:lpstr>Associative Mapping</vt:lpstr>
      <vt:lpstr>Associative Mapping Address Structure</vt:lpstr>
      <vt:lpstr>Associative Mapping Summary</vt:lpstr>
      <vt:lpstr>Figure 5.11  Associative Mapping Example</vt:lpstr>
      <vt:lpstr>Set Associative Mapping</vt:lpstr>
      <vt:lpstr>Figure 5.12  Mapping from Main Memory to Cache: k-Way Set Associative</vt:lpstr>
      <vt:lpstr>Set Associative Mapping Address Structure</vt:lpstr>
      <vt:lpstr>Set Associative Mapping Summary</vt:lpstr>
      <vt:lpstr>Figure 5.14  Two-Way Set-Associative Mapping Example</vt:lpstr>
      <vt:lpstr>Replacement Algorithms</vt:lpstr>
      <vt:lpstr>The most common replacement algorithms are:</vt:lpstr>
      <vt:lpstr>Write Policy</vt:lpstr>
      <vt:lpstr>Write Through   and Write Back</vt:lpstr>
      <vt:lpstr>Write Miss Alternatives</vt:lpstr>
      <vt:lpstr>Cache Coherency</vt:lpstr>
      <vt:lpstr>Line Size</vt:lpstr>
      <vt:lpstr>Multilevel Caches</vt:lpstr>
      <vt:lpstr>Unified Versus Split Caches</vt:lpstr>
      <vt:lpstr>Inclusion Policy</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Cache Memory</dc:title>
  <dc:creator>Adrian J Pullin</dc:creator>
  <cp:lastModifiedBy>TEY KOK SOON</cp:lastModifiedBy>
  <cp:revision>306</cp:revision>
  <dcterms:created xsi:type="dcterms:W3CDTF">2012-06-19T17:26:14Z</dcterms:created>
  <dcterms:modified xsi:type="dcterms:W3CDTF">2020-03-23T03:52:15Z</dcterms:modified>
</cp:coreProperties>
</file>